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1fd64fecd6497e" /><Relationship Type="http://schemas.openxmlformats.org/officeDocument/2006/relationships/extended-properties" Target="/docProps/app.xml" Id="R4f47ae8cc3ad4cb7" /><Relationship Type="http://schemas.openxmlformats.org/officeDocument/2006/relationships/officeDocument" Target="/ppt/presentation.xml" Id="Ra9ef3dd9dde348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6d4aa2f74f41c0"/>
  </p:sldMasterIdLst>
  <p:notesMasterIdLst>
    <p:notesMasterId xmlns:r="http://schemas.openxmlformats.org/officeDocument/2006/relationships" r:id="R1f1f9cb31c8441a4"/>
  </p:notesMasterIdLst>
  <p:sldIdLst>
    <p:sldId xmlns:r="http://schemas.openxmlformats.org/officeDocument/2006/relationships" id="256" r:id="R09febdce02274c30"/>
    <p:sldId xmlns:r="http://schemas.openxmlformats.org/officeDocument/2006/relationships" id="257" r:id="Rab062df1d0094f6d"/>
    <p:sldId xmlns:r="http://schemas.openxmlformats.org/officeDocument/2006/relationships" id="258" r:id="R44985d79a23242e8"/>
    <p:sldId xmlns:r="http://schemas.openxmlformats.org/officeDocument/2006/relationships" id="259" r:id="R04990e3a55cb4ef9"/>
    <p:sldId xmlns:r="http://schemas.openxmlformats.org/officeDocument/2006/relationships" id="260" r:id="R5b98ed7c82314e9d"/>
    <p:sldId xmlns:r="http://schemas.openxmlformats.org/officeDocument/2006/relationships" id="261" r:id="R4313a71f231449fe"/>
    <p:sldId xmlns:r="http://schemas.openxmlformats.org/officeDocument/2006/relationships" id="262" r:id="Rfa96e725f5134442"/>
    <p:sldId xmlns:r="http://schemas.openxmlformats.org/officeDocument/2006/relationships" id="263" r:id="R2963b828c282451a"/>
    <p:sldId xmlns:r="http://schemas.openxmlformats.org/officeDocument/2006/relationships" id="264" r:id="Ra9030e4037634ff1"/>
    <p:sldId xmlns:r="http://schemas.openxmlformats.org/officeDocument/2006/relationships" id="265" r:id="R0138e1abf99b42a9"/>
    <p:sldId xmlns:r="http://schemas.openxmlformats.org/officeDocument/2006/relationships" id="266" r:id="Rc7a45fc4d66342f5"/>
    <p:sldId xmlns:r="http://schemas.openxmlformats.org/officeDocument/2006/relationships" id="267" r:id="R363fd2ae02514ed2"/>
    <p:sldId xmlns:r="http://schemas.openxmlformats.org/officeDocument/2006/relationships" id="268" r:id="Re1a823fb98de4dd4"/>
    <p:sldId xmlns:r="http://schemas.openxmlformats.org/officeDocument/2006/relationships" id="269" r:id="Re75e323cab564fff"/>
    <p:sldId xmlns:r="http://schemas.openxmlformats.org/officeDocument/2006/relationships" id="270" r:id="Rf383d610613e4c24"/>
    <p:sldId xmlns:r="http://schemas.openxmlformats.org/officeDocument/2006/relationships" id="271" r:id="R2d2adc180cb14af1"/>
    <p:sldId xmlns:r="http://schemas.openxmlformats.org/officeDocument/2006/relationships" id="272" r:id="R3b1525d087ef42aa"/>
    <p:sldId xmlns:r="http://schemas.openxmlformats.org/officeDocument/2006/relationships" id="273" r:id="Rbac22ba0acbd4329"/>
    <p:sldId xmlns:r="http://schemas.openxmlformats.org/officeDocument/2006/relationships" id="274" r:id="R5ef16f45b05e41cc"/>
    <p:sldId xmlns:r="http://schemas.openxmlformats.org/officeDocument/2006/relationships" id="275" r:id="Rd1127bdd639a43e9"/>
    <p:sldId xmlns:r="http://schemas.openxmlformats.org/officeDocument/2006/relationships" id="276" r:id="Rd4e6f63a2f7a4b42"/>
    <p:sldId xmlns:r="http://schemas.openxmlformats.org/officeDocument/2006/relationships" id="277" r:id="R8042e3eaf8064f18"/>
    <p:sldId xmlns:r="http://schemas.openxmlformats.org/officeDocument/2006/relationships" id="278" r:id="R2f5e7c773d4a4f4f"/>
    <p:sldId xmlns:r="http://schemas.openxmlformats.org/officeDocument/2006/relationships" id="279" r:id="Ra7ffe21fbf3d4eae"/>
    <p:sldId xmlns:r="http://schemas.openxmlformats.org/officeDocument/2006/relationships" id="280" r:id="R71f4a20b5a9343d0"/>
    <p:sldId xmlns:r="http://schemas.openxmlformats.org/officeDocument/2006/relationships" id="281" r:id="R2ea41390df734967"/>
    <p:sldId xmlns:r="http://schemas.openxmlformats.org/officeDocument/2006/relationships" id="282" r:id="Rb4aa09ce80914844"/>
    <p:sldId xmlns:r="http://schemas.openxmlformats.org/officeDocument/2006/relationships" id="283" r:id="Rdc6bb6cbb56d4bdc"/>
    <p:sldId xmlns:r="http://schemas.openxmlformats.org/officeDocument/2006/relationships" id="284" r:id="Ra21bc1bb72814ac5"/>
    <p:sldId xmlns:r="http://schemas.openxmlformats.org/officeDocument/2006/relationships" id="285" r:id="R160040ec562845b1"/>
    <p:sldId xmlns:r="http://schemas.openxmlformats.org/officeDocument/2006/relationships" id="286" r:id="R6bae60545d6b488f"/>
    <p:sldId xmlns:r="http://schemas.openxmlformats.org/officeDocument/2006/relationships" id="287" r:id="R5c537da194314fea"/>
    <p:sldId xmlns:r="http://schemas.openxmlformats.org/officeDocument/2006/relationships" id="288" r:id="Rfc0156b795a94bdb"/>
    <p:sldId xmlns:r="http://schemas.openxmlformats.org/officeDocument/2006/relationships" id="289" r:id="Ref5d1e82a3cb44a6"/>
    <p:sldId xmlns:r="http://schemas.openxmlformats.org/officeDocument/2006/relationships" id="290" r:id="Rdff5a591ddb94fb1"/>
    <p:sldId xmlns:r="http://schemas.openxmlformats.org/officeDocument/2006/relationships" id="291" r:id="R5733912113eb419f"/>
    <p:sldId xmlns:r="http://schemas.openxmlformats.org/officeDocument/2006/relationships" id="292" r:id="R1844c1d2b6bc4248"/>
    <p:sldId xmlns:r="http://schemas.openxmlformats.org/officeDocument/2006/relationships" id="293" r:id="R467d1cee94e74146"/>
    <p:sldId xmlns:r="http://schemas.openxmlformats.org/officeDocument/2006/relationships" id="294" r:id="R9afb64ceb73342ee"/>
    <p:sldId xmlns:r="http://schemas.openxmlformats.org/officeDocument/2006/relationships" id="295" r:id="Ra7f2118871644834"/>
    <p:sldId xmlns:r="http://schemas.openxmlformats.org/officeDocument/2006/relationships" id="296" r:id="R2a9bd17173404eee"/>
    <p:sldId xmlns:r="http://schemas.openxmlformats.org/officeDocument/2006/relationships" id="297" r:id="R1b35944d035c4cc7"/>
    <p:sldId xmlns:r="http://schemas.openxmlformats.org/officeDocument/2006/relationships" id="298" r:id="Rf5fb29c7ecb84285"/>
    <p:sldId xmlns:r="http://schemas.openxmlformats.org/officeDocument/2006/relationships" id="299" r:id="R3a16e314c0944db0"/>
    <p:sldId xmlns:r="http://schemas.openxmlformats.org/officeDocument/2006/relationships" id="300" r:id="R073b8a75ab7541f6"/>
    <p:sldId xmlns:r="http://schemas.openxmlformats.org/officeDocument/2006/relationships" id="301" r:id="Rbc2d47b21b574145"/>
    <p:sldId xmlns:r="http://schemas.openxmlformats.org/officeDocument/2006/relationships" id="302" r:id="R733c5c6fac7f4be7"/>
    <p:sldId xmlns:r="http://schemas.openxmlformats.org/officeDocument/2006/relationships" id="303" r:id="R3877b0b356484be9"/>
    <p:sldId xmlns:r="http://schemas.openxmlformats.org/officeDocument/2006/relationships" id="304" r:id="R1128f372b19142f4"/>
    <p:sldId xmlns:r="http://schemas.openxmlformats.org/officeDocument/2006/relationships" id="305" r:id="R108a45ef09bf48ae"/>
    <p:sldId xmlns:r="http://schemas.openxmlformats.org/officeDocument/2006/relationships" id="306" r:id="Rc62cf7f4112d48d5"/>
    <p:sldId xmlns:r="http://schemas.openxmlformats.org/officeDocument/2006/relationships" id="307" r:id="Rb1ea104a42a04713"/>
    <p:sldId xmlns:r="http://schemas.openxmlformats.org/officeDocument/2006/relationships" id="308" r:id="Rf6f8b88322da4e77"/>
    <p:sldId xmlns:r="http://schemas.openxmlformats.org/officeDocument/2006/relationships" id="309" r:id="R9bcd6d0bae3d4b10"/>
    <p:sldId xmlns:r="http://schemas.openxmlformats.org/officeDocument/2006/relationships" id="310" r:id="R874a5be71e734ba1"/>
    <p:sldId xmlns:r="http://schemas.openxmlformats.org/officeDocument/2006/relationships" id="311" r:id="R577d6ebb3c1e44ee"/>
    <p:sldId xmlns:r="http://schemas.openxmlformats.org/officeDocument/2006/relationships" id="312" r:id="R7d097a03e12e4f43"/>
    <p:sldId xmlns:r="http://schemas.openxmlformats.org/officeDocument/2006/relationships" id="313" r:id="R6070f2727d4849ce"/>
    <p:sldId xmlns:r="http://schemas.openxmlformats.org/officeDocument/2006/relationships" id="314" r:id="R4f0c2c1421124072"/>
    <p:sldId xmlns:r="http://schemas.openxmlformats.org/officeDocument/2006/relationships" id="315" r:id="Rc12860ccbbf94dec"/>
    <p:sldId xmlns:r="http://schemas.openxmlformats.org/officeDocument/2006/relationships" id="316" r:id="R727c67a09b7e4bd3"/>
    <p:sldId xmlns:r="http://schemas.openxmlformats.org/officeDocument/2006/relationships" id="317" r:id="R156aa5e243264804"/>
    <p:sldId xmlns:r="http://schemas.openxmlformats.org/officeDocument/2006/relationships" id="318" r:id="Rb24d2c3a15e6465a"/>
    <p:sldId xmlns:r="http://schemas.openxmlformats.org/officeDocument/2006/relationships" id="319" r:id="R8d41a9c8d83a45ce"/>
    <p:sldId xmlns:r="http://schemas.openxmlformats.org/officeDocument/2006/relationships" id="320" r:id="R32b55558f6a64d15"/>
    <p:sldId xmlns:r="http://schemas.openxmlformats.org/officeDocument/2006/relationships" id="321" r:id="Rfcbe32c1a82f4ef6"/>
    <p:sldId xmlns:r="http://schemas.openxmlformats.org/officeDocument/2006/relationships" id="322" r:id="Re9d90af2171448e8"/>
    <p:sldId xmlns:r="http://schemas.openxmlformats.org/officeDocument/2006/relationships" id="323" r:id="R0a775140af5c4e72"/>
    <p:sldId xmlns:r="http://schemas.openxmlformats.org/officeDocument/2006/relationships" id="324" r:id="Rce675e0fb960402e"/>
    <p:sldId xmlns:r="http://schemas.openxmlformats.org/officeDocument/2006/relationships" id="325" r:id="R4c3db9770d444032"/>
    <p:sldId xmlns:r="http://schemas.openxmlformats.org/officeDocument/2006/relationships" id="326" r:id="R428705d52aeb4460"/>
    <p:sldId xmlns:r="http://schemas.openxmlformats.org/officeDocument/2006/relationships" id="327" r:id="R68721dc85c564b25"/>
    <p:sldId xmlns:r="http://schemas.openxmlformats.org/officeDocument/2006/relationships" id="328" r:id="Rbc3d0396e805453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9eba1a391f4da1" /><Relationship Type="http://schemas.openxmlformats.org/officeDocument/2006/relationships/slideMaster" Target="/ppt/slideMasters/slideMaster1.xml" Id="Rae6d4aa2f74f41c0" /><Relationship Type="http://schemas.openxmlformats.org/officeDocument/2006/relationships/notesMaster" Target="/ppt/notesMasters/notesMaster1.xml" Id="R1f1f9cb31c8441a4" /><Relationship Type="http://schemas.openxmlformats.org/officeDocument/2006/relationships/presProps" Target="/ppt/presProps.xml" Id="Rdc523ae7e8314958" /><Relationship Type="http://schemas.openxmlformats.org/officeDocument/2006/relationships/tableStyles" Target="/ppt/tableStyles.xml" Id="R85e1ffe57f914763" /><Relationship Type="http://schemas.openxmlformats.org/officeDocument/2006/relationships/slide" Target="/ppt/slides/slide1.xml" Id="R09febdce02274c30" /><Relationship Type="http://schemas.openxmlformats.org/officeDocument/2006/relationships/slide" Target="/ppt/slides/slide2.xml" Id="Rab062df1d0094f6d" /><Relationship Type="http://schemas.openxmlformats.org/officeDocument/2006/relationships/slide" Target="/ppt/slides/slide3.xml" Id="R44985d79a23242e8" /><Relationship Type="http://schemas.openxmlformats.org/officeDocument/2006/relationships/slide" Target="/ppt/slides/slide4.xml" Id="R04990e3a55cb4ef9" /><Relationship Type="http://schemas.openxmlformats.org/officeDocument/2006/relationships/slide" Target="/ppt/slides/slide5.xml" Id="R5b98ed7c82314e9d" /><Relationship Type="http://schemas.openxmlformats.org/officeDocument/2006/relationships/slide" Target="/ppt/slides/slide6.xml" Id="R4313a71f231449fe" /><Relationship Type="http://schemas.openxmlformats.org/officeDocument/2006/relationships/slide" Target="/ppt/slides/slide7.xml" Id="Rfa96e725f5134442" /><Relationship Type="http://schemas.openxmlformats.org/officeDocument/2006/relationships/slide" Target="/ppt/slides/slide8.xml" Id="R2963b828c282451a" /><Relationship Type="http://schemas.openxmlformats.org/officeDocument/2006/relationships/slide" Target="/ppt/slides/slide9.xml" Id="Ra9030e4037634ff1" /><Relationship Type="http://schemas.openxmlformats.org/officeDocument/2006/relationships/slide" Target="/ppt/slides/slide10.xml" Id="R0138e1abf99b42a9" /><Relationship Type="http://schemas.openxmlformats.org/officeDocument/2006/relationships/slide" Target="/ppt/slides/slide11.xml" Id="Rc7a45fc4d66342f5" /><Relationship Type="http://schemas.openxmlformats.org/officeDocument/2006/relationships/slide" Target="/ppt/slides/slide12.xml" Id="R363fd2ae02514ed2" /><Relationship Type="http://schemas.openxmlformats.org/officeDocument/2006/relationships/slide" Target="/ppt/slides/slide13.xml" Id="Re1a823fb98de4dd4" /><Relationship Type="http://schemas.openxmlformats.org/officeDocument/2006/relationships/slide" Target="/ppt/slides/slide14.xml" Id="Re75e323cab564fff" /><Relationship Type="http://schemas.openxmlformats.org/officeDocument/2006/relationships/slide" Target="/ppt/slides/slide15.xml" Id="Rf383d610613e4c24" /><Relationship Type="http://schemas.openxmlformats.org/officeDocument/2006/relationships/slide" Target="/ppt/slides/slide16.xml" Id="R2d2adc180cb14af1" /><Relationship Type="http://schemas.openxmlformats.org/officeDocument/2006/relationships/slide" Target="/ppt/slides/slide17.xml" Id="R3b1525d087ef42aa" /><Relationship Type="http://schemas.openxmlformats.org/officeDocument/2006/relationships/slide" Target="/ppt/slides/slide18.xml" Id="Rbac22ba0acbd4329" /><Relationship Type="http://schemas.openxmlformats.org/officeDocument/2006/relationships/slide" Target="/ppt/slides/slide19.xml" Id="R5ef16f45b05e41cc" /><Relationship Type="http://schemas.openxmlformats.org/officeDocument/2006/relationships/slide" Target="/ppt/slides/slide20.xml" Id="Rd1127bdd639a43e9" /><Relationship Type="http://schemas.openxmlformats.org/officeDocument/2006/relationships/slide" Target="/ppt/slides/slide21.xml" Id="Rd4e6f63a2f7a4b42" /><Relationship Type="http://schemas.openxmlformats.org/officeDocument/2006/relationships/slide" Target="/ppt/slides/slide22.xml" Id="R8042e3eaf8064f18" /><Relationship Type="http://schemas.openxmlformats.org/officeDocument/2006/relationships/slide" Target="/ppt/slides/slide23.xml" Id="R2f5e7c773d4a4f4f" /><Relationship Type="http://schemas.openxmlformats.org/officeDocument/2006/relationships/slide" Target="/ppt/slides/slide24.xml" Id="Ra7ffe21fbf3d4eae" /><Relationship Type="http://schemas.openxmlformats.org/officeDocument/2006/relationships/slide" Target="/ppt/slides/slide25.xml" Id="R71f4a20b5a9343d0" /><Relationship Type="http://schemas.openxmlformats.org/officeDocument/2006/relationships/slide" Target="/ppt/slides/slide26.xml" Id="R2ea41390df734967" /><Relationship Type="http://schemas.openxmlformats.org/officeDocument/2006/relationships/slide" Target="/ppt/slides/slide27.xml" Id="Rb4aa09ce80914844" /><Relationship Type="http://schemas.openxmlformats.org/officeDocument/2006/relationships/slide" Target="/ppt/slides/slide28.xml" Id="Rdc6bb6cbb56d4bdc" /><Relationship Type="http://schemas.openxmlformats.org/officeDocument/2006/relationships/slide" Target="/ppt/slides/slide29.xml" Id="Ra21bc1bb72814ac5" /><Relationship Type="http://schemas.openxmlformats.org/officeDocument/2006/relationships/slide" Target="/ppt/slides/slide30.xml" Id="R160040ec562845b1" /><Relationship Type="http://schemas.openxmlformats.org/officeDocument/2006/relationships/slide" Target="/ppt/slides/slide31.xml" Id="R6bae60545d6b488f" /><Relationship Type="http://schemas.openxmlformats.org/officeDocument/2006/relationships/slide" Target="/ppt/slides/slide32.xml" Id="R5c537da194314fea" /><Relationship Type="http://schemas.openxmlformats.org/officeDocument/2006/relationships/slide" Target="/ppt/slides/slide33.xml" Id="Rfc0156b795a94bdb" /><Relationship Type="http://schemas.openxmlformats.org/officeDocument/2006/relationships/slide" Target="/ppt/slides/slide34.xml" Id="Ref5d1e82a3cb44a6" /><Relationship Type="http://schemas.openxmlformats.org/officeDocument/2006/relationships/slide" Target="/ppt/slides/slide35.xml" Id="Rdff5a591ddb94fb1" /><Relationship Type="http://schemas.openxmlformats.org/officeDocument/2006/relationships/slide" Target="/ppt/slides/slide36.xml" Id="R5733912113eb419f" /><Relationship Type="http://schemas.openxmlformats.org/officeDocument/2006/relationships/slide" Target="/ppt/slides/slide37.xml" Id="R1844c1d2b6bc4248" /><Relationship Type="http://schemas.openxmlformats.org/officeDocument/2006/relationships/slide" Target="/ppt/slides/slide38.xml" Id="R467d1cee94e74146" /><Relationship Type="http://schemas.openxmlformats.org/officeDocument/2006/relationships/slide" Target="/ppt/slides/slide39.xml" Id="R9afb64ceb73342ee" /><Relationship Type="http://schemas.openxmlformats.org/officeDocument/2006/relationships/slide" Target="/ppt/slides/slide40.xml" Id="Ra7f2118871644834" /><Relationship Type="http://schemas.openxmlformats.org/officeDocument/2006/relationships/slide" Target="/ppt/slides/slide41.xml" Id="R2a9bd17173404eee" /><Relationship Type="http://schemas.openxmlformats.org/officeDocument/2006/relationships/slide" Target="/ppt/slides/slide42.xml" Id="R1b35944d035c4cc7" /><Relationship Type="http://schemas.openxmlformats.org/officeDocument/2006/relationships/slide" Target="/ppt/slides/slide43.xml" Id="Rf5fb29c7ecb84285" /><Relationship Type="http://schemas.openxmlformats.org/officeDocument/2006/relationships/slide" Target="/ppt/slides/slide44.xml" Id="R3a16e314c0944db0" /><Relationship Type="http://schemas.openxmlformats.org/officeDocument/2006/relationships/slide" Target="/ppt/slides/slide45.xml" Id="R073b8a75ab7541f6" /><Relationship Type="http://schemas.openxmlformats.org/officeDocument/2006/relationships/slide" Target="/ppt/slides/slide46.xml" Id="Rbc2d47b21b574145" /><Relationship Type="http://schemas.openxmlformats.org/officeDocument/2006/relationships/slide" Target="/ppt/slides/slide47.xml" Id="R733c5c6fac7f4be7" /><Relationship Type="http://schemas.openxmlformats.org/officeDocument/2006/relationships/slide" Target="/ppt/slides/slide48.xml" Id="R3877b0b356484be9" /><Relationship Type="http://schemas.openxmlformats.org/officeDocument/2006/relationships/slide" Target="/ppt/slides/slide49.xml" Id="R1128f372b19142f4" /><Relationship Type="http://schemas.openxmlformats.org/officeDocument/2006/relationships/slide" Target="/ppt/slides/slide50.xml" Id="R108a45ef09bf48ae" /><Relationship Type="http://schemas.openxmlformats.org/officeDocument/2006/relationships/slide" Target="/ppt/slides/slide51.xml" Id="Rc62cf7f4112d48d5" /><Relationship Type="http://schemas.openxmlformats.org/officeDocument/2006/relationships/slide" Target="/ppt/slides/slide52.xml" Id="Rb1ea104a42a04713" /><Relationship Type="http://schemas.openxmlformats.org/officeDocument/2006/relationships/slide" Target="/ppt/slides/slide53.xml" Id="Rf6f8b88322da4e77" /><Relationship Type="http://schemas.openxmlformats.org/officeDocument/2006/relationships/slide" Target="/ppt/slides/slide54.xml" Id="R9bcd6d0bae3d4b10" /><Relationship Type="http://schemas.openxmlformats.org/officeDocument/2006/relationships/slide" Target="/ppt/slides/slide55.xml" Id="R874a5be71e734ba1" /><Relationship Type="http://schemas.openxmlformats.org/officeDocument/2006/relationships/slide" Target="/ppt/slides/slide56.xml" Id="R577d6ebb3c1e44ee" /><Relationship Type="http://schemas.openxmlformats.org/officeDocument/2006/relationships/slide" Target="/ppt/slides/slide57.xml" Id="R7d097a03e12e4f43" /><Relationship Type="http://schemas.openxmlformats.org/officeDocument/2006/relationships/slide" Target="/ppt/slides/slide58.xml" Id="R6070f2727d4849ce" /><Relationship Type="http://schemas.openxmlformats.org/officeDocument/2006/relationships/slide" Target="/ppt/slides/slide59.xml" Id="R4f0c2c1421124072" /><Relationship Type="http://schemas.openxmlformats.org/officeDocument/2006/relationships/slide" Target="/ppt/slides/slide60.xml" Id="Rc12860ccbbf94dec" /><Relationship Type="http://schemas.openxmlformats.org/officeDocument/2006/relationships/slide" Target="/ppt/slides/slide61.xml" Id="R727c67a09b7e4bd3" /><Relationship Type="http://schemas.openxmlformats.org/officeDocument/2006/relationships/slide" Target="/ppt/slides/slide62.xml" Id="R156aa5e243264804" /><Relationship Type="http://schemas.openxmlformats.org/officeDocument/2006/relationships/slide" Target="/ppt/slides/slide63.xml" Id="Rb24d2c3a15e6465a" /><Relationship Type="http://schemas.openxmlformats.org/officeDocument/2006/relationships/slide" Target="/ppt/slides/slide64.xml" Id="R8d41a9c8d83a45ce" /><Relationship Type="http://schemas.openxmlformats.org/officeDocument/2006/relationships/slide" Target="/ppt/slides/slide65.xml" Id="R32b55558f6a64d15" /><Relationship Type="http://schemas.openxmlformats.org/officeDocument/2006/relationships/slide" Target="/ppt/slides/slide66.xml" Id="Rfcbe32c1a82f4ef6" /><Relationship Type="http://schemas.openxmlformats.org/officeDocument/2006/relationships/slide" Target="/ppt/slides/slide67.xml" Id="Re9d90af2171448e8" /><Relationship Type="http://schemas.openxmlformats.org/officeDocument/2006/relationships/slide" Target="/ppt/slides/slide68.xml" Id="R0a775140af5c4e72" /><Relationship Type="http://schemas.openxmlformats.org/officeDocument/2006/relationships/slide" Target="/ppt/slides/slide69.xml" Id="Rce675e0fb960402e" /><Relationship Type="http://schemas.openxmlformats.org/officeDocument/2006/relationships/slide" Target="/ppt/slides/slide70.xml" Id="R4c3db9770d444032" /><Relationship Type="http://schemas.openxmlformats.org/officeDocument/2006/relationships/slide" Target="/ppt/slides/slide71.xml" Id="R428705d52aeb4460" /><Relationship Type="http://schemas.openxmlformats.org/officeDocument/2006/relationships/slide" Target="/ppt/slides/slide72.xml" Id="R68721dc85c564b25" /><Relationship Type="http://schemas.openxmlformats.org/officeDocument/2006/relationships/slide" Target="/ppt/slides/slide73.xml" Id="Rbc3d0396e80545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58512cc12e4d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db06e10b6f495f" /><Relationship Type="http://schemas.openxmlformats.org/officeDocument/2006/relationships/notesMaster" Target="/ppt/notesMasters/notesMaster1.xml" Id="Rc274d03cdad241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baa177ac8c4ce1" /><Relationship Type="http://schemas.openxmlformats.org/officeDocument/2006/relationships/notesMaster" Target="/ppt/notesMasters/notesMaster1.xml" Id="R41104823474d43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0cf7ccfb5f4d1e" /><Relationship Type="http://schemas.openxmlformats.org/officeDocument/2006/relationships/notesMaster" Target="/ppt/notesMasters/notesMaster1.xml" Id="Rad0ace52436f48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4f27c79639467e" /><Relationship Type="http://schemas.openxmlformats.org/officeDocument/2006/relationships/notesMaster" Target="/ppt/notesMasters/notesMaster1.xml" Id="Rc79b9b76aeba4b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bc4a6d41e4416b" /><Relationship Type="http://schemas.openxmlformats.org/officeDocument/2006/relationships/notesMaster" Target="/ppt/notesMasters/notesMaster1.xml" Id="Rc529f2490f154e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bc066d3a5f4b05" /><Relationship Type="http://schemas.openxmlformats.org/officeDocument/2006/relationships/notesMaster" Target="/ppt/notesMasters/notesMaster1.xml" Id="Rb8b1c878a03f4b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e9f3f3c27d488a" /><Relationship Type="http://schemas.openxmlformats.org/officeDocument/2006/relationships/notesMaster" Target="/ppt/notesMasters/notesMaster1.xml" Id="Rf2244367358440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3a2603f7024b33" /><Relationship Type="http://schemas.openxmlformats.org/officeDocument/2006/relationships/notesMaster" Target="/ppt/notesMasters/notesMaster1.xml" Id="R1b7cf3fb36234d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4a32a3307740bb" /><Relationship Type="http://schemas.openxmlformats.org/officeDocument/2006/relationships/notesMaster" Target="/ppt/notesMasters/notesMaster1.xml" Id="R1f087ea139fc48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8e0177156d4120" /><Relationship Type="http://schemas.openxmlformats.org/officeDocument/2006/relationships/notesMaster" Target="/ppt/notesMasters/notesMaster1.xml" Id="Rce4ec31e640642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beff5859e64066" /><Relationship Type="http://schemas.openxmlformats.org/officeDocument/2006/relationships/notesMaster" Target="/ppt/notesMasters/notesMaster1.xml" Id="R0f8699f5927144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2639832eca458b" /><Relationship Type="http://schemas.openxmlformats.org/officeDocument/2006/relationships/notesMaster" Target="/ppt/notesMasters/notesMaster1.xml" Id="R14568411c26145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878ae6e9604f8d" /><Relationship Type="http://schemas.openxmlformats.org/officeDocument/2006/relationships/notesMaster" Target="/ppt/notesMasters/notesMaster1.xml" Id="R8570c357b7c849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5f214cdef4c44ad" /><Relationship Type="http://schemas.openxmlformats.org/officeDocument/2006/relationships/notesMaster" Target="/ppt/notesMasters/notesMaster1.xml" Id="R54563b7e9a254c4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5129c6545124c18" /><Relationship Type="http://schemas.openxmlformats.org/officeDocument/2006/relationships/notesMaster" Target="/ppt/notesMasters/notesMaster1.xml" Id="R073a4d3a03b0404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3688577043643e9" /><Relationship Type="http://schemas.openxmlformats.org/officeDocument/2006/relationships/notesMaster" Target="/ppt/notesMasters/notesMaster1.xml" Id="Rf0709e6749d0482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419dd5be90b4d62" /><Relationship Type="http://schemas.openxmlformats.org/officeDocument/2006/relationships/notesMaster" Target="/ppt/notesMasters/notesMaster1.xml" Id="Re9c94d1eba24424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e6cf00df03f4452" /><Relationship Type="http://schemas.openxmlformats.org/officeDocument/2006/relationships/notesMaster" Target="/ppt/notesMasters/notesMaster1.xml" Id="R68aed11ec14e463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f2a39d5783440c7" /><Relationship Type="http://schemas.openxmlformats.org/officeDocument/2006/relationships/notesMaster" Target="/ppt/notesMasters/notesMaster1.xml" Id="R6714b83b131243b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392e43c821b4d56" /><Relationship Type="http://schemas.openxmlformats.org/officeDocument/2006/relationships/notesMaster" Target="/ppt/notesMasters/notesMaster1.xml" Id="Rc151164d7f9248a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63b3ee6f7714dbd" /><Relationship Type="http://schemas.openxmlformats.org/officeDocument/2006/relationships/notesMaster" Target="/ppt/notesMasters/notesMaster1.xml" Id="Rc267cdaf021b4b1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f1820df4d1d49b8" /><Relationship Type="http://schemas.openxmlformats.org/officeDocument/2006/relationships/notesMaster" Target="/ppt/notesMasters/notesMaster1.xml" Id="R0c1c41243576470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5b82724bbf24950" /><Relationship Type="http://schemas.openxmlformats.org/officeDocument/2006/relationships/notesMaster" Target="/ppt/notesMasters/notesMaster1.xml" Id="Rc24c286df8af4fc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4e6df7bdf4f4111" /><Relationship Type="http://schemas.openxmlformats.org/officeDocument/2006/relationships/notesMaster" Target="/ppt/notesMasters/notesMaster1.xml" Id="R268de5cb9fc54dd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cb701d7dc6a4865" /><Relationship Type="http://schemas.openxmlformats.org/officeDocument/2006/relationships/notesMaster" Target="/ppt/notesMasters/notesMaster1.xml" Id="R21cf0384badd4b2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d37c62ba547446a" /><Relationship Type="http://schemas.openxmlformats.org/officeDocument/2006/relationships/notesMaster" Target="/ppt/notesMasters/notesMaster1.xml" Id="Rc3bcec5f28bd472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82f654ad12c4e3b" /><Relationship Type="http://schemas.openxmlformats.org/officeDocument/2006/relationships/notesMaster" Target="/ppt/notesMasters/notesMaster1.xml" Id="Rc44e8f93af544d5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4945498aa70405f" /><Relationship Type="http://schemas.openxmlformats.org/officeDocument/2006/relationships/notesMaster" Target="/ppt/notesMasters/notesMaster1.xml" Id="R14d8de44e81b47d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f1e5b4f1999493a" /><Relationship Type="http://schemas.openxmlformats.org/officeDocument/2006/relationships/notesMaster" Target="/ppt/notesMasters/notesMaster1.xml" Id="R15ac4ff90ba84b1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67ae1ec0eb742fd" /><Relationship Type="http://schemas.openxmlformats.org/officeDocument/2006/relationships/notesMaster" Target="/ppt/notesMasters/notesMaster1.xml" Id="R6751ebf66bf3419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8038763e3f54e4c" /><Relationship Type="http://schemas.openxmlformats.org/officeDocument/2006/relationships/notesMaster" Target="/ppt/notesMasters/notesMaster1.xml" Id="Ra91c43b86b6e4ae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92e3b2383c5457c" /><Relationship Type="http://schemas.openxmlformats.org/officeDocument/2006/relationships/notesMaster" Target="/ppt/notesMasters/notesMaster1.xml" Id="Rcc51d455731e45a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99013ee781041e1" /><Relationship Type="http://schemas.openxmlformats.org/officeDocument/2006/relationships/notesMaster" Target="/ppt/notesMasters/notesMaster1.xml" Id="Rd37a3b02eee44a4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09596f64e944303" /><Relationship Type="http://schemas.openxmlformats.org/officeDocument/2006/relationships/notesMaster" Target="/ppt/notesMasters/notesMaster1.xml" Id="R04605c0e119c4ee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33a1e50ca5a45eb" /><Relationship Type="http://schemas.openxmlformats.org/officeDocument/2006/relationships/notesMaster" Target="/ppt/notesMasters/notesMaster1.xml" Id="Re55dfcf8237243d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054d7b236104ef9" /><Relationship Type="http://schemas.openxmlformats.org/officeDocument/2006/relationships/notesMaster" Target="/ppt/notesMasters/notesMaster1.xml" Id="R11064065a88349b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6829de9155d40c8" /><Relationship Type="http://schemas.openxmlformats.org/officeDocument/2006/relationships/notesMaster" Target="/ppt/notesMasters/notesMaster1.xml" Id="R4a70b57cdb99476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16b6e3348e64cf1" /><Relationship Type="http://schemas.openxmlformats.org/officeDocument/2006/relationships/notesMaster" Target="/ppt/notesMasters/notesMaster1.xml" Id="R8be01b5914da4d5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77607d60b914cc4" /><Relationship Type="http://schemas.openxmlformats.org/officeDocument/2006/relationships/notesMaster" Target="/ppt/notesMasters/notesMaster1.xml" Id="R182e52191fdf400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910015c459b44b1" /><Relationship Type="http://schemas.openxmlformats.org/officeDocument/2006/relationships/notesMaster" Target="/ppt/notesMasters/notesMaster1.xml" Id="R3bd73dbcae6e483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d5c7f5cd1e34308" /><Relationship Type="http://schemas.openxmlformats.org/officeDocument/2006/relationships/notesMaster" Target="/ppt/notesMasters/notesMaster1.xml" Id="R2c5c8e3c0bdf4eb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9734bd685d94abf" /><Relationship Type="http://schemas.openxmlformats.org/officeDocument/2006/relationships/notesMaster" Target="/ppt/notesMasters/notesMaster1.xml" Id="Ra210c156deab49b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8e4c699ba78479b" /><Relationship Type="http://schemas.openxmlformats.org/officeDocument/2006/relationships/notesMaster" Target="/ppt/notesMasters/notesMaster1.xml" Id="R2122b972c3e14d8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a50198fecea4e00" /><Relationship Type="http://schemas.openxmlformats.org/officeDocument/2006/relationships/notesMaster" Target="/ppt/notesMasters/notesMaster1.xml" Id="R9045e1b1f383474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0b65a7f3e3d4dd1" /><Relationship Type="http://schemas.openxmlformats.org/officeDocument/2006/relationships/notesMaster" Target="/ppt/notesMasters/notesMaster1.xml" Id="R9b2a87ace3ec437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0123afd64f54141" /><Relationship Type="http://schemas.openxmlformats.org/officeDocument/2006/relationships/notesMaster" Target="/ppt/notesMasters/notesMaster1.xml" Id="R396ff2e38f8d4262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12fe2cf60b74009" /><Relationship Type="http://schemas.openxmlformats.org/officeDocument/2006/relationships/notesMaster" Target="/ppt/notesMasters/notesMaster1.xml" Id="R18137e711b3f414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eab33ae02544463" /><Relationship Type="http://schemas.openxmlformats.org/officeDocument/2006/relationships/notesMaster" Target="/ppt/notesMasters/notesMaster1.xml" Id="R6d8674af5e8d4bd5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6c1c9a4eaf242c9" /><Relationship Type="http://schemas.openxmlformats.org/officeDocument/2006/relationships/notesMaster" Target="/ppt/notesMasters/notesMaster1.xml" Id="Rad0246068a72446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fa02c1766904073" /><Relationship Type="http://schemas.openxmlformats.org/officeDocument/2006/relationships/notesMaster" Target="/ppt/notesMasters/notesMaster1.xml" Id="R48d2f7ca626a432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efb4344e63d46ab" /><Relationship Type="http://schemas.openxmlformats.org/officeDocument/2006/relationships/notesMaster" Target="/ppt/notesMasters/notesMaster1.xml" Id="Redb10beceebb4ed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a45f04bb860b41f8" /><Relationship Type="http://schemas.openxmlformats.org/officeDocument/2006/relationships/notesMaster" Target="/ppt/notesMasters/notesMaster1.xml" Id="R704fb77a90e5415d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6c0a6a98aecc4269" /><Relationship Type="http://schemas.openxmlformats.org/officeDocument/2006/relationships/notesMaster" Target="/ppt/notesMasters/notesMaster1.xml" Id="R4f5bd84dd5eb4a6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046ef59c3eb44f87" /><Relationship Type="http://schemas.openxmlformats.org/officeDocument/2006/relationships/notesMaster" Target="/ppt/notesMasters/notesMaster1.xml" Id="Re359645cb6584895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b0cfeaaf9d9e4d29" /><Relationship Type="http://schemas.openxmlformats.org/officeDocument/2006/relationships/notesMaster" Target="/ppt/notesMasters/notesMaster1.xml" Id="Rcad8722b990c48cb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26626cf809c74559" /><Relationship Type="http://schemas.openxmlformats.org/officeDocument/2006/relationships/notesMaster" Target="/ppt/notesMasters/notesMaster1.xml" Id="Red8590e62e954188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e0c4c72daf734675" /><Relationship Type="http://schemas.openxmlformats.org/officeDocument/2006/relationships/notesMaster" Target="/ppt/notesMasters/notesMaster1.xml" Id="Ra0b9803a16bf4536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6d56205918814a75" /><Relationship Type="http://schemas.openxmlformats.org/officeDocument/2006/relationships/notesMaster" Target="/ppt/notesMasters/notesMaster1.xml" Id="Rbbee306675cc49a0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8e3921bb1545467c" /><Relationship Type="http://schemas.openxmlformats.org/officeDocument/2006/relationships/notesMaster" Target="/ppt/notesMasters/notesMaster1.xml" Id="R88ca6ac6601a4e1e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db224242427f46ce" /><Relationship Type="http://schemas.openxmlformats.org/officeDocument/2006/relationships/notesMaster" Target="/ppt/notesMasters/notesMaster1.xml" Id="R4b0bd3ab8b0040f2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8f7accb4b30342d6" /><Relationship Type="http://schemas.openxmlformats.org/officeDocument/2006/relationships/notesMaster" Target="/ppt/notesMasters/notesMaster1.xml" Id="R93d85c585b55422f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b7705cbe9c724203" /><Relationship Type="http://schemas.openxmlformats.org/officeDocument/2006/relationships/notesMaster" Target="/ppt/notesMasters/notesMaster1.xml" Id="R34b4739031d8447b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0375dd242ae24b4b" /><Relationship Type="http://schemas.openxmlformats.org/officeDocument/2006/relationships/notesMaster" Target="/ppt/notesMasters/notesMaster1.xml" Id="R96d566bae6024758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806b99102a2448a4" /><Relationship Type="http://schemas.openxmlformats.org/officeDocument/2006/relationships/notesMaster" Target="/ppt/notesMasters/notesMaster1.xml" Id="Re7bedfb8e32a447c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15ce5bde1c414fc4" /><Relationship Type="http://schemas.openxmlformats.org/officeDocument/2006/relationships/notesMaster" Target="/ppt/notesMasters/notesMaster1.xml" Id="R5b04faa19e4f4971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49c06b479a7c41fe" /><Relationship Type="http://schemas.openxmlformats.org/officeDocument/2006/relationships/notesMaster" Target="/ppt/notesMasters/notesMaster1.xml" Id="R690df58f99204a14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2c35181291f3455a" /><Relationship Type="http://schemas.openxmlformats.org/officeDocument/2006/relationships/notesMaster" Target="/ppt/notesMasters/notesMaster1.xml" Id="R4f259eb150484630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c9f57438155346dd" /><Relationship Type="http://schemas.openxmlformats.org/officeDocument/2006/relationships/notesMaster" Target="/ppt/notesMasters/notesMaster1.xml" Id="R9f920af4e1d64f31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de97eb4221bc4674" /><Relationship Type="http://schemas.openxmlformats.org/officeDocument/2006/relationships/notesMaster" Target="/ppt/notesMasters/notesMaster1.xml" Id="Re790628586a646e6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e4c384f32205495f" /><Relationship Type="http://schemas.openxmlformats.org/officeDocument/2006/relationships/notesMaster" Target="/ppt/notesMasters/notesMaster1.xml" Id="R288d9b51855e4a81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45148925d7ab4583" /><Relationship Type="http://schemas.openxmlformats.org/officeDocument/2006/relationships/notesMaster" Target="/ppt/notesMasters/notesMaster1.xml" Id="Ra42f1bda5d1841b5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64aa670c7c0a40db" /><Relationship Type="http://schemas.openxmlformats.org/officeDocument/2006/relationships/notesMaster" Target="/ppt/notesMasters/notesMaster1.xml" Id="Rb2e811a7c01649e4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0a1e676df7654113" /><Relationship Type="http://schemas.openxmlformats.org/officeDocument/2006/relationships/notesMaster" Target="/ppt/notesMasters/notesMaster1.xml" Id="R6fe9956aa0c34d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運算式與運算子  ／  判斷式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for與while  ／  函式  ／  串列與陣列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對應兩份範例筆記本與五份補充PPTX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對應教材：第2–9章  基礎程式設計與應用整合</a:t>
            </a:r>
          </a:p>
          <a:p xmlns:a="http://schemas.openxmlformats.org/drawingml/2006/main">
            <a:r>
              <a:t>對應範例：Python_世界時鐘.ipynb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原投影片來源均為使用者提供，署名林英志。全華教材章名依課程既有章節對應。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對應教材：使用方式</a:t>
            </a:r>
          </a:p>
          <a:p xmlns:a="http://schemas.openxmlformats.org/drawingml/2006/main">
            <a:r>
              <a:t>對應範例：Python_世界時鐘.ipynb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T0 作品拆解與可重現資料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**講授：** 世界時鐘不是每個城市各有一個獨立的現在。所有城市應從同一個UTC時刻轉換，差別在顯示的當地日期與時間。原程式在每次呼叫timezone時各自取現在，可能剛好跨秒；新版先取一次，再交給所有城市。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本課區分兩個模型：固定偏移量供練習加減、整除與餘數；城市時區供實際顯示，會根據日期處理夏令時間。倫敦+1、紐約-4、雪梨+11都不是全年固定值。原範例的時差數字只能視為特定日期的假設。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先固定UTC為2026-01-15 20:30，避免每次輸出不同而難以核對。基本段只用標準函式庫；最後的表格需pandas，城市時區需作業系統時區資料或tzdata套件，缺少時依訊息安裝後重跑。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對應教材：第2章 程式結構與輸出／第3章 變數</a:t>
            </a:r>
          </a:p>
          <a:p xmlns:a="http://schemas.openxmlformats.org/drawingml/2006/main">
            <a:r>
              <a:t>對應範例：Python_世界時鐘.ipynb T0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Python教學影片PPT/Py01_基本認識(1).pptx</a:t>
            </a:r>
          </a:p>
          <a:p xmlns:a="http://schemas.openxmlformats.org/drawingml/2006/main">
            <a:r>
              <a:t>投影片序號20，署名林英志。</a:t>
            </a:r>
          </a:p>
          <a:p xmlns:a="http://schemas.openxmlformats.org/drawingml/2006/main">
            <a:r>
              <a:t>Python </a:t>
            </a:r>
          </a:p>
          <a:p xmlns:a="http://schemas.openxmlformats.org/drawingml/2006/main">
            <a:r>
              <a:t>基本資料型別</a:t>
            </a:r>
          </a:p>
          <a:p xmlns:a="http://schemas.openxmlformats.org/drawingml/2006/main">
            <a:r>
              <a:t>(1/4)</a:t>
            </a:r>
          </a:p>
          <a:p xmlns:a="http://schemas.openxmlformats.org/drawingml/2006/main">
            <a:r>
              <a:t>每個變數都有</a:t>
            </a:r>
          </a:p>
          <a:p xmlns:a="http://schemas.openxmlformats.org/drawingml/2006/main">
            <a:r>
              <a:t>資料型別</a:t>
            </a:r>
          </a:p>
          <a:p xmlns:a="http://schemas.openxmlformats.org/drawingml/2006/main">
            <a:r>
              <a:t>(data type)</a:t>
            </a:r>
          </a:p>
          <a:p xmlns:a="http://schemas.openxmlformats.org/drawingml/2006/main">
            <a:r>
              <a:t>用來描述該變數儲存值的型別</a:t>
            </a:r>
          </a:p>
          <a:p xmlns:a="http://schemas.openxmlformats.org/drawingml/2006/main">
            <a:r>
              <a:t>Python</a:t>
            </a:r>
          </a:p>
          <a:p xmlns:a="http://schemas.openxmlformats.org/drawingml/2006/main">
            <a:r>
              <a:t> 的基本資料型別有三種：</a:t>
            </a:r>
          </a:p>
          <a:p xmlns:a="http://schemas.openxmlformats.org/drawingml/2006/main">
            <a:r>
              <a:t>數值、布林、字串</a:t>
            </a:r>
          </a:p>
          <a:p xmlns:a="http://schemas.openxmlformats.org/drawingml/2006/main">
            <a:r>
              <a:t>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對應教材：第2章 程式結構與輸出／第3章 變數</a:t>
            </a:r>
          </a:p>
          <a:p xmlns:a="http://schemas.openxmlformats.org/drawingml/2006/main">
            <a:r>
              <a:t>對應範例：Python_世界時鐘.ipynb T0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來源：Python_世界時鐘.ipynb，第4個儲存格。L行號相對於該儲存格，視覺折行不改變原碼。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from datetime import datetime, timedelta, timezone</a:t>
            </a:r>
          </a:p>
          <a:p xmlns:a="http://schemas.openxmlformats.org/drawingml/2006/main">
            <a:r>
              <a:t>import time</a:t>
            </a:r>
          </a:p>
          <a:p xmlns:a="http://schemas.openxmlformats.org/drawingml/2006/main">
            <a:r>
              <a:t>import html</a:t>
            </a:r>
          </a:p>
          <a:p xmlns:a="http://schemas.openxmlformats.org/drawingml/2006/main">
            <a:r>
              <a:t>from IPython.display import display, 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BASE_UTC = datetime(2026, 1, 15, 20, 30, 0, tzinfo=timezone.utc)</a:t>
            </a:r>
          </a:p>
          <a:p xmlns:a="http://schemas.openxmlformats.org/drawingml/2006/main">
            <a:r>
              <a:t>print("統一基準時刻：", BASE_UTC.isoformat())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對應教材：第2章 程式結構與輸出／第3章 變數</a:t>
            </a:r>
          </a:p>
          <a:p xmlns:a="http://schemas.openxmlformats.org/drawingml/2006/main">
            <a:r>
              <a:t>對應範例：Python_世界時鐘.ipynb T0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以下是對應Notebook已執行的實際輸出。</a:t>
            </a:r>
          </a:p>
          <a:p xmlns:a="http://schemas.openxmlformats.org/drawingml/2006/main">
            <a:r>
              <a:t>統一基準時刻： 2026-01-15T20:30:00+00:00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對應教材：第2章 程式結構與輸出／第3章 變數</a:t>
            </a:r>
          </a:p>
          <a:p xmlns:a="http://schemas.openxmlformats.org/drawingml/2006/main">
            <a:r>
              <a:t>對應範例：Python_世界時鐘.ipynb T0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T1 時間運算與跨日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**講授：** 先把20:30轉成分鐘：`20*60+30=1230`。台灣固定偏移+8小時，即加480分鐘，得到1710。一天有1440分鐘，`1710//1440`得到跨越的天數1，`1710%1440`得到當日的270分鐘；`270//60`是4點，`270%60`是30分。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負偏移也適用：UTC 01:15減4小時是-165分鐘，`-165//1440`為-1，代表前一天；餘數1275對應21:15。這說明整除必須向下取整。僅用`(hour+offset)%24`只能取得小時，會丟掉日期資訊。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偏移可能含半小時，因此資料以分鐘保存，例如+5:30是330分鐘，不能四捨五入為5或6小時。f-string的`:02d`將整數補成兩位；datetime的`strftime("%H:%M:%S")`是另一種格式化方式。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**檢核：** UTC 20:30加9小時應為隔日05:30；UTC 01:15減4小時應為前日21:15。下例先使用手算模型，再由datetime負責真正的年月日變動。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對應教材：第3章 運算式與運算子</a:t>
            </a:r>
          </a:p>
          <a:p xmlns:a="http://schemas.openxmlformats.org/drawingml/2006/main">
            <a:r>
              <a:t>對應範例：Python_世界時鐘.ipynb T1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Python教學影片PPT/Py01_基本認識(3).pptx</a:t>
            </a:r>
          </a:p>
          <a:p xmlns:a="http://schemas.openxmlformats.org/drawingml/2006/main">
            <a:r>
              <a:t>投影片序號13，署名林英志。</a:t>
            </a:r>
          </a:p>
          <a:p xmlns:a="http://schemas.openxmlformats.org/drawingml/2006/main">
            <a:r>
              <a:t>三種除法</a:t>
            </a:r>
          </a:p>
          <a:p xmlns:a="http://schemas.openxmlformats.org/drawingml/2006/main">
            <a:r>
              <a:t>「</a:t>
            </a:r>
          </a:p>
          <a:p xmlns:a="http://schemas.openxmlformats.org/drawingml/2006/main">
            <a:r>
              <a:t>//</a:t>
            </a:r>
          </a:p>
          <a:p xmlns:a="http://schemas.openxmlformats.org/drawingml/2006/main">
            <a:r>
              <a:t>」是將相除後的浮點數，無條件捨去小數點的結果。</a:t>
            </a:r>
          </a:p>
          <a:p xmlns:a="http://schemas.openxmlformats.org/drawingml/2006/main">
            <a:r>
              <a:t>「</a:t>
            </a:r>
          </a:p>
          <a:p xmlns:a="http://schemas.openxmlformats.org/drawingml/2006/main">
            <a:r>
              <a:t>%</a:t>
            </a:r>
          </a:p>
          <a:p xmlns:a="http://schemas.openxmlformats.org/drawingml/2006/main">
            <a:r>
              <a:t>」稱為餘數運算子</a:t>
            </a:r>
          </a:p>
          <a:p xmlns:a="http://schemas.openxmlformats.org/drawingml/2006/main">
            <a:r>
              <a:t>運算結果是經過除法後的餘數</a:t>
            </a:r>
          </a:p>
          <a:p xmlns:a="http://schemas.openxmlformats.org/drawingml/2006/main">
            <a:r>
              <a:t>(remainder)</a:t>
            </a:r>
          </a:p>
          <a:p xmlns:a="http://schemas.openxmlformats.org/drawingml/2006/main">
            <a:r>
              <a:t>有時也叫做模數</a:t>
            </a:r>
          </a:p>
          <a:p xmlns:a="http://schemas.openxmlformats.org/drawingml/2006/main">
            <a:r>
              <a:t>(modulo)</a:t>
            </a:r>
          </a:p>
          <a:p xmlns:a="http://schemas.openxmlformats.org/drawingml/2006/main">
            <a:r>
              <a:t>13</a:t>
            </a:r>
          </a:p>
          <a:p xmlns:a="http://schemas.openxmlformats.org/drawingml/2006/main">
            <a:r>
              <a:t>講授補充：//向下取整，負數不可只刪除小數；-7//2=-4。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對應教材：第3章 運算式與運算子</a:t>
            </a:r>
          </a:p>
          <a:p xmlns:a="http://schemas.openxmlformats.org/drawingml/2006/main">
            <a:r>
              <a:t>對應範例：Python_世界時鐘.ipynb T1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Python教學影片PPT/Py01_基本認識(2).pptx</a:t>
            </a:r>
          </a:p>
          <a:p xmlns:a="http://schemas.openxmlformats.org/drawingml/2006/main">
            <a:r>
              <a:t>投影片序號25，署名林英志。</a:t>
            </a:r>
          </a:p>
          <a:p xmlns:a="http://schemas.openxmlformats.org/drawingml/2006/main">
            <a:r>
              <a:t>f-string (2/2)</a:t>
            </a:r>
          </a:p>
          <a:p xmlns:a="http://schemas.openxmlformats.org/drawingml/2006/main">
            <a:r>
              <a:t>f-string</a:t>
            </a:r>
          </a:p>
          <a:p xmlns:a="http://schemas.openxmlformats.org/drawingml/2006/main">
            <a:r>
              <a:t> 格式化字串的設定與 </a:t>
            </a:r>
          </a:p>
          <a:p xmlns:a="http://schemas.openxmlformats.org/drawingml/2006/main">
            <a:r>
              <a:t>format()</a:t>
            </a:r>
          </a:p>
          <a:p xmlns:a="http://schemas.openxmlformats.org/drawingml/2006/main">
            <a:r>
              <a:t> 類似</a:t>
            </a:r>
          </a:p>
          <a:p xmlns:a="http://schemas.openxmlformats.org/drawingml/2006/main">
            <a:r>
              <a:t>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對應教材：第3章 運算式與運算子</a:t>
            </a:r>
          </a:p>
          <a:p xmlns:a="http://schemas.openxmlformats.org/drawingml/2006/main">
            <a:r>
              <a:t>對應範例：Python_世界時鐘.ipynb T1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來源：Python_世界時鐘.ipynb，第6個儲存格。L行號相對於該儲存格，視覺折行不改變原碼。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utc_minutes = 20 * 60 + 30</a:t>
            </a:r>
          </a:p>
          <a:p xmlns:a="http://schemas.openxmlformats.org/drawingml/2006/main">
            <a:r>
              <a:t>offset_minutes = 8 * 60</a:t>
            </a:r>
          </a:p>
          <a:p xmlns:a="http://schemas.openxmlformats.org/drawingml/2006/main">
            <a:r>
              <a:t>total_minutes = utc_minutes + offset_minutes</a:t>
            </a:r>
          </a:p>
          <a:p xmlns:a="http://schemas.openxmlformats.org/drawingml/2006/main">
            <a:r>
              <a:t>day_shift = total_minutes // (24 * 60)</a:t>
            </a:r>
          </a:p>
          <a:p xmlns:a="http://schemas.openxmlformats.org/drawingml/2006/main">
            <a:r>
              <a:t>minute_of_day = total_minutes % (24 * 60)</a:t>
            </a:r>
          </a:p>
          <a:p xmlns:a="http://schemas.openxmlformats.org/drawingml/2006/main">
            <a:r>
              <a:t>hour = minute_of_day // 60</a:t>
            </a:r>
          </a:p>
          <a:p xmlns:a="http://schemas.openxmlformats.org/drawingml/2006/main">
            <a:r>
              <a:t>minute = minute_of_day % 60</a:t>
            </a:r>
          </a:p>
          <a:p xmlns:a="http://schemas.openxmlformats.org/drawingml/2006/main">
            <a:r>
              <a:t>print(f"跨日數={day_shift}，當地時間={hour:02d}:{minute:02d}")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previous_day_total = 1 * 60 + 15 - 4 * 60</a:t>
            </a:r>
          </a:p>
          <a:p xmlns:a="http://schemas.openxmlformats.org/drawingml/2006/main">
            <a:r>
              <a:t>print("前一天測試：", previous_day_total // 1440,</a:t>
            </a:r>
          </a:p>
          <a:p xmlns:a="http://schemas.openxmlformats.org/drawingml/2006/main">
            <a:r>
              <a:t>      f"{previous_day_total % 1440 // 60:02d}:{previous_day_total % 60:02d}")</a:t>
            </a:r>
          </a:p>
          <a:p xmlns:a="http://schemas.openxmlformats.org/drawingml/2006/main">
            <a:r>
              <a:t>local_dt = BASE_UTC.astimezone(timezone(timedelta(hours=8)))</a:t>
            </a:r>
          </a:p>
          <a:p xmlns:a="http://schemas.openxmlformats.org/drawingml/2006/main">
            <a:r>
              <a:t>print("實際日期：", local_dt.strftime("%Y-%m-%d %H:%M:%S"))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對應教材：第3章 運算式與運算子</a:t>
            </a:r>
          </a:p>
          <a:p xmlns:a="http://schemas.openxmlformats.org/drawingml/2006/main">
            <a:r>
              <a:t>對應範例：Python_世界時鐘.ipynb T1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來源：Python_世界時鐘.ipynb，第6個儲存格。L行號相對於該儲存格，視覺折行不改變原碼。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utc_minutes = 20 * 60 + 30</a:t>
            </a:r>
          </a:p>
          <a:p xmlns:a="http://schemas.openxmlformats.org/drawingml/2006/main">
            <a:r>
              <a:t>offset_minutes = 8 * 60</a:t>
            </a:r>
          </a:p>
          <a:p xmlns:a="http://schemas.openxmlformats.org/drawingml/2006/main">
            <a:r>
              <a:t>total_minutes = utc_minutes + offset_minutes</a:t>
            </a:r>
          </a:p>
          <a:p xmlns:a="http://schemas.openxmlformats.org/drawingml/2006/main">
            <a:r>
              <a:t>day_shift = total_minutes // (24 * 60)</a:t>
            </a:r>
          </a:p>
          <a:p xmlns:a="http://schemas.openxmlformats.org/drawingml/2006/main">
            <a:r>
              <a:t>minute_of_day = total_minutes % (24 * 60)</a:t>
            </a:r>
          </a:p>
          <a:p xmlns:a="http://schemas.openxmlformats.org/drawingml/2006/main">
            <a:r>
              <a:t>hour = minute_of_day // 60</a:t>
            </a:r>
          </a:p>
          <a:p xmlns:a="http://schemas.openxmlformats.org/drawingml/2006/main">
            <a:r>
              <a:t>minute = minute_of_day % 60</a:t>
            </a:r>
          </a:p>
          <a:p xmlns:a="http://schemas.openxmlformats.org/drawingml/2006/main">
            <a:r>
              <a:t>print(f"跨日數={day_shift}，當地時間={hour:02d}:{minute:02d}")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previous_day_total = 1 * 60 + 15 - 4 * 60</a:t>
            </a:r>
          </a:p>
          <a:p xmlns:a="http://schemas.openxmlformats.org/drawingml/2006/main">
            <a:r>
              <a:t>print("前一天測試：", previous_day_total // 1440,</a:t>
            </a:r>
          </a:p>
          <a:p xmlns:a="http://schemas.openxmlformats.org/drawingml/2006/main">
            <a:r>
              <a:t>      f"{previous_day_total % 1440 // 60:02d}:{previous_day_total % 60:02d}")</a:t>
            </a:r>
          </a:p>
          <a:p xmlns:a="http://schemas.openxmlformats.org/drawingml/2006/main">
            <a:r>
              <a:t>local_dt = BASE_UTC.astimezone(timezone(timedelta(hours=8)))</a:t>
            </a:r>
          </a:p>
          <a:p xmlns:a="http://schemas.openxmlformats.org/drawingml/2006/main">
            <a:r>
              <a:t>print("實際日期：", local_dt.strftime("%Y-%m-%d %H:%M:%S"))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對應教材：第3章 運算式與運算子</a:t>
            </a:r>
          </a:p>
          <a:p xmlns:a="http://schemas.openxmlformats.org/drawingml/2006/main">
            <a:r>
              <a:t>對應範例：Python_世界時鐘.ipynb T1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以下是對應Notebook已執行的實際輸出。</a:t>
            </a:r>
          </a:p>
          <a:p xmlns:a="http://schemas.openxmlformats.org/drawingml/2006/main">
            <a:r>
              <a:t>跨日數=1，當地時間=04:30</a:t>
            </a:r>
          </a:p>
          <a:p xmlns:a="http://schemas.openxmlformats.org/drawingml/2006/main">
            <a:r>
              <a:t>前一天測試： -1 21:15</a:t>
            </a:r>
          </a:p>
          <a:p xmlns:a="http://schemas.openxmlformats.org/drawingml/2006/main">
            <a:r>
              <a:t>實際日期： 2026-01-16 04:30:00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對應教材：第3章 運算式與運算子</a:t>
            </a:r>
          </a:p>
          <a:p xmlns:a="http://schemas.openxmlformats.org/drawingml/2006/main">
            <a:r>
              <a:t>對應範例：Python_世界時鐘.ipynb T1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T2 判斷式與日夜邊界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**講授：** 本教學把06:00至17:59:59定義為白天，其餘晚上，這是介面標籤規則，並未計算各地實際日出日落。`6 &lt;= hour &lt; 18`等價於`hour &gt;= 6 and hour &lt; 18`。18點是晚上，不能一邊寫「到18點」一邊又把18包含在白天。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先排除不合法時數，再比較範圍，是清楚的多向判斷。若只分日夜可用if/else；若增加凌晨、上午、下午、夜晚，則用elif。不要寫`hour &gt;= 6 or hour &lt; 18`，合法小時幾乎全部會成立。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**邊界表：** 05:59為晚上，06:00為白天，17:59為白天，18:00為晚上。這四筆比只測12:00更容易發現錯誤。原程式`judge_day_night`與這一節對應。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對應教材：第4章 條件判斷</a:t>
            </a:r>
          </a:p>
          <a:p xmlns:a="http://schemas.openxmlformats.org/drawingml/2006/main">
            <a:r>
              <a:t>對應範例：Python_世界時鐘.ipynb T2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Python教學影片PPT/Py02_選擇敘述與迴圈(1).pptx</a:t>
            </a:r>
          </a:p>
          <a:p xmlns:a="http://schemas.openxmlformats.org/drawingml/2006/main">
            <a:r>
              <a:t>投影片序號25，署名林英志。</a:t>
            </a:r>
          </a:p>
          <a:p xmlns:a="http://schemas.openxmlformats.org/drawingml/2006/main">
            <a:r>
              <a:t>雙向條件式</a:t>
            </a:r>
          </a:p>
          <a:p xmlns:a="http://schemas.openxmlformats.org/drawingml/2006/main">
            <a:r>
              <a:t>25</a:t>
            </a:r>
          </a:p>
          <a:p xmlns:a="http://schemas.openxmlformats.org/drawingml/2006/main">
            <a:r>
              <a:t>注意冒號</a:t>
            </a:r>
          </a:p>
          <a:p xmlns:a="http://schemas.openxmlformats.org/drawingml/2006/main">
            <a:r>
              <a:t>注意縮排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對應教材：第4章 條件判斷</a:t>
            </a:r>
          </a:p>
          <a:p xmlns:a="http://schemas.openxmlformats.org/drawingml/2006/main">
            <a:r>
              <a:t>對應範例：Python_世界時鐘.ipynb T2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Python教學影片PPT/Py01_基本認識(3).pptx</a:t>
            </a:r>
          </a:p>
          <a:p xmlns:a="http://schemas.openxmlformats.org/drawingml/2006/main">
            <a:r>
              <a:t>投影片序號26，署名林英志。</a:t>
            </a:r>
          </a:p>
          <a:p xmlns:a="http://schemas.openxmlformats.org/drawingml/2006/main">
            <a:r>
              <a:t>邏輯運算子</a:t>
            </a:r>
          </a:p>
          <a:p xmlns:a="http://schemas.openxmlformats.org/drawingml/2006/main">
            <a:r>
              <a:t>(logical operator)</a:t>
            </a:r>
          </a:p>
          <a:p xmlns:a="http://schemas.openxmlformats.org/drawingml/2006/main">
            <a:r>
              <a:t>Python </a:t>
            </a:r>
          </a:p>
          <a:p xmlns:a="http://schemas.openxmlformats.org/drawingml/2006/main">
            <a:r>
              <a:t>可以判斷的三種邏輯狀態有</a:t>
            </a:r>
          </a:p>
          <a:p xmlns:a="http://schemas.openxmlformats.org/drawingml/2006/main">
            <a:r>
              <a:t>且</a:t>
            </a:r>
          </a:p>
          <a:p xmlns:a="http://schemas.openxmlformats.org/drawingml/2006/main">
            <a:r>
              <a:t>(and)</a:t>
            </a:r>
          </a:p>
          <a:p xmlns:a="http://schemas.openxmlformats.org/drawingml/2006/main">
            <a:r>
              <a:t>、或</a:t>
            </a:r>
          </a:p>
          <a:p xmlns:a="http://schemas.openxmlformats.org/drawingml/2006/main">
            <a:r>
              <a:t>(or)</a:t>
            </a:r>
          </a:p>
          <a:p xmlns:a="http://schemas.openxmlformats.org/drawingml/2006/main">
            <a:r>
              <a:t>、非</a:t>
            </a:r>
          </a:p>
          <a:p xmlns:a="http://schemas.openxmlformats.org/drawingml/2006/main">
            <a:r>
              <a:t>(not)</a:t>
            </a:r>
          </a:p>
          <a:p xmlns:a="http://schemas.openxmlformats.org/drawingml/2006/main">
            <a:r>
              <a:t>，邏輯運算的結果依下面的</a:t>
            </a:r>
          </a:p>
          <a:p xmlns:a="http://schemas.openxmlformats.org/drawingml/2006/main">
            <a:r>
              <a:t>真值表</a:t>
            </a:r>
          </a:p>
          <a:p xmlns:a="http://schemas.openxmlformats.org/drawingml/2006/main">
            <a:r>
              <a:t>(truth table)</a:t>
            </a:r>
          </a:p>
          <a:p xmlns:a="http://schemas.openxmlformats.org/drawingml/2006/main">
            <a:r>
              <a:t>來決定。</a:t>
            </a:r>
          </a:p>
          <a:p xmlns:a="http://schemas.openxmlformats.org/drawingml/2006/main">
            <a:r>
              <a:t>26</a:t>
            </a:r>
          </a:p>
          <a:p xmlns:a="http://schemas.openxmlformats.org/drawingml/2006/main">
            <a:r>
              <a:t>T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 True</a:t>
            </a:r>
          </a:p>
          <a:p xmlns:a="http://schemas.openxmlformats.org/drawingml/2006/main">
            <a:r>
              <a:t>F  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對應教材：第4章 條件判斷</a:t>
            </a:r>
          </a:p>
          <a:p xmlns:a="http://schemas.openxmlformats.org/drawingml/2006/main">
            <a:r>
              <a:t>對應範例：Python_世界時鐘.ipynb T2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Python教學影片PPT/Py02_選擇敘述與迴圈(1).pptx</a:t>
            </a:r>
          </a:p>
          <a:p xmlns:a="http://schemas.openxmlformats.org/drawingml/2006/main">
            <a:r>
              <a:t>投影片序號26，署名林英志。</a:t>
            </a:r>
          </a:p>
          <a:p xmlns:a="http://schemas.openxmlformats.org/drawingml/2006/main">
            <a:r>
              <a:t>三元運算子</a:t>
            </a:r>
          </a:p>
          <a:p xmlns:a="http://schemas.openxmlformats.org/drawingml/2006/main">
            <a:r>
              <a:t>(1/3)</a:t>
            </a:r>
          </a:p>
          <a:p xmlns:a="http://schemas.openxmlformats.org/drawingml/2006/main">
            <a:r>
              <a:t>26</a:t>
            </a:r>
          </a:p>
          <a:p xmlns:a="http://schemas.openxmlformats.org/drawingml/2006/main">
            <a:r>
              <a:t>三元運算子的用法為：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對應教材：第4章 條件判斷</a:t>
            </a:r>
          </a:p>
          <a:p xmlns:a="http://schemas.openxmlformats.org/drawingml/2006/main">
            <a:r>
              <a:t>對應範例：Python_世界時鐘.ipynb T2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來源：Python_世界時鐘.ipynb，第8個儲存格。L行號相對於該儲存格，視覺折行不改變原碼。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hour in [5, 6, 17, 18, 23, 24]:</a:t>
            </a:r>
          </a:p>
          <a:p xmlns:a="http://schemas.openxmlformats.org/drawingml/2006/main">
            <a:r>
              <a:t>    if not 0 &lt;= hour &lt; 24:</a:t>
            </a:r>
          </a:p>
          <a:p xmlns:a="http://schemas.openxmlformats.org/drawingml/2006/main">
            <a:r>
              <a:t>        label = "無效小時"</a:t>
            </a:r>
          </a:p>
          <a:p xmlns:a="http://schemas.openxmlformats.org/drawingml/2006/main">
            <a:r>
              <a:t>    elif 6 &lt;= hour &lt; 18:</a:t>
            </a:r>
          </a:p>
          <a:p xmlns:a="http://schemas.openxmlformats.org/drawingml/2006/main">
            <a:r>
              <a:t>        label = "白天"</a:t>
            </a:r>
          </a:p>
          <a:p xmlns:a="http://schemas.openxmlformats.org/drawingml/2006/main">
            <a:r>
              <a:t>    else:</a:t>
            </a:r>
          </a:p>
          <a:p xmlns:a="http://schemas.openxmlformats.org/drawingml/2006/main">
            <a:r>
              <a:t>        label = "晚上"</a:t>
            </a:r>
          </a:p>
          <a:p xmlns:a="http://schemas.openxmlformats.org/drawingml/2006/main">
            <a:r>
              <a:t>    print(hour, label)</a:t>
            </a:r>
          </a:p>
          <a:p xmlns:a="http://schemas.openxmlformats.org/drawingml/2006/main">
            <a:r>
              <a:t>print("正確and：", 5 &gt;= 6 and 5 &lt; 18)</a:t>
            </a:r>
          </a:p>
          <a:p xmlns:a="http://schemas.openxmlformats.org/drawingml/2006/main">
            <a:r>
              <a:t>print("誤用or：", 5 &gt;= 6 or 5 &lt; 18)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對應教材：第4章 條件判斷</a:t>
            </a:r>
          </a:p>
          <a:p xmlns:a="http://schemas.openxmlformats.org/drawingml/2006/main">
            <a:r>
              <a:t>對應範例：Python_世界時鐘.ipynb T2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以下是對應Notebook已執行的實際輸出。</a:t>
            </a:r>
          </a:p>
          <a:p xmlns:a="http://schemas.openxmlformats.org/drawingml/2006/main">
            <a:r>
              <a:t>5 晚上</a:t>
            </a:r>
          </a:p>
          <a:p xmlns:a="http://schemas.openxmlformats.org/drawingml/2006/main">
            <a:r>
              <a:t>6 白天</a:t>
            </a:r>
          </a:p>
          <a:p xmlns:a="http://schemas.openxmlformats.org/drawingml/2006/main">
            <a:r>
              <a:t>17 白天</a:t>
            </a:r>
          </a:p>
          <a:p xmlns:a="http://schemas.openxmlformats.org/drawingml/2006/main">
            <a:r>
              <a:t>18 晚上</a:t>
            </a:r>
          </a:p>
          <a:p xmlns:a="http://schemas.openxmlformats.org/drawingml/2006/main">
            <a:r>
              <a:t>23 晚上</a:t>
            </a:r>
          </a:p>
          <a:p xmlns:a="http://schemas.openxmlformats.org/drawingml/2006/main">
            <a:r>
              <a:t>24 無效小時</a:t>
            </a:r>
          </a:p>
          <a:p xmlns:a="http://schemas.openxmlformats.org/drawingml/2006/main">
            <a:r>
              <a:t>正確and： False</a:t>
            </a:r>
          </a:p>
          <a:p xmlns:a="http://schemas.openxmlformats.org/drawingml/2006/main">
            <a:r>
              <a:t>誤用or： True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對應教材：第4章 條件判斷</a:t>
            </a:r>
          </a:p>
          <a:p xmlns:a="http://schemas.openxmlformats.org/drawingml/2006/main">
            <a:r>
              <a:t>對應範例：Python_世界時鐘.ipynb T2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T3 函式、參數與回傳值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**講授：** 原`timezone(h)`將取時間與格式化寫在一起。新版`fixed_local(base_utc, offset_minutes)`接受明確基準與分鐘偏移，回傳datetime；`judge_day_night`回傳文字標籤。這樣可先測資料，再決定印文字、畫HTML或建DataFrame。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定義函式不會立即執行。每次呼叫都有自己的區域變數；return將結果交回，離開後不會繼續執行函式剩下的敘述。`base_utc`具時區資訊稱為aware datetime；沒有時區資訊時無法確定是哪個時刻，本版主動提出錯誤。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原範例函式名稱timezone與標準庫同名，容易混淆，本版改稱fixed_local。`format_offset`示範條件式運算、abs、整除與格式化，能正確顯示UTC-03:30，而不是錯成UTC-03:-30。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**檢核：** 為何不在fixed_local內直接呼叫datetime.now？為了用指定時刻重現結果，並確保同一張表的城市共用基準。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</a:t>
            </a:r>
          </a:p>
          <a:p xmlns:a="http://schemas.openxmlformats.org/drawingml/2006/main">
            <a:r>
              <a:t>對應範例：Python_世界時鐘.ipynb T3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來源：Python_世界時鐘.ipynb，第10個儲存格。L行號相對於該儲存格，視覺折行不改變原碼。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fixed_local(base_utc, offset_minutes):</a:t>
            </a:r>
          </a:p>
          <a:p xmlns:a="http://schemas.openxmlformats.org/drawingml/2006/main">
            <a:r>
              <a:t>    if base_utc.tzinfo is None or base_utc.utcoffset() is None:</a:t>
            </a:r>
          </a:p>
          <a:p xmlns:a="http://schemas.openxmlformats.org/drawingml/2006/main">
            <a:r>
              <a:t>        raise ValueError("基準時間必須含時區資訊")</a:t>
            </a:r>
          </a:p>
          <a:p xmlns:a="http://schemas.openxmlformats.org/drawingml/2006/main">
            <a:r>
              <a:t>    if type(offset_minutes) is not int or not -1440 &lt; offset_minutes &lt; 1440:</a:t>
            </a:r>
          </a:p>
          <a:p xmlns:a="http://schemas.openxmlformats.org/drawingml/2006/main">
            <a:r>
              <a:t>        raise ValueError("偏移分鐘必須為介於-1440與1440之間的整數")</a:t>
            </a:r>
          </a:p>
          <a:p xmlns:a="http://schemas.openxmlformats.org/drawingml/2006/main">
            <a:r>
              <a:t>    return base_utc.astimezone(timezone(timedelta(minutes=offset_minutes)))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judge_day_night(time_str):</a:t>
            </a:r>
          </a:p>
          <a:p xmlns:a="http://schemas.openxmlformats.org/drawingml/2006/main">
            <a:r>
              <a:t>    parsed = datetime.strptime(time_str, "%H:%M:%S")</a:t>
            </a:r>
          </a:p>
          <a:p xmlns:a="http://schemas.openxmlformats.org/drawingml/2006/main">
            <a:r>
              <a:t>    if 6 &lt;= parsed.hour &lt; 18:</a:t>
            </a:r>
          </a:p>
          <a:p xmlns:a="http://schemas.openxmlformats.org/drawingml/2006/main">
            <a:r>
              <a:t>        return "白天"</a:t>
            </a:r>
          </a:p>
          <a:p xmlns:a="http://schemas.openxmlformats.org/drawingml/2006/main">
            <a:r>
              <a:t>    return "晚上"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format_offset(offset_minutes):</a:t>
            </a:r>
          </a:p>
          <a:p xmlns:a="http://schemas.openxmlformats.org/drawingml/2006/main">
            <a:r>
              <a:t>    sign = "+" if offset_minutes &gt;= 0 else "-"</a:t>
            </a:r>
          </a:p>
          <a:p xmlns:a="http://schemas.openxmlformats.org/drawingml/2006/main">
            <a:r>
              <a:t>    minutes = abs(offset_minutes)</a:t>
            </a:r>
          </a:p>
          <a:p xmlns:a="http://schemas.openxmlformats.org/drawingml/2006/main">
            <a:r>
              <a:t>    return f"UTC{sign}{minutes // 60:02d}:{minutes % 60:02d}"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print(fixed_local(BASE_UTC, 480))</a:t>
            </a:r>
          </a:p>
          <a:p xmlns:a="http://schemas.openxmlformats.org/drawingml/2006/main">
            <a:r>
              <a:t>print(format_offset(330), format_offset(-210))</a:t>
            </a:r>
          </a:p>
          <a:p xmlns:a="http://schemas.openxmlformats.org/drawingml/2006/main">
            <a:r>
              <a:t>print(judge_day_night("18:00:00"))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</a:t>
            </a:r>
          </a:p>
          <a:p xmlns:a="http://schemas.openxmlformats.org/drawingml/2006/main">
            <a:r>
              <a:t>對應範例：Python_世界時鐘.ipynb T3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來源：Python_世界時鐘.ipynb，第10個儲存格。L行號相對於該儲存格，視覺折行不改變原碼。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fixed_local(base_utc, offset_minutes):</a:t>
            </a:r>
          </a:p>
          <a:p xmlns:a="http://schemas.openxmlformats.org/drawingml/2006/main">
            <a:r>
              <a:t>    if base_utc.tzinfo is None or base_utc.utcoffset() is None:</a:t>
            </a:r>
          </a:p>
          <a:p xmlns:a="http://schemas.openxmlformats.org/drawingml/2006/main">
            <a:r>
              <a:t>        raise ValueError("基準時間必須含時區資訊")</a:t>
            </a:r>
          </a:p>
          <a:p xmlns:a="http://schemas.openxmlformats.org/drawingml/2006/main">
            <a:r>
              <a:t>    if type(offset_minutes) is not int or not -1440 &lt; offset_minutes &lt; 1440:</a:t>
            </a:r>
          </a:p>
          <a:p xmlns:a="http://schemas.openxmlformats.org/drawingml/2006/main">
            <a:r>
              <a:t>        raise ValueError("偏移分鐘必須為介於-1440與1440之間的整數")</a:t>
            </a:r>
          </a:p>
          <a:p xmlns:a="http://schemas.openxmlformats.org/drawingml/2006/main">
            <a:r>
              <a:t>    return base_utc.astimezone(timezone(timedelta(minutes=offset_minutes)))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judge_day_night(time_str):</a:t>
            </a:r>
          </a:p>
          <a:p xmlns:a="http://schemas.openxmlformats.org/drawingml/2006/main">
            <a:r>
              <a:t>    parsed = datetime.strptime(time_str, "%H:%M:%S")</a:t>
            </a:r>
          </a:p>
          <a:p xmlns:a="http://schemas.openxmlformats.org/drawingml/2006/main">
            <a:r>
              <a:t>    if 6 &lt;= parsed.hour &lt; 18:</a:t>
            </a:r>
          </a:p>
          <a:p xmlns:a="http://schemas.openxmlformats.org/drawingml/2006/main">
            <a:r>
              <a:t>        return "白天"</a:t>
            </a:r>
          </a:p>
          <a:p xmlns:a="http://schemas.openxmlformats.org/drawingml/2006/main">
            <a:r>
              <a:t>    return "晚上"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format_offset(offset_minutes):</a:t>
            </a:r>
          </a:p>
          <a:p xmlns:a="http://schemas.openxmlformats.org/drawingml/2006/main">
            <a:r>
              <a:t>    sign = "+" if offset_minutes &gt;= 0 else "-"</a:t>
            </a:r>
          </a:p>
          <a:p xmlns:a="http://schemas.openxmlformats.org/drawingml/2006/main">
            <a:r>
              <a:t>    minutes = abs(offset_minutes)</a:t>
            </a:r>
          </a:p>
          <a:p xmlns:a="http://schemas.openxmlformats.org/drawingml/2006/main">
            <a:r>
              <a:t>    return f"UTC{sign}{minutes // 60:02d}:{minutes % 60:02d}"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print(fixed_local(BASE_UTC, 480))</a:t>
            </a:r>
          </a:p>
          <a:p xmlns:a="http://schemas.openxmlformats.org/drawingml/2006/main">
            <a:r>
              <a:t>print(format_offset(330), format_offset(-210))</a:t>
            </a:r>
          </a:p>
          <a:p xmlns:a="http://schemas.openxmlformats.org/drawingml/2006/main">
            <a:r>
              <a:t>print(judge_day_night("18:00:00"))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</a:t>
            </a:r>
          </a:p>
          <a:p xmlns:a="http://schemas.openxmlformats.org/drawingml/2006/main">
            <a:r>
              <a:t>對應範例：Python_世界時鐘.ipynb T3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來源：Python_世界時鐘.ipynb，第10個儲存格。L行號相對於該儲存格，視覺折行不改變原碼。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fixed_local(base_utc, offset_minutes):</a:t>
            </a:r>
          </a:p>
          <a:p xmlns:a="http://schemas.openxmlformats.org/drawingml/2006/main">
            <a:r>
              <a:t>    if base_utc.tzinfo is None or base_utc.utcoffset() is None:</a:t>
            </a:r>
          </a:p>
          <a:p xmlns:a="http://schemas.openxmlformats.org/drawingml/2006/main">
            <a:r>
              <a:t>        raise ValueError("基準時間必須含時區資訊")</a:t>
            </a:r>
          </a:p>
          <a:p xmlns:a="http://schemas.openxmlformats.org/drawingml/2006/main">
            <a:r>
              <a:t>    if type(offset_minutes) is not int or not -1440 &lt; offset_minutes &lt; 1440:</a:t>
            </a:r>
          </a:p>
          <a:p xmlns:a="http://schemas.openxmlformats.org/drawingml/2006/main">
            <a:r>
              <a:t>        raise ValueError("偏移分鐘必須為介於-1440與1440之間的整數")</a:t>
            </a:r>
          </a:p>
          <a:p xmlns:a="http://schemas.openxmlformats.org/drawingml/2006/main">
            <a:r>
              <a:t>    return base_utc.astimezone(timezone(timedelta(minutes=offset_minutes)))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judge_day_night(time_str):</a:t>
            </a:r>
          </a:p>
          <a:p xmlns:a="http://schemas.openxmlformats.org/drawingml/2006/main">
            <a:r>
              <a:t>    parsed = datetime.strptime(time_str, "%H:%M:%S")</a:t>
            </a:r>
          </a:p>
          <a:p xmlns:a="http://schemas.openxmlformats.org/drawingml/2006/main">
            <a:r>
              <a:t>    if 6 &lt;= parsed.hour &lt; 18:</a:t>
            </a:r>
          </a:p>
          <a:p xmlns:a="http://schemas.openxmlformats.org/drawingml/2006/main">
            <a:r>
              <a:t>        return "白天"</a:t>
            </a:r>
          </a:p>
          <a:p xmlns:a="http://schemas.openxmlformats.org/drawingml/2006/main">
            <a:r>
              <a:t>    return "晚上"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format_offset(offset_minutes):</a:t>
            </a:r>
          </a:p>
          <a:p xmlns:a="http://schemas.openxmlformats.org/drawingml/2006/main">
            <a:r>
              <a:t>    sign = "+" if offset_minutes &gt;= 0 else "-"</a:t>
            </a:r>
          </a:p>
          <a:p xmlns:a="http://schemas.openxmlformats.org/drawingml/2006/main">
            <a:r>
              <a:t>    minutes = abs(offset_minutes)</a:t>
            </a:r>
          </a:p>
          <a:p xmlns:a="http://schemas.openxmlformats.org/drawingml/2006/main">
            <a:r>
              <a:t>    return f"UTC{sign}{minutes // 60:02d}:{minutes % 60:02d}"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print(fixed_local(BASE_UTC, 480))</a:t>
            </a:r>
          </a:p>
          <a:p xmlns:a="http://schemas.openxmlformats.org/drawingml/2006/main">
            <a:r>
              <a:t>print(format_offset(330), format_offset(-210))</a:t>
            </a:r>
          </a:p>
          <a:p xmlns:a="http://schemas.openxmlformats.org/drawingml/2006/main">
            <a:r>
              <a:t>print(judge_day_night("18:00:00"))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</a:t>
            </a:r>
          </a:p>
          <a:p xmlns:a="http://schemas.openxmlformats.org/drawingml/2006/main">
            <a:r>
              <a:t>對應範例：Python_世界時鐘.ipynb T3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以下是對應Notebook已執行的實際輸出。</a:t>
            </a:r>
          </a:p>
          <a:p xmlns:a="http://schemas.openxmlformats.org/drawingml/2006/main">
            <a:r>
              <a:t>2026-01-16 04:30:00+08:00</a:t>
            </a:r>
          </a:p>
          <a:p xmlns:a="http://schemas.openxmlformats.org/drawingml/2006/main">
            <a:r>
              <a:t>UTC+05:30 UTC-03:30</a:t>
            </a:r>
          </a:p>
          <a:p xmlns:a="http://schemas.openxmlformats.org/drawingml/2006/main">
            <a:r>
              <a:t>晚上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</a:t>
            </a:r>
          </a:p>
          <a:p xmlns:a="http://schemas.openxmlformats.org/drawingml/2006/main">
            <a:r>
              <a:t>對應範例：Python_世界時鐘.ipynb T3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T4 城市陣列、索引與資料配對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**講授：** 原name與loc_time是平行串列，同一個索引代表同一城市。這種方法容易懂，但必須維持長度及順序一致；只增加城市而沒有增加偏移，就會出錯。`range(4)`也把筆數寫死，改成range(len(name))才能隨資料擴充。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維串列示範索引、切片及append。下一步把城市和偏移放在同一筆紀錄，形成「串列中的字典」，迴圈讀一筆就能取得所有欄位。這是資料結構延伸，主要目的是避免資料錯配。若用兩欄二維串列也能表達，但字典的欄位名稱更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Python list可放文字和數字，並不是固定型別的數值陣列。若未來改用NumPy，數值陣列乘2可逐項倍增，而Python串列乘2會重複內容。本題不需要NumPy即可完成。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對應教材：第7章 字串與容器型態</a:t>
            </a:r>
          </a:p>
          <a:p xmlns:a="http://schemas.openxmlformats.org/drawingml/2006/main">
            <a:r>
              <a:t>對應範例：Python_世界時鐘.ipynb T4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Python教學影片PPT/Py02_選擇敘述與迴圈(2).pptx</a:t>
            </a:r>
          </a:p>
          <a:p xmlns:a="http://schemas.openxmlformats.org/drawingml/2006/main">
            <a:r>
              <a:t>投影片序號15，署名林英志。</a:t>
            </a:r>
          </a:p>
          <a:p xmlns:a="http://schemas.openxmlformats.org/drawingml/2006/main">
            <a:r>
              <a:t>for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迴圈</a:t>
            </a:r>
          </a:p>
          <a:p xmlns:a="http://schemas.openxmlformats.org/drawingml/2006/main">
            <a:r>
              <a:t>(2/2)</a:t>
            </a:r>
          </a:p>
          <a:p xmlns:a="http://schemas.openxmlformats.org/drawingml/2006/main">
            <a:r>
              <a:t>for</a:t>
            </a:r>
          </a:p>
          <a:p xmlns:a="http://schemas.openxmlformats.org/drawingml/2006/main">
            <a:r>
              <a:t>  </a:t>
            </a:r>
          </a:p>
          <a:p xmlns:a="http://schemas.openxmlformats.org/drawingml/2006/main">
            <a:r>
              <a:t>變數  </a:t>
            </a:r>
          </a:p>
          <a:p xmlns:a="http://schemas.openxmlformats.org/drawingml/2006/main">
            <a:r>
              <a:t>in</a:t>
            </a:r>
          </a:p>
          <a:p xmlns:a="http://schemas.openxmlformats.org/drawingml/2006/main">
            <a:r>
              <a:t>  </a:t>
            </a:r>
          </a:p>
          <a:p xmlns:a="http://schemas.openxmlformats.org/drawingml/2006/main">
            <a:r>
              <a:t>可迭代物件</a:t>
            </a:r>
          </a:p>
          <a:p xmlns:a="http://schemas.openxmlformats.org/drawingml/2006/main">
            <a:r>
              <a:t>:</a:t>
            </a:r>
          </a:p>
          <a:p xmlns:a="http://schemas.openxmlformats.org/drawingml/2006/main">
            <a:r>
              <a:t>     程式區塊</a:t>
            </a:r>
          </a:p>
          <a:p xmlns:a="http://schemas.openxmlformats.org/drawingml/2006/main">
            <a:r>
              <a:t>可迭代物件</a:t>
            </a:r>
          </a:p>
          <a:p xmlns:a="http://schemas.openxmlformats.org/drawingml/2006/main">
            <a:r>
              <a:t>(</a:t>
            </a:r>
          </a:p>
          <a:p xmlns:a="http://schemas.openxmlformats.org/drawingml/2006/main">
            <a:r>
              <a:t>iterable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可簡單理解為「一個裝著很多東西的容器，且裡面的東西能一個個按照順序拿出來。」</a:t>
            </a:r>
          </a:p>
          <a:p xmlns:a="http://schemas.openxmlformats.org/drawingml/2006/main">
            <a:r>
              <a:t>e.g., </a:t>
            </a:r>
          </a:p>
          <a:p xmlns:a="http://schemas.openxmlformats.org/drawingml/2006/main">
            <a:r>
              <a:t>串列</a:t>
            </a:r>
          </a:p>
          <a:p xmlns:a="http://schemas.openxmlformats.org/drawingml/2006/main">
            <a:r>
              <a:t>(list)</a:t>
            </a:r>
          </a:p>
          <a:p xmlns:a="http://schemas.openxmlformats.org/drawingml/2006/main">
            <a:r>
              <a:t>、數組</a:t>
            </a:r>
          </a:p>
          <a:p xmlns:a="http://schemas.openxmlformats.org/drawingml/2006/main">
            <a:r>
              <a:t>(tuple)</a:t>
            </a:r>
          </a:p>
          <a:p xmlns:a="http://schemas.openxmlformats.org/drawingml/2006/main">
            <a:r>
              <a:t>、字典</a:t>
            </a:r>
          </a:p>
          <a:p xmlns:a="http://schemas.openxmlformats.org/drawingml/2006/main">
            <a:r>
              <a:t>(dictionary)</a:t>
            </a:r>
          </a:p>
          <a:p xmlns:a="http://schemas.openxmlformats.org/drawingml/2006/main">
            <a:r>
              <a:t>、集合</a:t>
            </a:r>
          </a:p>
          <a:p xmlns:a="http://schemas.openxmlformats.org/drawingml/2006/main">
            <a:r>
              <a:t>(set)</a:t>
            </a:r>
          </a:p>
          <a:p xmlns:a="http://schemas.openxmlformats.org/drawingml/2006/main">
            <a:r>
              <a:t>與 </a:t>
            </a:r>
          </a:p>
          <a:p xmlns:a="http://schemas.openxmlformats.org/drawingml/2006/main">
            <a:r>
              <a:t>range()</a:t>
            </a:r>
          </a:p>
          <a:p xmlns:a="http://schemas.openxmlformats.org/drawingml/2006/main">
            <a:r>
              <a:t>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對應教材：第7章 字串與容器型態</a:t>
            </a:r>
          </a:p>
          <a:p xmlns:a="http://schemas.openxmlformats.org/drawingml/2006/main">
            <a:r>
              <a:t>對應範例：Python_世界時鐘.ipynb T4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來源：Python_世界時鐘.ipynb，第12個儲存格。L行號相對於該儲存格，視覺折行不改變原碼。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names = ["台灣", "日本", "印度"]</a:t>
            </a:r>
          </a:p>
          <a:p xmlns:a="http://schemas.openxmlformats.org/drawingml/2006/main">
            <a:r>
              <a:t>offsets = [480, 540, 330]  # 分鐘；本段明確採固定偏移</a:t>
            </a:r>
          </a:p>
          <a:p xmlns:a="http://schemas.openxmlformats.org/drawingml/2006/main">
            <a:r>
              <a:t>assert len(names) == len(offsets)</a:t>
            </a:r>
          </a:p>
          <a:p xmlns:a="http://schemas.openxmlformats.org/drawingml/2006/main">
            <a:r>
              <a:t>print("第一座：", names[0], offsets[0])</a:t>
            </a:r>
          </a:p>
          <a:p xmlns:a="http://schemas.openxmlformats.org/drawingml/2006/main">
            <a:r>
              <a:t>print("前兩座：", names[:2], "最後一座：", names[-1])</a:t>
            </a:r>
          </a:p>
          <a:p xmlns:a="http://schemas.openxmlformats.org/drawingml/2006/main">
            <a:r>
              <a:t>print("串列乘2：", [480, 540] * 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fixed_cities = [</a:t>
            </a:r>
          </a:p>
          <a:p xmlns:a="http://schemas.openxmlformats.org/drawingml/2006/main">
            <a:r>
              <a:t>    {"city": "台灣", "offset_minutes": 480},</a:t>
            </a:r>
          </a:p>
          <a:p xmlns:a="http://schemas.openxmlformats.org/drawingml/2006/main">
            <a:r>
              <a:t>    {"city": "日本", "offset_minutes": 540},</a:t>
            </a:r>
          </a:p>
          <a:p xmlns:a="http://schemas.openxmlformats.org/drawingml/2006/main">
            <a:r>
              <a:t>    {"city": "印度", "offset_minutes": 330},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fixed_cities.append({"city": "UTC示範站", "offset_minutes": 0})</a:t>
            </a:r>
          </a:p>
          <a:p xmlns:a="http://schemas.openxmlformats.org/drawingml/2006/main">
            <a:r>
              <a:t>print("目前城市數：", len(fixed_cities))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對應教材：第7章 字串與容器型態</a:t>
            </a:r>
          </a:p>
          <a:p xmlns:a="http://schemas.openxmlformats.org/drawingml/2006/main">
            <a:r>
              <a:t>對應範例：Python_世界時鐘.ipynb T4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來源：Python_世界時鐘.ipynb，第12個儲存格。L行號相對於該儲存格，視覺折行不改變原碼。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names = ["台灣", "日本", "印度"]</a:t>
            </a:r>
          </a:p>
          <a:p xmlns:a="http://schemas.openxmlformats.org/drawingml/2006/main">
            <a:r>
              <a:t>offsets = [480, 540, 330]  # 分鐘；本段明確採固定偏移</a:t>
            </a:r>
          </a:p>
          <a:p xmlns:a="http://schemas.openxmlformats.org/drawingml/2006/main">
            <a:r>
              <a:t>assert len(names) == len(offsets)</a:t>
            </a:r>
          </a:p>
          <a:p xmlns:a="http://schemas.openxmlformats.org/drawingml/2006/main">
            <a:r>
              <a:t>print("第一座：", names[0], offsets[0])</a:t>
            </a:r>
          </a:p>
          <a:p xmlns:a="http://schemas.openxmlformats.org/drawingml/2006/main">
            <a:r>
              <a:t>print("前兩座：", names[:2], "最後一座：", names[-1])</a:t>
            </a:r>
          </a:p>
          <a:p xmlns:a="http://schemas.openxmlformats.org/drawingml/2006/main">
            <a:r>
              <a:t>print("串列乘2：", [480, 540] * 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fixed_cities = [</a:t>
            </a:r>
          </a:p>
          <a:p xmlns:a="http://schemas.openxmlformats.org/drawingml/2006/main">
            <a:r>
              <a:t>    {"city": "台灣", "offset_minutes": 480},</a:t>
            </a:r>
          </a:p>
          <a:p xmlns:a="http://schemas.openxmlformats.org/drawingml/2006/main">
            <a:r>
              <a:t>    {"city": "日本", "offset_minutes": 540},</a:t>
            </a:r>
          </a:p>
          <a:p xmlns:a="http://schemas.openxmlformats.org/drawingml/2006/main">
            <a:r>
              <a:t>    {"city": "印度", "offset_minutes": 330},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fixed_cities.append({"city": "UTC示範站", "offset_minutes": 0})</a:t>
            </a:r>
          </a:p>
          <a:p xmlns:a="http://schemas.openxmlformats.org/drawingml/2006/main">
            <a:r>
              <a:t>print("目前城市數：", len(fixed_cities))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對應教材：第7章 字串與容器型態</a:t>
            </a:r>
          </a:p>
          <a:p xmlns:a="http://schemas.openxmlformats.org/drawingml/2006/main">
            <a:r>
              <a:t>對應範例：Python_世界時鐘.ipynb T4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以下是對應Notebook已執行的實際輸出。</a:t>
            </a:r>
          </a:p>
          <a:p xmlns:a="http://schemas.openxmlformats.org/drawingml/2006/main">
            <a:r>
              <a:t>第一座： 台灣 480</a:t>
            </a:r>
          </a:p>
          <a:p xmlns:a="http://schemas.openxmlformats.org/drawingml/2006/main">
            <a:r>
              <a:t>前兩座： ['台灣', '日本'] 最後一座： 印度</a:t>
            </a:r>
          </a:p>
          <a:p xmlns:a="http://schemas.openxmlformats.org/drawingml/2006/main">
            <a:r>
              <a:t>串列乘2： [480, 540, 480, 540]</a:t>
            </a:r>
          </a:p>
          <a:p xmlns:a="http://schemas.openxmlformats.org/drawingml/2006/main">
            <a:r>
              <a:t>目前城市數：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對應教材：第7章 字串與容器型態</a:t>
            </a:r>
          </a:p>
          <a:p xmlns:a="http://schemas.openxmlformats.org/drawingml/2006/main">
            <a:r>
              <a:t>對應範例：Python_世界時鐘.ipynb T4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T5 for走訪與表格資料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**講授：** 對每座城市做一樣的轉換，選for最自然。`enumerate`同時產生索引與城市；若使用平行串列，可先檢查長度後再用zip配對。zip預設遇到最短串列就停止，因此不能靠它發現少了一筆資料。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例每輪先計算local，取日期與時間，呼叫日夜判斷，再append一筆字典。輸出格式不必參與計算，rows保留為可再加工的資料。`continue`可略過不需要顯示的城市；搜尋時用break提早停止，迴圈else可表示全部找完仍未發現目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**追蹤：** BASE_UTC是1月15日20:30，所以台灣為1月16日04:30、日本05:30、印度02:00，皆標為晚上。請先預測，再查看輸出。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對應範例：Python_世界時鐘.ipynb T5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Python教學影片PPT/Py02_選擇敘述與迴圈(2).pptx</a:t>
            </a:r>
          </a:p>
          <a:p xmlns:a="http://schemas.openxmlformats.org/drawingml/2006/main">
            <a:r>
              <a:t>投影片序號19，署名林英志。</a:t>
            </a:r>
          </a:p>
          <a:p xmlns:a="http://schemas.openxmlformats.org/drawingml/2006/main">
            <a:r>
              <a:t>range()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(2/5)</a:t>
            </a:r>
          </a:p>
          <a:p xmlns:a="http://schemas.openxmlformats.org/drawingml/2006/main">
            <a:r>
              <a:t>迴圈中常使用整數數列</a:t>
            </a:r>
          </a:p>
          <a:p xmlns:a="http://schemas.openxmlformats.org/drawingml/2006/main">
            <a:r>
              <a:t>(e.g., 1, 2, 3, …)</a:t>
            </a:r>
          </a:p>
          <a:p xmlns:a="http://schemas.openxmlformats.org/drawingml/2006/main">
            <a:r>
              <a:t>，因此 </a:t>
            </a:r>
          </a:p>
          <a:p xmlns:a="http://schemas.openxmlformats.org/drawingml/2006/main">
            <a:r>
              <a:t>Python</a:t>
            </a:r>
          </a:p>
          <a:p xmlns:a="http://schemas.openxmlformats.org/drawingml/2006/main">
            <a:r>
              <a:t> 有個內建</a:t>
            </a:r>
          </a:p>
          <a:p xmlns:a="http://schemas.openxmlformats.org/drawingml/2006/main">
            <a:r>
              <a:t>(built-in)</a:t>
            </a:r>
          </a:p>
          <a:p xmlns:a="http://schemas.openxmlformats.org/drawingml/2006/main">
            <a:r>
              <a:t>函式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range()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用來建立整數數列。</a:t>
            </a:r>
          </a:p>
          <a:p xmlns:a="http://schemas.openxmlformats.org/drawingml/2006/main">
            <a:r>
              <a:t>range()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的語法有三種，以</a:t>
            </a:r>
          </a:p>
          <a:p xmlns:a="http://schemas.openxmlformats.org/drawingml/2006/main">
            <a:r>
              <a:t>參數的個數</a:t>
            </a:r>
          </a:p>
          <a:p xmlns:a="http://schemas.openxmlformats.org/drawingml/2006/main">
            <a:r>
              <a:t>來區分。</a:t>
            </a:r>
          </a:p>
          <a:p xmlns:a="http://schemas.openxmlformats.org/drawingml/2006/main">
            <a:r>
              <a:t>1 </a:t>
            </a:r>
          </a:p>
          <a:p xmlns:a="http://schemas.openxmlformats.org/drawingml/2006/main">
            <a:r>
              <a:t>個參數的語法為：</a:t>
            </a:r>
          </a:p>
          <a:p xmlns:a="http://schemas.openxmlformats.org/drawingml/2006/main">
            <a:r>
              <a:t>range(</a:t>
            </a:r>
          </a:p>
          <a:p xmlns:a="http://schemas.openxmlformats.org/drawingml/2006/main">
            <a:r>
              <a:t>終止值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range(5)</a:t>
            </a:r>
          </a:p>
          <a:p xmlns:a="http://schemas.openxmlformats.org/drawingml/2006/main">
            <a:r>
              <a:t>19</a:t>
            </a:r>
          </a:p>
          <a:p xmlns:a="http://schemas.openxmlformats.org/drawingml/2006/main">
            <a:r>
              <a:t>0, 1, 2, 3, 4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對應範例：Python_世界時鐘.ipynb T5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Python教學影片PPT/Py02_選擇敘述與迴圈(2).pptx</a:t>
            </a:r>
          </a:p>
          <a:p xmlns:a="http://schemas.openxmlformats.org/drawingml/2006/main">
            <a:r>
              <a:t>投影片序號20，署名林英志。</a:t>
            </a:r>
          </a:p>
          <a:p xmlns:a="http://schemas.openxmlformats.org/drawingml/2006/main">
            <a:r>
              <a:t>range()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(3/5)</a:t>
            </a:r>
          </a:p>
          <a:p xmlns:a="http://schemas.openxmlformats.org/drawingml/2006/main">
            <a:r>
              <a:t>range()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的語法有三種，以</a:t>
            </a:r>
          </a:p>
          <a:p xmlns:a="http://schemas.openxmlformats.org/drawingml/2006/main">
            <a:r>
              <a:t>參數的個數</a:t>
            </a:r>
          </a:p>
          <a:p xmlns:a="http://schemas.openxmlformats.org/drawingml/2006/main">
            <a:r>
              <a:t>來區分。</a:t>
            </a:r>
          </a:p>
          <a:p xmlns:a="http://schemas.openxmlformats.org/drawingml/2006/main">
            <a:r>
              <a:t>2 </a:t>
            </a:r>
          </a:p>
          <a:p xmlns:a="http://schemas.openxmlformats.org/drawingml/2006/main">
            <a:r>
              <a:t>個參數的語法為：</a:t>
            </a:r>
          </a:p>
          <a:p xmlns:a="http://schemas.openxmlformats.org/drawingml/2006/main">
            <a:r>
              <a:t>range(</a:t>
            </a:r>
          </a:p>
          <a:p xmlns:a="http://schemas.openxmlformats.org/drawingml/2006/main">
            <a:r>
              <a:t>起始值</a:t>
            </a:r>
          </a:p>
          <a:p xmlns:a="http://schemas.openxmlformats.org/drawingml/2006/main">
            <a:r>
              <a:t>, </a:t>
            </a:r>
          </a:p>
          <a:p xmlns:a="http://schemas.openxmlformats.org/drawingml/2006/main">
            <a:r>
              <a:t>終止值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range(3, 7)</a:t>
            </a:r>
          </a:p>
          <a:p xmlns:a="http://schemas.openxmlformats.org/drawingml/2006/main">
            <a:r>
              <a:t>range(-6, -3)</a:t>
            </a:r>
          </a:p>
          <a:p xmlns:a="http://schemas.openxmlformats.org/drawingml/2006/main">
            <a:r>
              <a:t>range(-2, -6)</a:t>
            </a:r>
          </a:p>
          <a:p xmlns:a="http://schemas.openxmlformats.org/drawingml/2006/main">
            <a:r>
              <a:t>20</a:t>
            </a:r>
          </a:p>
          <a:p xmlns:a="http://schemas.openxmlformats.org/drawingml/2006/main">
            <a:r>
              <a:t>3, 4, 5, 6</a:t>
            </a:r>
          </a:p>
          <a:p xmlns:a="http://schemas.openxmlformats.org/drawingml/2006/main">
            <a:r>
              <a:t>-6, -5, -4</a:t>
            </a:r>
          </a:p>
          <a:p xmlns:a="http://schemas.openxmlformats.org/drawingml/2006/main">
            <a:r>
              <a:t>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對應範例：Python_世界時鐘.ipynb T5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Python教學影片PPT/Py02_選擇敘述與迴圈(2).pptx</a:t>
            </a:r>
          </a:p>
          <a:p xmlns:a="http://schemas.openxmlformats.org/drawingml/2006/main">
            <a:r>
              <a:t>投影片序號21，署名林英志。</a:t>
            </a:r>
          </a:p>
          <a:p xmlns:a="http://schemas.openxmlformats.org/drawingml/2006/main">
            <a:r>
              <a:t>range()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(4/5)</a:t>
            </a:r>
          </a:p>
          <a:p xmlns:a="http://schemas.openxmlformats.org/drawingml/2006/main">
            <a:r>
              <a:t>range()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的語法有三種，以</a:t>
            </a:r>
          </a:p>
          <a:p xmlns:a="http://schemas.openxmlformats.org/drawingml/2006/main">
            <a:r>
              <a:t>參數的個數</a:t>
            </a:r>
          </a:p>
          <a:p xmlns:a="http://schemas.openxmlformats.org/drawingml/2006/main">
            <a:r>
              <a:t>來區分。</a:t>
            </a:r>
          </a:p>
          <a:p xmlns:a="http://schemas.openxmlformats.org/drawingml/2006/main">
            <a:r>
              <a:t>3 </a:t>
            </a:r>
          </a:p>
          <a:p xmlns:a="http://schemas.openxmlformats.org/drawingml/2006/main">
            <a:r>
              <a:t>個參數的語法為：</a:t>
            </a:r>
          </a:p>
          <a:p xmlns:a="http://schemas.openxmlformats.org/drawingml/2006/main">
            <a:r>
              <a:t>range(</a:t>
            </a:r>
          </a:p>
          <a:p xmlns:a="http://schemas.openxmlformats.org/drawingml/2006/main">
            <a:r>
              <a:t>起始值</a:t>
            </a:r>
          </a:p>
          <a:p xmlns:a="http://schemas.openxmlformats.org/drawingml/2006/main">
            <a:r>
              <a:t>, </a:t>
            </a:r>
          </a:p>
          <a:p xmlns:a="http://schemas.openxmlformats.org/drawingml/2006/main">
            <a:r>
              <a:t>終止值</a:t>
            </a:r>
          </a:p>
          <a:p xmlns:a="http://schemas.openxmlformats.org/drawingml/2006/main">
            <a:r>
              <a:t>, </a:t>
            </a:r>
          </a:p>
          <a:p xmlns:a="http://schemas.openxmlformats.org/drawingml/2006/main">
            <a:r>
              <a:t>間隔值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range(3, 8, 1) = range(3, 8)</a:t>
            </a:r>
          </a:p>
          <a:p xmlns:a="http://schemas.openxmlformats.org/drawingml/2006/main">
            <a:r>
              <a:t>range(3, 8, 2)</a:t>
            </a:r>
          </a:p>
          <a:p xmlns:a="http://schemas.openxmlformats.org/drawingml/2006/main">
            <a:r>
              <a:t>range(8, 3, -1)</a:t>
            </a:r>
          </a:p>
          <a:p xmlns:a="http://schemas.openxmlformats.org/drawingml/2006/main">
            <a:r>
              <a:t>21</a:t>
            </a:r>
          </a:p>
          <a:p xmlns:a="http://schemas.openxmlformats.org/drawingml/2006/main">
            <a:r>
              <a:t>3, 4, 5, 6, 7</a:t>
            </a:r>
          </a:p>
          <a:p xmlns:a="http://schemas.openxmlformats.org/drawingml/2006/main">
            <a:r>
              <a:t>3, 5, 7</a:t>
            </a:r>
          </a:p>
          <a:p xmlns:a="http://schemas.openxmlformats.org/drawingml/2006/main">
            <a:r>
              <a:t>8, 7, 6, 5, 4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對應範例：Python_世界時鐘.ipynb T5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Python教學影片PPT/Py02_選擇敘述與迴圈(2).pptx</a:t>
            </a:r>
          </a:p>
          <a:p xmlns:a="http://schemas.openxmlformats.org/drawingml/2006/main">
            <a:r>
              <a:t>投影片序號32，署名林英志。</a:t>
            </a:r>
          </a:p>
          <a:p xmlns:a="http://schemas.openxmlformats.org/drawingml/2006/main">
            <a:r>
              <a:t>else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敘述</a:t>
            </a:r>
          </a:p>
          <a:p xmlns:a="http://schemas.openxmlformats.org/drawingml/2006/main">
            <a:r>
              <a:t>(1/2)</a:t>
            </a:r>
          </a:p>
          <a:p xmlns:a="http://schemas.openxmlformats.org/drawingml/2006/main">
            <a:r>
              <a:t>大多數程式語言都有 </a:t>
            </a:r>
          </a:p>
          <a:p xmlns:a="http://schemas.openxmlformats.org/drawingml/2006/main">
            <a:r>
              <a:t>if</a:t>
            </a:r>
          </a:p>
          <a:p xmlns:a="http://schemas.openxmlformats.org/drawingml/2006/main">
            <a:r>
              <a:t> 與 </a:t>
            </a:r>
          </a:p>
          <a:p xmlns:a="http://schemas.openxmlformats.org/drawingml/2006/main">
            <a:r>
              <a:t>else</a:t>
            </a:r>
          </a:p>
          <a:p xmlns:a="http://schemas.openxmlformats.org/drawingml/2006/main">
            <a:r>
              <a:t> 搭配使用，但 </a:t>
            </a:r>
          </a:p>
          <a:p xmlns:a="http://schemas.openxmlformats.org/drawingml/2006/main">
            <a:r>
              <a:t>else</a:t>
            </a:r>
          </a:p>
          <a:p xmlns:a="http://schemas.openxmlformats.org/drawingml/2006/main">
            <a:r>
              <a:t> 在 </a:t>
            </a:r>
          </a:p>
          <a:p xmlns:a="http://schemas.openxmlformats.org/drawingml/2006/main">
            <a:r>
              <a:t>Python</a:t>
            </a:r>
          </a:p>
          <a:p xmlns:a="http://schemas.openxmlformats.org/drawingml/2006/main">
            <a:r>
              <a:t> 中除了能與 </a:t>
            </a:r>
          </a:p>
          <a:p xmlns:a="http://schemas.openxmlformats.org/drawingml/2006/main">
            <a:r>
              <a:t>if</a:t>
            </a:r>
          </a:p>
          <a:p xmlns:a="http://schemas.openxmlformats.org/drawingml/2006/main">
            <a:r>
              <a:t> 配合外，也能與 </a:t>
            </a:r>
          </a:p>
          <a:p xmlns:a="http://schemas.openxmlformats.org/drawingml/2006/main">
            <a:r>
              <a:t>for</a:t>
            </a:r>
          </a:p>
          <a:p xmlns:a="http://schemas.openxmlformats.org/drawingml/2006/main">
            <a:r>
              <a:t>、</a:t>
            </a:r>
          </a:p>
          <a:p xmlns:a="http://schemas.openxmlformats.org/drawingml/2006/main">
            <a:r>
              <a:t>while</a:t>
            </a:r>
          </a:p>
          <a:p xmlns:a="http://schemas.openxmlformats.org/drawingml/2006/main">
            <a:r>
              <a:t> 迴圈配對。</a:t>
            </a:r>
          </a:p>
          <a:p xmlns:a="http://schemas.openxmlformats.org/drawingml/2006/main">
            <a:r>
              <a:t>用來表達「如果迴圈</a:t>
            </a:r>
          </a:p>
          <a:p xmlns:a="http://schemas.openxmlformats.org/drawingml/2006/main">
            <a:r>
              <a:t>正常結束</a:t>
            </a:r>
          </a:p>
          <a:p xmlns:a="http://schemas.openxmlformats.org/drawingml/2006/main">
            <a:r>
              <a:t>，就執行既定動作」的語意</a:t>
            </a:r>
          </a:p>
          <a:p xmlns:a="http://schemas.openxmlformats.org/drawingml/2006/main">
            <a:r>
              <a:t>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對應範例：Python_世界時鐘.ipynb T5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Python教學影片PPT/Py02_選擇敘述與迴圈(2).pptx</a:t>
            </a:r>
          </a:p>
          <a:p xmlns:a="http://schemas.openxmlformats.org/drawingml/2006/main">
            <a:r>
              <a:t>投影片序號33，署名林英志。</a:t>
            </a:r>
          </a:p>
          <a:p xmlns:a="http://schemas.openxmlformats.org/drawingml/2006/main">
            <a:r>
              <a:t>else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敘述</a:t>
            </a:r>
          </a:p>
          <a:p xmlns:a="http://schemas.openxmlformats.org/drawingml/2006/main">
            <a:r>
              <a:t>(2/2)</a:t>
            </a:r>
          </a:p>
          <a:p xmlns:a="http://schemas.openxmlformats.org/drawingml/2006/main">
            <a:r>
              <a:t>所謂</a:t>
            </a:r>
          </a:p>
          <a:p xmlns:a="http://schemas.openxmlformats.org/drawingml/2006/main">
            <a:r>
              <a:t>正常結束</a:t>
            </a:r>
          </a:p>
          <a:p xmlns:a="http://schemas.openxmlformats.org/drawingml/2006/main">
            <a:r>
              <a:t>，</a:t>
            </a:r>
          </a:p>
          <a:p xmlns:a="http://schemas.openxmlformats.org/drawingml/2006/main">
            <a:r>
              <a:t>while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迴圈 </a:t>
            </a:r>
          </a:p>
          <a:p xmlns:a="http://schemas.openxmlformats.org/drawingml/2006/main">
            <a:r>
              <a:t> </a:t>
            </a:r>
          </a:p>
          <a:p xmlns:a="http://schemas.openxmlformats.org/drawingml/2006/main">
            <a:r>
              <a:t>當條件式不成立的時候</a:t>
            </a:r>
          </a:p>
          <a:p xmlns:a="http://schemas.openxmlformats.org/drawingml/2006/main">
            <a:r>
              <a:t>for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迴圈     </a:t>
            </a:r>
          </a:p>
          <a:p xmlns:a="http://schemas.openxmlformats.org/drawingml/2006/main">
            <a:r>
              <a:t> </a:t>
            </a:r>
          </a:p>
          <a:p xmlns:a="http://schemas.openxmlformats.org/drawingml/2006/main">
            <a:r>
              <a:t>所有元素都被處理完畢</a:t>
            </a:r>
          </a:p>
          <a:p xmlns:a="http://schemas.openxmlformats.org/drawingml/2006/main">
            <a:r>
              <a:t>簡言之，當迴圈遇到 </a:t>
            </a:r>
          </a:p>
          <a:p xmlns:a="http://schemas.openxmlformats.org/drawingml/2006/main">
            <a:r>
              <a:t>break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或 </a:t>
            </a:r>
          </a:p>
          <a:p xmlns:a="http://schemas.openxmlformats.org/drawingml/2006/main">
            <a:r>
              <a:t>return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等敘述而</a:t>
            </a:r>
          </a:p>
          <a:p xmlns:a="http://schemas.openxmlformats.org/drawingml/2006/main">
            <a:r>
              <a:t>中斷執行並離開</a:t>
            </a:r>
          </a:p>
          <a:p xmlns:a="http://schemas.openxmlformats.org/drawingml/2006/main">
            <a:r>
              <a:t>時，就不會執行 </a:t>
            </a:r>
          </a:p>
          <a:p xmlns:a="http://schemas.openxmlformats.org/drawingml/2006/main">
            <a:r>
              <a:t>else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的部分。</a:t>
            </a:r>
          </a:p>
          <a:p xmlns:a="http://schemas.openxmlformats.org/drawingml/2006/main">
            <a:r>
              <a:t>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對應範例：Python_世界時鐘.ipynb T5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來源：Python_世界時鐘.ipynb，第14個儲存格。L行號相對於該儲存格，視覺折行不改變原碼。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build_fixed_rows(base_utc, cities):</a:t>
            </a:r>
          </a:p>
          <a:p xmlns:a="http://schemas.openxmlformats.org/drawingml/2006/main">
            <a:r>
              <a:t>    rows = []</a:t>
            </a:r>
          </a:p>
          <a:p xmlns:a="http://schemas.openxmlformats.org/drawingml/2006/main">
            <a:r>
              <a:t>    for item in cities:</a:t>
            </a:r>
          </a:p>
          <a:p xmlns:a="http://schemas.openxmlformats.org/drawingml/2006/main">
            <a:r>
              <a:t>        local = fixed_local(base_utc, item["offset_minutes"])</a:t>
            </a:r>
          </a:p>
          <a:p xmlns:a="http://schemas.openxmlformats.org/drawingml/2006/main">
            <a:r>
              <a:t>        clock_text = local.strftime("%H:%M:%S")</a:t>
            </a:r>
          </a:p>
          <a:p xmlns:a="http://schemas.openxmlformats.org/drawingml/2006/main">
            <a:r>
              <a:t>        rows.append({"城市": item["city"], "時區": format_offset(item["offset_minutes"]),</a:t>
            </a:r>
          </a:p>
          <a:p xmlns:a="http://schemas.openxmlformats.org/drawingml/2006/main">
            <a:r>
              <a:t>                     "日期": local.strftime("%Y-%m-%d"), "時間": clock_text,</a:t>
            </a:r>
          </a:p>
          <a:p xmlns:a="http://schemas.openxmlformats.org/drawingml/2006/main">
            <a:r>
              <a:t>                     "狀態": judge_day_night(clock_text)})</a:t>
            </a:r>
          </a:p>
          <a:p xmlns:a="http://schemas.openxmlformats.org/drawingml/2006/main">
            <a:r>
              <a:t>    return rows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fixed_rows = build_fixed_rows(BASE_UTC, fixed_cities)</a:t>
            </a:r>
          </a:p>
          <a:p xmlns:a="http://schemas.openxmlformats.org/drawingml/2006/main">
            <a:r>
              <a:t>for index, row in enumerate(fixed_rows, start=1):</a:t>
            </a:r>
          </a:p>
          <a:p xmlns:a="http://schemas.openxmlformats.org/drawingml/2006/main">
            <a:r>
              <a:t>    print(index, row)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row in fixed_rows:</a:t>
            </a:r>
          </a:p>
          <a:p xmlns:a="http://schemas.openxmlformats.org/drawingml/2006/main">
            <a:r>
              <a:t>    if row["城市"] == "日本":</a:t>
            </a:r>
          </a:p>
          <a:p xmlns:a="http://schemas.openxmlformats.org/drawingml/2006/main">
            <a:r>
              <a:t>        print("找到日本：", row["時間"])</a:t>
            </a:r>
          </a:p>
          <a:p xmlns:a="http://schemas.openxmlformats.org/drawingml/2006/main">
            <a:r>
              <a:t>        break</a:t>
            </a:r>
          </a:p>
          <a:p xmlns:a="http://schemas.openxmlformats.org/drawingml/2006/main">
            <a:r>
              <a:t>else:</a:t>
            </a:r>
          </a:p>
          <a:p xmlns:a="http://schemas.openxmlformats.org/drawingml/2006/main">
            <a:r>
              <a:t>    print("查無城市")</a:t>
            </a:r>
          </a:p>
          <a:p xmlns:a="http://schemas.openxmlformats.org/drawingml/2006/main">
            <a:r>
              <a:t>print("只顯示亞洲三座城市：")</a:t>
            </a:r>
          </a:p>
          <a:p xmlns:a="http://schemas.openxmlformats.org/drawingml/2006/main">
            <a:r>
              <a:t>for row in fixed_rows:</a:t>
            </a:r>
          </a:p>
          <a:p xmlns:a="http://schemas.openxmlformats.org/drawingml/2006/main">
            <a:r>
              <a:t>    if row["城市"] == "UTC示範站":</a:t>
            </a:r>
          </a:p>
          <a:p xmlns:a="http://schemas.openxmlformats.org/drawingml/2006/main">
            <a:r>
              <a:t>        continue</a:t>
            </a:r>
          </a:p>
          <a:p xmlns:a="http://schemas.openxmlformats.org/drawingml/2006/main">
            <a:r>
              <a:t>    print(row["城市"], row["時間"])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對應範例：Python_世界時鐘.ipynb T5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來源：Python_世界時鐘.ipynb，第14個儲存格。L行號相對於該儲存格，視覺折行不改變原碼。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build_fixed_rows(base_utc, cities):</a:t>
            </a:r>
          </a:p>
          <a:p xmlns:a="http://schemas.openxmlformats.org/drawingml/2006/main">
            <a:r>
              <a:t>    rows = []</a:t>
            </a:r>
          </a:p>
          <a:p xmlns:a="http://schemas.openxmlformats.org/drawingml/2006/main">
            <a:r>
              <a:t>    for item in cities:</a:t>
            </a:r>
          </a:p>
          <a:p xmlns:a="http://schemas.openxmlformats.org/drawingml/2006/main">
            <a:r>
              <a:t>        local = fixed_local(base_utc, item["offset_minutes"])</a:t>
            </a:r>
          </a:p>
          <a:p xmlns:a="http://schemas.openxmlformats.org/drawingml/2006/main">
            <a:r>
              <a:t>        clock_text = local.strftime("%H:%M:%S")</a:t>
            </a:r>
          </a:p>
          <a:p xmlns:a="http://schemas.openxmlformats.org/drawingml/2006/main">
            <a:r>
              <a:t>        rows.append({"城市": item["city"], "時區": format_offset(item["offset_minutes"]),</a:t>
            </a:r>
          </a:p>
          <a:p xmlns:a="http://schemas.openxmlformats.org/drawingml/2006/main">
            <a:r>
              <a:t>                     "日期": local.strftime("%Y-%m-%d"), "時間": clock_text,</a:t>
            </a:r>
          </a:p>
          <a:p xmlns:a="http://schemas.openxmlformats.org/drawingml/2006/main">
            <a:r>
              <a:t>                     "狀態": judge_day_night(clock_text)})</a:t>
            </a:r>
          </a:p>
          <a:p xmlns:a="http://schemas.openxmlformats.org/drawingml/2006/main">
            <a:r>
              <a:t>    return rows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fixed_rows = build_fixed_rows(BASE_UTC, fixed_cities)</a:t>
            </a:r>
          </a:p>
          <a:p xmlns:a="http://schemas.openxmlformats.org/drawingml/2006/main">
            <a:r>
              <a:t>for index, row in enumerate(fixed_rows, start=1):</a:t>
            </a:r>
          </a:p>
          <a:p xmlns:a="http://schemas.openxmlformats.org/drawingml/2006/main">
            <a:r>
              <a:t>    print(index, row)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row in fixed_rows:</a:t>
            </a:r>
          </a:p>
          <a:p xmlns:a="http://schemas.openxmlformats.org/drawingml/2006/main">
            <a:r>
              <a:t>    if row["城市"] == "日本":</a:t>
            </a:r>
          </a:p>
          <a:p xmlns:a="http://schemas.openxmlformats.org/drawingml/2006/main">
            <a:r>
              <a:t>        print("找到日本：", row["時間"])</a:t>
            </a:r>
          </a:p>
          <a:p xmlns:a="http://schemas.openxmlformats.org/drawingml/2006/main">
            <a:r>
              <a:t>        break</a:t>
            </a:r>
          </a:p>
          <a:p xmlns:a="http://schemas.openxmlformats.org/drawingml/2006/main">
            <a:r>
              <a:t>else:</a:t>
            </a:r>
          </a:p>
          <a:p xmlns:a="http://schemas.openxmlformats.org/drawingml/2006/main">
            <a:r>
              <a:t>    print("查無城市")</a:t>
            </a:r>
          </a:p>
          <a:p xmlns:a="http://schemas.openxmlformats.org/drawingml/2006/main">
            <a:r>
              <a:t>print("只顯示亞洲三座城市：")</a:t>
            </a:r>
          </a:p>
          <a:p xmlns:a="http://schemas.openxmlformats.org/drawingml/2006/main">
            <a:r>
              <a:t>for row in fixed_rows:</a:t>
            </a:r>
          </a:p>
          <a:p xmlns:a="http://schemas.openxmlformats.org/drawingml/2006/main">
            <a:r>
              <a:t>    if row["城市"] == "UTC示範站":</a:t>
            </a:r>
          </a:p>
          <a:p xmlns:a="http://schemas.openxmlformats.org/drawingml/2006/main">
            <a:r>
              <a:t>        continue</a:t>
            </a:r>
          </a:p>
          <a:p xmlns:a="http://schemas.openxmlformats.org/drawingml/2006/main">
            <a:r>
              <a:t>    print(row["城市"], row["時間"])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對應範例：Python_世界時鐘.ipynb T5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來源：Python_世界時鐘.ipynb，第14個儲存格。L行號相對於該儲存格，視覺折行不改變原碼。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build_fixed_rows(base_utc, cities):</a:t>
            </a:r>
          </a:p>
          <a:p xmlns:a="http://schemas.openxmlformats.org/drawingml/2006/main">
            <a:r>
              <a:t>    rows = []</a:t>
            </a:r>
          </a:p>
          <a:p xmlns:a="http://schemas.openxmlformats.org/drawingml/2006/main">
            <a:r>
              <a:t>    for item in cities:</a:t>
            </a:r>
          </a:p>
          <a:p xmlns:a="http://schemas.openxmlformats.org/drawingml/2006/main">
            <a:r>
              <a:t>        local = fixed_local(base_utc, item["offset_minutes"])</a:t>
            </a:r>
          </a:p>
          <a:p xmlns:a="http://schemas.openxmlformats.org/drawingml/2006/main">
            <a:r>
              <a:t>        clock_text = local.strftime("%H:%M:%S")</a:t>
            </a:r>
          </a:p>
          <a:p xmlns:a="http://schemas.openxmlformats.org/drawingml/2006/main">
            <a:r>
              <a:t>        rows.append({"城市": item["city"], "時區": format_offset(item["offset_minutes"]),</a:t>
            </a:r>
          </a:p>
          <a:p xmlns:a="http://schemas.openxmlformats.org/drawingml/2006/main">
            <a:r>
              <a:t>                     "日期": local.strftime("%Y-%m-%d"), "時間": clock_text,</a:t>
            </a:r>
          </a:p>
          <a:p xmlns:a="http://schemas.openxmlformats.org/drawingml/2006/main">
            <a:r>
              <a:t>                     "狀態": judge_day_night(clock_text)})</a:t>
            </a:r>
          </a:p>
          <a:p xmlns:a="http://schemas.openxmlformats.org/drawingml/2006/main">
            <a:r>
              <a:t>    return rows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fixed_rows = build_fixed_rows(BASE_UTC, fixed_cities)</a:t>
            </a:r>
          </a:p>
          <a:p xmlns:a="http://schemas.openxmlformats.org/drawingml/2006/main">
            <a:r>
              <a:t>for index, row in enumerate(fixed_rows, start=1):</a:t>
            </a:r>
          </a:p>
          <a:p xmlns:a="http://schemas.openxmlformats.org/drawingml/2006/main">
            <a:r>
              <a:t>    print(index, row)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row in fixed_rows:</a:t>
            </a:r>
          </a:p>
          <a:p xmlns:a="http://schemas.openxmlformats.org/drawingml/2006/main">
            <a:r>
              <a:t>    if row["城市"] == "日本":</a:t>
            </a:r>
          </a:p>
          <a:p xmlns:a="http://schemas.openxmlformats.org/drawingml/2006/main">
            <a:r>
              <a:t>        print("找到日本：", row["時間"])</a:t>
            </a:r>
          </a:p>
          <a:p xmlns:a="http://schemas.openxmlformats.org/drawingml/2006/main">
            <a:r>
              <a:t>        break</a:t>
            </a:r>
          </a:p>
          <a:p xmlns:a="http://schemas.openxmlformats.org/drawingml/2006/main">
            <a:r>
              <a:t>else:</a:t>
            </a:r>
          </a:p>
          <a:p xmlns:a="http://schemas.openxmlformats.org/drawingml/2006/main">
            <a:r>
              <a:t>    print("查無城市")</a:t>
            </a:r>
          </a:p>
          <a:p xmlns:a="http://schemas.openxmlformats.org/drawingml/2006/main">
            <a:r>
              <a:t>print("只顯示亞洲三座城市：")</a:t>
            </a:r>
          </a:p>
          <a:p xmlns:a="http://schemas.openxmlformats.org/drawingml/2006/main">
            <a:r>
              <a:t>for row in fixed_rows:</a:t>
            </a:r>
          </a:p>
          <a:p xmlns:a="http://schemas.openxmlformats.org/drawingml/2006/main">
            <a:r>
              <a:t>    if row["城市"] == "UTC示範站":</a:t>
            </a:r>
          </a:p>
          <a:p xmlns:a="http://schemas.openxmlformats.org/drawingml/2006/main">
            <a:r>
              <a:t>        continue</a:t>
            </a:r>
          </a:p>
          <a:p xmlns:a="http://schemas.openxmlformats.org/drawingml/2006/main">
            <a:r>
              <a:t>    print(row["城市"], row["時間"])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對應範例：Python_世界時鐘.ipynb T5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以下是對應Notebook已執行的實際輸出。</a:t>
            </a:r>
          </a:p>
          <a:p xmlns:a="http://schemas.openxmlformats.org/drawingml/2006/main">
            <a:r>
              <a:t>1 {'城市': '台灣', '時區': 'UTC+08:00', '日期': '2026-01-16', '時間': '04:30:00', '狀態': '晚上'}</a:t>
            </a:r>
          </a:p>
          <a:p xmlns:a="http://schemas.openxmlformats.org/drawingml/2006/main">
            <a:r>
              <a:t>2 {'城市': '日本', '時區': 'UTC+09:00', '日期': '2026-01-16', '時間': '05:30:00', '狀態': '晚上'}</a:t>
            </a:r>
          </a:p>
          <a:p xmlns:a="http://schemas.openxmlformats.org/drawingml/2006/main">
            <a:r>
              <a:t>3 {'城市': '印度', '時區': 'UTC+05:30', '日期': '2026-01-16', '時間': '02:00:00', '狀態': '晚上'}</a:t>
            </a:r>
          </a:p>
          <a:p xmlns:a="http://schemas.openxmlformats.org/drawingml/2006/main">
            <a:r>
              <a:t>4 {'城市': 'UTC示範站', '時區': 'UTC+00:00', '日期': '2026-01-15', '時間': '20:30:00', '狀態': '晚上'}</a:t>
            </a:r>
          </a:p>
          <a:p xmlns:a="http://schemas.openxmlformats.org/drawingml/2006/main">
            <a:r>
              <a:t>找到日本： 05:30:00</a:t>
            </a:r>
          </a:p>
          <a:p xmlns:a="http://schemas.openxmlformats.org/drawingml/2006/main">
            <a:r>
              <a:t>只顯示亞洲三座城市：</a:t>
            </a:r>
          </a:p>
          <a:p xmlns:a="http://schemas.openxmlformats.org/drawingml/2006/main">
            <a:r>
              <a:t>台灣 04:30:00</a:t>
            </a:r>
          </a:p>
          <a:p xmlns:a="http://schemas.openxmlformats.org/drawingml/2006/main">
            <a:r>
              <a:t>日本 05:30:00</a:t>
            </a:r>
          </a:p>
          <a:p xmlns:a="http://schemas.openxmlformats.org/drawingml/2006/main">
            <a:r>
              <a:t>印度 02:00:00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對應範例：Python_世界時鐘.ipynb T5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T6 while更新、計數與結束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**講授：** for回答「這一輪要處理哪些城市」，while回答「要不要再做下一輪」。巢狀後，每更新一次就逐一處理所有城市。原while True一直執行，後面的Notebook儲存格必須等中斷後才會開始。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教學時先用有限次更新：refresh_count從0開始，條件為小於max_refresh，每輪加1。示範把基準時刻每輪加1秒，結果可重現；這是模擬走時，不是作業系統的真實時鐘。實際版在T8每輪重新取UTC現在。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`time.sleep(1)`只暫停程式，不保證畫面精準每秒刷新，整輪還有計算及顯示耗時。Notebook互動介面中，長時間阻塞也會妨礙其他操作；本版預設只跑3次。若手動中斷則捕捉KeyboardInterrupt，保留已完成結果。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**檢核：** max_refresh=0應完全不更新；如果忘記refresh_count+=1會發生什麼？while條件一直為真，形成無窮迴圈。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對應範例：Python_世界時鐘.ipynb T6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Python教學影片PPT/Py02_選擇敘述與迴圈(2).pptx</a:t>
            </a:r>
          </a:p>
          <a:p xmlns:a="http://schemas.openxmlformats.org/drawingml/2006/main">
            <a:r>
              <a:t>投影片序號6，署名林英志。</a:t>
            </a:r>
          </a:p>
          <a:p xmlns:a="http://schemas.openxmlformats.org/drawingml/2006/main">
            <a:r>
              <a:t>while</a:t>
            </a:r>
          </a:p>
          <a:p xmlns:a="http://schemas.openxmlformats.org/drawingml/2006/main">
            <a:r>
              <a:t> 迴圈</a:t>
            </a:r>
          </a:p>
          <a:p xmlns:a="http://schemas.openxmlformats.org/drawingml/2006/main">
            <a:r>
              <a:t>這個敘述用來表達「若某條件成立，則一直重複執行既定動作，直到該條件不再成立為止」的語意</a:t>
            </a:r>
          </a:p>
          <a:p xmlns:a="http://schemas.openxmlformats.org/drawingml/2006/main">
            <a:r>
              <a:t>，運作流程如下：</a:t>
            </a:r>
          </a:p>
          <a:p xmlns:a="http://schemas.openxmlformats.org/drawingml/2006/main">
            <a:r>
              <a:t>語法為</a:t>
            </a:r>
          </a:p>
          <a:p xmlns:a="http://schemas.openxmlformats.org/drawingml/2006/main">
            <a:r>
              <a:t>while </a:t>
            </a:r>
          </a:p>
          <a:p xmlns:a="http://schemas.openxmlformats.org/drawingml/2006/main">
            <a:r>
              <a:t>條件式</a:t>
            </a:r>
          </a:p>
          <a:p xmlns:a="http://schemas.openxmlformats.org/drawingml/2006/main">
            <a:r>
              <a:t>:</a:t>
            </a:r>
          </a:p>
          <a:p xmlns:a="http://schemas.openxmlformats.org/drawingml/2006/main">
            <a:r>
              <a:t>    程式區塊</a:t>
            </a:r>
          </a:p>
          <a:p xmlns:a="http://schemas.openxmlformats.org/drawingml/2006/main">
            <a:r>
              <a:t>6</a:t>
            </a:r>
          </a:p>
          <a:p xmlns:a="http://schemas.openxmlformats.org/drawingml/2006/main">
            <a:r>
              <a:t>是否與 </a:t>
            </a:r>
          </a:p>
          <a:p xmlns:a="http://schemas.openxmlformats.org/drawingml/2006/main">
            <a:r>
              <a:t>if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的運作流程很像？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對應範例：Python_世界時鐘.ipynb T6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Python教學影片PPT/Py02_選擇敘述與迴圈(2).pptx</a:t>
            </a:r>
          </a:p>
          <a:p xmlns:a="http://schemas.openxmlformats.org/drawingml/2006/main">
            <a:r>
              <a:t>投影片序號7，署名林英志。</a:t>
            </a:r>
          </a:p>
          <a:p xmlns:a="http://schemas.openxmlformats.org/drawingml/2006/main">
            <a:r>
              <a:t>無窮迴圈</a:t>
            </a:r>
          </a:p>
          <a:p xmlns:a="http://schemas.openxmlformats.org/drawingml/2006/main">
            <a:r>
              <a:t>(infinite loop)</a:t>
            </a:r>
          </a:p>
          <a:p xmlns:a="http://schemas.openxmlformats.org/drawingml/2006/main">
            <a:r>
              <a:t>while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迴圈的運作流程有時候對初學者來說是個頗大的雷區，只要一不小心沒把</a:t>
            </a:r>
          </a:p>
          <a:p xmlns:a="http://schemas.openxmlformats.org/drawingml/2006/main">
            <a:r>
              <a:t>條件式</a:t>
            </a:r>
          </a:p>
          <a:p xmlns:a="http://schemas.openxmlformats.org/drawingml/2006/main">
            <a:r>
              <a:t>或</a:t>
            </a:r>
          </a:p>
          <a:p xmlns:a="http://schemas.openxmlformats.org/drawingml/2006/main">
            <a:r>
              <a:t>程式區塊</a:t>
            </a:r>
          </a:p>
          <a:p xmlns:a="http://schemas.openxmlformats.org/drawingml/2006/main">
            <a:r>
              <a:t>寫好就可能踩雷。</a:t>
            </a:r>
          </a:p>
          <a:p xmlns:a="http://schemas.openxmlformats.org/drawingml/2006/main">
            <a:r>
              <a:t>可能是沒有設定迴圈的</a:t>
            </a:r>
          </a:p>
          <a:p xmlns:a="http://schemas.openxmlformats.org/drawingml/2006/main">
            <a:r>
              <a:t>終止條件</a:t>
            </a:r>
          </a:p>
          <a:p xmlns:a="http://schemas.openxmlformats.org/drawingml/2006/main">
            <a:r>
              <a:t>可能是結束迴圈的</a:t>
            </a:r>
          </a:p>
          <a:p xmlns:a="http://schemas.openxmlformats.org/drawingml/2006/main">
            <a:r>
              <a:t>條件不可能成立</a:t>
            </a:r>
          </a:p>
          <a:p xmlns:a="http://schemas.openxmlformats.org/drawingml/2006/main">
            <a:r>
              <a:t>這些都會導致迴圈永無止盡地重複執行，即所謂</a:t>
            </a:r>
          </a:p>
          <a:p xmlns:a="http://schemas.openxmlformats.org/drawingml/2006/main">
            <a:r>
              <a:t>無窮迴圈</a:t>
            </a:r>
          </a:p>
          <a:p xmlns:a="http://schemas.openxmlformats.org/drawingml/2006/main">
            <a:r>
              <a:t>。</a:t>
            </a:r>
          </a:p>
          <a:p xmlns:a="http://schemas.openxmlformats.org/drawingml/2006/main">
            <a:r>
              <a:t>7</a:t>
            </a:r>
          </a:p>
          <a:p xmlns:a="http://schemas.openxmlformats.org/drawingml/2006/main">
            <a:r>
              <a:t>無窮迴圈會用掉所有可用的處理器時間，是造成系統「</a:t>
            </a:r>
          </a:p>
          <a:p xmlns:a="http://schemas.openxmlformats.org/drawingml/2006/main">
            <a:r>
              <a:t>假死機</a:t>
            </a:r>
          </a:p>
          <a:p xmlns:a="http://schemas.openxmlformats.org/drawingml/2006/main">
            <a:r>
              <a:t>」（指應用程式沒有回應，一種與當機類似的現象）的原因之一，不可謂不慎。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對應範例：Python_世界時鐘.ipynb T6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Python教學影片PPT/Py02_選擇敘述與迴圈(2).pptx</a:t>
            </a:r>
          </a:p>
          <a:p xmlns:a="http://schemas.openxmlformats.org/drawingml/2006/main">
            <a:r>
              <a:t>投影片序號27，署名林英志。</a:t>
            </a:r>
          </a:p>
          <a:p xmlns:a="http://schemas.openxmlformats.org/drawingml/2006/main">
            <a:r>
              <a:t>break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敘述</a:t>
            </a:r>
          </a:p>
          <a:p xmlns:a="http://schemas.openxmlformats.org/drawingml/2006/main">
            <a:r>
              <a:t>當我們希望迴圈在執行程式區塊的過程中，直接</a:t>
            </a:r>
          </a:p>
          <a:p xmlns:a="http://schemas.openxmlformats.org/drawingml/2006/main">
            <a:r>
              <a:t>中斷離開這個迴圈</a:t>
            </a:r>
          </a:p>
          <a:p xmlns:a="http://schemas.openxmlformats.org/drawingml/2006/main">
            <a:r>
              <a:t>，並繼續執行迴圈後的下一段程式，就能使用 </a:t>
            </a:r>
          </a:p>
          <a:p xmlns:a="http://schemas.openxmlformats.org/drawingml/2006/main">
            <a:r>
              <a:t>break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敘述。</a:t>
            </a:r>
          </a:p>
          <a:p xmlns:a="http://schemas.openxmlformats.org/drawingml/2006/main">
            <a:r>
              <a:t>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對應範例：Python_世界時鐘.ipynb T6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來源：H:\TTU_DI\一一五(上)\AI新秀-PYTHON課程/TQC+ 程式語言第2版入門特訓教材 Python教學影片PPT/Py02_選擇敘述與迴圈(2).pptx</a:t>
            </a:r>
          </a:p>
          <a:p xmlns:a="http://schemas.openxmlformats.org/drawingml/2006/main">
            <a:r>
              <a:t>投影片序號30，署名林英志。</a:t>
            </a:r>
          </a:p>
          <a:p xmlns:a="http://schemas.openxmlformats.org/drawingml/2006/main">
            <a:r>
              <a:t>continue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敘述</a:t>
            </a:r>
          </a:p>
          <a:p xmlns:a="http://schemas.openxmlformats.org/drawingml/2006/main">
            <a:r>
              <a:t>當我們想要迴圈執行完部分程式區塊後，即</a:t>
            </a:r>
          </a:p>
          <a:p xmlns:a="http://schemas.openxmlformats.org/drawingml/2006/main">
            <a:r>
              <a:t>略過剩餘部分直接跳到下一個元素</a:t>
            </a:r>
          </a:p>
          <a:p xmlns:a="http://schemas.openxmlformats.org/drawingml/2006/main">
            <a:r>
              <a:t>時，就可使用 </a:t>
            </a:r>
          </a:p>
          <a:p xmlns:a="http://schemas.openxmlformats.org/drawingml/2006/main">
            <a:r>
              <a:t>continue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敘述。</a:t>
            </a:r>
          </a:p>
          <a:p xmlns:a="http://schemas.openxmlformats.org/drawingml/2006/main">
            <a:r>
              <a:t>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對應範例：Python_世界時鐘.ipynb T6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來源：Python_世界時鐘.ipynb，第16個儲存格。L行號相對於該儲存格，視覺折行不改變原碼。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refresh_count = 0</a:t>
            </a:r>
          </a:p>
          <a:p xmlns:a="http://schemas.openxmlformats.org/drawingml/2006/main">
            <a:r>
              <a:t>max_refresh = 3</a:t>
            </a:r>
          </a:p>
          <a:p xmlns:a="http://schemas.openxmlformats.org/drawingml/2006/main">
            <a:r>
              <a:t>while refresh_count &lt; max_refresh:</a:t>
            </a:r>
          </a:p>
          <a:p xmlns:a="http://schemas.openxmlformats.org/drawingml/2006/main">
            <a:r>
              <a:t>    simulated_utc = BASE_UTC + timedelta(seconds=refresh_count)</a:t>
            </a:r>
          </a:p>
          <a:p xmlns:a="http://schemas.openxmlformats.org/drawingml/2006/main">
            <a:r>
              <a:t>    rows = build_fixed_rows(simulated_utc, fixed_cities)</a:t>
            </a:r>
          </a:p>
          <a:p xmlns:a="http://schemas.openxmlformats.org/drawingml/2006/main">
            <a:r>
              <a:t>    print(f"第{refresh_count + 1}輪", [(r["城市"], r["時間"]) for r in rows])</a:t>
            </a:r>
          </a:p>
          <a:p xmlns:a="http://schemas.openxmlformats.org/drawingml/2006/main">
            <a:r>
              <a:t>    refresh_count += 1</a:t>
            </a:r>
          </a:p>
          <a:p xmlns:a="http://schemas.openxmlformats.org/drawingml/2006/main">
            <a:r>
              <a:t>print("模擬更新完成，共", refresh_count, "輪")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對應範例：Python_世界時鐘.ipynb T6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以下是對應Notebook已執行的實際輸出。</a:t>
            </a:r>
          </a:p>
          <a:p xmlns:a="http://schemas.openxmlformats.org/drawingml/2006/main">
            <a:r>
              <a:t>第1輪 [('台灣', '04:30:00'), ('日本', '05:30:00'), ('印度', '02:00:00'), ('UTC示範站', '20:30:00')]</a:t>
            </a:r>
          </a:p>
          <a:p xmlns:a="http://schemas.openxmlformats.org/drawingml/2006/main">
            <a:r>
              <a:t>第2輪 [('台灣', '04:30:01'), ('日本', '05:30:01'), ('印度', '02:00:01'), ('UTC示範站', '20:30:01')]</a:t>
            </a:r>
          </a:p>
          <a:p xmlns:a="http://schemas.openxmlformats.org/drawingml/2006/main">
            <a:r>
              <a:t>第3輪 [('台灣', '04:30:02'), ('日本', '05:30:02'), ('印度', '02:00:02'), ('UTC示範站', '20:30:02')]</a:t>
            </a:r>
          </a:p>
          <a:p xmlns:a="http://schemas.openxmlformats.org/drawingml/2006/main">
            <a:r>
              <a:t>模擬更新完成，共 3 輪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對應教材：第5章 重複執行程式碼</a:t>
            </a:r>
          </a:p>
          <a:p xmlns:a="http://schemas.openxmlformats.org/drawingml/2006/main">
            <a:r>
              <a:t>對應範例：Python_世界時鐘.ipynb T6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T7 城市時區與夏令時間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**講授：** 真正的世界時鐘應保存`Europe/London`、`America/New_York`等城市時區名稱，而非全年固定的+1或-4。Python的zoneinfo依時區資料庫及指定日期決定偏移。對同一UTC時刻執行astimezone即可取得對應城市的日期時間。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原範例的name與loc_time改為cities中的city與zone。仍然使用list、for、函式及if，新增工具只是取代「固定偏移」這一部分。冬夏比較使用2026年1月15日及7月15日的固定UTC時刻；這些日期是測試資料，不是現在時間。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若Windows缺少時區資料，安裝`%pip install tzdata`再重跑。套件資料可能隨各地規則更新，因此本節由本機時區資料庫實際換算，不自行推測某城市當下的偏移。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對應教材：第9章 模組與套件／應用延伸</a:t>
            </a:r>
          </a:p>
          <a:p xmlns:a="http://schemas.openxmlformats.org/drawingml/2006/main">
            <a:r>
              <a:t>對應範例：Python_世界時鐘.ipynb T7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來源：Python_世界時鐘.ipynb，第18個儲存格。L行號相對於該儲存格，視覺折行不改變原碼。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from zoneinfo import ZoneInfo, ZoneInfoNotFoundError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cities = [</a:t>
            </a:r>
          </a:p>
          <a:p xmlns:a="http://schemas.openxmlformats.org/drawingml/2006/main">
            <a:r>
              <a:t>    {"city": "倫敦", "zone": "Europe/London"},</a:t>
            </a:r>
          </a:p>
          <a:p xmlns:a="http://schemas.openxmlformats.org/drawingml/2006/main">
            <a:r>
              <a:t>    {"city": "台灣", "zone": "Asia/Taipei"},</a:t>
            </a:r>
          </a:p>
          <a:p xmlns:a="http://schemas.openxmlformats.org/drawingml/2006/main">
            <a:r>
              <a:t>    {"city": "日本", "zone": "Asia/Tokyo"},</a:t>
            </a:r>
          </a:p>
          <a:p xmlns:a="http://schemas.openxmlformats.org/drawingml/2006/main">
            <a:r>
              <a:t>    {"city": "紐約", "zone": "America/New_York"},</a:t>
            </a:r>
          </a:p>
          <a:p xmlns:a="http://schemas.openxmlformats.org/drawingml/2006/main">
            <a:r>
              <a:t>    {"city": "雪梨", "zone": "Australia/Sydney"},</a:t>
            </a:r>
          </a:p>
          <a:p xmlns:a="http://schemas.openxmlformats.org/drawingml/2006/main">
            <a:r>
              <a:t>    {"city": "巴黎", "zone": "Europe/Paris"},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build_city_rows(base_utc, city_records):</a:t>
            </a:r>
          </a:p>
          <a:p xmlns:a="http://schemas.openxmlformats.org/drawingml/2006/main">
            <a:r>
              <a:t>    if base_utc.tzinfo is None or base_utc.utcoffset() is None:</a:t>
            </a:r>
          </a:p>
          <a:p xmlns:a="http://schemas.openxmlformats.org/drawingml/2006/main">
            <a:r>
              <a:t>        raise ValueError("基準時間必須含時區資訊")</a:t>
            </a:r>
          </a:p>
          <a:p xmlns:a="http://schemas.openxmlformats.org/drawingml/2006/main">
            <a:r>
              <a:t>    rows = []</a:t>
            </a:r>
          </a:p>
          <a:p xmlns:a="http://schemas.openxmlformats.org/drawingml/2006/main">
            <a:r>
              <a:t>    for item in city_records:</a:t>
            </a:r>
          </a:p>
          <a:p xmlns:a="http://schemas.openxmlformats.org/drawingml/2006/main">
            <a:r>
              <a:t>        local = base_utc.astimezone(ZoneInfo(item["zone"]))</a:t>
            </a:r>
          </a:p>
          <a:p xmlns:a="http://schemas.openxmlformats.org/drawingml/2006/main">
            <a:r>
              <a:t>        offset = int(local.utcoffset().total_seconds() // 60)</a:t>
            </a:r>
          </a:p>
          <a:p xmlns:a="http://schemas.openxmlformats.org/drawingml/2006/main">
            <a:r>
              <a:t>        clock_text = local.strftime("%H:%M:%S")</a:t>
            </a:r>
          </a:p>
          <a:p xmlns:a="http://schemas.openxmlformats.org/drawingml/2006/main">
            <a:r>
              <a:t>        rows.append({"城市": item["city"], "時區": item["zone"],</a:t>
            </a:r>
          </a:p>
          <a:p xmlns:a="http://schemas.openxmlformats.org/drawingml/2006/main">
            <a:r>
              <a:t>                     "UTC偏移": format_offset(offset), "日期": local.strftime("%Y-%m-%d"),</a:t>
            </a:r>
          </a:p>
          <a:p xmlns:a="http://schemas.openxmlformats.org/drawingml/2006/main">
            <a:r>
              <a:t>                     "時間": clock_text, "狀態": judge_day_night(clock_text)})</a:t>
            </a:r>
          </a:p>
          <a:p xmlns:a="http://schemas.openxmlformats.org/drawingml/2006/main">
            <a:r>
              <a:t>    return rows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ZONE_DATA_READY = True</a:t>
            </a:r>
          </a:p>
          <a:p xmlns:a="http://schemas.openxmlformats.org/drawingml/2006/main">
            <a:r>
              <a:t>try:</a:t>
            </a:r>
          </a:p>
          <a:p xmlns:a="http://schemas.openxmlformats.org/drawingml/2006/main">
            <a:r>
              <a:t>    for item in cities:</a:t>
            </a:r>
          </a:p>
          <a:p xmlns:a="http://schemas.openxmlformats.org/drawingml/2006/main">
            <a:r>
              <a:t>        ZoneInfo(item["zone"])</a:t>
            </a:r>
          </a:p>
          <a:p xmlns:a="http://schemas.openxmlformats.org/drawingml/2006/main">
            <a:r>
              <a:t>except ZoneInfoNotFoundError:</a:t>
            </a:r>
          </a:p>
          <a:p xmlns:a="http://schemas.openxmlformats.org/drawingml/2006/main">
            <a:r>
              <a:t>    ZONE_DATA_READY = False</a:t>
            </a:r>
          </a:p>
          <a:p xmlns:a="http://schemas.openxmlformats.org/drawingml/2006/main">
            <a:r>
              <a:t>    print("請安裝時區資料後重跑：%pip install tzdata")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ZONE_DATA_READY:</a:t>
            </a:r>
          </a:p>
          <a:p xmlns:a="http://schemas.openxmlformats.org/drawingml/2006/main">
            <a:r>
              <a:t>    for month in [1, 7]:</a:t>
            </a:r>
          </a:p>
          <a:p xmlns:a="http://schemas.openxmlformats.org/drawingml/2006/main">
            <a:r>
              <a:t>        sample = datetime(2026, month, 15, 12, tzinfo=timezone.utc)</a:t>
            </a:r>
          </a:p>
          <a:p xmlns:a="http://schemas.openxmlformats.org/drawingml/2006/main">
            <a:r>
              <a:t>        print(sample.date(), [(r["城市"], r["UTC偏移"]) for r in build_city_rows(sample, cities)])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對應教材：第9章 模組與套件／應用延伸</a:t>
            </a:r>
          </a:p>
          <a:p xmlns:a="http://schemas.openxmlformats.org/drawingml/2006/main">
            <a:r>
              <a:t>對應範例：Python_世界時鐘.ipynb T7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來源：Python_世界時鐘.ipynb，第18個儲存格。L行號相對於該儲存格，視覺折行不改變原碼。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from zoneinfo import ZoneInfo, ZoneInfoNotFoundError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cities = [</a:t>
            </a:r>
          </a:p>
          <a:p xmlns:a="http://schemas.openxmlformats.org/drawingml/2006/main">
            <a:r>
              <a:t>    {"city": "倫敦", "zone": "Europe/London"},</a:t>
            </a:r>
          </a:p>
          <a:p xmlns:a="http://schemas.openxmlformats.org/drawingml/2006/main">
            <a:r>
              <a:t>    {"city": "台灣", "zone": "Asia/Taipei"},</a:t>
            </a:r>
          </a:p>
          <a:p xmlns:a="http://schemas.openxmlformats.org/drawingml/2006/main">
            <a:r>
              <a:t>    {"city": "日本", "zone": "Asia/Tokyo"},</a:t>
            </a:r>
          </a:p>
          <a:p xmlns:a="http://schemas.openxmlformats.org/drawingml/2006/main">
            <a:r>
              <a:t>    {"city": "紐約", "zone": "America/New_York"},</a:t>
            </a:r>
          </a:p>
          <a:p xmlns:a="http://schemas.openxmlformats.org/drawingml/2006/main">
            <a:r>
              <a:t>    {"city": "雪梨", "zone": "Australia/Sydney"},</a:t>
            </a:r>
          </a:p>
          <a:p xmlns:a="http://schemas.openxmlformats.org/drawingml/2006/main">
            <a:r>
              <a:t>    {"city": "巴黎", "zone": "Europe/Paris"},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build_city_rows(base_utc, city_records):</a:t>
            </a:r>
          </a:p>
          <a:p xmlns:a="http://schemas.openxmlformats.org/drawingml/2006/main">
            <a:r>
              <a:t>    if base_utc.tzinfo is None or base_utc.utcoffset() is None:</a:t>
            </a:r>
          </a:p>
          <a:p xmlns:a="http://schemas.openxmlformats.org/drawingml/2006/main">
            <a:r>
              <a:t>        raise ValueError("基準時間必須含時區資訊")</a:t>
            </a:r>
          </a:p>
          <a:p xmlns:a="http://schemas.openxmlformats.org/drawingml/2006/main">
            <a:r>
              <a:t>    rows = []</a:t>
            </a:r>
          </a:p>
          <a:p xmlns:a="http://schemas.openxmlformats.org/drawingml/2006/main">
            <a:r>
              <a:t>    for item in city_records:</a:t>
            </a:r>
          </a:p>
          <a:p xmlns:a="http://schemas.openxmlformats.org/drawingml/2006/main">
            <a:r>
              <a:t>        local = base_utc.astimezone(ZoneInfo(item["zone"]))</a:t>
            </a:r>
          </a:p>
          <a:p xmlns:a="http://schemas.openxmlformats.org/drawingml/2006/main">
            <a:r>
              <a:t>        offset = int(local.utcoffset().total_seconds() // 60)</a:t>
            </a:r>
          </a:p>
          <a:p xmlns:a="http://schemas.openxmlformats.org/drawingml/2006/main">
            <a:r>
              <a:t>        clock_text = local.strftime("%H:%M:%S")</a:t>
            </a:r>
          </a:p>
          <a:p xmlns:a="http://schemas.openxmlformats.org/drawingml/2006/main">
            <a:r>
              <a:t>        rows.append({"城市": item["city"], "時區": item["zone"],</a:t>
            </a:r>
          </a:p>
          <a:p xmlns:a="http://schemas.openxmlformats.org/drawingml/2006/main">
            <a:r>
              <a:t>                     "UTC偏移": format_offset(offset), "日期": local.strftime("%Y-%m-%d"),</a:t>
            </a:r>
          </a:p>
          <a:p xmlns:a="http://schemas.openxmlformats.org/drawingml/2006/main">
            <a:r>
              <a:t>                     "時間": clock_text, "狀態": judge_day_night(clock_text)})</a:t>
            </a:r>
          </a:p>
          <a:p xmlns:a="http://schemas.openxmlformats.org/drawingml/2006/main">
            <a:r>
              <a:t>    return rows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ZONE_DATA_READY = True</a:t>
            </a:r>
          </a:p>
          <a:p xmlns:a="http://schemas.openxmlformats.org/drawingml/2006/main">
            <a:r>
              <a:t>try:</a:t>
            </a:r>
          </a:p>
          <a:p xmlns:a="http://schemas.openxmlformats.org/drawingml/2006/main">
            <a:r>
              <a:t>    for item in cities:</a:t>
            </a:r>
          </a:p>
          <a:p xmlns:a="http://schemas.openxmlformats.org/drawingml/2006/main">
            <a:r>
              <a:t>        ZoneInfo(item["zone"])</a:t>
            </a:r>
          </a:p>
          <a:p xmlns:a="http://schemas.openxmlformats.org/drawingml/2006/main">
            <a:r>
              <a:t>except ZoneInfoNotFoundError:</a:t>
            </a:r>
          </a:p>
          <a:p xmlns:a="http://schemas.openxmlformats.org/drawingml/2006/main">
            <a:r>
              <a:t>    ZONE_DATA_READY = False</a:t>
            </a:r>
          </a:p>
          <a:p xmlns:a="http://schemas.openxmlformats.org/drawingml/2006/main">
            <a:r>
              <a:t>    print("請安裝時區資料後重跑：%pip install tzdata")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ZONE_DATA_READY:</a:t>
            </a:r>
          </a:p>
          <a:p xmlns:a="http://schemas.openxmlformats.org/drawingml/2006/main">
            <a:r>
              <a:t>    for month in [1, 7]:</a:t>
            </a:r>
          </a:p>
          <a:p xmlns:a="http://schemas.openxmlformats.org/drawingml/2006/main">
            <a:r>
              <a:t>        sample = datetime(2026, month, 15, 12, tzinfo=timezone.utc)</a:t>
            </a:r>
          </a:p>
          <a:p xmlns:a="http://schemas.openxmlformats.org/drawingml/2006/main">
            <a:r>
              <a:t>        print(sample.date(), [(r["城市"], r["UTC偏移"]) for r in build_city_rows(sample, cities)])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對應教材：第9章 模組與套件／應用延伸</a:t>
            </a:r>
          </a:p>
          <a:p xmlns:a="http://schemas.openxmlformats.org/drawingml/2006/main">
            <a:r>
              <a:t>對應範例：Python_世界時鐘.ipynb T7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來源：Python_世界時鐘.ipynb，第18個儲存格。L行號相對於該儲存格，視覺折行不改變原碼。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from zoneinfo import ZoneInfo, ZoneInfoNotFoundError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cities = [</a:t>
            </a:r>
          </a:p>
          <a:p xmlns:a="http://schemas.openxmlformats.org/drawingml/2006/main">
            <a:r>
              <a:t>    {"city": "倫敦", "zone": "Europe/London"},</a:t>
            </a:r>
          </a:p>
          <a:p xmlns:a="http://schemas.openxmlformats.org/drawingml/2006/main">
            <a:r>
              <a:t>    {"city": "台灣", "zone": "Asia/Taipei"},</a:t>
            </a:r>
          </a:p>
          <a:p xmlns:a="http://schemas.openxmlformats.org/drawingml/2006/main">
            <a:r>
              <a:t>    {"city": "日本", "zone": "Asia/Tokyo"},</a:t>
            </a:r>
          </a:p>
          <a:p xmlns:a="http://schemas.openxmlformats.org/drawingml/2006/main">
            <a:r>
              <a:t>    {"city": "紐約", "zone": "America/New_York"},</a:t>
            </a:r>
          </a:p>
          <a:p xmlns:a="http://schemas.openxmlformats.org/drawingml/2006/main">
            <a:r>
              <a:t>    {"city": "雪梨", "zone": "Australia/Sydney"},</a:t>
            </a:r>
          </a:p>
          <a:p xmlns:a="http://schemas.openxmlformats.org/drawingml/2006/main">
            <a:r>
              <a:t>    {"city": "巴黎", "zone": "Europe/Paris"},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build_city_rows(base_utc, city_records):</a:t>
            </a:r>
          </a:p>
          <a:p xmlns:a="http://schemas.openxmlformats.org/drawingml/2006/main">
            <a:r>
              <a:t>    if base_utc.tzinfo is None or base_utc.utcoffset() is None:</a:t>
            </a:r>
          </a:p>
          <a:p xmlns:a="http://schemas.openxmlformats.org/drawingml/2006/main">
            <a:r>
              <a:t>        raise ValueError("基準時間必須含時區資訊")</a:t>
            </a:r>
          </a:p>
          <a:p xmlns:a="http://schemas.openxmlformats.org/drawingml/2006/main">
            <a:r>
              <a:t>    rows = []</a:t>
            </a:r>
          </a:p>
          <a:p xmlns:a="http://schemas.openxmlformats.org/drawingml/2006/main">
            <a:r>
              <a:t>    for item in city_records:</a:t>
            </a:r>
          </a:p>
          <a:p xmlns:a="http://schemas.openxmlformats.org/drawingml/2006/main">
            <a:r>
              <a:t>        local = base_utc.astimezone(ZoneInfo(item["zone"]))</a:t>
            </a:r>
          </a:p>
          <a:p xmlns:a="http://schemas.openxmlformats.org/drawingml/2006/main">
            <a:r>
              <a:t>        offset = int(local.utcoffset().total_seconds() // 60)</a:t>
            </a:r>
          </a:p>
          <a:p xmlns:a="http://schemas.openxmlformats.org/drawingml/2006/main">
            <a:r>
              <a:t>        clock_text = local.strftime("%H:%M:%S")</a:t>
            </a:r>
          </a:p>
          <a:p xmlns:a="http://schemas.openxmlformats.org/drawingml/2006/main">
            <a:r>
              <a:t>        rows.append({"城市": item["city"], "時區": item["zone"],</a:t>
            </a:r>
          </a:p>
          <a:p xmlns:a="http://schemas.openxmlformats.org/drawingml/2006/main">
            <a:r>
              <a:t>                     "UTC偏移": format_offset(offset), "日期": local.strftime("%Y-%m-%d"),</a:t>
            </a:r>
          </a:p>
          <a:p xmlns:a="http://schemas.openxmlformats.org/drawingml/2006/main">
            <a:r>
              <a:t>                     "時間": clock_text, "狀態": judge_day_night(clock_text)})</a:t>
            </a:r>
          </a:p>
          <a:p xmlns:a="http://schemas.openxmlformats.org/drawingml/2006/main">
            <a:r>
              <a:t>    return rows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ZONE_DATA_READY = True</a:t>
            </a:r>
          </a:p>
          <a:p xmlns:a="http://schemas.openxmlformats.org/drawingml/2006/main">
            <a:r>
              <a:t>try:</a:t>
            </a:r>
          </a:p>
          <a:p xmlns:a="http://schemas.openxmlformats.org/drawingml/2006/main">
            <a:r>
              <a:t>    for item in cities:</a:t>
            </a:r>
          </a:p>
          <a:p xmlns:a="http://schemas.openxmlformats.org/drawingml/2006/main">
            <a:r>
              <a:t>        ZoneInfo(item["zone"])</a:t>
            </a:r>
          </a:p>
          <a:p xmlns:a="http://schemas.openxmlformats.org/drawingml/2006/main">
            <a:r>
              <a:t>except ZoneInfoNotFoundError:</a:t>
            </a:r>
          </a:p>
          <a:p xmlns:a="http://schemas.openxmlformats.org/drawingml/2006/main">
            <a:r>
              <a:t>    ZONE_DATA_READY = False</a:t>
            </a:r>
          </a:p>
          <a:p xmlns:a="http://schemas.openxmlformats.org/drawingml/2006/main">
            <a:r>
              <a:t>    print("請安裝時區資料後重跑：%pip install tzdata")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ZONE_DATA_READY:</a:t>
            </a:r>
          </a:p>
          <a:p xmlns:a="http://schemas.openxmlformats.org/drawingml/2006/main">
            <a:r>
              <a:t>    for month in [1, 7]:</a:t>
            </a:r>
          </a:p>
          <a:p xmlns:a="http://schemas.openxmlformats.org/drawingml/2006/main">
            <a:r>
              <a:t>        sample = datetime(2026, month, 15, 12, tzinfo=timezone.utc)</a:t>
            </a:r>
          </a:p>
          <a:p xmlns:a="http://schemas.openxmlformats.org/drawingml/2006/main">
            <a:r>
              <a:t>        print(sample.date(), [(r["城市"], r["UTC偏移"]) for r in build_city_rows(sample, cities)])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對應教材：第9章 模組與套件／應用延伸</a:t>
            </a:r>
          </a:p>
          <a:p xmlns:a="http://schemas.openxmlformats.org/drawingml/2006/main">
            <a:r>
              <a:t>對應範例：Python_世界時鐘.ipynb T7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來源：Python_世界時鐘.ipynb，第18個儲存格。L行號相對於該儲存格，視覺折行不改變原碼。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from zoneinfo import ZoneInfo, ZoneInfoNotFoundError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cities = [</a:t>
            </a:r>
          </a:p>
          <a:p xmlns:a="http://schemas.openxmlformats.org/drawingml/2006/main">
            <a:r>
              <a:t>    {"city": "倫敦", "zone": "Europe/London"},</a:t>
            </a:r>
          </a:p>
          <a:p xmlns:a="http://schemas.openxmlformats.org/drawingml/2006/main">
            <a:r>
              <a:t>    {"city": "台灣", "zone": "Asia/Taipei"},</a:t>
            </a:r>
          </a:p>
          <a:p xmlns:a="http://schemas.openxmlformats.org/drawingml/2006/main">
            <a:r>
              <a:t>    {"city": "日本", "zone": "Asia/Tokyo"},</a:t>
            </a:r>
          </a:p>
          <a:p xmlns:a="http://schemas.openxmlformats.org/drawingml/2006/main">
            <a:r>
              <a:t>    {"city": "紐約", "zone": "America/New_York"},</a:t>
            </a:r>
          </a:p>
          <a:p xmlns:a="http://schemas.openxmlformats.org/drawingml/2006/main">
            <a:r>
              <a:t>    {"city": "雪梨", "zone": "Australia/Sydney"},</a:t>
            </a:r>
          </a:p>
          <a:p xmlns:a="http://schemas.openxmlformats.org/drawingml/2006/main">
            <a:r>
              <a:t>    {"city": "巴黎", "zone": "Europe/Paris"},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build_city_rows(base_utc, city_records):</a:t>
            </a:r>
          </a:p>
          <a:p xmlns:a="http://schemas.openxmlformats.org/drawingml/2006/main">
            <a:r>
              <a:t>    if base_utc.tzinfo is None or base_utc.utcoffset() is None:</a:t>
            </a:r>
          </a:p>
          <a:p xmlns:a="http://schemas.openxmlformats.org/drawingml/2006/main">
            <a:r>
              <a:t>        raise ValueError("基準時間必須含時區資訊")</a:t>
            </a:r>
          </a:p>
          <a:p xmlns:a="http://schemas.openxmlformats.org/drawingml/2006/main">
            <a:r>
              <a:t>    rows = []</a:t>
            </a:r>
          </a:p>
          <a:p xmlns:a="http://schemas.openxmlformats.org/drawingml/2006/main">
            <a:r>
              <a:t>    for item in city_records:</a:t>
            </a:r>
          </a:p>
          <a:p xmlns:a="http://schemas.openxmlformats.org/drawingml/2006/main">
            <a:r>
              <a:t>        local = base_utc.astimezone(ZoneInfo(item["zone"]))</a:t>
            </a:r>
          </a:p>
          <a:p xmlns:a="http://schemas.openxmlformats.org/drawingml/2006/main">
            <a:r>
              <a:t>        offset = int(local.utcoffset().total_seconds() // 60)</a:t>
            </a:r>
          </a:p>
          <a:p xmlns:a="http://schemas.openxmlformats.org/drawingml/2006/main">
            <a:r>
              <a:t>        clock_text = local.strftime("%H:%M:%S")</a:t>
            </a:r>
          </a:p>
          <a:p xmlns:a="http://schemas.openxmlformats.org/drawingml/2006/main">
            <a:r>
              <a:t>        rows.append({"城市": item["city"], "時區": item["zone"],</a:t>
            </a:r>
          </a:p>
          <a:p xmlns:a="http://schemas.openxmlformats.org/drawingml/2006/main">
            <a:r>
              <a:t>                     "UTC偏移": format_offset(offset), "日期": local.strftime("%Y-%m-%d"),</a:t>
            </a:r>
          </a:p>
          <a:p xmlns:a="http://schemas.openxmlformats.org/drawingml/2006/main">
            <a:r>
              <a:t>                     "時間": clock_text, "狀態": judge_day_night(clock_text)})</a:t>
            </a:r>
          </a:p>
          <a:p xmlns:a="http://schemas.openxmlformats.org/drawingml/2006/main">
            <a:r>
              <a:t>    return rows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ZONE_DATA_READY = True</a:t>
            </a:r>
          </a:p>
          <a:p xmlns:a="http://schemas.openxmlformats.org/drawingml/2006/main">
            <a:r>
              <a:t>try:</a:t>
            </a:r>
          </a:p>
          <a:p xmlns:a="http://schemas.openxmlformats.org/drawingml/2006/main">
            <a:r>
              <a:t>    for item in cities:</a:t>
            </a:r>
          </a:p>
          <a:p xmlns:a="http://schemas.openxmlformats.org/drawingml/2006/main">
            <a:r>
              <a:t>        ZoneInfo(item["zone"])</a:t>
            </a:r>
          </a:p>
          <a:p xmlns:a="http://schemas.openxmlformats.org/drawingml/2006/main">
            <a:r>
              <a:t>except ZoneInfoNotFoundError:</a:t>
            </a:r>
          </a:p>
          <a:p xmlns:a="http://schemas.openxmlformats.org/drawingml/2006/main">
            <a:r>
              <a:t>    ZONE_DATA_READY = False</a:t>
            </a:r>
          </a:p>
          <a:p xmlns:a="http://schemas.openxmlformats.org/drawingml/2006/main">
            <a:r>
              <a:t>    print("請安裝時區資料後重跑：%pip install tzdata")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ZONE_DATA_READY:</a:t>
            </a:r>
          </a:p>
          <a:p xmlns:a="http://schemas.openxmlformats.org/drawingml/2006/main">
            <a:r>
              <a:t>    for month in [1, 7]:</a:t>
            </a:r>
          </a:p>
          <a:p xmlns:a="http://schemas.openxmlformats.org/drawingml/2006/main">
            <a:r>
              <a:t>        sample = datetime(2026, month, 15, 12, tzinfo=timezone.utc)</a:t>
            </a:r>
          </a:p>
          <a:p xmlns:a="http://schemas.openxmlformats.org/drawingml/2006/main">
            <a:r>
              <a:t>        print(sample.date(), [(r["城市"], r["UTC偏移"]) for r in build_city_rows(sample, cities)])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對應教材：第9章 模組與套件／應用延伸</a:t>
            </a:r>
          </a:p>
          <a:p xmlns:a="http://schemas.openxmlformats.org/drawingml/2006/main">
            <a:r>
              <a:t>對應範例：Python_世界時鐘.ipynb T7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以下是對應Notebook已執行的實際輸出。</a:t>
            </a:r>
          </a:p>
          <a:p xmlns:a="http://schemas.openxmlformats.org/drawingml/2006/main">
            <a:r>
              <a:t>2026-01-15 [('倫敦', 'UTC+00:00'), ('台灣', 'UTC+08:00'), ('日本', 'UTC+09:00'), ('紐約', 'UTC-05:00'), ('雪梨', 'UTC+11:00'), ('巴黎', 'UTC+01:00')]</a:t>
            </a:r>
          </a:p>
          <a:p xmlns:a="http://schemas.openxmlformats.org/drawingml/2006/main">
            <a:r>
              <a:t>2026-07-15 [('倫敦', 'UTC+01:00'), ('台灣', 'UTC+08:00'), ('日本', 'UTC+09:00'), ('紐約', 'UTC-04:00'), ('雪梨', 'UTC+10:00'), ('巴黎', 'UTC+02:00')]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對應教材：第9章 模組與套件／應用延伸</a:t>
            </a:r>
          </a:p>
          <a:p xmlns:a="http://schemas.openxmlformats.org/drawingml/2006/main">
            <a:r>
              <a:t>對應範例：Python_世界時鐘.ipynb T7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T8 完整世界時鐘與DataFrame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**講授：** 整合順序為「取一次UTC現在、for轉換所有城市、產生HTML、更新顯示、累加輪數、暫停、檢查while條件」。HTML只是畫面文字，真正資料保存在rows裡。日夜顏色由if/else決定，文字插入HTML前用escape處理。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原版clear_output會清除儲存格的所有輸出，新版以display handle只更新該時鐘區域。max_refresh預設3，interval預設1秒；課堂示範縮短為0.2秒。要延長可呼叫`run_world_clock(max_refresh=10, interval=1)`，仍會自動結束。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下面DataFrame接續使用同一份rows。原`df.copy()`建立另一份表格；`apply(judge_day_night)`逐筆傳入時間字串，概念上等同for產生狀態串列。先理解for，再閱讀apply，避免只記住方法名稱。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函數／第7章 容器／應用整合</a:t>
            </a:r>
          </a:p>
          <a:p xmlns:a="http://schemas.openxmlformats.org/drawingml/2006/main">
            <a:r>
              <a:t>對應範例：Python_世界時鐘.ipynb T8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來源：Python_世界時鐘.ipynb，第20個儲存格。L行號相對於該儲存格，視覺折行不改變原碼。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render_clock(rows):</a:t>
            </a:r>
          </a:p>
          <a:p xmlns:a="http://schemas.openxmlformats.org/drawingml/2006/main">
            <a:r>
              <a:t>    parts = ["&lt;div style='font-family:sans-serif;max-width:700px'&gt;"]</a:t>
            </a:r>
          </a:p>
          <a:p xmlns:a="http://schemas.openxmlformats.org/drawingml/2006/main">
            <a:r>
              <a:t>    for row in rows:</a:t>
            </a:r>
          </a:p>
          <a:p xmlns:a="http://schemas.openxmlformats.org/drawingml/2006/main">
            <a:r>
              <a:t>        color = "#a65b00" if row["狀態"] == "白天" else "#2458a6"</a:t>
            </a:r>
          </a:p>
          <a:p xmlns:a="http://schemas.openxmlformats.org/drawingml/2006/main">
            <a:r>
              <a:t>        parts.append(f"&lt;p&gt;&lt;b&gt;{html.escape(row['城市'])}&lt;/b&gt; "</a:t>
            </a:r>
          </a:p>
          <a:p xmlns:a="http://schemas.openxmlformats.org/drawingml/2006/main">
            <a:r>
              <a:t>                     f"{html.escape(row['日期'])} "</a:t>
            </a:r>
          </a:p>
          <a:p xmlns:a="http://schemas.openxmlformats.org/drawingml/2006/main">
            <a:r>
              <a:t>                     f"&lt;span style='color:{color}'&gt;{html.escape(row['時間'])}&lt;/span&gt; "</a:t>
            </a:r>
          </a:p>
          <a:p xmlns:a="http://schemas.openxmlformats.org/drawingml/2006/main">
            <a:r>
              <a:t>                     f"{html.escape(row['UTC偏移'])} {html.escape(row['狀態'])}&lt;/p&gt;")</a:t>
            </a:r>
          </a:p>
          <a:p xmlns:a="http://schemas.openxmlformats.org/drawingml/2006/main">
            <a:r>
              <a:t>    parts.append("&lt;/div&gt;")</a:t>
            </a:r>
          </a:p>
          <a:p xmlns:a="http://schemas.openxmlformats.org/drawingml/2006/main">
            <a:r>
              <a:t>    return "".join(parts)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run_world_clock(max_refresh=3, interval=1):</a:t>
            </a:r>
          </a:p>
          <a:p xmlns:a="http://schemas.openxmlformats.org/drawingml/2006/main">
            <a:r>
              <a:t>    if type(max_refresh) is not int or max_refresh &lt; 0 or interval &lt; 0:</a:t>
            </a:r>
          </a:p>
          <a:p xmlns:a="http://schemas.openxmlformats.org/drawingml/2006/main">
            <a:r>
              <a:t>        raise ValueError("更新次數須為非負整數，間隔不可為負")</a:t>
            </a:r>
          </a:p>
          <a:p xmlns:a="http://schemas.openxmlformats.org/drawingml/2006/main">
            <a:r>
              <a:t>    if not ZONE_DATA_READY:</a:t>
            </a:r>
          </a:p>
          <a:p xmlns:a="http://schemas.openxmlformats.org/drawingml/2006/main">
            <a:r>
              <a:t>        print("先安裝tzdata，再執行T7。")</a:t>
            </a:r>
          </a:p>
          <a:p xmlns:a="http://schemas.openxmlformats.org/drawingml/2006/main">
            <a:r>
              <a:t>        return []</a:t>
            </a:r>
          </a:p>
          <a:p xmlns:a="http://schemas.openxmlformats.org/drawingml/2006/main">
            <a:r>
              <a:t>    count = 0</a:t>
            </a:r>
          </a:p>
          <a:p xmlns:a="http://schemas.openxmlformats.org/drawingml/2006/main">
            <a:r>
              <a:t>    rows = []</a:t>
            </a:r>
          </a:p>
          <a:p xmlns:a="http://schemas.openxmlformats.org/drawingml/2006/main">
            <a:r>
              <a:t>    handle = None</a:t>
            </a:r>
          </a:p>
          <a:p xmlns:a="http://schemas.openxmlformats.org/drawingml/2006/main">
            <a:r>
              <a:t>    try:</a:t>
            </a:r>
          </a:p>
          <a:p xmlns:a="http://schemas.openxmlformats.org/drawingml/2006/main">
            <a:r>
              <a:t>        while count &lt; max_refresh:</a:t>
            </a:r>
          </a:p>
          <a:p xmlns:a="http://schemas.openxmlformats.org/drawingml/2006/main">
            <a:r>
              <a:t>            base_utc = datetime.now(timezone.utc)</a:t>
            </a:r>
          </a:p>
          <a:p xmlns:a="http://schemas.openxmlformats.org/drawingml/2006/main">
            <a:r>
              <a:t>            rows = build_city_rows(base_utc, cities)</a:t>
            </a:r>
          </a:p>
          <a:p xmlns:a="http://schemas.openxmlformats.org/drawingml/2006/main">
            <a:r>
              <a:t>            content = HTML(render_clock(rows))</a:t>
            </a:r>
          </a:p>
          <a:p xmlns:a="http://schemas.openxmlformats.org/drawingml/2006/main">
            <a:r>
              <a:t>            if handle is None:</a:t>
            </a:r>
          </a:p>
          <a:p xmlns:a="http://schemas.openxmlformats.org/drawingml/2006/main">
            <a:r>
              <a:t>                handle = display(content, display_id=True)</a:t>
            </a:r>
          </a:p>
          <a:p xmlns:a="http://schemas.openxmlformats.org/drawingml/2006/main">
            <a:r>
              <a:t>            else:</a:t>
            </a:r>
          </a:p>
          <a:p xmlns:a="http://schemas.openxmlformats.org/drawingml/2006/main">
            <a:r>
              <a:t>                handle.update(content)</a:t>
            </a:r>
          </a:p>
          <a:p xmlns:a="http://schemas.openxmlformats.org/drawingml/2006/main">
            <a:r>
              <a:t>            count += 1</a:t>
            </a:r>
          </a:p>
          <a:p xmlns:a="http://schemas.openxmlformats.org/drawingml/2006/main">
            <a:r>
              <a:t>            if count &lt; max_refresh:</a:t>
            </a:r>
          </a:p>
          <a:p xmlns:a="http://schemas.openxmlformats.org/drawingml/2006/main">
            <a:r>
              <a:t>                time.sleep(interval)</a:t>
            </a:r>
          </a:p>
          <a:p xmlns:a="http://schemas.openxmlformats.org/drawingml/2006/main">
            <a:r>
              <a:t>    except KeyboardInterrupt:</a:t>
            </a:r>
          </a:p>
          <a:p xmlns:a="http://schemas.openxmlformats.org/drawingml/2006/main">
            <a:r>
              <a:t>        print("使用者停止更新。")</a:t>
            </a:r>
          </a:p>
          <a:p xmlns:a="http://schemas.openxmlformats.org/drawingml/2006/main">
            <a:r>
              <a:t>    print(f"本次完成{count}輪更新。")</a:t>
            </a:r>
          </a:p>
          <a:p xmlns:a="http://schemas.openxmlformats.org/drawingml/2006/main">
            <a:r>
              <a:t>    return rows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latest_rows = run_world_clock(max_refresh=3, interval=0.2)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函數／第7章 容器／應用整合</a:t>
            </a:r>
          </a:p>
          <a:p xmlns:a="http://schemas.openxmlformats.org/drawingml/2006/main">
            <a:r>
              <a:t>對應範例：Python_世界時鐘.ipynb T8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來源：Python_世界時鐘.ipynb，第20個儲存格。L行號相對於該儲存格，視覺折行不改變原碼。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render_clock(rows):</a:t>
            </a:r>
          </a:p>
          <a:p xmlns:a="http://schemas.openxmlformats.org/drawingml/2006/main">
            <a:r>
              <a:t>    parts = ["&lt;div style='font-family:sans-serif;max-width:700px'&gt;"]</a:t>
            </a:r>
          </a:p>
          <a:p xmlns:a="http://schemas.openxmlformats.org/drawingml/2006/main">
            <a:r>
              <a:t>    for row in rows:</a:t>
            </a:r>
          </a:p>
          <a:p xmlns:a="http://schemas.openxmlformats.org/drawingml/2006/main">
            <a:r>
              <a:t>        color = "#a65b00" if row["狀態"] == "白天" else "#2458a6"</a:t>
            </a:r>
          </a:p>
          <a:p xmlns:a="http://schemas.openxmlformats.org/drawingml/2006/main">
            <a:r>
              <a:t>        parts.append(f"&lt;p&gt;&lt;b&gt;{html.escape(row['城市'])}&lt;/b&gt; "</a:t>
            </a:r>
          </a:p>
          <a:p xmlns:a="http://schemas.openxmlformats.org/drawingml/2006/main">
            <a:r>
              <a:t>                     f"{html.escape(row['日期'])} "</a:t>
            </a:r>
          </a:p>
          <a:p xmlns:a="http://schemas.openxmlformats.org/drawingml/2006/main">
            <a:r>
              <a:t>                     f"&lt;span style='color:{color}'&gt;{html.escape(row['時間'])}&lt;/span&gt; "</a:t>
            </a:r>
          </a:p>
          <a:p xmlns:a="http://schemas.openxmlformats.org/drawingml/2006/main">
            <a:r>
              <a:t>                     f"{html.escape(row['UTC偏移'])} {html.escape(row['狀態'])}&lt;/p&gt;")</a:t>
            </a:r>
          </a:p>
          <a:p xmlns:a="http://schemas.openxmlformats.org/drawingml/2006/main">
            <a:r>
              <a:t>    parts.append("&lt;/div&gt;")</a:t>
            </a:r>
          </a:p>
          <a:p xmlns:a="http://schemas.openxmlformats.org/drawingml/2006/main">
            <a:r>
              <a:t>    return "".join(parts)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run_world_clock(max_refresh=3, interval=1):</a:t>
            </a:r>
          </a:p>
          <a:p xmlns:a="http://schemas.openxmlformats.org/drawingml/2006/main">
            <a:r>
              <a:t>    if type(max_refresh) is not int or max_refresh &lt; 0 or interval &lt; 0:</a:t>
            </a:r>
          </a:p>
          <a:p xmlns:a="http://schemas.openxmlformats.org/drawingml/2006/main">
            <a:r>
              <a:t>        raise ValueError("更新次數須為非負整數，間隔不可為負")</a:t>
            </a:r>
          </a:p>
          <a:p xmlns:a="http://schemas.openxmlformats.org/drawingml/2006/main">
            <a:r>
              <a:t>    if not ZONE_DATA_READY:</a:t>
            </a:r>
          </a:p>
          <a:p xmlns:a="http://schemas.openxmlformats.org/drawingml/2006/main">
            <a:r>
              <a:t>        print("先安裝tzdata，再執行T7。")</a:t>
            </a:r>
          </a:p>
          <a:p xmlns:a="http://schemas.openxmlformats.org/drawingml/2006/main">
            <a:r>
              <a:t>        return []</a:t>
            </a:r>
          </a:p>
          <a:p xmlns:a="http://schemas.openxmlformats.org/drawingml/2006/main">
            <a:r>
              <a:t>    count = 0</a:t>
            </a:r>
          </a:p>
          <a:p xmlns:a="http://schemas.openxmlformats.org/drawingml/2006/main">
            <a:r>
              <a:t>    rows = []</a:t>
            </a:r>
          </a:p>
          <a:p xmlns:a="http://schemas.openxmlformats.org/drawingml/2006/main">
            <a:r>
              <a:t>    handle = None</a:t>
            </a:r>
          </a:p>
          <a:p xmlns:a="http://schemas.openxmlformats.org/drawingml/2006/main">
            <a:r>
              <a:t>    try:</a:t>
            </a:r>
          </a:p>
          <a:p xmlns:a="http://schemas.openxmlformats.org/drawingml/2006/main">
            <a:r>
              <a:t>        while count &lt; max_refresh:</a:t>
            </a:r>
          </a:p>
          <a:p xmlns:a="http://schemas.openxmlformats.org/drawingml/2006/main">
            <a:r>
              <a:t>            base_utc = datetime.now(timezone.utc)</a:t>
            </a:r>
          </a:p>
          <a:p xmlns:a="http://schemas.openxmlformats.org/drawingml/2006/main">
            <a:r>
              <a:t>            rows = build_city_rows(base_utc, cities)</a:t>
            </a:r>
          </a:p>
          <a:p xmlns:a="http://schemas.openxmlformats.org/drawingml/2006/main">
            <a:r>
              <a:t>            content = HTML(render_clock(rows))</a:t>
            </a:r>
          </a:p>
          <a:p xmlns:a="http://schemas.openxmlformats.org/drawingml/2006/main">
            <a:r>
              <a:t>            if handle is None:</a:t>
            </a:r>
          </a:p>
          <a:p xmlns:a="http://schemas.openxmlformats.org/drawingml/2006/main">
            <a:r>
              <a:t>                handle = display(content, display_id=True)</a:t>
            </a:r>
          </a:p>
          <a:p xmlns:a="http://schemas.openxmlformats.org/drawingml/2006/main">
            <a:r>
              <a:t>            else:</a:t>
            </a:r>
          </a:p>
          <a:p xmlns:a="http://schemas.openxmlformats.org/drawingml/2006/main">
            <a:r>
              <a:t>                handle.update(content)</a:t>
            </a:r>
          </a:p>
          <a:p xmlns:a="http://schemas.openxmlformats.org/drawingml/2006/main">
            <a:r>
              <a:t>            count += 1</a:t>
            </a:r>
          </a:p>
          <a:p xmlns:a="http://schemas.openxmlformats.org/drawingml/2006/main">
            <a:r>
              <a:t>            if count &lt; max_refresh:</a:t>
            </a:r>
          </a:p>
          <a:p xmlns:a="http://schemas.openxmlformats.org/drawingml/2006/main">
            <a:r>
              <a:t>                time.sleep(interval)</a:t>
            </a:r>
          </a:p>
          <a:p xmlns:a="http://schemas.openxmlformats.org/drawingml/2006/main">
            <a:r>
              <a:t>    except KeyboardInterrupt:</a:t>
            </a:r>
          </a:p>
          <a:p xmlns:a="http://schemas.openxmlformats.org/drawingml/2006/main">
            <a:r>
              <a:t>        print("使用者停止更新。")</a:t>
            </a:r>
          </a:p>
          <a:p xmlns:a="http://schemas.openxmlformats.org/drawingml/2006/main">
            <a:r>
              <a:t>    print(f"本次完成{count}輪更新。")</a:t>
            </a:r>
          </a:p>
          <a:p xmlns:a="http://schemas.openxmlformats.org/drawingml/2006/main">
            <a:r>
              <a:t>    return rows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latest_rows = run_world_clock(max_refresh=3, interval=0.2)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函數／第7章 容器／應用整合</a:t>
            </a:r>
          </a:p>
          <a:p xmlns:a="http://schemas.openxmlformats.org/drawingml/2006/main">
            <a:r>
              <a:t>對應範例：Python_世界時鐘.ipynb T8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來源：Python_世界時鐘.ipynb，第20個儲存格。L行號相對於該儲存格，視覺折行不改變原碼。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render_clock(rows):</a:t>
            </a:r>
          </a:p>
          <a:p xmlns:a="http://schemas.openxmlformats.org/drawingml/2006/main">
            <a:r>
              <a:t>    parts = ["&lt;div style='font-family:sans-serif;max-width:700px'&gt;"]</a:t>
            </a:r>
          </a:p>
          <a:p xmlns:a="http://schemas.openxmlformats.org/drawingml/2006/main">
            <a:r>
              <a:t>    for row in rows:</a:t>
            </a:r>
          </a:p>
          <a:p xmlns:a="http://schemas.openxmlformats.org/drawingml/2006/main">
            <a:r>
              <a:t>        color = "#a65b00" if row["狀態"] == "白天" else "#2458a6"</a:t>
            </a:r>
          </a:p>
          <a:p xmlns:a="http://schemas.openxmlformats.org/drawingml/2006/main">
            <a:r>
              <a:t>        parts.append(f"&lt;p&gt;&lt;b&gt;{html.escape(row['城市'])}&lt;/b&gt; "</a:t>
            </a:r>
          </a:p>
          <a:p xmlns:a="http://schemas.openxmlformats.org/drawingml/2006/main">
            <a:r>
              <a:t>                     f"{html.escape(row['日期'])} "</a:t>
            </a:r>
          </a:p>
          <a:p xmlns:a="http://schemas.openxmlformats.org/drawingml/2006/main">
            <a:r>
              <a:t>                     f"&lt;span style='color:{color}'&gt;{html.escape(row['時間'])}&lt;/span&gt; "</a:t>
            </a:r>
          </a:p>
          <a:p xmlns:a="http://schemas.openxmlformats.org/drawingml/2006/main">
            <a:r>
              <a:t>                     f"{html.escape(row['UTC偏移'])} {html.escape(row['狀態'])}&lt;/p&gt;")</a:t>
            </a:r>
          </a:p>
          <a:p xmlns:a="http://schemas.openxmlformats.org/drawingml/2006/main">
            <a:r>
              <a:t>    parts.append("&lt;/div&gt;")</a:t>
            </a:r>
          </a:p>
          <a:p xmlns:a="http://schemas.openxmlformats.org/drawingml/2006/main">
            <a:r>
              <a:t>    return "".join(parts)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run_world_clock(max_refresh=3, interval=1):</a:t>
            </a:r>
          </a:p>
          <a:p xmlns:a="http://schemas.openxmlformats.org/drawingml/2006/main">
            <a:r>
              <a:t>    if type(max_refresh) is not int or max_refresh &lt; 0 or interval &lt; 0:</a:t>
            </a:r>
          </a:p>
          <a:p xmlns:a="http://schemas.openxmlformats.org/drawingml/2006/main">
            <a:r>
              <a:t>        raise ValueError("更新次數須為非負整數，間隔不可為負")</a:t>
            </a:r>
          </a:p>
          <a:p xmlns:a="http://schemas.openxmlformats.org/drawingml/2006/main">
            <a:r>
              <a:t>    if not ZONE_DATA_READY:</a:t>
            </a:r>
          </a:p>
          <a:p xmlns:a="http://schemas.openxmlformats.org/drawingml/2006/main">
            <a:r>
              <a:t>        print("先安裝tzdata，再執行T7。")</a:t>
            </a:r>
          </a:p>
          <a:p xmlns:a="http://schemas.openxmlformats.org/drawingml/2006/main">
            <a:r>
              <a:t>        return []</a:t>
            </a:r>
          </a:p>
          <a:p xmlns:a="http://schemas.openxmlformats.org/drawingml/2006/main">
            <a:r>
              <a:t>    count = 0</a:t>
            </a:r>
          </a:p>
          <a:p xmlns:a="http://schemas.openxmlformats.org/drawingml/2006/main">
            <a:r>
              <a:t>    rows = []</a:t>
            </a:r>
          </a:p>
          <a:p xmlns:a="http://schemas.openxmlformats.org/drawingml/2006/main">
            <a:r>
              <a:t>    handle = None</a:t>
            </a:r>
          </a:p>
          <a:p xmlns:a="http://schemas.openxmlformats.org/drawingml/2006/main">
            <a:r>
              <a:t>    try:</a:t>
            </a:r>
          </a:p>
          <a:p xmlns:a="http://schemas.openxmlformats.org/drawingml/2006/main">
            <a:r>
              <a:t>        while count &lt; max_refresh:</a:t>
            </a:r>
          </a:p>
          <a:p xmlns:a="http://schemas.openxmlformats.org/drawingml/2006/main">
            <a:r>
              <a:t>            base_utc = datetime.now(timezone.utc)</a:t>
            </a:r>
          </a:p>
          <a:p xmlns:a="http://schemas.openxmlformats.org/drawingml/2006/main">
            <a:r>
              <a:t>            rows = build_city_rows(base_utc, cities)</a:t>
            </a:r>
          </a:p>
          <a:p xmlns:a="http://schemas.openxmlformats.org/drawingml/2006/main">
            <a:r>
              <a:t>            content = HTML(render_clock(rows))</a:t>
            </a:r>
          </a:p>
          <a:p xmlns:a="http://schemas.openxmlformats.org/drawingml/2006/main">
            <a:r>
              <a:t>            if handle is None:</a:t>
            </a:r>
          </a:p>
          <a:p xmlns:a="http://schemas.openxmlformats.org/drawingml/2006/main">
            <a:r>
              <a:t>                handle = display(content, display_id=True)</a:t>
            </a:r>
          </a:p>
          <a:p xmlns:a="http://schemas.openxmlformats.org/drawingml/2006/main">
            <a:r>
              <a:t>            else:</a:t>
            </a:r>
          </a:p>
          <a:p xmlns:a="http://schemas.openxmlformats.org/drawingml/2006/main">
            <a:r>
              <a:t>                handle.update(content)</a:t>
            </a:r>
          </a:p>
          <a:p xmlns:a="http://schemas.openxmlformats.org/drawingml/2006/main">
            <a:r>
              <a:t>            count += 1</a:t>
            </a:r>
          </a:p>
          <a:p xmlns:a="http://schemas.openxmlformats.org/drawingml/2006/main">
            <a:r>
              <a:t>            if count &lt; max_refresh:</a:t>
            </a:r>
          </a:p>
          <a:p xmlns:a="http://schemas.openxmlformats.org/drawingml/2006/main">
            <a:r>
              <a:t>                time.sleep(interval)</a:t>
            </a:r>
          </a:p>
          <a:p xmlns:a="http://schemas.openxmlformats.org/drawingml/2006/main">
            <a:r>
              <a:t>    except KeyboardInterrupt:</a:t>
            </a:r>
          </a:p>
          <a:p xmlns:a="http://schemas.openxmlformats.org/drawingml/2006/main">
            <a:r>
              <a:t>        print("使用者停止更新。")</a:t>
            </a:r>
          </a:p>
          <a:p xmlns:a="http://schemas.openxmlformats.org/drawingml/2006/main">
            <a:r>
              <a:t>    print(f"本次完成{count}輪更新。")</a:t>
            </a:r>
          </a:p>
          <a:p xmlns:a="http://schemas.openxmlformats.org/drawingml/2006/main">
            <a:r>
              <a:t>    return rows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latest_rows = run_world_clock(max_refresh=3, interval=0.2)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函數／第7章 容器／應用整合</a:t>
            </a:r>
          </a:p>
          <a:p xmlns:a="http://schemas.openxmlformats.org/drawingml/2006/main">
            <a:r>
              <a:t>對應範例：Python_世界時鐘.ipynb T8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來源：Python_世界時鐘.ipynb，第20個儲存格。L行號相對於該儲存格，視覺折行不改變原碼。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render_clock(rows):</a:t>
            </a:r>
          </a:p>
          <a:p xmlns:a="http://schemas.openxmlformats.org/drawingml/2006/main">
            <a:r>
              <a:t>    parts = ["&lt;div style='font-family:sans-serif;max-width:700px'&gt;"]</a:t>
            </a:r>
          </a:p>
          <a:p xmlns:a="http://schemas.openxmlformats.org/drawingml/2006/main">
            <a:r>
              <a:t>    for row in rows:</a:t>
            </a:r>
          </a:p>
          <a:p xmlns:a="http://schemas.openxmlformats.org/drawingml/2006/main">
            <a:r>
              <a:t>        color = "#a65b00" if row["狀態"] == "白天" else "#2458a6"</a:t>
            </a:r>
          </a:p>
          <a:p xmlns:a="http://schemas.openxmlformats.org/drawingml/2006/main">
            <a:r>
              <a:t>        parts.append(f"&lt;p&gt;&lt;b&gt;{html.escape(row['城市'])}&lt;/b&gt; "</a:t>
            </a:r>
          </a:p>
          <a:p xmlns:a="http://schemas.openxmlformats.org/drawingml/2006/main">
            <a:r>
              <a:t>                     f"{html.escape(row['日期'])} "</a:t>
            </a:r>
          </a:p>
          <a:p xmlns:a="http://schemas.openxmlformats.org/drawingml/2006/main">
            <a:r>
              <a:t>                     f"&lt;span style='color:{color}'&gt;{html.escape(row['時間'])}&lt;/span&gt; "</a:t>
            </a:r>
          </a:p>
          <a:p xmlns:a="http://schemas.openxmlformats.org/drawingml/2006/main">
            <a:r>
              <a:t>                     f"{html.escape(row['UTC偏移'])} {html.escape(row['狀態'])}&lt;/p&gt;")</a:t>
            </a:r>
          </a:p>
          <a:p xmlns:a="http://schemas.openxmlformats.org/drawingml/2006/main">
            <a:r>
              <a:t>    parts.append("&lt;/div&gt;")</a:t>
            </a:r>
          </a:p>
          <a:p xmlns:a="http://schemas.openxmlformats.org/drawingml/2006/main">
            <a:r>
              <a:t>    return "".join(parts)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run_world_clock(max_refresh=3, interval=1):</a:t>
            </a:r>
          </a:p>
          <a:p xmlns:a="http://schemas.openxmlformats.org/drawingml/2006/main">
            <a:r>
              <a:t>    if type(max_refresh) is not int or max_refresh &lt; 0 or interval &lt; 0:</a:t>
            </a:r>
          </a:p>
          <a:p xmlns:a="http://schemas.openxmlformats.org/drawingml/2006/main">
            <a:r>
              <a:t>        raise ValueError("更新次數須為非負整數，間隔不可為負")</a:t>
            </a:r>
          </a:p>
          <a:p xmlns:a="http://schemas.openxmlformats.org/drawingml/2006/main">
            <a:r>
              <a:t>    if not ZONE_DATA_READY:</a:t>
            </a:r>
          </a:p>
          <a:p xmlns:a="http://schemas.openxmlformats.org/drawingml/2006/main">
            <a:r>
              <a:t>        print("先安裝tzdata，再執行T7。")</a:t>
            </a:r>
          </a:p>
          <a:p xmlns:a="http://schemas.openxmlformats.org/drawingml/2006/main">
            <a:r>
              <a:t>        return []</a:t>
            </a:r>
          </a:p>
          <a:p xmlns:a="http://schemas.openxmlformats.org/drawingml/2006/main">
            <a:r>
              <a:t>    count = 0</a:t>
            </a:r>
          </a:p>
          <a:p xmlns:a="http://schemas.openxmlformats.org/drawingml/2006/main">
            <a:r>
              <a:t>    rows = []</a:t>
            </a:r>
          </a:p>
          <a:p xmlns:a="http://schemas.openxmlformats.org/drawingml/2006/main">
            <a:r>
              <a:t>    handle = None</a:t>
            </a:r>
          </a:p>
          <a:p xmlns:a="http://schemas.openxmlformats.org/drawingml/2006/main">
            <a:r>
              <a:t>    try:</a:t>
            </a:r>
          </a:p>
          <a:p xmlns:a="http://schemas.openxmlformats.org/drawingml/2006/main">
            <a:r>
              <a:t>        while count &lt; max_refresh:</a:t>
            </a:r>
          </a:p>
          <a:p xmlns:a="http://schemas.openxmlformats.org/drawingml/2006/main">
            <a:r>
              <a:t>            base_utc = datetime.now(timezone.utc)</a:t>
            </a:r>
          </a:p>
          <a:p xmlns:a="http://schemas.openxmlformats.org/drawingml/2006/main">
            <a:r>
              <a:t>            rows = build_city_rows(base_utc, cities)</a:t>
            </a:r>
          </a:p>
          <a:p xmlns:a="http://schemas.openxmlformats.org/drawingml/2006/main">
            <a:r>
              <a:t>            content = HTML(render_clock(rows))</a:t>
            </a:r>
          </a:p>
          <a:p xmlns:a="http://schemas.openxmlformats.org/drawingml/2006/main">
            <a:r>
              <a:t>            if handle is None:</a:t>
            </a:r>
          </a:p>
          <a:p xmlns:a="http://schemas.openxmlformats.org/drawingml/2006/main">
            <a:r>
              <a:t>                handle = display(content, display_id=True)</a:t>
            </a:r>
          </a:p>
          <a:p xmlns:a="http://schemas.openxmlformats.org/drawingml/2006/main">
            <a:r>
              <a:t>            else:</a:t>
            </a:r>
          </a:p>
          <a:p xmlns:a="http://schemas.openxmlformats.org/drawingml/2006/main">
            <a:r>
              <a:t>                handle.update(content)</a:t>
            </a:r>
          </a:p>
          <a:p xmlns:a="http://schemas.openxmlformats.org/drawingml/2006/main">
            <a:r>
              <a:t>            count += 1</a:t>
            </a:r>
          </a:p>
          <a:p xmlns:a="http://schemas.openxmlformats.org/drawingml/2006/main">
            <a:r>
              <a:t>            if count &lt; max_refresh:</a:t>
            </a:r>
          </a:p>
          <a:p xmlns:a="http://schemas.openxmlformats.org/drawingml/2006/main">
            <a:r>
              <a:t>                time.sleep(interval)</a:t>
            </a:r>
          </a:p>
          <a:p xmlns:a="http://schemas.openxmlformats.org/drawingml/2006/main">
            <a:r>
              <a:t>    except KeyboardInterrupt:</a:t>
            </a:r>
          </a:p>
          <a:p xmlns:a="http://schemas.openxmlformats.org/drawingml/2006/main">
            <a:r>
              <a:t>        print("使用者停止更新。")</a:t>
            </a:r>
          </a:p>
          <a:p xmlns:a="http://schemas.openxmlformats.org/drawingml/2006/main">
            <a:r>
              <a:t>    print(f"本次完成{count}輪更新。")</a:t>
            </a:r>
          </a:p>
          <a:p xmlns:a="http://schemas.openxmlformats.org/drawingml/2006/main">
            <a:r>
              <a:t>    return rows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latest_rows = run_world_clock(max_refresh=3, interval=0.2)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函數／第7章 容器／應用整合</a:t>
            </a:r>
          </a:p>
          <a:p xmlns:a="http://schemas.openxmlformats.org/drawingml/2006/main">
            <a:r>
              <a:t>對應範例：Python_世界時鐘.ipynb T8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以下是對應Notebook已執行的實際輸出。</a:t>
            </a:r>
          </a:p>
          <a:p xmlns:a="http://schemas.openxmlformats.org/drawingml/2006/main">
            <a:r>
              <a:t>本次完成3輪更新。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函數／第7章 容器／應用整合</a:t>
            </a:r>
          </a:p>
          <a:p xmlns:a="http://schemas.openxmlformats.org/drawingml/2006/main">
            <a:r>
              <a:t>對應範例：Python_世界時鐘.ipynb T8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來源：Python_世界時鐘.ipynb，第21個儲存格。L行號相對於該儲存格，視覺折行不改變原碼。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try:</a:t>
            </a:r>
          </a:p>
          <a:p xmlns:a="http://schemas.openxmlformats.org/drawingml/2006/main">
            <a:r>
              <a:t>    import pandas as pd</a:t>
            </a:r>
          </a:p>
          <a:p xmlns:a="http://schemas.openxmlformats.org/drawingml/2006/main">
            <a:r>
              <a:t>except ImportError:</a:t>
            </a:r>
          </a:p>
          <a:p xmlns:a="http://schemas.openxmlformats.org/drawingml/2006/main">
            <a:r>
              <a:t>    pd = None</a:t>
            </a:r>
          </a:p>
          <a:p xmlns:a="http://schemas.openxmlformats.org/drawingml/2006/main">
            <a:r>
              <a:t>    print("表格延伸需pandas：%pip install pandas；固定時差與文字版不受影響。")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pd is not None and latest_rows:</a:t>
            </a:r>
          </a:p>
          <a:p xmlns:a="http://schemas.openxmlformats.org/drawingml/2006/main">
            <a:r>
              <a:t>    df = pd.DataFrame(latest_rows)</a:t>
            </a:r>
          </a:p>
          <a:p xmlns:a="http://schemas.openxmlformats.org/drawingml/2006/main">
            <a:r>
              <a:t>    df_status = df.copy()</a:t>
            </a:r>
          </a:p>
          <a:p xmlns:a="http://schemas.openxmlformats.org/drawingml/2006/main">
            <a:r>
              <a:t>    df_status["狀態"] = df_status["時間"].apply(judge_day_night)</a:t>
            </a:r>
          </a:p>
          <a:p xmlns:a="http://schemas.openxmlformats.org/drawingml/2006/main">
            <a:r>
              <a:t>    display(df_status)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函數／第7章 容器／應用整合</a:t>
            </a:r>
          </a:p>
          <a:p xmlns:a="http://schemas.openxmlformats.org/drawingml/2006/main">
            <a:r>
              <a:t>對應範例：Python_世界時鐘.ipynb T8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來源：Python_世界時鐘.ipynb，第21個儲存格。L行號相對於該儲存格，視覺折行不改變原碼。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try:</a:t>
            </a:r>
          </a:p>
          <a:p xmlns:a="http://schemas.openxmlformats.org/drawingml/2006/main">
            <a:r>
              <a:t>    import pandas as pd</a:t>
            </a:r>
          </a:p>
          <a:p xmlns:a="http://schemas.openxmlformats.org/drawingml/2006/main">
            <a:r>
              <a:t>except ImportError:</a:t>
            </a:r>
          </a:p>
          <a:p xmlns:a="http://schemas.openxmlformats.org/drawingml/2006/main">
            <a:r>
              <a:t>    pd = None</a:t>
            </a:r>
          </a:p>
          <a:p xmlns:a="http://schemas.openxmlformats.org/drawingml/2006/main">
            <a:r>
              <a:t>    print("表格延伸需pandas：%pip install pandas；固定時差與文字版不受影響。")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pd is not None and latest_rows:</a:t>
            </a:r>
          </a:p>
          <a:p xmlns:a="http://schemas.openxmlformats.org/drawingml/2006/main">
            <a:r>
              <a:t>    df = pd.DataFrame(latest_rows)</a:t>
            </a:r>
          </a:p>
          <a:p xmlns:a="http://schemas.openxmlformats.org/drawingml/2006/main">
            <a:r>
              <a:t>    df_status = df.copy()</a:t>
            </a:r>
          </a:p>
          <a:p xmlns:a="http://schemas.openxmlformats.org/drawingml/2006/main">
            <a:r>
              <a:t>    df_status["狀態"] = df_status["時間"].apply(judge_day_night)</a:t>
            </a:r>
          </a:p>
          <a:p xmlns:a="http://schemas.openxmlformats.org/drawingml/2006/main">
            <a:r>
              <a:t>    display(df_status)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對應教材：第6章 函數／第7章 容器／應用整合</a:t>
            </a:r>
          </a:p>
          <a:p xmlns:a="http://schemas.openxmlformats.org/drawingml/2006/main">
            <a:r>
              <a:t>對應範例：Python_世界時鐘.ipynb T8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T9 隨堂練習與參考解答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運算式：UTC 23:45加330分鐘，當地日期要加幾天，時間是多少？</a:t>
            </a:r>
          </a:p>
          <a:p xmlns:a="http://schemas.openxmlformats.org/drawingml/2006/main">
            <a:r>
              <a:t>2. 判斷式：將上班時段定為09:00至16:59，寫出函式並測試08:59、09:00、16:59、17:00。</a:t>
            </a:r>
          </a:p>
          <a:p xmlns:a="http://schemas.openxmlformats.org/drawingml/2006/main">
            <a:r>
              <a:t>3. 陣列與for：加入印度，城市時區採Asia/Kolkata，不要改迴圈次數或寫死第7筆。</a:t>
            </a:r>
          </a:p>
          <a:p xmlns:a="http://schemas.openxmlformats.org/drawingml/2006/main">
            <a:r>
              <a:t>4. while：讓實際時鐘更新5輪後停止，再改成0輪，說明輸出差異。</a:t>
            </a:r>
          </a:p>
          <a:p xmlns:a="http://schemas.openxmlformats.org/drawingml/2006/main">
            <a:r>
              <a:t>5. 函式與整合：輸入城市名稱查詢該列資料；找不到時回傳None，交由呼叫端顯示訊息。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**參考解答：** 第一題隔日05:15。第二題條件為`9 &lt;= hour &lt; 17`，四筆分別False、True、True、False。第三題在城市串列加入一筆字典即可。第四題將max_refresh設為5或0；零次不顯示時鐘、回傳空串列。第五題以for搜尋，找到便return，整個迴圈結束後return None。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**口頭評量：** 請學員指著自己的程式說出：哪個值控制重複？哪個分支決定顏色？日期跨日在哪裡處理？哪個函式可以不用畫面就先測？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對應教材：第3–7章 綜合練習</a:t>
            </a:r>
          </a:p>
          <a:p xmlns:a="http://schemas.openxmlformats.org/drawingml/2006/main">
            <a:r>
              <a:t>對應範例：Python_世界時鐘.ipynb T9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來源：Python_世界時鐘.ipynb，第23個儲存格。L行號相對於該儲存格，視覺折行不改變原碼。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is_work_time(time_str):</a:t>
            </a:r>
          </a:p>
          <a:p xmlns:a="http://schemas.openxmlformats.org/drawingml/2006/main">
            <a:r>
              <a:t>    parsed = datetime.strptime(time_str, "%H:%M:%S")</a:t>
            </a:r>
          </a:p>
          <a:p xmlns:a="http://schemas.openxmlformats.org/drawingml/2006/main">
            <a:r>
              <a:t>    return 9 &lt;= parsed.hour &lt; 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find_city(rows, city_name):</a:t>
            </a:r>
          </a:p>
          <a:p xmlns:a="http://schemas.openxmlformats.org/drawingml/2006/main">
            <a:r>
              <a:t>    for row in rows:</a:t>
            </a:r>
          </a:p>
          <a:p xmlns:a="http://schemas.openxmlformats.org/drawingml/2006/main">
            <a:r>
              <a:t>        if row["城市"] == city_name:</a:t>
            </a:r>
          </a:p>
          <a:p xmlns:a="http://schemas.openxmlformats.org/drawingml/2006/main">
            <a:r>
              <a:t>            return row</a:t>
            </a:r>
          </a:p>
          <a:p xmlns:a="http://schemas.openxmlformats.org/drawingml/2006/main">
            <a:r>
              <a:t>    return None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exercise_cities = cities + [{"city": "印度", "zone": "Asia/Kolkata"}]</a:t>
            </a:r>
          </a:p>
          <a:p xmlns:a="http://schemas.openxmlformats.org/drawingml/2006/main">
            <a:r>
              <a:t>if ZONE_DATA_READY:</a:t>
            </a:r>
          </a:p>
          <a:p xmlns:a="http://schemas.openxmlformats.org/drawingml/2006/main">
            <a:r>
              <a:t>    exercise_rows = build_city_rows(BASE_UTC, exercise_cities)</a:t>
            </a:r>
          </a:p>
          <a:p xmlns:a="http://schemas.openxmlformats.org/drawingml/2006/main">
            <a:r>
              <a:t>    print("印度資料：", find_city(exercise_rows, "印度"))</a:t>
            </a:r>
          </a:p>
          <a:p xmlns:a="http://schemas.openxmlformats.org/drawingml/2006/main">
            <a:r>
              <a:t>    print("查無城市：", find_city(exercise_rows, "不存在"))</a:t>
            </a:r>
          </a:p>
          <a:p xmlns:a="http://schemas.openxmlformats.org/drawingml/2006/main">
            <a:r>
              <a:t>print("上班邊界：", [is_work_time(t) for t in ["08:59:00", "09:00:00", "16:59:00", "17:00:00"]])</a:t>
            </a:r>
          </a:p>
          <a:p xmlns:a="http://schemas.openxmlformats.org/drawingml/2006/main">
            <a:r>
              <a:t># 延伸操作：run_world_clock(max_refresh=5, interval=1)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對應教材：第3–7章 綜合練習</a:t>
            </a:r>
          </a:p>
          <a:p xmlns:a="http://schemas.openxmlformats.org/drawingml/2006/main">
            <a:r>
              <a:t>對應範例：Python_世界時鐘.ipynb T9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來源：Python_世界時鐘.ipynb，第23個儲存格。L行號相對於該儲存格，視覺折行不改變原碼。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is_work_time(time_str):</a:t>
            </a:r>
          </a:p>
          <a:p xmlns:a="http://schemas.openxmlformats.org/drawingml/2006/main">
            <a:r>
              <a:t>    parsed = datetime.strptime(time_str, "%H:%M:%S")</a:t>
            </a:r>
          </a:p>
          <a:p xmlns:a="http://schemas.openxmlformats.org/drawingml/2006/main">
            <a:r>
              <a:t>    return 9 &lt;= parsed.hour &lt; 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find_city(rows, city_name):</a:t>
            </a:r>
          </a:p>
          <a:p xmlns:a="http://schemas.openxmlformats.org/drawingml/2006/main">
            <a:r>
              <a:t>    for row in rows:</a:t>
            </a:r>
          </a:p>
          <a:p xmlns:a="http://schemas.openxmlformats.org/drawingml/2006/main">
            <a:r>
              <a:t>        if row["城市"] == city_name:</a:t>
            </a:r>
          </a:p>
          <a:p xmlns:a="http://schemas.openxmlformats.org/drawingml/2006/main">
            <a:r>
              <a:t>            return row</a:t>
            </a:r>
          </a:p>
          <a:p xmlns:a="http://schemas.openxmlformats.org/drawingml/2006/main">
            <a:r>
              <a:t>    return None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exercise_cities = cities + [{"city": "印度", "zone": "Asia/Kolkata"}]</a:t>
            </a:r>
          </a:p>
          <a:p xmlns:a="http://schemas.openxmlformats.org/drawingml/2006/main">
            <a:r>
              <a:t>if ZONE_DATA_READY:</a:t>
            </a:r>
          </a:p>
          <a:p xmlns:a="http://schemas.openxmlformats.org/drawingml/2006/main">
            <a:r>
              <a:t>    exercise_rows = build_city_rows(BASE_UTC, exercise_cities)</a:t>
            </a:r>
          </a:p>
          <a:p xmlns:a="http://schemas.openxmlformats.org/drawingml/2006/main">
            <a:r>
              <a:t>    print("印度資料：", find_city(exercise_rows, "印度"))</a:t>
            </a:r>
          </a:p>
          <a:p xmlns:a="http://schemas.openxmlformats.org/drawingml/2006/main">
            <a:r>
              <a:t>    print("查無城市：", find_city(exercise_rows, "不存在"))</a:t>
            </a:r>
          </a:p>
          <a:p xmlns:a="http://schemas.openxmlformats.org/drawingml/2006/main">
            <a:r>
              <a:t>print("上班邊界：", [is_work_time(t) for t in ["08:59:00", "09:00:00", "16:59:00", "17:00:00"]])</a:t>
            </a:r>
          </a:p>
          <a:p xmlns:a="http://schemas.openxmlformats.org/drawingml/2006/main">
            <a:r>
              <a:t># 延伸操作：run_world_clock(max_refresh=5, interval=1)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對應教材：第3–7章 綜合練習</a:t>
            </a:r>
          </a:p>
          <a:p xmlns:a="http://schemas.openxmlformats.org/drawingml/2006/main">
            <a:r>
              <a:t>對應範例：Python_世界時鐘.ipynb T9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以下是對應Notebook已執行的實際輸出。</a:t>
            </a:r>
          </a:p>
          <a:p xmlns:a="http://schemas.openxmlformats.org/drawingml/2006/main">
            <a:r>
              <a:t>印度資料： {'城市': '印度', '時區': 'Asia/Kolkata', 'UTC偏移': 'UTC+05:30', '日期': '2026-01-16', '時間': '02:00:00', '狀態': '晚上'}</a:t>
            </a:r>
          </a:p>
          <a:p xmlns:a="http://schemas.openxmlformats.org/drawingml/2006/main">
            <a:r>
              <a:t>查無城市： None</a:t>
            </a:r>
          </a:p>
          <a:p xmlns:a="http://schemas.openxmlformats.org/drawingml/2006/main">
            <a:r>
              <a:t>上班邊界： [False, True, True, False]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對應教材：第3–7章 綜合練習</a:t>
            </a:r>
          </a:p>
          <a:p xmlns:a="http://schemas.openxmlformats.org/drawingml/2006/main">
            <a:r>
              <a:t>對應範例：Python_世界時鐘.ipynb T9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T10 測試與原程式對照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測試使用固定基準時間，所以不會隨現在時間改變。城市時區的季節測試只在資料庫可用時執行；未安裝時會清楚列出略過項目。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原範例位置 | 本版完整講授與程式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timezone(h)、timedelta(hours=h) | T1、T3固定時差模型 |</a:t>
            </a:r>
          </a:p>
          <a:p xmlns:a="http://schemas.openxmlformats.org/drawingml/2006/main">
            <a:r>
              <a:t>| name與loc_time平行串列 | T4資料配對、T7城市時區 |</a:t>
            </a:r>
          </a:p>
          <a:p xmlns:a="http://schemas.openxmlformats.org/drawingml/2006/main">
            <a:r>
              <a:t>| for i in range(4)及range(len(name)) | T4、T5資料驅動走訪 |</a:t>
            </a:r>
          </a:p>
          <a:p xmlns:a="http://schemas.openxmlformats.org/drawingml/2006/main">
            <a:r>
              <a:t>| while True、sleep、KeyboardInterrupt | T6有限示範、T8有限實際更新 |</a:t>
            </a:r>
          </a:p>
          <a:p xmlns:a="http://schemas.openxmlformats.org/drawingml/2006/main">
            <a:r>
              <a:t>| strftime、split日期時間、HTML | T1、T3、T8 |</a:t>
            </a:r>
          </a:p>
          <a:p xmlns:a="http://schemas.openxmlformats.org/drawingml/2006/main">
            <a:r>
              <a:t>| dates、times、gmt_offsets、DataFrame | T5字典列、T8表格 |</a:t>
            </a:r>
          </a:p>
          <a:p xmlns:a="http://schemas.openxmlformats.org/drawingml/2006/main">
            <a:r>
              <a:t>| judge_day_night與apply | T2、T3、T8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**與計算機相互比較：** 計算機的二維串列描述畫面配置，時鐘串列保存城市資料；兩者都用for走訪。計算機由按鍵事件觸發一次計算，時鐘由有限while主動更新。兩者都能把核心函式抽出來，不靠視窗先驗證結果。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對應教材：第3–9章 綜合檢核</a:t>
            </a:r>
          </a:p>
          <a:p xmlns:a="http://schemas.openxmlformats.org/drawingml/2006/main">
            <a:r>
              <a:t>對應範例：Python_世界時鐘.ipynb T10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T10 測試與原程式對照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測試使用固定基準時間，所以不會隨現在時間改變。城市時區的季節測試只在資料庫可用時執行；未安裝時會清楚列出略過項目。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原範例位置 | 本版完整講授與程式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timezone(h)、timedelta(hours=h) | T1、T3固定時差模型 |</a:t>
            </a:r>
          </a:p>
          <a:p xmlns:a="http://schemas.openxmlformats.org/drawingml/2006/main">
            <a:r>
              <a:t>| name與loc_time平行串列 | T4資料配對、T7城市時區 |</a:t>
            </a:r>
          </a:p>
          <a:p xmlns:a="http://schemas.openxmlformats.org/drawingml/2006/main">
            <a:r>
              <a:t>| for i in range(4)及range(len(name)) | T4、T5資料驅動走訪 |</a:t>
            </a:r>
          </a:p>
          <a:p xmlns:a="http://schemas.openxmlformats.org/drawingml/2006/main">
            <a:r>
              <a:t>| while True、sleep、KeyboardInterrupt | T6有限示範、T8有限實際更新 |</a:t>
            </a:r>
          </a:p>
          <a:p xmlns:a="http://schemas.openxmlformats.org/drawingml/2006/main">
            <a:r>
              <a:t>| strftime、split日期時間、HTML | T1、T3、T8 |</a:t>
            </a:r>
          </a:p>
          <a:p xmlns:a="http://schemas.openxmlformats.org/drawingml/2006/main">
            <a:r>
              <a:t>| dates、times、gmt_offsets、DataFrame | T5字典列、T8表格 |</a:t>
            </a:r>
          </a:p>
          <a:p xmlns:a="http://schemas.openxmlformats.org/drawingml/2006/main">
            <a:r>
              <a:t>| judge_day_night與apply | T2、T3、T8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**與計算機相互比較：** 計算機的二維串列描述畫面配置，時鐘串列保存城市資料；兩者都用for走訪。計算機由按鍵事件觸發一次計算，時鐘由有限while主動更新。兩者都能把核心函式抽出來，不靠視窗先驗證結果。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對應教材：第3–9章 綜合檢核</a:t>
            </a:r>
          </a:p>
          <a:p xmlns:a="http://schemas.openxmlformats.org/drawingml/2006/main">
            <a:r>
              <a:t>對應範例：Python_世界時鐘.ipynb T10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來源：Python_世界時鐘.ipynb，第25個儲存格。L行號相對於該儲存格，視覺折行不改變原碼。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assert fixed_local(BASE_UTC, 480).strftime("%Y-%m-%d %H:%M") == "2026-01-16 04:30"</a:t>
            </a:r>
          </a:p>
          <a:p xmlns:a="http://schemas.openxmlformats.org/drawingml/2006/main">
            <a:r>
              <a:t>early = datetime(2026, 1, 15, 1, 15, tzinfo=timezone.utc)</a:t>
            </a:r>
          </a:p>
          <a:p xmlns:a="http://schemas.openxmlformats.org/drawingml/2006/main">
            <a:r>
              <a:t>assert fixed_local(early, -240).strftime("%Y-%m-%d %H:%M") == "2026-01-14 21:15"</a:t>
            </a:r>
          </a:p>
          <a:p xmlns:a="http://schemas.openxmlformats.org/drawingml/2006/main">
            <a:r>
              <a:t>assert format_offset(330) == "UTC+05:30"</a:t>
            </a:r>
          </a:p>
          <a:p xmlns:a="http://schemas.openxmlformats.org/drawingml/2006/main">
            <a:r>
              <a:t>assert format_offset(-210) == "UTC-03:30"</a:t>
            </a:r>
          </a:p>
          <a:p xmlns:a="http://schemas.openxmlformats.org/drawingml/2006/main">
            <a:r>
              <a:t>assert [judge_day_night(t) for t in ["05:59:59", "06:00:00", "17:59:59", "18:00:00"]] == ["晚上", "白天", "白天", "晚上"]</a:t>
            </a:r>
          </a:p>
          <a:p xmlns:a="http://schemas.openxmlformats.org/drawingml/2006/main">
            <a:r>
              <a:t>assert [is_work_time(t) for t in ["08:59:00", "09:00:00", "16:59:00", "17:00:00"]] == [False, True, True, False]</a:t>
            </a:r>
          </a:p>
          <a:p xmlns:a="http://schemas.openxmlformats.org/drawingml/2006/main">
            <a:r>
              <a:t>assert build_fixed_rows(BASE_UTC, []) == []</a:t>
            </a:r>
          </a:p>
          <a:p xmlns:a="http://schemas.openxmlformats.org/drawingml/2006/main">
            <a:r>
              <a:t>assert find_city(fixed_rows, "不存在") is None</a:t>
            </a:r>
          </a:p>
          <a:p xmlns:a="http://schemas.openxmlformats.org/drawingml/2006/main">
            <a:r>
              <a:t>assert run_world_clock(max_refresh=0, interval=0) == []</a:t>
            </a:r>
          </a:p>
          <a:p xmlns:a="http://schemas.openxmlformats.org/drawingml/2006/main">
            <a:r>
              <a:t>for bad_time in ["24:00:00", "12:60:00", "abc"]:</a:t>
            </a:r>
          </a:p>
          <a:p xmlns:a="http://schemas.openxmlformats.org/drawingml/2006/main">
            <a:r>
              <a:t>    try:</a:t>
            </a:r>
          </a:p>
          <a:p xmlns:a="http://schemas.openxmlformats.org/drawingml/2006/main">
            <a:r>
              <a:t>        judge_day_night(bad_time)</a:t>
            </a:r>
          </a:p>
          <a:p xmlns:a="http://schemas.openxmlformats.org/drawingml/2006/main">
            <a:r>
              <a:t>    except ValueError:</a:t>
            </a:r>
          </a:p>
          <a:p xmlns:a="http://schemas.openxmlformats.org/drawingml/2006/main">
            <a:r>
              <a:t>        pass</a:t>
            </a:r>
          </a:p>
          <a:p xmlns:a="http://schemas.openxmlformats.org/drawingml/2006/main">
            <a:r>
              <a:t>    else:</a:t>
            </a:r>
          </a:p>
          <a:p xmlns:a="http://schemas.openxmlformats.org/drawingml/2006/main">
            <a:r>
              <a:t>        raise AssertionError("應拒絕不合法時間")</a:t>
            </a:r>
          </a:p>
          <a:p xmlns:a="http://schemas.openxmlformats.org/drawingml/2006/main">
            <a:r>
              <a:t>if ZONE_DATA_READY:</a:t>
            </a:r>
          </a:p>
          <a:p xmlns:a="http://schemas.openxmlformats.org/drawingml/2006/main">
            <a:r>
              <a:t>    winter = build_city_rows(datetime(2026, 1, 15, 12, tzinfo=timezone.utc), cities)</a:t>
            </a:r>
          </a:p>
          <a:p xmlns:a="http://schemas.openxmlformats.org/drawingml/2006/main">
            <a:r>
              <a:t>    summer = build_city_rows(datetime(2026, 7, 15, 12, tzinfo=timezone.utc), cities)</a:t>
            </a:r>
          </a:p>
          <a:p xmlns:a="http://schemas.openxmlformats.org/drawingml/2006/main">
            <a:r>
              <a:t>    assert find_city(winter, "倫敦")["UTC偏移"] == "UTC+00:00"</a:t>
            </a:r>
          </a:p>
          <a:p xmlns:a="http://schemas.openxmlformats.org/drawingml/2006/main">
            <a:r>
              <a:t>    assert find_city(summer, "倫敦")["UTC偏移"] == "UTC+01:00"</a:t>
            </a:r>
          </a:p>
          <a:p xmlns:a="http://schemas.openxmlformats.org/drawingml/2006/main">
            <a:r>
              <a:t>    assert find_city(winter, "紐約")["UTC偏移"] == "UTC-05:00"</a:t>
            </a:r>
          </a:p>
          <a:p xmlns:a="http://schemas.openxmlformats.org/drawingml/2006/main">
            <a:r>
              <a:t>    assert find_city(summer, "紐約")["UTC偏移"] == "UTC-04:00"</a:t>
            </a:r>
          </a:p>
          <a:p xmlns:a="http://schemas.openxmlformats.org/drawingml/2006/main">
            <a:r>
              <a:t>    assert find_city(winter, "雪梨")["UTC偏移"] == "UTC+11:00"</a:t>
            </a:r>
          </a:p>
          <a:p xmlns:a="http://schemas.openxmlformats.org/drawingml/2006/main">
            <a:r>
              <a:t>    assert find_city(summer, "雪梨")["UTC偏移"] == "UTC+10:00"</a:t>
            </a:r>
          </a:p>
          <a:p xmlns:a="http://schemas.openxmlformats.org/drawingml/2006/main">
            <a:r>
              <a:t>    assert find_city(exercise_rows, "印度")["UTC偏移"] == "UTC+05:30"</a:t>
            </a:r>
          </a:p>
          <a:p xmlns:a="http://schemas.openxmlformats.org/drawingml/2006/main">
            <a:r>
              <a:t>    print("城市時區及冬夏日期測試通過。")</a:t>
            </a:r>
          </a:p>
          <a:p xmlns:a="http://schemas.openxmlformats.org/drawingml/2006/main">
            <a:r>
              <a:t>else:</a:t>
            </a:r>
          </a:p>
          <a:p xmlns:a="http://schemas.openxmlformats.org/drawingml/2006/main">
            <a:r>
              <a:t>    print("尚無時區資料，略過城市時區測試。")</a:t>
            </a:r>
          </a:p>
          <a:p xmlns:a="http://schemas.openxmlformats.org/drawingml/2006/main">
            <a:r>
              <a:t>print("固定偏移、跨日、日夜邊界、查詢與停止條件檢查通過。")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對應教材：第3–9章 綜合檢核</a:t>
            </a:r>
          </a:p>
          <a:p xmlns:a="http://schemas.openxmlformats.org/drawingml/2006/main">
            <a:r>
              <a:t>對應範例：Python_世界時鐘.ipynb T10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來源：Python_世界時鐘.ipynb，第25個儲存格。L行號相對於該儲存格，視覺折行不改變原碼。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assert fixed_local(BASE_UTC, 480).strftime("%Y-%m-%d %H:%M") == "2026-01-16 04:30"</a:t>
            </a:r>
          </a:p>
          <a:p xmlns:a="http://schemas.openxmlformats.org/drawingml/2006/main">
            <a:r>
              <a:t>early = datetime(2026, 1, 15, 1, 15, tzinfo=timezone.utc)</a:t>
            </a:r>
          </a:p>
          <a:p xmlns:a="http://schemas.openxmlformats.org/drawingml/2006/main">
            <a:r>
              <a:t>assert fixed_local(early, -240).strftime("%Y-%m-%d %H:%M") == "2026-01-14 21:15"</a:t>
            </a:r>
          </a:p>
          <a:p xmlns:a="http://schemas.openxmlformats.org/drawingml/2006/main">
            <a:r>
              <a:t>assert format_offset(330) == "UTC+05:30"</a:t>
            </a:r>
          </a:p>
          <a:p xmlns:a="http://schemas.openxmlformats.org/drawingml/2006/main">
            <a:r>
              <a:t>assert format_offset(-210) == "UTC-03:30"</a:t>
            </a:r>
          </a:p>
          <a:p xmlns:a="http://schemas.openxmlformats.org/drawingml/2006/main">
            <a:r>
              <a:t>assert [judge_day_night(t) for t in ["05:59:59", "06:00:00", "17:59:59", "18:00:00"]] == ["晚上", "白天", "白天", "晚上"]</a:t>
            </a:r>
          </a:p>
          <a:p xmlns:a="http://schemas.openxmlformats.org/drawingml/2006/main">
            <a:r>
              <a:t>assert [is_work_time(t) for t in ["08:59:00", "09:00:00", "16:59:00", "17:00:00"]] == [False, True, True, False]</a:t>
            </a:r>
          </a:p>
          <a:p xmlns:a="http://schemas.openxmlformats.org/drawingml/2006/main">
            <a:r>
              <a:t>assert build_fixed_rows(BASE_UTC, []) == []</a:t>
            </a:r>
          </a:p>
          <a:p xmlns:a="http://schemas.openxmlformats.org/drawingml/2006/main">
            <a:r>
              <a:t>assert find_city(fixed_rows, "不存在") is None</a:t>
            </a:r>
          </a:p>
          <a:p xmlns:a="http://schemas.openxmlformats.org/drawingml/2006/main">
            <a:r>
              <a:t>assert run_world_clock(max_refresh=0, interval=0) == []</a:t>
            </a:r>
          </a:p>
          <a:p xmlns:a="http://schemas.openxmlformats.org/drawingml/2006/main">
            <a:r>
              <a:t>for bad_time in ["24:00:00", "12:60:00", "abc"]:</a:t>
            </a:r>
          </a:p>
          <a:p xmlns:a="http://schemas.openxmlformats.org/drawingml/2006/main">
            <a:r>
              <a:t>    try:</a:t>
            </a:r>
          </a:p>
          <a:p xmlns:a="http://schemas.openxmlformats.org/drawingml/2006/main">
            <a:r>
              <a:t>        judge_day_night(bad_time)</a:t>
            </a:r>
          </a:p>
          <a:p xmlns:a="http://schemas.openxmlformats.org/drawingml/2006/main">
            <a:r>
              <a:t>    except ValueError:</a:t>
            </a:r>
          </a:p>
          <a:p xmlns:a="http://schemas.openxmlformats.org/drawingml/2006/main">
            <a:r>
              <a:t>        pass</a:t>
            </a:r>
          </a:p>
          <a:p xmlns:a="http://schemas.openxmlformats.org/drawingml/2006/main">
            <a:r>
              <a:t>    else:</a:t>
            </a:r>
          </a:p>
          <a:p xmlns:a="http://schemas.openxmlformats.org/drawingml/2006/main">
            <a:r>
              <a:t>        raise AssertionError("應拒絕不合法時間")</a:t>
            </a:r>
          </a:p>
          <a:p xmlns:a="http://schemas.openxmlformats.org/drawingml/2006/main">
            <a:r>
              <a:t>if ZONE_DATA_READY:</a:t>
            </a:r>
          </a:p>
          <a:p xmlns:a="http://schemas.openxmlformats.org/drawingml/2006/main">
            <a:r>
              <a:t>    winter = build_city_rows(datetime(2026, 1, 15, 12, tzinfo=timezone.utc), cities)</a:t>
            </a:r>
          </a:p>
          <a:p xmlns:a="http://schemas.openxmlformats.org/drawingml/2006/main">
            <a:r>
              <a:t>    summer = build_city_rows(datetime(2026, 7, 15, 12, tzinfo=timezone.utc), cities)</a:t>
            </a:r>
          </a:p>
          <a:p xmlns:a="http://schemas.openxmlformats.org/drawingml/2006/main">
            <a:r>
              <a:t>    assert find_city(winter, "倫敦")["UTC偏移"] == "UTC+00:00"</a:t>
            </a:r>
          </a:p>
          <a:p xmlns:a="http://schemas.openxmlformats.org/drawingml/2006/main">
            <a:r>
              <a:t>    assert find_city(summer, "倫敦")["UTC偏移"] == "UTC+01:00"</a:t>
            </a:r>
          </a:p>
          <a:p xmlns:a="http://schemas.openxmlformats.org/drawingml/2006/main">
            <a:r>
              <a:t>    assert find_city(winter, "紐約")["UTC偏移"] == "UTC-05:00"</a:t>
            </a:r>
          </a:p>
          <a:p xmlns:a="http://schemas.openxmlformats.org/drawingml/2006/main">
            <a:r>
              <a:t>    assert find_city(summer, "紐約")["UTC偏移"] == "UTC-04:00"</a:t>
            </a:r>
          </a:p>
          <a:p xmlns:a="http://schemas.openxmlformats.org/drawingml/2006/main">
            <a:r>
              <a:t>    assert find_city(winter, "雪梨")["UTC偏移"] == "UTC+11:00"</a:t>
            </a:r>
          </a:p>
          <a:p xmlns:a="http://schemas.openxmlformats.org/drawingml/2006/main">
            <a:r>
              <a:t>    assert find_city(summer, "雪梨")["UTC偏移"] == "UTC+10:00"</a:t>
            </a:r>
          </a:p>
          <a:p xmlns:a="http://schemas.openxmlformats.org/drawingml/2006/main">
            <a:r>
              <a:t>    assert find_city(exercise_rows, "印度")["UTC偏移"] == "UTC+05:30"</a:t>
            </a:r>
          </a:p>
          <a:p xmlns:a="http://schemas.openxmlformats.org/drawingml/2006/main">
            <a:r>
              <a:t>    print("城市時區及冬夏日期測試通過。")</a:t>
            </a:r>
          </a:p>
          <a:p xmlns:a="http://schemas.openxmlformats.org/drawingml/2006/main">
            <a:r>
              <a:t>else:</a:t>
            </a:r>
          </a:p>
          <a:p xmlns:a="http://schemas.openxmlformats.org/drawingml/2006/main">
            <a:r>
              <a:t>    print("尚無時區資料，略過城市時區測試。")</a:t>
            </a:r>
          </a:p>
          <a:p xmlns:a="http://schemas.openxmlformats.org/drawingml/2006/main">
            <a:r>
              <a:t>print("固定偏移、跨日、日夜邊界、查詢與停止條件檢查通過。")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對應教材：第3–9章 綜合檢核</a:t>
            </a:r>
          </a:p>
          <a:p xmlns:a="http://schemas.openxmlformats.org/drawingml/2006/main">
            <a:r>
              <a:t>對應範例：Python_世界時鐘.ipynb T10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來源：Python_世界時鐘.ipynb，第25個儲存格。L行號相對於該儲存格，視覺折行不改變原碼。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assert fixed_local(BASE_UTC, 480).strftime("%Y-%m-%d %H:%M") == "2026-01-16 04:30"</a:t>
            </a:r>
          </a:p>
          <a:p xmlns:a="http://schemas.openxmlformats.org/drawingml/2006/main">
            <a:r>
              <a:t>early = datetime(2026, 1, 15, 1, 15, tzinfo=timezone.utc)</a:t>
            </a:r>
          </a:p>
          <a:p xmlns:a="http://schemas.openxmlformats.org/drawingml/2006/main">
            <a:r>
              <a:t>assert fixed_local(early, -240).strftime("%Y-%m-%d %H:%M") == "2026-01-14 21:15"</a:t>
            </a:r>
          </a:p>
          <a:p xmlns:a="http://schemas.openxmlformats.org/drawingml/2006/main">
            <a:r>
              <a:t>assert format_offset(330) == "UTC+05:30"</a:t>
            </a:r>
          </a:p>
          <a:p xmlns:a="http://schemas.openxmlformats.org/drawingml/2006/main">
            <a:r>
              <a:t>assert format_offset(-210) == "UTC-03:30"</a:t>
            </a:r>
          </a:p>
          <a:p xmlns:a="http://schemas.openxmlformats.org/drawingml/2006/main">
            <a:r>
              <a:t>assert [judge_day_night(t) for t in ["05:59:59", "06:00:00", "17:59:59", "18:00:00"]] == ["晚上", "白天", "白天", "晚上"]</a:t>
            </a:r>
          </a:p>
          <a:p xmlns:a="http://schemas.openxmlformats.org/drawingml/2006/main">
            <a:r>
              <a:t>assert [is_work_time(t) for t in ["08:59:00", "09:00:00", "16:59:00", "17:00:00"]] == [False, True, True, False]</a:t>
            </a:r>
          </a:p>
          <a:p xmlns:a="http://schemas.openxmlformats.org/drawingml/2006/main">
            <a:r>
              <a:t>assert build_fixed_rows(BASE_UTC, []) == []</a:t>
            </a:r>
          </a:p>
          <a:p xmlns:a="http://schemas.openxmlformats.org/drawingml/2006/main">
            <a:r>
              <a:t>assert find_city(fixed_rows, "不存在") is None</a:t>
            </a:r>
          </a:p>
          <a:p xmlns:a="http://schemas.openxmlformats.org/drawingml/2006/main">
            <a:r>
              <a:t>assert run_world_clock(max_refresh=0, interval=0) == []</a:t>
            </a:r>
          </a:p>
          <a:p xmlns:a="http://schemas.openxmlformats.org/drawingml/2006/main">
            <a:r>
              <a:t>for bad_time in ["24:00:00", "12:60:00", "abc"]:</a:t>
            </a:r>
          </a:p>
          <a:p xmlns:a="http://schemas.openxmlformats.org/drawingml/2006/main">
            <a:r>
              <a:t>    try:</a:t>
            </a:r>
          </a:p>
          <a:p xmlns:a="http://schemas.openxmlformats.org/drawingml/2006/main">
            <a:r>
              <a:t>        judge_day_night(bad_time)</a:t>
            </a:r>
          </a:p>
          <a:p xmlns:a="http://schemas.openxmlformats.org/drawingml/2006/main">
            <a:r>
              <a:t>    except ValueError:</a:t>
            </a:r>
          </a:p>
          <a:p xmlns:a="http://schemas.openxmlformats.org/drawingml/2006/main">
            <a:r>
              <a:t>        pass</a:t>
            </a:r>
          </a:p>
          <a:p xmlns:a="http://schemas.openxmlformats.org/drawingml/2006/main">
            <a:r>
              <a:t>    else:</a:t>
            </a:r>
          </a:p>
          <a:p xmlns:a="http://schemas.openxmlformats.org/drawingml/2006/main">
            <a:r>
              <a:t>        raise AssertionError("應拒絕不合法時間")</a:t>
            </a:r>
          </a:p>
          <a:p xmlns:a="http://schemas.openxmlformats.org/drawingml/2006/main">
            <a:r>
              <a:t>if ZONE_DATA_READY:</a:t>
            </a:r>
          </a:p>
          <a:p xmlns:a="http://schemas.openxmlformats.org/drawingml/2006/main">
            <a:r>
              <a:t>    winter = build_city_rows(datetime(2026, 1, 15, 12, tzinfo=timezone.utc), cities)</a:t>
            </a:r>
          </a:p>
          <a:p xmlns:a="http://schemas.openxmlformats.org/drawingml/2006/main">
            <a:r>
              <a:t>    summer = build_city_rows(datetime(2026, 7, 15, 12, tzinfo=timezone.utc), cities)</a:t>
            </a:r>
          </a:p>
          <a:p xmlns:a="http://schemas.openxmlformats.org/drawingml/2006/main">
            <a:r>
              <a:t>    assert find_city(winter, "倫敦")["UTC偏移"] == "UTC+00:00"</a:t>
            </a:r>
          </a:p>
          <a:p xmlns:a="http://schemas.openxmlformats.org/drawingml/2006/main">
            <a:r>
              <a:t>    assert find_city(summer, "倫敦")["UTC偏移"] == "UTC+01:00"</a:t>
            </a:r>
          </a:p>
          <a:p xmlns:a="http://schemas.openxmlformats.org/drawingml/2006/main">
            <a:r>
              <a:t>    assert find_city(winter, "紐約")["UTC偏移"] == "UTC-05:00"</a:t>
            </a:r>
          </a:p>
          <a:p xmlns:a="http://schemas.openxmlformats.org/drawingml/2006/main">
            <a:r>
              <a:t>    assert find_city(summer, "紐約")["UTC偏移"] == "UTC-04:00"</a:t>
            </a:r>
          </a:p>
          <a:p xmlns:a="http://schemas.openxmlformats.org/drawingml/2006/main">
            <a:r>
              <a:t>    assert find_city(winter, "雪梨")["UTC偏移"] == "UTC+11:00"</a:t>
            </a:r>
          </a:p>
          <a:p xmlns:a="http://schemas.openxmlformats.org/drawingml/2006/main">
            <a:r>
              <a:t>    assert find_city(summer, "雪梨")["UTC偏移"] == "UTC+10:00"</a:t>
            </a:r>
          </a:p>
          <a:p xmlns:a="http://schemas.openxmlformats.org/drawingml/2006/main">
            <a:r>
              <a:t>    assert find_city(exercise_rows, "印度")["UTC偏移"] == "UTC+05:30"</a:t>
            </a:r>
          </a:p>
          <a:p xmlns:a="http://schemas.openxmlformats.org/drawingml/2006/main">
            <a:r>
              <a:t>    print("城市時區及冬夏日期測試通過。")</a:t>
            </a:r>
          </a:p>
          <a:p xmlns:a="http://schemas.openxmlformats.org/drawingml/2006/main">
            <a:r>
              <a:t>else:</a:t>
            </a:r>
          </a:p>
          <a:p xmlns:a="http://schemas.openxmlformats.org/drawingml/2006/main">
            <a:r>
              <a:t>    print("尚無時區資料，略過城市時區測試。")</a:t>
            </a:r>
          </a:p>
          <a:p xmlns:a="http://schemas.openxmlformats.org/drawingml/2006/main">
            <a:r>
              <a:t>print("固定偏移、跨日、日夜邊界、查詢與停止條件檢查通過。")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對應教材：第3–9章 綜合檢核</a:t>
            </a:r>
          </a:p>
          <a:p xmlns:a="http://schemas.openxmlformats.org/drawingml/2006/main">
            <a:r>
              <a:t>對應範例：Python_世界時鐘.ipynb T10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來源：Python_世界時鐘.ipynb，第25個儲存格。L行號相對於該儲存格，視覺折行不改變原碼。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assert fixed_local(BASE_UTC, 480).strftime("%Y-%m-%d %H:%M") == "2026-01-16 04:30"</a:t>
            </a:r>
          </a:p>
          <a:p xmlns:a="http://schemas.openxmlformats.org/drawingml/2006/main">
            <a:r>
              <a:t>early = datetime(2026, 1, 15, 1, 15, tzinfo=timezone.utc)</a:t>
            </a:r>
          </a:p>
          <a:p xmlns:a="http://schemas.openxmlformats.org/drawingml/2006/main">
            <a:r>
              <a:t>assert fixed_local(early, -240).strftime("%Y-%m-%d %H:%M") == "2026-01-14 21:15"</a:t>
            </a:r>
          </a:p>
          <a:p xmlns:a="http://schemas.openxmlformats.org/drawingml/2006/main">
            <a:r>
              <a:t>assert format_offset(330) == "UTC+05:30"</a:t>
            </a:r>
          </a:p>
          <a:p xmlns:a="http://schemas.openxmlformats.org/drawingml/2006/main">
            <a:r>
              <a:t>assert format_offset(-210) == "UTC-03:30"</a:t>
            </a:r>
          </a:p>
          <a:p xmlns:a="http://schemas.openxmlformats.org/drawingml/2006/main">
            <a:r>
              <a:t>assert [judge_day_night(t) for t in ["05:59:59", "06:00:00", "17:59:59", "18:00:00"]] == ["晚上", "白天", "白天", "晚上"]</a:t>
            </a:r>
          </a:p>
          <a:p xmlns:a="http://schemas.openxmlformats.org/drawingml/2006/main">
            <a:r>
              <a:t>assert [is_work_time(t) for t in ["08:59:00", "09:00:00", "16:59:00", "17:00:00"]] == [False, True, True, False]</a:t>
            </a:r>
          </a:p>
          <a:p xmlns:a="http://schemas.openxmlformats.org/drawingml/2006/main">
            <a:r>
              <a:t>assert build_fixed_rows(BASE_UTC, []) == []</a:t>
            </a:r>
          </a:p>
          <a:p xmlns:a="http://schemas.openxmlformats.org/drawingml/2006/main">
            <a:r>
              <a:t>assert find_city(fixed_rows, "不存在") is None</a:t>
            </a:r>
          </a:p>
          <a:p xmlns:a="http://schemas.openxmlformats.org/drawingml/2006/main">
            <a:r>
              <a:t>assert run_world_clock(max_refresh=0, interval=0) == []</a:t>
            </a:r>
          </a:p>
          <a:p xmlns:a="http://schemas.openxmlformats.org/drawingml/2006/main">
            <a:r>
              <a:t>for bad_time in ["24:00:00", "12:60:00", "abc"]:</a:t>
            </a:r>
          </a:p>
          <a:p xmlns:a="http://schemas.openxmlformats.org/drawingml/2006/main">
            <a:r>
              <a:t>    try:</a:t>
            </a:r>
          </a:p>
          <a:p xmlns:a="http://schemas.openxmlformats.org/drawingml/2006/main">
            <a:r>
              <a:t>        judge_day_night(bad_time)</a:t>
            </a:r>
          </a:p>
          <a:p xmlns:a="http://schemas.openxmlformats.org/drawingml/2006/main">
            <a:r>
              <a:t>    except ValueError:</a:t>
            </a:r>
          </a:p>
          <a:p xmlns:a="http://schemas.openxmlformats.org/drawingml/2006/main">
            <a:r>
              <a:t>        pass</a:t>
            </a:r>
          </a:p>
          <a:p xmlns:a="http://schemas.openxmlformats.org/drawingml/2006/main">
            <a:r>
              <a:t>    else:</a:t>
            </a:r>
          </a:p>
          <a:p xmlns:a="http://schemas.openxmlformats.org/drawingml/2006/main">
            <a:r>
              <a:t>        raise AssertionError("應拒絕不合法時間")</a:t>
            </a:r>
          </a:p>
          <a:p xmlns:a="http://schemas.openxmlformats.org/drawingml/2006/main">
            <a:r>
              <a:t>if ZONE_DATA_READY:</a:t>
            </a:r>
          </a:p>
          <a:p xmlns:a="http://schemas.openxmlformats.org/drawingml/2006/main">
            <a:r>
              <a:t>    winter = build_city_rows(datetime(2026, 1, 15, 12, tzinfo=timezone.utc), cities)</a:t>
            </a:r>
          </a:p>
          <a:p xmlns:a="http://schemas.openxmlformats.org/drawingml/2006/main">
            <a:r>
              <a:t>    summer = build_city_rows(datetime(2026, 7, 15, 12, tzinfo=timezone.utc), cities)</a:t>
            </a:r>
          </a:p>
          <a:p xmlns:a="http://schemas.openxmlformats.org/drawingml/2006/main">
            <a:r>
              <a:t>    assert find_city(winter, "倫敦")["UTC偏移"] == "UTC+00:00"</a:t>
            </a:r>
          </a:p>
          <a:p xmlns:a="http://schemas.openxmlformats.org/drawingml/2006/main">
            <a:r>
              <a:t>    assert find_city(summer, "倫敦")["UTC偏移"] == "UTC+01:00"</a:t>
            </a:r>
          </a:p>
          <a:p xmlns:a="http://schemas.openxmlformats.org/drawingml/2006/main">
            <a:r>
              <a:t>    assert find_city(winter, "紐約")["UTC偏移"] == "UTC-05:00"</a:t>
            </a:r>
          </a:p>
          <a:p xmlns:a="http://schemas.openxmlformats.org/drawingml/2006/main">
            <a:r>
              <a:t>    assert find_city(summer, "紐約")["UTC偏移"] == "UTC-04:00"</a:t>
            </a:r>
          </a:p>
          <a:p xmlns:a="http://schemas.openxmlformats.org/drawingml/2006/main">
            <a:r>
              <a:t>    assert find_city(winter, "雪梨")["UTC偏移"] == "UTC+11:00"</a:t>
            </a:r>
          </a:p>
          <a:p xmlns:a="http://schemas.openxmlformats.org/drawingml/2006/main">
            <a:r>
              <a:t>    assert find_city(summer, "雪梨")["UTC偏移"] == "UTC+10:00"</a:t>
            </a:r>
          </a:p>
          <a:p xmlns:a="http://schemas.openxmlformats.org/drawingml/2006/main">
            <a:r>
              <a:t>    assert find_city(exercise_rows, "印度")["UTC偏移"] == "UTC+05:30"</a:t>
            </a:r>
          </a:p>
          <a:p xmlns:a="http://schemas.openxmlformats.org/drawingml/2006/main">
            <a:r>
              <a:t>    print("城市時區及冬夏日期測試通過。")</a:t>
            </a:r>
          </a:p>
          <a:p xmlns:a="http://schemas.openxmlformats.org/drawingml/2006/main">
            <a:r>
              <a:t>else:</a:t>
            </a:r>
          </a:p>
          <a:p xmlns:a="http://schemas.openxmlformats.org/drawingml/2006/main">
            <a:r>
              <a:t>    print("尚無時區資料，略過城市時區測試。")</a:t>
            </a:r>
          </a:p>
          <a:p xmlns:a="http://schemas.openxmlformats.org/drawingml/2006/main">
            <a:r>
              <a:t>print("固定偏移、跨日、日夜邊界、查詢與停止條件檢查通過。")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對應教材：第3–9章 綜合檢核</a:t>
            </a:r>
          </a:p>
          <a:p xmlns:a="http://schemas.openxmlformats.org/drawingml/2006/main">
            <a:r>
              <a:t>對應範例：Python_世界時鐘.ipynb T10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以下是對應Notebook已執行的實際輸出。</a:t>
            </a:r>
          </a:p>
          <a:p xmlns:a="http://schemas.openxmlformats.org/drawingml/2006/main">
            <a:r>
              <a:t>本次完成0輪更新。</a:t>
            </a:r>
          </a:p>
          <a:p xmlns:a="http://schemas.openxmlformats.org/drawingml/2006/main">
            <a:r>
              <a:t>城市時區及冬夏日期測試通過。</a:t>
            </a:r>
          </a:p>
          <a:p xmlns:a="http://schemas.openxmlformats.org/drawingml/2006/main">
            <a:r>
              <a:t>固定偏移、跨日、日夜邊界、查詢與停止條件檢查通過。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對應教材：第3–9章 綜合檢核</a:t>
            </a:r>
          </a:p>
          <a:p xmlns:a="http://schemas.openxmlformats.org/drawingml/2006/main">
            <a:r>
              <a:t>對應範例：Python_世界時鐘.ipynb T10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['T0', '作品拆解與可重現資料', 3, '第2章 程式結構與輸出／第3章 變數']</a:t>
            </a:r>
          </a:p>
          <a:p xmlns:a="http://schemas.openxmlformats.org/drawingml/2006/main">
            <a:r>
              <a:t>['T1', '時間運算與跨日', 7, '第3章 運算式與運算子']</a:t>
            </a:r>
          </a:p>
          <a:p xmlns:a="http://schemas.openxmlformats.org/drawingml/2006/main">
            <a:r>
              <a:t>['T2', '判斷式與日夜邊界', 13, '第4章 條件判斷']</a:t>
            </a:r>
          </a:p>
          <a:p xmlns:a="http://schemas.openxmlformats.org/drawingml/2006/main">
            <a:r>
              <a:t>['T3', '函式、參數與回傳值', 19, '第6章 函數']</a:t>
            </a:r>
          </a:p>
          <a:p xmlns:a="http://schemas.openxmlformats.org/drawingml/2006/main">
            <a:r>
              <a:t>['T4', '城市陣列、索引與資料配對', 24, '第7章 字串與容器型態']</a:t>
            </a:r>
          </a:p>
          <a:p xmlns:a="http://schemas.openxmlformats.org/drawingml/2006/main">
            <a:r>
              <a:t>['T5', 'for走訪與表格資料', 29, '第5章 重複執行程式碼']</a:t>
            </a:r>
          </a:p>
          <a:p xmlns:a="http://schemas.openxmlformats.org/drawingml/2006/main">
            <a:r>
              <a:t>['T6', 'while更新、計數與結束', 39, '第5章 重複執行程式碼']</a:t>
            </a:r>
          </a:p>
          <a:p xmlns:a="http://schemas.openxmlformats.org/drawingml/2006/main">
            <a:r>
              <a:t>['T7', '城市時區與夏令時間', 46, '第9章 模組與套件／應用延伸']</a:t>
            </a:r>
          </a:p>
          <a:p xmlns:a="http://schemas.openxmlformats.org/drawingml/2006/main">
            <a:r>
              <a:t>['T8', '完整世界時鐘與DataFrame', 52, '第6章 函數／第7章 容器／應用整合']</a:t>
            </a:r>
          </a:p>
          <a:p xmlns:a="http://schemas.openxmlformats.org/drawingml/2006/main">
            <a:r>
              <a:t>['T9', '隨堂練習與參考解答', 60, '第3–7章 綜合練習']</a:t>
            </a:r>
          </a:p>
          <a:p xmlns:a="http://schemas.openxmlformats.org/drawingml/2006/main">
            <a:r>
              <a:t>['T10', '測試與原程式對照', 64, '第3–9章 綜合檢核']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對應教材：教學導航</a:t>
            </a:r>
          </a:p>
          <a:p xmlns:a="http://schemas.openxmlformats.org/drawingml/2006/main">
            <a:r>
              <a:t>對應範例：Python_世界時鐘.ipynb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T6  while更新、計數與結束  → 第39頁</a:t>
            </a:r>
          </a:p>
          <a:p xmlns:a="http://schemas.openxmlformats.org/drawingml/2006/main">
            <a:r>
              <a:t>T7  城市時區與夏令時間  → 第46頁</a:t>
            </a:r>
          </a:p>
          <a:p xmlns:a="http://schemas.openxmlformats.org/drawingml/2006/main">
            <a:r>
              <a:t>T8  完整世界時鐘與DataFrame  → 第52頁</a:t>
            </a:r>
          </a:p>
          <a:p xmlns:a="http://schemas.openxmlformats.org/drawingml/2006/main">
            <a:r>
              <a:t>T9  隨堂練習與參考解答  → 第60頁</a:t>
            </a:r>
          </a:p>
          <a:p xmlns:a="http://schemas.openxmlformats.org/drawingml/2006/main">
            <a:r>
              <a:t>T10  測試與原程式對照  → 第64頁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對應教材：教學導航</a:t>
            </a:r>
          </a:p>
          <a:p xmlns:a="http://schemas.openxmlformats.org/drawingml/2006/main">
            <a:r>
              <a:t>對應範例：Python_世界時鐘.ipynb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Py01_基本認識(1).pptx</a:t>
            </a:r>
          </a:p>
          <a:p xmlns:a="http://schemas.openxmlformats.org/drawingml/2006/main">
            <a:r>
              <a:t>Py01_基本認識(2).pptx</a:t>
            </a:r>
          </a:p>
          <a:p xmlns:a="http://schemas.openxmlformats.org/drawingml/2006/main">
            <a:r>
              <a:t>Py01_基本認識(3).pptx</a:t>
            </a:r>
          </a:p>
          <a:p xmlns:a="http://schemas.openxmlformats.org/drawingml/2006/main">
            <a:r>
              <a:t>Py02_選擇敘述與迴圈(1).pptx</a:t>
            </a:r>
          </a:p>
          <a:p xmlns:a="http://schemas.openxmlformats.org/drawingml/2006/main">
            <a:r>
              <a:t>Py02_選擇敘述與迴圈(2).pptx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對應教材：出處說明</a:t>
            </a:r>
          </a:p>
          <a:p xmlns:a="http://schemas.openxmlformats.org/drawingml/2006/main">
            <a:r>
              <a:t>對應範例：Python_世界時鐘.ipynb</a:t>
            </a:r>
          </a:p>
          <a:p xmlns:a="http://schemas.openxmlformats.org/drawingml/2006/main">
            <a:r>
              <a:t>新編講授與程式說明：2026-10-23。原PPT選頁依頁面來源標示。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243ab595814b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5c9fa1475745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4b21bb75514a2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ed981eb3bb4f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4422a114ed49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6f2b8afddb45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751AAF-BFE8-4403-93CE-C80BF2C6EC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25A8A59-3433-4B47-8DB8-932F363B55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1824C95-7982-4959-A740-0A865E2072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2704CA-E614-442A-B116-8CCCCD56B6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AEAE056-75F7-4D5C-94BB-52F09B5C6F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FF9CCA-F867-4AAD-86C2-50AB58B2C9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AAB6B5-ED1B-4620-8051-61286DBFF8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DD5B701-6F95-481D-9E28-AF1DEFBEB1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EEB425-DF43-48D5-AA4B-BDD8C1176D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16F33D-999B-4303-9116-62A5BDABA0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68d72a96f149c6" /><Relationship Type="http://schemas.openxmlformats.org/officeDocument/2006/relationships/slideLayout" Target="/ppt/slideLayouts/slideLayout1.xml" Id="R885127b69ab14480" /><Relationship Type="http://schemas.openxmlformats.org/officeDocument/2006/relationships/slideLayout" Target="/ppt/slideLayouts/slideLayout2.xml" Id="Rfc93114955cb435e" /><Relationship Type="http://schemas.openxmlformats.org/officeDocument/2006/relationships/slideLayout" Target="/ppt/slideLayouts/slideLayout3.xml" Id="R54ed8db3f0114ffe" /><Relationship Type="http://schemas.openxmlformats.org/officeDocument/2006/relationships/slideLayout" Target="/ppt/slideLayouts/slideLayout4.xml" Id="Rc73b5c093ffd4cd8" /><Relationship Type="http://schemas.openxmlformats.org/officeDocument/2006/relationships/slideLayout" Target="/ppt/slideLayouts/slideLayout5.xml" Id="R608d9b01b9b94350" /><Relationship Type="http://schemas.openxmlformats.org/officeDocument/2006/relationships/slideLayout" Target="/ppt/slideLayouts/slideLayout6.xml" Id="R141d55373c1e48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5127b69ab14480"/>
    <p:sldLayoutId xmlns:r="http://schemas.openxmlformats.org/officeDocument/2006/relationships" id="2147483650" r:id="Rfc93114955cb435e"/>
    <p:sldLayoutId xmlns:r="http://schemas.openxmlformats.org/officeDocument/2006/relationships" id="2147483651" r:id="R54ed8db3f0114ffe"/>
    <p:sldLayoutId xmlns:r="http://schemas.openxmlformats.org/officeDocument/2006/relationships" id="2147483652" r:id="Rc73b5c093ffd4cd8"/>
    <p:sldLayoutId xmlns:r="http://schemas.openxmlformats.org/officeDocument/2006/relationships" id="2147483653" r:id="R608d9b01b9b94350"/>
    <p:sldLayoutId xmlns:r="http://schemas.openxmlformats.org/officeDocument/2006/relationships" id="2147483654" r:id="R141d55373c1e48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3c45f818aa4502" /><Relationship Type="http://schemas.openxmlformats.org/officeDocument/2006/relationships/notesSlide" Target="/ppt/notesSlides/notesSlide1.xml" Id="R80f8df92c8a947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d1a75b204b4e39" /><Relationship Type="http://schemas.openxmlformats.org/officeDocument/2006/relationships/notesSlide" Target="/ppt/notesSlides/notesSlide2.xml" Id="Reacd2befed8141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206fc02c5a4140" /><Relationship Type="http://schemas.openxmlformats.org/officeDocument/2006/relationships/notesSlide" Target="/ppt/notesSlides/notesSlide3.xml" Id="R4c4e60e4ab3248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2b13889f43446e" /><Relationship Type="http://schemas.openxmlformats.org/officeDocument/2006/relationships/image" Target="/ppt/media/image.png" Id="R4c7c86554dec45ac" /><Relationship Type="http://schemas.openxmlformats.org/officeDocument/2006/relationships/notesSlide" Target="/ppt/notesSlides/notesSlide4.xml" Id="Re364161bfad74c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c675acb529485e" /><Relationship Type="http://schemas.openxmlformats.org/officeDocument/2006/relationships/notesSlide" Target="/ppt/notesSlides/notesSlide5.xml" Id="R02b27aecc55b44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84b351b5ee4461" /><Relationship Type="http://schemas.openxmlformats.org/officeDocument/2006/relationships/notesSlide" Target="/ppt/notesSlides/notesSlide6.xml" Id="R04d4198e295246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24cefff76449c9" /><Relationship Type="http://schemas.openxmlformats.org/officeDocument/2006/relationships/notesSlide" Target="/ppt/notesSlides/notesSlide7.xml" Id="Rc580f1e3997046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59f099566641c0" /><Relationship Type="http://schemas.openxmlformats.org/officeDocument/2006/relationships/image" Target="/ppt/media/image2.png" Id="R2e33512ad5fb46aa" /><Relationship Type="http://schemas.openxmlformats.org/officeDocument/2006/relationships/notesSlide" Target="/ppt/notesSlides/notesSlide8.xml" Id="Rb68bac9804d74e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063b916af14265" /><Relationship Type="http://schemas.openxmlformats.org/officeDocument/2006/relationships/image" Target="/ppt/media/image3.png" Id="R0f45f92dcbbc4635" /><Relationship Type="http://schemas.openxmlformats.org/officeDocument/2006/relationships/notesSlide" Target="/ppt/notesSlides/notesSlide9.xml" Id="Rba347faec7714d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008829904049e2" /><Relationship Type="http://schemas.openxmlformats.org/officeDocument/2006/relationships/notesSlide" Target="/ppt/notesSlides/notesSlide10.xml" Id="R6c5ef983663c47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d0a9f28ac744ee" /><Relationship Type="http://schemas.openxmlformats.org/officeDocument/2006/relationships/notesSlide" Target="/ppt/notesSlides/notesSlide11.xml" Id="R1f0f64e88f7541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e16adb3a674b36" /><Relationship Type="http://schemas.openxmlformats.org/officeDocument/2006/relationships/notesSlide" Target="/ppt/notesSlides/notesSlide12.xml" Id="R63139cd7022745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1cbc3c9efd4589" /><Relationship Type="http://schemas.openxmlformats.org/officeDocument/2006/relationships/notesSlide" Target="/ppt/notesSlides/notesSlide13.xml" Id="Rce426e3cd85b41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16c5febfb44909" /><Relationship Type="http://schemas.openxmlformats.org/officeDocument/2006/relationships/image" Target="/ppt/media/image4.png" Id="Rb6e71bb7d5f24bfe" /><Relationship Type="http://schemas.openxmlformats.org/officeDocument/2006/relationships/notesSlide" Target="/ppt/notesSlides/notesSlide14.xml" Id="Ra241964f8fcc402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364701429348a6" /><Relationship Type="http://schemas.openxmlformats.org/officeDocument/2006/relationships/image" Target="/ppt/media/image5.png" Id="R9efaded1a5424c0d" /><Relationship Type="http://schemas.openxmlformats.org/officeDocument/2006/relationships/notesSlide" Target="/ppt/notesSlides/notesSlide15.xml" Id="Re9d8d6f3b7a94aa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57eb6d112a46c2" /><Relationship Type="http://schemas.openxmlformats.org/officeDocument/2006/relationships/image" Target="/ppt/media/image6.png" Id="Rdfdc6290044045f0" /><Relationship Type="http://schemas.openxmlformats.org/officeDocument/2006/relationships/notesSlide" Target="/ppt/notesSlides/notesSlide16.xml" Id="Re6c4fd2678084cd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e77d0d63084185" /><Relationship Type="http://schemas.openxmlformats.org/officeDocument/2006/relationships/notesSlide" Target="/ppt/notesSlides/notesSlide17.xml" Id="R3064db3f2f7e4eb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0cedbb48004c6f" /><Relationship Type="http://schemas.openxmlformats.org/officeDocument/2006/relationships/notesSlide" Target="/ppt/notesSlides/notesSlide18.xml" Id="R2a0966ac829f414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284921930b4d2c" /><Relationship Type="http://schemas.openxmlformats.org/officeDocument/2006/relationships/notesSlide" Target="/ppt/notesSlides/notesSlide19.xml" Id="R79d997167797452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845c4e28fd4fa1" /><Relationship Type="http://schemas.openxmlformats.org/officeDocument/2006/relationships/notesSlide" Target="/ppt/notesSlides/notesSlide20.xml" Id="R84a43d4a02664f1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ccf3c2141d4794" /><Relationship Type="http://schemas.openxmlformats.org/officeDocument/2006/relationships/notesSlide" Target="/ppt/notesSlides/notesSlide21.xml" Id="Re7dfa0dfe2e1411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0b402edd254f85" /><Relationship Type="http://schemas.openxmlformats.org/officeDocument/2006/relationships/notesSlide" Target="/ppt/notesSlides/notesSlide22.xml" Id="Rd535b63a1ff445e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08d0c120974496" /><Relationship Type="http://schemas.openxmlformats.org/officeDocument/2006/relationships/notesSlide" Target="/ppt/notesSlides/notesSlide23.xml" Id="R9734e7138ca3495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090ae13c5343de" /><Relationship Type="http://schemas.openxmlformats.org/officeDocument/2006/relationships/notesSlide" Target="/ppt/notesSlides/notesSlide24.xml" Id="R34f89dea1936465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422ab316d84321" /><Relationship Type="http://schemas.openxmlformats.org/officeDocument/2006/relationships/image" Target="/ppt/media/image7.png" Id="Rf48302e1f8414418" /><Relationship Type="http://schemas.openxmlformats.org/officeDocument/2006/relationships/notesSlide" Target="/ppt/notesSlides/notesSlide25.xml" Id="R122394457eeb4d9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3e9345769641fd" /><Relationship Type="http://schemas.openxmlformats.org/officeDocument/2006/relationships/notesSlide" Target="/ppt/notesSlides/notesSlide26.xml" Id="R453d299865ea470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9363f9d7ae40ac" /><Relationship Type="http://schemas.openxmlformats.org/officeDocument/2006/relationships/notesSlide" Target="/ppt/notesSlides/notesSlide27.xml" Id="R875f18e35c21496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efd3a78b9a4f35" /><Relationship Type="http://schemas.openxmlformats.org/officeDocument/2006/relationships/notesSlide" Target="/ppt/notesSlides/notesSlide28.xml" Id="Rb6466b59cd754c5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f65ea60d464fc2" /><Relationship Type="http://schemas.openxmlformats.org/officeDocument/2006/relationships/notesSlide" Target="/ppt/notesSlides/notesSlide29.xml" Id="R497fc9509afc454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0ebadf89f448e4" /><Relationship Type="http://schemas.openxmlformats.org/officeDocument/2006/relationships/image" Target="/ppt/media/image8.png" Id="R515f7c0538ce4a7a" /><Relationship Type="http://schemas.openxmlformats.org/officeDocument/2006/relationships/notesSlide" Target="/ppt/notesSlides/notesSlide30.xml" Id="R2f49277d8efa4b7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ce7da7e3874e55" /><Relationship Type="http://schemas.openxmlformats.org/officeDocument/2006/relationships/image" Target="/ppt/media/image9.png" Id="R3fb8f5ff77714aca" /><Relationship Type="http://schemas.openxmlformats.org/officeDocument/2006/relationships/notesSlide" Target="/ppt/notesSlides/notesSlide31.xml" Id="Rb358ef080781493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41706496594b66" /><Relationship Type="http://schemas.openxmlformats.org/officeDocument/2006/relationships/image" Target="/ppt/media/image10.png" Id="R6be993667c914538" /><Relationship Type="http://schemas.openxmlformats.org/officeDocument/2006/relationships/notesSlide" Target="/ppt/notesSlides/notesSlide32.xml" Id="R3a679e388ed04bc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040bd5c82e4f7f" /><Relationship Type="http://schemas.openxmlformats.org/officeDocument/2006/relationships/image" Target="/ppt/media/image11.png" Id="Rad9b5ed2d77f46a5" /><Relationship Type="http://schemas.openxmlformats.org/officeDocument/2006/relationships/notesSlide" Target="/ppt/notesSlides/notesSlide33.xml" Id="R48ddcad1069c425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f581a93e174229" /><Relationship Type="http://schemas.openxmlformats.org/officeDocument/2006/relationships/image" Target="/ppt/media/image12.png" Id="Re7190b7502bd4f95" /><Relationship Type="http://schemas.openxmlformats.org/officeDocument/2006/relationships/notesSlide" Target="/ppt/notesSlides/notesSlide34.xml" Id="R62c39311c3e84dd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897dd51ea541ee" /><Relationship Type="http://schemas.openxmlformats.org/officeDocument/2006/relationships/notesSlide" Target="/ppt/notesSlides/notesSlide35.xml" Id="R0376b1503d064e9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4748967f264736" /><Relationship Type="http://schemas.openxmlformats.org/officeDocument/2006/relationships/notesSlide" Target="/ppt/notesSlides/notesSlide36.xml" Id="R641a808ed79b492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83db89e0344375" /><Relationship Type="http://schemas.openxmlformats.org/officeDocument/2006/relationships/notesSlide" Target="/ppt/notesSlides/notesSlide37.xml" Id="R1469859d2381409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0c7a759f994c90" /><Relationship Type="http://schemas.openxmlformats.org/officeDocument/2006/relationships/notesSlide" Target="/ppt/notesSlides/notesSlide38.xml" Id="R1c3cafebd329410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fb339c77704812" /><Relationship Type="http://schemas.openxmlformats.org/officeDocument/2006/relationships/notesSlide" Target="/ppt/notesSlides/notesSlide39.xml" Id="R90098a1dd45b4f2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50cfbe70cd4aed" /><Relationship Type="http://schemas.openxmlformats.org/officeDocument/2006/relationships/image" Target="/ppt/media/image13.png" Id="R05200e467c554621" /><Relationship Type="http://schemas.openxmlformats.org/officeDocument/2006/relationships/notesSlide" Target="/ppt/notesSlides/notesSlide40.xml" Id="Ref5f169731f446c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445d20077f4c41" /><Relationship Type="http://schemas.openxmlformats.org/officeDocument/2006/relationships/image" Target="/ppt/media/image14.png" Id="Rc0be529ee77e4a8c" /><Relationship Type="http://schemas.openxmlformats.org/officeDocument/2006/relationships/notesSlide" Target="/ppt/notesSlides/notesSlide41.xml" Id="Re29635e5a71245d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ad1085a4cc4b85" /><Relationship Type="http://schemas.openxmlformats.org/officeDocument/2006/relationships/image" Target="/ppt/media/image15.png" Id="R0aac5ee7c0274ed7" /><Relationship Type="http://schemas.openxmlformats.org/officeDocument/2006/relationships/notesSlide" Target="/ppt/notesSlides/notesSlide42.xml" Id="Rff2d48e27c204c1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28efd730a041f4" /><Relationship Type="http://schemas.openxmlformats.org/officeDocument/2006/relationships/image" Target="/ppt/media/image16.png" Id="R6618ba88c4264600" /><Relationship Type="http://schemas.openxmlformats.org/officeDocument/2006/relationships/notesSlide" Target="/ppt/notesSlides/notesSlide43.xml" Id="R2ae2df260b7b4df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a881f2ac1b473f" /><Relationship Type="http://schemas.openxmlformats.org/officeDocument/2006/relationships/notesSlide" Target="/ppt/notesSlides/notesSlide44.xml" Id="R124e01b0a60b43a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6079f5b1b74dcc" /><Relationship Type="http://schemas.openxmlformats.org/officeDocument/2006/relationships/notesSlide" Target="/ppt/notesSlides/notesSlide45.xml" Id="R5a704265d789461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a6fe952f994094" /><Relationship Type="http://schemas.openxmlformats.org/officeDocument/2006/relationships/notesSlide" Target="/ppt/notesSlides/notesSlide46.xml" Id="R5b292e37f4624b2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6d51352bb64b84" /><Relationship Type="http://schemas.openxmlformats.org/officeDocument/2006/relationships/notesSlide" Target="/ppt/notesSlides/notesSlide47.xml" Id="R17a5a888403b4ae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b47d0ca0ca404d" /><Relationship Type="http://schemas.openxmlformats.org/officeDocument/2006/relationships/notesSlide" Target="/ppt/notesSlides/notesSlide48.xml" Id="R95b72a61751f438d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12daf4c7eb4ef3" /><Relationship Type="http://schemas.openxmlformats.org/officeDocument/2006/relationships/notesSlide" Target="/ppt/notesSlides/notesSlide49.xml" Id="Ref8f57753f324f8a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1060cb736f4849" /><Relationship Type="http://schemas.openxmlformats.org/officeDocument/2006/relationships/notesSlide" Target="/ppt/notesSlides/notesSlide50.xml" Id="R1fbf336ffcd147c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1a5191ca494b0a" /><Relationship Type="http://schemas.openxmlformats.org/officeDocument/2006/relationships/notesSlide" Target="/ppt/notesSlides/notesSlide51.xml" Id="R0ebd92f986794f37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9971fb6b084c2a" /><Relationship Type="http://schemas.openxmlformats.org/officeDocument/2006/relationships/notesSlide" Target="/ppt/notesSlides/notesSlide52.xml" Id="Raab5d5c991724688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f02a5c592f430a" /><Relationship Type="http://schemas.openxmlformats.org/officeDocument/2006/relationships/notesSlide" Target="/ppt/notesSlides/notesSlide53.xml" Id="R20347ee698724ce4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97f02d6daa4487" /><Relationship Type="http://schemas.openxmlformats.org/officeDocument/2006/relationships/notesSlide" Target="/ppt/notesSlides/notesSlide54.xml" Id="R63bf8a5fae014ebf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ed341676f945c1" /><Relationship Type="http://schemas.openxmlformats.org/officeDocument/2006/relationships/notesSlide" Target="/ppt/notesSlides/notesSlide55.xml" Id="R74743bb9b72f44b2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2adc60702c41ee" /><Relationship Type="http://schemas.openxmlformats.org/officeDocument/2006/relationships/notesSlide" Target="/ppt/notesSlides/notesSlide56.xml" Id="Rf1dae3ac33684b2c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d122b995fb477c" /><Relationship Type="http://schemas.openxmlformats.org/officeDocument/2006/relationships/notesSlide" Target="/ppt/notesSlides/notesSlide57.xml" Id="R3b48142f61ca4c9d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1bb29bd6fb47bf" /><Relationship Type="http://schemas.openxmlformats.org/officeDocument/2006/relationships/notesSlide" Target="/ppt/notesSlides/notesSlide58.xml" Id="R99badd5b51fc4bea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b256b4b03d4e06" /><Relationship Type="http://schemas.openxmlformats.org/officeDocument/2006/relationships/notesSlide" Target="/ppt/notesSlides/notesSlide59.xml" Id="R9b37b9ac4d794aa2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98a5ff68c1484f" /><Relationship Type="http://schemas.openxmlformats.org/officeDocument/2006/relationships/notesSlide" Target="/ppt/notesSlides/notesSlide60.xml" Id="R16513da5eb884b44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f646fa1cfb4e72" /><Relationship Type="http://schemas.openxmlformats.org/officeDocument/2006/relationships/notesSlide" Target="/ppt/notesSlides/notesSlide61.xml" Id="R7a331fd1a7844e13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1fff2bcf97401b" /><Relationship Type="http://schemas.openxmlformats.org/officeDocument/2006/relationships/notesSlide" Target="/ppt/notesSlides/notesSlide62.xml" Id="Reb61b71c5c914ffc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07e1df39ee4a24" /><Relationship Type="http://schemas.openxmlformats.org/officeDocument/2006/relationships/notesSlide" Target="/ppt/notesSlides/notesSlide63.xml" Id="R80c534ad3e7a419f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08ff4ff61243ab" /><Relationship Type="http://schemas.openxmlformats.org/officeDocument/2006/relationships/notesSlide" Target="/ppt/notesSlides/notesSlide64.xml" Id="R6bf37a9f632f4b92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ecafd5be1543e9" /><Relationship Type="http://schemas.openxmlformats.org/officeDocument/2006/relationships/notesSlide" Target="/ppt/notesSlides/notesSlide65.xml" Id="R49b9aa1ae2f04372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d43b4fa1664fdc" /><Relationship Type="http://schemas.openxmlformats.org/officeDocument/2006/relationships/notesSlide" Target="/ppt/notesSlides/notesSlide66.xml" Id="R87805a5182664468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1a961600594712" /><Relationship Type="http://schemas.openxmlformats.org/officeDocument/2006/relationships/notesSlide" Target="/ppt/notesSlides/notesSlide67.xml" Id="R675d492b993b408e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e208f141174cae" /><Relationship Type="http://schemas.openxmlformats.org/officeDocument/2006/relationships/notesSlide" Target="/ppt/notesSlides/notesSlide68.xml" Id="Rb44256bac2b44d70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81c3aacb664dee" /><Relationship Type="http://schemas.openxmlformats.org/officeDocument/2006/relationships/notesSlide" Target="/ppt/notesSlides/notesSlide69.xml" Id="R1ed068bbfee04ef7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14a9fe451243a9" /><Relationship Type="http://schemas.openxmlformats.org/officeDocument/2006/relationships/notesSlide" Target="/ppt/notesSlides/notesSlide70.xml" Id="Rbbf234d52e4846af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877059aa0c4149" /><Relationship Type="http://schemas.openxmlformats.org/officeDocument/2006/relationships/notesSlide" Target="/ppt/notesSlides/notesSlide71.xml" Id="Rf462c36aab1f4eef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96b50c7ced4109" /><Relationship Type="http://schemas.openxmlformats.org/officeDocument/2006/relationships/notesSlide" Target="/ppt/notesSlides/notesSlide72.xml" Id="R901a1c985653461b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e7fc5e1ee544e1" /><Relationship Type="http://schemas.openxmlformats.org/officeDocument/2006/relationships/notesSlide" Target="/ppt/notesSlides/notesSlide73.xml" Id="Rfae13774365b44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D659C-713E-4F19-AA9A-82FF1EE4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7BFD2-E19C-44C7-9A7E-8546BBFE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334575D-AA3A-4A4C-AF3F-956BAE61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第二週  PYTHON 基礎與應用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811132A-2553-4F9B-B400-BF440A31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381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6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66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66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66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66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66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66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66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66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66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6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Python世界時鐘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66D9330-1911-4458-8B2B-98CD966E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67075"/>
            <a:ext cx="1333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rPr>
              <a:t>第二週完整講授與逐行程式解析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5A43ED3-F27C-4D48-9C1E-65135DA0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rPr>
              <a:t>運算式與運算子  ／  判斷式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117BB31-1F4B-47F2-93D6-8DB02D96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rPr>
              <a:t>for與while  ／  函式  ／  串列與陣列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8A9EE3F-5CC1-44B7-9472-BECE6809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294B5D"/>
                </a:solidFill>
                <a:latin typeface="Microsoft JhengHei"/>
                <a:ea typeface="Microsoft JhengHei"/>
                <a:cs typeface="Microsoft JhengHei"/>
              </a:rPr>
              <a:t>對應兩份範例筆記本與五份補充PPTX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4371E74-127D-47D5-B8CE-286F65F5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81925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第2–9章  基礎程式設計與應用整合</a:t>
            </a:r>
          </a:p>
        </p:txBody>
      </p:sp>
    </p:spTree>
    <p:extLst>
      <p:ext uri="{BB962C8B-B14F-4D97-AF65-F5344CB8AC3E}">
        <p14:creationId xmlns:p14="http://schemas.microsoft.com/office/powerpoint/2010/main" val="19362512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013D33-A678-4205-87E0-CA68127A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887B511-F63C-46B1-AA0B-EEFB8FE6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第二週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C498E8A-DCA6-492F-BD36-1E0B8048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教學路線與閱讀方式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52324B9-2560-45C5-B422-3CB0A8A1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使用方式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F4097F1-A7DF-4E1E-A0AC-7E951770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2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9E169-524A-471F-B0DB-53DDD32C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D02743F-5825-4905-B122-C4CD615B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2B81472-EB95-47AE-B5B9-CDBE3790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本簡報與Python_世界時鐘.ipynb逐節對應。概念頁保留完整講授脈絡，程式頁依原儲存格順序加上行號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與逐行說明。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F5E147-50FE-4749-836D-77F76CE1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5538C66-B98C-4486-8ACA-A9DB194F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FFAEA5A-8BDC-478A-AAB5-4DB6BA2D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035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原PPT相關頁以完整畫面穿插，保留原圖、表格、流程及例題；淺底新編頁補上程式對應與必要釐清。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426C6-3150-4850-9394-0F9013ED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069A35C-0C57-4DF0-B31C-5CEA1EAE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D91B2098-6E05-4E70-B2BF-1DB1EE1D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0045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第二週共180分鐘，含10分鐘休息。先講核心語法，完整算式解析、城市時區與GUI細節可作課後選讀。</a:t>
            </a:r>
          </a:p>
        </p:txBody>
      </p:sp>
    </p:spTree>
    <p:extLst>
      <p:ext uri="{BB962C8B-B14F-4D97-AF65-F5344CB8AC3E}">
        <p14:creationId xmlns:p14="http://schemas.microsoft.com/office/powerpoint/2010/main" val="12934577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BB1C9-75A2-4909-A21E-4209B603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3A25CCE-E2D5-45B8-A8B0-46684B1A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T0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BAF74AC-1A71-48C4-BE86-24183A55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作品拆解與可重現資料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E799910-0DA6-470E-B99E-A574EECF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第2章 程式結構與輸出／第3章 變數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5B396BA-319A-47FA-A1C7-2E199D79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3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0D677-EE76-497C-BCFA-EF1E73B6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516D13C-4A1D-4FFE-9607-292EE8E9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039DF8B-F1C5-4AF1-8987-0B4E1F25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講授： 世界時鐘不是每個城市各有一個獨立的現在。所有城市應從同一個UTC時刻轉換，差別在顯示的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當地日期與時間。原程式在每次呼叫timezone時各自取現在，可能剛好跨秒；新版先取一次，再交給所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有城市。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32636-E272-49C6-8854-5BF591D0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646CEA5-501D-4D1B-8E9E-0F99E351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7E2429D-4100-4144-A7B6-A3DAACA5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33725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本課區分兩個模型：固定偏移量供練習加減、整除與餘數；城市時區供實際顯示，會根據日期處理夏令時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間。倫敦+1、紐約-4、雪梨+11都不是全年固定值。原範例的時差數字只能視為特定日期的假設。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7262B-5495-4BAC-BD55-4ACFA90E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05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E609A475-48E9-4E54-A700-F0D216AB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6649FE08-9387-43FD-AFB0-2EBDACDB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00525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先固定UTC為2026-01-15 20:30，避免每次輸出不同而難以核對。基本段只用標準函式庫；最後的表格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需pandas，城市時區需作業系統時區資料或tzdata套件，缺少時依訊息安裝後重跑。</a:t>
            </a:r>
          </a:p>
        </p:txBody>
      </p:sp>
    </p:spTree>
    <p:extLst>
      <p:ext uri="{BB962C8B-B14F-4D97-AF65-F5344CB8AC3E}">
        <p14:creationId xmlns:p14="http://schemas.microsoft.com/office/powerpoint/2010/main" val="18213403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5E822-768F-4A00-AD2B-86AAF31DEF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c86554dec45ac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31223-F843-4172-8D3D-A77A22F2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E6342FF8-8992-4CA0-990F-8D9F2DF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T0  Py01_基本認識(1).pptx  第20頁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B6B1EC4B-5A65-480C-A014-669AB574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教材對應：第2章 程式結構與輸出／第3章 變數；原頁保留完整圖文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72EDD7B-4BAE-4F7E-81C0-63EF45D0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364105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33C770-F4B4-49AB-AE71-464774A2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655B37F-2E10-4C8D-B615-C0A45D45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T0  逐行程式解析  1/1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F73BB59-07DB-4E06-B625-05BF5E79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作品拆解與可重現資料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421A7DA-DAAD-4EA2-9731-659FE6F7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第2章 程式結構與輸出／第3章 變數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1297CD0-A262-49B6-8E76-0270A295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5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EB0F8-722B-41F1-8753-ED2E6CAD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826023A-CE30-4B79-A67B-51CC9A01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EF9A554-8B94-4D3A-85F2-28608539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第4個儲存格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CFB8675-2211-48FD-BF66-BA472C30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CBCA1-1C05-4256-9209-FE9C2142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FF9E83B-5E78-4180-B4C0-B62A9766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BB2FC23-9E30-47C1-9852-20DF639C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from datetime import datetime, timedelta, timezone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7C9ED461-0C0C-4EEF-BD16-2B0F1F46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匯入本段使用的模組或功能。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6A367C2E-E97B-4D49-9986-EF49E39F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8DB5A691-10C6-4F20-9A71-8F3AE0E2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import time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B7D8EDDF-EFC4-4A13-8808-1165DBE9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527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匯入本段使用的模組或功能。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4BB36-1FAB-4AEC-A3BE-4B3B6FBD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78819963-A5C9-4D1D-8FB8-FAA4B6AB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CEE7E391-5B4A-4602-9008-F43D2901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import html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37785FA9-B9D3-4C2A-938B-AC0901B5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718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匯入本段使用的模組或功能。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51521AED-77CB-473B-ADFD-F6495A29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09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BECA1A5C-2613-4413-B75C-3E058305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909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from IPython.display import display, HTML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9B770148-5EF8-4AC5-86A9-78A6DBCA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909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匯入本段使用的模組或功能。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785D75-C1E5-498A-8425-6C7B43E6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909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70E8BC35-7544-4D93-9F1A-C662565D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C3570B5E-CEDD-4910-AF0C-603E66BB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BASE_UTC = datetime(2026, 1, 15, 20, 30, 0, tzinfo=timezone.utc)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0C260010-7E49-4D1F-B261-0B8C707A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BASE_UTC。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904E4D48-506E-4934-8A57-4E2B7589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291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5C79A2E6-AB35-4769-B3AD-6022B678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291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print("統一基準時刻：", BASE_UTC.isoformat())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87A1887A-0128-47AD-AE10-F39E5F4C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291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輸出目前結果，核對前面的預測。</a:t>
            </a:r>
          </a:p>
        </p:txBody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4F6EA778-027D-40CE-AD72-EC82C3CD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4186854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42837-8530-4DA1-AA73-029CB911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B907DC4-21EC-49A2-80D0-F016955A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T0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9DF82E1-99DB-4199-9BC1-0DB21B81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作品拆解與可重現資料：執行結果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80C9369-3A8F-482D-BCA4-8F9BDD38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第2章 程式結構與輸出／第3章 變數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6C176DB-6005-4EC2-B66A-6E61282C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6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A4738-DEDC-4041-967D-49B72A42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432560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F66865F-45F8-426B-844C-CDC0BFE4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3716000" cy="509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統一基準時刻： 2026-01-15T20:30:00+00:00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A040662-0856-4E15-8464-84C36075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62850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課堂提問：哪個運算、分支或迴圈決定了這個結果？改動一個輸入後再驗證。</a:t>
            </a:r>
          </a:p>
        </p:txBody>
      </p:sp>
    </p:spTree>
    <p:extLst>
      <p:ext uri="{BB962C8B-B14F-4D97-AF65-F5344CB8AC3E}">
        <p14:creationId xmlns:p14="http://schemas.microsoft.com/office/powerpoint/2010/main" val="9843968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50E33-76EB-4FEA-A38E-04FFDDAD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D2B9E78-75DA-475B-A431-38A37A37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T1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ADDD5E2-CD0C-4ED6-8ECC-0C3DD0BD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時間運算與跨日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A07EC81-F506-4BA2-848E-6713F6F4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第3章 運算式與運算子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5977AC8-C03F-428B-8896-3D45C2AF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7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3E52E-7D73-4974-BDC4-380D4F4F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DDBA265-0265-4141-A1B0-443E01F4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0FF3625-FFDD-4B85-AADC-7FADB75F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講授： 先把20:30轉成分鐘：20*60+30=1230。台灣固定偏移+8小時，即加480分鐘，得到1710。一天有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1440分鐘，1710//1440得到跨越的天數1，1710%1440得到當日的270分鐘；270//60是4點，270%60是30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B1C46-57DC-4E0D-8250-BFBFC543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83A43A1-553F-4232-A9F0-ED001425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46445EA-0A8C-45E0-B40E-DFF5D778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33725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負偏移也適用：UTC 01:15減4小時是-165分鐘，-165//1440為-1，代表前一天；餘數1275對應21:15。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這說明整除必須向下取整。僅用(hour+offset)%24只能取得小時，會丟掉日期資訊。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65FA88-1DEC-456C-950F-1DDB64A9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05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4A1682DD-20E2-4C8A-85F0-28CB2C8F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30A3CB2C-276D-4FFD-9362-8D412195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00525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偏移可能含半小時，因此資料以分鐘保存，例如+5:30是330分鐘，不能四捨五入為5或6小時。f-string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的:02d將整數補成兩位；datetime的strftime("%H:%M:%S")是另一種格式化方式。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1B004-AE7E-4B6F-A74A-9292BB22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673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7A1AAC1D-2B8A-4754-B112-EE49328A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4944A31E-EA30-4FDF-8E60-12CA569E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67325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檢核： UTC 20:30加9小時應為隔日05:30；UTC 01:15減4小時應為前日21:15。下例先使用手算模型，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再由datetime負責真正的年月日變動。</a:t>
            </a:r>
          </a:p>
        </p:txBody>
      </p:sp>
    </p:spTree>
    <p:extLst>
      <p:ext uri="{BB962C8B-B14F-4D97-AF65-F5344CB8AC3E}">
        <p14:creationId xmlns:p14="http://schemas.microsoft.com/office/powerpoint/2010/main" val="16205435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59DE8-7876-4C71-BCC6-350B4FC225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3512ad5fb46aa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2250F-3EDC-4244-8146-2B47956E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264BA0FB-855E-4FFE-9124-E8482FD9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T1  Py01_基本認識(3).pptx  第13頁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F4DC228-3ECD-49A5-9D8B-E58988CF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講授補充：//向下取整，負數不可只刪除小數；-7//2=-4。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A48E4D2-FBBD-4D84-ACDD-BCBB98ED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398543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E943F-C079-4727-A672-E1CA07020B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5f92dcbbc4635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7AC80-8633-406F-B7DE-25F4109A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EE88332A-F59D-4F9B-BFB7-D5CA6D72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T1  Py01_基本認識(2).pptx  第25頁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2ED82CD4-4E92-41BF-8594-8DA4724F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教材對應：第3章 運算式與運算子；原頁保留完整圖文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4C60C30-0590-49EE-840E-20C934B7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431949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16F034-F997-42E0-9F3F-FD8F5601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6234E76-0D20-42E0-B1D2-1F85CEC2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T1  逐行程式解析  1/2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9B76AD3-11FA-43BC-8988-402F6548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時間運算與跨日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BEBED69-BB27-4EE4-95F0-E9B44A78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第3章 運算式與運算子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504DC4A-3539-4E5F-B3D6-BA30EFA2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10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4948B-FD53-42FD-9902-1B93948A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0164715-E977-405A-BB6C-C890671D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AAF6DFB-50D1-445D-A52B-D220DC50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第6個儲存格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28151CD-357B-4069-AC72-FF333E03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D8AE3-A890-4CBD-805F-8512DEE9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836A383-2D87-49A2-B1E9-C085BAC1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B84A0E15-F09B-42C5-BDDF-2984B2F2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utc_minutes = 20 * 60 + 30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073D26C7-2E34-4BCC-8E9C-75C1F9E1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utc_minutes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DF954866-96A8-47C6-B22C-9EEE7206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6BE415E7-0889-455C-926A-AC16138D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offset_minutes = 8 * 60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82EB2796-42E1-4CDA-B3A5-B01813F5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offset_minut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es。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EA01DB-213D-44A8-9CB8-50F300A4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A336A14D-C80D-4E23-9FA0-AA5B52C8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D6A22FA4-4697-4A6E-8F23-0BB7DE6B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total_minutes = utc_minutes + offset_minutes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E7106FB6-6782-4B8E-BBFE-FE945568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total_minute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s。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AF7FBE7E-480E-434E-8F90-E225DEE0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42F54AE8-F006-4ECD-8515-ABDC85A7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day_shift = total_minutes // (24 * 60)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4862ADC0-CA5C-4DC5-BA0B-7113C2F5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整除向下取整，用於跨日或時分拆解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4E695A-43D8-4D08-AC13-753AD8DD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02277359-4953-4F0D-8FCC-28E01949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9A8270D4-EA15-417D-A64F-405B6D7F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minute_of_day = total_minutes % (24 * 60)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2AFE7690-C079-418A-87EC-1FA7DA62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768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利用餘數取得當日分鐘或剩餘分鐘。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FA7DDA5B-5CE3-4923-8BE7-B01667B2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680A82CD-B73C-4216-B760-236B4E67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959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hour = minute_of_day // 60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401EDD6C-D4AF-431F-9BA3-EC9783AA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959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整除向下取整，用於跨日或時分拆解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1594F2-075B-4DB1-A156-79A1EB65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626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8ED93C1E-B48B-41FE-AC0E-2E2F30D0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D045AE2F-DB60-48EA-9B94-13CC4430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817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minute = minute_of_day % 60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764109ED-EFF7-48DC-B4A9-D14F49B2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817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利用餘數取得當日分鐘或剩餘分鐘。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CA037EE8-ADB2-4535-8EF2-07FE4DD9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8641C845-61B6-423D-AC62-06E49CCF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008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print(f"跨日數={day_shift}，當地時間={hour:02d}:{minute:02d}")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195BC708-BF30-48A9-AB71-3ACEF57B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顯示跨日量及補零的時分。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808FD4-C711-4DF1-A497-D6FC67F8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008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82DF0CE1-A1FB-4AAC-AEBA-3EA2F7A7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199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1343DEDA-F41A-49A0-AE20-42DDA348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8199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previous_day_total = 1 * 60 + 15 - 4 * 60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343E0F04-94DC-4589-B1B8-E92099B8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8199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previous_day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_total。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B88376B0-E12B-47CA-808C-9376BA82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0742434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78760C-B04D-4507-9D2D-AC61B2AF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01A469D-1723-48C4-8320-B35250CA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T1  逐行程式解析  2/2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254D03B-0B60-4DD2-9026-43BFC022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時間運算與跨日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CFD5641-D705-44A1-BB42-568B2268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第3章 運算式與運算子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5190472-314D-45A6-9059-CE522AD4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11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F899D-213C-443E-84F9-7C62F4D0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89E1E03-5894-43A0-A565-ED0EEFBD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0CA45BC-E4C6-4B1C-B06B-7036DFD5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第6個儲存格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DC44800-2892-42D7-838A-EAE395E0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9B10B-6061-48F1-B1EF-744E76DC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F4E7C0A-6E5A-48BE-A1B9-584C0264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5478924-86F1-4FCC-9204-FAB8BC17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print("前一天測試：", previous_day_total // 1440,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57F8D4F4-A232-4F02-9DFA-6B61FCEB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輸出目前結果，核對前面的預測。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B2BA24B2-862A-4FF4-8289-C37CDDE1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E2E26454-D380-4003-B9D3-43160F92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f"{previous_day_total % 1440 // 60:02d}:{previous_day_total % 60:02d}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")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95781641-82C1-4B6E-9918-E186A14D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527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將跨日後的分鐘拆成補零時分。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26F3BB-7B02-43A8-91B9-64F63EB2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9502167A-7E32-4B2C-8C59-14E76C23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010A30F8-20B2-4A9F-A5DE-FD10F2EE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local_dt = BASE_UTC.astimezone(timezone(timedelta(hours=8)))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9E7E6513-952B-4A2C-AB91-58F6A1E7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同一個時刻轉為指定城市或偏移的當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地時間。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352DE4E7-BE60-4801-965A-6228D91B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8D99E024-D5CD-485C-B292-3638FDE8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print("實際日期：", local_dt.strftime("%Y-%m-%d %H:%M:%S"))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F081851F-2F09-429C-989F-6AB6F5D5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243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顯示含日期的當地時間。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D7AAE937-185F-4444-B013-6CC86798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5106885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00AA3-DCA1-4889-959E-45E8DCFC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2DD8D8C-C175-46B2-BCAC-668B135D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T1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E63BDED-83F5-4643-B2FB-51DED4E2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時間運算與跨日：執行結果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3E57B47-EBA4-4C8A-B4D2-8A4CD0E5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第3章 運算式與運算子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3EE2D84-167F-4CCC-8CA7-63ABE910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12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C4475-526D-479D-B7B8-A23E5B5C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432560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04F823B-AC03-438D-BDC2-C0BABC1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3716000" cy="509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跨日數=1，當地時間=04:30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前一天測試： -1 21:15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實際日期： 2026-01-16 04:30:00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0FD79B4-594C-4FA8-9C79-CA5EB21B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62850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課堂提問：哪個運算、分支或迴圈決定了這個結果？改動一個輸入後再驗證。</a:t>
            </a:r>
          </a:p>
        </p:txBody>
      </p:sp>
    </p:spTree>
    <p:extLst>
      <p:ext uri="{BB962C8B-B14F-4D97-AF65-F5344CB8AC3E}">
        <p14:creationId xmlns:p14="http://schemas.microsoft.com/office/powerpoint/2010/main" val="13850957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12BE7-0083-4EF3-96A4-9987E225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71CB576-074C-4335-8F11-C2772BC0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T2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A338BDF-9566-47E3-B02F-EC35A0E6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判斷式與日夜邊界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9B795DF-9CB0-422F-BF58-2F7BB92E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第4章 條件判斷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E644CD9-3186-49FD-93DB-3D44937C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13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4BAD1-EC57-4219-ABB5-1D62597C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BE8AD9D-31DF-469C-93FA-633E98EF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2B25940-6063-4227-8B16-92A24A57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講授： 本教學把06:00至17:59:59定義為白天，其餘晚上，這是介面標籤規則，並未計算各地實際日出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日落。6 &lt;= hour &lt; 18等價於hour &gt;= 6 and hour &lt; 18。18點是晚上，不能一邊寫「到18點」一邊又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把18包含在白天。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89CD5-F93C-4451-BA4F-312EC24D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505DF42-2FE8-4099-9893-4A818D1E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4068BAF-8D62-4221-9F9F-53DD98EC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33725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先排除不合法時數，再比較範圍，是清楚的多向判斷。若只分日夜可用if/else；若增加凌晨、上午、下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午、夜晚，則用elif。不要寫hour &gt;= 6 or hour &lt; 18，合法小時幾乎全部會成立。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AA91F9-990F-4F3C-A568-FE9D308E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05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2CE8C864-567F-4AE5-ADA6-064A894A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A1846FCD-87BF-4EE3-95E9-C69EE7FF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00525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邊界表： 05:59為晚上，06:00為白天，17:59為白天，18:00為晚上。這四筆比只測12:00更容易發現錯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誤。原程式judge_day_night與這一節對應。</a:t>
            </a:r>
          </a:p>
        </p:txBody>
      </p:sp>
    </p:spTree>
    <p:extLst>
      <p:ext uri="{BB962C8B-B14F-4D97-AF65-F5344CB8AC3E}">
        <p14:creationId xmlns:p14="http://schemas.microsoft.com/office/powerpoint/2010/main" val="2322917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CEA53-393D-40ED-AE33-08B671BF27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71bb7d5f24bfe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5F9BA-76B8-4BD8-9F83-68579746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44CC7C9F-BFBC-4D17-9C5A-20344595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T2  Py02_選擇敘述與迴圈(1).pptx  第25頁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ED3D625-0B8D-47B5-A932-4399097E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教材對應：第4章 條件判斷；原頁保留完整圖文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746913D-AA43-4BC7-B0A9-105A4008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439075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14382-BB9F-4D40-9151-0BF9219DBD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aded1a5424c0d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215E3-C851-4780-A64D-8639A772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8C4AC79D-DEC1-4976-8ECD-12A057EC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T2  Py01_基本認識(3).pptx  第26頁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FCA2D62-500E-4D1C-9A88-0CCCA524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教材對應：第4章 條件判斷；原頁保留完整圖文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6271242-FC3D-4EC2-8BAF-20BD15FC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546753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57E76-91E0-4D29-988E-57F84E93A4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c6290044045f0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1560D-D188-483B-A3DD-9AED0C82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9E97F769-776E-4519-92C7-D8A0C317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T2  Py02_選擇敘述與迴圈(1).pptx  第26頁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97810A97-F699-4BAB-A80E-FA4525F0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教材對應：第4章 條件判斷；原頁保留完整圖文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E8B8577-B836-4D8F-B73B-6091AD20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539473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034536-4C9B-4C9F-A8A0-0D95E1F9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D7D4196-1DC1-4723-A53B-BA0A44C1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T2  逐行程式解析  1/1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8E60E3F-7B01-46F6-9F07-F40B34E0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判斷式與日夜邊界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237A1A4-81D6-4CD5-A881-248D8807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第4章 條件判斷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CE463C3-7C5D-4CC5-BA75-32E22D18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17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90537-C5FE-4A9E-BFBC-C428BD07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EC2A771-F50E-4149-B7A9-99F800CC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C7B9EB8-0D0B-4F2F-A7FE-F8597CFA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第8個儲存格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FB09887-154D-4FCE-A57F-DDE99C59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87403-2545-433B-981A-3089D872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0953A489-5F66-430D-ACA7-D6C5041E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2C85DCF3-32E8-49BD-8B41-907B175A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for hour in [5, 6, 17, 18, 23, 24]: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45A16844-0E65-41B1-9D5F-398F9FC4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依序取出資料；每一筆執行一次縮排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區塊。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96F84AD9-7EE1-4B1C-A92A-E128AAC1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17F92B2C-8845-4A65-B2D6-9B68E907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if not 0 &lt;= hour &lt; 24: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425B0204-6058-4FFE-B191-74ACB9CF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小時必須落在0到23。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BA6390-BE12-425B-A1AE-54195709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028A5626-23FC-42C5-97A2-7ED77EAB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8CDC47FD-A699-4CBA-AA2D-E7C16849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label = "無效小時"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65CD1F95-D5EA-4676-BA8C-D42411C2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label。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82B07C16-1367-4663-A44B-832BA440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AAF1B0AD-C83C-4916-B995-5061E45A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elif 6 &lt;= hour &lt; 18: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7934548E-C539-4110-8D40-6F97C78E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243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白天含06點，不含18點。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5DC94A-3B03-464D-80D4-82E2B1CE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910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6DDB53D8-343F-4452-9050-42234BED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3F69553F-9654-4DF2-97EA-67907920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label = "白天"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33D8E042-72E8-489D-AF20-50A92A15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101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label。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E518709E-C268-4FB2-BF29-DA3637F1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2CAE9DF5-DC13-4B32-BF10-CF5D4254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else: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C55BE863-A8C1-4FA2-9F6F-53CDC1FF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029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前面的條件均不成立時執行。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CEE9EB-1259-4BF1-9173-CD7D33A9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959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79F910BB-7DAB-40CB-A858-50F3A744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FDAA920C-95C5-44C9-AB27-11CD0AB8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label = "晚上"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01C5A329-F1DC-4D61-B996-BD852D44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label。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4F0E8E15-282C-49C6-8BE6-C7F46D60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341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CEEAADBB-8D16-4462-8302-6CBA77B3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341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print(hour, label)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892E11D7-DEC1-4A13-9D90-2C3EA605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341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逐一輸出邊界測試結果。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81FFB9-E111-4E6C-8244-27D0E91A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41885A1D-C860-4DA5-B613-05F7CAE7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7448C2CE-3E4F-4F52-8487-128AC03C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532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print("正確and：", 5 &gt;= 6 and 5 &lt; 18)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FBDCFCF1-1A36-4AC5-B91C-0666DA83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5點不滿足白天的兩個條件。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A3C7FA81-9450-4D8E-8358-515703AD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72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3" name="text-42">
            <a:extLst xmlns:a="http://schemas.openxmlformats.org/drawingml/2006/main">
              <a:ext uri="{FF2B5EF4-FFF2-40B4-BE49-F238E27FC236}">
                <a16:creationId xmlns:a16="http://schemas.microsoft.com/office/drawing/2014/main" id="{78B3579E-3844-4884-94E0-CFDD56A9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9723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print("誤用or：", 5 &gt;= 6 or 5 &lt; 18)</a:t>
            </a:r>
          </a:p>
        </p:txBody>
      </p:sp>
      <p:sp>
        <p:nvSpPr>
          <p:cNvPr id="44" name="text-43">
            <a:extLst xmlns:a="http://schemas.openxmlformats.org/drawingml/2006/main">
              <a:ext uri="{FF2B5EF4-FFF2-40B4-BE49-F238E27FC236}">
                <a16:creationId xmlns:a16="http://schemas.microsoft.com/office/drawing/2014/main" id="{D546B9C7-9E15-4F80-AE9A-5430F3B7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9723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示範or誤把5點判為白天。</a:t>
            </a:r>
          </a:p>
        </p:txBody>
      </p:sp>
      <p:sp>
        <p:nvSpPr>
          <p:cNvPr id="45" name="text-44">
            <a:extLst xmlns:a="http://schemas.openxmlformats.org/drawingml/2006/main">
              <a:ext uri="{FF2B5EF4-FFF2-40B4-BE49-F238E27FC236}">
                <a16:creationId xmlns:a16="http://schemas.microsoft.com/office/drawing/2014/main" id="{8266B7CD-C57C-47AE-9C67-850A6DE0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3277146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06A8F-741A-4905-B72F-C095F72E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07E475A-AFC7-4DD2-9EDA-637537ED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T2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8943247-A578-4DEC-9C5E-4CDF2FC8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判斷式與日夜邊界：執行結果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4E10B06-32FD-4B14-ADF1-4090089C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第4章 條件判斷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BA822CB-F027-4D30-90CE-7BB9868A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18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1B2E1-5A8E-47F9-BC78-A03AFD11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432560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8D52F2C-A809-4A51-8E22-384DE27C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3716000" cy="509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5 晚上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6 白天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17 白天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18 晚上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23 晚上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24 無效小時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正確and： False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誤用or： True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B8D5E50-97EC-4047-98D2-83CD6BFA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62850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課堂提問：哪個運算、分支或迴圈決定了這個結果？改動一個輸入後再驗證。</a:t>
            </a:r>
          </a:p>
        </p:txBody>
      </p:sp>
    </p:spTree>
    <p:extLst>
      <p:ext uri="{BB962C8B-B14F-4D97-AF65-F5344CB8AC3E}">
        <p14:creationId xmlns:p14="http://schemas.microsoft.com/office/powerpoint/2010/main" val="8644567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FCB17E-56E1-4526-99BD-C788925D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5850FDB-2DC6-4FCB-BF34-4F9A9818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T3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E8710BB-736B-4204-BF25-C376D10D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函式、參數與回傳值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BD1C596-DDE1-4B73-A49D-1F3121DB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41CEE36-3595-44A9-B360-B5653768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19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F7BE3-152A-4E08-A0F9-58D092A1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17260F4-E1A7-4477-8A9A-4856C84C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905328B-29D7-43E7-A47C-2F2792AC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講授： 原timezone(h)將取時間與格式化寫在一起。新版fixed_local(base_utc, offset_minutes)接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受明確基準與分鐘偏移，回傳datetime；judge_day_night回傳文字標籤。這樣可先測資料，再決定印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文字、畫HTML或建DataFrame。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8204A-C3A6-4531-8282-32686AA8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4B1B760-0644-4B98-8352-00704009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1E7218E-B599-441E-BBD5-5CBD604C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33725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定義函式不會立即執行。每次呼叫都有自己的區域變數；return將結果交回，離開後不會繼續執行函式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剩下的敘述。base_utc具時區資訊稱為aware datetime；沒有時區資訊時無法確定是哪個時刻，本版主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動提出錯誤。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0F831-368D-4DEF-9D84-AEB21523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667D0776-7786-4494-B123-B165A51F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A5733354-5F0C-442C-9819-284D0B06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33900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原範例函式名稱timezone與標準庫同名，容易混淆，本版改稱fixed_local。format_offset示範條件式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運算、abs、整除與格式化，能正確顯示UTC-03:30，而不是錯成UTC-03:-30。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1E2F18-92E7-4DB7-B098-E377C147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3DD58BF9-5030-45FA-8774-57573297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02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1CC7BF2E-5EE1-4442-9F98-6D9E7CC1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00700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檢核： 為何不在fixed_local內直接呼叫datetime.now？為了用指定時刻重現結果，並確保同一張表的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城市共用基準。</a:t>
            </a:r>
          </a:p>
        </p:txBody>
      </p:sp>
    </p:spTree>
    <p:extLst>
      <p:ext uri="{BB962C8B-B14F-4D97-AF65-F5344CB8AC3E}">
        <p14:creationId xmlns:p14="http://schemas.microsoft.com/office/powerpoint/2010/main" val="15009643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A3B2FD-A599-491A-8B95-F3F5BE20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539EBFF-2139-4B93-A91F-552D5AA8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T3  逐行程式解析  1/3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D368235-1D10-4A87-BA43-3DA812C1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函式、參數與回傳值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A9F94E7-D7EA-4117-BDD7-B97A3AAE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E239595-2501-455C-8FFC-F6C5D30E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20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5E811-95C8-4371-9F24-BA2F1C86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3FE82CE-726A-4BC7-9A4F-33378BA3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181A633-F93B-423E-A43E-5CA2C163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第10個儲存格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9BEFB1B-FFA0-4A1F-B788-F3FFDB2D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65742-5179-4438-8868-BB91DA5E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92F1CC57-7F22-4F3E-A285-CFA2009D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DADBF9FA-85A1-4C26-A02A-B8CEFD3C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def fixed_local(base_utc, offset_minutes):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B483AC01-6608-4786-9307-2E5F923C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定義fixed_local；呼叫時才執行函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式內容。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A3E07CE3-0251-4C13-8FC7-17E832F1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41AAB982-BE07-4636-8194-2F2DA157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if base_utc.tzinfo is None or base_utc.utcoffset() is None: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43521726-3455-4720-8D2C-DE64F278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拒絕缺少時區資訊的日期時間。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757583-4249-4709-8DB3-AC75B54E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C4E48AD0-F3A2-429D-BF8D-61049AC9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5B559667-6F4E-415E-ADE2-F6E100C3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raise ValueError("基準時間必須含時區資訊")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A6071DCD-D06E-4A33-B046-AF704011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提出錯誤，交由呼叫端的except處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理。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3119B4D8-DE96-49FA-9288-3A3049DC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5BCD75AD-B4B7-47E9-A069-795AD588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if type(offset_minutes) is not int or not -1440 &lt; offset_minutes &lt; 1440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: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700F563E-51F2-4552-A06A-9D943532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偏移必須為整數且小於正負一天。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ED3612-A904-4608-9B0F-5BC007AE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71538F84-F57D-40C0-A116-F922639C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D1425E34-E084-42C0-AC2C-6CB84817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raise ValueError("偏移分鐘必須為介於-1440與1440之間的整數")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DE37F2BB-DC35-4E90-AFC2-AF2D9FDF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768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提出錯誤，交由呼叫端的except處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理。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63A0194C-22F4-46D1-B250-D52CA26D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C85D66C5-646B-4D5E-855B-0A6AFF3D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return base_utc.astimezone(timezone(timedelta(minutes=offset_minutes)))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547A9CF1-5082-4AC1-B147-7CB03B01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62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轉換同一時刻到指定固定偏移。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900284-EE04-4D84-972E-1AF180D7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AE1C6C70-46BF-4ADE-A728-96726C1F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4B5F90F9-344D-4902-A16A-E0464F37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48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def judge_day_night(time_str):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297E45C4-3309-4776-AB10-C6283FFC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定義judge_day_night；呼叫時才執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行函式內容。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B37CC752-AD34-4C23-938B-2EDCF766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26606996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B7A9B6-A505-41CB-B87D-40E8B82E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CA79675-F307-4C81-B472-08103883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T3  逐行程式解析  2/3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D984E58-2ED4-49DB-9ACC-795F9ECC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函式、參數與回傳值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6C31366-9E4B-4AE0-8373-ECF3F296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ED86B9E-BCB8-450E-B95D-D86B9E7A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21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AAB67-4AF6-4580-AA29-31C226DF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C21CE9C-8BF0-4A89-AE0A-01F37C24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68A5AB3-77FA-42B2-A507-49B4FC50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第10個儲存格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2E9082B-292A-4994-BD92-BBE03243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982AC9-E099-48EE-BB3D-A97E0FE4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32BF0B9-B342-486E-A36E-EFF77E10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6BCB931F-939F-4C4E-939E-51C9A735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parsed = datetime.strptime(time_str, "%H:%M:%S")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5C5283FF-40A5-4493-BC9F-5C65FE34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解析並檢查時間字串，取得小時等欄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位。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D426EA1E-17A4-4481-9174-AA77398C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97AF0ACA-C9F0-4305-A135-B3629121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if 6 &lt;= parsed.hour &lt; 18: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3FF34417-0877-4EAC-8621-13844D9A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依解析後的小時判斷白天。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6D3A3B-014D-439F-AB67-81E6E7A3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A76C5599-1183-4565-BD9E-4D65D6D2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093624F7-02BA-4EFD-81D8-F2B1ADBC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return "白天"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5686C39D-BBAB-43D0-9D5C-55F9BAFA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符合日間區間，回傳白天。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32C571C8-D44F-4CBE-846A-D2D33E0C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AB48C9A0-7D35-4AE9-B610-735C33DF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return "晚上"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FB8D12FE-FC2A-4487-AC5A-3D654CCE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未符合白天條件，回傳晚上。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6B618B-BDD9-42D7-A51F-43FB6D47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7729FE2C-FEEF-4836-AEC5-EF694BE2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99134485-70E9-45AC-AA1E-2DB0EFA8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def format_offset(offset_minutes):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E9A333D5-35AC-46CE-84D5-ED29BBAE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768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定義format_offset；呼叫時才執行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函式內容。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2B49FEA3-7972-42E7-A955-67E32761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11C4DF81-BF17-494B-84F7-9AB80EBD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sign = "+" if offset_minutes &gt;= 0 else "-"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AD313278-67BF-41A6-ADE4-4CCF1459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62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sign。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F114AB-BFAF-4611-BE6F-57A99339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626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3074F284-68FC-4A9F-8BC4-273BB135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CC2DDCD8-3C12-46DE-8687-33007018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817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minutes = abs(offset_minutes)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529E403D-627A-42A0-99DE-9DAB1BD6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817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minutes。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3D36FA68-7416-4F66-9A78-A0CE6F2C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9495AFB5-1A6C-4B4D-AEFE-A935BB50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008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return f"UTC{sign}{minutes // 60:02d}:{minutes % 60:02d}"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9C185AC7-EE7D-4753-9562-37365806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用整除與餘數組成UTC時差。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733C45-CFE3-4376-8131-FB09F781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0675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AF40F11B-49C1-4C15-ADE5-B8E23E02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86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FCDB467D-C928-4E3A-8FC0-757901A4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86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print(fixed_local(BASE_UTC, 480))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3BE09B28-D833-4790-AF9B-4F31A0B4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086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將基準時間轉為UTC+08:00。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45ED8A70-F8F1-46A8-9C58-7C9CA9D4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5992619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619E5B-974E-4F5C-AABE-B0AB2EF6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2B25955-C223-43F5-A86B-C980D14C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T3  逐行程式解析  3/3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1DA9726-7522-443C-8552-5AC60EC9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函式、參數與回傳值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94C8A17-A9D3-465A-9680-BDFEEFCB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CC50B72-3D61-4603-BBB2-6351A282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22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34BF5-121C-46AD-9472-87CCC4A1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DEADAE5-7756-4EF4-9F2D-1F9AFE08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B23E440-C584-4C68-9976-8EC5E7FA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第10個儲存格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2B48D37-E914-4636-9E75-5EEA9D50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F000A-C261-46A3-A309-815CE92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A6632DFD-8766-4EAD-A34C-373F8A5B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A39D286B-6414-4332-A404-1FF166BC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print(format_offset(330), format_offset(-210))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0E1DEDC3-F843-4F60-99FD-2397A804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測試半小時偏移的格式。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326FCEE2-90BA-4821-A6FD-808DADEA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B1A77300-80B6-4461-B107-D2897317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print(judge_day_night("18:00:00"))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9C80BCB2-0636-4840-A675-D8297A9B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527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18點邊界應判為晚上。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15964CF9-1813-43EB-A766-AC4DB2B9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5911961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DA25BA-BE60-417B-9B51-AD5F2FE1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4BC4D83-4B93-41EE-872D-CE409DF6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T3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8786EFB-E08E-4A78-B8A8-32E6678B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函式、參數與回傳值：執行結果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1414CD2-2B6F-47AA-A1DD-893E4D26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CDF7160-5867-4E87-A628-EAA2069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23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F0B63-40B3-4A0B-8FA9-60D42509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432560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E0D4A01-F719-4B4E-B942-22A37A49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3716000" cy="509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2026-01-16 04:30:00+08:00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UTC+05:30 UTC-03:30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晚上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4275230-740E-4CEC-8341-2F0D304D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62850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課堂提問：哪個運算、分支或迴圈決定了這個結果？改動一個輸入後再驗證。</a:t>
            </a:r>
          </a:p>
        </p:txBody>
      </p:sp>
    </p:spTree>
    <p:extLst>
      <p:ext uri="{BB962C8B-B14F-4D97-AF65-F5344CB8AC3E}">
        <p14:creationId xmlns:p14="http://schemas.microsoft.com/office/powerpoint/2010/main" val="207275418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A223A-578A-4C89-8C73-C5132581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39B5B49-0612-4222-9626-4D4516CB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T4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C35C577-0839-4152-BA0B-02721E5F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城市陣列、索引與資料配對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90568EA-45A4-4EA2-81FB-2DEACBB2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第7章 字串與容器型態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7BDE1AE-D70A-472D-9DC3-CD65D6A4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24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9E1C8-1CA2-4486-93D7-ACAD7E66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38700F6-3F7D-451D-B802-CB823BFA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CB19725-6023-4473-A160-3E33432D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講授： 原name與loc_time是平行串列，同一個索引代表同一城市。這種方法容易懂，但必須維持長度及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順序一致；只增加城市而沒有增加偏移，就會出錯。range(4)也把筆數寫死，改成range(len(name))才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能隨資料擴充。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20B7F-2C4A-41B9-BC35-15F23197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9EDB5A3-C3F8-4F06-BC0C-82323CC4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D9261F1-C764-49A2-9A85-5AE9425E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33725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一維串列示範索引、切片及append。下一步把城市和偏移放在同一筆紀錄，形成「串列中的字典」，迴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圈讀一筆就能取得所有欄位。這是資料結構延伸，主要目的是避免資料錯配。若用兩欄二維串列也能表達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，但字典的欄位名稱更清楚。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87A54-DF52-4B67-8583-9F4B2720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63E48D96-3CBF-49C4-A9D8-DA299632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96883EFF-AF1E-4215-8611-2F86FCF3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33900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Python list可放文字和數字，並不是固定型別的數值陣列。若未來改用NumPy，數值陣列乘2可逐項倍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增，而Python串列乘2會重複內容。本題不需要NumPy即可完成。</a:t>
            </a:r>
          </a:p>
        </p:txBody>
      </p:sp>
    </p:spTree>
    <p:extLst>
      <p:ext uri="{BB962C8B-B14F-4D97-AF65-F5344CB8AC3E}">
        <p14:creationId xmlns:p14="http://schemas.microsoft.com/office/powerpoint/2010/main" val="79999925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06F85-9642-46F4-8D4F-9EB9B7C03E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302e1f8414418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1AA13-095E-48E1-BE10-3F76FF05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B494F384-4AE9-48C9-B2A0-889288B7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T4  Py02_選擇敘述與迴圈(2).pptx  第15頁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D0C85A6-70C8-451F-85A5-D96A4AF4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教材對應：第7章 字串與容器型態；原頁保留完整圖文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A74A480-39A2-408D-ACDF-92CE1092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13817911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46E3D3-134F-4F3F-8D72-00DF3198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75FE6E4-490C-4E90-B451-926C6802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T4  逐行程式解析  1/2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9EBF557-CB88-4E4E-8ACE-2C7BE966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城市陣列、索引與資料配對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6B13EA4-25CE-4449-8B52-01D22254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第7章 字串與容器型態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753752D-EB0C-43DD-AAB1-7F7645B8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26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CDAC9-94E0-4F3D-B98D-1399381D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D0F087A-68AB-480B-A34D-1863E84E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DF1FC4D-0A88-4568-B030-0F211051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第12個儲存格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B147C5C-8451-42CE-B037-9D08072C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309DB-F123-43A3-A6B2-05D6F679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1FE0B7C1-267C-4076-92C7-E38D4068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9D7736A4-CC03-4F83-B67A-EAB7D4C8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names = ["台灣", "日本", "印度"]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62909CB7-6E1D-41CE-AC44-B6A5990A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names。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D2D48BE8-61D2-442F-B4E1-9E5241EA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B7534D61-7B20-443E-ABC4-0B9725CD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offsets = [480, 540, 330]  # 分鐘；本段明確採固定偏移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4E4C6841-9B90-4A03-90DB-98A518EB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527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offsets。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F4B509-5F9A-487D-89BC-E100BAEA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F8C115B8-FEC8-44E9-9A14-4A368CD1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F9741902-7825-4370-B13C-E09A254B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assert len(names) == len(offsets)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45BE2DD9-82B0-4FD4-9EFE-262507B3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718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FC0FE4F2-4E4B-4142-83EE-BD68AFEA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2DB56C10-267F-4B9E-884A-EB4A13E9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print("第一座：", names[0], offsets[0])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5E2BA52B-56BF-41CD-B020-6C8D0A1E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57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索引0取第一座城市與時差。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64BE9D-3EC6-49E6-8BC3-9BB0525F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576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395D149D-1090-41D1-9308-8E54F2DE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FEAFE699-50A8-427C-86D6-3DC0D0AC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print("前兩座：", names[:2], "最後一座：", names[-1])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05DD034D-AF62-423D-959E-419E222A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767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切片取前兩座；-1取最後一座。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E70B2922-54B2-4E0E-8F54-5A5C7E4B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42C15E18-6F5D-4701-BC5B-A78A1961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print("串列乘2：", [480, 540] * 2)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D9C07FA4-B747-40B2-86B6-EEEF7005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958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串列乘2是重複，不是數值乘2。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CDF26B-7EFA-44CE-9226-6D8042C1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958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99FD958B-11AC-447C-82A9-A9ED32E3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A427B86C-64FA-425F-AA9F-8EA8323B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149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fixed_cities = [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4939AD09-CCBA-45F0-B203-04A12E23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149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fixed_cities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CC1B1BDF-9362-45BB-ACC2-80F3D5F9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EF0DDF28-A4DA-4409-B5AB-6358AE02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007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{"city": "台灣", "offset_minutes": 480},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F033BDCF-EF09-4C4C-859B-14126B2F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007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以字典保存一筆城市及時區資料。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7E0AB8-0394-4209-98AE-42BFFB77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674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34BB1C59-1F43-45BC-82AE-74730B3B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D8F64911-877F-4A30-A451-622450E7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{"city": "日本", "offset_minutes": 540},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ECD71883-0B41-43A4-AAED-84F48CA0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以字典保存一筆城市及時區資料。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9333F0DA-4FE7-4CEB-8EDE-4FF3A3EE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24952993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1A34B8-6BA1-430A-BB05-EEE7BED8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95265DE-0598-49EB-BCA5-4543F331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T4  逐行程式解析  2/2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D51A7E5-C194-4748-9D2E-D3FA5EE6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城市陣列、索引與資料配對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AE8A9A7-13A4-466B-B716-D40A0F02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第7章 字串與容器型態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58A0151-97ED-4DA1-B9B4-B2DCB588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27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8628E-7672-4FA9-ACAE-51065774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DF19298-03D2-43D9-847B-68951566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B8F8BA8-883D-4D48-8085-2AADB202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第12個儲存格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DA30786-8D82-4993-B35F-7CD3570B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255C8-2AEE-46B1-86CF-ECA7EA50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2690AD5-F4CD-46AF-A06E-B19704C5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F4069AA-7E90-4AC0-895B-DB6968CE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{"city": "印度", "offset_minutes": 330},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B5BCF597-2D85-42E8-B18E-CB49EA9C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以字典保存一筆城市及時區資料。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B0C81066-A5F0-455A-8932-16E79BC7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5873C1F3-70F3-4A63-BDF6-6079A331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]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83CC2085-1B75-4A39-923D-C79988B7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結束前面開始的串列、字典或函式引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數。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CC3977-D405-4E1E-9CCC-035DF4F7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68CDCD3D-2EC2-4AEE-98D2-44DF3380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4521F5E0-6007-448E-B46D-4BD4C38A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fixed_cities.append({"city": "UTC示範站", "offset_minutes": 0})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50BCC27A-1D7D-437E-8415-A69E9E2F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將這一筆資料或元件加入串列末尾。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D0313C05-6D15-416D-89FA-1DF5F972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C9725FD7-E0FE-4D93-989B-E8AD039B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print("目前城市數：", len(fixed_cities))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4157E8AC-F0C5-43B8-9C3E-D069F547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243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用len檢查目前城市數。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396B8EF8-B5BB-4352-B6EF-B7CF2179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50143210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11842-8D13-4869-A3A2-9FDDC744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C93C0AC-C6FE-4408-B0E4-148DF63B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T4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9CFEBD3-19FD-4E66-B6B7-57E788EC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城市陣列、索引與資料配對：執行結果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C2F9FDF-C559-4A6A-B970-F0A67FF1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第7章 字串與容器型態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38FDA68-B77F-4B79-8A2E-FEC85263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28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CEEC1-19D1-47AB-88EC-E162E05C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432560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D83FD1E-AC86-4939-A1C2-801A32B2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3716000" cy="509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第一座： 台灣 480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前兩座： ['台灣', '日本'] 最後一座： 印度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串列乘2： [480, 540, 480, 540]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目前城市數： 4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9258E35-8A1D-42FC-B0FF-12362D30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62850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課堂提問：哪個運算、分支或迴圈決定了這個結果？改動一個輸入後再驗證。</a:t>
            </a:r>
          </a:p>
        </p:txBody>
      </p:sp>
    </p:spTree>
    <p:extLst>
      <p:ext uri="{BB962C8B-B14F-4D97-AF65-F5344CB8AC3E}">
        <p14:creationId xmlns:p14="http://schemas.microsoft.com/office/powerpoint/2010/main" val="188231687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458B2F-E080-4B10-AC55-FFBBEE24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D6FCF2F-4CD1-4F3B-9C56-CCE3807F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T5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7DACF1E-FCA6-49A7-B194-34B2F973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for走訪與表格資料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F4BF3A0-CDCC-4347-AC94-334863A4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第5章 重複執行程式碼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E01D28A-CC81-4376-9E15-7D004D25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29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216FB-FFF9-4FC5-B8D5-3BBD8FAD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8CC7DB6-8E7B-4507-8AA9-C90331F0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B6E0315-BBE1-4495-933D-4EFD7F2C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講授： 對每座城市做一樣的轉換，選for最自然。enumerate同時產生索引與城市；若使用平行串列，可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先檢查長度後再用zip配對。zip預設遇到最短串列就停止，因此不能靠它發現少了一筆資料。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64CBF-471D-45C3-A886-2BB35487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3461446-C704-41AF-ADA9-121DBFCB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11E7B16F-081A-45F2-9E88-9FDB65F7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0350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下例每輪先計算local，取日期與時間，呼叫日夜判斷，再append一筆字典。輸出格式不必參與計算，ro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ws保留為可再加工的資料。continue可略過不需要顯示的城市；搜尋時用break提早停止，迴圈else可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表示全部找完仍未發現目標。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C2471-6ED6-4BB4-8564-E2AAF346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05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39737A5C-55C4-4A1F-81C9-914878E3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099E50FF-A713-48FB-AA99-67FA7D6E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00525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追蹤： BASE_UTC是1月15日20:30，所以台灣為1月16日04:30、日本05:30、印度02:00，皆標為晚上。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請先預測，再查看輸出。</a:t>
            </a:r>
          </a:p>
        </p:txBody>
      </p:sp>
    </p:spTree>
    <p:extLst>
      <p:ext uri="{BB962C8B-B14F-4D97-AF65-F5344CB8AC3E}">
        <p14:creationId xmlns:p14="http://schemas.microsoft.com/office/powerpoint/2010/main" val="109815458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100DB-983D-4FFC-8C60-F3F2A4B2AD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f7c0538ce4a7a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34587-105D-4E80-9309-298007A5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59A7411D-3132-4940-91AF-07245FA7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T5  Py02_選擇敘述與迴圈(2).pptx  第19頁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EE71F01-5A68-424B-A36F-F7AB93A0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教材對應：第5章 重複執行程式碼；原頁保留完整圖文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0E63264-50A5-4605-AAF0-13763787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29026789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6AD67-121E-4D77-B9CD-331F1278CF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8f5ff77714aca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E4FD0-1888-4BA8-B2AD-32E8288F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5B19A02B-4F36-477D-9D5D-EF256375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T5  Py02_選擇敘述與迴圈(2).pptx  第20頁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7C2B23AA-7B8F-4B0E-BE94-F8E80FE2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教材對應：第5章 重複執行程式碼；原頁保留完整圖文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9E18B0A-7292-4F61-B6C6-4B68A15E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61669947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302EB-CB4F-4CE0-9AFE-FD5C354CE0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993667c914538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E6187-1B1C-4FB1-B1ED-8725F686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CE0DAF81-7C93-49AB-BE16-723B08C6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T5  Py02_選擇敘述與迴圈(2).pptx  第21頁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EEE1F173-41EE-4D7D-AA01-3A3BE9D6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教材對應：第5章 重複執行程式碼；原頁保留完整圖文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1F5EBF0-EB6E-4B7F-A704-B5708845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68533670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76F54-7AE6-428D-87E7-534B91D9AC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9b5ed2d77f46a5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340EF-F600-4510-A927-F8F0EEFB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28BC9C33-23EE-4039-BFBC-A6A08B10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T5  Py02_選擇敘述與迴圈(2).pptx  第32頁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9861A24B-12D2-4269-9C1E-F6F640FB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教材對應：第5章 重複執行程式碼；原頁保留完整圖文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072C4D1-A2BE-45D0-B765-179FEB40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02453629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7400B-307C-450E-9927-7B3CB22BCE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90b7502bd4f95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56F57-E3A3-40C8-85DB-51EE1A64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2D10BD63-F6CD-4880-BB50-DD1FD164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T5  Py02_選擇敘述與迴圈(2).pptx  第33頁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4CAC3F0E-EC6C-437E-B051-2F4ED79E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教材對應：第5章 重複執行程式碼；原頁保留完整圖文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2264F00-61DE-4E50-A471-8530F861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6695799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BE9729-5C99-42AD-8B4F-2E1BDCEC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641E55-6316-45FC-B10F-BF11E838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T5  逐行程式解析  1/3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1F55570-EFA9-4F6F-8508-F8314D1F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for走訪與表格資料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24BAA9D-9D2A-4A18-9904-53A4D06C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第5章 重複執行程式碼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FD2916F-2C92-4CC0-B04C-4657BB48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35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EC7F2-83F5-4BD5-B184-B1AE9979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076E84E-4A7A-40A3-AF44-330648A1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C0A3E28-69D4-4D9F-A010-B587E9C1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第14個儲存格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7C971D1-EBC7-4C25-ACFB-90C02EC9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708368-3A43-43ED-A850-4A882EE7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194C860-DD19-4595-9E03-3BBDD947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C9CBE4E-0A56-4749-A40B-7BE1DD60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def build_fixed_rows(base_utc, cities):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622589AF-F46A-4322-8C97-28000865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定義build_fixed_rows；呼叫時才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執行函式內容。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C5F1E744-D306-45A4-A857-543CD2F7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D2CC211B-5BC2-46A5-B2F0-BB76BA48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rows = []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262729D7-365D-418E-8751-261C704B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建立空串列，準備逐筆加入資料。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B4BF0-A2AC-47E9-A36A-61C16982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998C9CB4-F8AA-4DA7-AFC3-E96BD30F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837E9CF2-4A23-4183-A628-54B39F3C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for item in cities: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8FC4FA3C-8D91-47B8-A126-E539C694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依序取出資料；每一筆執行一次縮排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區塊。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FA8D36B9-AEDD-4F68-BB67-B7983DCE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9D9B2942-21EE-4F5B-9BD7-04ABB7E8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local = fixed_local(base_utc, item["offset_minutes"])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4CCACD38-445C-4469-8A81-8AFF5165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243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local。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DDF113-7A46-4303-968B-36FFB068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43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50C2802A-59CC-4079-8B67-44561A79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3FBE37BF-F6CA-49A3-ABE1-A3EFD4C4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clock_text = local.strftime("%H:%M:%S")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9777B2E5-DEC5-4F42-8DC1-214AFE45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43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將日期時間轉成指定顯示格式的字串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48DC8694-C44F-4F86-873F-29EBCD19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3993105D-078C-4BB1-9783-5842FCB1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rows.append({"城市": item["city"], "時區": format_offset(item["offs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et_minutes"]),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B6072872-060F-4F4F-9FF7-2AE89A6E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029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將這一筆資料或元件加入串列末尾。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B9EAFF-C22F-4100-B310-7EE84581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959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329EFBE0-6BDC-431C-AAD2-388A40A2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474A6A2E-2ED2-42C7-A39B-D41537CC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         "日期": local.strftime("%Y-%m-%d"), "時間": clock_text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,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E8E620AC-036E-4DA1-8C4F-6F34CB59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接續上一行的文字、資料欄位或顯示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格式。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98E3CC0A-ABDB-4DF1-89EC-9BDD438F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3978A7FD-1E32-4D63-86B3-706A8F2E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008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         "狀態": judge_day_night(clock_text)})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82F7F6D7-A9C0-44C8-9A49-265EA6D5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接續上一行的文字、資料欄位或顯示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格式。</a:t>
            </a:r>
          </a:p>
        </p:txBody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64A11707-D777-47CF-808C-8C53763A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211676007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A08670-139B-490B-BFAE-289AB4B8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04AD222-FBAA-43E1-9CA3-0A9BA23F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T5  逐行程式解析  2/3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7CCB260-15C3-4453-99EF-94BF5F54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for走訪與表格資料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24FE2B8-8BAA-4A79-A8A3-66D6FE2B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第5章 重複執行程式碼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AED486C-6782-4039-A039-81ED225C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36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6C2E1-68F6-4888-B76E-7FFF1CC8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EA13F1C-CC06-4147-9AE7-0EF0D75F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975C4E0-C887-4D44-A3FA-068BE3F1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第14個儲存格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4A6E433-6886-443B-9756-636CE0B7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E73CC-580E-41AE-873D-F56D68BD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0FA2D2F-8D6E-4C3D-BE5E-78E0FEAB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F8FE93F9-B823-4CC9-B0E4-C7650BB5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return rows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92BC6EB2-FD3A-46A3-AF05-4A6E9540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回傳已整理好的各城市資料列。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9624F521-4C9D-4EED-91D2-43F126D9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B9130050-31AB-4869-84AC-42D6048C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fixed_rows = build_fixed_rows(BASE_UTC, fixed_cities)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821E3E4C-DBC5-4EB8-8EEE-88B269BC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fixed_rows。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22D960-3025-430D-92B8-69217F9F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0B608BD3-0144-41A5-A6CF-5AE9FF73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511FA26B-00EB-4307-8924-7257391C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for index, row in enumerate(fixed_rows, start=1):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4D423F62-0B17-4209-B55C-BCE52BD8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依序取出資料；每一筆執行一次縮排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區塊。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D2A45623-D3EF-4FF4-A197-9667A4F0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916EC113-D2A0-4448-BD90-36CC01AC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print(index, row)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4C96D132-A1FD-444E-8882-55452A78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243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逐列列出編號及完整城市資料。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CC4C95-8752-4625-A411-04B654DC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43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B0773FA4-257F-49B6-AC75-1FB92274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39D510FB-2984-4EE4-BA20-0318288F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for row in fixed_rows: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AF055DC7-2CE8-4DC6-942A-ABAF31E0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43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依序取出資料；每一筆執行一次縮排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區塊。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17A54863-08C1-436A-9DCA-2A92A2EA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E600242F-D1A5-4DC9-9E12-10A78771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if row["城市"] == "日本":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F0F7F3D3-C4DC-45F2-B4F3-1E658627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029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比對國家欄位，尋找日本。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DDF1E1-20E0-47CF-998F-D484736A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959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4137A03D-502D-4048-9257-FF1B489D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C0A568BF-F8BE-4D52-96CA-CECD7143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print("找到日本：", row["時間"])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83D853AE-3F91-4A1E-B34D-D82B3084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找到日本後顯示當地時間。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5D4F24D3-D2BE-4136-A2C3-A2115E62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341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5989C5A3-0435-4745-8893-C5D6C7A8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341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break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2BDCB400-D4E1-43DF-99DB-AD6B1424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341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立即離開目前這一層迴圈。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F8E79D-6A53-49BC-B85F-5E1FDBA1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44F4D5E3-6ACE-420E-A6F9-02B344E8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0A586E72-2DB2-4F6B-AF8B-7FC3EC59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53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else: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0A1565C1-DC50-40C5-8EE0-AAB335F3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迴圈未遇到break時執行。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BBE506EF-00E9-4CA3-941D-C78D95FC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41076923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079556-CEE8-4300-9770-A8BFA5E2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E6556C1-37F5-423A-8B13-0A27E35B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T5  逐行程式解析  3/3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AE86982-300F-4FE1-A15A-23F531B2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for走訪與表格資料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6DC4C31-F5E4-417D-A552-43BC1DB0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第5章 重複執行程式碼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9F5ED14-B436-4271-A9D9-211C2CD3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37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6D4CA-9DE9-4BE0-8627-44101D77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5A2C42D-7A2F-48D9-B8F5-68FF4B9E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93A2DEA-7608-46F2-B4B6-C8295F49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第14個儲存格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1E35497-2224-441F-9426-F08BA2F3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24E1E-43D7-4FC8-8027-B6731C0B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8C767B3-26E7-4CB5-9041-002138D0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394C85AC-CE25-4147-BD0A-4EC5B401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print("查無城市")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0521213E-FF77-40EA-B4A9-AD381F00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迴圈未被break中止才顯示。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A2AA4B67-7B8F-4378-8BA3-2D6CDCA9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11AE8FCA-7EA4-4384-8AA5-2133BE20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print("只顯示亞洲三座城市：")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264E69B9-2984-49B8-BFCB-67CA2CAB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527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輸出目前結果，核對前面的預測。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20B47F-15EC-4041-A46C-B2035332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60F20A95-EC61-4C4C-A3EA-1DA48CD3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5E8173D1-C887-42F8-8EA9-3ED1CD32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for row in fixed_rows: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E06384CF-3A1F-45A3-82B9-424AF182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718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依序取出資料；每一筆執行一次縮排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區塊。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2703F31E-D8CD-4B03-A892-ABDC9D20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EAFDCABE-5B78-4F05-9B1B-BCCB630F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if row["城市"] == "UTC示範站":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3D9A4ED8-5C53-470D-B658-51B1078A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57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遇到示範列時將略過它。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FAA1C6-E5F1-4248-9C6E-4908D5CB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43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4E34AEC5-1906-424E-B875-BE50DF16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95DB2D3E-5695-42DD-858F-81A23DDC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continue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85DAF8B5-B007-4DB7-ADF9-AABCD28C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434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略過本輪剩餘內容，進入下一輪。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31387C50-C012-4555-904F-04BED7E0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FEE03143-45A2-47E8-80C8-A8F544E4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print(row["城市"], row["時間"])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C0AC524A-7D8E-40A1-95B6-8EE2FCC2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顯示其餘城市的國家與時間。</a:t>
            </a:r>
          </a:p>
        </p:txBody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0809CD3B-B069-4847-B92A-6F30275D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85807825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0023B-A6D4-4246-933F-7FBDB542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FA57AAF-A2B6-493C-BF63-F5DDE345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T5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5F14F79-1308-4983-A8C1-23F2DF87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for走訪與表格資料：執行結果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D745540-24C0-4C83-B53F-620B8911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第5章 重複執行程式碼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2DAEB45-87C9-421E-AEF9-7487CA58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38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CE286-4E8C-450E-98BC-0758C4BF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432560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F19F4B3-3263-4887-9D3A-3DDDA981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3716000" cy="509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1 {'城市': '台灣', '時區': 'UTC+08:00', '日期': '2026-01-16', '時間': '04:30:00', '狀態': '晚上'}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2 {'城市': '日本', '時區': 'UTC+09:00', '日期': '2026-01-16', '時間': '05:30:00', '狀態': '晚上'}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3 {'城市': '印度', '時區': 'UTC+05:30', '日期': '2026-01-16', '時間': '02:00:00', '狀態': '晚上'}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4 {'城市': 'UTC示範站', '時區': 'UTC+00:00', '日期': '2026-01-15', '時間': '20:30:00', '狀態': '晚上'}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找到日本： 05:30:00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只顯示亞洲三座城市：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台灣 04:30:00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日本 05:30:00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印度 02:00:00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EC22669-6327-409E-B8B6-8FC4143C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62850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課堂提問：哪個運算、分支或迴圈決定了這個結果？改動一個輸入後再驗證。</a:t>
            </a:r>
          </a:p>
        </p:txBody>
      </p:sp>
    </p:spTree>
    <p:extLst>
      <p:ext uri="{BB962C8B-B14F-4D97-AF65-F5344CB8AC3E}">
        <p14:creationId xmlns:p14="http://schemas.microsoft.com/office/powerpoint/2010/main" val="212591851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7F2D4-9325-4B58-913A-17140C52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570357C-2981-46F7-988B-2C61FFF3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T6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02C344F-3877-4C57-9135-2C2CB805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while更新、計數與結束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EA72E1E-42FE-4BC2-B4D2-AB13FD38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第5章 重複執行程式碼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8E4CFD9-1836-4E9F-916F-848065B8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39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43084-2F53-44A9-A353-DD258038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7903FDA-9996-497F-82E3-5EF34D5D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6303990-BA2B-4EAD-AFF5-A7F5A731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講授： for回答「這一輪要處理哪些城市」，while回答「要不要再做下一輪」。巢狀後，每更新一次就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逐一處理所有城市。原while True一直執行，後面的Notebook儲存格必須等中斷後才會開始。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71DF8-F784-4A13-B270-D67FF308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29C56EC-97D3-4A2B-860B-3E218FB8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9B85457F-8ACD-4E09-9E5A-5D89771F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0350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教學時先用有限次更新：refresh_count從0開始，條件為小於max_refresh，每輪加1。示範把基準時刻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每輪加1秒，結果可重現；這是模擬走時，不是作業系統的真實時鐘。實際版在T8每輪重新取UTC現在。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17F64E-77DF-4479-B705-162218CC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671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191CA73-8968-4AD2-9C4F-7EC74F6C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C5845AF1-7804-4AB9-B28C-33FBB168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67150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time.sleep(1)只暫停程式，不保證畫面精準每秒刷新，整輪還有計算及顯示耗時。Notebook互動介面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中，長時間阻塞也會妨礙其他操作；本版預設只跑3次。若手動中斷則捕捉KeyboardInterrupt，保留已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完成結果。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B5FED-7F1F-4AF8-B6E1-AA40FCB2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673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EB6D3637-C57E-4FDD-87CC-9E8B6E9A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E2652FCD-C701-49A3-A3C3-A9AF4440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67325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檢核： max_refresh=0應完全不更新；如果忘記refresh_count+=1會發生什麼？while條件一直為真，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形成無窮迴圈。</a:t>
            </a:r>
          </a:p>
        </p:txBody>
      </p:sp>
    </p:spTree>
    <p:extLst>
      <p:ext uri="{BB962C8B-B14F-4D97-AF65-F5344CB8AC3E}">
        <p14:creationId xmlns:p14="http://schemas.microsoft.com/office/powerpoint/2010/main" val="18384628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E000E-39E5-4590-A915-46FABE1216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00e467c554621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C080C-1333-48F6-A6DF-B2CE77AC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C2089DCD-9B1C-4446-A7D3-4044D368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T6  Py02_選擇敘述與迴圈(2).pptx  第6頁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6DD6392-A676-46DE-940A-4F17C259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教材對應：第5章 重複執行程式碼；原頁保留完整圖文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F2902A5-EC1E-47DC-92ED-C54DF13C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06854966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3C9BE-A091-4E01-8F28-79B94CEFCF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e529ee77e4a8c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68E20-A89E-4EAC-B539-30E08A4D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60D5EB5D-DFB0-43A6-9FB1-BC662E11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T6  Py02_選擇敘述與迴圈(2).pptx  第7頁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531A260C-7045-48F2-AA96-86B454D0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教材對應：第5章 重複執行程式碼；原頁保留完整圖文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C31D687-7D19-4C02-9D60-61382EBC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45766139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530D8-D5B1-424B-B1B4-6EE4E5D56D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ac5ee7c0274ed7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B852B-417A-4EB4-A1BC-CA837FA6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DFDCF3C9-5026-49FD-A493-42834E68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T6  Py02_選擇敘述與迴圈(2).pptx  第27頁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0513958-EF98-48FC-8388-69C5F21C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教材對應：第5章 重複執行程式碼；原頁保留完整圖文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8900B7AB-E552-40AC-95B7-5BBBEDBB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39328163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51512-B04F-48FA-A76F-CA95FFFBB5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8ba88c4264600"/>
          <a:stretch xmlns:a="http://schemas.openxmlformats.org/drawingml/2006/main"/>
        </p:blipFill>
        <p:spPr>
          <a:xfrm xmlns:a="http://schemas.openxmlformats.org/drawingml/2006/main">
            <a:off x="76200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57A32-0484-436E-B46C-A6DB4692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335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E8B41212-BBDB-4985-B94B-C6D13BD5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877175"/>
            <a:ext cx="1343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T6  Py02_選擇敘述與迴圈(2).pptx  第30頁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7549675D-A504-421C-A65B-EA2DABFB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105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B5360"/>
                </a:solidFill>
                <a:latin typeface="Microsoft JhengHei"/>
                <a:ea typeface="Microsoft JhengHei"/>
                <a:cs typeface="Microsoft JhengHei"/>
              </a:rPr>
              <a:t>教材對應：第5章 重複執行程式碼；原頁保留完整圖文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247F2F3-69F6-4570-8BD6-8FEF2574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38357702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4BC33A-71D1-4A2F-8A79-28A05CFD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E185023-7266-4990-94B8-217E8A92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T6  逐行程式解析  1/1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1026DE7-3A3C-46EC-AAF8-70BA4122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while更新、計數與結束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CD7DF06-DBA5-4BC4-98F5-B272969F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第5章 重複執行程式碼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BB6FBB2-D2B4-4404-A04A-57DDB134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44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A6DD2-8089-46A9-B262-2FCE1537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E8F3833-C8A8-429B-8429-5ED88A78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4B70955-6EEF-49D4-9E54-8D6093C1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第16個儲存格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8C6A05A-2131-44FA-BBBD-57ECA4BC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F1A858-216F-4FFA-9B5D-E259959F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C003F96-537F-4D0F-BE51-EA7EA452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290E5EC-1492-4E4A-98BD-CE29B050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refresh_count = 0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ECA34331-5797-4BCE-B40C-B131F47A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設定初始值或清空狀態。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A737E401-05AC-495D-9B6B-D93BF9AB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3834E311-88A9-4D21-A2A3-6E00CB09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max_refresh = 3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28C8DE88-E1F4-4E72-9B68-C43EDF36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527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max_refresh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08BBA0-1EB2-4CDB-B63E-508B2012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AE7E5B79-B0D4-415B-9181-13440FDA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E1336C3C-EF7E-4F5C-8DB8-FE361B5B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while refresh_count &lt; max_refresh: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1D038267-CC35-4E66-901B-86007255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每輪先檢查條件，成立才繼續重複。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6265CEF2-0B62-451D-A780-D8DD395B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029E2858-3BF4-4C0B-BA5D-38A726DD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simulated_utc = BASE_UTC + timedelta(seconds=refresh_count)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EA173147-F9B4-4785-A1C4-C4E8E4A3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57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simulated_ut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c。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BAB7AA-449F-4C1E-BFAC-93D38EC9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43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98A83821-0BBC-46DD-AFB6-2D6388BB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11DDDB77-9A1B-4D61-8782-902DEB39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rows = build_fixed_rows(simulated_utc, fixed_cities)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9049FAB6-7866-4ED5-9C79-A0E89913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434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rows。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2437338E-94CA-4BA5-AEF6-51D1958C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C0E6AC62-3088-4378-A5A6-A9F53537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print(f"第{refresh_count + 1}輪", [(r["城市"], r["時間"]) for r in rows]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)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3FE33EB8-3C4A-4C84-9119-985CD9C7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逐輪列出所有城市的模擬時間。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D4FF97-F3D5-440E-B8F0-733E381D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F186B913-B8F9-4E40-AD00-91F6539A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BE72D891-A3D1-4993-8A97-AB7CE5E1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483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refresh_count += 1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FF55B6EE-8365-4EB0-80DF-3B5C80DB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4483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累加目前數值或文字，更新狀態。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1A2989EC-CF4A-4B02-A538-40941438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F0B70B90-D5DC-452C-AAE1-6FDF13A3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print("模擬更新完成，共", refresh_count, "輪")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0CA32E58-DF16-47F5-AA89-F948A9BE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8674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顯示已完成的有限更新次數。</a:t>
            </a:r>
          </a:p>
        </p:txBody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24F5F3C8-05FB-41D3-829F-AC4759E2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25196046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2372B-1049-459A-80B2-F9F92237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501866E-405F-40F2-915D-2310BD59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T6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531CBA5-E1B0-47DD-AD59-F5C459F8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while更新、計數與結束：執行結果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BC76016-C67D-49F3-9B04-17E9B2C0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第5章 重複執行程式碼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BCC8578-1F81-4F4C-8EEF-4ACE403D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45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4EDDCE-42AD-4A4D-9DA3-7B8E0DA8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432560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65D6417-79B1-4C01-AE59-24DA2BC3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3716000" cy="509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第1輪 [('台灣', '04:30:00'), ('日本', '05:30:00'), ('印度', '02:00:00'), ('UTC示範站', '20:30:00')]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第2輪 [('台灣', '04:30:01'), ('日本', '05:30:01'), ('印度', '02:00:01'), ('UTC示範站', '20:30:01')]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第3輪 [('台灣', '04:30:02'), ('日本', '05:30:02'), ('印度', '02:00:02'), ('UTC示範站', '20:30:02')]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模擬更新完成，共 3 輪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0B5C01F-4ACA-48E4-A1BF-EF36FA5E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62850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課堂提問：哪個運算、分支或迴圈決定了這個結果？改動一個輸入後再驗證。</a:t>
            </a:r>
          </a:p>
        </p:txBody>
      </p:sp>
    </p:spTree>
    <p:extLst>
      <p:ext uri="{BB962C8B-B14F-4D97-AF65-F5344CB8AC3E}">
        <p14:creationId xmlns:p14="http://schemas.microsoft.com/office/powerpoint/2010/main" val="30475675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83AD64-3DA9-49AD-A343-6F8C71BE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85BA1FB-BE61-4984-8C4A-A542023A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T7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40B0759-CE6A-4293-8EBC-A69AA51C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城市時區與夏令時間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66D873D-BEA5-40AC-B3B9-80D1AC2F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第9章 模組與套件／應用延伸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35BE580-041A-4578-B4B7-EDCCD020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46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6E8AC-CBA5-46E6-98EE-2B410B15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F32E709-7429-4D9C-833F-33B9A862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8CAEE30-A2F3-406A-81B3-DE533901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講授： 真正的世界時鐘應保存Europe/London、America/New_York等城市時區名稱，而非全年固定的+1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或-4。Python的zoneinfo依時區資料庫及指定日期決定偏移。對同一UTC時刻執行astimezone即可取得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對應城市的日期時間。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05532-AA9A-44A6-9FB5-F821FB49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FF57437-347E-4201-8782-82A4C03F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DD41A0B-CE72-4FEB-89EC-A9C4908B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33725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原範例的name與loc_time改為cities中的city與zone。仍然使用list、for、函式及if，新增工具只是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取代「固定偏移」這一部分。冬夏比較使用2026年1月15日及7月15日的固定UTC時刻；這些日期是測試資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料，不是現在時間。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CD63D-D002-4BE4-8419-71CE334F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05B856A-18E5-495D-BE0F-0DF905FB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16016D20-1A98-4649-AA84-CCBC842C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33900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若Windows缺少時區資料，安裝%pip install tzdata再重跑。套件資料可能隨各地規則更新，因此本節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由本機時區資料庫實際換算，不自行推測某城市當下的偏移。</a:t>
            </a:r>
          </a:p>
        </p:txBody>
      </p:sp>
    </p:spTree>
    <p:extLst>
      <p:ext uri="{BB962C8B-B14F-4D97-AF65-F5344CB8AC3E}">
        <p14:creationId xmlns:p14="http://schemas.microsoft.com/office/powerpoint/2010/main" val="52071347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7585FE-4155-4D00-A013-E144BB48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B443DA6-AE38-4CC4-A8BC-C274D6BC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T7  逐行程式解析  1/4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8806C54-08BC-4AFC-889F-4AD38BF0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城市時區與夏令時間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AF163E4-A94D-40CD-A722-78E3758F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第9章 模組與套件／應用延伸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24FCAA4-17F6-4450-9864-A6214BA1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47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A3C17-D205-4E97-A119-EB441019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059A840-40D9-4F18-9861-F6FC7F37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67A1D83-E935-48EE-A3CC-2CC312DF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第18個儲存格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9C69632-26CD-47C1-99D5-DE9C9880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1EEB6-DEEC-4CE2-9F73-358B0F6D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1355BD80-3109-4920-AC46-6A7E9B0F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AADCBC2E-5BCC-4EEB-861E-72782DA7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from zoneinfo import ZoneInfo, ZoneInfoNotFoundError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A54F11FA-4EF1-41C0-8C1E-A2B19780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匯入本段使用的模組或功能。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253F31A9-FA18-4CE6-BD68-0059DD39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E19C2979-4AC4-4D62-AC67-993CA967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cities = [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1BB75192-8818-404D-96F0-A963A564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527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cities。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221965-F3A4-489F-971D-7DA1F661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A744D5DC-3123-4090-9250-29C315BB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9920ED1C-E559-4381-8072-A7E325FD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{"city": "倫敦", "zone": "Europe/London"},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98AAA59A-0C13-4A0B-BEFB-29E10D01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718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以字典保存一筆城市及時區資料。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F16D58AA-F8CF-4FFB-915C-EB18FFE7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D79CE79C-43EE-4FBE-A1A8-F8480309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{"city": "台灣", "zone": "Asia/Taipei"},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53CF0DB4-D416-4C49-BA94-6101CAF5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57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以字典保存一筆城市及時區資料。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860114-E2F4-4DC9-9982-CF50A122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43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B8B69474-9BEE-454F-82C1-D4BAA4CD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E4B624F2-D9C1-4AC2-AA47-5DF5613F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{"city": "日本", "zone": "Asia/Tokyo"},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E0DBA3E5-5AA9-496F-B93E-A09BA79B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43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以字典保存一筆城市及時區資料。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23D85037-1686-4603-B9DD-0CDF37E0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DD3D1CF0-FA98-488C-9132-E52F791F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{"city": "紐約", "zone": "America/New_York"},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F8575036-1D72-4258-AF1F-2DE276ED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029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以字典保存一筆城市及時區資料。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B49C4D-90CD-47E9-A554-79432325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959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3AF69538-A79F-48EC-80B2-92A92E8A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60756CA6-7777-4B08-9DE4-0390B674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{"city": "雪梨", "zone": "Australia/Sydney"},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EC596EA4-A4A6-48C2-B330-B3DD998F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以字典保存一筆城市及時區資料。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AB426951-6E23-4675-A6F3-7E04C24B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37590EFD-5B05-4094-B4BE-9B6C0069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008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{"city": "巴黎", "zone": "Europe/Paris"},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9C8C7B00-F2D0-4A73-9C35-568D56BF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以字典保存一筆城市及時區資料。</a:t>
            </a:r>
          </a:p>
        </p:txBody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6CC390E4-3334-4B29-92C6-8796B0BD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15258792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D3F220-2449-4FDA-9D2F-29D2AB03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6BA4924-41FF-4F26-B59F-185F11B1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T7  逐行程式解析  2/4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69A6B14-FE00-4E35-A7C4-8E9561D5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城市時區與夏令時間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54FD2BF-561A-484D-948E-BE6EABDA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第9章 模組與套件／應用延伸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A8CBA67-4A76-4640-8978-26728125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48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945F9-4EC6-43C3-9E7F-B6483C81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DBBD7F7-409C-47D7-9D75-CCB94C9C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196E862-7466-4089-8F94-787AE4DF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第18個儲存格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4EF0578-1669-4A05-B5A2-20615754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4E7AC-6236-444F-84A3-8F8C77CB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C76B778-F478-45CE-AAE4-435E18EC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BAF2376-C480-43C2-B8FC-999C9DED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]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1194FBE-9587-4A2A-8F54-60AF2101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結束前面開始的串列、字典或函式引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數。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DE0FC7B5-22F5-4450-AC0D-763B9434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DBF9DDE5-331C-4C16-AF63-3657C49C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def build_city_rows(base_utc, city_records):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0B025FDF-74A4-4BE0-8B5D-5EF1386F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定義build_city_rows；呼叫時才執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行函式內容。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A05EB-78FF-4908-B187-7E2A5FC8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C472505A-9C3D-4909-A580-F82BB50C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280A1851-2223-4050-B3BD-11FCB6B6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if base_utc.tzinfo is None or base_utc.utcoffset() is None: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4D5DAC84-2E23-4744-B226-FB906458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確保輸入時間已帶有時區。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AC8618EE-5BD1-47F4-B28D-FD76C2D8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5E362175-1181-4E78-A6C1-397C4594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raise ValueError("基準時間必須含時區資訊")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9375BADC-1539-4410-B557-D09A75BB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提出錯誤，交由呼叫端的except處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理。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F435AA-B5E8-4622-ADAF-33017CFE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2E0B776E-C743-46CA-AEC0-7744A52A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C614C611-326C-49E7-B5B7-CD24A498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rows = []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E18AECDD-4860-451D-A648-4CD59017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768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建立空串列，準備逐筆加入資料。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044AB5A4-6CD4-4223-9F9E-739F77D6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8F3FB200-873F-4A5D-9016-F1C736C4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959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for item in city_records: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ED0B192E-739D-4B8D-A646-F335ADFA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959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依序取出資料；每一筆執行一次縮排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區塊。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CA30EF-C1B6-4BB6-95A6-98DA4EF7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626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4806DD41-69BC-4BDC-A82E-A828562F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E082053D-A9DC-4CFB-8644-356915E2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817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local = base_utc.astimezone(ZoneInfo(item["zone"]))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ECBD5103-3315-45A4-8D6D-E4A5C164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817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同一個時刻轉為指定城市或偏移的當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地時間。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9B096DBF-A94F-41AE-A023-448A596A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3C6388B9-24FA-4AB2-A61B-66392FF0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667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offset = int(local.utcoffset().total_seconds() // 60)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69ED3DEE-160C-4587-8E9B-2DEE2450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67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把實際UTC偏移秒數轉為整數分鐘。</a:t>
            </a:r>
          </a:p>
        </p:txBody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8BE62090-6734-4BDC-9F00-F99F8B9F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31615221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2F2579-A127-4EE3-8433-276221E0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07D9175-AA89-4816-B578-57FE53DB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T7  逐行程式解析  3/4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4C3B623-EF18-49FC-84B5-3CC08A98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城市時區與夏令時間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AEA4E2D-BF24-4E8C-9625-51616619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第9章 模組與套件／應用延伸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71E3AD4-E814-4A61-9304-038ED3DF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49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57EF5-1F13-420C-A93B-195D5E76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6466636-FD0D-4FA5-8B2C-C56B3F71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BB266F6-94B0-4910-BCF0-07DC0025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第18個儲存格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E9D4AE5-B13D-4441-8D5C-2B9B9F88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D38BF-1054-4F1C-B8D8-67788E2D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1873A64-42E3-4180-BDAA-BACCFE82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CD20B91E-8C54-44C5-95A9-7CAEEFC6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clock_text = local.strftime("%H:%M:%S")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8F725AFC-3376-49CE-8325-5D1CF7C5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將日期時間轉成指定顯示格式的字串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0083C198-1366-4B61-9BF0-EFC9F7A7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8D8361A8-F63F-4C41-B3A0-721201D0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rows.append({"城市": item["city"], "時區": item["zone"],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F5824132-6542-41D0-81D9-25719283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將這一筆資料或元件加入串列末尾。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681026-8B61-4A7A-9C7A-80DC743C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75176BFB-A503-48EA-92D3-7D585A39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055596EF-FDFD-40BB-98AA-8602BEF9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         "UTC偏移": format_offset(offset), "日期": local.strfti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me("%Y-%m-%d"),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87D88038-AD69-4DA7-BE6A-6020D1B9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接續上一行的文字、資料欄位或顯示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格式。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D1C31275-F226-4701-BD42-9F3CFBD7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5FDEFC90-AD4B-4494-9C96-D38619FA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         "時間": clock_text, "狀態": judge_day_night(clock_text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)})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2D00FFFF-FC08-4B44-9A11-F7FDBC70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243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接續上一行的文字、資料欄位或顯示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格式。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8ED64E-398C-49EC-A605-1D37ADE8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910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5CD40E50-84AC-485C-BAF4-EAFDB9A5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39992811-EDED-4C76-9F4C-682E4524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return rows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3FE0EC76-2E6F-494D-BE1B-3E83627D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101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回傳包含城市真實時區的資料。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DE5A8EF1-A868-444A-BA6A-B2CF193D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4E72F001-152E-449B-AEF8-FD53D015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959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ZONE_DATA_READY = True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EA517184-AA3D-4912-AEA0-7908F8F7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959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ZONE_DATA_RE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ADY。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E64A82-DD38-425D-A15A-DA4EF71E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626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9B48F90F-E2D0-4764-911D-10A828C9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29B56559-83C6-4037-9027-C502B198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817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try: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83A8FDF7-024C-41F7-A3CE-64672790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817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執行可能出錯的操作，準備捕捉例外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3B94D2B6-FA4C-4C43-9623-A637765E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2C25A270-2ACF-4EDF-BB31-2B4611B3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667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for item in cities: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C66C6385-CE87-4352-9E61-27C2EE95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67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依序取出資料；每一筆執行一次縮排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區塊。</a:t>
            </a:r>
          </a:p>
        </p:txBody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AC82C0F2-2F7F-481F-BE4F-5622D017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54317463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F1B466-D16E-4E26-823F-141BCF0A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F073EA8-D39A-41BD-BEBC-86C203D5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T7  逐行程式解析  4/4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287A98A-4662-40B7-8032-BAB555BF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城市時區與夏令時間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C2275D6-3581-4CF2-B1F8-7A269208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第9章 模組與套件／應用延伸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6064BDD-37B2-4566-B278-81F2BF41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50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F87F6-B903-41FF-BB62-F010E99A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677DEAC-3793-4C04-88A2-5D4ABC55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398EF81-6449-402D-8E1F-09E36BA5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第18個儲存格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3CFEDA8-36EF-4E8A-AADA-C8DD0DCD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E40DC-6487-4754-AC45-55722927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A81903B-FA9F-4A5E-ADE1-8BA06A29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9F908CD-3268-4C11-A98C-6B76944C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ZoneInfo(item["zone"])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59D06834-B2D7-44C4-81B6-02AA3DFB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逐一確認城市時區資料可載入。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C13F8053-D768-46B2-BA0D-AB801A6B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804EBF2C-579D-4BDA-9E55-7B95BC9A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except ZoneInfoNotFoundError: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8648583F-D998-4B80-BA62-06688DCD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捕捉指定錯誤，改走可控制的處理流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2C350B-810A-43F6-8CCB-05D48674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A739AC11-59A2-40E4-BE01-73332E68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1B5905BF-660A-4D0F-BF2D-1798687C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ZONE_DATA_READY = False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76BEE275-146F-4AC0-89D6-CBF50C9E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ZONE_DATA_RE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ADY。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A4571C68-6BE4-4348-B038-4A72846A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19ACAF61-804F-41E3-9E17-D0656F30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print("請安裝時區資料後重跑：%pip install tzdata")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41B5DDAE-4EAA-40BF-960A-3BC21D68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輸出目前結果，核對前面的預測。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151056-09E0-4656-B46F-669CDE50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910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8B39C2B8-01F4-4A46-A815-B7290A26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94E0030E-180C-475B-B263-19FB99AF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if ZONE_DATA_READY: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5BFDCDA3-9D26-4128-9D5E-1724EA1D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101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時區資料齊全才執行季節比較。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E6377932-BF50-49A0-AD78-BC3CB982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5D47CABE-7E0C-4B63-B4EE-473BB210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for month in [1, 7]: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5C11AC04-1286-449C-9456-7AAC3DBF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029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依序取出資料；每一筆執行一次縮排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區塊。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B34D43-8692-468F-AD8B-E87EF612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959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37F6A846-5DA7-4A22-85FA-36A14205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E828646E-49FC-4C13-9C05-AA43406B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sample = datetime(2026, month, 15, 12, tzinfo=timezone.utc)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3227D8A2-94C2-4EC6-843B-7130DFDC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sample。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313B7DCD-745E-4B4C-832F-B21C4FC0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341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83AB0A28-BBEB-4F22-8D07-70832F09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341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print(sample.date(), [(r["城市"], r["UTC偏移"]) for r in build_city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_rows(sample, cities)])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65F3D8D2-B14C-4084-B189-C0155889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341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對照冬夏日期的實際UTC偏移。</a:t>
            </a:r>
          </a:p>
        </p:txBody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EADDCB90-D1C3-4E34-8A05-336BF79D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3475749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FFF8F-F71A-47F5-99A5-AEC0E587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F531C10-A466-4755-9BA3-5F462BA6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T7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53E7D6A-EEA6-421C-8DB9-B4CDB348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城市時區與夏令時間：執行結果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FB40431-3921-4993-BB4F-47A917FD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第9章 模組與套件／應用延伸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752C091-A81E-4E5A-AE25-6F2957E4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51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1F8BF-5772-4ADE-8BFE-666DBB6C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432560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E0849A8-22BC-41F0-B417-25FB876E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3716000" cy="509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2026-01-15 [('倫敦', 'UTC+00:00'), ('台灣', 'UTC+08:00'), ('日本', 'UTC+09:00'), ('紐約', 'UTC-05:00'), ('雪梨', 'UTC+1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1:00'), ('巴黎', 'UTC+01:00')]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2026-07-15 [('倫敦', 'UTC+01:00'), ('台灣', 'UTC+08:00'), ('日本', 'UTC+09:00'), ('紐約', 'UTC-04:00'), ('雪梨', 'UTC+1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0:00'), ('巴黎', 'UTC+02:00')]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9382EA1-042B-4E4B-B9CC-9D3771F4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62850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課堂提問：哪個運算、分支或迴圈決定了這個結果？改動一個輸入後再驗證。</a:t>
            </a:r>
          </a:p>
        </p:txBody>
      </p:sp>
    </p:spTree>
    <p:extLst>
      <p:ext uri="{BB962C8B-B14F-4D97-AF65-F5344CB8AC3E}">
        <p14:creationId xmlns:p14="http://schemas.microsoft.com/office/powerpoint/2010/main" val="39933478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B1BF7-540D-415C-AD69-8F11FC3C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9EF80D2-3054-4921-B005-3BA8F454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T8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1851F73-ED84-49AD-979E-B76E0BCA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完整世界時鐘與DataFrame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540935C-262F-4CE1-8EA7-222C04E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函數／第7章 容器／應用整合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F225E30-9119-4DEB-A944-4D85B616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52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EBD2B-7AD6-46ED-B7E5-DC167CCE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8F730C5-6D21-42AD-98B4-E33D3081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526CCAF-5C5E-41A3-8170-ABA74447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講授： 整合順序為「取一次UTC現在、for轉換所有城市、產生HTML、更新顯示、累加輪數、暫停、檢查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while條件」。HTML只是畫面文字，真正資料保存在rows裡。日夜顏色由if/else決定，文字插入HTML前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用escape處理。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91FE3-BCCF-44E9-8F93-E06F7CBC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60FD6BB3-74B6-45AE-B714-720CA29A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D2451B3-811F-41A2-9B79-72DAE2E8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33725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原版clear_output會清除儲存格的所有輸出，新版以display handle只更新該時鐘區域。max_refresh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預設3，interval預設1秒；課堂示範縮短為0.2秒。要延長可呼叫run_world_clock(max_refresh=10, 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interval=1)，仍會自動結束。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00526-50B3-4470-AF3C-72E1FA8C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779B7E5-3A89-4FF7-B582-353FA03B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7CE765C5-F72F-4F7D-B7A4-9FD789BC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33900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下面DataFrame接續使用同一份rows。原df.copy()建立另一份表格；apply(judge_day_night)逐筆傳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入時間字串，概念上等同for產生狀態串列。先理解for，再閱讀apply，避免只記住方法名稱。</a:t>
            </a:r>
          </a:p>
        </p:txBody>
      </p:sp>
    </p:spTree>
    <p:extLst>
      <p:ext uri="{BB962C8B-B14F-4D97-AF65-F5344CB8AC3E}">
        <p14:creationId xmlns:p14="http://schemas.microsoft.com/office/powerpoint/2010/main" val="141878671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1FFCDA-A615-408C-A363-4192F79A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21AACD7-2258-46DD-9117-EF83DB5D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T8  逐行程式解析  1/4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D4AC704-263C-42F2-BFB3-9E3555FA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完整世界時鐘與DataFrame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A58EADC-D93C-4938-8F03-D7C07DE5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函數／第7章 容器／應用整合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503EF78-6BFB-4955-A28C-AA5D001F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53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CA7A8-3CE0-4456-B919-6CC14614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9D7C699-F5FA-4418-849C-F3EFFF12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2781473-67A4-4844-A19C-A6FE7379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第20個儲存格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5B5FE38-BD59-49E1-A66F-288E1A0D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15205-8CEF-4377-8940-186870A2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ED016EE-9E1C-4FFE-B60A-72E05A22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B6DDA5BB-48D4-42BE-A18A-34D2CD82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def render_clock(rows):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A2A651B4-B8AE-461B-A3C8-96ED8BE6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定義render_clock；呼叫時才執行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函式內容。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68FA15C0-86A4-443E-BEBC-42997A11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FF6341A7-BC19-4EAE-A210-67B2DC3A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parts = ["&lt;div style='font-family:sans-serif;max-width:700px'&gt;"]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903D8A04-D5C9-43CA-8499-CAB1037F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parts。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AF8330-3898-49CC-8597-908856F2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E0053626-F095-435A-A936-A3843CA0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4B0C60FB-7B05-4140-BE3A-A8D0604C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for row in rows: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CE9A57F0-4418-4C23-BE2F-D47E530B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依序取出資料；每一筆執行一次縮排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區塊。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4686AE77-24B6-4B48-B240-B148ADDD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35C09AB8-1545-4D2B-82AF-8E889064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color = "#a65b00" if row["狀態"] == "白天" else "#2458a6"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005CC326-ADD4-4029-B96D-F4E3DA2A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243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color。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2B8EBD-7AB7-4C90-B639-FBA927A8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43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AAC76C4E-D160-41D0-BF9D-E1591455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69C542A3-B837-408E-B4C2-D6C9CB3D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parts.append(f"&lt;p&gt;&lt;b&gt;{html.escape(row['城市'])}&lt;/b&gt; "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431B8E27-CEAB-4BFC-980F-7A5B94A8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434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將這一筆資料或元件加入串列末尾。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1A556BEB-B4F2-4D96-9D1F-B248714B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7239655C-62A2-4429-BBEA-84066468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         f"{html.escape(row['日期'])} "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5C1A1FBF-629C-4ED5-BB5D-4A309FB8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組合日期、時差與狀態的HTML文字。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A22E62-764B-4D04-85F7-14A1154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7658F072-0E59-482A-8EE0-66E2E594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665A59DC-CF64-4472-AB1E-7A5B63F5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483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         f"&lt;span style='color:{color}'&gt;{html.escape(row['時間']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)}&lt;/span&gt; "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40D2F2F1-B9F0-4010-81F4-926B3E7F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4483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組合日期、時差與狀態的HTML文字。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DDF23D47-233E-4E57-A989-035077A1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341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2F4C3875-AB06-41D9-AF6D-43F4EA86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341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         f"{html.escape(row['UTC偏移'])} {html.escape(row['狀態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'])}&lt;/p&gt;")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3231B508-F738-4793-B52A-F01B9541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341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組合日期、時差與狀態的HTML文字。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787DF9-A6E8-49ED-B27B-0FA194A9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008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19923962-A988-4DE0-82DE-D97C1A0C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199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0089CA71-B464-4395-ABA0-7D7E1370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8199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parts.append("&lt;/div&gt;")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644A1FD6-C712-44F5-9DA7-E2B7FE1E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8199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將這一筆資料或元件加入串列末尾。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D0DA21CD-79D7-4D01-86B3-117046EC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1384487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466B14-7557-4CD9-9D93-2AE08CE8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4F7E772-9ABE-4B99-BA6C-BDAAEBE6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T8  逐行程式解析  2/4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C297DAA-F6FE-4547-867E-C6A19D26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完整世界時鐘與DataFrame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71EC6DC-E034-457C-AAE9-3C2BBEDB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函數／第7章 容器／應用整合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15D6907-04C4-4A10-A9D9-068B19B5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54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51B87-0E45-4F1A-8E5A-018589AB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8F2AF02-EDC4-42C1-A3A4-8C9F9905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C11838B-1153-4F74-8927-2E2B3E95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第20個儲存格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E96BF69-804E-4B5E-B501-2F4FD3D2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30114-BCFD-446D-ABE3-64E3149E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DB072CAD-CF33-4A81-9F14-66D61C40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6885ABE8-4E79-428A-894A-4023A64B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return "".join(parts)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3FAE67CD-A0CC-439E-BCBE-6BB55376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將HTML片段串接成一個畫面。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1E2B5792-0195-48F0-A95A-850B4E66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F7145C56-1A19-48FC-A331-66974C40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def run_world_clock(max_refresh=3, interval=1):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6F97D3A3-C257-4088-8C3E-C369E4F7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定義run_world_clock；呼叫時才執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行函式內容。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A75303-4967-4FC0-AD36-02D8207E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2AED7966-30C9-47F2-BF24-F18430A9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0D1D5B19-CD12-490D-9201-7E95E72F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if type(max_refresh) is not int or max_refresh &lt; 0 or interval &lt; 0: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97602988-03C6-4212-9C46-B2681F57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檢查更新次數與間隔是否合法。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A4E5F650-F31A-42DD-BDC2-F3981A2E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31599A14-EBCC-42E4-8248-3FDF775F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raise ValueError("更新次數須為非負整數，間隔不可為負")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2B7EB334-E05B-42D0-90AD-FAA22B2E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提出錯誤，交由呼叫端的except處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理。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F33AAA-7020-467A-92CE-8A6E309A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F6B1E67D-67CF-456A-A7BE-DC22EBA9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13C0973B-0FB7-4867-9762-D7025BD5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if not ZONE_DATA_READY: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5D555E7F-714B-4387-803C-9ADBF8E0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768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缺時區資料時先退出。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27D37025-7E20-43D1-9203-44156BCF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EFFFEBEC-FB04-4EF1-999D-12A22ADE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959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print("先安裝tzdata，再執行T7。")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61AE41FB-9AC9-47D9-ADB9-895979DF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959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輸出目前結果，核對前面的預測。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F44289-407B-48FD-8A46-20E012EE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959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249BEABA-72D3-47B8-8EB9-10954513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D598B6CE-838A-4805-913A-244D676F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return []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8813F889-CEB0-4724-9B41-0D0583DD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回傳空串列，避免後續誤用。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5D8E760C-5EFC-42F2-9015-14C6611C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F92336A6-A29A-4544-8EDB-190E4C1E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008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count = 0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3C2D6165-9473-4D96-B626-2ECBB133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設定初始值或清空狀態。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0E8C7E-8BFF-48B0-863B-22275627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008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536C12E8-641E-4C52-9D9F-A3076B70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199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6F15EDEB-1925-43EC-9761-B2E55465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8199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rows = []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C82FFB0B-D5AA-41AB-B966-85C656A0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8199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建立空串列，準備逐筆加入資料。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DA69490B-57F2-4F3A-B9A0-F7FAB62B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708584688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A6EE38-660F-416B-856D-9AC4E8B8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54EFF32-E237-46C0-9B92-093AD220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T8  逐行程式解析  3/4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D797DCF-129D-4B3D-A574-6EF24B03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完整世界時鐘與DataFrame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8FBBA72-6B26-4023-8654-FFA5621F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函數／第7章 容器／應用整合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B0A1FCD-19C4-4AEB-B5E0-955A5ADF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55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9137B-2C1B-4955-B06D-76B7C4AC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F086D42-47FB-4B2D-ACE4-D4C13004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D6472FB-FDDB-4733-806D-58CDC663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第20個儲存格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6D99BE9-0921-47C0-9313-50ADD011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4E261-95D7-4AD6-82B4-C8FBA9D0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AC89187-383E-4697-955C-268BC68E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F212B4C-14CB-45CB-BAB0-ED3C1B5B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handle = None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5C27FBF0-7295-491C-97C5-E0149539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handle。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62C5609B-395B-4B8E-9F22-05409668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F49C2AA0-2F32-4194-801A-B799794D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try: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B2A4370C-773F-45AC-BB1E-15D4C46A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527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執行可能出錯的操作，準備捕捉例外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98C39B-617F-4C20-B529-90D63566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619CDEF1-8260-42FA-A578-5F9765EB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A4F5C695-615E-4E7C-B5D5-ACB098A4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while count &lt; max_refresh: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39CBB4EA-CB21-4A6B-910E-7E5DD37D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每輪先檢查條件，成立才繼續重複。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1ADF8C4B-DF1E-4758-958C-77B5E4A4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43DB1AFF-3845-438E-9470-B1BB0B24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base_utc = datetime.now(timezone.utc)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110A9B5F-7BF8-40A0-8EB4-2BA7F4D1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57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只取一次UTC現在，供本輪所有城市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共用。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A5BF5E-B7BF-44F8-A80B-484D638B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43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A5AF41C0-ECCF-42A0-AC5E-F4668F5C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F3550B42-3CB1-4209-809E-F90F53F0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rows = build_city_rows(base_utc, cities)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C2DD61CE-B42E-4A67-83E3-EC5D1BB1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434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rows。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84564032-7ACA-4256-B47A-987AC418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F3F60B40-AB73-49C6-A4C9-20F8201C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content = HTML(render_clock(rows))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F71A003A-253F-408C-93EA-EB653540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content。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02CBF0-ADE4-4C9F-8460-1045950F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62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CC2BCAD2-847A-41EA-99C3-38975237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81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60A165BE-646C-49DA-B1AF-EA3C23FE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81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if handle is None: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1DBFED3A-77AE-4D3E-9888-B782CF1C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81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第一輪建立輸出，後續更新原位。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24F82BE1-92EE-4811-9050-B94BB6D6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CF7FB707-9245-4456-B725-2F7A8E82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    handle = display(content, display_id=True)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686CE456-520F-4ADF-9337-C55982BC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867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在Notebook顯示文字、表格或互動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元件。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A0D7BA-86CA-45C4-9D25-8CD4F27B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292F734E-A9A5-4866-B489-831EDC3E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BE061B5E-D67C-45AA-BEAE-6A23BDCB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53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else: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278DBD80-9BAE-4FEA-A767-27EDF02F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前面的條件均不成立時執行。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91E252B3-C12F-4115-A4F1-56DA89D9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37125515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06C544-46AF-4E35-9A59-341FEBE9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C534C18-7177-4545-889A-A1B3764E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T8  逐行程式解析  4/4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7A17152-3AE6-4644-A139-0F5C4B64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完整世界時鐘與DataFrame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C96EC54-3DDA-4FB9-8D48-F46883B8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函數／第7章 容器／應用整合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2C1CD2B-5638-4143-B598-87598BBB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56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CA0CA-8BBD-488D-A0E0-BF174978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67048AB-2791-4E90-B299-FAD7EDB5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B616CCF-CC7D-4D9B-8ECA-99A0221C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第20個儲存格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C06057E-562B-48C1-9873-DEE180CA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BFBE6-5356-4B62-9F6E-EB8FC5D1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1632CE36-0F43-45D9-BB21-38814626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3B03EE9B-9028-45F6-A096-07921FA7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    handle.update(content)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630C3219-2CBB-48F5-AB2B-2FF995C5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更新原有輸出區，不持續新增畫面。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F1B19BF6-00A1-4DF9-955F-89942CE9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2E9392F4-F035-4121-928F-305E0940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count += 1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8E20617B-C488-4281-A334-65E9871F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527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累加目前數值或文字，更新狀態。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B14E30-2FAF-4327-AC12-DC141F29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83687B0D-9462-40F7-BFFB-850D8D93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AB6E324B-3222-4874-B5A8-82CA08E1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if count &lt; max_refresh: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91CC8955-56CD-47CD-94B2-F6F3CF98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718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最後一次之後不再多等待。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0DDCF757-1B49-4A5D-86D3-9B80DA37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E7D330E2-F27C-4013-8F0C-9974D5E5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    time.sleep(interval)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1B867F0A-94A4-4C59-9374-76F223D7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57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暫停指定秒數，避免更新過於頻繁。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66D2D0-162D-4C26-A1FB-1EE0F961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576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EF116126-7D93-4EE2-B43E-E64006EF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4E6B403D-E089-4192-8140-37299394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except KeyboardInterrupt: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BCCD866F-33FA-43C5-85FA-2047BC8E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767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捕捉指定錯誤，改走可控制的處理流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程。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E83BFAE6-1135-4DEA-AFFD-A945790B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DB334652-1362-4011-B6D1-08E87E1A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print("使用者停止更新。")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E91889EB-344F-401B-B52E-23D3BD8A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捕捉使用者中斷，正常收尾。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7CACAF-BDD0-48C2-B64C-7655FF93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625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8F5D7A35-8824-4890-9D32-8EC4A46D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816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59D8357F-0210-4CBB-B39C-3002B0BA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816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print(f"本次完成{count}輪更新。")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12B65716-BF4C-489E-BAEC-048C8D4A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816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報告實際完成的更新次數。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2E65B4BD-34A8-40F4-8F04-CD08D3AE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FD8EFD6F-0095-4AFE-88F9-BB262A48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007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return rows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F7DC1458-9E4A-4D33-A724-F0806B9F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007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回傳最後一次取得的城市資料。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1E9C13-CD90-491D-8BED-83D7E945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674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C6F0EE1C-BA5C-453A-9916-3E1CB470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8AF9A1EC-0714-4DF1-972B-2B3CA1A9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latest_rows = run_world_clock(max_refresh=3, interval=0.2)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6BC88C55-A7BF-4F5A-8274-D10C7A03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latest_rows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776879A9-A641-4702-8F50-7AEEB2C3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6637503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92986-0654-4DC9-92CA-4D522045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D16A4EF-5877-4619-BABF-43D7098C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T8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9D00F0C-3722-40C6-8387-A43F1E29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完整世界時鐘與DataFrame：執行結果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C720C9C-082D-44FD-88EF-4BB938A3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函數／第7章 容器／應用整合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527E9D0-9D74-4DFE-BF4C-75E4FCD8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57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D3418-C3A8-4605-AFFB-68F38868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432560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ED5ACFF-5246-4672-8B69-B7DD7021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3716000" cy="509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本次完成3輪更新。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B17F8BC-FA23-47B6-9A2D-68EAB991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62850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課堂提問：哪個運算、分支或迴圈決定了這個結果？改動一個輸入後再驗證。</a:t>
            </a:r>
          </a:p>
        </p:txBody>
      </p:sp>
    </p:spTree>
    <p:extLst>
      <p:ext uri="{BB962C8B-B14F-4D97-AF65-F5344CB8AC3E}">
        <p14:creationId xmlns:p14="http://schemas.microsoft.com/office/powerpoint/2010/main" val="1732224741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F7F626-B71D-4039-9882-0FC1A54E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4F3A159-33CC-4521-AC64-E6CFCA58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T8  逐行程式解析  1/2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DBCB3C4-A642-4911-813D-F3B1CE34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完整世界時鐘與DataFrame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E5E0E40-AA53-4082-BA0E-248DABA7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函數／第7章 容器／應用整合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2B00A42-AC3C-4C74-B888-18751860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58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94AB2-3C38-4E08-814A-AC7BEFD4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3FB578B-4175-4980-9558-7B65A80F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FFAE89F-68DD-45F2-B710-9B77EF4C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第21個儲存格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E2C20D1-EFA8-44CE-B1ED-4F876E9F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A28D1-A980-448E-B67B-0A8D5E41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48D8F70-9803-4001-9676-79B893F5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D2F4B80-C2F7-40D9-975E-0D3B220F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try: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7BF6E2C3-73AA-42B3-B4CB-9A52DCC1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執行可能出錯的操作，準備捕捉例外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A1C141E3-C4C8-4ADE-908F-91795F22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5B90DCF0-64BE-44FA-B7FB-579D9CE9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import pandas as pd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E5C2F7B2-FE09-4CBA-B121-D6F7AFA2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匯入本段使用的模組或功能。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5ADBEB-0875-4EC1-8AAD-E401EA47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0D7F4F4F-7B77-4E0D-A4D5-AF32B5A4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E80E84B4-E63D-4835-B23A-5E23DE23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except ImportError: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A777D830-694C-4154-BECA-83F4BE06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捕捉指定錯誤，改走可控制的處理流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程。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4AEFFBE4-2AA5-4E52-8B3B-F309DE5F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34277856-8597-43C7-B643-C119694E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pd = None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447C9D72-0243-462F-9ED3-0B241C64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243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pd。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AD5E03-72F7-4FFF-9463-B88E1290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43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A8FCF301-79B9-401F-A62C-C08E802A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E3A745E4-F6E2-4D55-AEAC-C10E5BCB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print("表格延伸需pandas：%pip install pandas；固定時差與文字版不受影響。"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)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40DB72D0-B64D-44C0-9484-65D87A66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43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輸出目前結果，核對前面的預測。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DF70E4F0-D839-4445-913E-F203560F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84CEE27E-932A-4671-B954-5DB336A1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if pd is not None and latest_rows: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EA554182-9A95-4DC4-BE06-363F0151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029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判斷條件；成立才進入下方縮排區塊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D0F0C6-9CC8-4A43-B19D-C84140CB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959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D246751F-7A6A-4730-B40A-E9E686FA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B0A8C9C5-25BE-412C-920D-180DEC5A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df = pd.DataFrame(latest_rows)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6B01B1CA-8FE4-4BE8-9174-B64257A0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把每筆字典整理成具有欄名的表格。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583EC72E-963B-4188-A9F5-45917F33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341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1718C966-A50E-4B4E-99BD-BD40DCC1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341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df_status = df.copy()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4551DE7A-8D50-4A0C-9EE0-A9A303B6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341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複製表格，保留原始資料。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D5B420-73D3-4184-9883-041D3CDA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02BF7946-BCD0-4226-8EF1-1AEFB83D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66B28CA8-56E8-4814-AF27-DC316B9B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532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df_status["狀態"] = df_status["時間"].apply(judge_day_night)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0071992F-B662-4F5F-9B09-E0BDE36C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將判斷函式逐筆套用到整欄時間。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AB597BD7-2D9D-4361-9579-0F57C14E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328104023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FFDA7-7EFD-4E8E-83CC-C4F98C5D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AE17079-3D69-45DE-858C-E5DC5D8B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T8  逐行程式解析  2/2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73B6B0D-57FB-4958-A925-318CB772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完整世界時鐘與DataFrame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A1BCE6D-BCFE-4F1C-A7CD-A85EE8AE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第6章 函數／第7章 容器／應用整合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ACE6021-C1DF-420A-8614-67D2B86E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59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BC3F5-1EC3-4E74-96F7-3401B08C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5F5E406-D2DE-4A6A-9119-ACCB1C15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97FF20F-FC20-4D1E-97A1-A6CA3E4B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第21個儲存格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F5F98A9-191F-4D58-B368-2432EC45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29BA5-4295-4B85-9CB5-D90BF22F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12BE437-A45A-4806-884C-DF6D7453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9BB6054A-43BC-42D5-8DD9-3EE52F3C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display(df_status)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5F7DFAD-449D-491E-AADE-2CDC2123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在Notebook顯示文字、表格或互動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元件。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09861975-26B4-4CE2-8553-4EF4A727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1449996284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D9C3CA-DCF7-4C8A-B5A7-D8E1B5E8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7818E82-27B1-4FA6-90F0-1BD21EC4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T9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2C102EB-6A70-4322-AE34-89AC35D0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隨堂練習與參考解答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876A471-0498-44D0-AC55-C4E5E10B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第3–7章 綜合練習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1C5CB7A-860E-47BB-B29A-8C618936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60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AFE31-9D2C-4DD6-BEDE-AA5C7A2F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B65A6D6-D4B5-4FF9-9F19-63A316A0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D939C48-F07A-4F43-908A-45DA39D6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1. 運算式：UTC 23:45加330分鐘，當地日期要加幾天，時間是多少？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2. 判斷式：將上班時段定為09:00至16:59，寫出函式並測試08:59、09:00、16:59、17:00。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3. 陣列與for：加入印度，城市時區採Asia/Kolkata，不要改迴圈次數或寫死第7筆。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4. while：讓實際時鐘更新5輪後停止，再改成0輪，說明輸出差異。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0656A-334D-47B4-A119-FD5B63D4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F36538D-B971-42A2-9263-F5CD0C37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0E31028-AB16-4240-94CC-A87163B0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67100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5. 函式與整合：輸入城市名稱查詢該列資料；找不到時回傳None，交由呼叫端顯示訊息。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18DCF-EAD7-494D-B6E4-0FF5E393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72927C8E-123A-4C23-9835-D5F89C8A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7228796A-12F7-4588-B69B-F12BFE1F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33900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參考解答： 第一題隔日05:15。第二題條件為9 &lt;= hour &lt; 17，四筆分別False、True、True、False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。第三題在城市串列加入一筆字典即可。第四題將max_refresh設為5或0；零次不顯示時鐘、回傳空串列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。第五題以for搜尋，找到便return，整個迴圈結束後return None。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784DC-60DF-4E5C-A0E6-CAE405A8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3407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AA41CABF-06C9-4AC8-A71D-D04F104E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181A2A7E-D0FB-4E93-9288-A54B52AB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34075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口頭評量： 請學員指著自己的程式說出：哪個值控制重複？哪個分支決定顏色？日期跨日在哪裡處理？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哪個函式可以不用畫面就先測？</a:t>
            </a:r>
          </a:p>
        </p:txBody>
      </p:sp>
    </p:spTree>
    <p:extLst>
      <p:ext uri="{BB962C8B-B14F-4D97-AF65-F5344CB8AC3E}">
        <p14:creationId xmlns:p14="http://schemas.microsoft.com/office/powerpoint/2010/main" val="137750306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2ED9CF-CD1C-4407-8D61-B790D82E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3D72A4F-632D-4E52-9A61-E053F0BA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T9  逐行程式解析  1/2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034C347-B0DB-46F5-B3A8-5699F6B4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隨堂練習與參考解答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9244125-7BC7-40EF-9996-4CCCF33E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第3–7章 綜合練習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1063B64-17B7-4A82-93DA-E1A71BCF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61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D4DD3-2F6E-43EC-8540-301C9A26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918BF4A-0107-43BE-ADF1-14C92551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2219545-A8E8-4EDB-81E2-6984B92F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第23個儲存格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4930B4E-9A13-47B6-A947-71F090B1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79824-A97E-4C09-A4DA-0C3C96B7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6704109-81CE-4B76-B22A-6DDE7C24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6653E063-B01D-4A18-8417-8304776E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def is_work_time(time_str):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EEB3D2A-A559-4069-89D2-60048840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定義is_work_time；呼叫時才執行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函式內容。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6ACECA9C-59DF-4F23-93DE-7A175696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2C9B504B-B676-4ECA-BFA5-A1B29DF8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parsed = datetime.strptime(time_str, "%H:%M:%S")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FCF9424C-CFC4-436E-AD27-FB4EF1AF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解析並檢查時間字串，取得小時等欄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位。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39784A-DA6A-42C6-9EB3-D16C214B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179A90C0-4C37-483F-8B87-8E27EA2E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E21BEC4A-4A99-4F78-92B9-A365B86C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return 9 &lt;= parsed.hour &lt; 17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C0C3682D-C8A9-4E8F-B030-53C94494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上班區間含09點，不含17點。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C904510E-00C6-405F-89CD-ECFEDFA6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DAEB1AA5-B5BF-4DB4-8D72-7B404518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def find_city(rows, city_name):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5D21288E-F555-4863-8F26-73A1EEF7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定義find_city；呼叫時才執行函式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內容。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1925DA-2FF0-4BB0-9C0F-043DD90C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6C17A33B-A11D-41FE-821A-548FCF84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D90DF7F4-87AB-422D-8067-73EB169E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for row in rows: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7DCBD530-DDF4-4148-9CF8-5C6C38C8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768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依序取出資料；每一筆執行一次縮排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區塊。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D7460850-A67A-4107-A5E1-1C56EA87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5F12E2DA-9493-4CE0-8246-91400A3B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if row["城市"] == city_name: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8ABCDC3A-DDBD-4E6D-A2EE-579FF153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62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比對指定城市名稱。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6E341C-3F18-4A84-9DC6-72480075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49916297-F686-4AFC-A8BF-C05218BB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443C03AA-D966-44DB-8A71-FC3146D4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48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    return row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61E01B97-262F-446E-B045-403D5E7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找到時立即回傳該資料列。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34968F08-EF01-4AAC-8E35-7A36C0AB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2132861385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3760D2-C65B-4185-A82E-BE5A854E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5EDD9E6-7EE3-4738-A524-6AD14FAF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T9  逐行程式解析  2/2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8053ED2-1CB3-4545-880E-5676C223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隨堂練習與參考解答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B2B14F6-C753-49AA-8E3A-48E37E9E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第3–7章 綜合練習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B3FBC9B-BCE2-474F-98B3-4212B0D4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62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6A511-BB88-41B2-B1E3-AB98A8AB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FB5ED92-268E-403A-8AF9-F3A0DF5B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91E93F7-7016-4C1E-8AFF-7039A92F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第23個儲存格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0BDDA14-4415-4281-8362-BC8984AE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6A092-EC22-461F-B71C-0DC9D03F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18E0845-8211-48C2-B39D-0F96F796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77B9A35-4EB8-4F59-A484-08E04C50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return None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62B2DAF-75F0-4FA6-A7B1-67A6DF1D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走完整份資料仍未找到，回傳None。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51F051A2-99FE-4D1A-A437-FE70A2C8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BDBA36E8-F4EE-453E-8D84-83EBB060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exercise_cities = cities + [{"city": "印度", "zone": "Asia/Kolkata"}]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66E278E2-83DE-4CA4-84C6-5308F80D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exercise_cit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ies。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46B918-E19C-49E4-85B2-BBEBC932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389762D2-B016-426A-85C4-6E3040B6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068F7F3F-7527-4622-9857-D6132EDB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if ZONE_DATA_READY: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63E3BD55-E119-4337-916D-3DC19474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有城市時區資料才執行此區塊。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56FEDDE8-C832-4271-B18B-7550D2DA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9955EE89-30BB-498A-A083-5068F26A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exercise_rows = build_city_rows(BASE_UTC, exercise_cities)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3C91FCF7-C59E-4251-AB54-3F165AED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243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exercise_row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s。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7D68B1-9C96-4CDB-9C0D-84D7BE55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910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6613008D-B3FA-4E47-AA96-048B265B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3EA41801-A72F-4F5F-8650-12E8FDD4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print("印度資料：", find_city(exercise_rows, "印度"))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C716ECB6-0B3A-4F26-9A62-B81991F2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101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輸出目前結果，核對前面的預測。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D8123C65-CA6A-457E-AFD3-C095F1A9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FA1EDA13-44CB-4D83-9916-EF233B88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print("查無城市：", find_city(exercise_rows, "不存在"))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E72252B0-7368-4613-806A-92CDFDF7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0292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輸出目前結果，核對前面的預測。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9FBC81-B649-4247-9DF3-27892FD9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81548B01-6482-492D-AA39-6DE34B48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9574416B-390C-4C29-8BED-3A02E210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483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print("上班邊界：", [is_work_time(t) for t in ["08:59:00", "09:00:00", "16:5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9:00", "17:00:00"]])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5850B65F-40C7-4811-9520-6E43E8DA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4483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輸出目前結果，核對前面的預測。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DCB3869D-0F55-450C-A528-BDDB9098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341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1366D737-2818-45D9-A7DB-5B84F4F7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341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A7B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5A7B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5A7B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5A7B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5A7B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5A7B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5A7B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5A7B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5A7B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5A7B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A7B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A7B68"/>
                </a:solidFill>
                <a:latin typeface="Microsoft JhengHei"/>
                <a:ea typeface="Microsoft JhengHei"/>
                <a:cs typeface="Microsoft JhengHei"/>
              </a:rPr>
              <a:t># 延伸操作：run_world_clock(max_refresh=5, interval=1)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1D4AB186-6CAC-4515-99AB-A46E8051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341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註解：延伸操作：run_world_clock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(max_refresh=5, interval=1)</a:t>
            </a:r>
          </a:p>
        </p:txBody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96D9EDD6-C456-48AB-9C57-E69ED933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464610084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C3EE0-55FD-421A-8017-F5127891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1D796DD-FBD4-4C4A-B9BF-6A0C8AA9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T9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5E155C6-39AC-4553-AE43-46708518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隨堂練習與參考解答：執行結果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4B65ADF-C797-4088-94A2-F635F80C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第3–7章 綜合練習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BC6A4E5-528A-4083-BF9C-900F5A47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63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6B8DA-402B-46C6-BA1D-D2EC30B5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432560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0D09452-963A-405F-A5F8-6079794E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3716000" cy="509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印度資料： {'城市': '印度', '時區': 'Asia/Kolkata', 'UTC偏移': 'UTC+05:30', '日期': '2026-01-16', '時間': '02:00:00', '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狀態': '晚上'}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查無城市： None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上班邊界： [False, True, True, False]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66590BC-DA49-4AA9-B406-F1827F33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62850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課堂提問：哪個運算、分支或迴圈決定了這個結果？改動一個輸入後再驗證。</a:t>
            </a:r>
          </a:p>
        </p:txBody>
      </p:sp>
    </p:spTree>
    <p:extLst>
      <p:ext uri="{BB962C8B-B14F-4D97-AF65-F5344CB8AC3E}">
        <p14:creationId xmlns:p14="http://schemas.microsoft.com/office/powerpoint/2010/main" val="465957118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077EC5-834B-49E1-BB8C-15E0B752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5D82FAC-86A5-4AAD-BC30-133086A6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T10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13AC39D-1554-451E-AD80-634F6F66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測試與原程式對照 1/2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6456EF4-6941-434A-B0DC-8E5352C8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第3–9章 綜合檢核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D1E3A79-6BE8-4F99-A49A-D2E355A2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64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BD185-8A87-478F-AB45-37FF01CB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EC2DEA6-98C0-45C8-8981-608E66E3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D53792B-0A17-4DE2-BCFA-E10240DD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測試使用固定基準時間，所以不會隨現在時間改變。城市時區的季節測試只在資料庫可用時執行；未安裝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時會清楚列出略過項目。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88F77-335F-49F5-B12D-950CD4AA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CC0AE8E-7E17-4A06-B4B2-DDAD0028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1D341C38-A452-4F6F-BA32-2A44CB94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035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原範例位置  ／  本版完整講授與程式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261B2-B029-466E-860B-8169128D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575776A3-DCB5-4748-9529-25ACC617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3A35E4B9-BF85-4AF9-8F11-D43D77C1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0045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timezone(h)、timedelta(hours=h)  ／  T1、T3固定時差模型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FBBFF-CF27-435D-A189-A0A34D3A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096A5552-9203-4690-9779-9538C54F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849A4684-8E0E-4530-BC22-822E3FB6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0055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name與loc_time平行串列  ／  T4資料配對、T7城市時區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9E7607-8E31-40EF-9407-24DD5718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E012708E-DFAB-41E0-A08C-86803FB3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81D553FF-ACF2-4B4E-B9A1-FB1C4E2E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0065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for i in range(4)及range(len(name))  ／  T4、T5資料驅動走訪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2D47BA-CA3F-47C8-AFA8-FA8DE10D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3BDB2CEF-48E9-4CC7-BBEB-408BC56F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02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85FF1B2E-3E7B-47D9-8066-C4F820A3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0075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while True、sleep、KeyboardInterrupt  ／  T6有限示範、T8有限實際更新</a:t>
            </a:r>
          </a:p>
        </p:txBody>
      </p:sp>
    </p:spTree>
    <p:extLst>
      <p:ext uri="{BB962C8B-B14F-4D97-AF65-F5344CB8AC3E}">
        <p14:creationId xmlns:p14="http://schemas.microsoft.com/office/powerpoint/2010/main" val="1133110663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55B3FB-3CBD-4497-AC35-2CE046EC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42F15AD-516F-4AF0-B6B5-8C59C42A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T10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8804A71-80CF-472F-8686-8311162C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測試與原程式對照 2/2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472BFFA-8382-402B-A4EB-DD953CDE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第3–9章 綜合檢核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B99FB5C-CE70-4015-B744-2FE9FCFC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65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CD98F-0147-4904-9AB9-36979B5B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A8C4C99-2689-4293-973C-C0DF701A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8EB1861-C4C5-4961-825A-EAEAFAA6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strftime、split日期時間、HTML  ／  T1、T3、T8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E3297-6EE3-495A-8C65-D4528754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5349B41-1773-4FDF-AB42-E76500F4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174F0F79-5FC4-44D8-BD96-D8425143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3365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dates、times、gmt_offsets、DataFrame  ／  T5字典列、T8表格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B4B8B-FD4E-4906-BACF-A8369A73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9BDD337-B70A-469E-BFCE-D8B3939A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C9FCAEAD-0939-4471-B0B2-BBAB17AC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33750"/>
            <a:ext cx="1314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judge_day_night與apply  ／  T2、T3、T8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81F422-A5F0-407E-81E1-2C826BFE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338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03D0357F-02A5-4CAC-B568-02F52C47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C88AD2E8-D4AA-4D84-A7BA-95C85F65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1314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與計算機相互比較： 計算機的二維串列描述畫面配置，時鐘串列保存城市資料；兩者都用for走訪。計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算機由按鍵事件觸發一次計算，時鐘由有限while主動更新。兩者都能把核心函式抽出來，不靠視窗先驗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證結果。</a:t>
            </a:r>
          </a:p>
        </p:txBody>
      </p:sp>
    </p:spTree>
    <p:extLst>
      <p:ext uri="{BB962C8B-B14F-4D97-AF65-F5344CB8AC3E}">
        <p14:creationId xmlns:p14="http://schemas.microsoft.com/office/powerpoint/2010/main" val="1305804842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962A38-ABAA-4A9B-97C2-9CBCCC62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91AC6E8-A98C-49D6-9058-E46C1F20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T10  逐行程式解析  1/4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21249B2-96E9-4853-A195-F73D1D46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測試與原程式對照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587A4AF-A0DB-4A15-BFD0-F4C061F7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第3–9章 綜合檢核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50EB52B-BBD8-485F-A804-EAD6BF05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66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87BBF-82AE-4800-A0D8-146A8E08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4D77930-89B8-4B39-8B7D-A08F3430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9230532-CE35-450F-B58F-AA4BFF81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第25個儲存格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6840027-D828-4F42-9A7A-67BECFB8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4AC7E-25C4-4E78-98BF-9796FB7D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A0974A5C-0A33-487D-862B-3909A19C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D1F932A-8572-4620-A781-9F0969FF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assert fixed_local(BASE_UTC, 480).strftime("%Y-%m-%d %H:%M") == "2026-01-16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04:30"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1FA21DD-3D75-41A3-BD40-9E7A9EAD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27AFAD97-0B49-4B9D-9B58-BCB9D7FE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50314FB8-8846-444B-811D-25AA64DA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early = datetime(2026, 1, 15, 1, 15, tzinfo=timezone.utc)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39DB3C12-64CA-4047-B5A1-C543FDB3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early。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5331D7-FF0C-4B85-9538-C0E49D2A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ACA1906F-D7F6-45D1-A59F-DAEFC29C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B4BFB467-AC59-4621-8BFD-537E6EF5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assert fixed_local(early, -240).strftime("%Y-%m-%d %H:%M") == "2026-01-14 2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1:15"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315150EE-908A-4480-85D0-28735EAF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B95B8B06-7A5C-4BD7-98C2-1CDD2992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FB6B89FE-92A9-4E1E-863C-B57B4D20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assert format_offset(330) == "UTC+05:30"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BB5533F8-A530-4541-A163-719BE79E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243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933087-9481-444F-9C2E-4833B0A5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910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A645E632-11DD-4AEC-8E5D-1B59D61D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FD1BC04F-E39B-47E6-9A3E-FED60BF9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assert format_offset(-210) == "UTC-03:30"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6F07DC4B-111F-43BF-B6E0-44A0395C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101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F0B27E41-D85E-43EA-ABFE-8434F858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07D383A6-1215-4305-9BB0-73FD944E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959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assert [judge_day_night(t) for t in ["05:59:59", "06:00:00", "17:59:59", "1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8:00:00"]] == ["晚上", "白天", "白天", "晚上"]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75134EF0-F056-494F-ACFF-BA699072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959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6AE627-4642-4771-8A01-322C190C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626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04A896FE-75C9-45F5-9F9C-5F0F1D2F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CD1BA7A0-AED6-4650-A422-82EB57A1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817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assert [is_work_time(t) for t in ["08:59:00", "09:00:00", "16:59:00", "17:0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0:00"]] == [False, True, True, False]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89A8B7B2-9014-4DA7-8DC3-9BB685C1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817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5ED2EEEA-527C-4C3D-A9BE-EE80DFFA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9113764B-5EC0-4754-B985-57770DCB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667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assert build_fixed_rows(BASE_UTC, []) == []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8A25B575-032C-4B15-8230-01F92493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67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C5236EC1-CE10-4CE9-ADD1-4296D072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2142620130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C0410E-0B71-4633-A1FC-E9272DA6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16DFBB3-D71E-47C1-8658-00BF1AF4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T10  逐行程式解析  2/4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4CE2260-652A-4F74-A91B-7902DE32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測試與原程式對照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65C0A65-B964-4809-801A-A14C8797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第3–9章 綜合檢核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72F451D-77F0-44E4-AEFC-0EB3FFC7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67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F5560-02EE-4954-A612-D2191C51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DFCF02A-A852-4904-92EE-7C134E78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9206151-8874-47AB-BF17-973B01E9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第25個儲存格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8F13CDB-7740-4126-A4DA-1DD72ABE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161B8-381B-4D87-BE9D-4C6E663B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A048A87C-005A-452C-9A22-E9110756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4831599-65C9-47FB-9D11-43FD8FCE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assert find_city(fixed_rows, "不存在") is None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75A7A210-3112-4654-8B22-4952DA40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C2EB2018-CCCB-414E-BCBF-60C0774E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CE8AC30C-CEBA-473B-9B7E-B3E9FB78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assert run_world_clock(max_refresh=0, interval=0) == []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45810AF6-7602-48DF-AAD9-27136B0A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69F76B-D673-4D44-959E-F3A225D8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661BE50D-B803-48AD-84FE-292F77B6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5E7BBDE7-F5AF-44CD-89A4-AF419DB3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for bad_time in ["24:00:00", "12:60:00", "abc"]: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54B8C8A7-C428-4543-995E-56731376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依序取出資料；每一筆執行一次縮排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區塊。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52436FDF-08AB-464E-835D-FC98ED86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DC3E1DAC-E0E4-464C-97AA-9BF464C1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try: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037398DE-9363-448E-80C1-9F4D46B9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執行可能出錯的操作，準備捕捉例外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94E8CC-D1C6-4435-AC48-592219F1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6249926F-7A92-4739-86A6-40EB0418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0CC4B1E2-0BEF-4B1F-A6C4-F84125C1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judge_day_night(bad_time)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DC0D2159-6F79-4F84-8CDA-181196AD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768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送入錯誤時間，確認解析會拒絕。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E24B2F29-3503-459F-94CF-3D02A338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571BBEBD-EF54-4CDE-AD51-BE238A93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except ValueError: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06EAD707-2104-46C1-A0C9-E64A9417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62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捕捉指定錯誤，改走可控制的處理流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程。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5842EC-4A72-468D-A30C-B0EAC91A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19D57D0E-4B3B-450C-AD33-1FB9CDC4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20FC22DF-3DD6-410E-8983-71F953A0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484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pass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96828D91-76AA-42C8-945E-FB783974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刻意不做動作，保留語法區塊。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29DC5E6B-DEFB-4B02-9859-BD81DFCE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64D6DFCC-AA85-4077-B81D-6C7051C2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667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else: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A7263D28-49A3-41B5-9B10-2D27B824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67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try未產生例外時才執行。</a:t>
            </a:r>
          </a:p>
        </p:txBody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CECB2A1E-3679-4F21-BE13-2548B37D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940294676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0040D9-5404-4F49-9C73-51610F56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EE0E38D-3F30-492E-B722-9D1680EC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T10  逐行程式解析  3/4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F4EC3C7-C186-4892-A048-D39D2479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測試與原程式對照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03FD077-8713-470C-BCCB-8323A6BF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第3–9章 綜合檢核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56C2381-70A8-4026-909D-7763FF8E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68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8EBD8-9E8B-4202-AD74-C45067F7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2380F29-2A3E-4E87-8A64-350218A7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03603FD-789E-4DEE-AF79-F40C4941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第25個儲存格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63676EB-C01C-4F80-948A-D4AB7512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32A94-1405-4E1C-8001-BD47FD16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153017E-F7C4-4930-83AA-995493E6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73BF2073-38EE-4101-8AF2-20B23931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    raise AssertionError("應拒絕不合法時間")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6BCA0AF-511F-4585-B47D-48DF50B2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提出錯誤，交由呼叫端的except處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理。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3B246E9B-2BCD-4657-80E9-8486BA40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5B45E5A0-885B-40F3-A38C-E20289C8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if ZONE_DATA_READY: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00F6F661-C6F1-4D38-BCC2-EA81AC1E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有城市時區資料才執行此區塊。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010EA9-CF01-4934-AC01-17F1DD5E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B43983A8-83AB-42EB-A065-B3FF0BB3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8577D4A5-A5F9-4E86-B224-B2721A11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winter = build_city_rows(datetime(2026, 1, 15, 12, tzinfo=timezone.utc)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, cities)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830FF0A3-12E2-4715-812A-B947C232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winter。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678D3464-B235-44D0-9D43-B8FED4E9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63070B91-3DD8-4EF9-9261-A65517A8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summer = build_city_rows(datetime(2026, 7, 15, 12, tzinfo=timezone.utc)</a:t>
            </a:r>
          </a:p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, cities)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075DE2F3-4273-4413-B6C2-46163865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243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計算右側內容，存入 summer。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1434A8-2F7F-41F3-B558-402BCE88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910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AE373AB2-676A-49D9-867C-14FE8F60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E5AB8E45-5D99-49A6-8885-0733142E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assert find_city(winter, "倫敦")["UTC偏移"] == "UTC+00:00"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9B4F673D-AEE0-4537-B934-0EEC227F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101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3092D9CD-3934-4391-B0E6-86CE0730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2885D195-0E48-4606-8C42-9A679D85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959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assert find_city(summer, "倫敦")["UTC偏移"] == "UTC+01:00"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3C109A9D-02AD-442D-B1A4-32070381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959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8B2885-849B-4FCC-8823-6B2B738B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626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2F44B94B-EB1F-4D66-B710-15190CF8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AFCC7C45-E53C-4DF3-B865-96AAD4C2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817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assert find_city(winter, "紐約")["UTC偏移"] == "UTC-05:00"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3ED83B3E-3D43-45B2-9A19-7ADFF84F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817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19F1FF37-ADD0-46B1-B833-21C7B3BD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285129BB-1B40-4847-8022-1A3FC0EE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667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assert find_city(summer, "紐約")["UTC偏移"] == "UTC-04:00"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4B82A0B0-5307-431A-B052-DBF73FE0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675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3E728D47-70EB-4B19-85DF-8AE4B1E4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2004803680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B2A71A-7875-4CAC-AC0A-15E173F6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624FB7A-C429-4600-9A7D-07C14DB4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T10  逐行程式解析  4/4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EAA8798-0FC1-4375-BF56-65B2F1A2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測試與原程式對照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F203AD4-6C40-45ED-B3AF-3624B202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第3–9章 綜合檢核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24B9053-1997-4520-AFF9-02519BE5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69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E2E8B-24AA-4ABC-938D-DBF28A31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4363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4D08C7E-D92E-4015-871D-407F2980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6F37C2C-9115-4231-B003-B4B758FA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Notebook 第25個儲存格  ·  原碼（保留縮排）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3C7FD94-DE4D-4594-BF6C-F84EF525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859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逐行註解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10290-4957-438B-B3C6-889DE139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D9B98573-F327-46B9-95A3-2575479E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CC6F2139-DA0D-45EE-B949-1EBF0048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assert find_city(winter, "雪梨")["UTC偏移"] == "UTC+11:00"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A4DF538B-6F5C-4800-8E39-7D05B336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336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EF099118-253D-4660-8420-1BAAE79C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FC42DC21-74DC-4117-8733-26290C22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assert find_city(summer, "雪梨")["UTC偏移"] == "UTC+10:00"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52D05DAD-212D-4247-9B3A-59A6DFC4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90C3C5-E423-47FD-A41D-4DD1F98C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639D6912-9C1B-4F76-ADA5-F8FBE413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6CAB4B0C-7CDB-491E-8624-7D2EC585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assert find_city(exercise_rows, "印度")["UTC偏移"] == "UTC+05:30"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A268E043-C605-4D36-8BFB-9B6B13D7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驗證實際結果；條件為假時測試失敗</a:t>
            </a:r>
          </a:p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6EBE0758-103B-4972-87ED-8B39C08D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E3220037-4509-45CE-9D27-AEB57B38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print("城市時區及冬夏日期測試通過。")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EC2C7959-26E1-414A-84CC-6F5D434B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輸出目前結果，核對前面的預測。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A4C4B0-DB10-4DA2-A0F5-EF33A971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91050"/>
            <a:ext cx="1436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58DD0A95-E659-4F1C-9C81-7EC8D68E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61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90695A58-BB12-43C0-94C1-F413335C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else: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F277B98B-E539-47A0-B840-D47D8533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1010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前面的條件均不成立時執行。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94B83E1C-1F5F-44BA-9C01-518E521E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1C574511-FDEE-44AC-9FF1-3BE97CFC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959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    print("尚無時區資料，略過城市時區測試。")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631AEED2-D117-43DC-B569-92367BE7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959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輸出目前結果，核對前面的預測。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728D80-76CE-4602-8E41-0F168D0E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95950"/>
            <a:ext cx="1436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CC4A9917-2331-4C8E-9CFB-5F5F5053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B7F8C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FDCC1862-995E-4931-BBAD-ABE870BC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A58"/>
                </a:solidFill>
                <a:latin typeface="Microsoft JhengHei"/>
                <a:ea typeface="Microsoft JhengHei"/>
                <a:cs typeface="Microsoft JhengHei"/>
              </a:rPr>
              <a:t>print("固定偏移、跨日、日夜邊界、查詢與停止條件檢查通過。")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EB597A24-F3C5-4867-958A-254DD3C7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35624F"/>
                </a:solidFill>
                <a:latin typeface="Microsoft JhengHei"/>
                <a:ea typeface="Microsoft JhengHei"/>
                <a:cs typeface="Microsoft JhengHei"/>
              </a:rPr>
              <a:t>輸出目前結果，核對前面的預測。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87CEC9A0-EC04-49C6-8C48-B28CBBCB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15250"/>
            <a:ext cx="1409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987"/>
                </a:solidFill>
                <a:latin typeface="Microsoft JhengHei"/>
                <a:ea typeface="Microsoft JhengHei"/>
                <a:cs typeface="Microsoft JhengHei"/>
              </a:rPr>
              <a:t>行號以各儲存格為單位；長行視覺換行，完整原碼見備忘稿與Notebook。</a:t>
            </a:r>
          </a:p>
        </p:txBody>
      </p:sp>
    </p:spTree>
    <p:extLst>
      <p:ext uri="{BB962C8B-B14F-4D97-AF65-F5344CB8AC3E}">
        <p14:creationId xmlns:p14="http://schemas.microsoft.com/office/powerpoint/2010/main" val="992278504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8B238-13E4-4FC5-8E03-03F3844B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25C4136-2714-4147-8CCA-0D7CBD4E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T10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352AA84-B885-40BC-97F3-318E24D7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測試與原程式對照：執行結果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789373D-AE4D-4548-A24D-C92AC5C7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第3–9章 綜合檢核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0474201-945F-4FF8-8AC9-17706581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70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35CC7-2654-42F7-A5E7-4A4FA2C3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432560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0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3EBFCBD-0923-4AC5-A5F8-E2C0655E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3716000" cy="509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本次完成0輪更新。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城市時區及冬夏日期測試通過。</a:t>
            </a:r>
          </a:p>
          <a:p xmlns:a="http://schemas.openxmlformats.org/drawingml/2006/main">
            <a:pPr>
              <a:def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14C60"/>
                </a:solidFill>
                <a:latin typeface="Microsoft JhengHei"/>
                <a:ea typeface="Microsoft JhengHei"/>
                <a:cs typeface="Microsoft JhengHei"/>
              </a:rPr>
              <a:t>固定偏移、跨日、日夜邊界、查詢與停止條件檢查通過。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190C722-7CA9-4159-AB88-1F2BD649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62850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課堂提問：哪個運算、分支或迴圈決定了這個結果？改動一個輸入後再驗證。</a:t>
            </a:r>
          </a:p>
        </p:txBody>
      </p:sp>
    </p:spTree>
    <p:extLst>
      <p:ext uri="{BB962C8B-B14F-4D97-AF65-F5344CB8AC3E}">
        <p14:creationId xmlns:p14="http://schemas.microsoft.com/office/powerpoint/2010/main" val="122118038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4633A-E000-4FC4-844D-62C69F5F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876D11A-B5AF-476B-A830-D2A6CA32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第二週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5989D82-B7ED-40C9-AB07-78A847A5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教材章節與簡報索引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F710863-57EB-49A2-B60B-10AE599D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教學導航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FC86CA0-333D-4E8F-BCB0-2CECD221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71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0ADE9-D7D4-42EF-9F54-92DD1577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2DE6071-7F5B-4EDA-9EBF-1DB49D49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A199242-E8F3-4559-A9F1-F321B5BE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T0  作品拆解與可重現資料  → 第3頁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T1  時間運算與跨日  → 第7頁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T2  判斷式與日夜邊界  → 第13頁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T3  函式、參數與回傳值  → 第19頁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T4  城市陣列、索引與資料配對  → 第24頁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T5  for走訪與表格資料  → 第29頁</a:t>
            </a:r>
          </a:p>
        </p:txBody>
      </p:sp>
    </p:spTree>
    <p:extLst>
      <p:ext uri="{BB962C8B-B14F-4D97-AF65-F5344CB8AC3E}">
        <p14:creationId xmlns:p14="http://schemas.microsoft.com/office/powerpoint/2010/main" val="855691806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642A62-C553-481E-93A9-D7BE31D4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8D02EB7-926D-43AD-A1A0-E87F93A2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第二週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C540AB7-DF94-4733-9D12-28E29129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整合應用與複習索引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A4276B4-1D43-4C7A-B399-F36E0586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教學導航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34A6922-D278-41BC-982D-6972242F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72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DC421-FFE0-4E1C-AF26-0081D2D1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EA8CD7F-C156-4687-A775-2E5C7C7A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56CEC18-EB4A-4914-82D2-00D3FA87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T6  while更新、計數與結束  → 第39頁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T7  城市時區與夏令時間  → 第46頁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T8  完整世界時鐘與DataFrame  → 第52頁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T9  隨堂練習與參考解答  → 第60頁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T10  測試與原程式對照  → 第64頁</a:t>
            </a:r>
          </a:p>
        </p:txBody>
      </p:sp>
    </p:spTree>
    <p:extLst>
      <p:ext uri="{BB962C8B-B14F-4D97-AF65-F5344CB8AC3E}">
        <p14:creationId xmlns:p14="http://schemas.microsoft.com/office/powerpoint/2010/main" val="249581173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E430D-019B-4592-8D23-C5077435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03FFFFB-3D1F-4D6E-8117-47A8CF13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第二週  課程講授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92AF84C-A562-4898-A606-02DF2569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32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83245"/>
                </a:solidFill>
                <a:latin typeface="Microsoft JhengHei"/>
                <a:ea typeface="Microsoft JhengHei"/>
                <a:cs typeface="Microsoft JhengHei"/>
              </a:rPr>
              <a:t>來源與延伸界線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952B3FD-B322-4CA6-B1E7-DD92640B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1314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出處說明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1D08F4C-C87A-462F-9C9E-77997011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581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875"/>
                </a:solidFill>
                <a:latin typeface="Microsoft JhengHei"/>
                <a:ea typeface="Microsoft JhengHei"/>
                <a:cs typeface="Microsoft JhengHei"/>
              </a:rPr>
              <a:t>73 / 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AEF05-D7F6-48ED-A246-6D752270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BC8E8B5-6DE8-4F3B-AA88-9D7BB684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DB8884D-A01C-45E0-829D-16E4F4E2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五份TQC+補充投影片提供型別、輸入輸出、運算式、判斷及迴圈。保留所選原頁的完整畫面，頁碼包含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封面與空白頁。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8BD6F-972B-4C51-B1CC-ADA81BDC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8A22522-17A4-493C-A5D4-6E273408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590A3F0-163F-4F2E-89C3-44CD8BEE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0350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函式、串列、GUI事件及城市時區以本次兩份Notebook的完整內容延伸，並對應全華教材第6、7、9章；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原PPT未涵蓋的內容不標為原投影片。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F69CB-EB3A-4254-97DD-690453E1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6715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63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9D0F1032-C937-4D3B-A8BD-7652EEE9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27E6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3D9537AA-D84A-4F5A-99DA-A8EF3145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67150"/>
            <a:ext cx="1314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新編文字、程式碼及逐行解說為可編輯文字。原投影片以完整頁影像保留，以維持原圖表及排版；程式完</a:t>
            </a:r>
          </a:p>
          <a:p xmlns:a="http://schemas.openxmlformats.org/drawingml/2006/main">
            <a:pPr>
              <a:def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63E4D"/>
                </a:solidFill>
                <a:latin typeface="Microsoft JhengHei"/>
                <a:ea typeface="Microsoft JhengHei"/>
                <a:cs typeface="Microsoft JhengHei"/>
              </a:rPr>
              <a:t>整原碼亦存於講者備忘稿。</a:t>
            </a:r>
          </a:p>
        </p:txBody>
      </p:sp>
    </p:spTree>
    <p:extLst>
      <p:ext uri="{BB962C8B-B14F-4D97-AF65-F5344CB8AC3E}">
        <p14:creationId xmlns:p14="http://schemas.microsoft.com/office/powerpoint/2010/main" val="15098390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2026-10-22T16:33:54.2410000Z</dcterms:created>
  <dcterms:modified xsi:type="dcterms:W3CDTF">2026-10-22T16:33:54.2410000Z</dcterms:modified>
</coreProperties>
</file>