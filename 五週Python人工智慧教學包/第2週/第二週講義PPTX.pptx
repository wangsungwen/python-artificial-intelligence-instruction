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9"/>
  </p:notesMasterIdLst>
  <p:sldIdLst>
    <p:sldId id="607" r:id="rId2"/>
    <p:sldId id="464" r:id="rId3"/>
    <p:sldId id="628" r:id="rId4"/>
    <p:sldId id="664" r:id="rId5"/>
    <p:sldId id="632" r:id="rId6"/>
    <p:sldId id="630" r:id="rId7"/>
    <p:sldId id="631" r:id="rId8"/>
    <p:sldId id="634" r:id="rId9"/>
    <p:sldId id="633" r:id="rId10"/>
    <p:sldId id="635" r:id="rId11"/>
    <p:sldId id="642" r:id="rId12"/>
    <p:sldId id="665" r:id="rId13"/>
    <p:sldId id="636" r:id="rId14"/>
    <p:sldId id="643" r:id="rId15"/>
    <p:sldId id="644" r:id="rId16"/>
    <p:sldId id="646" r:id="rId17"/>
    <p:sldId id="645" r:id="rId18"/>
    <p:sldId id="649" r:id="rId19"/>
    <p:sldId id="647" r:id="rId20"/>
    <p:sldId id="650" r:id="rId21"/>
    <p:sldId id="651" r:id="rId22"/>
    <p:sldId id="652" r:id="rId23"/>
    <p:sldId id="653" r:id="rId24"/>
    <p:sldId id="648" r:id="rId25"/>
    <p:sldId id="655" r:id="rId26"/>
    <p:sldId id="656" r:id="rId27"/>
    <p:sldId id="615" r:id="rId28"/>
    <p:sldId id="666" r:id="rId29"/>
    <p:sldId id="570" r:id="rId30"/>
    <p:sldId id="573" r:id="rId31"/>
    <p:sldId id="657" r:id="rId32"/>
    <p:sldId id="658" r:id="rId33"/>
    <p:sldId id="660" r:id="rId34"/>
    <p:sldId id="596" r:id="rId35"/>
    <p:sldId id="659" r:id="rId36"/>
    <p:sldId id="661" r:id="rId37"/>
    <p:sldId id="662" r:id="rId38"/>
    <p:sldId id="663" r:id="rId39"/>
    <p:sldId id="667" r:id="rId40"/>
    <p:sldId id="595" r:id="rId41"/>
    <p:sldId id="597" r:id="rId42"/>
    <p:sldId id="598" r:id="rId43"/>
    <p:sldId id="616" r:id="rId44"/>
    <p:sldId id="617" r:id="rId45"/>
    <p:sldId id="618" r:id="rId46"/>
    <p:sldId id="619" r:id="rId47"/>
    <p:sldId id="621" r:id="rId48"/>
    <p:sldId id="668" r:id="rId49"/>
    <p:sldId id="623" r:id="rId50"/>
    <p:sldId id="624" r:id="rId51"/>
    <p:sldId id="625" r:id="rId52"/>
    <p:sldId id="669" r:id="rId53"/>
    <p:sldId id="627" r:id="rId54"/>
    <p:sldId id="670" r:id="rId55"/>
    <p:sldId id="583" r:id="rId56"/>
    <p:sldId id="626" r:id="rId57"/>
    <p:sldId id="622" r:id="rId58"/>
    <p:sldId id="671" r:id="rId59"/>
    <p:sldId id="672" r:id="rId60"/>
    <p:sldId id="629" r:id="rId61"/>
    <p:sldId id="673" r:id="rId62"/>
    <p:sldId id="674" r:id="rId63"/>
    <p:sldId id="675" r:id="rId64"/>
    <p:sldId id="676" r:id="rId65"/>
    <p:sldId id="677" r:id="rId66"/>
    <p:sldId id="678" r:id="rId67"/>
    <p:sldId id="577" r:id="rId68"/>
    <p:sldId id="679" r:id="rId69"/>
    <p:sldId id="680" r:id="rId70"/>
    <p:sldId id="681" r:id="rId71"/>
    <p:sldId id="682" r:id="rId72"/>
    <p:sldId id="683" r:id="rId73"/>
    <p:sldId id="684" r:id="rId74"/>
    <p:sldId id="685" r:id="rId75"/>
    <p:sldId id="686" r:id="rId76"/>
    <p:sldId id="687" r:id="rId77"/>
    <p:sldId id="688" r:id="rId78"/>
    <p:sldId id="689" r:id="rId79"/>
    <p:sldId id="690" r:id="rId80"/>
    <p:sldId id="691" r:id="rId81"/>
    <p:sldId id="692" r:id="rId82"/>
    <p:sldId id="693" r:id="rId83"/>
    <p:sldId id="694" r:id="rId84"/>
    <p:sldId id="695" r:id="rId85"/>
    <p:sldId id="696" r:id="rId86"/>
    <p:sldId id="697" r:id="rId87"/>
    <p:sldId id="698" r:id="rId88"/>
    <p:sldId id="699" r:id="rId89"/>
    <p:sldId id="700" r:id="rId90"/>
    <p:sldId id="701" r:id="rId91"/>
    <p:sldId id="702" r:id="rId92"/>
    <p:sldId id="703" r:id="rId93"/>
    <p:sldId id="704" r:id="rId94"/>
    <p:sldId id="705" r:id="rId95"/>
    <p:sldId id="706" r:id="rId96"/>
    <p:sldId id="707" r:id="rId97"/>
    <p:sldId id="708" r:id="rId98"/>
    <p:sldId id="709" r:id="rId99"/>
    <p:sldId id="710" r:id="rId100"/>
    <p:sldId id="711" r:id="rId101"/>
    <p:sldId id="712" r:id="rId102"/>
    <p:sldId id="610" r:id="rId103"/>
    <p:sldId id="713" r:id="rId104"/>
    <p:sldId id="620" r:id="rId105"/>
    <p:sldId id="714" r:id="rId106"/>
    <p:sldId id="715" r:id="rId107"/>
    <p:sldId id="716" r:id="rId108"/>
    <p:sldId id="717" r:id="rId109"/>
    <p:sldId id="718" r:id="rId110"/>
    <p:sldId id="719" r:id="rId111"/>
    <p:sldId id="720" r:id="rId112"/>
    <p:sldId id="721" r:id="rId113"/>
    <p:sldId id="722" r:id="rId114"/>
    <p:sldId id="723" r:id="rId115"/>
    <p:sldId id="724" r:id="rId116"/>
    <p:sldId id="725" r:id="rId117"/>
    <p:sldId id="726" r:id="rId1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EEF9"/>
    <a:srgbClr val="139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8" autoAdjust="0"/>
    <p:restoredTop sz="94177" autoAdjust="0"/>
  </p:normalViewPr>
  <p:slideViewPr>
    <p:cSldViewPr snapToGrid="0">
      <p:cViewPr varScale="1">
        <p:scale>
          <a:sx n="48" d="100"/>
          <a:sy n="48" d="100"/>
        </p:scale>
        <p:origin x="82" y="6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B0E32-C4C2-4FEF-BBCE-B6CA6E35E463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35712-BB74-4C9D-B9E4-D288F03A6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7323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5551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9602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4815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B35712-BB74-4C9D-B9E4-D288F03A6A8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623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6032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03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305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101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5693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114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816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115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816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69D261D7-9079-4E69-A830-E96719A6F4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4414" y="542693"/>
            <a:ext cx="6858000" cy="577633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99587" y="1579857"/>
            <a:ext cx="4752276" cy="2832605"/>
          </a:xfrm>
        </p:spPr>
        <p:txBody>
          <a:bodyPr anchor="ctr">
            <a:noAutofit/>
          </a:bodyPr>
          <a:lstStyle>
            <a:lvl1pPr algn="ctr">
              <a:lnSpc>
                <a:spcPct val="110000"/>
              </a:lnSpc>
              <a:defRPr sz="6000" b="1" u="none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99586" y="4825716"/>
            <a:ext cx="4752276" cy="993961"/>
          </a:xfrm>
        </p:spPr>
        <p:txBody>
          <a:bodyPr>
            <a:normAutofit/>
          </a:bodyPr>
          <a:lstStyle>
            <a:lvl1pPr marL="0" indent="0" algn="ctr">
              <a:buNone/>
              <a:defRPr sz="3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74775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666750"/>
            <a:ext cx="10515600" cy="933450"/>
          </a:xfrm>
        </p:spPr>
        <p:txBody>
          <a:bodyPr/>
          <a:lstStyle>
            <a:lvl1pPr>
              <a:defRPr b="1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57375"/>
            <a:ext cx="10515600" cy="4400550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lnSpc>
                <a:spcPct val="110000"/>
              </a:lnSpc>
              <a:defRPr sz="2600">
                <a:solidFill>
                  <a:srgbClr val="0070C0"/>
                </a:solidFill>
                <a:latin typeface="+mn-lt"/>
                <a:ea typeface="微軟正黑體" panose="020B0604030504040204" pitchFamily="34" charset="-120"/>
              </a:defRPr>
            </a:lvl2pPr>
            <a:lvl3pPr>
              <a:lnSpc>
                <a:spcPct val="11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軟正黑體" panose="020B0604030504040204" pitchFamily="34" charset="-120"/>
              </a:defRPr>
            </a:lvl3pPr>
            <a:lvl4pPr>
              <a:lnSpc>
                <a:spcPct val="100000"/>
              </a:lnSpc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lnSpc>
                <a:spcPct val="100000"/>
              </a:lnSpc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724400" y="6480174"/>
            <a:ext cx="27432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139AAF"/>
          </a:solidFill>
          <a:ln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endCxn id="14" idx="0"/>
          </p:cNvCxnSpPr>
          <p:nvPr userDrawn="1"/>
        </p:nvCxnSpPr>
        <p:spPr>
          <a:xfrm>
            <a:off x="542925" y="190500"/>
            <a:ext cx="0" cy="790575"/>
          </a:xfrm>
          <a:prstGeom prst="line">
            <a:avLst/>
          </a:prstGeom>
          <a:ln w="349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/>
          <p:cNvSpPr/>
          <p:nvPr userDrawn="1"/>
        </p:nvSpPr>
        <p:spPr>
          <a:xfrm>
            <a:off x="438150" y="981075"/>
            <a:ext cx="209550" cy="2095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38149" y="6480175"/>
            <a:ext cx="2833195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15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220450" y="6470650"/>
            <a:ext cx="647700" cy="365125"/>
          </a:xfrm>
        </p:spPr>
        <p:txBody>
          <a:bodyPr/>
          <a:lstStyle>
            <a:lvl1pPr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0B59302-35AD-44E9-AC3C-8D1DAE3511F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473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139AAF"/>
          </a:solidFill>
          <a:ln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" name="直線接點 2"/>
          <p:cNvCxnSpPr/>
          <p:nvPr userDrawn="1"/>
        </p:nvCxnSpPr>
        <p:spPr>
          <a:xfrm>
            <a:off x="542925" y="190500"/>
            <a:ext cx="0" cy="790575"/>
          </a:xfrm>
          <a:prstGeom prst="line">
            <a:avLst/>
          </a:prstGeom>
          <a:ln w="349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橢圓 4"/>
          <p:cNvSpPr/>
          <p:nvPr userDrawn="1"/>
        </p:nvSpPr>
        <p:spPr>
          <a:xfrm>
            <a:off x="438150" y="981075"/>
            <a:ext cx="209550" cy="2095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124950" y="6470650"/>
            <a:ext cx="2743200" cy="365125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fld id="{A0B59302-35AD-44E9-AC3C-8D1DAE3511F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19050" y="6480175"/>
            <a:ext cx="283845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197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260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2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514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915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0114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手繪多邊形 6"/>
          <p:cNvSpPr/>
          <p:nvPr userDrawn="1"/>
        </p:nvSpPr>
        <p:spPr>
          <a:xfrm>
            <a:off x="7808802" y="1236656"/>
            <a:ext cx="4383198" cy="1199072"/>
          </a:xfrm>
          <a:custGeom>
            <a:avLst/>
            <a:gdLst>
              <a:gd name="connsiteX0" fmla="*/ 0 w 4279785"/>
              <a:gd name="connsiteY0" fmla="*/ 599535 h 1199072"/>
              <a:gd name="connsiteX1" fmla="*/ 0 w 4279785"/>
              <a:gd name="connsiteY1" fmla="*/ 599536 h 1199072"/>
              <a:gd name="connsiteX2" fmla="*/ 0 w 4279785"/>
              <a:gd name="connsiteY2" fmla="*/ 599536 h 1199072"/>
              <a:gd name="connsiteX3" fmla="*/ 599536 w 4279785"/>
              <a:gd name="connsiteY3" fmla="*/ 0 h 1199072"/>
              <a:gd name="connsiteX4" fmla="*/ 4234133 w 4279785"/>
              <a:gd name="connsiteY4" fmla="*/ 0 h 1199072"/>
              <a:gd name="connsiteX5" fmla="*/ 4279785 w 4279785"/>
              <a:gd name="connsiteY5" fmla="*/ 4602 h 1199072"/>
              <a:gd name="connsiteX6" fmla="*/ 4279785 w 4279785"/>
              <a:gd name="connsiteY6" fmla="*/ 1194470 h 1199072"/>
              <a:gd name="connsiteX7" fmla="*/ 4234132 w 4279785"/>
              <a:gd name="connsiteY7" fmla="*/ 1199072 h 1199072"/>
              <a:gd name="connsiteX8" fmla="*/ 599536 w 4279785"/>
              <a:gd name="connsiteY8" fmla="*/ 1199071 h 1199072"/>
              <a:gd name="connsiteX9" fmla="*/ 12181 w 4279785"/>
              <a:gd name="connsiteY9" fmla="*/ 720363 h 1199072"/>
              <a:gd name="connsiteX10" fmla="*/ 0 w 4279785"/>
              <a:gd name="connsiteY10" fmla="*/ 599536 h 1199072"/>
              <a:gd name="connsiteX11" fmla="*/ 12181 w 4279785"/>
              <a:gd name="connsiteY11" fmla="*/ 478709 h 1199072"/>
              <a:gd name="connsiteX12" fmla="*/ 599536 w 4279785"/>
              <a:gd name="connsiteY12" fmla="*/ 0 h 1199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79785" h="1199072">
                <a:moveTo>
                  <a:pt x="0" y="599535"/>
                </a:moveTo>
                <a:lnTo>
                  <a:pt x="0" y="599536"/>
                </a:lnTo>
                <a:lnTo>
                  <a:pt x="0" y="599536"/>
                </a:lnTo>
                <a:close/>
                <a:moveTo>
                  <a:pt x="599536" y="0"/>
                </a:moveTo>
                <a:lnTo>
                  <a:pt x="4234133" y="0"/>
                </a:lnTo>
                <a:lnTo>
                  <a:pt x="4279785" y="4602"/>
                </a:lnTo>
                <a:lnTo>
                  <a:pt x="4279785" y="1194470"/>
                </a:lnTo>
                <a:lnTo>
                  <a:pt x="4234132" y="1199072"/>
                </a:lnTo>
                <a:lnTo>
                  <a:pt x="599536" y="1199071"/>
                </a:lnTo>
                <a:cubicBezTo>
                  <a:pt x="309811" y="1199071"/>
                  <a:pt x="68085" y="993561"/>
                  <a:pt x="12181" y="720363"/>
                </a:cubicBezTo>
                <a:lnTo>
                  <a:pt x="0" y="599536"/>
                </a:lnTo>
                <a:lnTo>
                  <a:pt x="12181" y="478709"/>
                </a:lnTo>
                <a:cubicBezTo>
                  <a:pt x="68085" y="205510"/>
                  <a:pt x="309811" y="0"/>
                  <a:pt x="599536" y="0"/>
                </a:cubicBezTo>
                <a:close/>
              </a:path>
            </a:pathLst>
          </a:cu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TW" altLang="en-US" sz="6000" dirty="0"/>
              <a:t>   本章結束</a:t>
            </a:r>
          </a:p>
        </p:txBody>
      </p:sp>
    </p:spTree>
    <p:extLst>
      <p:ext uri="{BB962C8B-B14F-4D97-AF65-F5344CB8AC3E}">
        <p14:creationId xmlns:p14="http://schemas.microsoft.com/office/powerpoint/2010/main" val="2564090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16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8619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083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8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59302-35AD-44E9-AC3C-8D1DAE3511F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61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6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reference/expressions.html#operator-precedence" TargetMode="Externa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tif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tif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tiff"/><Relationship Id="rId2" Type="http://schemas.openxmlformats.org/officeDocument/2006/relationships/image" Target="../media/image96.tif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tiff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tiff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tif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tiff"/><Relationship Id="rId2" Type="http://schemas.openxmlformats.org/officeDocument/2006/relationships/image" Target="../media/image110.tiff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tiff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6.tiff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8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287291" y="254082"/>
            <a:ext cx="4752276" cy="6285668"/>
          </a:xfrm>
        </p:spPr>
        <p:txBody>
          <a:bodyPr/>
          <a:lstStyle/>
          <a:p>
            <a:r>
              <a:rPr lang="en-US" altLang="zh-TW" sz="44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Py_Week2</a:t>
            </a:r>
            <a:br>
              <a:rPr lang="en-US" altLang="zh-TW" sz="44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</a:br>
            <a:r>
              <a:rPr lang="zh-TW" altLang="en-US" dirty="0">
                <a:solidFill>
                  <a:schemeClr val="accent2"/>
                </a:solidFill>
              </a:rPr>
              <a:t>輸出與輸入</a:t>
            </a:r>
            <a:br>
              <a:rPr lang="en-US" altLang="zh-TW" dirty="0">
                <a:solidFill>
                  <a:schemeClr val="accent2"/>
                </a:solidFill>
              </a:rPr>
            </a:br>
            <a:r>
              <a:rPr lang="zh-TW" altLang="en-US" dirty="0">
                <a:solidFill>
                  <a:schemeClr val="accent2"/>
                </a:solidFill>
              </a:rPr>
              <a:t>運算式</a:t>
            </a:r>
            <a:br>
              <a:rPr lang="en-US" altLang="zh-TW" dirty="0">
                <a:solidFill>
                  <a:schemeClr val="accent2"/>
                </a:solidFill>
              </a:rPr>
            </a:br>
            <a:r>
              <a:rPr lang="zh-TW" altLang="en-US" dirty="0">
                <a:solidFill>
                  <a:schemeClr val="accent2"/>
                </a:solidFill>
              </a:rPr>
              <a:t>選擇敘述</a:t>
            </a:r>
            <a:br>
              <a:rPr lang="en-US" altLang="zh-TW" dirty="0">
                <a:solidFill>
                  <a:schemeClr val="accent2"/>
                </a:solidFill>
              </a:rPr>
            </a:br>
            <a:endParaRPr lang="zh-TW" altLang="en-US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>
          <a:xfrm>
            <a:off x="287291" y="5609957"/>
            <a:ext cx="4752276" cy="993961"/>
          </a:xfrm>
        </p:spPr>
        <p:txBody>
          <a:bodyPr/>
          <a:lstStyle/>
          <a:p>
            <a:r>
              <a:rPr lang="zh-TW" altLang="en-US" dirty="0"/>
              <a:t>王頌文</a:t>
            </a:r>
          </a:p>
        </p:txBody>
      </p:sp>
    </p:spTree>
    <p:extLst>
      <p:ext uri="{BB962C8B-B14F-4D97-AF65-F5344CB8AC3E}">
        <p14:creationId xmlns:p14="http://schemas.microsoft.com/office/powerpoint/2010/main" val="187021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accent2"/>
                </a:solidFill>
              </a:rPr>
              <a:t>輸出與輸入</a:t>
            </a:r>
            <a:endParaRPr lang="en-US" altLang="zh-TW" dirty="0">
              <a:solidFill>
                <a:schemeClr val="accent2"/>
              </a:solidFill>
            </a:endParaRPr>
          </a:p>
          <a:p>
            <a:pPr lvl="1"/>
            <a:r>
              <a:rPr lang="zh-TW" altLang="en-US" dirty="0"/>
              <a:t>基本輸出</a:t>
            </a:r>
            <a:endParaRPr lang="en-US" altLang="zh-TW" dirty="0"/>
          </a:p>
          <a:p>
            <a:pPr lvl="1"/>
            <a:r>
              <a:rPr lang="zh-TW" altLang="en-US" dirty="0"/>
              <a:t>格式化輸出</a:t>
            </a:r>
            <a:endParaRPr lang="en-US" altLang="zh-TW" dirty="0"/>
          </a:p>
          <a:p>
            <a:pPr lvl="1"/>
            <a:r>
              <a:rPr lang="zh-TW" altLang="en-US" dirty="0"/>
              <a:t>由鍵盤輸入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1711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76ACDA5-B793-4864-9E73-C4C737A4B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288" y="1189643"/>
            <a:ext cx="6287424" cy="4478714"/>
          </a:xfrm>
          <a:prstGeom prst="rect">
            <a:avLst/>
          </a:prstGeom>
        </p:spPr>
      </p:pic>
      <p:sp>
        <p:nvSpPr>
          <p:cNvPr id="2" name="語音泡泡: 圓角矩形 1">
            <a:extLst>
              <a:ext uri="{FF2B5EF4-FFF2-40B4-BE49-F238E27FC236}">
                <a16:creationId xmlns:a16="http://schemas.microsoft.com/office/drawing/2014/main" id="{5A602AD7-4DC6-494A-8C92-C355AC02149D}"/>
              </a:ext>
            </a:extLst>
          </p:cNvPr>
          <p:cNvSpPr/>
          <p:nvPr/>
        </p:nvSpPr>
        <p:spPr>
          <a:xfrm>
            <a:off x="9417269" y="609600"/>
            <a:ext cx="1975945" cy="788276"/>
          </a:xfrm>
          <a:prstGeom prst="wedgeRoundRectCallout">
            <a:avLst>
              <a:gd name="adj1" fmla="val -182003"/>
              <a:gd name="adj2" fmla="val 62501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數值</a:t>
            </a:r>
          </a:p>
        </p:txBody>
      </p:sp>
      <p:sp>
        <p:nvSpPr>
          <p:cNvPr id="4" name="語音泡泡: 圓角矩形 3">
            <a:extLst>
              <a:ext uri="{FF2B5EF4-FFF2-40B4-BE49-F238E27FC236}">
                <a16:creationId xmlns:a16="http://schemas.microsoft.com/office/drawing/2014/main" id="{18BD8A86-44E0-46BA-9E3B-B280407305AD}"/>
              </a:ext>
            </a:extLst>
          </p:cNvPr>
          <p:cNvSpPr/>
          <p:nvPr/>
        </p:nvSpPr>
        <p:spPr>
          <a:xfrm>
            <a:off x="6227379" y="215462"/>
            <a:ext cx="1975945" cy="788276"/>
          </a:xfrm>
          <a:prstGeom prst="wedgeRoundRectCallout">
            <a:avLst>
              <a:gd name="adj1" fmla="val -87854"/>
              <a:gd name="adj2" fmla="val 106501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等號</a:t>
            </a:r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D7999E75-2027-490B-99BC-AEBBB6A68581}"/>
              </a:ext>
            </a:extLst>
          </p:cNvPr>
          <p:cNvSpPr/>
          <p:nvPr/>
        </p:nvSpPr>
        <p:spPr>
          <a:xfrm>
            <a:off x="2656489" y="215462"/>
            <a:ext cx="1975945" cy="788276"/>
          </a:xfrm>
          <a:prstGeom prst="wedgeRoundRectCallout">
            <a:avLst>
              <a:gd name="adj1" fmla="val 54699"/>
              <a:gd name="adj2" fmla="val 91834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變數</a:t>
            </a:r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BAED74D2-C56C-4D76-AACE-BB012BA09144}"/>
              </a:ext>
            </a:extLst>
          </p:cNvPr>
          <p:cNvSpPr/>
          <p:nvPr/>
        </p:nvSpPr>
        <p:spPr>
          <a:xfrm>
            <a:off x="9417268" y="2333296"/>
            <a:ext cx="1975945" cy="788276"/>
          </a:xfrm>
          <a:prstGeom prst="wedgeRoundRectCallout">
            <a:avLst>
              <a:gd name="adj1" fmla="val -113918"/>
              <a:gd name="adj2" fmla="val 107834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加法運算</a:t>
            </a:r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C91DC1A5-CD9C-438A-8DA8-F7F29F76C2DF}"/>
              </a:ext>
            </a:extLst>
          </p:cNvPr>
          <p:cNvSpPr/>
          <p:nvPr/>
        </p:nvSpPr>
        <p:spPr>
          <a:xfrm>
            <a:off x="5959366" y="5854262"/>
            <a:ext cx="2243957" cy="788276"/>
          </a:xfrm>
          <a:prstGeom prst="wedgeRoundRectCallout">
            <a:avLst>
              <a:gd name="adj1" fmla="val -55646"/>
              <a:gd name="adj2" fmla="val -84166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輸出到螢幕</a:t>
            </a:r>
          </a:p>
        </p:txBody>
      </p:sp>
    </p:spTree>
    <p:extLst>
      <p:ext uri="{BB962C8B-B14F-4D97-AF65-F5344CB8AC3E}">
        <p14:creationId xmlns:p14="http://schemas.microsoft.com/office/powerpoint/2010/main" val="591944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輸出與輸入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基本輸出</a:t>
            </a:r>
            <a:endParaRPr lang="en-US" altLang="zh-TW" dirty="0">
              <a:solidFill>
                <a:schemeClr val="accent2"/>
              </a:solidFill>
            </a:endParaRPr>
          </a:p>
          <a:p>
            <a:pPr lvl="1"/>
            <a:r>
              <a:rPr lang="zh-TW" altLang="en-US" dirty="0"/>
              <a:t>格式化輸出</a:t>
            </a:r>
            <a:endParaRPr lang="en-US" altLang="zh-TW" dirty="0"/>
          </a:p>
          <a:p>
            <a:pPr lvl="1"/>
            <a:r>
              <a:rPr lang="zh-TW" altLang="en-US" dirty="0"/>
              <a:t>由鍵盤輸入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565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print()</a:t>
            </a:r>
            <a:r>
              <a:rPr lang="en-US" altLang="zh-TW" dirty="0"/>
              <a:t> </a:t>
            </a:r>
            <a:r>
              <a:rPr lang="zh-TW" altLang="en-US" dirty="0"/>
              <a:t>的語法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print()</a:t>
            </a:r>
            <a:r>
              <a:rPr lang="en-US" altLang="zh-TW" dirty="0"/>
              <a:t> </a:t>
            </a:r>
            <a:r>
              <a:rPr lang="zh-TW" altLang="en-US" dirty="0"/>
              <a:t>能將指定項目輸出到螢幕，語法為：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print(</a:t>
            </a:r>
            <a:r>
              <a:rPr lang="zh-TW" altLang="en-US" dirty="0">
                <a:latin typeface="Consolas" panose="020B0609020204030204" pitchFamily="49" charset="0"/>
              </a:rPr>
              <a:t>項目</a:t>
            </a:r>
            <a:r>
              <a:rPr lang="en-US" altLang="zh-TW" dirty="0">
                <a:latin typeface="Consolas" panose="020B0609020204030204" pitchFamily="49" charset="0"/>
              </a:rPr>
              <a:t>1 [, </a:t>
            </a:r>
            <a:r>
              <a:rPr lang="zh-TW" altLang="en-US" dirty="0">
                <a:latin typeface="Consolas" panose="020B0609020204030204" pitchFamily="49" charset="0"/>
              </a:rPr>
              <a:t>項目</a:t>
            </a:r>
            <a:r>
              <a:rPr lang="en-US" altLang="zh-TW" dirty="0">
                <a:latin typeface="Consolas" panose="020B0609020204030204" pitchFamily="49" charset="0"/>
              </a:rPr>
              <a:t>2, …, </a:t>
            </a:r>
            <a:r>
              <a:rPr lang="en-US" altLang="zh-TW" dirty="0" err="1">
                <a:solidFill>
                  <a:schemeClr val="accent4"/>
                </a:solidFill>
                <a:latin typeface="Consolas" panose="020B0609020204030204" pitchFamily="49" charset="0"/>
              </a:rPr>
              <a:t>sep</a:t>
            </a:r>
            <a:r>
              <a:rPr lang="en-US" altLang="zh-TW" dirty="0">
                <a:latin typeface="Consolas" panose="020B0609020204030204" pitchFamily="49" charset="0"/>
              </a:rPr>
              <a:t>=</a:t>
            </a:r>
            <a:r>
              <a:rPr lang="zh-TW" altLang="en-US" dirty="0">
                <a:latin typeface="Consolas" panose="020B0609020204030204" pitchFamily="49" charset="0"/>
              </a:rPr>
              <a:t>分隔字元</a:t>
            </a:r>
            <a:r>
              <a:rPr lang="en-US" altLang="zh-TW" dirty="0">
                <a:latin typeface="Consolas" panose="020B0609020204030204" pitchFamily="49" charset="0"/>
              </a:rPr>
              <a:t>, </a:t>
            </a:r>
            <a:r>
              <a:rPr lang="en-US" altLang="zh-TW" dirty="0">
                <a:solidFill>
                  <a:schemeClr val="accent4"/>
                </a:solidFill>
                <a:latin typeface="Consolas" panose="020B0609020204030204" pitchFamily="49" charset="0"/>
              </a:rPr>
              <a:t>end</a:t>
            </a:r>
            <a:r>
              <a:rPr lang="en-US" altLang="zh-TW" dirty="0">
                <a:latin typeface="Consolas" panose="020B0609020204030204" pitchFamily="49" charset="0"/>
              </a:rPr>
              <a:t>=</a:t>
            </a:r>
            <a:r>
              <a:rPr lang="zh-TW" altLang="en-US" dirty="0">
                <a:latin typeface="Consolas" panose="020B0609020204030204" pitchFamily="49" charset="0"/>
              </a:rPr>
              <a:t>結束字元</a:t>
            </a:r>
            <a:r>
              <a:rPr lang="en-US" altLang="zh-TW" dirty="0">
                <a:latin typeface="Consolas" panose="020B0609020204030204" pitchFamily="49" charset="0"/>
              </a:rPr>
              <a:t>])</a:t>
            </a:r>
          </a:p>
          <a:p>
            <a:pPr lvl="2"/>
            <a:r>
              <a:rPr lang="zh-TW" altLang="en-US" dirty="0"/>
              <a:t>項目</a:t>
            </a:r>
            <a:r>
              <a:rPr lang="en-US" altLang="zh-TW" dirty="0"/>
              <a:t>1, </a:t>
            </a:r>
            <a:r>
              <a:rPr lang="zh-TW" altLang="en-US" dirty="0"/>
              <a:t>項目</a:t>
            </a:r>
            <a:r>
              <a:rPr lang="en-US" altLang="zh-TW" dirty="0"/>
              <a:t>2, …</a:t>
            </a:r>
            <a:r>
              <a:rPr lang="zh-TW" altLang="en-US" dirty="0"/>
              <a:t>：可以一次輸出多個項目，以</a:t>
            </a:r>
            <a:r>
              <a:rPr lang="zh-TW" altLang="en-US" dirty="0">
                <a:solidFill>
                  <a:schemeClr val="accent4"/>
                </a:solidFill>
              </a:rPr>
              <a:t>逗號</a:t>
            </a:r>
            <a:r>
              <a:rPr lang="en-US" altLang="zh-TW" dirty="0">
                <a:solidFill>
                  <a:schemeClr val="accent4"/>
                </a:solidFill>
              </a:rPr>
              <a:t>(,)</a:t>
            </a:r>
            <a:r>
              <a:rPr lang="zh-TW" altLang="en-US" dirty="0">
                <a:solidFill>
                  <a:schemeClr val="accent4"/>
                </a:solidFill>
              </a:rPr>
              <a:t>分隔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r>
              <a:rPr lang="en-US" altLang="zh-TW" dirty="0" err="1">
                <a:latin typeface="Consolas" panose="020B0609020204030204" pitchFamily="49" charset="0"/>
              </a:rPr>
              <a:t>sep</a:t>
            </a:r>
            <a:r>
              <a:rPr lang="zh-TW" altLang="en-US" dirty="0"/>
              <a:t>：分隔項目的字元，預設值為一個</a:t>
            </a:r>
            <a:r>
              <a:rPr lang="zh-TW" altLang="en-US" dirty="0">
                <a:solidFill>
                  <a:schemeClr val="accent4"/>
                </a:solidFill>
              </a:rPr>
              <a:t>空白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r>
              <a:rPr lang="en-US" altLang="zh-TW" dirty="0">
                <a:latin typeface="Consolas" panose="020B0609020204030204" pitchFamily="49" charset="0"/>
              </a:rPr>
              <a:t>end</a:t>
            </a:r>
            <a:r>
              <a:rPr lang="zh-TW" altLang="en-US" dirty="0"/>
              <a:t>：輸出完後自動加入的字元，預設值為</a:t>
            </a:r>
            <a:r>
              <a:rPr lang="zh-TW" altLang="en-US" dirty="0">
                <a:solidFill>
                  <a:schemeClr val="accent4"/>
                </a:solidFill>
              </a:rPr>
              <a:t>換行字元</a:t>
            </a:r>
            <a:r>
              <a:rPr lang="en-US" altLang="zh-TW" dirty="0">
                <a:solidFill>
                  <a:schemeClr val="accent4"/>
                </a:solidFill>
              </a:rPr>
              <a:t>(\n)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88B2C9E-03FE-4476-8FE0-30C0954D0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885" y="4599347"/>
            <a:ext cx="5212913" cy="187130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9F50F85-1901-4A9A-BC5B-F25CB0E74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916" y="5219575"/>
            <a:ext cx="3822186" cy="63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2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E1257D-846C-4EC4-B581-618FB89E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更多範例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98A89F-C42E-4FDA-BFE2-F8BEF7B5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2A010E9-004C-4031-8566-FAFD24F38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993" y="1040027"/>
            <a:ext cx="6333551" cy="172733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411B22C-4902-4C84-8814-5430B61CDF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79"/>
          <a:stretch/>
        </p:blipFill>
        <p:spPr>
          <a:xfrm>
            <a:off x="8248007" y="1444751"/>
            <a:ext cx="3620143" cy="622173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E8E285C-849F-4C37-AD61-69BF75B6C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428" y="3122123"/>
            <a:ext cx="5551196" cy="3499394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87E736C-7151-4BBF-AC47-0C2736A31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070" y="4139926"/>
            <a:ext cx="3792754" cy="1467631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88554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CDB7A-0F9B-4FAB-9FEE-7EA06376A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更多範例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3AF189-4E95-4FC4-B5EC-CCA6117E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F22289C-A202-4F69-9A0B-A397A046A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717" y="2337325"/>
            <a:ext cx="7746360" cy="325417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9AEC4EA-6D63-4033-802E-A820533A0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375" y="2641369"/>
            <a:ext cx="5084775" cy="1100313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11116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8617B-D699-43C9-A383-A44979FB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更多範例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BEE692-35DC-4080-812A-3736B31B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CBBA202-2B87-4519-9FB7-8391B61D8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310" y="1898483"/>
            <a:ext cx="6260161" cy="4218537"/>
          </a:xfrm>
          <a:prstGeom prst="rect">
            <a:avLst/>
          </a:prstGeom>
        </p:spPr>
      </p:pic>
      <p:grpSp>
        <p:nvGrpSpPr>
          <p:cNvPr id="15" name="群組 14">
            <a:extLst>
              <a:ext uri="{FF2B5EF4-FFF2-40B4-BE49-F238E27FC236}">
                <a16:creationId xmlns:a16="http://schemas.microsoft.com/office/drawing/2014/main" id="{C8D4F5D4-B057-4148-8275-FAFBCACAB6B6}"/>
              </a:ext>
            </a:extLst>
          </p:cNvPr>
          <p:cNvGrpSpPr/>
          <p:nvPr/>
        </p:nvGrpSpPr>
        <p:grpSpPr>
          <a:xfrm>
            <a:off x="8245118" y="1945640"/>
            <a:ext cx="2282811" cy="4171380"/>
            <a:chOff x="8245118" y="1945640"/>
            <a:chExt cx="2282811" cy="4171380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1E2AB6E8-FA9F-42E7-BAC9-4AC163678B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245118" y="1945640"/>
              <a:ext cx="2282811" cy="444202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1229FEE1-7326-4B69-8350-BCC8E1EBDE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245118" y="3159760"/>
              <a:ext cx="2282811" cy="458928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A00B53E2-D1C6-4896-BD33-516DD94DF3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245118" y="4388606"/>
              <a:ext cx="2282811" cy="458928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B64B1D71-9D1D-4B52-937A-0231392FCC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245118" y="5585021"/>
              <a:ext cx="2282811" cy="531999"/>
            </a:xfrm>
            <a:prstGeom prst="rect">
              <a:avLst/>
            </a:prstGeom>
          </p:spPr>
        </p:pic>
        <p:sp>
          <p:nvSpPr>
            <p:cNvPr id="12" name="箭號: 向下 11">
              <a:extLst>
                <a:ext uri="{FF2B5EF4-FFF2-40B4-BE49-F238E27FC236}">
                  <a16:creationId xmlns:a16="http://schemas.microsoft.com/office/drawing/2014/main" id="{19196289-9307-491B-85E3-2F9F849A758D}"/>
                </a:ext>
              </a:extLst>
            </p:cNvPr>
            <p:cNvSpPr/>
            <p:nvPr/>
          </p:nvSpPr>
          <p:spPr>
            <a:xfrm>
              <a:off x="8992385" y="2435877"/>
              <a:ext cx="788276" cy="625867"/>
            </a:xfrm>
            <a:prstGeom prst="down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sp>
          <p:nvSpPr>
            <p:cNvPr id="13" name="箭號: 向下 12">
              <a:extLst>
                <a:ext uri="{FF2B5EF4-FFF2-40B4-BE49-F238E27FC236}">
                  <a16:creationId xmlns:a16="http://schemas.microsoft.com/office/drawing/2014/main" id="{D9ABA43C-21F2-4D57-BF12-CAED0029580B}"/>
                </a:ext>
              </a:extLst>
            </p:cNvPr>
            <p:cNvSpPr/>
            <p:nvPr/>
          </p:nvSpPr>
          <p:spPr>
            <a:xfrm>
              <a:off x="8992385" y="3674498"/>
              <a:ext cx="788276" cy="625867"/>
            </a:xfrm>
            <a:prstGeom prst="down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sp>
          <p:nvSpPr>
            <p:cNvPr id="14" name="箭號: 向下 13">
              <a:extLst>
                <a:ext uri="{FF2B5EF4-FFF2-40B4-BE49-F238E27FC236}">
                  <a16:creationId xmlns:a16="http://schemas.microsoft.com/office/drawing/2014/main" id="{BA7D44E6-87BA-45C9-84C4-2119981A9AE9}"/>
                </a:ext>
              </a:extLst>
            </p:cNvPr>
            <p:cNvSpPr/>
            <p:nvPr/>
          </p:nvSpPr>
          <p:spPr>
            <a:xfrm>
              <a:off x="8992385" y="4903344"/>
              <a:ext cx="788276" cy="625867"/>
            </a:xfrm>
            <a:prstGeom prst="down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</p:grp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B3F824B5-C7A1-4F96-B82A-08D0EAC57EAB}"/>
              </a:ext>
            </a:extLst>
          </p:cNvPr>
          <p:cNvSpPr/>
          <p:nvPr/>
        </p:nvSpPr>
        <p:spPr>
          <a:xfrm>
            <a:off x="6684578" y="666750"/>
            <a:ext cx="4887311" cy="1031640"/>
          </a:xfrm>
          <a:prstGeom prst="wedgeRoundRectCallout">
            <a:avLst>
              <a:gd name="adj1" fmla="val -60403"/>
              <a:gd name="adj2" fmla="val 50274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萬一倒數計時更多秒，這樣寫不僅相當繁瑣，程式碼也很</a:t>
            </a:r>
            <a:r>
              <a:rPr lang="en-US" altLang="zh-TW" sz="2400" dirty="0"/>
              <a:t>“</a:t>
            </a:r>
            <a:r>
              <a:rPr lang="zh-TW" altLang="en-US" sz="2400" dirty="0"/>
              <a:t>醜陋</a:t>
            </a:r>
            <a:r>
              <a:rPr lang="en-US" altLang="zh-TW" sz="2400" dirty="0"/>
              <a:t>”</a:t>
            </a:r>
            <a:r>
              <a:rPr lang="zh-TW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8917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CE5159-C971-42E9-8132-9E7FBA5F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輸出彩色字體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4B2870-A40E-4D55-B29B-B60557DA3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Python </a:t>
            </a:r>
            <a:r>
              <a:rPr lang="zh-TW" altLang="en-US" dirty="0"/>
              <a:t>的 </a:t>
            </a:r>
            <a:r>
              <a:rPr lang="en-US" altLang="zh-TW" dirty="0">
                <a:latin typeface="Consolas" panose="020B0609020204030204" pitchFamily="49" charset="0"/>
              </a:rPr>
              <a:t>print()</a:t>
            </a:r>
            <a:r>
              <a:rPr lang="en-US" altLang="zh-TW" dirty="0"/>
              <a:t> </a:t>
            </a:r>
            <a:r>
              <a:rPr lang="zh-TW" altLang="en-US" dirty="0"/>
              <a:t>可搭配「</a:t>
            </a:r>
            <a:r>
              <a:rPr lang="en-US" altLang="zh-TW" dirty="0"/>
              <a:t>ANSI</a:t>
            </a:r>
            <a:r>
              <a:rPr lang="zh-TW" altLang="en-US" dirty="0"/>
              <a:t> 跳脫序列」輸出彩色字體</a:t>
            </a:r>
            <a:endParaRPr lang="en-US" altLang="zh-TW" dirty="0"/>
          </a:p>
          <a:p>
            <a:pPr lvl="1"/>
            <a:r>
              <a:rPr lang="zh-TW" altLang="en-US" dirty="0"/>
              <a:t>「</a:t>
            </a:r>
            <a:r>
              <a:rPr lang="en-US" altLang="zh-TW" dirty="0">
                <a:latin typeface="Consolas" panose="020B0609020204030204" pitchFamily="49" charset="0"/>
              </a:rPr>
              <a:t>\033[</a:t>
            </a:r>
            <a:r>
              <a:rPr lang="zh-TW" altLang="en-US" dirty="0"/>
              <a:t>」代表 </a:t>
            </a:r>
            <a:r>
              <a:rPr lang="en-US" altLang="zh-TW" dirty="0"/>
              <a:t>ANSI </a:t>
            </a:r>
            <a:r>
              <a:rPr lang="zh-TW" altLang="en-US" dirty="0"/>
              <a:t>跳脫序列的</a:t>
            </a:r>
            <a:r>
              <a:rPr lang="zh-TW" altLang="en-US" dirty="0">
                <a:solidFill>
                  <a:schemeClr val="accent4"/>
                </a:solidFill>
              </a:rPr>
              <a:t>開頭</a:t>
            </a:r>
            <a:r>
              <a:rPr lang="zh-TW" altLang="en-US" dirty="0"/>
              <a:t>，這之後可以增加多組數字。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4"/>
                </a:solidFill>
              </a:rPr>
              <a:t>每個數字代表一個效果</a:t>
            </a:r>
            <a:r>
              <a:rPr lang="zh-TW" altLang="en-US" dirty="0"/>
              <a:t>，不同數字間可用</a:t>
            </a:r>
            <a:r>
              <a:rPr lang="zh-TW" altLang="en-US" dirty="0">
                <a:solidFill>
                  <a:schemeClr val="accent4"/>
                </a:solidFill>
              </a:rPr>
              <a:t>分號</a:t>
            </a:r>
            <a:r>
              <a:rPr lang="en-US" altLang="zh-TW" dirty="0">
                <a:solidFill>
                  <a:schemeClr val="accent4"/>
                </a:solidFill>
              </a:rPr>
              <a:t>(;)</a:t>
            </a:r>
            <a:r>
              <a:rPr lang="zh-TW" altLang="en-US" dirty="0"/>
              <a:t>隔開。</a:t>
            </a:r>
            <a:endParaRPr lang="en-US" altLang="zh-TW" dirty="0"/>
          </a:p>
          <a:p>
            <a:pPr lvl="1"/>
            <a:r>
              <a:rPr lang="zh-TW" altLang="en-US" dirty="0"/>
              <a:t>一串效果數字的最後要</a:t>
            </a:r>
            <a:r>
              <a:rPr lang="zh-TW" altLang="en-US" dirty="0">
                <a:solidFill>
                  <a:schemeClr val="accent4"/>
                </a:solidFill>
              </a:rPr>
              <a:t>加個 </a:t>
            </a:r>
            <a:r>
              <a:rPr lang="en-US" altLang="zh-TW" dirty="0">
                <a:solidFill>
                  <a:schemeClr val="accent4"/>
                </a:solidFill>
              </a:rPr>
              <a:t>m </a:t>
            </a:r>
            <a:r>
              <a:rPr lang="zh-TW" altLang="en-US" dirty="0"/>
              <a:t>代表設定完成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3CEC11-88B1-40B6-9A0A-A754EE70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2443480-4158-48E0-A15E-8AC43CF80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12" y="4519708"/>
            <a:ext cx="11416838" cy="52158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5A8EEBA-9033-436F-B9E1-1EA3946E4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143" y="5408443"/>
            <a:ext cx="5753713" cy="52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2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E9264D-EBEB-4A6A-BBD7-3CB96196B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輸出彩色字體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E51A6F-444C-4627-A27A-9725575A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6626DDF-DB60-4C42-96F5-560367961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543" y="517012"/>
            <a:ext cx="5930607" cy="363554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071997C-5E62-46D7-9B91-2762EC90F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12" y="4519708"/>
            <a:ext cx="11416838" cy="52158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7620866-4A1D-493E-853E-39C38B6ED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143" y="5408443"/>
            <a:ext cx="5753713" cy="52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4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58DF28-2CF4-4479-BC4E-DC2EA2066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設定字體效果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FF1858-247F-4B4F-B7E7-6DF27112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A04025-469A-499C-9E49-FA0EA6BFD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58" y="4569396"/>
            <a:ext cx="11971283" cy="42844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32300A4-0BF7-43BC-9E20-B1388E2D0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556" y="5308334"/>
            <a:ext cx="5970885" cy="52475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8E9A9C1-8DA9-4318-B2E7-716646E01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260" y="1400608"/>
            <a:ext cx="4025890" cy="246792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EBED223-9837-4CA8-831F-5D1490CEC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16" y="2131410"/>
            <a:ext cx="7212987" cy="1735152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2D0AB9EE-EA1A-4F16-AFE0-7ECE1075384D}"/>
              </a:ext>
            </a:extLst>
          </p:cNvPr>
          <p:cNvSpPr txBox="1"/>
          <p:nvPr/>
        </p:nvSpPr>
        <p:spPr>
          <a:xfrm>
            <a:off x="430916" y="6470650"/>
            <a:ext cx="9188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400" spc="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更多</a:t>
            </a:r>
            <a:r>
              <a:rPr lang="zh-TW" altLang="en-US" sz="1400" spc="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TW" sz="1400" spc="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</a:rPr>
              <a:t>ANSI</a:t>
            </a:r>
            <a:r>
              <a:rPr lang="zh-TW" altLang="en-US" sz="1400" spc="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</a:rPr>
              <a:t> </a:t>
            </a:r>
            <a:r>
              <a:rPr lang="zh-TW" altLang="zh-TW" sz="1400" spc="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跳脫序列的字體顏色與效果的設定可參考</a:t>
            </a:r>
            <a:r>
              <a:rPr lang="zh-TW" altLang="en-US" sz="1400" spc="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TW" sz="1400" spc="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</a:rPr>
              <a:t>https://en.wikipedia.org/wiki/ANSI_escape_code</a:t>
            </a:r>
            <a:endParaRPr lang="zh-TW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66896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輸出與輸入</a:t>
            </a:r>
            <a:endParaRPr lang="en-US" altLang="zh-TW" dirty="0"/>
          </a:p>
          <a:p>
            <a:pPr lvl="1"/>
            <a:r>
              <a:rPr lang="zh-TW" altLang="en-US" dirty="0"/>
              <a:t>基本輸出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格式化輸出</a:t>
            </a:r>
            <a:endParaRPr lang="en-US" altLang="zh-TW" dirty="0">
              <a:solidFill>
                <a:schemeClr val="accent2"/>
              </a:solidFill>
            </a:endParaRPr>
          </a:p>
          <a:p>
            <a:pPr lvl="1"/>
            <a:r>
              <a:rPr lang="zh-TW" altLang="en-US" dirty="0"/>
              <a:t>由鍵盤輸入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86796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4FFA2F-E37B-451F-BE8D-90337F67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格式化輸出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371D4B-806D-45D5-ACB3-3BBBD980F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除了前面的基本輸出外，</a:t>
            </a:r>
            <a:r>
              <a:rPr lang="en-US" altLang="zh-TW" dirty="0">
                <a:latin typeface="Consolas" panose="020B0609020204030204" pitchFamily="49" charset="0"/>
              </a:rPr>
              <a:t>print()</a:t>
            </a:r>
            <a:r>
              <a:rPr lang="en-US" altLang="zh-TW" dirty="0"/>
              <a:t> </a:t>
            </a:r>
            <a:r>
              <a:rPr lang="zh-TW" altLang="en-US" dirty="0"/>
              <a:t>也可以進行</a:t>
            </a:r>
            <a:r>
              <a:rPr lang="zh-TW" altLang="en-US" dirty="0">
                <a:solidFill>
                  <a:schemeClr val="accent4"/>
                </a:solidFill>
              </a:rPr>
              <a:t>格式化輸出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Python </a:t>
            </a:r>
            <a:r>
              <a:rPr lang="zh-TW" altLang="en-US" dirty="0"/>
              <a:t>進行格式化字串的方式有四種：</a:t>
            </a:r>
            <a:endParaRPr lang="en-US" altLang="zh-TW" dirty="0"/>
          </a:p>
          <a:p>
            <a:pPr marL="971550" lvl="1" indent="-514350">
              <a:buFont typeface="Wingdings" panose="05000000000000000000" pitchFamily="2" charset="2"/>
              <a:buAutoNum type="circleNumWdWhitePlain"/>
            </a:pPr>
            <a:r>
              <a:rPr lang="zh-TW" altLang="en-US" dirty="0"/>
              <a:t>百分號</a:t>
            </a:r>
            <a:r>
              <a:rPr lang="en-US" altLang="zh-TW" dirty="0"/>
              <a:t>(%)</a:t>
            </a:r>
            <a:endParaRPr lang="zh-TW" altLang="en-US" dirty="0"/>
          </a:p>
          <a:p>
            <a:pPr marL="971550" lvl="1" indent="-514350">
              <a:buFont typeface="Wingdings" panose="05000000000000000000" pitchFamily="2" charset="2"/>
              <a:buAutoNum type="circleNumWdWhitePlain"/>
            </a:pPr>
            <a:r>
              <a:rPr lang="zh-TW" altLang="en-US" dirty="0"/>
              <a:t>利用 </a:t>
            </a:r>
            <a:r>
              <a:rPr lang="en-US" altLang="zh-TW" dirty="0">
                <a:latin typeface="Consolas" panose="020B0609020204030204" pitchFamily="49" charset="0"/>
              </a:rPr>
              <a:t>format()</a:t>
            </a:r>
          </a:p>
          <a:p>
            <a:pPr marL="971550" lvl="1" indent="-51435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f-string</a:t>
            </a:r>
            <a:r>
              <a:rPr lang="zh-TW" altLang="en-US" dirty="0"/>
              <a:t>（也稱為 </a:t>
            </a:r>
            <a:r>
              <a:rPr lang="en-US" altLang="zh-TW" dirty="0"/>
              <a:t>formatted string literals</a:t>
            </a:r>
            <a:r>
              <a:rPr lang="zh-TW" altLang="en-US" dirty="0"/>
              <a:t>）</a:t>
            </a:r>
          </a:p>
          <a:p>
            <a:pPr marL="971550" lvl="1" indent="-514350">
              <a:buFont typeface="Wingdings" panose="05000000000000000000" pitchFamily="2" charset="2"/>
              <a:buAutoNum type="circleNumWdWhitePlain"/>
            </a:pPr>
            <a:r>
              <a:rPr lang="zh-TW" altLang="en-US" dirty="0"/>
              <a:t>樣板字串</a:t>
            </a:r>
            <a:r>
              <a:rPr lang="en-US" altLang="zh-TW" dirty="0"/>
              <a:t>(template string)</a:t>
            </a:r>
            <a:endParaRPr lang="zh-TW" altLang="en-US" dirty="0"/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E58D65-2039-463C-98F7-5FEF189B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BCE3DAE2-15AF-4E6E-870E-BB59A1E350F6}"/>
              </a:ext>
            </a:extLst>
          </p:cNvPr>
          <p:cNvSpPr/>
          <p:nvPr/>
        </p:nvSpPr>
        <p:spPr>
          <a:xfrm>
            <a:off x="7464973" y="3289190"/>
            <a:ext cx="3888827" cy="746235"/>
          </a:xfrm>
          <a:prstGeom prst="wedgeRoundRectCallout">
            <a:avLst>
              <a:gd name="adj1" fmla="val -151374"/>
              <a:gd name="adj2" fmla="val 11796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參照 </a:t>
            </a:r>
            <a:r>
              <a:rPr lang="en-US" altLang="zh-TW" sz="2400" dirty="0"/>
              <a:t>C </a:t>
            </a:r>
            <a:r>
              <a:rPr lang="zh-TW" altLang="en-US" sz="2400" dirty="0"/>
              <a:t>語言的格式化輸出</a:t>
            </a:r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350355C1-07C9-4786-A711-1FA396ED4406}"/>
              </a:ext>
            </a:extLst>
          </p:cNvPr>
          <p:cNvSpPr/>
          <p:nvPr/>
        </p:nvSpPr>
        <p:spPr>
          <a:xfrm>
            <a:off x="8418130" y="4356262"/>
            <a:ext cx="2935670" cy="896775"/>
          </a:xfrm>
          <a:prstGeom prst="wedgeRoundRectCallout">
            <a:avLst>
              <a:gd name="adj1" fmla="val -67597"/>
              <a:gd name="adj2" fmla="val -9300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Python 3.6+</a:t>
            </a:r>
            <a:r>
              <a:rPr lang="zh-TW" altLang="en-US" sz="2400" dirty="0"/>
              <a:t> 才有支援，推薦使用。</a:t>
            </a:r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C22BEDD7-6A1B-4E9A-A1A4-6D5AD424B371}"/>
              </a:ext>
            </a:extLst>
          </p:cNvPr>
          <p:cNvSpPr/>
          <p:nvPr/>
        </p:nvSpPr>
        <p:spPr>
          <a:xfrm>
            <a:off x="3880945" y="5672518"/>
            <a:ext cx="7472855" cy="933450"/>
          </a:xfrm>
          <a:prstGeom prst="wedgeRoundRectCallout">
            <a:avLst>
              <a:gd name="adj1" fmla="val -58736"/>
              <a:gd name="adj2" fmla="val -55465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主要在處理使用者的惡意輸入，不僅需要匯入 </a:t>
            </a:r>
            <a:r>
              <a:rPr lang="en-US" altLang="zh-TW" sz="2400" dirty="0"/>
              <a:t>string </a:t>
            </a:r>
            <a:r>
              <a:rPr lang="zh-TW" altLang="en-US" sz="2400" dirty="0"/>
              <a:t>模組，也牽涉到物件導向的寫法，故不介紹。</a:t>
            </a:r>
          </a:p>
        </p:txBody>
      </p:sp>
    </p:spTree>
    <p:extLst>
      <p:ext uri="{BB962C8B-B14F-4D97-AF65-F5344CB8AC3E}">
        <p14:creationId xmlns:p14="http://schemas.microsoft.com/office/powerpoint/2010/main" val="231099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2FCE95-9199-43A1-80BA-D864F6DF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Wingdings" panose="05000000000000000000" pitchFamily="2" charset="2"/>
              <a:buAutoNum type="circleNumWdWhitePlain"/>
            </a:pPr>
            <a:r>
              <a:rPr lang="zh-TW" altLang="en-US" dirty="0"/>
              <a:t>百分號</a:t>
            </a:r>
            <a:r>
              <a:rPr lang="en-US" altLang="zh-TW" dirty="0"/>
              <a:t>(1/4)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D982DE-05F4-41A7-A09E-696F00D1F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百分號</a:t>
            </a:r>
            <a:r>
              <a:rPr lang="en-US" altLang="zh-TW" dirty="0"/>
              <a:t>(%)</a:t>
            </a:r>
            <a:r>
              <a:rPr lang="zh-TW" altLang="en-US" dirty="0"/>
              <a:t>是 </a:t>
            </a:r>
            <a:r>
              <a:rPr lang="en-US" altLang="zh-TW" dirty="0"/>
              <a:t>Python </a:t>
            </a:r>
            <a:r>
              <a:rPr lang="zh-TW" altLang="en-US" dirty="0"/>
              <a:t>最早的格式化字串方法，在百分符號之後指定格式化方式，語法為：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print(</a:t>
            </a:r>
            <a:r>
              <a:rPr lang="zh-TW" altLang="en-US" dirty="0"/>
              <a:t>項目 </a:t>
            </a:r>
            <a:r>
              <a:rPr lang="en-US" altLang="zh-TW" dirty="0">
                <a:latin typeface="Consolas" panose="020B0609020204030204" pitchFamily="49" charset="0"/>
              </a:rPr>
              <a:t>%(</a:t>
            </a:r>
            <a:r>
              <a:rPr lang="zh-TW" altLang="en-US" dirty="0"/>
              <a:t>參數列</a:t>
            </a:r>
            <a:r>
              <a:rPr lang="en-US" altLang="zh-TW" dirty="0">
                <a:latin typeface="Consolas" panose="020B0609020204030204" pitchFamily="49" charset="0"/>
              </a:rPr>
              <a:t>))</a:t>
            </a:r>
          </a:p>
          <a:p>
            <a:pPr lvl="2"/>
            <a:r>
              <a:rPr lang="en-US" altLang="zh-TW" dirty="0">
                <a:latin typeface="Consolas" panose="020B0609020204030204" pitchFamily="49" charset="0"/>
              </a:rPr>
              <a:t>%s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zh-TW" altLang="en-US" dirty="0"/>
              <a:t>字串</a:t>
            </a:r>
            <a:endParaRPr lang="en-US" altLang="zh-TW" dirty="0"/>
          </a:p>
          <a:p>
            <a:pPr lvl="2"/>
            <a:r>
              <a:rPr lang="en-US" altLang="zh-TW" dirty="0">
                <a:latin typeface="Consolas" panose="020B0609020204030204" pitchFamily="49" charset="0"/>
              </a:rPr>
              <a:t>%d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zh-TW" altLang="en-US" dirty="0"/>
              <a:t>整數</a:t>
            </a:r>
            <a:endParaRPr lang="en-US" altLang="zh-TW" dirty="0"/>
          </a:p>
          <a:p>
            <a:pPr lvl="2"/>
            <a:r>
              <a:rPr lang="en-US" altLang="zh-TW" dirty="0">
                <a:latin typeface="Consolas" panose="020B0609020204030204" pitchFamily="49" charset="0"/>
              </a:rPr>
              <a:t>%f</a:t>
            </a:r>
            <a:r>
              <a:rPr lang="en-US" altLang="zh-TW" dirty="0"/>
              <a:t> 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zh-TW" altLang="en-US" dirty="0"/>
              <a:t>浮點數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C9C6EF-F564-4251-9192-829ACA69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2364F20-F989-4A1F-99A3-4220B2BBC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196" y="4796790"/>
            <a:ext cx="8087604" cy="17678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04DEED9-AB09-4605-821A-A4DC59A75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59"/>
          <a:stretch/>
        </p:blipFill>
        <p:spPr>
          <a:xfrm>
            <a:off x="8685034" y="4314824"/>
            <a:ext cx="3064528" cy="805815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94019CF6-5B1F-4035-B8B7-83D1432DD2CF}"/>
              </a:ext>
            </a:extLst>
          </p:cNvPr>
          <p:cNvSpPr/>
          <p:nvPr/>
        </p:nvSpPr>
        <p:spPr>
          <a:xfrm>
            <a:off x="6987540" y="1179195"/>
            <a:ext cx="2339340" cy="678180"/>
          </a:xfrm>
          <a:prstGeom prst="wedgeRoundRectCallout">
            <a:avLst>
              <a:gd name="adj1" fmla="val -63830"/>
              <a:gd name="adj2" fmla="val 41152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來自 </a:t>
            </a:r>
            <a:r>
              <a:rPr lang="en-US" altLang="zh-TW" sz="2400" dirty="0"/>
              <a:t>C </a:t>
            </a:r>
            <a:r>
              <a:rPr lang="zh-TW" altLang="en-US" sz="2400" dirty="0"/>
              <a:t>語言</a:t>
            </a:r>
          </a:p>
        </p:txBody>
      </p:sp>
    </p:spTree>
    <p:extLst>
      <p:ext uri="{BB962C8B-B14F-4D97-AF65-F5344CB8AC3E}">
        <p14:creationId xmlns:p14="http://schemas.microsoft.com/office/powerpoint/2010/main" val="22874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6BB93E-80BD-42AB-B792-727D7C168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Wingdings" panose="05000000000000000000" pitchFamily="2" charset="2"/>
              <a:buAutoNum type="circleNumWdWhitePlain"/>
            </a:pPr>
            <a:r>
              <a:rPr lang="zh-TW" altLang="en-US" dirty="0"/>
              <a:t>百分號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3B4773-C89F-4AFF-9584-6DEF24F5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格式化輸出可精確控制輸出位置，讓輸出資料整齊排列，比如：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%5d, %5s</a:t>
            </a:r>
            <a:r>
              <a:rPr lang="zh-TW" altLang="en-US" dirty="0"/>
              <a:t>：固定 </a:t>
            </a:r>
            <a:r>
              <a:rPr lang="en-US" altLang="zh-TW" dirty="0"/>
              <a:t>5 </a:t>
            </a:r>
            <a:r>
              <a:rPr lang="zh-TW" altLang="en-US" dirty="0"/>
              <a:t>個位置</a:t>
            </a:r>
            <a:endParaRPr lang="en-US" altLang="zh-TW" dirty="0"/>
          </a:p>
          <a:p>
            <a:pPr lvl="2"/>
            <a:r>
              <a:rPr lang="zh-TW" altLang="en-US" dirty="0"/>
              <a:t>小於 </a:t>
            </a:r>
            <a:r>
              <a:rPr lang="en-US" altLang="zh-TW" dirty="0"/>
              <a:t>5 </a:t>
            </a:r>
            <a:r>
              <a:rPr lang="zh-TW" altLang="en-US" dirty="0"/>
              <a:t>位數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zh-TW" altLang="en-US" dirty="0">
                <a:sym typeface="Wingdings" panose="05000000000000000000" pitchFamily="2" charset="2"/>
              </a:rPr>
              <a:t>在數字左方填入空白字元</a:t>
            </a:r>
            <a:endParaRPr lang="en-US" altLang="zh-TW" dirty="0">
              <a:sym typeface="Wingdings" panose="05000000000000000000" pitchFamily="2" charset="2"/>
            </a:endParaRPr>
          </a:p>
          <a:p>
            <a:pPr lvl="2"/>
            <a:r>
              <a:rPr lang="zh-TW" altLang="en-US" dirty="0"/>
              <a:t>大於 </a:t>
            </a:r>
            <a:r>
              <a:rPr lang="en-US" altLang="zh-TW" dirty="0"/>
              <a:t>5 </a:t>
            </a:r>
            <a:r>
              <a:rPr lang="zh-TW" altLang="en-US" dirty="0"/>
              <a:t>位數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zh-TW" altLang="en-US" dirty="0">
                <a:sym typeface="Wingdings" panose="05000000000000000000" pitchFamily="2" charset="2"/>
              </a:rPr>
              <a:t>全部輸出</a:t>
            </a:r>
            <a:endParaRPr lang="en-US" altLang="zh-TW" dirty="0">
              <a:sym typeface="Wingdings" panose="05000000000000000000" pitchFamily="2" charset="2"/>
            </a:endParaRPr>
          </a:p>
          <a:p>
            <a:pPr lvl="2"/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%6.2f</a:t>
            </a:r>
            <a:r>
              <a:rPr lang="zh-TW" altLang="en-US" dirty="0"/>
              <a:t>：固定 </a:t>
            </a:r>
            <a:r>
              <a:rPr lang="en-US" altLang="zh-TW" dirty="0"/>
              <a:t>6 </a:t>
            </a:r>
            <a:r>
              <a:rPr lang="zh-TW" altLang="en-US" dirty="0"/>
              <a:t>個位置（含小數點），小數後固定輸出 </a:t>
            </a:r>
            <a:r>
              <a:rPr lang="en-US" altLang="zh-TW" dirty="0"/>
              <a:t>2 </a:t>
            </a:r>
            <a:r>
              <a:rPr lang="zh-TW" altLang="en-US" dirty="0"/>
              <a:t>位數。</a:t>
            </a:r>
            <a:endParaRPr lang="en-US" altLang="zh-TW" dirty="0"/>
          </a:p>
          <a:p>
            <a:pPr lvl="2"/>
            <a:r>
              <a:rPr lang="zh-TW" altLang="en-US" dirty="0">
                <a:sym typeface="Wingdings" panose="05000000000000000000" pitchFamily="2" charset="2"/>
              </a:rPr>
              <a:t>小數、</a:t>
            </a:r>
            <a:r>
              <a:rPr lang="zh-TW" altLang="en-US" dirty="0"/>
              <a:t>整數分開看</a:t>
            </a:r>
            <a:endParaRPr lang="en-US" altLang="zh-TW" dirty="0">
              <a:sym typeface="Wingdings" panose="05000000000000000000" pitchFamily="2" charset="2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8A6768-8948-4293-91D9-C6CBF79C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15</a:t>
            </a:fld>
            <a:endParaRPr lang="zh-TW" altLang="en-US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F498308A-A587-499B-9EF4-1479BCB0FA18}"/>
              </a:ext>
            </a:extLst>
          </p:cNvPr>
          <p:cNvGrpSpPr/>
          <p:nvPr/>
        </p:nvGrpSpPr>
        <p:grpSpPr>
          <a:xfrm>
            <a:off x="5982795" y="4961571"/>
            <a:ext cx="5487019" cy="1691641"/>
            <a:chOff x="5982795" y="4961571"/>
            <a:chExt cx="5487019" cy="1691641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49C433DD-F6AC-4CD5-B6C3-B3E1D9CDD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2795" y="4961571"/>
              <a:ext cx="5487019" cy="882969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974F0083-F60B-4429-886B-FFF664C5A5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982795" y="5957888"/>
              <a:ext cx="2239447" cy="695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56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6BB93E-80BD-42AB-B792-727D7C168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Wingdings" panose="05000000000000000000" pitchFamily="2" charset="2"/>
              <a:buAutoNum type="circleNumWdWhitePlain"/>
            </a:pPr>
            <a:r>
              <a:rPr lang="zh-TW" altLang="en-US" dirty="0"/>
              <a:t>百分號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3B4773-C89F-4AFF-9584-6DEF24F5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格式化輸出可精確控制輸出位置，讓輸出資料整齊排列，比如：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%6.2f</a:t>
            </a:r>
            <a:r>
              <a:rPr lang="zh-TW" altLang="en-US" dirty="0"/>
              <a:t>：固定 </a:t>
            </a:r>
            <a:r>
              <a:rPr lang="en-US" altLang="zh-TW" dirty="0"/>
              <a:t>6 </a:t>
            </a:r>
            <a:r>
              <a:rPr lang="zh-TW" altLang="en-US" dirty="0"/>
              <a:t>個位置（含小數點），小數後固定輸出 </a:t>
            </a:r>
            <a:r>
              <a:rPr lang="en-US" altLang="zh-TW" dirty="0"/>
              <a:t>2 </a:t>
            </a:r>
            <a:r>
              <a:rPr lang="zh-TW" altLang="en-US" dirty="0"/>
              <a:t>位數。</a:t>
            </a:r>
            <a:endParaRPr lang="en-US" altLang="zh-TW" dirty="0"/>
          </a:p>
          <a:p>
            <a:pPr lvl="2"/>
            <a:r>
              <a:rPr lang="zh-TW" altLang="en-US" dirty="0">
                <a:sym typeface="Wingdings" panose="05000000000000000000" pitchFamily="2" charset="2"/>
              </a:rPr>
              <a:t>小數 </a:t>
            </a:r>
            <a:r>
              <a:rPr lang="en-US" altLang="zh-TW" dirty="0">
                <a:sym typeface="Wingdings" panose="05000000000000000000" pitchFamily="2" charset="2"/>
              </a:rPr>
              <a:t>&lt;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2 </a:t>
            </a:r>
            <a:r>
              <a:rPr lang="zh-TW" altLang="en-US" dirty="0">
                <a:sym typeface="Wingdings" panose="05000000000000000000" pitchFamily="2" charset="2"/>
              </a:rPr>
              <a:t>位數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zh-TW" altLang="en-US" dirty="0">
                <a:sym typeface="Wingdings" panose="05000000000000000000" pitchFamily="2" charset="2"/>
              </a:rPr>
              <a:t>在數字右方填入「</a:t>
            </a:r>
            <a:r>
              <a:rPr lang="en-US" altLang="zh-TW" dirty="0">
                <a:sym typeface="Wingdings" panose="05000000000000000000" pitchFamily="2" charset="2"/>
              </a:rPr>
              <a:t>0</a:t>
            </a:r>
            <a:r>
              <a:rPr lang="zh-TW" altLang="en-US" dirty="0">
                <a:sym typeface="Wingdings" panose="05000000000000000000" pitchFamily="2" charset="2"/>
              </a:rPr>
              <a:t>」字元</a:t>
            </a:r>
            <a:endParaRPr lang="en-US" altLang="zh-TW" dirty="0">
              <a:sym typeface="Wingdings" panose="05000000000000000000" pitchFamily="2" charset="2"/>
            </a:endParaRPr>
          </a:p>
          <a:p>
            <a:pPr lvl="2"/>
            <a:r>
              <a:rPr lang="zh-TW" altLang="en-US" dirty="0">
                <a:sym typeface="Wingdings" panose="05000000000000000000" pitchFamily="2" charset="2"/>
              </a:rPr>
              <a:t>小數 </a:t>
            </a:r>
            <a:r>
              <a:rPr lang="en-US" altLang="zh-TW" dirty="0"/>
              <a:t>≥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2 </a:t>
            </a:r>
            <a:r>
              <a:rPr lang="zh-TW" altLang="en-US" dirty="0">
                <a:sym typeface="Wingdings" panose="05000000000000000000" pitchFamily="2" charset="2"/>
              </a:rPr>
              <a:t>位數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小數後第 </a:t>
            </a:r>
            <a:r>
              <a:rPr lang="en-US" altLang="zh-TW" dirty="0">
                <a:sym typeface="Wingdings" panose="05000000000000000000" pitchFamily="2" charset="2"/>
              </a:rPr>
              <a:t>3</a:t>
            </a:r>
            <a:r>
              <a:rPr lang="zh-TW" altLang="en-US" dirty="0">
                <a:sym typeface="Wingdings" panose="05000000000000000000" pitchFamily="2" charset="2"/>
              </a:rPr>
              <a:t> 位四捨五入</a:t>
            </a:r>
            <a:endParaRPr lang="en-US" altLang="zh-TW" dirty="0"/>
          </a:p>
          <a:p>
            <a:pPr lvl="2"/>
            <a:r>
              <a:rPr lang="zh-TW" altLang="en-US" dirty="0"/>
              <a:t>整數 </a:t>
            </a:r>
            <a:r>
              <a:rPr lang="en-US" altLang="zh-TW" dirty="0"/>
              <a:t>&lt;</a:t>
            </a:r>
            <a:r>
              <a:rPr lang="zh-TW" altLang="en-US" dirty="0"/>
              <a:t> </a:t>
            </a:r>
            <a:r>
              <a:rPr lang="en-US" altLang="zh-TW" dirty="0"/>
              <a:t>3 </a:t>
            </a:r>
            <a:r>
              <a:rPr lang="zh-TW" altLang="en-US" dirty="0"/>
              <a:t>位數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zh-TW" altLang="en-US" dirty="0">
                <a:sym typeface="Wingdings" panose="05000000000000000000" pitchFamily="2" charset="2"/>
              </a:rPr>
              <a:t>在數字左方填入空白字元</a:t>
            </a:r>
            <a:endParaRPr lang="en-US" altLang="zh-TW" dirty="0">
              <a:sym typeface="Wingdings" panose="05000000000000000000" pitchFamily="2" charset="2"/>
            </a:endParaRPr>
          </a:p>
          <a:p>
            <a:pPr lvl="2"/>
            <a:r>
              <a:rPr lang="zh-TW" altLang="en-US" dirty="0"/>
              <a:t>整數 </a:t>
            </a:r>
            <a:r>
              <a:rPr lang="en-US" altLang="zh-TW" dirty="0"/>
              <a:t>≥</a:t>
            </a:r>
            <a:r>
              <a:rPr lang="zh-TW" altLang="en-US" dirty="0"/>
              <a:t> </a:t>
            </a:r>
            <a:r>
              <a:rPr lang="en-US" altLang="zh-TW" dirty="0"/>
              <a:t>3 </a:t>
            </a:r>
            <a:r>
              <a:rPr lang="zh-TW" altLang="en-US" dirty="0"/>
              <a:t>位數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全部輸出</a:t>
            </a:r>
            <a:endParaRPr lang="en-US" altLang="zh-TW" dirty="0">
              <a:sym typeface="Wingdings" panose="05000000000000000000" pitchFamily="2" charset="2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8A6768-8948-4293-91D9-C6CBF79C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16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1377353-0F80-4891-BFE2-8C9E024EB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241" y="4524460"/>
            <a:ext cx="4670220" cy="212875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75A7C71-50D5-4EBC-AF9B-9E62C1E03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11" y="3827389"/>
            <a:ext cx="2142857" cy="1152381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25141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55FF23-FD79-4113-AF5A-C364EB29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浮點數精確度問題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9C5950-3E4D-4F2A-BE03-0E017781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BE2E8E-7B42-47E2-9422-AD1DD84ED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796599"/>
            <a:ext cx="6332510" cy="182493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923E9D0-74B4-4E4F-AF65-3BEFC3C63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416" y="2796599"/>
            <a:ext cx="1322984" cy="1791115"/>
          </a:xfrm>
          <a:prstGeom prst="rect">
            <a:avLst/>
          </a:prstGeom>
        </p:spPr>
      </p:pic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0F7E9CF8-3BA3-41F7-B038-1508973F59AA}"/>
              </a:ext>
            </a:extLst>
          </p:cNvPr>
          <p:cNvSpPr/>
          <p:nvPr/>
        </p:nvSpPr>
        <p:spPr>
          <a:xfrm>
            <a:off x="4792980" y="4923053"/>
            <a:ext cx="5646420" cy="861060"/>
          </a:xfrm>
          <a:prstGeom prst="wedgeRoundRectCallout">
            <a:avLst>
              <a:gd name="adj1" fmla="val -56191"/>
              <a:gd name="adj2" fmla="val -43695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其他格式化輸出方式也會遇到同樣困擾</a:t>
            </a:r>
          </a:p>
        </p:txBody>
      </p:sp>
    </p:spTree>
    <p:extLst>
      <p:ext uri="{BB962C8B-B14F-4D97-AF65-F5344CB8AC3E}">
        <p14:creationId xmlns:p14="http://schemas.microsoft.com/office/powerpoint/2010/main" val="271374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6BB93E-80BD-42AB-B792-727D7C168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Wingdings" panose="05000000000000000000" pitchFamily="2" charset="2"/>
              <a:buAutoNum type="circleNumWdWhitePlain"/>
            </a:pPr>
            <a:r>
              <a:rPr lang="zh-TW" altLang="en-US" dirty="0"/>
              <a:t>百分號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3B4773-C89F-4AFF-9584-6DEF24F5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用 </a:t>
            </a:r>
            <a:r>
              <a:rPr lang="en-US" altLang="zh-TW" dirty="0">
                <a:latin typeface="Consolas" panose="020B0609020204030204" pitchFamily="49" charset="0"/>
              </a:rPr>
              <a:t>+/-</a:t>
            </a:r>
            <a:r>
              <a:rPr lang="en-US" altLang="zh-TW" dirty="0"/>
              <a:t> </a:t>
            </a:r>
            <a:r>
              <a:rPr lang="zh-TW" altLang="en-US" dirty="0"/>
              <a:t>控制靠左、右對齊</a:t>
            </a:r>
            <a:endParaRPr lang="en-US" altLang="zh-TW" dirty="0"/>
          </a:p>
          <a:p>
            <a:pPr lvl="1"/>
            <a:r>
              <a:rPr lang="zh-TW" altLang="en-US" dirty="0"/>
              <a:t>預設為靠右對齊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8A6768-8948-4293-91D9-C6CBF79C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18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4058DB3-DF11-417B-BE54-903AA66E7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61" y="3329940"/>
            <a:ext cx="6808946" cy="276225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63D2D7-2B6B-4309-8BB6-E4B9C197E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084" y="4042410"/>
            <a:ext cx="3009215" cy="134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51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33013D-7D10-4AE4-92DA-1DB3F7F5D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Wingdings" panose="05000000000000000000" pitchFamily="2" charset="2"/>
              <a:buAutoNum type="circleNumWdWhitePlain" startAt="2"/>
            </a:pPr>
            <a:r>
              <a:rPr lang="en-US" altLang="zh-TW" dirty="0">
                <a:latin typeface="Consolas" panose="020B0609020204030204" pitchFamily="49" charset="0"/>
              </a:rPr>
              <a:t>format()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4C4FCA-2DFB-4651-8FA0-1B830B9BB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百分號的格式化輸出，有</a:t>
            </a:r>
            <a:r>
              <a:rPr lang="zh-TW" altLang="en-US" dirty="0">
                <a:solidFill>
                  <a:schemeClr val="accent4"/>
                </a:solidFill>
              </a:rPr>
              <a:t>不適合輸出多個變數</a:t>
            </a:r>
            <a:r>
              <a:rPr lang="zh-TW" altLang="en-US" dirty="0"/>
              <a:t>、</a:t>
            </a:r>
            <a:r>
              <a:rPr lang="zh-TW" altLang="en-US" dirty="0">
                <a:solidFill>
                  <a:schemeClr val="accent4"/>
                </a:solidFill>
              </a:rPr>
              <a:t>可讀性低</a:t>
            </a:r>
            <a:r>
              <a:rPr lang="zh-TW" altLang="en-US" dirty="0"/>
              <a:t>等缺點。因此，</a:t>
            </a:r>
            <a:r>
              <a:rPr lang="en-US" altLang="zh-TW" dirty="0"/>
              <a:t>Python </a:t>
            </a:r>
            <a:r>
              <a:rPr lang="zh-TW" altLang="en-US" dirty="0"/>
              <a:t>設計了一個更好用的 </a:t>
            </a:r>
            <a:r>
              <a:rPr lang="en-US" altLang="zh-TW" dirty="0">
                <a:latin typeface="Consolas" panose="020B0609020204030204" pitchFamily="49" charset="0"/>
              </a:rPr>
              <a:t>format()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以「輸出字串</a:t>
            </a:r>
            <a:r>
              <a:rPr lang="en-US" altLang="zh-TW" dirty="0"/>
              <a:t>.</a:t>
            </a:r>
            <a:r>
              <a:rPr lang="en-US" altLang="zh-TW" dirty="0">
                <a:latin typeface="Consolas" panose="020B0609020204030204" pitchFamily="49" charset="0"/>
              </a:rPr>
              <a:t>format()</a:t>
            </a:r>
            <a:r>
              <a:rPr lang="zh-TW" altLang="en-US" dirty="0"/>
              <a:t>」方式進行格式化輸出</a:t>
            </a:r>
            <a:endParaRPr lang="en-US" altLang="zh-TW" dirty="0"/>
          </a:p>
          <a:p>
            <a:pPr lvl="2"/>
            <a:r>
              <a:rPr lang="zh-TW" altLang="en-US" dirty="0"/>
              <a:t>在輸出字串內用一對大括號（</a:t>
            </a:r>
            <a:r>
              <a:rPr lang="en-US" altLang="zh-TW" dirty="0">
                <a:latin typeface="Consolas" panose="020B0609020204030204" pitchFamily="49" charset="0"/>
              </a:rPr>
              <a:t>{}</a:t>
            </a:r>
            <a:r>
              <a:rPr lang="zh-TW" altLang="en-US" dirty="0"/>
              <a:t>）指定輸出目標在字串裡的位置</a:t>
            </a:r>
            <a:endParaRPr lang="en-US" altLang="zh-TW" dirty="0"/>
          </a:p>
          <a:p>
            <a:pPr lvl="2"/>
            <a:r>
              <a:rPr lang="zh-TW" altLang="en-US" dirty="0"/>
              <a:t>接著在 </a:t>
            </a:r>
            <a:r>
              <a:rPr lang="en-US" altLang="zh-TW" dirty="0">
                <a:latin typeface="Consolas" panose="020B0609020204030204" pitchFamily="49" charset="0"/>
              </a:rPr>
              <a:t>format()</a:t>
            </a:r>
            <a:r>
              <a:rPr lang="zh-TW" altLang="en-US" dirty="0"/>
              <a:t> 中放入欲輸出的變數、字串或數值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F3A499-214B-41C9-A151-09A285AC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501B378-DA10-400F-8658-1835ADC19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09" y="4823778"/>
            <a:ext cx="7968952" cy="154051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BA8A434-9ED7-44EF-A1A7-BFAF3EEDB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734" y="4975861"/>
            <a:ext cx="3932416" cy="71053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44620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33013D-7D10-4AE4-92DA-1DB3F7F5D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Wingdings" panose="05000000000000000000" pitchFamily="2" charset="2"/>
              <a:buAutoNum type="circleNumWdWhitePlain" startAt="2"/>
            </a:pPr>
            <a:r>
              <a:rPr lang="en-US" altLang="zh-TW" dirty="0">
                <a:latin typeface="Consolas" panose="020B0609020204030204" pitchFamily="49" charset="0"/>
              </a:rPr>
              <a:t>format()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4C4FCA-2DFB-4651-8FA0-1B830B9BB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對於三個基本資料型別的格式化輸出，</a:t>
            </a:r>
            <a:r>
              <a:rPr lang="en-US" altLang="zh-TW" dirty="0">
                <a:latin typeface="Consolas" panose="020B0609020204030204" pitchFamily="49" charset="0"/>
              </a:rPr>
              <a:t>format()</a:t>
            </a:r>
            <a:r>
              <a:rPr lang="zh-TW" altLang="en-US" dirty="0"/>
              <a:t> 與百分號的設定有些類似，但以「</a:t>
            </a:r>
            <a:r>
              <a:rPr lang="en-US" altLang="zh-TW" dirty="0">
                <a:latin typeface="Consolas" panose="020B0609020204030204" pitchFamily="49" charset="0"/>
              </a:rPr>
              <a:t>{:}</a:t>
            </a:r>
            <a:r>
              <a:rPr lang="zh-TW" altLang="en-US" dirty="0"/>
              <a:t>」代替「</a:t>
            </a:r>
            <a:r>
              <a:rPr lang="en-US" altLang="zh-TW" dirty="0">
                <a:latin typeface="Consolas" panose="020B0609020204030204" pitchFamily="49" charset="0"/>
              </a:rPr>
              <a:t>%</a:t>
            </a:r>
            <a:r>
              <a:rPr lang="zh-TW" altLang="en-US" dirty="0"/>
              <a:t>」，例如：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{:5d}</a:t>
            </a:r>
            <a:r>
              <a:rPr lang="zh-TW" altLang="en-US" dirty="0"/>
              <a:t>：與百分號的設定一致。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{:5s}</a:t>
            </a:r>
            <a:r>
              <a:rPr lang="zh-TW" altLang="en-US" dirty="0"/>
              <a:t>：與百分號的設定類似，但</a:t>
            </a:r>
            <a:r>
              <a:rPr lang="zh-TW" altLang="en-US" dirty="0">
                <a:solidFill>
                  <a:schemeClr val="accent4"/>
                </a:solidFill>
              </a:rPr>
              <a:t>預設以靠左對齊</a:t>
            </a:r>
            <a:r>
              <a:rPr lang="zh-TW" altLang="en-US" dirty="0"/>
              <a:t>的方式輸出字串。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{:6.2f}</a:t>
            </a:r>
            <a:r>
              <a:rPr lang="zh-TW" altLang="en-US" dirty="0"/>
              <a:t>：與百分號的設定一致。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F3A499-214B-41C9-A151-09A285AC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20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2C50EE-C74E-48AA-AFDC-EA532A02F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09" y="5093936"/>
            <a:ext cx="8605560" cy="118491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56ED4CD-9A86-4331-9E5E-6CDDED517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117" y="4929209"/>
            <a:ext cx="4686403" cy="564811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35223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33013D-7D10-4AE4-92DA-1DB3F7F5D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format()</a:t>
            </a:r>
            <a:r>
              <a:rPr lang="en-US" altLang="zh-TW" dirty="0"/>
              <a:t> </a:t>
            </a:r>
            <a:r>
              <a:rPr lang="zh-TW" altLang="en-US" dirty="0"/>
              <a:t>範例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F3A499-214B-41C9-A151-09A285AC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21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94F8D8F-C742-444C-BD6E-F8DBFEC18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964" y="2831867"/>
            <a:ext cx="5750676" cy="349261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01D73A8-6A5E-4401-95EC-010BB23A37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20"/>
          <a:stretch/>
        </p:blipFill>
        <p:spPr>
          <a:xfrm>
            <a:off x="5949964" y="571499"/>
            <a:ext cx="2218943" cy="211419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380E342-A34F-424C-B9B6-7B7982AB1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255" y="2831867"/>
            <a:ext cx="4568885" cy="348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0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33013D-7D10-4AE4-92DA-1DB3F7F5D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format()</a:t>
            </a:r>
            <a:r>
              <a:rPr lang="en-US" altLang="zh-TW" dirty="0"/>
              <a:t> </a:t>
            </a:r>
            <a:r>
              <a:rPr lang="zh-TW" altLang="en-US" dirty="0"/>
              <a:t>範例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F3A499-214B-41C9-A151-09A285AC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22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942CE5-908B-4935-AE53-C2E8143A2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003" y="2430025"/>
            <a:ext cx="7449051" cy="35897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75BCDBC-C8DE-4CD5-99D9-282EB18AF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799" y="2430025"/>
            <a:ext cx="1958059" cy="358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37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105CCA-53A9-4447-B495-C19FED8F3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format()</a:t>
            </a:r>
            <a:r>
              <a:rPr lang="en-US" altLang="zh-TW" dirty="0"/>
              <a:t> </a:t>
            </a:r>
            <a:r>
              <a:rPr lang="zh-TW" altLang="en-US" dirty="0"/>
              <a:t>範例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B396EF-56C7-4C48-B6BD-2CF07DF2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23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AB150B0-A090-4FEC-BDB0-0D33DF7A1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37" y="2334658"/>
            <a:ext cx="9720725" cy="162012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BB94749-7AAB-4FF8-908C-4E952BE56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389" y="4571129"/>
            <a:ext cx="4105220" cy="162012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1556D0E9-BF63-4ADF-9AFD-C903C0D371D5}"/>
              </a:ext>
            </a:extLst>
          </p:cNvPr>
          <p:cNvSpPr txBox="1"/>
          <p:nvPr/>
        </p:nvSpPr>
        <p:spPr>
          <a:xfrm>
            <a:off x="838200" y="6530101"/>
            <a:ext cx="40221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更多用法可參考 </a:t>
            </a:r>
            <a:r>
              <a:rPr lang="en-US" altLang="zh-TW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http://www.runoob.com/python/att-string-format.html</a:t>
            </a:r>
            <a:endParaRPr lang="zh-TW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747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21A17C-FC45-4CFF-9F7E-395F03C9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Wingdings" panose="05000000000000000000" pitchFamily="2" charset="2"/>
              <a:buAutoNum type="circleNumWdWhitePlain" startAt="3"/>
            </a:pPr>
            <a:r>
              <a:rPr lang="en-US" altLang="zh-TW" dirty="0"/>
              <a:t>f-string 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E558A7-CAE7-4343-9176-05EE55EF7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儘管 </a:t>
            </a:r>
            <a:r>
              <a:rPr lang="en-US" altLang="zh-TW" dirty="0">
                <a:latin typeface="Consolas" panose="020B0609020204030204" pitchFamily="49" charset="0"/>
              </a:rPr>
              <a:t>format()</a:t>
            </a:r>
            <a:r>
              <a:rPr lang="en-US" altLang="zh-TW" dirty="0"/>
              <a:t> </a:t>
            </a:r>
            <a:r>
              <a:rPr lang="zh-TW" altLang="en-US" dirty="0"/>
              <a:t>在使用上比百分號方便些，但當變數一多，要撰寫的程式碼仍然相當冗長。</a:t>
            </a:r>
            <a:endParaRPr lang="en-US" altLang="zh-TW" dirty="0"/>
          </a:p>
          <a:p>
            <a:pPr lvl="3"/>
            <a:endParaRPr lang="en-US" altLang="zh-TW" dirty="0"/>
          </a:p>
          <a:p>
            <a:r>
              <a:rPr lang="zh-TW" altLang="en-US" dirty="0"/>
              <a:t>底下介紹 </a:t>
            </a:r>
            <a:r>
              <a:rPr lang="en-US" altLang="zh-TW" dirty="0"/>
              <a:t>f-string </a:t>
            </a:r>
            <a:r>
              <a:rPr lang="zh-TW" altLang="en-US" dirty="0"/>
              <a:t>的用法，</a:t>
            </a:r>
            <a:r>
              <a:rPr lang="en-US" altLang="zh-TW" dirty="0"/>
              <a:t>Python 3.6+ </a:t>
            </a:r>
            <a:r>
              <a:rPr lang="zh-TW" altLang="en-US" dirty="0"/>
              <a:t>才有支援。</a:t>
            </a:r>
            <a:endParaRPr lang="en-US" altLang="zh-TW" dirty="0"/>
          </a:p>
          <a:p>
            <a:pPr lvl="1"/>
            <a:r>
              <a:rPr lang="zh-TW" altLang="en-US" dirty="0"/>
              <a:t>在輸出字串前加上「</a:t>
            </a:r>
            <a:r>
              <a:rPr lang="en-US" altLang="zh-TW" dirty="0">
                <a:latin typeface="Consolas" panose="020B0609020204030204" pitchFamily="49" charset="0"/>
              </a:rPr>
              <a:t>f</a:t>
            </a:r>
            <a:r>
              <a:rPr lang="zh-TW" altLang="en-US" dirty="0"/>
              <a:t>」即可進行格式化</a:t>
            </a:r>
            <a:endParaRPr lang="en-US" altLang="zh-TW" dirty="0"/>
          </a:p>
          <a:p>
            <a:pPr lvl="1"/>
            <a:r>
              <a:rPr lang="zh-TW" altLang="en-US" dirty="0"/>
              <a:t>並在大括號內填入目標變數，是現在比較推薦的格式化方法。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1A833-16B7-41AA-8650-F729FD34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24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BA07998-1482-4F93-9476-E54CA01A7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73" y="5096887"/>
            <a:ext cx="6155114" cy="131153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E10A568-6E62-49B1-BF51-2E4E47755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659" y="5514538"/>
            <a:ext cx="3439432" cy="47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21A17C-FC45-4CFF-9F7E-395F03C9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Wingdings" panose="05000000000000000000" pitchFamily="2" charset="2"/>
              <a:buAutoNum type="circleNumWdWhitePlain" startAt="3"/>
            </a:pPr>
            <a:r>
              <a:rPr lang="en-US" altLang="zh-TW" dirty="0"/>
              <a:t>f-string 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E558A7-CAE7-4343-9176-05EE55EF7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f-string</a:t>
            </a:r>
            <a:r>
              <a:rPr lang="zh-TW" altLang="en-US" dirty="0"/>
              <a:t> 格式化字串的設定與 </a:t>
            </a:r>
            <a:r>
              <a:rPr lang="en-US" altLang="zh-TW" dirty="0">
                <a:latin typeface="Consolas" panose="020B0609020204030204" pitchFamily="49" charset="0"/>
              </a:rPr>
              <a:t>format()</a:t>
            </a:r>
            <a:r>
              <a:rPr lang="zh-TW" altLang="en-US" dirty="0"/>
              <a:t> 類似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1A833-16B7-41AA-8650-F729FD34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25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1D79995-B305-47D5-A640-885B3611F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842" y="2900181"/>
            <a:ext cx="6084240" cy="29320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09DEA3D-67FC-4BE4-A949-2C48CAD08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9366" y="496942"/>
            <a:ext cx="1599304" cy="2932058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CF6252B-85B8-4FF0-BA67-25751B4B3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30" y="2886845"/>
            <a:ext cx="5111170" cy="293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647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CBA560-5CB7-4263-B4E9-E5EEA589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f-string </a:t>
            </a:r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8EC7B4-85C1-4E8A-B9B8-5CF234F62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26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591E64D-A485-4EAC-B4F4-DF410F386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238" y="2352157"/>
            <a:ext cx="8779488" cy="178498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AA1441D-F093-449A-AD17-F24E8F473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238" y="4512942"/>
            <a:ext cx="10484912" cy="174748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E874402-B139-4B4C-84DE-5A12D4306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580" y="597572"/>
            <a:ext cx="4105220" cy="162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1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練習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請以 </a:t>
            </a:r>
            <a:r>
              <a:rPr lang="en-US" altLang="zh-TW" dirty="0">
                <a:latin typeface="Consolas" panose="020B0609020204030204" pitchFamily="49" charset="0"/>
              </a:rPr>
              <a:t>print()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chemeClr val="accent4"/>
                </a:solidFill>
              </a:rPr>
              <a:t>三種格式化語法</a:t>
            </a:r>
            <a:r>
              <a:rPr lang="zh-TW" altLang="en-US" dirty="0"/>
              <a:t>，分別輸出下列變數的內容：</a:t>
            </a:r>
            <a:endParaRPr lang="en-US" altLang="zh-TW" dirty="0"/>
          </a:p>
          <a:p>
            <a:pPr lvl="1"/>
            <a:r>
              <a:rPr lang="en-US" altLang="zh-TW" dirty="0"/>
              <a:t>name = '</a:t>
            </a:r>
            <a:r>
              <a:rPr lang="zh-TW" altLang="en-US" dirty="0"/>
              <a:t>喬巴</a:t>
            </a:r>
            <a:r>
              <a:rPr lang="en-US" altLang="zh-TW" dirty="0"/>
              <a:t>'</a:t>
            </a:r>
          </a:p>
          <a:p>
            <a:pPr lvl="1"/>
            <a:r>
              <a:rPr lang="en-US" altLang="zh-TW" dirty="0" err="1"/>
              <a:t>atk</a:t>
            </a:r>
            <a:r>
              <a:rPr lang="en-US" altLang="zh-TW" dirty="0"/>
              <a:t> = 80</a:t>
            </a:r>
          </a:p>
          <a:p>
            <a:pPr lvl="1"/>
            <a:r>
              <a:rPr lang="zh-TW" altLang="en-US" dirty="0"/>
              <a:t>萌度 </a:t>
            </a:r>
            <a:r>
              <a:rPr lang="en-US" altLang="zh-TW" dirty="0"/>
              <a:t>= 95.5678</a:t>
            </a:r>
          </a:p>
          <a:p>
            <a:endParaRPr lang="en-US" altLang="zh-TW" dirty="0"/>
          </a:p>
          <a:p>
            <a:r>
              <a:rPr lang="zh-TW" altLang="en-US" dirty="0"/>
              <a:t>輸出結果為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82EE2A9-A2FB-4808-A1A2-B863302579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14"/>
          <a:stretch/>
        </p:blipFill>
        <p:spPr>
          <a:xfrm>
            <a:off x="1435029" y="5219699"/>
            <a:ext cx="5928366" cy="50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7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輸出與輸入</a:t>
            </a:r>
            <a:endParaRPr lang="en-US" altLang="zh-TW" dirty="0"/>
          </a:p>
          <a:p>
            <a:pPr lvl="1"/>
            <a:r>
              <a:rPr lang="zh-TW" altLang="en-US" dirty="0"/>
              <a:t>基本輸出</a:t>
            </a:r>
            <a:endParaRPr lang="en-US" altLang="zh-TW" dirty="0"/>
          </a:p>
          <a:p>
            <a:pPr lvl="1"/>
            <a:r>
              <a:rPr lang="zh-TW" altLang="en-US" dirty="0"/>
              <a:t>格式化輸出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由鍵盤輸入</a:t>
            </a:r>
            <a:endParaRPr lang="en-US" altLang="zh-TW" dirty="0">
              <a:solidFill>
                <a:schemeClr val="accent2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4455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輸入資料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print()</a:t>
            </a:r>
            <a:r>
              <a:rPr lang="en-US" altLang="zh-TW" dirty="0"/>
              <a:t> </a:t>
            </a:r>
            <a:r>
              <a:rPr lang="zh-TW" altLang="en-US" dirty="0"/>
              <a:t>是輸出資料，而內建函式 </a:t>
            </a:r>
            <a:r>
              <a:rPr lang="en-US" altLang="zh-TW" dirty="0">
                <a:latin typeface="Consolas" panose="020B0609020204030204" pitchFamily="49" charset="0"/>
              </a:rPr>
              <a:t>input()</a:t>
            </a:r>
            <a:r>
              <a:rPr lang="en-US" altLang="zh-TW" dirty="0"/>
              <a:t> </a:t>
            </a:r>
            <a:r>
              <a:rPr lang="zh-TW" altLang="en-US" dirty="0"/>
              <a:t>則是</a:t>
            </a:r>
            <a:r>
              <a:rPr lang="zh-TW" altLang="en-US" dirty="0">
                <a:solidFill>
                  <a:schemeClr val="accent4"/>
                </a:solidFill>
              </a:rPr>
              <a:t>暫停程式</a:t>
            </a:r>
            <a:r>
              <a:rPr lang="zh-TW" altLang="en-US" dirty="0"/>
              <a:t>等待使用者由「標準輸入」裝置</a:t>
            </a:r>
            <a:r>
              <a:rPr lang="zh-TW" altLang="en-US" dirty="0">
                <a:solidFill>
                  <a:schemeClr val="accent4"/>
                </a:solidFill>
              </a:rPr>
              <a:t>輸入資料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如果沒有特別設定，</a:t>
            </a:r>
            <a:r>
              <a:rPr lang="zh-TW" altLang="en-US" dirty="0">
                <a:solidFill>
                  <a:schemeClr val="accent4"/>
                </a:solidFill>
              </a:rPr>
              <a:t>標準輸入</a:t>
            </a:r>
            <a:r>
              <a:rPr lang="zh-TW" altLang="en-US" dirty="0"/>
              <a:t>指的是鍵盤。</a:t>
            </a:r>
          </a:p>
          <a:p>
            <a:pPr lvl="1"/>
            <a:r>
              <a:rPr lang="en-US" altLang="zh-TW" dirty="0"/>
              <a:t>[</a:t>
            </a:r>
            <a:r>
              <a:rPr lang="zh-TW" altLang="en-US" dirty="0"/>
              <a:t>變數 </a:t>
            </a:r>
            <a:r>
              <a:rPr lang="en-US" altLang="zh-TW" dirty="0">
                <a:latin typeface="Consolas" panose="020B0609020204030204" pitchFamily="49" charset="0"/>
              </a:rPr>
              <a:t>=</a:t>
            </a:r>
            <a:r>
              <a:rPr lang="en-US" altLang="zh-TW" dirty="0"/>
              <a:t>] </a:t>
            </a:r>
            <a:r>
              <a:rPr lang="en-US" altLang="zh-TW" dirty="0">
                <a:latin typeface="Consolas" panose="020B0609020204030204" pitchFamily="49" charset="0"/>
              </a:rPr>
              <a:t>input(</a:t>
            </a:r>
            <a:r>
              <a:rPr lang="en-US" altLang="zh-TW" dirty="0"/>
              <a:t>[</a:t>
            </a:r>
            <a:r>
              <a:rPr lang="zh-TW" altLang="en-US" dirty="0"/>
              <a:t>提示字串</a:t>
            </a:r>
            <a:r>
              <a:rPr lang="en-US" altLang="zh-TW" dirty="0"/>
              <a:t>]</a:t>
            </a:r>
            <a:r>
              <a:rPr lang="en-US" altLang="zh-TW" dirty="0">
                <a:latin typeface="Consolas" panose="020B0609020204030204" pitchFamily="49" charset="0"/>
              </a:rPr>
              <a:t>)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29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92DF7EE-2A44-43D4-B17A-B419B90B1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46" y="4324438"/>
            <a:ext cx="8057229" cy="171346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F2DF6B3-1FAE-4BE5-B886-A9178D765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610" y="4476410"/>
            <a:ext cx="1876190" cy="14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注意資料型別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這段程式碼是否有問題？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30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3A34B85-74B7-487B-9663-9C0699CF9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807" y="2557542"/>
            <a:ext cx="7544386" cy="225829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775981D-17FB-47F4-98C6-52B85A720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762" y="5043688"/>
            <a:ext cx="9190476" cy="1609524"/>
          </a:xfrm>
          <a:prstGeom prst="rect">
            <a:avLst/>
          </a:prstGeom>
        </p:spPr>
      </p:pic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A88725C8-03A6-49FC-ABF7-BEDA878C2594}"/>
              </a:ext>
            </a:extLst>
          </p:cNvPr>
          <p:cNvCxnSpPr/>
          <p:nvPr/>
        </p:nvCxnSpPr>
        <p:spPr>
          <a:xfrm>
            <a:off x="8212041" y="6124824"/>
            <a:ext cx="82296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6485FB1C-F7D7-4085-A227-518786155682}"/>
              </a:ext>
            </a:extLst>
          </p:cNvPr>
          <p:cNvCxnSpPr>
            <a:cxnSpLocks/>
          </p:cNvCxnSpPr>
          <p:nvPr/>
        </p:nvCxnSpPr>
        <p:spPr>
          <a:xfrm>
            <a:off x="1558124" y="6714546"/>
            <a:ext cx="6653917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99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21482B-C8A2-4716-A3C4-23B7D4A2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修正方式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0EA232-7ACF-40F8-A149-9D09DB95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31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DEEFD2C-809B-4DD2-A1B7-2320BE287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807" y="2299851"/>
            <a:ext cx="7544386" cy="2258297"/>
          </a:xfrm>
          <a:prstGeom prst="rect">
            <a:avLst/>
          </a:prstGeom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163B44E6-F028-42D7-9CB0-68C55980E9CA}"/>
              </a:ext>
            </a:extLst>
          </p:cNvPr>
          <p:cNvSpPr/>
          <p:nvPr/>
        </p:nvSpPr>
        <p:spPr>
          <a:xfrm>
            <a:off x="5784111" y="1478280"/>
            <a:ext cx="6007573" cy="754380"/>
          </a:xfrm>
          <a:prstGeom prst="wedgeRoundRectCallout">
            <a:avLst>
              <a:gd name="adj1" fmla="val -54805"/>
              <a:gd name="adj2" fmla="val 47560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解</a:t>
            </a:r>
            <a:r>
              <a:rPr lang="en-US" altLang="zh-TW" sz="2800" dirty="0"/>
              <a:t>1</a:t>
            </a:r>
            <a:r>
              <a:rPr lang="zh-TW" altLang="en-US" sz="2800" dirty="0"/>
              <a:t>：</a:t>
            </a:r>
            <a:r>
              <a:rPr lang="en-US" altLang="zh-TW" sz="2800" dirty="0">
                <a:latin typeface="Consolas" panose="020B0609020204030204" pitchFamily="49" charset="0"/>
              </a:rPr>
              <a:t>int(input("</a:t>
            </a:r>
            <a:r>
              <a:rPr lang="zh-TW" altLang="en-US" sz="2800" dirty="0">
                <a:latin typeface="Consolas" panose="020B0609020204030204" pitchFamily="49" charset="0"/>
              </a:rPr>
              <a:t>請輸入成績：</a:t>
            </a:r>
            <a:r>
              <a:rPr lang="en-US" altLang="zh-TW" sz="2800" dirty="0">
                <a:latin typeface="Consolas" panose="020B0609020204030204" pitchFamily="49" charset="0"/>
              </a:rPr>
              <a:t>"))</a:t>
            </a:r>
            <a:endParaRPr lang="zh-TW" altLang="en-US" sz="2800" dirty="0">
              <a:latin typeface="Consolas" panose="020B0609020204030204" pitchFamily="49" charset="0"/>
            </a:endParaRPr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5D9D1DDF-AE07-4A06-BB30-8B05193ABD2D}"/>
              </a:ext>
            </a:extLst>
          </p:cNvPr>
          <p:cNvSpPr/>
          <p:nvPr/>
        </p:nvSpPr>
        <p:spPr>
          <a:xfrm>
            <a:off x="6180883" y="4632073"/>
            <a:ext cx="3246652" cy="754380"/>
          </a:xfrm>
          <a:prstGeom prst="wedgeRoundRectCallout">
            <a:avLst>
              <a:gd name="adj1" fmla="val -62587"/>
              <a:gd name="adj2" fmla="val -52017"/>
              <a:gd name="adj3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解</a:t>
            </a:r>
            <a:r>
              <a:rPr lang="en-US" altLang="zh-TW" sz="2800" dirty="0"/>
              <a:t>2</a:t>
            </a:r>
            <a:r>
              <a:rPr lang="zh-TW" altLang="en-US" sz="2800" dirty="0"/>
              <a:t>：</a:t>
            </a:r>
            <a:r>
              <a:rPr lang="en-US" altLang="zh-TW" sz="2800" dirty="0">
                <a:latin typeface="Consolas" panose="020B0609020204030204" pitchFamily="49" charset="0"/>
              </a:rPr>
              <a:t>int(score)</a:t>
            </a:r>
            <a:endParaRPr lang="zh-TW" altLang="en-US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58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F232D3-2006-4C4F-825D-5293085BE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這有點問題 </a:t>
            </a:r>
            <a:r>
              <a:rPr lang="en-US" altLang="zh-TW" dirty="0"/>
              <a:t>…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A9F066-AFA8-4AD6-941D-AFF148813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32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2EB5A6F-2F44-498D-B912-844A7D616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694" y="1863697"/>
            <a:ext cx="9488611" cy="16848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E9B6C7B-7FC4-4E36-826B-B69E8058A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427" y="3812089"/>
            <a:ext cx="9257143" cy="2952381"/>
          </a:xfrm>
          <a:prstGeom prst="rect">
            <a:avLst/>
          </a:prstGeom>
        </p:spPr>
      </p:pic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BFC9E572-D397-4C9E-8FD9-68ABCFC7A779}"/>
              </a:ext>
            </a:extLst>
          </p:cNvPr>
          <p:cNvSpPr/>
          <p:nvPr/>
        </p:nvSpPr>
        <p:spPr>
          <a:xfrm>
            <a:off x="6842760" y="3604260"/>
            <a:ext cx="5025390" cy="1021080"/>
          </a:xfrm>
          <a:prstGeom prst="wedgeRoundRectCallout">
            <a:avLst>
              <a:gd name="adj1" fmla="val -58816"/>
              <a:gd name="adj2" fmla="val -49621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將使用者輸入看起來像浮點數的字串，強制轉換為整數型別 </a:t>
            </a:r>
            <a:r>
              <a:rPr lang="en-US" altLang="zh-TW" sz="2400" dirty="0">
                <a:sym typeface="Wingdings" panose="05000000000000000000" pitchFamily="2" charset="2"/>
              </a:rPr>
              <a:t>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1091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D35EC3-35E8-4EB4-998C-3BC1DBDBB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判斷小數點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61F65C-C770-4122-B084-B5E20E439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熟悉程式設計的人可能會想多寫幾行程式碼來判斷輸入的是</a:t>
            </a:r>
            <a:r>
              <a:rPr lang="zh-TW" altLang="en-US" dirty="0">
                <a:solidFill>
                  <a:schemeClr val="accent4"/>
                </a:solidFill>
              </a:rPr>
              <a:t>整數</a:t>
            </a:r>
            <a:r>
              <a:rPr lang="zh-TW" altLang="en-US" dirty="0"/>
              <a:t>還是</a:t>
            </a:r>
            <a:r>
              <a:rPr lang="zh-TW" altLang="en-US" dirty="0">
                <a:solidFill>
                  <a:schemeClr val="accent4"/>
                </a:solidFill>
              </a:rPr>
              <a:t>浮點數</a:t>
            </a:r>
            <a:r>
              <a:rPr lang="zh-TW" altLang="en-US" dirty="0"/>
              <a:t>，畢竟這兩者的差別僅在於</a:t>
            </a:r>
            <a:r>
              <a:rPr lang="zh-TW" altLang="en-US" dirty="0">
                <a:solidFill>
                  <a:schemeClr val="accent4"/>
                </a:solidFill>
              </a:rPr>
              <a:t>小數點的存在與否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en-US" altLang="zh-TW" dirty="0"/>
              <a:t>"87", "94.87"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108420-B7E2-4954-A5E9-573BE084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33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30CB7B-F8A5-415A-AEA6-52912A241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95" y="3606283"/>
            <a:ext cx="5164263" cy="242304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0DF9519-C38F-4B4C-9BE1-30622B134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864" y="4335780"/>
            <a:ext cx="3510621" cy="925394"/>
          </a:xfrm>
          <a:prstGeom prst="rect">
            <a:avLst/>
          </a:prstGeom>
        </p:spPr>
      </p:pic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32115887-A496-422E-826E-9AB63F6218AF}"/>
              </a:ext>
            </a:extLst>
          </p:cNvPr>
          <p:cNvSpPr/>
          <p:nvPr/>
        </p:nvSpPr>
        <p:spPr>
          <a:xfrm>
            <a:off x="7016914" y="5661660"/>
            <a:ext cx="4504525" cy="853440"/>
          </a:xfrm>
          <a:prstGeom prst="wedgeRoundRectCallout">
            <a:avLst>
              <a:gd name="adj1" fmla="val -62310"/>
              <a:gd name="adj2" fmla="val -38510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字串處理之後才會學到 </a:t>
            </a:r>
            <a:r>
              <a:rPr lang="en-US" altLang="zh-TW" sz="2400" dirty="0">
                <a:sym typeface="Wingdings" panose="05000000000000000000" pitchFamily="2" charset="2"/>
              </a:rPr>
              <a:t></a:t>
            </a:r>
            <a:r>
              <a:rPr lang="zh-TW" altLang="en-US" sz="2400" dirty="0">
                <a:sym typeface="Wingdings" panose="05000000000000000000" pitchFamily="2" charset="2"/>
              </a:rPr>
              <a:t>，是否有比較簡單的處理方式？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3252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內建函式 </a:t>
            </a:r>
            <a:r>
              <a:rPr lang="en-US" altLang="zh-TW" dirty="0">
                <a:latin typeface="Consolas" panose="020B0609020204030204" pitchFamily="49" charset="0"/>
              </a:rPr>
              <a:t>eval()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34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CB41587-2814-4B07-8F0F-437213668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244" y="2292625"/>
            <a:ext cx="9781511" cy="93345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A17F190-E81A-4831-BED5-F27C3A7700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02"/>
          <a:stretch/>
        </p:blipFill>
        <p:spPr>
          <a:xfrm>
            <a:off x="7587604" y="737150"/>
            <a:ext cx="3399151" cy="145213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4984DA3-2C6B-4FF4-86BF-651DA300D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244" y="4467688"/>
            <a:ext cx="5664749" cy="180584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646FB7CA-0903-47D4-8BE8-8E0461B901A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194"/>
          <a:stretch/>
        </p:blipFill>
        <p:spPr>
          <a:xfrm>
            <a:off x="7023724" y="4629798"/>
            <a:ext cx="3090573" cy="149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1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D35EC3-35E8-4EB4-998C-3BC1DBDBB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eval(</a:t>
            </a:r>
            <a:r>
              <a:rPr lang="zh-TW" altLang="en-US" dirty="0"/>
              <a:t>運算式</a:t>
            </a:r>
            <a:r>
              <a:rPr lang="en-US" altLang="zh-TW" dirty="0">
                <a:latin typeface="Consolas" panose="020B0609020204030204" pitchFamily="49" charset="0"/>
              </a:rPr>
              <a:t>)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61F65C-C770-4122-B084-B5E20E439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eval()</a:t>
            </a:r>
            <a:r>
              <a:rPr lang="en-US" altLang="zh-TW" dirty="0"/>
              <a:t> </a:t>
            </a:r>
            <a:r>
              <a:rPr lang="zh-TW" altLang="en-US" dirty="0"/>
              <a:t>真正用途是執行</a:t>
            </a:r>
            <a:r>
              <a:rPr lang="zh-TW" altLang="en-US" dirty="0">
                <a:solidFill>
                  <a:schemeClr val="accent4"/>
                </a:solidFill>
              </a:rPr>
              <a:t>字串運算式</a:t>
            </a:r>
            <a:r>
              <a:rPr lang="en-US" altLang="zh-TW" dirty="0"/>
              <a:t>(expression)</a:t>
            </a:r>
            <a:r>
              <a:rPr lang="zh-TW" altLang="en-US" dirty="0"/>
              <a:t>，並回傳該運算式的運算結果。</a:t>
            </a:r>
            <a:endParaRPr lang="en-US" altLang="zh-TW" dirty="0"/>
          </a:p>
          <a:p>
            <a:pPr lvl="1"/>
            <a:r>
              <a:rPr lang="zh-TW" altLang="en-US" dirty="0"/>
              <a:t>這個運算式可包含變數，也可由使用者直接輸入。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108420-B7E2-4954-A5E9-573BE084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35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15073F2-9716-4A81-9699-399530BD6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005" y="3770115"/>
            <a:ext cx="6047100" cy="248781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5AC1619-D8B4-41D0-983F-B2B94A64B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534" y="4243006"/>
            <a:ext cx="4120711" cy="154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3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8A20B-653C-42FB-9C0C-545A3A9CC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簡化輸入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FDA8E8-3722-4A28-9D93-C04E7879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36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4882E36-BD78-45F5-BE0B-0BB7E78D2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483" y="2125981"/>
            <a:ext cx="8897034" cy="19972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DFFF935-8A94-4E31-9374-B5F89A345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239" y="4495869"/>
            <a:ext cx="7351522" cy="1695381"/>
          </a:xfrm>
          <a:prstGeom prst="rect">
            <a:avLst/>
          </a:prstGeom>
        </p:spPr>
      </p:pic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A3E8E1CC-267A-4063-BE17-1CB53BA87056}"/>
              </a:ext>
            </a:extLst>
          </p:cNvPr>
          <p:cNvSpPr/>
          <p:nvPr/>
        </p:nvSpPr>
        <p:spPr>
          <a:xfrm>
            <a:off x="3373492" y="1513772"/>
            <a:ext cx="3303756" cy="545450"/>
          </a:xfrm>
          <a:prstGeom prst="wedgeRoundRectCallout">
            <a:avLst>
              <a:gd name="adj1" fmla="val -58877"/>
              <a:gd name="adj2" fmla="val 51159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一次取得兩個輸入值</a:t>
            </a:r>
          </a:p>
        </p:txBody>
      </p:sp>
    </p:spTree>
    <p:extLst>
      <p:ext uri="{BB962C8B-B14F-4D97-AF65-F5344CB8AC3E}">
        <p14:creationId xmlns:p14="http://schemas.microsoft.com/office/powerpoint/2010/main" val="341983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9125FF-5062-4637-AAF1-C6467CC2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注意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A0CAA7-8609-42DA-A8A2-8D6A0E1B4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eval()</a:t>
            </a:r>
            <a:r>
              <a:rPr lang="en-US" altLang="zh-TW" dirty="0"/>
              <a:t> </a:t>
            </a:r>
            <a:r>
              <a:rPr lang="zh-TW" altLang="en-US" dirty="0"/>
              <a:t>會嘗試將一個字串轉換成</a:t>
            </a:r>
            <a:r>
              <a:rPr lang="zh-TW" altLang="en-US" dirty="0">
                <a:solidFill>
                  <a:schemeClr val="accent4"/>
                </a:solidFill>
              </a:rPr>
              <a:t>可執行的程式碼</a:t>
            </a:r>
            <a:r>
              <a:rPr lang="zh-TW" altLang="en-US" dirty="0"/>
              <a:t>並</a:t>
            </a:r>
            <a:r>
              <a:rPr lang="zh-TW" altLang="en-US" dirty="0">
                <a:solidFill>
                  <a:schemeClr val="accent4"/>
                </a:solidFill>
              </a:rPr>
              <a:t>執行</a:t>
            </a:r>
            <a:r>
              <a:rPr lang="zh-TW" altLang="en-US" dirty="0"/>
              <a:t>，但不能進行複雜的邏輯運算，比如賦值、迴圈等。</a:t>
            </a:r>
            <a:endParaRPr lang="en-US" altLang="zh-TW" dirty="0"/>
          </a:p>
          <a:p>
            <a:pPr lvl="2"/>
            <a:endParaRPr lang="en-US" altLang="zh-TW" dirty="0"/>
          </a:p>
          <a:p>
            <a:r>
              <a:rPr lang="zh-TW" altLang="en-US" dirty="0"/>
              <a:t>儘管方便使用，但也具有潛在的資安風險。</a:t>
            </a:r>
            <a:endParaRPr lang="en-US" altLang="zh-TW" dirty="0"/>
          </a:p>
          <a:p>
            <a:pPr lvl="1"/>
            <a:r>
              <a:rPr lang="zh-TW" altLang="en-US" dirty="0"/>
              <a:t>使用者惡意輸入類似「</a:t>
            </a:r>
            <a:r>
              <a:rPr lang="zh-TW" altLang="en-US" dirty="0">
                <a:solidFill>
                  <a:schemeClr val="accent4"/>
                </a:solidFill>
              </a:rPr>
              <a:t>系統指令</a:t>
            </a:r>
            <a:r>
              <a:rPr lang="zh-TW" altLang="en-US" dirty="0"/>
              <a:t>」的字串，可能導致程式碼注入漏洞。</a:t>
            </a:r>
            <a:endParaRPr lang="en-US" altLang="zh-TW" dirty="0"/>
          </a:p>
          <a:p>
            <a:pPr lvl="1"/>
            <a:r>
              <a:rPr lang="en-US" altLang="zh-TW" dirty="0"/>
              <a:t>e.g., </a:t>
            </a:r>
            <a:r>
              <a:rPr lang="zh-TW" altLang="en-US" dirty="0"/>
              <a:t>使用 </a:t>
            </a:r>
            <a:r>
              <a:rPr lang="en-US" altLang="zh-TW" dirty="0">
                <a:latin typeface="Consolas" panose="020B0609020204030204" pitchFamily="49" charset="0"/>
              </a:rPr>
              <a:t>eval("__import__('</a:t>
            </a:r>
            <a:r>
              <a:rPr lang="en-US" altLang="zh-TW" dirty="0" err="1">
                <a:latin typeface="Consolas" panose="020B0609020204030204" pitchFamily="49" charset="0"/>
              </a:rPr>
              <a:t>os</a:t>
            </a:r>
            <a:r>
              <a:rPr lang="en-US" altLang="zh-TW" dirty="0">
                <a:latin typeface="Consolas" panose="020B0609020204030204" pitchFamily="49" charset="0"/>
              </a:rPr>
              <a:t>').system('</a:t>
            </a:r>
            <a:r>
              <a:rPr lang="en-US" altLang="zh-TW" dirty="0" err="1">
                <a:latin typeface="Consolas" panose="020B0609020204030204" pitchFamily="49" charset="0"/>
              </a:rPr>
              <a:t>dir</a:t>
            </a:r>
            <a:r>
              <a:rPr lang="en-US" altLang="zh-TW">
                <a:latin typeface="Consolas" panose="020B0609020204030204" pitchFamily="49" charset="0"/>
              </a:rPr>
              <a:t>')")</a:t>
            </a:r>
            <a:r>
              <a:rPr lang="en-US" altLang="zh-TW"/>
              <a:t> </a:t>
            </a:r>
            <a:r>
              <a:rPr lang="zh-TW" altLang="en-US" dirty="0"/>
              <a:t>就能直接獲得當前資料夾的目錄與檔案資訊，因此使用時需小心謹慎。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866FFD-C6B6-4486-A289-3F1A213DC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96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8CC83A-6C65-44C0-B51F-0B22205F1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練習：計算 </a:t>
            </a:r>
            <a:r>
              <a:rPr lang="en-US" altLang="zh-TW" dirty="0"/>
              <a:t>BMI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4DE7EA-76B2-49E2-BB16-EC456260D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請撰寫一程式，讓使用者輸入身高</a:t>
            </a:r>
            <a:r>
              <a:rPr lang="en-US" altLang="zh-TW" dirty="0"/>
              <a:t>(cm)</a:t>
            </a:r>
            <a:r>
              <a:rPr lang="zh-TW" altLang="en-US" dirty="0"/>
              <a:t>與體重</a:t>
            </a:r>
            <a:r>
              <a:rPr lang="en-US" altLang="zh-TW" dirty="0"/>
              <a:t>(kg)</a:t>
            </a:r>
            <a:r>
              <a:rPr lang="zh-TW" altLang="en-US" dirty="0"/>
              <a:t>，然後輸出其對應的 </a:t>
            </a:r>
            <a:r>
              <a:rPr lang="en-US" altLang="zh-TW" dirty="0"/>
              <a:t>BMI </a:t>
            </a:r>
            <a:r>
              <a:rPr lang="zh-TW" altLang="en-US" dirty="0"/>
              <a:t>值（四捨五入至小數點後第二位）。</a:t>
            </a:r>
            <a:endParaRPr lang="en-US" altLang="zh-TW" dirty="0"/>
          </a:p>
          <a:p>
            <a:pPr lvl="1"/>
            <a:r>
              <a:rPr lang="zh-TW" altLang="en-US" dirty="0"/>
              <a:t>範例輸入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範例輸出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60B69C-36E7-4BA1-B0F5-006FA9CD2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38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3245C6B-A838-4F59-971D-B1C5D91390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79245" y="3513455"/>
            <a:ext cx="7180998" cy="57610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A10B350-F755-4B69-9BBC-BF939458729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79245" y="5069840"/>
            <a:ext cx="2077354" cy="5156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4DF24DA-32CB-494F-907D-4F57A8B828F4}"/>
                  </a:ext>
                </a:extLst>
              </p:cNvPr>
              <p:cNvSpPr txBox="1"/>
              <p:nvPr/>
            </p:nvSpPr>
            <p:spPr>
              <a:xfrm>
                <a:off x="8138160" y="5319002"/>
                <a:ext cx="3215640" cy="104528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BMI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體</m:t>
                          </m:r>
                          <m: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  <m:t>重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𝑘𝑔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身高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4DF24DA-32CB-494F-907D-4F57A8B82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160" y="5319002"/>
                <a:ext cx="3215640" cy="10452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6905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變數與資料型別</a:t>
            </a:r>
            <a:endParaRPr lang="en-US" altLang="zh-TW" dirty="0">
              <a:solidFill>
                <a:schemeClr val="accent2"/>
              </a:solidFill>
            </a:endParaRPr>
          </a:p>
          <a:p>
            <a:r>
              <a:rPr lang="zh-TW" altLang="en-US" dirty="0"/>
              <a:t>輸出與輸入</a:t>
            </a:r>
            <a:endParaRPr lang="en-US" altLang="zh-TW" dirty="0"/>
          </a:p>
          <a:p>
            <a:r>
              <a:rPr lang="zh-TW" altLang="en-US" dirty="0">
                <a:solidFill>
                  <a:schemeClr val="accent2"/>
                </a:solidFill>
              </a:rPr>
              <a:t>運算式</a:t>
            </a:r>
            <a:endParaRPr lang="en-US" altLang="zh-TW" dirty="0">
              <a:solidFill>
                <a:schemeClr val="accent2"/>
              </a:solidFill>
            </a:endParaRPr>
          </a:p>
          <a:p>
            <a:pPr lvl="1"/>
            <a:r>
              <a:rPr lang="zh-TW" altLang="en-US" dirty="0"/>
              <a:t>算術運算子</a:t>
            </a:r>
          </a:p>
          <a:p>
            <a:pPr lvl="1"/>
            <a:r>
              <a:rPr lang="zh-TW" altLang="en-US" dirty="0"/>
              <a:t>複合指定運算子</a:t>
            </a:r>
          </a:p>
          <a:p>
            <a:pPr lvl="1"/>
            <a:r>
              <a:rPr lang="zh-TW" altLang="en-US" dirty="0"/>
              <a:t>比較運算子</a:t>
            </a:r>
          </a:p>
          <a:p>
            <a:pPr lvl="1"/>
            <a:r>
              <a:rPr lang="zh-TW" altLang="en-US" dirty="0"/>
              <a:t>邏輯運算子</a:t>
            </a:r>
          </a:p>
          <a:p>
            <a:pPr lvl="1"/>
            <a:r>
              <a:rPr lang="zh-TW" altLang="en-US" dirty="0"/>
              <a:t>位元運算子</a:t>
            </a:r>
          </a:p>
          <a:p>
            <a:pPr lvl="1"/>
            <a:endParaRPr lang="en-US" altLang="zh-TW" dirty="0">
              <a:solidFill>
                <a:schemeClr val="accent2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199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3140529" y="1843951"/>
            <a:ext cx="591094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3 + 2</a:t>
            </a:r>
            <a:endParaRPr kumimoji="0" lang="zh-TW" altLang="en-US" sz="20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62968" y="859134"/>
            <a:ext cx="6066064" cy="11021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運算元</a:t>
            </a:r>
            <a:r>
              <a:rPr kumimoji="0" lang="en-US" altLang="zh-TW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(operand)</a:t>
            </a:r>
            <a:endParaRPr kumimoji="0" lang="zh-TW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62968" y="4896688"/>
            <a:ext cx="6066064" cy="110217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運算子</a:t>
            </a:r>
            <a:r>
              <a:rPr kumimoji="0" lang="en-US" altLang="zh-TW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(operator)</a:t>
            </a:r>
            <a:endParaRPr kumimoji="0" lang="zh-TW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8209503" y="1961313"/>
            <a:ext cx="0" cy="513133"/>
          </a:xfrm>
          <a:prstGeom prst="line">
            <a:avLst/>
          </a:prstGeom>
          <a:ln w="50800" cap="rnd">
            <a:solidFill>
              <a:schemeClr val="accent4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3898760" y="1961313"/>
            <a:ext cx="0" cy="513133"/>
          </a:xfrm>
          <a:prstGeom prst="line">
            <a:avLst/>
          </a:prstGeom>
          <a:ln w="50800" cap="rnd">
            <a:solidFill>
              <a:schemeClr val="accent4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6082602" y="4170066"/>
            <a:ext cx="0" cy="726622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66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0" y="1843951"/>
            <a:ext cx="121919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x and y</a:t>
            </a:r>
            <a:endParaRPr kumimoji="0" lang="zh-TW" altLang="en-US" sz="20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34503" y="859134"/>
            <a:ext cx="6522992" cy="11021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運算元？運算子？</a:t>
            </a:r>
          </a:p>
        </p:txBody>
      </p:sp>
    </p:spTree>
    <p:extLst>
      <p:ext uri="{BB962C8B-B14F-4D97-AF65-F5344CB8AC3E}">
        <p14:creationId xmlns:p14="http://schemas.microsoft.com/office/powerpoint/2010/main" val="29942082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0" y="1843951"/>
            <a:ext cx="121919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-100</a:t>
            </a:r>
            <a:endParaRPr kumimoji="0" lang="zh-TW" altLang="en-US" sz="20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12B107-4B01-401A-A37F-DEC43D167352}"/>
              </a:ext>
            </a:extLst>
          </p:cNvPr>
          <p:cNvSpPr/>
          <p:nvPr/>
        </p:nvSpPr>
        <p:spPr>
          <a:xfrm>
            <a:off x="2834503" y="859134"/>
            <a:ext cx="6522992" cy="11021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運算元？運算子？</a:t>
            </a:r>
          </a:p>
        </p:txBody>
      </p:sp>
    </p:spTree>
    <p:extLst>
      <p:ext uri="{BB962C8B-B14F-4D97-AF65-F5344CB8AC3E}">
        <p14:creationId xmlns:p14="http://schemas.microsoft.com/office/powerpoint/2010/main" val="19542034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E2EFBB-E03D-475B-8962-569D36B5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運算子的種類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713935-4B06-47A1-AFF2-A78717C20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根據參與的</a:t>
            </a:r>
            <a:r>
              <a:rPr lang="zh-TW" altLang="en-US" dirty="0">
                <a:solidFill>
                  <a:schemeClr val="accent4"/>
                </a:solidFill>
              </a:rPr>
              <a:t>運算元數量</a:t>
            </a:r>
            <a:r>
              <a:rPr lang="zh-TW" altLang="en-US" dirty="0"/>
              <a:t>，可將運算子區分為</a:t>
            </a:r>
            <a:endParaRPr lang="en-US" altLang="zh-TW" dirty="0"/>
          </a:p>
          <a:p>
            <a:pPr lvl="1"/>
            <a:r>
              <a:rPr lang="zh-TW" altLang="en-US" dirty="0"/>
              <a:t>一元運算子</a:t>
            </a:r>
            <a:r>
              <a:rPr lang="en-US" altLang="zh-TW" dirty="0"/>
              <a:t>(unary operator)</a:t>
            </a:r>
          </a:p>
          <a:p>
            <a:pPr lvl="2"/>
            <a:r>
              <a:rPr lang="zh-TW" altLang="en-US" dirty="0"/>
              <a:t>只需要一個運算元，比如負號、階乘符號、矩陣的轉置、開平方等。</a:t>
            </a:r>
            <a:endParaRPr lang="en-US" altLang="zh-TW" dirty="0"/>
          </a:p>
          <a:p>
            <a:pPr lvl="3"/>
            <a:endParaRPr lang="en-US" altLang="zh-TW" dirty="0"/>
          </a:p>
          <a:p>
            <a:pPr lvl="1"/>
            <a:r>
              <a:rPr lang="zh-TW" altLang="en-US" dirty="0"/>
              <a:t>二元運算子</a:t>
            </a:r>
            <a:r>
              <a:rPr lang="en-US" altLang="zh-TW" dirty="0"/>
              <a:t>(binary operator)</a:t>
            </a:r>
          </a:p>
          <a:p>
            <a:pPr lvl="2"/>
            <a:r>
              <a:rPr lang="zh-TW" altLang="en-US" dirty="0"/>
              <a:t>像是加減乘除、指派（賦值）運算子「</a:t>
            </a:r>
            <a:r>
              <a:rPr lang="en-US" altLang="zh-TW" dirty="0"/>
              <a:t>=</a:t>
            </a:r>
            <a:r>
              <a:rPr lang="zh-TW" altLang="en-US" dirty="0"/>
              <a:t>」</a:t>
            </a:r>
            <a:endParaRPr lang="en-US" altLang="zh-TW" dirty="0"/>
          </a:p>
          <a:p>
            <a:pPr lvl="2"/>
            <a:r>
              <a:rPr lang="zh-TW" altLang="en-US" dirty="0"/>
              <a:t>有些二元運算子左右兩邊的運算元是不能交換</a:t>
            </a:r>
            <a:endParaRPr lang="en-US" altLang="zh-TW" dirty="0"/>
          </a:p>
          <a:p>
            <a:pPr lvl="3"/>
            <a:endParaRPr lang="en-US" altLang="zh-TW" dirty="0"/>
          </a:p>
          <a:p>
            <a:pPr lvl="1"/>
            <a:r>
              <a:rPr lang="zh-TW" altLang="en-US" dirty="0"/>
              <a:t>三元運算子</a:t>
            </a:r>
            <a:r>
              <a:rPr lang="en-US" altLang="zh-TW" dirty="0"/>
              <a:t>(ternary operator)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A0909D-2E3F-44EA-A7A6-10BF00B5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8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DCA26A-1F82-44E6-88E3-E115E6766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數學上 </a:t>
            </a:r>
            <a:r>
              <a:rPr lang="en-US" altLang="zh-TW" dirty="0"/>
              <a:t>…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D90F43B-B5B7-4FD5-BB37-A213C4E666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/>
                  <a:t>一元運算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若函數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TW" altLang="en-US" dirty="0"/>
                  <a:t> 且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TW" altLang="en-US" dirty="0"/>
                  <a:t> 是一個集合，則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是在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上的一元運算。</a:t>
                </a:r>
                <a:endParaRPr lang="en-US" altLang="zh-TW" dirty="0"/>
              </a:p>
              <a:p>
                <a:pPr lvl="2"/>
                <a:endParaRPr lang="en-US" altLang="zh-TW" dirty="0"/>
              </a:p>
              <a:p>
                <a:r>
                  <a:rPr lang="zh-TW" altLang="en-US" dirty="0"/>
                  <a:t>二元運算</a:t>
                </a:r>
                <a:endParaRPr lang="en-US" altLang="zh-TW" dirty="0"/>
              </a:p>
              <a:p>
                <a:pPr lvl="1"/>
                <a:r>
                  <a:rPr lang="en-US" altLang="zh-TW" dirty="0"/>
                  <a:t>e.g., </a:t>
                </a:r>
                <a:r>
                  <a:rPr lang="zh-TW" altLang="en-US" dirty="0"/>
                  <a:t>考慮函數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TW" dirty="0"/>
              </a:p>
              <a:p>
                <a:pPr lvl="2"/>
                <a:endParaRPr lang="en-US" altLang="zh-TW" dirty="0"/>
              </a:p>
              <a:p>
                <a:r>
                  <a:rPr lang="zh-TW" altLang="en-US" dirty="0"/>
                  <a:t>三元運算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依此類推 </a:t>
                </a:r>
                <a:r>
                  <a:rPr lang="en-US" altLang="zh-TW" dirty="0"/>
                  <a:t>…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D90F43B-B5B7-4FD5-BB37-A213C4E666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2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A8EDA8-8A00-4444-8BD6-B40CD679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17B56E4A-2637-43B9-8DD9-E3ACE13D58D5}"/>
              </a:ext>
            </a:extLst>
          </p:cNvPr>
          <p:cNvSpPr/>
          <p:nvPr/>
        </p:nvSpPr>
        <p:spPr>
          <a:xfrm>
            <a:off x="6189981" y="4302378"/>
            <a:ext cx="4889144" cy="1028078"/>
          </a:xfrm>
          <a:prstGeom prst="wedgeRoundRectCallout">
            <a:avLst>
              <a:gd name="adj1" fmla="val -57621"/>
              <a:gd name="adj2" fmla="val -37215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比較運算子「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&gt;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」是二元運算子，但不是數學上的二元運算。</a:t>
            </a:r>
          </a:p>
        </p:txBody>
      </p:sp>
    </p:spTree>
    <p:extLst>
      <p:ext uri="{BB962C8B-B14F-4D97-AF65-F5344CB8AC3E}">
        <p14:creationId xmlns:p14="http://schemas.microsoft.com/office/powerpoint/2010/main" val="248363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7E4AFA-9C04-4379-B11A-9BB193C83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運算子的優先順序</a:t>
            </a:r>
            <a:r>
              <a:rPr lang="en-US" altLang="zh-TW" dirty="0"/>
              <a:t>(operator precedence)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18E9AE-6F3D-4590-A74B-80BDE5F24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稍後會看到許多不同種類的運算子，而稍微複雜一點的運算往往使用到多個運算子，這時就要注意</a:t>
            </a:r>
            <a:r>
              <a:rPr lang="zh-TW" altLang="en-US" dirty="0">
                <a:solidFill>
                  <a:schemeClr val="accent4"/>
                </a:solidFill>
              </a:rPr>
              <a:t>運算子的優先順序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en-US" altLang="zh-TW" dirty="0"/>
              <a:t>e.g., </a:t>
            </a:r>
            <a:r>
              <a:rPr lang="zh-TW" altLang="en-US" dirty="0"/>
              <a:t>統計上經常對資料進行標準化</a:t>
            </a:r>
            <a:r>
              <a:rPr lang="en-US" altLang="zh-TW" dirty="0"/>
              <a:t>(standardization)</a:t>
            </a:r>
            <a:r>
              <a:rPr lang="zh-TW" altLang="en-US" dirty="0"/>
              <a:t>得到所謂的 </a:t>
            </a:r>
            <a:r>
              <a:rPr lang="en-US" altLang="zh-TW" dirty="0">
                <a:solidFill>
                  <a:schemeClr val="accent4"/>
                </a:solidFill>
              </a:rPr>
              <a:t>z </a:t>
            </a:r>
            <a:r>
              <a:rPr lang="zh-TW" altLang="en-US" dirty="0">
                <a:solidFill>
                  <a:schemeClr val="accent4"/>
                </a:solidFill>
              </a:rPr>
              <a:t>分數</a:t>
            </a:r>
            <a:r>
              <a:rPr lang="en-US" altLang="zh-TW" dirty="0"/>
              <a:t>(z-score)</a:t>
            </a:r>
            <a:r>
              <a:rPr lang="zh-TW" altLang="en-US" dirty="0"/>
              <a:t>，計算公式如下：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B880E6-A974-465D-B21C-4F5A53955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80B6C63-8F0C-4AAE-A901-3C1AECBB3D32}"/>
                  </a:ext>
                </a:extLst>
              </p:cNvPr>
              <p:cNvSpPr txBox="1"/>
              <p:nvPr/>
            </p:nvSpPr>
            <p:spPr>
              <a:xfrm>
                <a:off x="1597573" y="4635061"/>
                <a:ext cx="2280745" cy="1041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TW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altLang="zh-TW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altLang="zh-TW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altLang="zh-TW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𝜇</m:t>
                          </m:r>
                        </m:num>
                        <m:den>
                          <m:r>
                            <a:rPr kumimoji="0" lang="en-US" altLang="zh-TW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kumimoji="0" lang="zh-TW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軟正黑體" panose="020B0604030504040204" pitchFamily="34" charset="-120"/>
                  <a:cs typeface="+mn-cs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80B6C63-8F0C-4AAE-A901-3C1AECBB3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573" y="4635061"/>
                <a:ext cx="2280745" cy="10411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AB949D00-76D1-4C8F-ADDD-11E3E7BF3EE5}"/>
              </a:ext>
            </a:extLst>
          </p:cNvPr>
          <p:cNvSpPr/>
          <p:nvPr/>
        </p:nvSpPr>
        <p:spPr>
          <a:xfrm>
            <a:off x="2737944" y="4075550"/>
            <a:ext cx="1250731" cy="430924"/>
          </a:xfrm>
          <a:prstGeom prst="wedgeRoundRectCallout">
            <a:avLst>
              <a:gd name="adj1" fmla="val 11100"/>
              <a:gd name="adj2" fmla="val 86891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平均數</a:t>
            </a:r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8B350F6C-FD5C-4A5C-B077-4BA361BAC84D}"/>
              </a:ext>
            </a:extLst>
          </p:cNvPr>
          <p:cNvSpPr/>
          <p:nvPr/>
        </p:nvSpPr>
        <p:spPr>
          <a:xfrm>
            <a:off x="2217683" y="5827001"/>
            <a:ext cx="1250731" cy="430924"/>
          </a:xfrm>
          <a:prstGeom prst="wedgeRoundRectCallout">
            <a:avLst>
              <a:gd name="adj1" fmla="val 25386"/>
              <a:gd name="adj2" fmla="val -86280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標準差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9F283860-7637-4B7F-A4DE-59AC6DF3F8F4}"/>
              </a:ext>
            </a:extLst>
          </p:cNvPr>
          <p:cNvGrpSpPr/>
          <p:nvPr/>
        </p:nvGrpSpPr>
        <p:grpSpPr>
          <a:xfrm>
            <a:off x="4701409" y="4096571"/>
            <a:ext cx="6519041" cy="2427890"/>
            <a:chOff x="4834759" y="3962400"/>
            <a:chExt cx="6519041" cy="24278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3A96E52A-0C2F-4CD5-B49C-EAD9D047771F}"/>
                    </a:ext>
                  </a:extLst>
                </p:cNvPr>
                <p:cNvSpPr txBox="1"/>
                <p:nvPr/>
              </p:nvSpPr>
              <p:spPr>
                <a:xfrm>
                  <a:off x="5019347" y="4075550"/>
                  <a:ext cx="6201103" cy="12800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TW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微軟正黑體" panose="020B0604030504040204" pitchFamily="34" charset="-120"/>
                      <a:cs typeface="+mn-cs"/>
                    </a:rPr>
                    <a:t>假設 </a:t>
                  </a:r>
                  <a14:m>
                    <m:oMath xmlns:m="http://schemas.openxmlformats.org/officeDocument/2006/math">
                      <m:r>
                        <a:rPr kumimoji="0" lang="en-US" altLang="zh-TW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𝜇</m:t>
                      </m:r>
                      <m:r>
                        <a:rPr kumimoji="0" lang="en-US" altLang="zh-TW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=10, </m:t>
                      </m:r>
                      <m:r>
                        <a:rPr kumimoji="0" lang="en-US" altLang="zh-TW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𝜎</m:t>
                      </m:r>
                      <m:r>
                        <a:rPr kumimoji="0" lang="en-US" altLang="zh-TW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=2</m:t>
                      </m:r>
                    </m:oMath>
                  </a14:m>
                  <a:r>
                    <a:rPr kumimoji="0" lang="zh-TW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微軟正黑體" panose="020B0604030504040204" pitchFamily="34" charset="-120"/>
                      <a:cs typeface="+mn-cs"/>
                    </a:rPr>
                    <a:t>，當資料 </a:t>
                  </a:r>
                  <a14:m>
                    <m:oMath xmlns:m="http://schemas.openxmlformats.org/officeDocument/2006/math">
                      <m:r>
                        <a:rPr kumimoji="0" lang="en-US" altLang="zh-TW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altLang="zh-TW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=8</m:t>
                      </m:r>
                    </m:oMath>
                  </a14:m>
                  <a:r>
                    <a:rPr kumimoji="0" lang="en-US" altLang="zh-TW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微軟正黑體" panose="020B0604030504040204" pitchFamily="34" charset="-120"/>
                      <a:cs typeface="+mn-cs"/>
                    </a:rPr>
                    <a:t> </a:t>
                  </a:r>
                  <a:r>
                    <a:rPr kumimoji="0" lang="zh-TW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微軟正黑體" panose="020B0604030504040204" pitchFamily="34" charset="-120"/>
                      <a:cs typeface="+mn-cs"/>
                    </a:rPr>
                    <a:t>時，會得到 </a:t>
                  </a:r>
                  <a:r>
                    <a:rPr kumimoji="0" lang="en-US" altLang="zh-TW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微軟正黑體" panose="020B0604030504040204" pitchFamily="34" charset="-120"/>
                      <a:cs typeface="+mn-cs"/>
                    </a:rPr>
                    <a:t>z-score</a:t>
                  </a:r>
                  <a:r>
                    <a:rPr kumimoji="0" lang="zh-TW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微軟正黑體" panose="020B0604030504040204" pitchFamily="34" charset="-120"/>
                      <a:cs typeface="+mn-cs"/>
                    </a:rPr>
                    <a:t> </a:t>
                  </a:r>
                  <a:r>
                    <a:rPr kumimoji="0" lang="en-US" altLang="zh-TW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微軟正黑體" panose="020B0604030504040204" pitchFamily="34" charset="-120"/>
                      <a:cs typeface="+mn-cs"/>
                    </a:rPr>
                    <a:t>= –1</a:t>
                  </a:r>
                  <a:r>
                    <a:rPr kumimoji="0" lang="zh-TW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微軟正黑體" panose="020B0604030504040204" pitchFamily="34" charset="-120"/>
                      <a:cs typeface="+mn-cs"/>
                    </a:rPr>
                    <a:t>，代表這筆資料比平均數要小一個標準差。</a:t>
                  </a:r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3A96E52A-0C2F-4CD5-B49C-EAD9D04777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9347" y="4075550"/>
                  <a:ext cx="6201103" cy="1280094"/>
                </a:xfrm>
                <a:prstGeom prst="rect">
                  <a:avLst/>
                </a:prstGeom>
                <a:blipFill>
                  <a:blip r:embed="rId3"/>
                  <a:stretch>
                    <a:fillRect l="-1573" t="-2857" b="-1047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AA1AB202-17D8-43DB-B64A-6FA35CF6C4A1}"/>
                    </a:ext>
                  </a:extLst>
                </p:cNvPr>
                <p:cNvSpPr txBox="1"/>
                <p:nvPr/>
              </p:nvSpPr>
              <p:spPr>
                <a:xfrm>
                  <a:off x="6402113" y="5330387"/>
                  <a:ext cx="4381501" cy="9017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f>
                          <m:fPr>
                            <m:ctrlPr>
                              <a:rPr kumimoji="0" lang="en-US" altLang="zh-TW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altLang="zh-TW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  <m:r>
                              <a:rPr kumimoji="0" lang="en-US" altLang="zh-TW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en-US" altLang="zh-TW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𝜇</m:t>
                            </m:r>
                          </m:num>
                          <m:den>
                            <m:r>
                              <a:rPr kumimoji="0" lang="en-US" altLang="zh-TW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𝜎</m:t>
                            </m:r>
                          </m:den>
                        </m:f>
                        <m: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f>
                          <m:fPr>
                            <m:ctrlPr>
                              <a:rPr kumimoji="0" lang="en-US" altLang="zh-TW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altLang="zh-TW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8−10</m:t>
                            </m:r>
                          </m:num>
                          <m:den>
                            <m:r>
                              <a:rPr kumimoji="0" lang="en-US" altLang="zh-TW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den>
                        </m:f>
                        <m: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=−1</m:t>
                        </m:r>
                      </m:oMath>
                    </m:oMathPara>
                  </a14:m>
                  <a:endParaRPr kumimoji="0" lang="zh-TW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軟正黑體" panose="020B0604030504040204" pitchFamily="34" charset="-120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AA1AB202-17D8-43DB-B64A-6FA35CF6C4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2113" y="5330387"/>
                  <a:ext cx="4381501" cy="90178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箭號: 向右 9">
              <a:extLst>
                <a:ext uri="{FF2B5EF4-FFF2-40B4-BE49-F238E27FC236}">
                  <a16:creationId xmlns:a16="http://schemas.microsoft.com/office/drawing/2014/main" id="{3653972E-E324-49E8-80CC-F65C69DA7F72}"/>
                </a:ext>
              </a:extLst>
            </p:cNvPr>
            <p:cNvSpPr/>
            <p:nvPr/>
          </p:nvSpPr>
          <p:spPr>
            <a:xfrm>
              <a:off x="5374728" y="5508011"/>
              <a:ext cx="1027385" cy="546538"/>
            </a:xfrm>
            <a:prstGeom prst="right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0DE3B72-A159-4FFF-8163-6EC7B9BDA94C}"/>
                </a:ext>
              </a:extLst>
            </p:cNvPr>
            <p:cNvSpPr/>
            <p:nvPr/>
          </p:nvSpPr>
          <p:spPr>
            <a:xfrm>
              <a:off x="4834759" y="3962400"/>
              <a:ext cx="6519041" cy="2427890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579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E58EFD09-D75C-4754-B9FE-91E3115F9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892" y="370031"/>
            <a:ext cx="4935464" cy="184447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DC043CF-B603-4C86-8CBB-F2366FE9F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0" y="370031"/>
            <a:ext cx="5197610" cy="256823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261CBA4-C91C-4F2C-8A3D-C21F2929D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205" y="3108009"/>
            <a:ext cx="1420555" cy="641982"/>
          </a:xfrm>
          <a:prstGeom prst="rect">
            <a:avLst/>
          </a:prstGeom>
        </p:spPr>
      </p:pic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B2152F4F-C45B-4A84-A81F-00820B5DF294}"/>
              </a:ext>
            </a:extLst>
          </p:cNvPr>
          <p:cNvSpPr/>
          <p:nvPr/>
        </p:nvSpPr>
        <p:spPr>
          <a:xfrm>
            <a:off x="898390" y="3230966"/>
            <a:ext cx="515815" cy="414215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DE5BB954-A844-48EC-A9F7-3767E1356969}"/>
              </a:ext>
            </a:extLst>
          </p:cNvPr>
          <p:cNvCxnSpPr/>
          <p:nvPr/>
        </p:nvCxnSpPr>
        <p:spPr>
          <a:xfrm>
            <a:off x="2025107" y="2375877"/>
            <a:ext cx="3750462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CB4E3FD-BB10-4161-8C38-C9CB2258E40C}"/>
              </a:ext>
            </a:extLst>
          </p:cNvPr>
          <p:cNvCxnSpPr>
            <a:cxnSpLocks/>
          </p:cNvCxnSpPr>
          <p:nvPr/>
        </p:nvCxnSpPr>
        <p:spPr>
          <a:xfrm>
            <a:off x="3900338" y="2375877"/>
            <a:ext cx="0" cy="1578708"/>
          </a:xfrm>
          <a:prstGeom prst="straightConnector1">
            <a:avLst/>
          </a:prstGeom>
          <a:ln w="19050">
            <a:solidFill>
              <a:schemeClr val="accent4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1C55782B-CFC5-4D73-82D0-2440B6EB13C3}"/>
              </a:ext>
            </a:extLst>
          </p:cNvPr>
          <p:cNvGrpSpPr/>
          <p:nvPr/>
        </p:nvGrpSpPr>
        <p:grpSpPr>
          <a:xfrm>
            <a:off x="719015" y="3954585"/>
            <a:ext cx="4798648" cy="2305538"/>
            <a:chOff x="719015" y="3954585"/>
            <a:chExt cx="4798648" cy="2305538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00B92ED8-B640-484C-A814-FDBFC7CDB4B7}"/>
                </a:ext>
              </a:extLst>
            </p:cNvPr>
            <p:cNvSpPr txBox="1"/>
            <p:nvPr/>
          </p:nvSpPr>
          <p:spPr>
            <a:xfrm>
              <a:off x="844063" y="4039483"/>
              <a:ext cx="4673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1200" cap="none" spc="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華康細圓體" panose="020F0309000000000000" pitchFamily="49" charset="-120"/>
                  <a:cs typeface="Times New Roman" panose="02020603050405020304" pitchFamily="18" charset="0"/>
                </a:rPr>
                <a:t>z = (x – (mu / sigma))</a:t>
              </a:r>
              <a:endPara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5F52E8D9-29AE-4FF0-8DFD-FB481D160AE6}"/>
                </a:ext>
              </a:extLst>
            </p:cNvPr>
            <p:cNvSpPr txBox="1"/>
            <p:nvPr/>
          </p:nvSpPr>
          <p:spPr>
            <a:xfrm>
              <a:off x="1242645" y="4585430"/>
              <a:ext cx="427501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1200" cap="none" spc="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華康細圓體" panose="020F0309000000000000" pitchFamily="49" charset="-120"/>
                  <a:cs typeface="Times New Roman" panose="02020603050405020304" pitchFamily="18" charset="0"/>
                </a:rPr>
                <a:t>= (8 – (10 / 2))</a:t>
              </a:r>
              <a:endPara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FB5420EB-C759-433C-8DC2-999C6BED2EBC}"/>
                </a:ext>
              </a:extLst>
            </p:cNvPr>
            <p:cNvSpPr txBox="1"/>
            <p:nvPr/>
          </p:nvSpPr>
          <p:spPr>
            <a:xfrm>
              <a:off x="1242645" y="5131377"/>
              <a:ext cx="427501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1200" cap="none" spc="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華康細圓體" panose="020F0309000000000000" pitchFamily="49" charset="-120"/>
                  <a:cs typeface="Times New Roman" panose="02020603050405020304" pitchFamily="18" charset="0"/>
                </a:rPr>
                <a:t>= (8 – 5.0)</a:t>
              </a:r>
              <a:endPara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04621100-991F-4190-A483-F79D76A79AAA}"/>
                </a:ext>
              </a:extLst>
            </p:cNvPr>
            <p:cNvSpPr txBox="1"/>
            <p:nvPr/>
          </p:nvSpPr>
          <p:spPr>
            <a:xfrm>
              <a:off x="1242645" y="5677325"/>
              <a:ext cx="427501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1200" cap="none" spc="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華康細圓體" panose="020F0309000000000000" pitchFamily="49" charset="-120"/>
                  <a:cs typeface="Times New Roman" panose="02020603050405020304" pitchFamily="18" charset="0"/>
                </a:rPr>
                <a:t>= 3.0</a:t>
              </a:r>
              <a:endPara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88BAF3D-62DC-4694-A0B8-BE48F508C672}"/>
                </a:ext>
              </a:extLst>
            </p:cNvPr>
            <p:cNvSpPr/>
            <p:nvPr/>
          </p:nvSpPr>
          <p:spPr>
            <a:xfrm>
              <a:off x="719015" y="3954585"/>
              <a:ext cx="4798642" cy="2305538"/>
            </a:xfrm>
            <a:prstGeom prst="rect">
              <a:avLst/>
            </a:prstGeom>
            <a:noFill/>
            <a:ln w="25400"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endParaRPr>
            </a:p>
          </p:txBody>
        </p:sp>
      </p:grpSp>
      <p:pic>
        <p:nvPicPr>
          <p:cNvPr id="29" name="圖片 28">
            <a:extLst>
              <a:ext uri="{FF2B5EF4-FFF2-40B4-BE49-F238E27FC236}">
                <a16:creationId xmlns:a16="http://schemas.microsoft.com/office/drawing/2014/main" id="{1686DE52-2A66-473E-80CA-11CFBC6C4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893" y="2591641"/>
            <a:ext cx="4935464" cy="2391267"/>
          </a:xfrm>
          <a:prstGeom prst="rect">
            <a:avLst/>
          </a:prstGeom>
        </p:spPr>
      </p:pic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16E85D03-CA1D-4345-9827-9869357853C3}"/>
              </a:ext>
            </a:extLst>
          </p:cNvPr>
          <p:cNvCxnSpPr>
            <a:cxnSpLocks/>
          </p:cNvCxnSpPr>
          <p:nvPr/>
        </p:nvCxnSpPr>
        <p:spPr>
          <a:xfrm>
            <a:off x="5584553" y="2375877"/>
            <a:ext cx="1300801" cy="1735015"/>
          </a:xfrm>
          <a:prstGeom prst="straightConnector1">
            <a:avLst/>
          </a:prstGeom>
          <a:ln w="25400">
            <a:solidFill>
              <a:srgbClr val="0070C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圖片 32">
            <a:extLst>
              <a:ext uri="{FF2B5EF4-FFF2-40B4-BE49-F238E27FC236}">
                <a16:creationId xmlns:a16="http://schemas.microsoft.com/office/drawing/2014/main" id="{76DD2E22-51A5-44F7-9E18-44901ACEE05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" r="5629"/>
          <a:stretch/>
        </p:blipFill>
        <p:spPr>
          <a:xfrm>
            <a:off x="7190155" y="5107354"/>
            <a:ext cx="1414263" cy="630259"/>
          </a:xfrm>
          <a:prstGeom prst="rect">
            <a:avLst/>
          </a:prstGeom>
        </p:spPr>
      </p:pic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FF8DA86A-7F07-4C39-BBCA-C16EB448B2DE}"/>
              </a:ext>
            </a:extLst>
          </p:cNvPr>
          <p:cNvSpPr/>
          <p:nvPr/>
        </p:nvSpPr>
        <p:spPr>
          <a:xfrm>
            <a:off x="6674340" y="5231783"/>
            <a:ext cx="515815" cy="414215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655B369-D44C-4A50-9092-E4D71C11212B}"/>
              </a:ext>
            </a:extLst>
          </p:cNvPr>
          <p:cNvSpPr txBox="1"/>
          <p:nvPr/>
        </p:nvSpPr>
        <p:spPr>
          <a:xfrm>
            <a:off x="3876891" y="3139897"/>
            <a:ext cx="1430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根據運算子的優先順序</a:t>
            </a:r>
          </a:p>
        </p:txBody>
      </p:sp>
    </p:spTree>
    <p:extLst>
      <p:ext uri="{BB962C8B-B14F-4D97-AF65-F5344CB8AC3E}">
        <p14:creationId xmlns:p14="http://schemas.microsoft.com/office/powerpoint/2010/main" val="301458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4" grpId="0" animBg="1"/>
      <p:bldP spid="3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8351352-C88F-47F5-8E30-213791D20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401" y="99987"/>
            <a:ext cx="7084925" cy="6468844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3A98DF-C49D-4920-B50E-EE4CB5AFD854}"/>
              </a:ext>
            </a:extLst>
          </p:cNvPr>
          <p:cNvSpPr txBox="1"/>
          <p:nvPr/>
        </p:nvSpPr>
        <p:spPr>
          <a:xfrm>
            <a:off x="3282463" y="6568831"/>
            <a:ext cx="2336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Source: 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  <a:hlinkClick r:id="rId3"/>
              </a:rPr>
              <a:t>Python–Operator precedence</a:t>
            </a:r>
            <a:endParaRPr kumimoji="0" lang="zh-TW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13496B6C-BB1A-4BE3-B630-7E772ABFA5B6}"/>
              </a:ext>
            </a:extLst>
          </p:cNvPr>
          <p:cNvSpPr/>
          <p:nvPr/>
        </p:nvSpPr>
        <p:spPr>
          <a:xfrm>
            <a:off x="8384998" y="1801173"/>
            <a:ext cx="3544732" cy="976923"/>
          </a:xfrm>
          <a:prstGeom prst="wedgeRoundRectCallout">
            <a:avLst>
              <a:gd name="adj1" fmla="val -63183"/>
              <a:gd name="adj2" fmla="val -35900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只是加減乘除運算還好，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e.g., 1+2*3/4-5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，但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…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4266D0F2-8463-4A32-8595-22E74F0F5AF8}"/>
              </a:ext>
            </a:extLst>
          </p:cNvPr>
          <p:cNvSpPr/>
          <p:nvPr/>
        </p:nvSpPr>
        <p:spPr>
          <a:xfrm>
            <a:off x="8384998" y="4852718"/>
            <a:ext cx="2616156" cy="976923"/>
          </a:xfrm>
          <a:prstGeom prst="wedgeRoundRectCallout">
            <a:avLst>
              <a:gd name="adj1" fmla="val -63183"/>
              <a:gd name="adj2" fmla="val -35900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建議還是用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括號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標示運算順序</a:t>
            </a:r>
          </a:p>
        </p:txBody>
      </p:sp>
    </p:spTree>
    <p:extLst>
      <p:ext uri="{BB962C8B-B14F-4D97-AF65-F5344CB8AC3E}">
        <p14:creationId xmlns:p14="http://schemas.microsoft.com/office/powerpoint/2010/main" val="309219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運算式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算術運算子</a:t>
            </a:r>
          </a:p>
          <a:p>
            <a:pPr lvl="1"/>
            <a:r>
              <a:rPr lang="zh-TW" altLang="en-US" dirty="0"/>
              <a:t>複合指定運算子</a:t>
            </a:r>
          </a:p>
          <a:p>
            <a:pPr lvl="1"/>
            <a:r>
              <a:rPr lang="zh-TW" altLang="en-US" dirty="0"/>
              <a:t>比較運算子</a:t>
            </a:r>
          </a:p>
          <a:p>
            <a:pPr lvl="1"/>
            <a:r>
              <a:rPr lang="zh-TW" altLang="en-US" dirty="0"/>
              <a:t>邏輯運算子</a:t>
            </a:r>
          </a:p>
          <a:p>
            <a:pPr lvl="1"/>
            <a:r>
              <a:rPr lang="zh-TW" altLang="en-US" dirty="0"/>
              <a:t>位元運算子</a:t>
            </a:r>
          </a:p>
          <a:p>
            <a:pPr lvl="1"/>
            <a:endParaRPr lang="en-US" altLang="zh-TW" dirty="0">
              <a:solidFill>
                <a:schemeClr val="accent2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80195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46F6A0-57A3-4491-8152-27DFF1191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算術運算子</a:t>
            </a:r>
            <a:r>
              <a:rPr lang="en-US" altLang="zh-TW" dirty="0"/>
              <a:t>(arithmetic operator)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A27FC7-4CA8-4B15-B55D-94B9DC8A4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算術運算子進行數值的數學計算，得到的結果是另一個數值。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8289DC-AA9D-4E41-9ED4-E4E80F44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E62C7F-42C7-4678-9605-5E6996F3A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224" y="2588443"/>
            <a:ext cx="9299552" cy="360280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6C16BA4-804B-46B6-B46E-EF6EC48415C2}"/>
              </a:ext>
            </a:extLst>
          </p:cNvPr>
          <p:cNvSpPr/>
          <p:nvPr/>
        </p:nvSpPr>
        <p:spPr>
          <a:xfrm>
            <a:off x="1334812" y="4387006"/>
            <a:ext cx="9474024" cy="1276511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1D649F-9767-4B7B-8FFD-E7D4C0B1A7B5}"/>
              </a:ext>
            </a:extLst>
          </p:cNvPr>
          <p:cNvSpPr/>
          <p:nvPr/>
        </p:nvSpPr>
        <p:spPr>
          <a:xfrm>
            <a:off x="1334812" y="5694875"/>
            <a:ext cx="9474024" cy="42297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56AD7636-7CFB-4668-A15D-A9E8D2440A2F}"/>
              </a:ext>
            </a:extLst>
          </p:cNvPr>
          <p:cNvSpPr/>
          <p:nvPr/>
        </p:nvSpPr>
        <p:spPr>
          <a:xfrm>
            <a:off x="10458450" y="3855113"/>
            <a:ext cx="1524000" cy="1276511"/>
          </a:xfrm>
          <a:prstGeom prst="wedgeRoundRectCallout">
            <a:avLst>
              <a:gd name="adj1" fmla="val -72557"/>
              <a:gd name="adj2" fmla="val 36152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除數不能為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20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7A69C2-FFEB-40E6-A90D-4766A468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三種除法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2AEF7A-1012-4954-8726-D089E5D1C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57375"/>
            <a:ext cx="5257799" cy="4400550"/>
          </a:xfrm>
        </p:spPr>
        <p:txBody>
          <a:bodyPr/>
          <a:lstStyle/>
          <a:p>
            <a:r>
              <a:rPr lang="zh-TW" altLang="en-US" dirty="0"/>
              <a:t>「</a:t>
            </a:r>
            <a:r>
              <a:rPr lang="en-US" altLang="zh-TW" dirty="0"/>
              <a:t>//</a:t>
            </a:r>
            <a:r>
              <a:rPr lang="zh-TW" altLang="en-US" dirty="0"/>
              <a:t>」是將相除後的浮點數，無條件捨去小數點的結果。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「</a:t>
            </a:r>
            <a:r>
              <a:rPr lang="en-US" altLang="zh-TW" dirty="0"/>
              <a:t>%</a:t>
            </a:r>
            <a:r>
              <a:rPr lang="zh-TW" altLang="en-US" dirty="0"/>
              <a:t>」稱為餘數運算子</a:t>
            </a:r>
            <a:endParaRPr lang="en-US" altLang="zh-TW" dirty="0"/>
          </a:p>
          <a:p>
            <a:pPr lvl="1"/>
            <a:r>
              <a:rPr lang="zh-TW" altLang="en-US" dirty="0"/>
              <a:t>運算結果是經過除法後的餘數</a:t>
            </a:r>
            <a:r>
              <a:rPr lang="en-US" altLang="zh-TW" dirty="0"/>
              <a:t>(remainder)</a:t>
            </a:r>
          </a:p>
          <a:p>
            <a:pPr lvl="1"/>
            <a:r>
              <a:rPr lang="zh-TW" altLang="en-US" dirty="0"/>
              <a:t>有時也叫做模數</a:t>
            </a:r>
            <a:r>
              <a:rPr lang="en-US" altLang="zh-TW" dirty="0"/>
              <a:t>(modulo)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D522F3-BE5D-4872-8CCC-9007696E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3BF9FCD-8F1B-423D-9F69-935B96F45F5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25" y="2305641"/>
            <a:ext cx="5536575" cy="29074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713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991435-E1F8-44CC-9B02-884DED63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範例：三種除法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B8F99B-D057-40B8-8A0C-776B68C0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FE1CC8F-30B4-4A3D-BAEB-7669EDBDC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693" y="1845592"/>
            <a:ext cx="7700834" cy="462505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31C0B97-3289-4077-845F-07E17BDD9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917" y="1845592"/>
            <a:ext cx="3096895" cy="462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C49307-027F-471A-98F5-460445D89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(10%-3) </a:t>
            </a:r>
            <a:r>
              <a:rPr lang="en-US" altLang="zh-TW" dirty="0">
                <a:sym typeface="Wingdings" panose="05000000000000000000" pitchFamily="2" charset="2"/>
              </a:rPr>
              <a:t> -2</a:t>
            </a:r>
            <a:r>
              <a:rPr lang="zh-TW" altLang="en-US" dirty="0">
                <a:sym typeface="Wingdings" panose="05000000000000000000" pitchFamily="2" charset="2"/>
              </a:rPr>
              <a:t>？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1A7519-1C67-4B3A-A846-59E3C7E4C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  <a:sym typeface="Wingdings" panose="05000000000000000000" pitchFamily="2" charset="2"/>
              </a:rPr>
              <a:t>10%-3</a:t>
            </a:r>
            <a:r>
              <a:rPr lang="en-US" altLang="zh-TW" dirty="0">
                <a:latin typeface="Consolas" panose="020B0609020204030204" pitchFamily="49" charset="0"/>
              </a:rPr>
              <a:t> </a:t>
            </a:r>
            <a:r>
              <a:rPr lang="en-US" altLang="zh-TW" dirty="0"/>
              <a:t>?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10/-3</a:t>
            </a:r>
            <a:r>
              <a:rPr lang="en-US" altLang="zh-TW" dirty="0"/>
              <a:t> 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en-US" altLang="zh-TW" dirty="0"/>
              <a:t> -3.33333   </a:t>
            </a:r>
          </a:p>
          <a:p>
            <a:pPr lvl="1"/>
            <a:r>
              <a:rPr lang="en-US" altLang="zh-TW" dirty="0" err="1">
                <a:latin typeface="Consolas" panose="020B0609020204030204" pitchFamily="49" charset="0"/>
                <a:sym typeface="Wingdings" panose="05000000000000000000" pitchFamily="2" charset="2"/>
              </a:rPr>
              <a:t>math.floor</a:t>
            </a:r>
            <a:r>
              <a:rPr lang="en-US" altLang="zh-TW" dirty="0">
                <a:latin typeface="Consolas" panose="020B0609020204030204" pitchFamily="49" charset="0"/>
                <a:sym typeface="Wingdings" panose="05000000000000000000" pitchFamily="2" charset="2"/>
              </a:rPr>
              <a:t>(-3.33333)</a:t>
            </a:r>
            <a:r>
              <a:rPr lang="en-US" altLang="zh-TW" dirty="0">
                <a:sym typeface="Wingdings" panose="05000000000000000000" pitchFamily="2" charset="2"/>
              </a:rPr>
              <a:t>    -4</a:t>
            </a: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(-4 × -3 + (</a:t>
            </a:r>
            <a:r>
              <a:rPr lang="en-US" altLang="zh-TW" dirty="0">
                <a:solidFill>
                  <a:schemeClr val="accent4"/>
                </a:solidFill>
                <a:sym typeface="Wingdings" panose="05000000000000000000" pitchFamily="2" charset="2"/>
              </a:rPr>
              <a:t>-2</a:t>
            </a:r>
            <a:r>
              <a:rPr lang="en-US" altLang="zh-TW" dirty="0">
                <a:sym typeface="Wingdings" panose="05000000000000000000" pitchFamily="2" charset="2"/>
              </a:rPr>
              <a:t>)) % -3    </a:t>
            </a:r>
            <a:r>
              <a:rPr lang="en-US" altLang="zh-TW" dirty="0">
                <a:solidFill>
                  <a:schemeClr val="accent4"/>
                </a:solidFill>
                <a:sym typeface="Wingdings" panose="05000000000000000000" pitchFamily="2" charset="2"/>
              </a:rPr>
              <a:t>-2</a:t>
            </a:r>
          </a:p>
          <a:p>
            <a:endParaRPr lang="en-US" altLang="zh-TW" dirty="0">
              <a:solidFill>
                <a:schemeClr val="accent4"/>
              </a:solidFill>
              <a:sym typeface="Wingdings" panose="05000000000000000000" pitchFamily="2" charset="2"/>
            </a:endParaRP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e.g., </a:t>
            </a:r>
            <a:r>
              <a:rPr lang="en-US" altLang="zh-TW" dirty="0">
                <a:latin typeface="Consolas" panose="020B0609020204030204" pitchFamily="49" charset="0"/>
                <a:sym typeface="Wingdings" panose="05000000000000000000" pitchFamily="2" charset="2"/>
              </a:rPr>
              <a:t>-3%7</a:t>
            </a:r>
            <a:r>
              <a:rPr lang="en-US" altLang="zh-TW" dirty="0">
                <a:sym typeface="Wingdings" panose="05000000000000000000" pitchFamily="2" charset="2"/>
              </a:rPr>
              <a:t>    (-1 × 7 + 4) % 7    4</a:t>
            </a:r>
          </a:p>
          <a:p>
            <a:pPr marL="457200" lvl="1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          </a:t>
            </a:r>
            <a:r>
              <a:rPr lang="en-US" altLang="zh-TW" dirty="0">
                <a:latin typeface="Consolas" panose="020B0609020204030204" pitchFamily="49" charset="0"/>
                <a:sym typeface="Wingdings" panose="05000000000000000000" pitchFamily="2" charset="2"/>
              </a:rPr>
              <a:t>-5%2</a:t>
            </a:r>
            <a:r>
              <a:rPr lang="en-US" altLang="zh-TW" dirty="0">
                <a:sym typeface="Wingdings" panose="05000000000000000000" pitchFamily="2" charset="2"/>
              </a:rPr>
              <a:t>    (-3 × 2 + 1) % 2    1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FF55E1-CA0E-4DA1-B7F1-51ECFF87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821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36C921-3323-4536-90A8-3EACD51F3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範例：不同資料型別做運算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57918E-F549-45E3-931B-041D2F5D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5D84973-8F58-4BB7-847A-C1BD2FC9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370" y="2743200"/>
            <a:ext cx="8368725" cy="261707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581A4DD-C254-4558-AEDD-FE0B5F055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828" y="2758968"/>
            <a:ext cx="1235622" cy="26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6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運算式</a:t>
            </a:r>
            <a:endParaRPr lang="en-US" altLang="zh-TW" dirty="0"/>
          </a:p>
          <a:p>
            <a:pPr lvl="1"/>
            <a:r>
              <a:rPr lang="zh-TW" altLang="en-US" dirty="0"/>
              <a:t>算術運算子</a:t>
            </a:r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複合指定運算子</a:t>
            </a:r>
          </a:p>
          <a:p>
            <a:pPr lvl="1"/>
            <a:r>
              <a:rPr lang="zh-TW" altLang="en-US" dirty="0"/>
              <a:t>比較運算子</a:t>
            </a:r>
          </a:p>
          <a:p>
            <a:pPr lvl="1"/>
            <a:r>
              <a:rPr lang="zh-TW" altLang="en-US" dirty="0"/>
              <a:t>邏輯運算子</a:t>
            </a:r>
          </a:p>
          <a:p>
            <a:pPr lvl="1"/>
            <a:r>
              <a:rPr lang="zh-TW" altLang="en-US" dirty="0"/>
              <a:t>位元運算子</a:t>
            </a:r>
          </a:p>
          <a:p>
            <a:pPr lvl="1"/>
            <a:endParaRPr lang="en-US" altLang="zh-TW" dirty="0">
              <a:solidFill>
                <a:schemeClr val="accent2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8219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3500" dirty="0"/>
              <a:t>複合指定運算子</a:t>
            </a:r>
            <a:r>
              <a:rPr lang="en-US" altLang="zh-TW" sz="3500" dirty="0"/>
              <a:t>(compound assignment operator)</a:t>
            </a:r>
            <a:endParaRPr lang="zh-TW" altLang="en-US" sz="35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同時做「運算」及「指派」兩件事</a:t>
            </a:r>
            <a:endParaRPr lang="en-US" altLang="zh-TW" dirty="0"/>
          </a:p>
          <a:p>
            <a:pPr lvl="1"/>
            <a:r>
              <a:rPr lang="en-US" altLang="zh-TW" dirty="0" err="1">
                <a:latin typeface="Consolas" panose="020B0609020204030204" pitchFamily="49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</a:rPr>
              <a:t> +=</a:t>
            </a:r>
            <a:r>
              <a:rPr lang="zh-TW" altLang="en-US" dirty="0">
                <a:latin typeface="Consolas" panose="020B0609020204030204" pitchFamily="49" charset="0"/>
              </a:rPr>
              <a:t> </a:t>
            </a:r>
            <a:r>
              <a:rPr lang="en-US" altLang="zh-TW" dirty="0">
                <a:latin typeface="Consolas" panose="020B0609020204030204" pitchFamily="49" charset="0"/>
              </a:rPr>
              <a:t>2</a:t>
            </a:r>
          </a:p>
          <a:p>
            <a:pPr lvl="1"/>
            <a:r>
              <a:rPr lang="en-US" altLang="zh-TW" dirty="0" err="1">
                <a:latin typeface="Consolas" panose="020B0609020204030204" pitchFamily="49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</a:rPr>
              <a:t> = </a:t>
            </a:r>
            <a:r>
              <a:rPr lang="en-US" altLang="zh-TW" dirty="0" err="1">
                <a:latin typeface="Consolas" panose="020B0609020204030204" pitchFamily="49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</a:rPr>
              <a:t> + 2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BAFA9A7-8F3D-4426-8BB0-66A37C37D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105" y="3429000"/>
            <a:ext cx="8576695" cy="33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4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17891F-60BE-4591-9198-56CE726A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範例：求圓面積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07B114-13B6-4F1F-B655-33652A9AF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已知圓周長為 </a:t>
            </a:r>
            <a:r>
              <a:rPr lang="en-US" altLang="zh-TW" dirty="0"/>
              <a:t>314 </a:t>
            </a:r>
            <a:r>
              <a:rPr lang="zh-TW" altLang="en-US" dirty="0"/>
              <a:t>公分，要求</a:t>
            </a:r>
            <a:r>
              <a:rPr lang="zh-TW" altLang="en-US" dirty="0">
                <a:solidFill>
                  <a:schemeClr val="accent4"/>
                </a:solidFill>
              </a:rPr>
              <a:t>圓面積</a:t>
            </a:r>
            <a:r>
              <a:rPr lang="zh-TW" altLang="en-US" dirty="0"/>
              <a:t>大小。</a:t>
            </a:r>
            <a:endParaRPr lang="en-US" altLang="zh-TW" dirty="0"/>
          </a:p>
          <a:p>
            <a:pPr lvl="1"/>
            <a:r>
              <a:rPr lang="zh-TW" altLang="en-US" dirty="0"/>
              <a:t>這道題目可以依圓周長公式先求出半徑，再計算圓面積。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549403-1003-4CFD-978C-548F3587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77459F9-CEBC-4A75-8C09-9FB39FC56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821" y="3495675"/>
            <a:ext cx="6145599" cy="276225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D79C589-8810-4E92-B492-F7A695A93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620" y="4515065"/>
            <a:ext cx="3526913" cy="72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3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</a:t>
            </a:r>
            <a:r>
              <a:rPr lang="zh-TW" altLang="zh-TW" dirty="0"/>
              <a:t>計算導數值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使用者輸入一個數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TW" altLang="en-US" dirty="0"/>
                  <a:t>，並</a:t>
                </a:r>
                <a:r>
                  <a:rPr lang="zh-TW" altLang="zh-TW" dirty="0"/>
                  <a:t>給定一個函數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如下，請計算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在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zh-TW" dirty="0"/>
                  <a:t>的導數</a:t>
                </a:r>
                <a:r>
                  <a:rPr lang="en-US" altLang="zh-TW" dirty="0"/>
                  <a:t>(derivative)</a:t>
                </a:r>
                <a:r>
                  <a:rPr lang="zh-TW" altLang="zh-TW" dirty="0"/>
                  <a:t>。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輸入：一個數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zh-TW" altLang="en-US" dirty="0"/>
                  <a:t>輸出：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在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的導數</a:t>
                </a:r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r>
                  <a:rPr lang="zh-TW" altLang="en-US" dirty="0"/>
                  <a:t>注意：</a:t>
                </a:r>
                <a:r>
                  <a:rPr lang="zh-TW" altLang="zh-TW" dirty="0"/>
                  <a:t>請利用導數的極限定義來計算，勿直接將導數寫在程式碼裡</a:t>
                </a:r>
                <a:r>
                  <a:rPr lang="zh-TW" altLang="en-US" dirty="0"/>
                  <a:t>。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247" r="-3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6631471-DDEF-499F-B024-D599BC84E8C1}"/>
                  </a:ext>
                </a:extLst>
              </p:cNvPr>
              <p:cNvSpPr txBox="1"/>
              <p:nvPr/>
            </p:nvSpPr>
            <p:spPr>
              <a:xfrm>
                <a:off x="6579475" y="4047139"/>
                <a:ext cx="41471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TW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altLang="zh-TW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altLang="zh-TW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=3</m:t>
                      </m:r>
                      <m:sSup>
                        <m:sSupPr>
                          <m:ctrlPr>
                            <a:rPr kumimoji="0" lang="en-US" altLang="zh-TW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TW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altLang="zh-TW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p>
                      </m:sSup>
                      <m:r>
                        <a:rPr kumimoji="0" lang="en-US" altLang="zh-TW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−7</m:t>
                      </m:r>
                      <m:sSup>
                        <m:sSupPr>
                          <m:ctrlPr>
                            <a:rPr kumimoji="0" lang="en-US" altLang="zh-TW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TW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altLang="zh-TW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altLang="zh-TW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+5</m:t>
                      </m:r>
                    </m:oMath>
                  </m:oMathPara>
                </a14:m>
                <a:endParaRPr kumimoji="0" lang="zh-TW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軟正黑體" panose="020B0604030504040204" pitchFamily="34" charset="-120"/>
                  <a:cs typeface="+mn-cs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6631471-DDEF-499F-B024-D599BC84E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475" y="4047139"/>
                <a:ext cx="414718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45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運算式</a:t>
            </a:r>
            <a:endParaRPr lang="en-US" altLang="zh-TW" dirty="0"/>
          </a:p>
          <a:p>
            <a:pPr lvl="1"/>
            <a:r>
              <a:rPr lang="zh-TW" altLang="en-US" dirty="0"/>
              <a:t>算術運算子</a:t>
            </a:r>
          </a:p>
          <a:p>
            <a:pPr lvl="1"/>
            <a:r>
              <a:rPr lang="zh-TW" altLang="en-US" dirty="0"/>
              <a:t>複合指定運算子</a:t>
            </a:r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比較運算子</a:t>
            </a:r>
          </a:p>
          <a:p>
            <a:pPr lvl="1"/>
            <a:r>
              <a:rPr lang="zh-TW" altLang="en-US" dirty="0"/>
              <a:t>邏輯運算子</a:t>
            </a:r>
          </a:p>
          <a:p>
            <a:pPr lvl="1"/>
            <a:r>
              <a:rPr lang="zh-TW" altLang="en-US" dirty="0"/>
              <a:t>位元運算子</a:t>
            </a:r>
          </a:p>
          <a:p>
            <a:pPr lvl="1"/>
            <a:endParaRPr lang="en-US" altLang="zh-TW" dirty="0">
              <a:solidFill>
                <a:schemeClr val="accent2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0609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B9A2D6-C89C-47C4-B5F6-1C507DE9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比較運算子</a:t>
            </a:r>
            <a:r>
              <a:rPr lang="en-US" altLang="zh-TW" dirty="0"/>
              <a:t>(comparison operator)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75E189-7303-4587-B55A-8909A1B16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也稱為</a:t>
            </a:r>
            <a:r>
              <a:rPr lang="zh-TW" altLang="en-US" dirty="0">
                <a:solidFill>
                  <a:schemeClr val="accent4"/>
                </a:solidFill>
              </a:rPr>
              <a:t>關係運算子</a:t>
            </a:r>
            <a:r>
              <a:rPr lang="en-US" altLang="zh-TW" dirty="0"/>
              <a:t>(relational operator)</a:t>
            </a:r>
            <a:r>
              <a:rPr lang="zh-TW" altLang="en-US" dirty="0"/>
              <a:t>，是進行大小比較關係的運算。</a:t>
            </a:r>
            <a:endParaRPr lang="en-US" altLang="zh-TW" dirty="0"/>
          </a:p>
          <a:p>
            <a:pPr lvl="1"/>
            <a:r>
              <a:rPr lang="zh-TW" altLang="en-US" dirty="0"/>
              <a:t>其比較結果會得到一個布林值，代表這個大小關係是否成立。</a:t>
            </a:r>
            <a:endParaRPr lang="en-US" altLang="zh-TW" dirty="0"/>
          </a:p>
          <a:p>
            <a:pPr lvl="1"/>
            <a:r>
              <a:rPr lang="zh-TW" altLang="en-US" dirty="0"/>
              <a:t>若比較結果正確，則得到 </a:t>
            </a:r>
            <a:r>
              <a:rPr lang="en-US" altLang="zh-TW" dirty="0">
                <a:solidFill>
                  <a:schemeClr val="accent4"/>
                </a:solidFill>
              </a:rPr>
              <a:t>T</a:t>
            </a:r>
            <a:r>
              <a:rPr lang="en-US" altLang="zh-TW" dirty="0"/>
              <a:t>rue</a:t>
            </a:r>
            <a:r>
              <a:rPr lang="zh-TW" altLang="en-US" dirty="0"/>
              <a:t>；反之，比較結果錯誤會得到 </a:t>
            </a:r>
            <a:r>
              <a:rPr lang="en-US" altLang="zh-TW" dirty="0">
                <a:solidFill>
                  <a:schemeClr val="accent4"/>
                </a:solidFill>
              </a:rPr>
              <a:t>F</a:t>
            </a:r>
            <a:r>
              <a:rPr lang="en-US" altLang="zh-TW" dirty="0"/>
              <a:t>alse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8320A9-5C39-4792-9966-70F9C8533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4C61DCAF-214C-4900-BA21-86673C62B732}"/>
              </a:ext>
            </a:extLst>
          </p:cNvPr>
          <p:cNvSpPr/>
          <p:nvPr/>
        </p:nvSpPr>
        <p:spPr>
          <a:xfrm>
            <a:off x="4572000" y="4196318"/>
            <a:ext cx="5273749" cy="723014"/>
          </a:xfrm>
          <a:prstGeom prst="wedgeRoundRectCallout">
            <a:avLst>
              <a:gd name="adj1" fmla="val -55755"/>
              <a:gd name="adj2" fmla="val -45463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這種比較常見於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邏輯判斷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使用</a:t>
            </a:r>
          </a:p>
        </p:txBody>
      </p:sp>
    </p:spTree>
    <p:extLst>
      <p:ext uri="{BB962C8B-B14F-4D97-AF65-F5344CB8AC3E}">
        <p14:creationId xmlns:p14="http://schemas.microsoft.com/office/powerpoint/2010/main" val="165827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949D1E-5180-487D-9FFD-DA846F491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比較運算子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A00DE9-B3E5-463D-A972-378AE446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F516598-2478-43FD-98DC-4E84288F0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99" y="2141002"/>
            <a:ext cx="10349402" cy="35877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E084B70-2FEA-455C-8924-569C37E57802}"/>
              </a:ext>
            </a:extLst>
          </p:cNvPr>
          <p:cNvSpPr/>
          <p:nvPr/>
        </p:nvSpPr>
        <p:spPr>
          <a:xfrm>
            <a:off x="7220607" y="4643840"/>
            <a:ext cx="2112580" cy="93715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70753606-528D-42B7-A28A-C14FF7A19732}"/>
              </a:ext>
            </a:extLst>
          </p:cNvPr>
          <p:cNvSpPr/>
          <p:nvPr/>
        </p:nvSpPr>
        <p:spPr>
          <a:xfrm>
            <a:off x="8085174" y="5681448"/>
            <a:ext cx="3459126" cy="971764"/>
          </a:xfrm>
          <a:prstGeom prst="wedgeRoundRectCallout">
            <a:avLst>
              <a:gd name="adj1" fmla="val -56985"/>
              <a:gd name="adj2" fmla="val -39628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「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&gt;=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」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  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大於或等於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  <a:sym typeface="Wingdings" panose="05000000000000000000" pitchFamily="2" charset="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「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&lt;=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」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  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小於或等於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44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3F5480-2286-4236-9065-015F43BE4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注意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0ADC37-5597-40ED-83DE-7687A986D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accent4"/>
                </a:solidFill>
              </a:rPr>
              <a:t>浮點數</a:t>
            </a:r>
            <a:r>
              <a:rPr lang="zh-TW" altLang="en-US" dirty="0"/>
              <a:t>的比較運算因為</a:t>
            </a:r>
            <a:r>
              <a:rPr lang="zh-TW" altLang="en-US" dirty="0">
                <a:solidFill>
                  <a:schemeClr val="accent4"/>
                </a:solidFill>
              </a:rPr>
              <a:t>精確度</a:t>
            </a:r>
            <a:r>
              <a:rPr lang="zh-TW" altLang="en-US" dirty="0"/>
              <a:t>的緣故，有時候會得到錯誤的比較結果，而這個問題常發生在</a:t>
            </a:r>
            <a:r>
              <a:rPr lang="zh-TW" altLang="en-US" dirty="0">
                <a:solidFill>
                  <a:schemeClr val="accent4"/>
                </a:solidFill>
              </a:rPr>
              <a:t>等於判斷</a:t>
            </a:r>
            <a:r>
              <a:rPr lang="zh-TW" altLang="en-US" dirty="0"/>
              <a:t>的時候。</a:t>
            </a:r>
            <a:endParaRPr lang="en-US" altLang="zh-TW" dirty="0"/>
          </a:p>
          <a:p>
            <a:pPr lvl="1"/>
            <a:r>
              <a:rPr lang="zh-TW" altLang="en-US" dirty="0"/>
              <a:t>因此，宜盡量</a:t>
            </a:r>
            <a:r>
              <a:rPr lang="zh-TW" altLang="en-US" dirty="0">
                <a:solidFill>
                  <a:schemeClr val="accent4"/>
                </a:solidFill>
              </a:rPr>
              <a:t>避免直接對浮點數進行等於判斷</a:t>
            </a:r>
            <a:r>
              <a:rPr lang="zh-TW" altLang="en-US" dirty="0"/>
              <a:t>，若逼不得已也可自訂一個可容忍的誤差值。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AA3E3B-BFFC-4632-81C3-607CBE6D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80F0D3F-4CD0-481B-9173-F68FB36A9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589" y="4689579"/>
            <a:ext cx="6667838" cy="58661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B9F20-C777-4E6E-8337-A0F81164C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930" y="4689580"/>
            <a:ext cx="1466535" cy="58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6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變數與資料型別</a:t>
            </a:r>
            <a:endParaRPr lang="en-US" altLang="zh-TW" dirty="0">
              <a:solidFill>
                <a:schemeClr val="accent2"/>
              </a:solidFill>
            </a:endParaRPr>
          </a:p>
          <a:p>
            <a:r>
              <a:rPr lang="zh-TW" altLang="en-US" dirty="0"/>
              <a:t>輸出與輸入</a:t>
            </a:r>
            <a:endParaRPr lang="en-US" altLang="zh-TW" dirty="0"/>
          </a:p>
          <a:p>
            <a:r>
              <a:rPr lang="zh-TW" altLang="en-US" dirty="0"/>
              <a:t>運算式</a:t>
            </a:r>
            <a:endParaRPr lang="en-US" altLang="zh-TW" dirty="0"/>
          </a:p>
          <a:p>
            <a:pPr lvl="1"/>
            <a:r>
              <a:rPr lang="zh-TW" altLang="en-US" dirty="0"/>
              <a:t>算術運算子</a:t>
            </a:r>
          </a:p>
          <a:p>
            <a:pPr lvl="1"/>
            <a:r>
              <a:rPr lang="zh-TW" altLang="en-US" dirty="0"/>
              <a:t>複合指定運算子</a:t>
            </a:r>
          </a:p>
          <a:p>
            <a:pPr lvl="1"/>
            <a:r>
              <a:rPr lang="zh-TW" altLang="en-US" dirty="0"/>
              <a:t>比較運算子</a:t>
            </a:r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邏輯運算子</a:t>
            </a:r>
          </a:p>
          <a:p>
            <a:pPr lvl="1"/>
            <a:r>
              <a:rPr lang="zh-TW" altLang="en-US" dirty="0"/>
              <a:t>位元運算子</a:t>
            </a:r>
          </a:p>
          <a:p>
            <a:pPr lvl="1"/>
            <a:endParaRPr lang="en-US" altLang="zh-TW" dirty="0">
              <a:solidFill>
                <a:schemeClr val="accent2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64912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0365C-726B-4FAF-BF45-C02475200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邏輯運算子</a:t>
            </a:r>
            <a:r>
              <a:rPr lang="en-US" altLang="zh-TW" dirty="0"/>
              <a:t>(logical operator)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F3D30-689F-4032-BD85-E295A995F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Python </a:t>
            </a:r>
            <a:r>
              <a:rPr lang="zh-TW" altLang="en-US" dirty="0"/>
              <a:t>可以判斷的三種邏輯狀態有</a:t>
            </a:r>
            <a:r>
              <a:rPr lang="zh-TW" altLang="en-US" dirty="0">
                <a:solidFill>
                  <a:schemeClr val="accent4"/>
                </a:solidFill>
              </a:rPr>
              <a:t>且</a:t>
            </a:r>
            <a:r>
              <a:rPr lang="en-US" altLang="zh-TW" dirty="0">
                <a:solidFill>
                  <a:schemeClr val="accent4"/>
                </a:solidFill>
              </a:rPr>
              <a:t>(and)</a:t>
            </a:r>
            <a:r>
              <a:rPr lang="zh-TW" altLang="en-US" dirty="0">
                <a:solidFill>
                  <a:schemeClr val="accent4"/>
                </a:solidFill>
              </a:rPr>
              <a:t>、或</a:t>
            </a:r>
            <a:r>
              <a:rPr lang="en-US" altLang="zh-TW" dirty="0">
                <a:solidFill>
                  <a:schemeClr val="accent4"/>
                </a:solidFill>
              </a:rPr>
              <a:t>(or)</a:t>
            </a:r>
            <a:r>
              <a:rPr lang="zh-TW" altLang="en-US" dirty="0">
                <a:solidFill>
                  <a:schemeClr val="accent4"/>
                </a:solidFill>
              </a:rPr>
              <a:t>、非</a:t>
            </a:r>
            <a:r>
              <a:rPr lang="en-US" altLang="zh-TW" dirty="0">
                <a:solidFill>
                  <a:schemeClr val="accent4"/>
                </a:solidFill>
              </a:rPr>
              <a:t>(not)</a:t>
            </a:r>
            <a:r>
              <a:rPr lang="zh-TW" altLang="en-US" dirty="0"/>
              <a:t>，邏輯運算的結果依下面的</a:t>
            </a:r>
            <a:r>
              <a:rPr lang="zh-TW" altLang="en-US" dirty="0">
                <a:solidFill>
                  <a:schemeClr val="accent4"/>
                </a:solidFill>
              </a:rPr>
              <a:t>真值表</a:t>
            </a:r>
            <a:r>
              <a:rPr lang="en-US" altLang="zh-TW" dirty="0">
                <a:solidFill>
                  <a:schemeClr val="accent4"/>
                </a:solidFill>
              </a:rPr>
              <a:t>(truth table)</a:t>
            </a:r>
            <a:r>
              <a:rPr lang="zh-TW" altLang="en-US" dirty="0"/>
              <a:t>來決定。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A1B61D-D889-4AA5-9060-CF624A8A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14C93B1-4192-4CD3-BFCC-7DAA31140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36" y="3231462"/>
            <a:ext cx="10489128" cy="2591269"/>
          </a:xfrm>
          <a:prstGeom prst="rect">
            <a:avLst/>
          </a:prstGeom>
        </p:spPr>
      </p:pic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93E4E962-0D3A-43C2-A405-0A12F9E7A105}"/>
              </a:ext>
            </a:extLst>
          </p:cNvPr>
          <p:cNvSpPr/>
          <p:nvPr/>
        </p:nvSpPr>
        <p:spPr>
          <a:xfrm>
            <a:off x="8713075" y="5845996"/>
            <a:ext cx="2406869" cy="823858"/>
          </a:xfrm>
          <a:prstGeom prst="wedgeRoundRectCallout">
            <a:avLst>
              <a:gd name="adj1" fmla="val -67558"/>
              <a:gd name="adj2" fmla="val -47214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T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 True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F  False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28036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E40487-1F81-487C-95FB-E0DBD74D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邏輯運算子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B61F-6F52-4EEA-8A44-31469A935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常見在一般程式語言使用的邏輯運算子符號為</a:t>
            </a:r>
            <a:endParaRPr lang="en-US" altLang="zh-TW" dirty="0"/>
          </a:p>
          <a:p>
            <a:pPr lvl="1"/>
            <a:r>
              <a:rPr lang="zh-TW" altLang="en-US" dirty="0"/>
              <a:t>且</a:t>
            </a:r>
            <a:r>
              <a:rPr lang="en-US" altLang="zh-TW" dirty="0"/>
              <a:t>(&amp;&amp;)</a:t>
            </a:r>
            <a:r>
              <a:rPr lang="zh-TW" altLang="en-US" dirty="0"/>
              <a:t>、或</a:t>
            </a:r>
            <a:r>
              <a:rPr lang="en-US" altLang="zh-TW" dirty="0"/>
              <a:t>(||)</a:t>
            </a:r>
            <a:r>
              <a:rPr lang="zh-TW" altLang="en-US" dirty="0"/>
              <a:t>、非</a:t>
            </a:r>
            <a:r>
              <a:rPr lang="en-US" altLang="zh-TW" dirty="0"/>
              <a:t>(~)</a:t>
            </a:r>
          </a:p>
          <a:p>
            <a:r>
              <a:rPr lang="en-US" altLang="zh-TW" dirty="0"/>
              <a:t>Python </a:t>
            </a:r>
            <a:r>
              <a:rPr lang="zh-TW" altLang="en-US" dirty="0"/>
              <a:t>則以直覺的方式表達邏輯運算</a:t>
            </a:r>
            <a:endParaRPr lang="en-US" altLang="zh-TW" dirty="0"/>
          </a:p>
          <a:p>
            <a:pPr lvl="1"/>
            <a:r>
              <a:rPr lang="zh-TW" altLang="en-US" dirty="0"/>
              <a:t>也可以使用「</a:t>
            </a:r>
            <a:r>
              <a:rPr lang="en-US" altLang="zh-TW" dirty="0"/>
              <a:t>&amp;</a:t>
            </a:r>
            <a:r>
              <a:rPr lang="zh-TW" altLang="en-US" dirty="0"/>
              <a:t>」代替 </a:t>
            </a:r>
            <a:r>
              <a:rPr lang="en-US" altLang="zh-TW" dirty="0"/>
              <a:t>and</a:t>
            </a:r>
            <a:r>
              <a:rPr lang="zh-TW" altLang="en-US" dirty="0"/>
              <a:t>，「</a:t>
            </a:r>
            <a:r>
              <a:rPr lang="en-US" altLang="zh-TW" dirty="0"/>
              <a:t>|</a:t>
            </a:r>
            <a:r>
              <a:rPr lang="zh-TW" altLang="en-US" dirty="0"/>
              <a:t>」代替 </a:t>
            </a:r>
            <a:r>
              <a:rPr lang="en-US" altLang="zh-TW" dirty="0"/>
              <a:t>or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5DD73A-4D67-41BD-B14F-31750561C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73690C2-D057-42CF-85B4-5F2EFF3FA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640" y="4057650"/>
            <a:ext cx="9390160" cy="264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5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E3E6FB-B85C-41F2-9499-7252BD2B1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905721-03F2-4E8E-BE97-DA7450F9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5C2642-2228-443F-830A-E47721B62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379" y="1598438"/>
            <a:ext cx="6109308" cy="273479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90166A1-3CEA-40E6-AD58-16E098759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0431" y="2483088"/>
            <a:ext cx="1417869" cy="185014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F8D99DA-29CB-488E-B348-6ADDDEB97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301" y="4784267"/>
            <a:ext cx="7680386" cy="161478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4A46D25-A1F7-48ED-8BC7-5D9FADD64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0431" y="5465599"/>
            <a:ext cx="1175452" cy="93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4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E69C76-FEF8-4AE0-A28C-BC97AD758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zh-TW" altLang="en-US" sz="4000" dirty="0"/>
              <a:t>：交換兩變數值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AC3563-6830-4138-8AAE-BFD8C87CA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FBC308B-D2FC-4734-A17F-FD5AC69E1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405" y="1921110"/>
            <a:ext cx="5610770" cy="387673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FA5DD79-4BD9-440D-909A-2D7F55B89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211" y="2893934"/>
            <a:ext cx="4186478" cy="193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05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</a:t>
            </a:r>
            <a:r>
              <a:rPr lang="en-US" altLang="zh-TW" dirty="0"/>
              <a:t>XOR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輸入兩個布林值 </a:t>
            </a:r>
            <a:r>
              <a:rPr lang="en-US" altLang="zh-TW" dirty="0"/>
              <a:t>A, B</a:t>
            </a:r>
            <a:r>
              <a:rPr lang="zh-TW" altLang="en-US" dirty="0"/>
              <a:t>，計算並輸出 </a:t>
            </a:r>
            <a:r>
              <a:rPr lang="en-US" altLang="zh-TW" dirty="0"/>
              <a:t>A XOR B </a:t>
            </a:r>
            <a:r>
              <a:rPr lang="zh-TW" altLang="en-US" dirty="0"/>
              <a:t>的值。</a:t>
            </a:r>
            <a:endParaRPr lang="en-US" altLang="zh-TW" dirty="0"/>
          </a:p>
          <a:p>
            <a:pPr lvl="1"/>
            <a:r>
              <a:rPr lang="zh-TW" altLang="en-US" dirty="0"/>
              <a:t>利用 </a:t>
            </a:r>
            <a:r>
              <a:rPr lang="en-US" altLang="zh-TW" dirty="0">
                <a:latin typeface="Consolas" panose="020B0609020204030204" pitchFamily="49" charset="0"/>
              </a:rPr>
              <a:t>and, or, not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D8D463B7-1491-4C73-A575-5D1CF57F4456}"/>
              </a:ext>
            </a:extLst>
          </p:cNvPr>
          <p:cNvGraphicFramePr>
            <a:graphicFrameLocks noGrp="1"/>
          </p:cNvGraphicFramePr>
          <p:nvPr/>
        </p:nvGraphicFramePr>
        <p:xfrm>
          <a:off x="6667796" y="3240168"/>
          <a:ext cx="3975397" cy="3124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10512">
                  <a:extLst>
                    <a:ext uri="{9D8B030D-6E8A-4147-A177-3AD203B41FA5}">
                      <a16:colId xmlns:a16="http://schemas.microsoft.com/office/drawing/2014/main" val="1097180356"/>
                    </a:ext>
                  </a:extLst>
                </a:gridCol>
                <a:gridCol w="1110512">
                  <a:extLst>
                    <a:ext uri="{9D8B030D-6E8A-4147-A177-3AD203B41FA5}">
                      <a16:colId xmlns:a16="http://schemas.microsoft.com/office/drawing/2014/main" val="2073553010"/>
                    </a:ext>
                  </a:extLst>
                </a:gridCol>
                <a:gridCol w="1754373">
                  <a:extLst>
                    <a:ext uri="{9D8B030D-6E8A-4147-A177-3AD203B41FA5}">
                      <a16:colId xmlns:a16="http://schemas.microsoft.com/office/drawing/2014/main" val="400953792"/>
                    </a:ext>
                  </a:extLst>
                </a:gridCol>
              </a:tblGrid>
              <a:tr h="6248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x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y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x XOR y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376768"/>
                  </a:ext>
                </a:extLst>
              </a:tr>
              <a:tr h="6248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F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032862"/>
                  </a:ext>
                </a:extLst>
              </a:tr>
              <a:tr h="6248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F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577535"/>
                  </a:ext>
                </a:extLst>
              </a:tr>
              <a:tr h="6248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F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80920"/>
                  </a:ext>
                </a:extLst>
              </a:tr>
              <a:tr h="6248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F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F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F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887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4859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運算式</a:t>
            </a:r>
            <a:endParaRPr lang="en-US" altLang="zh-TW" dirty="0"/>
          </a:p>
          <a:p>
            <a:pPr lvl="1"/>
            <a:r>
              <a:rPr lang="zh-TW" altLang="en-US" dirty="0"/>
              <a:t>算術運算子</a:t>
            </a:r>
          </a:p>
          <a:p>
            <a:pPr lvl="1"/>
            <a:r>
              <a:rPr lang="zh-TW" altLang="en-US" dirty="0"/>
              <a:t>複合指定運算子</a:t>
            </a:r>
          </a:p>
          <a:p>
            <a:pPr lvl="1"/>
            <a:r>
              <a:rPr lang="zh-TW" altLang="en-US" dirty="0"/>
              <a:t>比較運算子</a:t>
            </a:r>
          </a:p>
          <a:p>
            <a:pPr lvl="1"/>
            <a:r>
              <a:rPr lang="zh-TW" altLang="en-US" dirty="0"/>
              <a:t>邏輯運算子</a:t>
            </a:r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位元運算子</a:t>
            </a:r>
          </a:p>
          <a:p>
            <a:pPr lvl="1"/>
            <a:endParaRPr lang="en-US" altLang="zh-TW" dirty="0">
              <a:solidFill>
                <a:schemeClr val="accent2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72275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53299-0D9C-4548-A5D7-980468E12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位元運算子</a:t>
            </a:r>
            <a:r>
              <a:rPr lang="en-US" altLang="zh-TW" dirty="0"/>
              <a:t>(bitwise operator)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FDB8C5-F684-4DD4-98D6-A0E9AA4A7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基本上，電腦內的所有數值皆以二進位表示（即 </a:t>
            </a:r>
            <a:r>
              <a:rPr lang="en-US" altLang="zh-TW" dirty="0"/>
              <a:t>0</a:t>
            </a:r>
            <a:r>
              <a:rPr lang="zh-TW" altLang="en-US" dirty="0"/>
              <a:t>、</a:t>
            </a:r>
            <a:r>
              <a:rPr lang="en-US" altLang="zh-TW" dirty="0"/>
              <a:t>1</a:t>
            </a:r>
            <a:r>
              <a:rPr lang="zh-TW" altLang="en-US" dirty="0"/>
              <a:t>），而位元運算子即是針對每個</a:t>
            </a:r>
            <a:r>
              <a:rPr lang="zh-TW" altLang="en-US" dirty="0">
                <a:solidFill>
                  <a:schemeClr val="accent4"/>
                </a:solidFill>
              </a:rPr>
              <a:t>數值的二進位數字</a:t>
            </a:r>
            <a:r>
              <a:rPr lang="zh-TW" altLang="en-US" dirty="0"/>
              <a:t>進行運算。</a:t>
            </a:r>
            <a:endParaRPr lang="en-US" altLang="zh-TW" dirty="0"/>
          </a:p>
          <a:p>
            <a:pPr lvl="1"/>
            <a:r>
              <a:rPr lang="en-US" altLang="zh-TW" dirty="0"/>
              <a:t>4  </a:t>
            </a:r>
            <a:r>
              <a:rPr lang="en-US" altLang="zh-TW" dirty="0">
                <a:sym typeface="Wingdings" panose="05000000000000000000" pitchFamily="2" charset="2"/>
              </a:rPr>
              <a:t>  0100</a:t>
            </a: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5    0101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C</a:t>
            </a:r>
            <a:r>
              <a:rPr lang="zh-TW" altLang="en-US" dirty="0"/>
              <a:t> 語言裡，有一些運算子可以對記憶體裡的值進行</a:t>
            </a:r>
            <a:r>
              <a:rPr lang="zh-TW" altLang="en-US" dirty="0">
                <a:solidFill>
                  <a:schemeClr val="accent4"/>
                </a:solidFill>
              </a:rPr>
              <a:t>位元</a:t>
            </a:r>
            <a:r>
              <a:rPr lang="en-US" altLang="zh-TW" dirty="0"/>
              <a:t>(bit)</a:t>
            </a:r>
            <a:r>
              <a:rPr lang="zh-TW" altLang="en-US" dirty="0"/>
              <a:t>操作</a:t>
            </a:r>
            <a:endParaRPr lang="en-US" altLang="zh-TW" dirty="0"/>
          </a:p>
          <a:p>
            <a:pPr lvl="1"/>
            <a:r>
              <a:rPr lang="en-US" altLang="zh-TW" dirty="0"/>
              <a:t>Python</a:t>
            </a:r>
            <a:r>
              <a:rPr lang="zh-TW" altLang="en-US" dirty="0"/>
              <a:t> 承襲自 </a:t>
            </a:r>
            <a:r>
              <a:rPr lang="en-US" altLang="zh-TW" dirty="0"/>
              <a:t>C</a:t>
            </a:r>
            <a:r>
              <a:rPr lang="zh-TW" altLang="en-US" dirty="0"/>
              <a:t> 語言，也有與之對應的六個位元運算子。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3D5FF1-9897-4095-8570-E0B87611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02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A79044-52B1-499F-9C42-99DDD282F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位元運算子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591D48-5E1F-4F00-A6F6-B43561E7F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232C7BC-9E83-477D-8C12-31F448899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482" y="2121175"/>
            <a:ext cx="9711036" cy="326598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EBD52D-CCBC-485D-A453-98C49B7215E0}"/>
              </a:ext>
            </a:extLst>
          </p:cNvPr>
          <p:cNvSpPr/>
          <p:nvPr/>
        </p:nvSpPr>
        <p:spPr>
          <a:xfrm>
            <a:off x="1323081" y="4422449"/>
            <a:ext cx="1172026" cy="90800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0E5EF916-6496-48AF-8A29-59DF182817F2}"/>
              </a:ext>
            </a:extLst>
          </p:cNvPr>
          <p:cNvSpPr/>
          <p:nvPr/>
        </p:nvSpPr>
        <p:spPr>
          <a:xfrm>
            <a:off x="2187647" y="5460057"/>
            <a:ext cx="3780761" cy="628855"/>
          </a:xfrm>
          <a:prstGeom prst="wedgeRoundRectCallout">
            <a:avLst>
              <a:gd name="adj1" fmla="val -56985"/>
              <a:gd name="adj2" fmla="val -39628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位移運算子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(shift operator)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612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7A102-1E4B-42FC-8E38-6479BB930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運算範例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454C4A-6351-42E1-B295-DE854CA3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D101FF6-F0AE-43F6-8895-76E77627C9C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594" y="2351323"/>
            <a:ext cx="7184812" cy="2816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73462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E145E1-1EDC-4549-9E6E-2E83CF7D7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運算範例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4A10CD-F241-4F29-B2F6-17A83AEE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D35A7B-E515-496F-A74A-B5353571829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333" y="1647206"/>
            <a:ext cx="6617333" cy="2467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BECDEC5-02EA-476B-BB84-ABF6F67138E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376" y="4320167"/>
            <a:ext cx="7495832" cy="243228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CE6CCFDA-0961-4505-8EF1-6A6EE9076C8D}"/>
              </a:ext>
            </a:extLst>
          </p:cNvPr>
          <p:cNvSpPr/>
          <p:nvPr/>
        </p:nvSpPr>
        <p:spPr>
          <a:xfrm>
            <a:off x="425302" y="3337415"/>
            <a:ext cx="2147777" cy="698009"/>
          </a:xfrm>
          <a:prstGeom prst="wedgeRoundRectCallout">
            <a:avLst>
              <a:gd name="adj1" fmla="val 64646"/>
              <a:gd name="adj2" fmla="val -38036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相當於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5 // 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73127982-F629-4DBD-ACA2-82EE59864016}"/>
              </a:ext>
            </a:extLst>
          </p:cNvPr>
          <p:cNvSpPr/>
          <p:nvPr/>
        </p:nvSpPr>
        <p:spPr>
          <a:xfrm>
            <a:off x="425302" y="5955203"/>
            <a:ext cx="2147777" cy="698009"/>
          </a:xfrm>
          <a:prstGeom prst="wedgeRoundRectCallout">
            <a:avLst>
              <a:gd name="adj1" fmla="val 64646"/>
              <a:gd name="adj2" fmla="val -38036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相當於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5 * 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51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DA971F-C469-4073-A8E5-C8C921E8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範例：奇偶數判斷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EB0447-8B3D-4055-9950-9D657B07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59302-35AD-44E9-AC3C-8D1DAE3511F1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103D786-0740-4642-A228-1BA8A2D36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16" y="2685815"/>
            <a:ext cx="6345723" cy="21768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4E19A77-4051-4AC2-8CD2-6E5E9431C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730" y="3021330"/>
            <a:ext cx="2845918" cy="150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4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accent2"/>
                </a:solidFill>
              </a:rPr>
              <a:t>程式流程控制</a:t>
            </a:r>
            <a:endParaRPr lang="en-US" altLang="zh-TW" dirty="0">
              <a:solidFill>
                <a:schemeClr val="accent2"/>
              </a:solidFill>
            </a:endParaRPr>
          </a:p>
          <a:p>
            <a:r>
              <a:rPr lang="zh-TW" altLang="en-US" dirty="0"/>
              <a:t>單向條件式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雙向條件式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 else ...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多向條件式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 </a:t>
            </a:r>
            <a:r>
              <a:rPr lang="en-US" altLang="zh-TW" dirty="0" err="1">
                <a:latin typeface="Consolas" panose="020B0609020204030204" pitchFamily="49" charset="0"/>
              </a:rPr>
              <a:t>elif</a:t>
            </a:r>
            <a:r>
              <a:rPr lang="en-US" altLang="zh-TW" dirty="0">
                <a:latin typeface="Consolas" panose="020B0609020204030204" pitchFamily="49" charset="0"/>
              </a:rPr>
              <a:t> ... else ...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巢狀條件式</a:t>
            </a:r>
            <a:endParaRPr lang="en-US" altLang="zh-TW" dirty="0"/>
          </a:p>
          <a:p>
            <a:r>
              <a:rPr lang="zh-TW" altLang="en-US" dirty="0"/>
              <a:t>結構模式比對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match ... case ...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91768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結構化程式設計</a:t>
            </a:r>
            <a:r>
              <a:rPr lang="en-US" altLang="zh-TW" dirty="0"/>
              <a:t>(structured programming)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75</a:t>
            </a:fld>
            <a:endParaRPr lang="zh-TW" altLang="en-US" dirty="0"/>
          </a:p>
        </p:txBody>
      </p:sp>
      <p:grpSp>
        <p:nvGrpSpPr>
          <p:cNvPr id="24" name="群組 23"/>
          <p:cNvGrpSpPr/>
          <p:nvPr/>
        </p:nvGrpSpPr>
        <p:grpSpPr>
          <a:xfrm>
            <a:off x="977229" y="1997849"/>
            <a:ext cx="2853186" cy="3920643"/>
            <a:chOff x="977229" y="1997849"/>
            <a:chExt cx="2853186" cy="3920643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77229" y="1997849"/>
              <a:ext cx="2853186" cy="3920643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977229" y="2356701"/>
              <a:ext cx="2853186" cy="1774774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TW" altLang="en-US" sz="5000" b="1" dirty="0">
                  <a:solidFill>
                    <a:schemeClr val="bg2"/>
                  </a:solidFill>
                </a:rPr>
                <a:t>一行一</a:t>
              </a:r>
              <a:endParaRPr lang="en-US" altLang="zh-TW" sz="5000" b="1" dirty="0">
                <a:solidFill>
                  <a:schemeClr val="bg2"/>
                </a:solidFill>
              </a:endParaRPr>
            </a:p>
            <a:p>
              <a:pPr algn="r"/>
              <a:r>
                <a:rPr lang="zh-TW" altLang="en-US" sz="5000" b="1" dirty="0">
                  <a:solidFill>
                    <a:schemeClr val="bg2"/>
                  </a:solidFill>
                </a:rPr>
                <a:t>行執行</a:t>
              </a:r>
            </a:p>
          </p:txBody>
        </p:sp>
        <p:sp>
          <p:nvSpPr>
            <p:cNvPr id="16" name="向下箭號 15"/>
            <p:cNvSpPr/>
            <p:nvPr/>
          </p:nvSpPr>
          <p:spPr>
            <a:xfrm>
              <a:off x="1148498" y="2093899"/>
              <a:ext cx="715248" cy="3719072"/>
            </a:xfrm>
            <a:prstGeom prst="downArrow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4669407" y="1997849"/>
            <a:ext cx="2853186" cy="3920643"/>
            <a:chOff x="4669407" y="1997849"/>
            <a:chExt cx="2853186" cy="3920643"/>
          </a:xfrm>
        </p:grpSpPr>
        <p:pic>
          <p:nvPicPr>
            <p:cNvPr id="10" name="圖片 9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669407" y="1997849"/>
              <a:ext cx="2853186" cy="3920643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4669407" y="3188045"/>
              <a:ext cx="2853186" cy="1600771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TW" altLang="en-US" sz="5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中間一部分不執行</a:t>
              </a:r>
            </a:p>
          </p:txBody>
        </p:sp>
        <p:sp>
          <p:nvSpPr>
            <p:cNvPr id="18" name="向下箭號 17"/>
            <p:cNvSpPr/>
            <p:nvPr/>
          </p:nvSpPr>
          <p:spPr>
            <a:xfrm>
              <a:off x="4840677" y="2093900"/>
              <a:ext cx="715248" cy="998094"/>
            </a:xfrm>
            <a:prstGeom prst="down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向下箭號 19"/>
            <p:cNvSpPr/>
            <p:nvPr/>
          </p:nvSpPr>
          <p:spPr>
            <a:xfrm>
              <a:off x="4840677" y="4866768"/>
              <a:ext cx="715248" cy="943968"/>
            </a:xfrm>
            <a:prstGeom prst="down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7993937" y="1997849"/>
            <a:ext cx="3220835" cy="3920643"/>
            <a:chOff x="7993937" y="1997849"/>
            <a:chExt cx="3220835" cy="3920643"/>
          </a:xfrm>
        </p:grpSpPr>
        <p:pic>
          <p:nvPicPr>
            <p:cNvPr id="13" name="圖片 12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361586" y="1997849"/>
              <a:ext cx="2853186" cy="3920643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8361586" y="3284094"/>
              <a:ext cx="2853186" cy="1440324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TW" altLang="en-US" sz="3200" b="1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中間部分</a:t>
              </a:r>
              <a:endParaRPr lang="en-US" altLang="zh-TW" sz="3200" b="1" dirty="0">
                <a:solidFill>
                  <a:schemeClr val="accent4">
                    <a:lumMod val="40000"/>
                    <a:lumOff val="60000"/>
                  </a:schemeClr>
                </a:solidFill>
              </a:endParaRPr>
            </a:p>
            <a:p>
              <a:pPr algn="r"/>
              <a:r>
                <a:rPr lang="zh-TW" altLang="en-US" sz="3200" b="1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重複執行</a:t>
              </a:r>
            </a:p>
          </p:txBody>
        </p:sp>
        <p:sp>
          <p:nvSpPr>
            <p:cNvPr id="21" name="圓形箭號 20"/>
            <p:cNvSpPr/>
            <p:nvPr/>
          </p:nvSpPr>
          <p:spPr>
            <a:xfrm>
              <a:off x="7993937" y="3136573"/>
              <a:ext cx="1715473" cy="1717200"/>
            </a:xfrm>
            <a:prstGeom prst="circularArrow">
              <a:avLst>
                <a:gd name="adj1" fmla="val 16494"/>
                <a:gd name="adj2" fmla="val 1142319"/>
                <a:gd name="adj3" fmla="val 20670252"/>
                <a:gd name="adj4" fmla="val 409148"/>
                <a:gd name="adj5" fmla="val 17852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向下箭號 21"/>
            <p:cNvSpPr/>
            <p:nvPr/>
          </p:nvSpPr>
          <p:spPr>
            <a:xfrm>
              <a:off x="8494050" y="2093899"/>
              <a:ext cx="715248" cy="1094145"/>
            </a:xfrm>
            <a:prstGeom prst="down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向下箭號 22"/>
            <p:cNvSpPr/>
            <p:nvPr/>
          </p:nvSpPr>
          <p:spPr>
            <a:xfrm>
              <a:off x="8494050" y="4788816"/>
              <a:ext cx="715248" cy="1021920"/>
            </a:xfrm>
            <a:prstGeom prst="down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EA83D73D-0F24-4C08-BD14-D18D52AD6B6C}"/>
              </a:ext>
            </a:extLst>
          </p:cNvPr>
          <p:cNvSpPr txBox="1"/>
          <p:nvPr/>
        </p:nvSpPr>
        <p:spPr>
          <a:xfrm>
            <a:off x="977229" y="6066742"/>
            <a:ext cx="2853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循序</a:t>
            </a:r>
            <a:r>
              <a:rPr lang="en-US" altLang="zh-TW" sz="2400" dirty="0"/>
              <a:t>(sequence)</a:t>
            </a:r>
            <a:endParaRPr lang="zh-TW" altLang="en-US" sz="2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AABCF8C-4C9E-4607-9204-3E6487E742B2}"/>
              </a:ext>
            </a:extLst>
          </p:cNvPr>
          <p:cNvSpPr txBox="1"/>
          <p:nvPr/>
        </p:nvSpPr>
        <p:spPr>
          <a:xfrm>
            <a:off x="4669407" y="6066742"/>
            <a:ext cx="2853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選擇</a:t>
            </a:r>
            <a:r>
              <a:rPr lang="en-US" altLang="zh-TW" sz="2400" dirty="0"/>
              <a:t>(selection)</a:t>
            </a:r>
            <a:endParaRPr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5AD0E72-9F41-45C0-B6BB-BD3E1A7D8E04}"/>
              </a:ext>
            </a:extLst>
          </p:cNvPr>
          <p:cNvSpPr txBox="1"/>
          <p:nvPr/>
        </p:nvSpPr>
        <p:spPr>
          <a:xfrm>
            <a:off x="8361585" y="6066742"/>
            <a:ext cx="2853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重複</a:t>
            </a:r>
            <a:r>
              <a:rPr lang="en-US" altLang="zh-TW" sz="2400" dirty="0"/>
              <a:t>(repetition)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3498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流程控制</a:t>
            </a:r>
            <a:r>
              <a:rPr lang="en-US" altLang="zh-TW" dirty="0"/>
              <a:t>(flow control)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這兩類皆屬於 </a:t>
            </a:r>
            <a:r>
              <a:rPr lang="en-US" altLang="zh-TW" dirty="0"/>
              <a:t>Python </a:t>
            </a:r>
            <a:r>
              <a:rPr lang="zh-TW" altLang="en-US" dirty="0"/>
              <a:t>的流程控制命令：</a:t>
            </a:r>
          </a:p>
          <a:p>
            <a:pPr marL="971550" lvl="1" indent="-514350">
              <a:buFont typeface="Wingdings" panose="05000000000000000000" pitchFamily="2" charset="2"/>
              <a:buAutoNum type="circleNumWdWhitePlain"/>
            </a:pPr>
            <a:r>
              <a:rPr lang="zh-TW" altLang="en-US" dirty="0">
                <a:solidFill>
                  <a:schemeClr val="accent4"/>
                </a:solidFill>
              </a:rPr>
              <a:t>條件表達式</a:t>
            </a:r>
            <a:r>
              <a:rPr lang="en-US" altLang="zh-TW" dirty="0"/>
              <a:t>(conditional statement)</a:t>
            </a:r>
            <a:r>
              <a:rPr lang="zh-TW" altLang="en-US" dirty="0"/>
              <a:t>：根據比較或邏輯運算的</a:t>
            </a:r>
            <a:r>
              <a:rPr lang="zh-TW" altLang="en-US" b="1" dirty="0">
                <a:solidFill>
                  <a:schemeClr val="accent4"/>
                </a:solidFill>
              </a:rPr>
              <a:t>條件式</a:t>
            </a:r>
            <a:r>
              <a:rPr lang="zh-TW" altLang="en-US" dirty="0"/>
              <a:t>來決定程式執行的流程</a:t>
            </a:r>
            <a:endParaRPr lang="en-US" altLang="zh-TW" dirty="0"/>
          </a:p>
          <a:p>
            <a:pPr lvl="2"/>
            <a:r>
              <a:rPr lang="en-US" altLang="zh-TW" dirty="0">
                <a:latin typeface="Consolas" panose="020B0609020204030204" pitchFamily="49" charset="0"/>
              </a:rPr>
              <a:t>if ... else ...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76</a:t>
            </a:fld>
            <a:endParaRPr lang="zh-TW" altLang="en-US" dirty="0"/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1199" y="3977004"/>
            <a:ext cx="6612233" cy="2493646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6837028" y="3800213"/>
            <a:ext cx="2030135" cy="282709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026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流程控制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這兩類皆屬於 </a:t>
            </a:r>
            <a:r>
              <a:rPr lang="en-US" altLang="zh-TW" dirty="0"/>
              <a:t>Python </a:t>
            </a:r>
            <a:r>
              <a:rPr lang="zh-TW" altLang="en-US" dirty="0"/>
              <a:t>的流程控制命令：</a:t>
            </a:r>
          </a:p>
          <a:p>
            <a:pPr marL="971550" lvl="1" indent="-514350">
              <a:buFont typeface="Wingdings" panose="05000000000000000000" pitchFamily="2" charset="2"/>
              <a:buAutoNum type="circleNumWdWhitePlain" startAt="2"/>
            </a:pPr>
            <a:r>
              <a:rPr lang="zh-TW" altLang="en-US" dirty="0">
                <a:solidFill>
                  <a:schemeClr val="accent4"/>
                </a:solidFill>
              </a:rPr>
              <a:t>迴圈</a:t>
            </a:r>
            <a:r>
              <a:rPr lang="zh-TW" altLang="en-US" dirty="0"/>
              <a:t>：根據比較或邏輯運算</a:t>
            </a:r>
            <a:r>
              <a:rPr lang="zh-TW" altLang="en-US" b="1" dirty="0">
                <a:solidFill>
                  <a:schemeClr val="accent4"/>
                </a:solidFill>
              </a:rPr>
              <a:t>條件式</a:t>
            </a:r>
            <a:r>
              <a:rPr lang="zh-TW" altLang="en-US" dirty="0"/>
              <a:t>的結果以決定是否重複執行指定的程式碼。</a:t>
            </a:r>
            <a:endParaRPr lang="en-US" altLang="zh-TW" dirty="0"/>
          </a:p>
          <a:p>
            <a:pPr lvl="2"/>
            <a:r>
              <a:rPr lang="en-US" altLang="zh-TW" dirty="0">
                <a:latin typeface="Consolas" panose="020B0609020204030204" pitchFamily="49" charset="0"/>
              </a:rPr>
              <a:t>for ...</a:t>
            </a:r>
          </a:p>
          <a:p>
            <a:pPr lvl="2"/>
            <a:r>
              <a:rPr lang="en-US" altLang="zh-TW" dirty="0">
                <a:latin typeface="Consolas" panose="020B0609020204030204" pitchFamily="49" charset="0"/>
              </a:rPr>
              <a:t>while ...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77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1199" y="3977004"/>
            <a:ext cx="6612233" cy="249364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118832" y="3800213"/>
            <a:ext cx="2234967" cy="282709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91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程式流程控制</a:t>
            </a:r>
            <a:endParaRPr lang="en-US" altLang="zh-TW" dirty="0"/>
          </a:p>
          <a:p>
            <a:r>
              <a:rPr lang="zh-TW" altLang="en-US" dirty="0">
                <a:solidFill>
                  <a:schemeClr val="accent2"/>
                </a:solidFill>
              </a:rPr>
              <a:t>單向條件式</a:t>
            </a:r>
            <a:r>
              <a:rPr lang="en-US" altLang="zh-TW" dirty="0">
                <a:solidFill>
                  <a:schemeClr val="accent2"/>
                </a:solidFill>
              </a:rPr>
              <a:t>(</a:t>
            </a:r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if ...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r>
              <a:rPr lang="zh-TW" altLang="en-US" dirty="0"/>
              <a:t>雙向條件式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 else ...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多向條件式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 </a:t>
            </a:r>
            <a:r>
              <a:rPr lang="en-US" altLang="zh-TW" dirty="0" err="1">
                <a:latin typeface="Consolas" panose="020B0609020204030204" pitchFamily="49" charset="0"/>
              </a:rPr>
              <a:t>elif</a:t>
            </a:r>
            <a:r>
              <a:rPr lang="en-US" altLang="zh-TW" dirty="0">
                <a:latin typeface="Consolas" panose="020B0609020204030204" pitchFamily="49" charset="0"/>
              </a:rPr>
              <a:t> ... else ...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巢狀條件式</a:t>
            </a:r>
            <a:endParaRPr lang="en-US" altLang="zh-TW" dirty="0"/>
          </a:p>
          <a:p>
            <a:r>
              <a:rPr lang="zh-TW" altLang="en-US" dirty="0"/>
              <a:t>結構模式比對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match ... case ...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26642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39423-9120-4334-AFB6-D559A1C4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選擇敘述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336F4A-F29C-4144-8771-79AD76C8D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我們在要做決策的當下，通常手邊會有一些</a:t>
            </a:r>
            <a:r>
              <a:rPr lang="zh-TW" altLang="en-US" dirty="0">
                <a:solidFill>
                  <a:schemeClr val="accent4"/>
                </a:solidFill>
              </a:rPr>
              <a:t>輔助資訊或情報</a:t>
            </a:r>
            <a:r>
              <a:rPr lang="zh-TW" altLang="en-US" dirty="0"/>
              <a:t>，作為未來行動的參考依據。</a:t>
            </a:r>
            <a:endParaRPr lang="en-US" altLang="zh-TW" dirty="0"/>
          </a:p>
          <a:p>
            <a:pPr lvl="1"/>
            <a:r>
              <a:rPr lang="zh-TW" altLang="en-US" dirty="0"/>
              <a:t>一旦這些資訊</a:t>
            </a:r>
            <a:r>
              <a:rPr lang="zh-TW" altLang="en-US" dirty="0">
                <a:solidFill>
                  <a:schemeClr val="accent4"/>
                </a:solidFill>
              </a:rPr>
              <a:t>滿足某個條件</a:t>
            </a:r>
            <a:r>
              <a:rPr lang="zh-TW" altLang="en-US" dirty="0"/>
              <a:t>時，就能依</a:t>
            </a:r>
            <a:r>
              <a:rPr lang="zh-TW" altLang="en-US" dirty="0">
                <a:solidFill>
                  <a:schemeClr val="accent4"/>
                </a:solidFill>
              </a:rPr>
              <a:t>既定的動作</a:t>
            </a:r>
            <a:r>
              <a:rPr lang="zh-TW" altLang="en-US" dirty="0"/>
              <a:t>來進行。</a:t>
            </a:r>
            <a:endParaRPr lang="en-US" altLang="zh-TW" dirty="0"/>
          </a:p>
          <a:p>
            <a:pPr lvl="2"/>
            <a:endParaRPr lang="en-US" altLang="zh-TW" dirty="0"/>
          </a:p>
          <a:p>
            <a:pPr lvl="3"/>
            <a:endParaRPr lang="en-US" altLang="zh-TW" dirty="0"/>
          </a:p>
          <a:p>
            <a:pPr lvl="2"/>
            <a:endParaRPr lang="en-US" altLang="zh-TW" dirty="0"/>
          </a:p>
          <a:p>
            <a:r>
              <a:rPr lang="zh-TW" altLang="en-US" dirty="0"/>
              <a:t>電腦內的每一個運算步驟都要非常明確，不能模糊</a:t>
            </a:r>
            <a:r>
              <a:rPr lang="en-US" altLang="zh-TW" dirty="0"/>
              <a:t>(ambiguous)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作為條件判斷的資訊通常是可以</a:t>
            </a:r>
            <a:r>
              <a:rPr lang="zh-TW" altLang="en-US" dirty="0">
                <a:solidFill>
                  <a:schemeClr val="accent4"/>
                </a:solidFill>
              </a:rPr>
              <a:t>量化</a:t>
            </a:r>
            <a:r>
              <a:rPr lang="zh-TW" altLang="en-US" dirty="0"/>
              <a:t>，或是有</a:t>
            </a:r>
            <a:r>
              <a:rPr lang="zh-TW" altLang="en-US" dirty="0">
                <a:solidFill>
                  <a:schemeClr val="accent4"/>
                </a:solidFill>
              </a:rPr>
              <a:t>明確定義</a:t>
            </a:r>
            <a:r>
              <a:rPr lang="zh-TW" altLang="en-US" dirty="0"/>
              <a:t>的具體敘述。</a:t>
            </a:r>
            <a:endParaRPr lang="en-US" altLang="zh-TW" dirty="0"/>
          </a:p>
          <a:p>
            <a:pPr lvl="1"/>
            <a:r>
              <a:rPr lang="zh-TW" altLang="en-US" dirty="0"/>
              <a:t>在條件式中大多有</a:t>
            </a:r>
            <a:r>
              <a:rPr lang="zh-TW" altLang="en-US" dirty="0">
                <a:solidFill>
                  <a:schemeClr val="accent4"/>
                </a:solidFill>
              </a:rPr>
              <a:t>比較運算子</a:t>
            </a:r>
            <a:r>
              <a:rPr lang="zh-TW" altLang="en-US" dirty="0"/>
              <a:t>或</a:t>
            </a:r>
            <a:r>
              <a:rPr lang="zh-TW" altLang="en-US" dirty="0">
                <a:solidFill>
                  <a:schemeClr val="accent4"/>
                </a:solidFill>
              </a:rPr>
              <a:t>關係運算子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071196-2BBF-4E53-BFF2-D17CB70E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79</a:t>
            </a:fld>
            <a:endParaRPr lang="zh-TW" altLang="en-US" dirty="0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2E34DFA1-A14C-4170-9107-B6DF34660D4F}"/>
              </a:ext>
            </a:extLst>
          </p:cNvPr>
          <p:cNvSpPr/>
          <p:nvPr/>
        </p:nvSpPr>
        <p:spPr>
          <a:xfrm>
            <a:off x="2203155" y="3567223"/>
            <a:ext cx="9664995" cy="786809"/>
          </a:xfrm>
          <a:prstGeom prst="wedgeRoundRectCallout">
            <a:avLst>
              <a:gd name="adj1" fmla="val -27324"/>
              <a:gd name="adj2" fmla="val -79392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條件判斷只有</a:t>
            </a:r>
            <a:r>
              <a:rPr lang="zh-TW" altLang="en-US" sz="2400" dirty="0">
                <a:solidFill>
                  <a:srgbClr val="FFFF00"/>
                </a:solidFill>
              </a:rPr>
              <a:t>真、假</a:t>
            </a:r>
            <a:r>
              <a:rPr lang="zh-TW" altLang="en-US" sz="2400" dirty="0"/>
              <a:t>兩種結果（即</a:t>
            </a:r>
            <a:r>
              <a:rPr lang="zh-TW" altLang="en-US" sz="2400" dirty="0">
                <a:solidFill>
                  <a:srgbClr val="FFFF00"/>
                </a:solidFill>
              </a:rPr>
              <a:t>布林值</a:t>
            </a:r>
            <a:r>
              <a:rPr lang="zh-TW" altLang="en-US" sz="2400" dirty="0"/>
              <a:t>），用以代表條件是否滿足。</a:t>
            </a:r>
          </a:p>
        </p:txBody>
      </p:sp>
    </p:spTree>
    <p:extLst>
      <p:ext uri="{BB962C8B-B14F-4D97-AF65-F5344CB8AC3E}">
        <p14:creationId xmlns:p14="http://schemas.microsoft.com/office/powerpoint/2010/main" val="125467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FC4244-8498-42D4-B9D3-8BD0EBEE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F71963-3815-4276-86BB-A581E391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80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BBD46DC-805B-40BE-B97E-7845CA08E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134" y="1005837"/>
            <a:ext cx="6599732" cy="368622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D49F70E-AD2B-4E54-BD99-662AA61A6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437" y="4844024"/>
            <a:ext cx="8867126" cy="180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26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37A32B-E756-49E6-84A3-F438D4FF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單向條件式（</a:t>
            </a:r>
            <a:r>
              <a:rPr lang="en-US" altLang="zh-TW" dirty="0">
                <a:latin typeface="Consolas" panose="020B0609020204030204" pitchFamily="49" charset="0"/>
              </a:rPr>
              <a:t>if ...</a:t>
            </a:r>
            <a:r>
              <a:rPr lang="zh-TW" altLang="en-US" dirty="0"/>
              <a:t>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0BDD31-DA6A-488C-9BC6-6A25A7078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這是選擇敘述中最基本的型態，語法為：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dirty="0">
                <a:latin typeface="Consolas" panose="020B0609020204030204" pitchFamily="49" charset="0"/>
              </a:rPr>
              <a:t>if (</a:t>
            </a:r>
            <a:r>
              <a:rPr lang="zh-TW" altLang="en-US" dirty="0">
                <a:latin typeface="Consolas" panose="020B0609020204030204" pitchFamily="49" charset="0"/>
              </a:rPr>
              <a:t>條件式</a:t>
            </a:r>
            <a:r>
              <a:rPr lang="en-US" altLang="zh-TW" dirty="0">
                <a:latin typeface="Consolas" panose="020B0609020204030204" pitchFamily="49" charset="0"/>
              </a:rPr>
              <a:t>):</a:t>
            </a:r>
          </a:p>
          <a:p>
            <a:pPr marL="457200" lvl="1" indent="0">
              <a:buNone/>
            </a:pPr>
            <a:r>
              <a:rPr lang="en-US" altLang="zh-TW" dirty="0"/>
              <a:t>    </a:t>
            </a:r>
            <a:r>
              <a:rPr lang="zh-TW" altLang="en-US" dirty="0"/>
              <a:t>程式區塊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CCC9CC-CD43-4A65-9F57-98A4FAF0F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81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BAA43F6-9FE0-4F8D-B014-75CFC1036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596" y="3795823"/>
            <a:ext cx="4695929" cy="197723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11E33A8-5011-4D8D-869C-D8F0736C1570}"/>
              </a:ext>
            </a:extLst>
          </p:cNvPr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30465" y="2559685"/>
            <a:ext cx="5231895" cy="3955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584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7F9B7E-0577-4B8D-9CC8-A13DC1271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if ...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3FAD14-A99A-46E4-8821-3BCDB1E5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程式區塊內一般會有數行程式碼，若只有單行也可與 </a:t>
            </a:r>
            <a:r>
              <a:rPr lang="en-US" altLang="zh-TW" dirty="0">
                <a:latin typeface="Consolas" panose="020B0609020204030204" pitchFamily="49" charset="0"/>
              </a:rPr>
              <a:t>if</a:t>
            </a:r>
            <a:r>
              <a:rPr lang="zh-TW" altLang="en-US" dirty="0"/>
              <a:t> 敘述合併成一行。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29C755-4083-46B2-A19D-26924159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82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44558A2-87EA-4EA6-9545-8F02A001CBEE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30465" y="2559685"/>
            <a:ext cx="5231895" cy="395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04FF579-9783-4299-AFFB-64FD532A6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98" y="3949012"/>
            <a:ext cx="5754477" cy="117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9332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F0DB86-D76D-4E2F-BBA0-B587C5F83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有時會看到這種寫法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89616A-260C-4087-BD2D-74A29AA2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83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A1C1C77-8A6D-494D-93A3-74D560DE0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386" y="2052699"/>
            <a:ext cx="5661155" cy="368888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9D020E0-3948-491C-8BB3-6E6D16C8E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074" y="3274347"/>
            <a:ext cx="2941853" cy="1233681"/>
          </a:xfrm>
          <a:prstGeom prst="rect">
            <a:avLst/>
          </a:prstGeom>
        </p:spPr>
      </p:pic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3C78161A-7B18-487F-A8CB-0254C5B8BFEF}"/>
              </a:ext>
            </a:extLst>
          </p:cNvPr>
          <p:cNvSpPr/>
          <p:nvPr/>
        </p:nvSpPr>
        <p:spPr>
          <a:xfrm>
            <a:off x="1702386" y="5932967"/>
            <a:ext cx="1721298" cy="625106"/>
          </a:xfrm>
          <a:prstGeom prst="wedgeRoundRectCallout">
            <a:avLst>
              <a:gd name="adj1" fmla="val 42791"/>
              <a:gd name="adj2" fmla="val -110994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往內縮？</a:t>
            </a:r>
          </a:p>
        </p:txBody>
      </p:sp>
    </p:spTree>
    <p:extLst>
      <p:ext uri="{BB962C8B-B14F-4D97-AF65-F5344CB8AC3E}">
        <p14:creationId xmlns:p14="http://schemas.microsoft.com/office/powerpoint/2010/main" val="134024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3B11F9-96E4-4A58-8346-7902D0E4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縮排</a:t>
            </a:r>
            <a:r>
              <a:rPr lang="en-US" altLang="zh-TW" dirty="0"/>
              <a:t>(indentation)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ADD29E-042E-4AAA-B689-C8D6329A5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比較底下 </a:t>
            </a:r>
            <a:r>
              <a:rPr lang="en-US" altLang="zh-TW" dirty="0"/>
              <a:t>C </a:t>
            </a:r>
            <a:r>
              <a:rPr lang="zh-TW" altLang="en-US" dirty="0"/>
              <a:t>語言的程式碼與我們想像中的 </a:t>
            </a:r>
            <a:r>
              <a:rPr lang="en-US" altLang="zh-TW" dirty="0"/>
              <a:t>Python </a:t>
            </a:r>
            <a:r>
              <a:rPr lang="zh-TW" altLang="en-US" dirty="0"/>
              <a:t>程式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654B8C-B5C5-4644-B3A8-8BE59E2E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84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663C7FE-F44D-48C4-B631-0F2DC90B1A4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51650" y="3267782"/>
            <a:ext cx="7888699" cy="24950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79733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397FEA-93B8-4B65-9567-40026392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縮排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3D0412-3951-4D37-91BA-BE4D541C6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縮排是把程式碼依照結構作整理，使其有</a:t>
            </a:r>
            <a:r>
              <a:rPr lang="zh-TW" altLang="en-US" dirty="0">
                <a:solidFill>
                  <a:schemeClr val="accent4"/>
                </a:solidFill>
              </a:rPr>
              <a:t>更高的可讀性</a:t>
            </a:r>
            <a:r>
              <a:rPr lang="zh-TW" altLang="en-US" dirty="0"/>
              <a:t>。</a:t>
            </a:r>
          </a:p>
          <a:p>
            <a:pPr lvl="1"/>
            <a:r>
              <a:rPr lang="zh-TW" altLang="en-US" dirty="0"/>
              <a:t>大部分程式語言</a:t>
            </a:r>
            <a:r>
              <a:rPr lang="en-US" altLang="zh-TW" dirty="0"/>
              <a:t>(e.g., C\C++, Java)</a:t>
            </a:r>
            <a:r>
              <a:rPr lang="zh-TW" altLang="en-US" dirty="0"/>
              <a:t>是以一對大括號「</a:t>
            </a:r>
            <a:r>
              <a:rPr lang="en-US" altLang="zh-TW" dirty="0">
                <a:latin typeface="Consolas" panose="020B0609020204030204" pitchFamily="49" charset="0"/>
              </a:rPr>
              <a:t>{}</a:t>
            </a:r>
            <a:r>
              <a:rPr lang="zh-TW" altLang="en-US" dirty="0"/>
              <a:t>」來表示程式區塊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B30FF0-EA5B-4305-9DDC-86C522E9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85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6398ABC-B8FE-4E5E-BFF2-E9CB989B1DD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2131" y="3778147"/>
            <a:ext cx="6042779" cy="1911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2A5513F-044A-415D-9B96-0E1452063FE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32054" y="3778147"/>
            <a:ext cx="5321105" cy="18871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20A04C93-8A6A-4D99-9693-8D6300440FA4}"/>
              </a:ext>
            </a:extLst>
          </p:cNvPr>
          <p:cNvSpPr/>
          <p:nvPr/>
        </p:nvSpPr>
        <p:spPr>
          <a:xfrm>
            <a:off x="3324640" y="5800725"/>
            <a:ext cx="5967966" cy="914400"/>
          </a:xfrm>
          <a:prstGeom prst="wedgeRoundRectCallout">
            <a:avLst>
              <a:gd name="adj1" fmla="val 56311"/>
              <a:gd name="adj2" fmla="val -49128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對電腦來說，是否縮排不影響執行結果，畢竟縮排是方便我們閱讀而使用。</a:t>
            </a:r>
          </a:p>
        </p:txBody>
      </p:sp>
    </p:spTree>
    <p:extLst>
      <p:ext uri="{BB962C8B-B14F-4D97-AF65-F5344CB8AC3E}">
        <p14:creationId xmlns:p14="http://schemas.microsoft.com/office/powerpoint/2010/main" val="243218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9D15C1-F169-459F-A944-A3C6274A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 </a:t>
            </a:r>
            <a:r>
              <a:rPr lang="zh-TW" altLang="en-US" dirty="0"/>
              <a:t>的縮排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07038E-C88F-4718-92DF-EEAD67048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Python </a:t>
            </a:r>
            <a:r>
              <a:rPr lang="zh-TW" altLang="en-US" dirty="0"/>
              <a:t>以</a:t>
            </a:r>
            <a:r>
              <a:rPr lang="zh-TW" altLang="en-US" dirty="0">
                <a:solidFill>
                  <a:schemeClr val="accent4"/>
                </a:solidFill>
              </a:rPr>
              <a:t>冒號 </a:t>
            </a:r>
            <a:r>
              <a:rPr lang="en-US" altLang="zh-TW" dirty="0"/>
              <a:t>+ </a:t>
            </a:r>
            <a:r>
              <a:rPr lang="zh-TW" altLang="en-US" dirty="0">
                <a:solidFill>
                  <a:schemeClr val="accent4"/>
                </a:solidFill>
              </a:rPr>
              <a:t>縮排</a:t>
            </a:r>
            <a:r>
              <a:rPr lang="zh-TW" altLang="en-US" dirty="0"/>
              <a:t>來表示程式區塊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ACBB54-7717-474D-ACDE-646DDDC64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86</a:t>
            </a:fld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9727A69-BCCE-4261-8282-5E8AEFE45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832" y="3042171"/>
            <a:ext cx="8306335" cy="299602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33DBDBA-4B8B-42F1-89DE-C58503051E14}"/>
              </a:ext>
            </a:extLst>
          </p:cNvPr>
          <p:cNvSpPr/>
          <p:nvPr/>
        </p:nvSpPr>
        <p:spPr>
          <a:xfrm>
            <a:off x="3288157" y="4874131"/>
            <a:ext cx="224416" cy="537882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B3A7B7-DE76-4F35-939B-321423910CED}"/>
              </a:ext>
            </a:extLst>
          </p:cNvPr>
          <p:cNvSpPr/>
          <p:nvPr/>
        </p:nvSpPr>
        <p:spPr>
          <a:xfrm>
            <a:off x="3523054" y="4874131"/>
            <a:ext cx="224416" cy="537882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A9C6C2-A9CF-4FBD-A9B2-0F602E47BEC8}"/>
              </a:ext>
            </a:extLst>
          </p:cNvPr>
          <p:cNvSpPr/>
          <p:nvPr/>
        </p:nvSpPr>
        <p:spPr>
          <a:xfrm>
            <a:off x="3752138" y="4874131"/>
            <a:ext cx="224416" cy="537882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8339B2-7F98-4190-B42F-600483F116A8}"/>
              </a:ext>
            </a:extLst>
          </p:cNvPr>
          <p:cNvSpPr/>
          <p:nvPr/>
        </p:nvSpPr>
        <p:spPr>
          <a:xfrm>
            <a:off x="3976188" y="4874131"/>
            <a:ext cx="224416" cy="537882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形圖說文字 9">
            <a:extLst>
              <a:ext uri="{FF2B5EF4-FFF2-40B4-BE49-F238E27FC236}">
                <a16:creationId xmlns:a16="http://schemas.microsoft.com/office/drawing/2014/main" id="{EEEE93ED-0272-4FF0-B367-7C70CE1034DE}"/>
              </a:ext>
            </a:extLst>
          </p:cNvPr>
          <p:cNvSpPr/>
          <p:nvPr/>
        </p:nvSpPr>
        <p:spPr>
          <a:xfrm>
            <a:off x="2175296" y="5849310"/>
            <a:ext cx="1459966" cy="683879"/>
          </a:xfrm>
          <a:prstGeom prst="wedgeEllipseCallout">
            <a:avLst>
              <a:gd name="adj1" fmla="val 44024"/>
              <a:gd name="adj2" fmla="val -9748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縮排</a:t>
            </a:r>
          </a:p>
        </p:txBody>
      </p:sp>
    </p:spTree>
    <p:extLst>
      <p:ext uri="{BB962C8B-B14F-4D97-AF65-F5344CB8AC3E}">
        <p14:creationId xmlns:p14="http://schemas.microsoft.com/office/powerpoint/2010/main" val="68737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C7A93E-3465-4FE6-88D7-7925C0F9F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 </a:t>
            </a:r>
            <a:r>
              <a:rPr lang="zh-TW" altLang="en-US" dirty="0"/>
              <a:t>的縮排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D03F32-A81D-4F6D-AC0B-638E28A55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縮排時留意兩個小地方：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4"/>
                </a:solidFill>
              </a:rPr>
              <a:t>內縮數量</a:t>
            </a:r>
            <a:r>
              <a:rPr lang="zh-TW" altLang="en-US" dirty="0"/>
              <a:t>：雖然根據</a:t>
            </a:r>
            <a:r>
              <a:rPr lang="en-US" altLang="zh-TW" dirty="0"/>
              <a:t>《PEP8》</a:t>
            </a:r>
            <a:r>
              <a:rPr lang="zh-TW" altLang="en-US" dirty="0"/>
              <a:t>的規定，使用四個空白作為內縮標準，但其實理論上想要用幾個都可以，只是大多預設為</a:t>
            </a:r>
            <a:r>
              <a:rPr lang="zh-TW" altLang="en-US" dirty="0">
                <a:solidFill>
                  <a:schemeClr val="accent4"/>
                </a:solidFill>
              </a:rPr>
              <a:t>四個空白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4"/>
                </a:solidFill>
              </a:rPr>
              <a:t>內縮方式</a:t>
            </a:r>
            <a:r>
              <a:rPr lang="zh-TW" altLang="en-US" dirty="0"/>
              <a:t>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EBE20-3339-4FA1-A69B-4F70079D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87</a:t>
            </a:fld>
            <a:endParaRPr lang="zh-TW" altLang="en-US" dirty="0"/>
          </a:p>
        </p:txBody>
      </p:sp>
      <p:pic>
        <p:nvPicPr>
          <p:cNvPr id="10" name="Picture 2" descr="「keyboard」的圖片搜尋結果">
            <a:extLst>
              <a:ext uri="{FF2B5EF4-FFF2-40B4-BE49-F238E27FC236}">
                <a16:creationId xmlns:a16="http://schemas.microsoft.com/office/drawing/2014/main" id="{B4D1D669-D93C-4D93-ABCA-7390E2E89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15809" y="3800598"/>
            <a:ext cx="7056865" cy="294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橢圓 10">
            <a:extLst>
              <a:ext uri="{FF2B5EF4-FFF2-40B4-BE49-F238E27FC236}">
                <a16:creationId xmlns:a16="http://schemas.microsoft.com/office/drawing/2014/main" id="{6BCD86D6-FA90-48FB-8BA2-7696D464C202}"/>
              </a:ext>
            </a:extLst>
          </p:cNvPr>
          <p:cNvSpPr/>
          <p:nvPr/>
        </p:nvSpPr>
        <p:spPr>
          <a:xfrm>
            <a:off x="5350017" y="5796714"/>
            <a:ext cx="3072064" cy="922421"/>
          </a:xfrm>
          <a:prstGeom prst="ellipse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D9B3AA6-FD6E-4689-930F-02E12BD4CD6D}"/>
              </a:ext>
            </a:extLst>
          </p:cNvPr>
          <p:cNvSpPr txBox="1"/>
          <p:nvPr/>
        </p:nvSpPr>
        <p:spPr>
          <a:xfrm>
            <a:off x="8262390" y="5442316"/>
            <a:ext cx="19953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×4</a:t>
            </a:r>
            <a:endParaRPr lang="zh-TW" altLang="en-US" sz="10000" b="1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335ED474-5675-4D80-88AF-41F034955117}"/>
              </a:ext>
            </a:extLst>
          </p:cNvPr>
          <p:cNvSpPr/>
          <p:nvPr/>
        </p:nvSpPr>
        <p:spPr>
          <a:xfrm>
            <a:off x="3655434" y="4598465"/>
            <a:ext cx="764034" cy="60983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C9EF368-07FF-4DC9-AF3E-29B3C80C788E}"/>
              </a:ext>
            </a:extLst>
          </p:cNvPr>
          <p:cNvSpPr txBox="1"/>
          <p:nvPr/>
        </p:nvSpPr>
        <p:spPr>
          <a:xfrm>
            <a:off x="4468080" y="4096481"/>
            <a:ext cx="207693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×1</a:t>
            </a:r>
            <a:endParaRPr lang="zh-TW" altLang="en-US" sz="100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969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用哪一種有差嗎？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57374"/>
            <a:ext cx="10515600" cy="4613275"/>
          </a:xfrm>
        </p:spPr>
        <p:txBody>
          <a:bodyPr>
            <a:normAutofit/>
          </a:bodyPr>
          <a:lstStyle/>
          <a:p>
            <a:r>
              <a:rPr lang="en-US" altLang="zh-TW" dirty="0"/>
              <a:t>《Tab》*1</a:t>
            </a:r>
          </a:p>
          <a:p>
            <a:pPr lvl="1"/>
            <a:r>
              <a:rPr lang="zh-TW" altLang="en-US" dirty="0"/>
              <a:t>優點：</a:t>
            </a:r>
            <a:r>
              <a:rPr lang="en-US" altLang="zh-TW" dirty="0"/>
              <a:t>tab </a:t>
            </a:r>
            <a:r>
              <a:rPr lang="zh-TW" altLang="en-US" dirty="0"/>
              <a:t>鍵縮排的速度快、整齊、檔案小</a:t>
            </a:r>
          </a:p>
          <a:p>
            <a:pPr lvl="1"/>
            <a:r>
              <a:rPr lang="zh-TW" altLang="en-US" dirty="0"/>
              <a:t>缺點：不同平台的編輯器將 </a:t>
            </a:r>
            <a:r>
              <a:rPr lang="en-US" altLang="zh-TW" dirty="0"/>
              <a:t>Tab </a:t>
            </a:r>
            <a:r>
              <a:rPr lang="zh-TW" altLang="en-US" dirty="0"/>
              <a:t>字元視為不同長度，用不同編輯器打開，可能造成存取出錯、排版亂掉、檔案合併上的困難。</a:t>
            </a:r>
          </a:p>
          <a:p>
            <a:pPr lvl="2"/>
            <a:r>
              <a:rPr lang="en-US" altLang="zh-TW" dirty="0"/>
              <a:t>e.g., Unix </a:t>
            </a:r>
            <a:r>
              <a:rPr lang="zh-TW" altLang="en-US" dirty="0"/>
              <a:t>是 </a:t>
            </a:r>
            <a:r>
              <a:rPr lang="en-US" altLang="zh-TW" dirty="0"/>
              <a:t>8 </a:t>
            </a:r>
            <a:r>
              <a:rPr lang="zh-TW" altLang="en-US" dirty="0"/>
              <a:t>個字元，</a:t>
            </a:r>
            <a:r>
              <a:rPr lang="en-US" altLang="zh-TW" dirty="0"/>
              <a:t>Windows</a:t>
            </a:r>
            <a:r>
              <a:rPr lang="zh-TW" altLang="en-US" dirty="0"/>
              <a:t>、</a:t>
            </a:r>
            <a:r>
              <a:rPr lang="en-US" altLang="zh-TW" dirty="0"/>
              <a:t>macOS </a:t>
            </a:r>
            <a:r>
              <a:rPr lang="zh-TW" altLang="en-US" dirty="0"/>
              <a:t>是 </a:t>
            </a:r>
            <a:r>
              <a:rPr lang="en-US" altLang="zh-TW" dirty="0"/>
              <a:t>4 </a:t>
            </a:r>
            <a:r>
              <a:rPr lang="zh-TW" altLang="en-US" dirty="0"/>
              <a:t>個字元</a:t>
            </a:r>
            <a:endParaRPr lang="en-US" altLang="zh-TW" dirty="0"/>
          </a:p>
          <a:p>
            <a:pPr lvl="3"/>
            <a:endParaRPr lang="zh-TW" altLang="en-US" dirty="0"/>
          </a:p>
          <a:p>
            <a:r>
              <a:rPr lang="en-US" altLang="zh-TW" dirty="0"/>
              <a:t>《Space》*4</a:t>
            </a:r>
          </a:p>
          <a:p>
            <a:pPr lvl="1"/>
            <a:r>
              <a:rPr lang="zh-TW" altLang="en-US" dirty="0"/>
              <a:t>優點：不同平台的解讀有一致性</a:t>
            </a:r>
          </a:p>
          <a:p>
            <a:pPr lvl="1"/>
            <a:r>
              <a:rPr lang="zh-TW" altLang="en-US" dirty="0"/>
              <a:t>缺點：鍛鍊手指肌肉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68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B944D0-5BF1-4B07-BB4A-348186434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空白鍵 </a:t>
            </a:r>
            <a:r>
              <a:rPr lang="en-US" altLang="zh-TW" dirty="0"/>
              <a:t>vs Tab</a:t>
            </a:r>
            <a:r>
              <a:rPr lang="zh-TW" altLang="en-US" dirty="0"/>
              <a:t>鍵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14015F-B297-4749-9A94-806C66D77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彼此看不順眼的橋段，也曾被美劇「矽谷群瞎傳」</a:t>
            </a:r>
            <a:r>
              <a:rPr lang="en-US" altLang="zh-TW" dirty="0"/>
              <a:t>(Silicon Valley)</a:t>
            </a:r>
            <a:r>
              <a:rPr lang="zh-TW" altLang="en-US" dirty="0"/>
              <a:t>作為素材搬上螢幕。</a:t>
            </a:r>
            <a:endParaRPr lang="en-US" altLang="zh-TW" dirty="0"/>
          </a:p>
          <a:p>
            <a:pPr lvl="1"/>
            <a:r>
              <a:rPr lang="zh-TW" altLang="en-US" dirty="0"/>
              <a:t>劇中男主角因為太介意曖昧對象使用空白鍵縮排，兩人因此鬧翻。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2BDEAA-3FDC-4F01-A23F-31C9238C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89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0147BC2-213B-45EF-82A6-645137693B8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7592" y="3825984"/>
            <a:ext cx="5066208" cy="264466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8ADA668-13A5-4998-9947-11584167202B}"/>
              </a:ext>
            </a:extLst>
          </p:cNvPr>
          <p:cNvSpPr txBox="1"/>
          <p:nvPr/>
        </p:nvSpPr>
        <p:spPr>
          <a:xfrm>
            <a:off x="6321972" y="6515100"/>
            <a:ext cx="5066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https://www.bnext.com.tw/article/44961/developers-use-spaces-make-money-use-tabs</a:t>
            </a:r>
            <a:endParaRPr lang="zh-TW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3735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https://www.inside.com.tw/wp-content/uploads/2017/06/080919_zDVE_2720166-1024x731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66503" y="192523"/>
            <a:ext cx="8258995" cy="610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9809" y="6297817"/>
            <a:ext cx="4952381" cy="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678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media.bnextmedia.com.tw/image/album/2017-06/img-1497595542-59605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1991" y="321947"/>
            <a:ext cx="7808019" cy="585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0285" y="6253911"/>
            <a:ext cx="5371429" cy="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183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https://www.inside.com.tw/wp-content/uploads/2017/06/salary_graph_devtype-1-1024x717-1-1024x717.png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90149" y="170532"/>
            <a:ext cx="8211703" cy="6069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0285" y="6310814"/>
            <a:ext cx="5371429" cy="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4459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分析結果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整體而言，使用</a:t>
            </a:r>
            <a:r>
              <a:rPr lang="en-US" altLang="zh-TW" dirty="0"/>
              <a:t>《Space》</a:t>
            </a:r>
            <a:r>
              <a:rPr lang="zh-TW" altLang="en-US" dirty="0"/>
              <a:t>開發者的薪水較使用</a:t>
            </a:r>
            <a:r>
              <a:rPr lang="en-US" altLang="zh-TW" dirty="0"/>
              <a:t>《Tab》</a:t>
            </a:r>
            <a:r>
              <a:rPr lang="zh-TW" altLang="en-US" dirty="0"/>
              <a:t>的高出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93</a:t>
            </a:fld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992426" y="2949292"/>
            <a:ext cx="6207148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8.6%</a:t>
            </a:r>
            <a:endParaRPr lang="zh-TW" altLang="en-US" sz="20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81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Soft-Tab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94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8101" y="1453825"/>
            <a:ext cx="4283502" cy="1904762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6927" y="2513323"/>
            <a:ext cx="7921749" cy="423196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206019" y="1727918"/>
            <a:ext cx="3297006" cy="524831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140937" y="4246789"/>
            <a:ext cx="1854985" cy="26034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6220691" y="5004262"/>
            <a:ext cx="2474422" cy="498763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肘形接點 9"/>
          <p:cNvCxnSpPr>
            <a:stCxn id="7" idx="2"/>
            <a:endCxn id="8" idx="1"/>
          </p:cNvCxnSpPr>
          <p:nvPr/>
        </p:nvCxnSpPr>
        <p:spPr>
          <a:xfrm rot="16200000" flipH="1">
            <a:off x="2935622" y="3171648"/>
            <a:ext cx="2124214" cy="286415"/>
          </a:xfrm>
          <a:prstGeom prst="bentConnector2">
            <a:avLst/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接點 15"/>
          <p:cNvCxnSpPr>
            <a:stCxn id="14" idx="2"/>
            <a:endCxn id="9" idx="0"/>
          </p:cNvCxnSpPr>
          <p:nvPr/>
        </p:nvCxnSpPr>
        <p:spPr>
          <a:xfrm rot="16200000" flipH="1">
            <a:off x="6141432" y="3687792"/>
            <a:ext cx="1862628" cy="770312"/>
          </a:xfrm>
          <a:prstGeom prst="bentConnector3">
            <a:avLst>
              <a:gd name="adj1" fmla="val 50000"/>
            </a:avLst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400800" y="2881287"/>
            <a:ext cx="573579" cy="26034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肘形接點 16"/>
          <p:cNvCxnSpPr>
            <a:stCxn id="8" idx="3"/>
            <a:endCxn id="14" idx="1"/>
          </p:cNvCxnSpPr>
          <p:nvPr/>
        </p:nvCxnSpPr>
        <p:spPr>
          <a:xfrm flipV="1">
            <a:off x="5995922" y="3011461"/>
            <a:ext cx="404878" cy="1365502"/>
          </a:xfrm>
          <a:prstGeom prst="bentConnector3">
            <a:avLst>
              <a:gd name="adj1" fmla="val 50000"/>
            </a:avLst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58150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程式流程控制</a:t>
            </a:r>
            <a:endParaRPr lang="en-US" altLang="zh-TW" dirty="0"/>
          </a:p>
          <a:p>
            <a:r>
              <a:rPr lang="zh-TW" altLang="en-US" dirty="0"/>
              <a:t>單向條件式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chemeClr val="accent2"/>
                </a:solidFill>
              </a:rPr>
              <a:t>雙向條件式</a:t>
            </a:r>
            <a:r>
              <a:rPr lang="en-US" altLang="zh-TW" dirty="0">
                <a:solidFill>
                  <a:schemeClr val="accent2"/>
                </a:solidFill>
              </a:rPr>
              <a:t>(</a:t>
            </a:r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if ... else ...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r>
              <a:rPr lang="zh-TW" altLang="en-US" dirty="0"/>
              <a:t>多向條件式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 </a:t>
            </a:r>
            <a:r>
              <a:rPr lang="en-US" altLang="zh-TW" dirty="0" err="1">
                <a:latin typeface="Consolas" panose="020B0609020204030204" pitchFamily="49" charset="0"/>
              </a:rPr>
              <a:t>elif</a:t>
            </a:r>
            <a:r>
              <a:rPr lang="en-US" altLang="zh-TW" dirty="0">
                <a:latin typeface="Consolas" panose="020B0609020204030204" pitchFamily="49" charset="0"/>
              </a:rPr>
              <a:t> ... else ...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巢狀條件式</a:t>
            </a:r>
            <a:endParaRPr lang="en-US" altLang="zh-TW" dirty="0"/>
          </a:p>
          <a:p>
            <a:r>
              <a:rPr lang="zh-TW" altLang="en-US" dirty="0"/>
              <a:t>結構模式比對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match ... case ...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84609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BD4107-B09A-4935-84DE-E1D2CE5F9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雙向條件式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 else ...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C7480F-0E42-40D3-AB28-FAADDA411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總感覺只有</a:t>
            </a:r>
            <a:r>
              <a:rPr lang="zh-TW" altLang="en-US" dirty="0">
                <a:latin typeface="Consolas" panose="020B0609020204030204" pitchFamily="49" charset="0"/>
              </a:rPr>
              <a:t> </a:t>
            </a:r>
            <a:r>
              <a:rPr lang="en-US" altLang="zh-TW" dirty="0">
                <a:latin typeface="Consolas" panose="020B0609020204030204" pitchFamily="49" charset="0"/>
              </a:rPr>
              <a:t>if ... </a:t>
            </a:r>
            <a:r>
              <a:rPr lang="zh-TW" altLang="en-US" dirty="0"/>
              <a:t>少了點甚麼？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99DA58-A7F4-4B5A-BDE9-548AC4C4A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96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AF38163-2EF2-4708-94FD-44C934B3B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253" y="3125789"/>
            <a:ext cx="5847493" cy="2462102"/>
          </a:xfrm>
          <a:prstGeom prst="rect">
            <a:avLst/>
          </a:prstGeom>
        </p:spPr>
      </p:pic>
      <p:sp>
        <p:nvSpPr>
          <p:cNvPr id="6" name="橢圓形圖說文字 7">
            <a:extLst>
              <a:ext uri="{FF2B5EF4-FFF2-40B4-BE49-F238E27FC236}">
                <a16:creationId xmlns:a16="http://schemas.microsoft.com/office/drawing/2014/main" id="{0349AB07-4BAC-4053-B3E9-62F84A6118D1}"/>
              </a:ext>
            </a:extLst>
          </p:cNvPr>
          <p:cNvSpPr/>
          <p:nvPr/>
        </p:nvSpPr>
        <p:spPr>
          <a:xfrm>
            <a:off x="7867994" y="2982841"/>
            <a:ext cx="2563865" cy="1506070"/>
          </a:xfrm>
          <a:prstGeom prst="wedgeEllipseCallout">
            <a:avLst>
              <a:gd name="adj1" fmla="val -44034"/>
              <a:gd name="adj2" fmla="val 4747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條件成立時就執行</a:t>
            </a:r>
          </a:p>
        </p:txBody>
      </p:sp>
      <p:sp>
        <p:nvSpPr>
          <p:cNvPr id="7" name="橢圓形圖說文字 8">
            <a:extLst>
              <a:ext uri="{FF2B5EF4-FFF2-40B4-BE49-F238E27FC236}">
                <a16:creationId xmlns:a16="http://schemas.microsoft.com/office/drawing/2014/main" id="{4B6073AE-0EFB-44E4-A38A-09AE74B42746}"/>
              </a:ext>
            </a:extLst>
          </p:cNvPr>
          <p:cNvSpPr/>
          <p:nvPr/>
        </p:nvSpPr>
        <p:spPr>
          <a:xfrm>
            <a:off x="9215017" y="4206758"/>
            <a:ext cx="2203873" cy="1381133"/>
          </a:xfrm>
          <a:prstGeom prst="wedgeEllipseCallout">
            <a:avLst>
              <a:gd name="adj1" fmla="val -51020"/>
              <a:gd name="adj2" fmla="val -39525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那不成立呢？</a:t>
            </a:r>
          </a:p>
        </p:txBody>
      </p:sp>
    </p:spTree>
    <p:extLst>
      <p:ext uri="{BB962C8B-B14F-4D97-AF65-F5344CB8AC3E}">
        <p14:creationId xmlns:p14="http://schemas.microsoft.com/office/powerpoint/2010/main" val="8948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33473D-4555-459B-972A-06E6AFEE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雙向條件式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D5E5B3-2817-462A-B576-65A411CF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A070191-6EC2-46BD-879C-FD5BC8FFEBEE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26078" y="422385"/>
            <a:ext cx="6565922" cy="324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931AE4D-51CD-4F11-A469-9821DC38B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785" y="2938580"/>
            <a:ext cx="5106360" cy="3146024"/>
          </a:xfrm>
          <a:prstGeom prst="rect">
            <a:avLst/>
          </a:prstGeom>
        </p:spPr>
      </p:pic>
      <p:sp>
        <p:nvSpPr>
          <p:cNvPr id="9" name="橢圓形圖說文字 7">
            <a:extLst>
              <a:ext uri="{FF2B5EF4-FFF2-40B4-BE49-F238E27FC236}">
                <a16:creationId xmlns:a16="http://schemas.microsoft.com/office/drawing/2014/main" id="{6605EBDB-8261-4B5A-86FB-B007B3126ADD}"/>
              </a:ext>
            </a:extLst>
          </p:cNvPr>
          <p:cNvSpPr/>
          <p:nvPr/>
        </p:nvSpPr>
        <p:spPr>
          <a:xfrm>
            <a:off x="6328441" y="4511592"/>
            <a:ext cx="2580598" cy="1299218"/>
          </a:xfrm>
          <a:prstGeom prst="wedgeEllipseCallout">
            <a:avLst>
              <a:gd name="adj1" fmla="val -162193"/>
              <a:gd name="adj2" fmla="val 98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注意冒號</a:t>
            </a:r>
          </a:p>
        </p:txBody>
      </p:sp>
      <p:sp>
        <p:nvSpPr>
          <p:cNvPr id="10" name="橢圓形圖說文字 8">
            <a:extLst>
              <a:ext uri="{FF2B5EF4-FFF2-40B4-BE49-F238E27FC236}">
                <a16:creationId xmlns:a16="http://schemas.microsoft.com/office/drawing/2014/main" id="{A50BB119-D3CF-4918-AB1A-F099219776E2}"/>
              </a:ext>
            </a:extLst>
          </p:cNvPr>
          <p:cNvSpPr/>
          <p:nvPr/>
        </p:nvSpPr>
        <p:spPr>
          <a:xfrm>
            <a:off x="197069" y="5786067"/>
            <a:ext cx="2367178" cy="933450"/>
          </a:xfrm>
          <a:prstGeom prst="wedgeEllipseCallout">
            <a:avLst>
              <a:gd name="adj1" fmla="val 62725"/>
              <a:gd name="adj2" fmla="val -453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注意縮排</a:t>
            </a:r>
          </a:p>
        </p:txBody>
      </p:sp>
    </p:spTree>
    <p:extLst>
      <p:ext uri="{BB962C8B-B14F-4D97-AF65-F5344CB8AC3E}">
        <p14:creationId xmlns:p14="http://schemas.microsoft.com/office/powerpoint/2010/main" val="98094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17B4A8-A21E-44B7-8FE3-B83C43D61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三元運算子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E0D590-EDC5-4FCF-8DAF-5173DA655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98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BF44B57-D85D-4EB6-976A-897B97C7F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80" y="2689482"/>
            <a:ext cx="3606961" cy="267251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C6552A8-8539-4286-9AB6-84046F290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923" y="2689482"/>
            <a:ext cx="6915499" cy="87456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71596E2-2CD0-46FF-8C50-1E94BB0CD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923" y="4806044"/>
            <a:ext cx="5816653" cy="790084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F4B59B37-7603-4C52-AF38-58580C103D22}"/>
              </a:ext>
            </a:extLst>
          </p:cNvPr>
          <p:cNvSpPr txBox="1"/>
          <p:nvPr/>
        </p:nvSpPr>
        <p:spPr>
          <a:xfrm>
            <a:off x="4883923" y="4225215"/>
            <a:ext cx="36914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三元運算子的用法為：</a:t>
            </a: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5DD7112-4596-44D1-832D-F90DE418CCD9}"/>
              </a:ext>
            </a:extLst>
          </p:cNvPr>
          <p:cNvSpPr/>
          <p:nvPr/>
        </p:nvSpPr>
        <p:spPr>
          <a:xfrm>
            <a:off x="4191219" y="2865152"/>
            <a:ext cx="692704" cy="52322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347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6065E4-7726-4526-83F0-9C0930ED0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三元運算子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ADCAAA-9544-420C-8A75-BFD5D6B0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551A419-8590-418D-ACD2-E0EAB8A42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469" y="2036460"/>
            <a:ext cx="5395061" cy="252269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C561CCB-16A4-4354-BEAE-9F86464AC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401" y="4995411"/>
            <a:ext cx="8673196" cy="77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5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FA5417-026E-4DC1-B4B8-6B05543DF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三元運算子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9912E6-47C8-45E0-8212-A1394DC1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100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FC8C90A-BE58-41F8-873B-E9C05C298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287" y="2260607"/>
            <a:ext cx="9653426" cy="116839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EE80544-CC4B-40DC-B1EB-01674C9AD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349" y="3833686"/>
            <a:ext cx="2739301" cy="85519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C75E630F-12D0-486E-8E4B-F7055641D52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43573" y="4876800"/>
            <a:ext cx="2704854" cy="85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9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練習：英制與公制互換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國外長度單位常使用英制單位，例如身高常使用英呎、英吋表示，請寫一程式進行長度單位的輸入與轉換。</a:t>
            </a:r>
            <a:endParaRPr lang="en-US" altLang="zh-TW" dirty="0"/>
          </a:p>
          <a:p>
            <a:pPr lvl="1"/>
            <a:r>
              <a:rPr lang="en-US" altLang="zh-TW" dirty="0"/>
              <a:t>1 </a:t>
            </a:r>
            <a:r>
              <a:rPr lang="zh-TW" altLang="en-US" dirty="0"/>
              <a:t>英呎 </a:t>
            </a:r>
            <a:r>
              <a:rPr lang="en-US" altLang="zh-TW" dirty="0"/>
              <a:t>= 12 </a:t>
            </a:r>
            <a:r>
              <a:rPr lang="zh-TW" altLang="en-US" dirty="0"/>
              <a:t>英吋，</a:t>
            </a:r>
            <a:r>
              <a:rPr lang="en-US" altLang="zh-TW" dirty="0"/>
              <a:t>1 </a:t>
            </a:r>
            <a:r>
              <a:rPr lang="zh-TW" altLang="en-US" dirty="0"/>
              <a:t>英吋 </a:t>
            </a:r>
            <a:r>
              <a:rPr lang="en-US" altLang="zh-TW" dirty="0"/>
              <a:t>= 2.54</a:t>
            </a:r>
            <a:r>
              <a:rPr lang="zh-TW" altLang="en-US" dirty="0"/>
              <a:t> 公分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利用 </a:t>
            </a:r>
            <a:r>
              <a:rPr lang="en-US" altLang="zh-TW" dirty="0">
                <a:latin typeface="Consolas" panose="020B0609020204030204" pitchFamily="49" charset="0"/>
              </a:rPr>
              <a:t>if ... else ... </a:t>
            </a:r>
            <a:r>
              <a:rPr lang="zh-TW" altLang="en-US" dirty="0"/>
              <a:t>進行判斷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101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375" y="2977928"/>
            <a:ext cx="3607115" cy="353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5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</a:t>
            </a:r>
            <a:r>
              <a:rPr lang="zh-TW" altLang="zh-TW" dirty="0"/>
              <a:t>計算導數值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使用者輸入一個數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TW" altLang="en-US" dirty="0"/>
                  <a:t>，並</a:t>
                </a:r>
                <a:r>
                  <a:rPr lang="zh-TW" altLang="zh-TW" dirty="0"/>
                  <a:t>給定一個函數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如下，請計算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在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zh-TW" dirty="0"/>
                  <a:t>的導數</a:t>
                </a:r>
                <a:r>
                  <a:rPr lang="en-US" altLang="zh-TW" dirty="0"/>
                  <a:t>(derivative)</a:t>
                </a:r>
                <a:r>
                  <a:rPr lang="zh-TW" altLang="zh-TW" dirty="0"/>
                  <a:t>。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輸入：一個數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zh-TW" altLang="en-US" dirty="0"/>
                  <a:t>輸出：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在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的導數</a:t>
                </a:r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r>
                  <a:rPr lang="zh-TW" altLang="en-US" dirty="0"/>
                  <a:t>注意：</a:t>
                </a:r>
                <a:r>
                  <a:rPr lang="zh-TW" altLang="zh-TW" dirty="0"/>
                  <a:t>請利用導數的極限定義來計算，勿直接將導數寫在程式碼裡</a:t>
                </a:r>
                <a:r>
                  <a:rPr lang="zh-TW" altLang="en-US" dirty="0"/>
                  <a:t>。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247" r="-3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102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00B8019-5936-48D9-815E-671FA72B61A4}"/>
                  </a:ext>
                </a:extLst>
              </p:cNvPr>
              <p:cNvSpPr txBox="1"/>
              <p:nvPr/>
            </p:nvSpPr>
            <p:spPr>
              <a:xfrm>
                <a:off x="6634654" y="3621621"/>
                <a:ext cx="4147186" cy="1077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3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−7</m:t>
                          </m:r>
                          <m:sSup>
                            <m:sSup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+5</m:t>
                          </m:r>
                        </m:num>
                        <m:den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00B8019-5936-48D9-815E-671FA72B6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654" y="3621621"/>
                <a:ext cx="4147186" cy="10772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15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程式流程控制</a:t>
            </a:r>
            <a:endParaRPr lang="en-US" altLang="zh-TW" dirty="0"/>
          </a:p>
          <a:p>
            <a:r>
              <a:rPr lang="zh-TW" altLang="en-US" dirty="0"/>
              <a:t>單向條件式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雙向條件式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 else ...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chemeClr val="accent2"/>
                </a:solidFill>
              </a:rPr>
              <a:t>多向條件式</a:t>
            </a:r>
            <a:r>
              <a:rPr lang="en-US" altLang="zh-TW" dirty="0">
                <a:solidFill>
                  <a:schemeClr val="accent2"/>
                </a:solidFill>
              </a:rPr>
              <a:t>(</a:t>
            </a:r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if ... </a:t>
            </a:r>
            <a:r>
              <a:rPr lang="en-US" altLang="zh-TW" dirty="0" err="1">
                <a:solidFill>
                  <a:schemeClr val="accent2"/>
                </a:solidFill>
                <a:latin typeface="Consolas" panose="020B0609020204030204" pitchFamily="49" charset="0"/>
              </a:rPr>
              <a:t>elif</a:t>
            </a:r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 ... else ...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r>
              <a:rPr lang="zh-TW" altLang="en-US" dirty="0"/>
              <a:t>巢狀條件式</a:t>
            </a:r>
            <a:endParaRPr lang="en-US" altLang="zh-TW" dirty="0"/>
          </a:p>
          <a:p>
            <a:r>
              <a:rPr lang="zh-TW" altLang="en-US" dirty="0"/>
              <a:t>結構模式比對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match ... case ...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94940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61F54AC-CF85-4A24-A1AA-9F1A4637F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821" y="2473498"/>
            <a:ext cx="7598358" cy="2831598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104</a:t>
            </a:fld>
            <a:endParaRPr lang="zh-TW" altLang="en-US" dirty="0"/>
          </a:p>
        </p:txBody>
      </p:sp>
      <p:sp>
        <p:nvSpPr>
          <p:cNvPr id="8" name="橢圓形圖說文字 7"/>
          <p:cNvSpPr/>
          <p:nvPr/>
        </p:nvSpPr>
        <p:spPr>
          <a:xfrm>
            <a:off x="8092524" y="4559586"/>
            <a:ext cx="2188713" cy="1299218"/>
          </a:xfrm>
          <a:prstGeom prst="wedgeEllipseCallout">
            <a:avLst>
              <a:gd name="adj1" fmla="val -52024"/>
              <a:gd name="adj2" fmla="val -4249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/>
              <a:t>這有個小問題</a:t>
            </a:r>
          </a:p>
        </p:txBody>
      </p:sp>
      <p:sp>
        <p:nvSpPr>
          <p:cNvPr id="9" name="橢圓形圖說文字 8"/>
          <p:cNvSpPr/>
          <p:nvPr/>
        </p:nvSpPr>
        <p:spPr>
          <a:xfrm>
            <a:off x="9124950" y="3438353"/>
            <a:ext cx="2134020" cy="1194145"/>
          </a:xfrm>
          <a:prstGeom prst="wedgeEllipseCallout">
            <a:avLst>
              <a:gd name="adj1" fmla="val -43831"/>
              <a:gd name="adj2" fmla="val 5420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/>
              <a:t>輸入 </a:t>
            </a:r>
            <a:r>
              <a:rPr lang="en-US" altLang="zh-TW" sz="3200" dirty="0"/>
              <a:t>-1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0608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658681F-8432-4BA1-8A7F-DB08C1481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854" y="2093553"/>
            <a:ext cx="7884291" cy="388374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修改一下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105</a:t>
            </a:fld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3095898" y="3996196"/>
            <a:ext cx="1023457" cy="516092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683462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B60011-F610-4B17-BD02-9B1223193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多向條件式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 </a:t>
            </a:r>
            <a:r>
              <a:rPr lang="en-US" altLang="zh-TW" dirty="0" err="1">
                <a:latin typeface="Consolas" panose="020B0609020204030204" pitchFamily="49" charset="0"/>
              </a:rPr>
              <a:t>elif</a:t>
            </a:r>
            <a:r>
              <a:rPr lang="en-US" altLang="zh-TW" dirty="0">
                <a:latin typeface="Consolas" panose="020B0609020204030204" pitchFamily="49" charset="0"/>
              </a:rPr>
              <a:t> ... else ...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5EE90D-F070-4049-A5B2-6E68F28F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106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F0D46AE-DB1A-43FC-BE7F-FBA62667BF78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00" y="2238247"/>
            <a:ext cx="6096000" cy="3859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7398BFA-8CF9-4902-9F92-B726D9521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36" y="2803802"/>
            <a:ext cx="5539718" cy="272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3819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輸入：考試成績（滿分</a:t>
            </a:r>
            <a:r>
              <a:rPr lang="en-US" altLang="zh-TW" dirty="0"/>
              <a:t>100</a:t>
            </a:r>
            <a:r>
              <a:rPr lang="zh-TW" altLang="en-US" dirty="0"/>
              <a:t>）</a:t>
            </a:r>
            <a:endParaRPr lang="en-US" altLang="zh-TW" dirty="0"/>
          </a:p>
          <a:p>
            <a:r>
              <a:rPr lang="zh-TW" altLang="en-US" dirty="0"/>
              <a:t>輸出：若成績在</a:t>
            </a:r>
            <a:endParaRPr lang="en-US" altLang="zh-TW" dirty="0"/>
          </a:p>
          <a:p>
            <a:pPr lvl="1"/>
            <a:r>
              <a:rPr lang="en-US" altLang="zh-TW" dirty="0"/>
              <a:t>90 </a:t>
            </a:r>
            <a:r>
              <a:rPr lang="zh-TW" altLang="en-US" dirty="0"/>
              <a:t>分以上顯示「優等」， </a:t>
            </a:r>
            <a:endParaRPr lang="en-US" altLang="zh-TW" dirty="0"/>
          </a:p>
          <a:p>
            <a:pPr lvl="1"/>
            <a:r>
              <a:rPr lang="en-US" altLang="zh-TW" dirty="0"/>
              <a:t>80 - 89 </a:t>
            </a:r>
            <a:r>
              <a:rPr lang="zh-TW" altLang="en-US" dirty="0"/>
              <a:t>分顯示「甲等」，</a:t>
            </a:r>
            <a:endParaRPr lang="en-US" altLang="zh-TW" dirty="0"/>
          </a:p>
          <a:p>
            <a:pPr lvl="1"/>
            <a:r>
              <a:rPr lang="en-US" altLang="zh-TW" dirty="0"/>
              <a:t>60 - 79 </a:t>
            </a:r>
            <a:r>
              <a:rPr lang="zh-TW" altLang="en-US" dirty="0"/>
              <a:t>分顯示「乙等」，</a:t>
            </a:r>
            <a:endParaRPr lang="en-US" altLang="zh-TW" dirty="0"/>
          </a:p>
          <a:p>
            <a:pPr lvl="1"/>
            <a:r>
              <a:rPr lang="en-US" altLang="zh-TW" dirty="0"/>
              <a:t>  0 - 59 </a:t>
            </a:r>
            <a:r>
              <a:rPr lang="zh-TW" altLang="en-US" dirty="0"/>
              <a:t>分顯示「丙等」，</a:t>
            </a:r>
          </a:p>
          <a:p>
            <a:pPr lvl="1"/>
            <a:r>
              <a:rPr lang="zh-TW" altLang="en-US" dirty="0"/>
              <a:t>其餘顯示「輸入錯誤」。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107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B25D8A3-8690-45CA-85ED-ACF89447A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141" y="1600200"/>
            <a:ext cx="5886862" cy="4311868"/>
          </a:xfrm>
          <a:prstGeom prst="rect">
            <a:avLst/>
          </a:prstGeom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24824309-2977-4EB0-AAA4-AFF98526C475}"/>
              </a:ext>
            </a:extLst>
          </p:cNvPr>
          <p:cNvSpPr/>
          <p:nvPr/>
        </p:nvSpPr>
        <p:spPr>
          <a:xfrm>
            <a:off x="10030690" y="3302577"/>
            <a:ext cx="1939637" cy="755073"/>
          </a:xfrm>
          <a:prstGeom prst="wedgeRoundRectCallout">
            <a:avLst>
              <a:gd name="adj1" fmla="val -73691"/>
              <a:gd name="adj2" fmla="val -43004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Q</a:t>
            </a:r>
            <a:r>
              <a:rPr lang="zh-TW" altLang="en-US" sz="2000" dirty="0"/>
              <a:t>：「</a:t>
            </a:r>
            <a:r>
              <a:rPr lang="en-US" altLang="zh-TW" sz="2000" dirty="0"/>
              <a:t>&lt; 90</a:t>
            </a:r>
            <a:r>
              <a:rPr lang="zh-TW" altLang="en-US" sz="2000" dirty="0"/>
              <a:t>」</a:t>
            </a:r>
            <a:r>
              <a:rPr lang="en-US" altLang="zh-TW" sz="2000" dirty="0"/>
              <a:t> </a:t>
            </a:r>
            <a:r>
              <a:rPr lang="zh-TW" altLang="en-US" sz="2000" dirty="0"/>
              <a:t>可拿掉嗎？</a:t>
            </a:r>
          </a:p>
        </p:txBody>
      </p:sp>
    </p:spTree>
    <p:extLst>
      <p:ext uri="{BB962C8B-B14F-4D97-AF65-F5344CB8AC3E}">
        <p14:creationId xmlns:p14="http://schemas.microsoft.com/office/powerpoint/2010/main" val="124294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程式流程控制</a:t>
            </a:r>
            <a:endParaRPr lang="en-US" altLang="zh-TW" dirty="0"/>
          </a:p>
          <a:p>
            <a:r>
              <a:rPr lang="zh-TW" altLang="en-US" dirty="0"/>
              <a:t>單向條件式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雙向條件式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 else ...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多向條件式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 </a:t>
            </a:r>
            <a:r>
              <a:rPr lang="en-US" altLang="zh-TW" dirty="0" err="1">
                <a:latin typeface="Consolas" panose="020B0609020204030204" pitchFamily="49" charset="0"/>
              </a:rPr>
              <a:t>elif</a:t>
            </a:r>
            <a:r>
              <a:rPr lang="en-US" altLang="zh-TW" dirty="0">
                <a:latin typeface="Consolas" panose="020B0609020204030204" pitchFamily="49" charset="0"/>
              </a:rPr>
              <a:t> ... else ...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chemeClr val="accent2"/>
                </a:solidFill>
              </a:rPr>
              <a:t>巢狀條件式</a:t>
            </a:r>
            <a:endParaRPr lang="en-US" altLang="zh-TW" dirty="0">
              <a:solidFill>
                <a:schemeClr val="accent2"/>
              </a:solidFill>
            </a:endParaRPr>
          </a:p>
          <a:p>
            <a:r>
              <a:rPr lang="zh-TW" altLang="en-US" dirty="0"/>
              <a:t>結構模式比對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match ... case ...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503068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巢狀</a:t>
            </a:r>
            <a:r>
              <a:rPr lang="en-US" altLang="zh-TW"/>
              <a:t>(</a:t>
            </a:r>
            <a:r>
              <a:rPr lang="en-US" altLang="zh-TW" dirty="0"/>
              <a:t>nested)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>
                <a:latin typeface="Consolas" panose="020B0609020204030204" pitchFamily="49" charset="0"/>
              </a:rPr>
              <a:t>if</a:t>
            </a:r>
            <a:r>
              <a:rPr lang="en-US" altLang="zh-TW" dirty="0"/>
              <a:t> </a:t>
            </a:r>
            <a:r>
              <a:rPr lang="zh-TW" altLang="en-US" dirty="0">
                <a:latin typeface="Consolas" panose="020B0609020204030204" pitchFamily="49" charset="0"/>
              </a:rPr>
              <a:t>的</a:t>
            </a:r>
            <a:r>
              <a:rPr lang="zh-TW" altLang="en-US" dirty="0"/>
              <a:t>條件式內有條件式，稱為</a:t>
            </a:r>
            <a:r>
              <a:rPr lang="zh-TW" altLang="en-US" dirty="0">
                <a:solidFill>
                  <a:schemeClr val="accent4"/>
                </a:solidFill>
              </a:rPr>
              <a:t>巢狀條件式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en-US" altLang="zh-TW" dirty="0"/>
              <a:t>Python </a:t>
            </a:r>
            <a:r>
              <a:rPr lang="zh-TW" altLang="en-US" dirty="0"/>
              <a:t>並未規定巢狀判斷式的層數，要加多少層條件式都可以。</a:t>
            </a:r>
            <a:endParaRPr lang="en-US" altLang="zh-TW" dirty="0"/>
          </a:p>
          <a:p>
            <a:pPr lvl="3"/>
            <a:endParaRPr lang="en-US" altLang="zh-TW" dirty="0"/>
          </a:p>
          <a:p>
            <a:pPr lvl="1"/>
            <a:r>
              <a:rPr lang="zh-TW" altLang="en-US" dirty="0"/>
              <a:t>層數太多會</a:t>
            </a:r>
            <a:r>
              <a:rPr lang="zh-TW" altLang="en-US" dirty="0">
                <a:solidFill>
                  <a:schemeClr val="accent4"/>
                </a:solidFill>
              </a:rPr>
              <a:t>降低可讀性</a:t>
            </a:r>
            <a:r>
              <a:rPr lang="zh-TW" altLang="en-US" dirty="0"/>
              <a:t>，而且</a:t>
            </a:r>
            <a:r>
              <a:rPr lang="zh-TW" altLang="en-US" dirty="0">
                <a:solidFill>
                  <a:schemeClr val="accent4"/>
                </a:solidFill>
              </a:rPr>
              <a:t>維護困難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109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9922A55-1DB9-482B-B4E3-7554799AA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203" y="3861810"/>
            <a:ext cx="6085594" cy="18610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CB28315-EE2E-4003-93AD-4AF0022D3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539" y="5876082"/>
            <a:ext cx="5839316" cy="71614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4493FC2-39F0-4607-94C9-B1F4F4F37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193" y="5832013"/>
            <a:ext cx="3922257" cy="80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15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ABEFEC-B5FC-4AFD-888B-8DFADD1A8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哪個比較容易閱讀？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AC140A-8F8F-4E4B-AC7B-3F881BEDF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110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6CA3F3F-4038-43F5-80EC-9AF80F1A3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488" y="1600200"/>
            <a:ext cx="5539718" cy="272882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64C15D1-C026-4ECC-83F3-732E5B2AF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95" y="3353155"/>
            <a:ext cx="5161905" cy="2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8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練習：成績評等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輸入：微積分成績、計算機程式成績（滿分</a:t>
            </a:r>
            <a:r>
              <a:rPr lang="en-US" altLang="zh-TW" dirty="0"/>
              <a:t>100</a:t>
            </a:r>
            <a:r>
              <a:rPr lang="zh-TW" altLang="en-US" dirty="0"/>
              <a:t>）</a:t>
            </a:r>
            <a:endParaRPr lang="en-US" altLang="zh-TW" dirty="0"/>
          </a:p>
          <a:p>
            <a:r>
              <a:rPr lang="zh-TW" altLang="en-US" dirty="0"/>
              <a:t>輸出：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4"/>
                </a:solidFill>
              </a:rPr>
              <a:t>如果</a:t>
            </a:r>
            <a:r>
              <a:rPr lang="zh-TW" altLang="en-US" dirty="0"/>
              <a:t>微積分 </a:t>
            </a:r>
            <a:r>
              <a:rPr lang="en-US" altLang="zh-TW" dirty="0"/>
              <a:t>90 </a:t>
            </a:r>
            <a:r>
              <a:rPr lang="zh-TW" altLang="en-US" dirty="0"/>
              <a:t>分</a:t>
            </a:r>
            <a:r>
              <a:rPr lang="en-US" altLang="zh-TW" dirty="0"/>
              <a:t>(</a:t>
            </a:r>
            <a:r>
              <a:rPr lang="zh-TW" altLang="en-US" dirty="0"/>
              <a:t>含</a:t>
            </a:r>
            <a:r>
              <a:rPr lang="en-US" altLang="zh-TW" dirty="0"/>
              <a:t>)</a:t>
            </a:r>
            <a:r>
              <a:rPr lang="zh-TW" altLang="en-US" dirty="0"/>
              <a:t>以上，</a:t>
            </a:r>
            <a:r>
              <a:rPr lang="zh-TW" altLang="en-US" dirty="0">
                <a:solidFill>
                  <a:schemeClr val="accent4"/>
                </a:solidFill>
              </a:rPr>
              <a:t>則</a:t>
            </a:r>
            <a:endParaRPr lang="en-US" altLang="zh-TW" dirty="0">
              <a:solidFill>
                <a:schemeClr val="accent4"/>
              </a:solidFill>
            </a:endParaRPr>
          </a:p>
          <a:p>
            <a:pPr lvl="2"/>
            <a:r>
              <a:rPr lang="zh-TW" altLang="en-US" dirty="0">
                <a:solidFill>
                  <a:schemeClr val="accent4"/>
                </a:solidFill>
              </a:rPr>
              <a:t>如果</a:t>
            </a:r>
            <a:r>
              <a:rPr lang="zh-TW" altLang="en-US" dirty="0"/>
              <a:t>程式 </a:t>
            </a:r>
            <a:r>
              <a:rPr lang="en-US" altLang="zh-TW" dirty="0"/>
              <a:t>90 </a:t>
            </a:r>
            <a:r>
              <a:rPr lang="zh-TW" altLang="en-US" dirty="0"/>
              <a:t>分</a:t>
            </a:r>
            <a:r>
              <a:rPr lang="en-US" altLang="zh-TW" dirty="0"/>
              <a:t>(</a:t>
            </a:r>
            <a:r>
              <a:rPr lang="zh-TW" altLang="en-US" dirty="0"/>
              <a:t>含</a:t>
            </a:r>
            <a:r>
              <a:rPr lang="en-US" altLang="zh-TW" dirty="0"/>
              <a:t>)</a:t>
            </a:r>
            <a:r>
              <a:rPr lang="zh-TW" altLang="en-US" dirty="0"/>
              <a:t>以上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zh-TW" altLang="en-US" dirty="0"/>
              <a:t>顯示「超優等」</a:t>
            </a:r>
            <a:endParaRPr lang="en-US" altLang="zh-TW" dirty="0"/>
          </a:p>
          <a:p>
            <a:pPr lvl="2"/>
            <a:r>
              <a:rPr lang="zh-TW" altLang="en-US" dirty="0">
                <a:solidFill>
                  <a:schemeClr val="accent4"/>
                </a:solidFill>
              </a:rPr>
              <a:t>如果</a:t>
            </a:r>
            <a:r>
              <a:rPr lang="zh-TW" altLang="en-US" dirty="0"/>
              <a:t>程式 </a:t>
            </a:r>
            <a:r>
              <a:rPr lang="en-US" altLang="zh-TW" dirty="0"/>
              <a:t>89 </a:t>
            </a:r>
            <a:r>
              <a:rPr lang="zh-TW" altLang="en-US" dirty="0"/>
              <a:t>分以下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zh-TW" altLang="en-US" dirty="0"/>
              <a:t>顯示「優等」</a:t>
            </a:r>
            <a:endParaRPr lang="en-US" altLang="zh-TW" dirty="0"/>
          </a:p>
          <a:p>
            <a:pPr lvl="1"/>
            <a:endParaRPr lang="en-US" altLang="zh-TW" dirty="0">
              <a:solidFill>
                <a:schemeClr val="accent4"/>
              </a:solidFill>
            </a:endParaRPr>
          </a:p>
          <a:p>
            <a:pPr lvl="1"/>
            <a:r>
              <a:rPr lang="zh-TW" altLang="en-US" dirty="0">
                <a:solidFill>
                  <a:schemeClr val="accent4"/>
                </a:solidFill>
              </a:rPr>
              <a:t>如果</a:t>
            </a:r>
            <a:r>
              <a:rPr lang="zh-TW" altLang="en-US" dirty="0"/>
              <a:t>微積分 </a:t>
            </a:r>
            <a:r>
              <a:rPr lang="en-US" altLang="zh-TW" dirty="0"/>
              <a:t>90</a:t>
            </a:r>
            <a:r>
              <a:rPr lang="zh-TW" altLang="en-US" dirty="0"/>
              <a:t> 分以下一律顯示「甘罷嗲」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111</a:t>
            </a:fld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B84A425C-8467-4E59-A83A-07C6FCA05F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07841" y="2790715"/>
            <a:ext cx="2390476" cy="866667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A509E5A6-D438-4A69-AED7-06E3DEDC7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840" y="3812591"/>
            <a:ext cx="2390476" cy="88571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5064231D-BDDE-41C5-84E4-0809E6B71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840" y="5269749"/>
            <a:ext cx="2390476" cy="89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9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程式流程控制</a:t>
            </a:r>
            <a:endParaRPr lang="en-US" altLang="zh-TW" dirty="0"/>
          </a:p>
          <a:p>
            <a:r>
              <a:rPr lang="zh-TW" altLang="en-US" dirty="0"/>
              <a:t>單向條件式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雙向條件式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 else ...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多向條件式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if ... </a:t>
            </a:r>
            <a:r>
              <a:rPr lang="en-US" altLang="zh-TW" dirty="0" err="1">
                <a:latin typeface="Consolas" panose="020B0609020204030204" pitchFamily="49" charset="0"/>
              </a:rPr>
              <a:t>elif</a:t>
            </a:r>
            <a:r>
              <a:rPr lang="en-US" altLang="zh-TW" dirty="0">
                <a:latin typeface="Consolas" panose="020B0609020204030204" pitchFamily="49" charset="0"/>
              </a:rPr>
              <a:t> ... else ...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巢狀條件式</a:t>
            </a:r>
            <a:endParaRPr lang="en-US" altLang="zh-TW" dirty="0"/>
          </a:p>
          <a:p>
            <a:r>
              <a:rPr lang="zh-TW" altLang="en-US" dirty="0">
                <a:solidFill>
                  <a:schemeClr val="accent2"/>
                </a:solidFill>
              </a:rPr>
              <a:t>結構模式比對</a:t>
            </a:r>
            <a:r>
              <a:rPr lang="en-US" altLang="zh-TW" dirty="0">
                <a:solidFill>
                  <a:schemeClr val="accent2"/>
                </a:solidFill>
              </a:rPr>
              <a:t>(</a:t>
            </a:r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match ... case ...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704459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BCF3F4-0DE1-4832-B8D1-CC8438B1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switch</a:t>
            </a:r>
            <a:r>
              <a:rPr lang="en-US" altLang="zh-TW" dirty="0"/>
              <a:t> </a:t>
            </a:r>
            <a:r>
              <a:rPr lang="zh-TW" altLang="en-US" dirty="0"/>
              <a:t>敘述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E76B78-3D2F-45A6-8A39-EF3297B64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375"/>
            <a:ext cx="6106510" cy="4400550"/>
          </a:xfrm>
        </p:spPr>
        <p:txBody>
          <a:bodyPr/>
          <a:lstStyle/>
          <a:p>
            <a:r>
              <a:rPr lang="zh-TW" altLang="en-US" dirty="0"/>
              <a:t>許多程式語言都有 </a:t>
            </a:r>
            <a:r>
              <a:rPr lang="en-US" altLang="zh-TW" dirty="0">
                <a:latin typeface="Consolas" panose="020B0609020204030204" pitchFamily="49" charset="0"/>
              </a:rPr>
              <a:t>switch</a:t>
            </a:r>
            <a:r>
              <a:rPr lang="en-US" altLang="zh-TW" dirty="0">
                <a:latin typeface="+mn-ea"/>
                <a:ea typeface="+mn-ea"/>
              </a:rPr>
              <a:t> </a:t>
            </a:r>
            <a:r>
              <a:rPr lang="zh-TW" altLang="en-US" dirty="0"/>
              <a:t>敘述針對</a:t>
            </a:r>
            <a:r>
              <a:rPr lang="zh-TW" altLang="en-US" dirty="0">
                <a:solidFill>
                  <a:schemeClr val="accent4"/>
                </a:solidFill>
              </a:rPr>
              <a:t>單一條件</a:t>
            </a:r>
            <a:r>
              <a:rPr lang="zh-TW" altLang="en-US" dirty="0"/>
              <a:t>的不同狀況來執行程式區塊，有些時候會比多向條件式更直覺些。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if…</a:t>
            </a:r>
            <a:r>
              <a:rPr lang="en-US" altLang="zh-TW" dirty="0" err="1">
                <a:latin typeface="Consolas" panose="020B0609020204030204" pitchFamily="49" charset="0"/>
              </a:rPr>
              <a:t>elif</a:t>
            </a:r>
            <a:r>
              <a:rPr lang="en-US" altLang="zh-TW" dirty="0">
                <a:latin typeface="Consolas" panose="020B0609020204030204" pitchFamily="49" charset="0"/>
              </a:rPr>
              <a:t>…else… </a:t>
            </a:r>
            <a:r>
              <a:rPr lang="zh-TW" altLang="en-US" dirty="0"/>
              <a:t>敘述能設定任意條件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035BF9-DF75-45D8-B995-E06C862F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113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B8CDB59-E0D8-43BC-B33E-5AE66D0B0D2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7893" y="600075"/>
            <a:ext cx="4965651" cy="619125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0BFEA36-8B46-409E-AA97-75FFBCD9D921}"/>
              </a:ext>
            </a:extLst>
          </p:cNvPr>
          <p:cNvSpPr txBox="1"/>
          <p:nvPr/>
        </p:nvSpPr>
        <p:spPr>
          <a:xfrm>
            <a:off x="10641067" y="671810"/>
            <a:ext cx="1158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</a:t>
            </a:r>
            <a:r>
              <a:rPr lang="zh-TW" altLang="en-US" sz="2400" dirty="0"/>
              <a:t> 語言</a:t>
            </a:r>
          </a:p>
        </p:txBody>
      </p:sp>
    </p:spTree>
    <p:extLst>
      <p:ext uri="{BB962C8B-B14F-4D97-AF65-F5344CB8AC3E}">
        <p14:creationId xmlns:p14="http://schemas.microsoft.com/office/powerpoint/2010/main" val="276747552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189E88-AF08-42BA-B05C-937B3ABF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 </a:t>
            </a:r>
            <a:r>
              <a:rPr lang="zh-TW" altLang="en-US" dirty="0"/>
              <a:t>沒有類似 </a:t>
            </a:r>
            <a:r>
              <a:rPr lang="en-US" altLang="zh-TW" dirty="0">
                <a:latin typeface="Consolas" panose="020B0609020204030204" pitchFamily="49" charset="0"/>
              </a:rPr>
              <a:t>switch</a:t>
            </a:r>
            <a:r>
              <a:rPr lang="en-US" altLang="zh-TW" dirty="0"/>
              <a:t> </a:t>
            </a:r>
            <a:r>
              <a:rPr lang="zh-TW" altLang="en-US" dirty="0"/>
              <a:t>的語法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CA5BB5-0DCA-437B-98B9-72FBFF4E4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在 </a:t>
            </a:r>
            <a:r>
              <a:rPr lang="en-US" altLang="zh-TW" dirty="0"/>
              <a:t>Python </a:t>
            </a:r>
            <a:r>
              <a:rPr lang="zh-TW" altLang="en-US" dirty="0"/>
              <a:t>社群中確實曾有提案與討論，而且早在 </a:t>
            </a:r>
            <a:r>
              <a:rPr lang="en-US" altLang="zh-TW" dirty="0"/>
              <a:t>2001 </a:t>
            </a:r>
            <a:r>
              <a:rPr lang="zh-TW" altLang="en-US" dirty="0"/>
              <a:t>與 </a:t>
            </a:r>
            <a:r>
              <a:rPr lang="en-US" altLang="zh-TW" dirty="0"/>
              <a:t>2006</a:t>
            </a:r>
            <a:r>
              <a:rPr lang="zh-TW" altLang="en-US" dirty="0"/>
              <a:t>年就提出，可是最終都被否決了。</a:t>
            </a:r>
            <a:endParaRPr lang="en-US" altLang="zh-TW" dirty="0"/>
          </a:p>
          <a:p>
            <a:pPr lvl="1"/>
            <a:r>
              <a:rPr lang="zh-TW" altLang="en-US" dirty="0"/>
              <a:t>基本上，否決原因在於各種提案中，沒有一個實現可適切地融入 </a:t>
            </a:r>
            <a:r>
              <a:rPr lang="en-US" altLang="zh-TW" dirty="0"/>
              <a:t>Python </a:t>
            </a:r>
            <a:r>
              <a:rPr lang="zh-TW" altLang="en-US" dirty="0"/>
              <a:t>既有的語法與風格。</a:t>
            </a:r>
            <a:endParaRPr lang="en-US" altLang="zh-TW" dirty="0"/>
          </a:p>
          <a:p>
            <a:pPr lvl="4"/>
            <a:endParaRPr lang="en-US" altLang="zh-TW" dirty="0"/>
          </a:p>
          <a:p>
            <a:r>
              <a:rPr lang="zh-TW" altLang="en-US" dirty="0"/>
              <a:t>在 </a:t>
            </a:r>
            <a:r>
              <a:rPr lang="en-US" altLang="zh-TW" dirty="0"/>
              <a:t>Python </a:t>
            </a:r>
            <a:r>
              <a:rPr lang="zh-TW" altLang="en-US" dirty="0"/>
              <a:t>官方的「</a:t>
            </a:r>
            <a:r>
              <a:rPr lang="en-US" altLang="zh-TW" dirty="0"/>
              <a:t>Design and History FAQ</a:t>
            </a:r>
            <a:r>
              <a:rPr lang="zh-TW" altLang="en-US" dirty="0"/>
              <a:t>」直接列出條目來回答「為何沒有 </a:t>
            </a:r>
            <a:r>
              <a:rPr lang="en-US" altLang="zh-TW" dirty="0">
                <a:latin typeface="Consolas" panose="020B0609020204030204" pitchFamily="49" charset="0"/>
              </a:rPr>
              <a:t>switch</a:t>
            </a:r>
            <a:r>
              <a:rPr lang="zh-TW" altLang="en-US" dirty="0"/>
              <a:t>？」</a:t>
            </a:r>
            <a:endParaRPr lang="en-US" altLang="zh-TW" dirty="0"/>
          </a:p>
          <a:p>
            <a:pPr lvl="1"/>
            <a:r>
              <a:rPr lang="zh-TW" altLang="en-US" dirty="0"/>
              <a:t>總之，結論是使用 </a:t>
            </a:r>
            <a:r>
              <a:rPr lang="en-US" altLang="zh-TW" dirty="0">
                <a:latin typeface="Consolas" panose="020B0609020204030204" pitchFamily="49" charset="0"/>
              </a:rPr>
              <a:t>if…</a:t>
            </a:r>
            <a:r>
              <a:rPr lang="en-US" altLang="zh-TW" dirty="0" err="1">
                <a:latin typeface="Consolas" panose="020B0609020204030204" pitchFamily="49" charset="0"/>
              </a:rPr>
              <a:t>elif</a:t>
            </a:r>
            <a:r>
              <a:rPr lang="en-US" altLang="zh-TW" dirty="0">
                <a:latin typeface="Consolas" panose="020B0609020204030204" pitchFamily="49" charset="0"/>
              </a:rPr>
              <a:t>…else…</a:t>
            </a:r>
            <a:r>
              <a:rPr lang="en-US" altLang="zh-TW" dirty="0"/>
              <a:t> </a:t>
            </a:r>
            <a:r>
              <a:rPr lang="zh-TW" altLang="en-US" dirty="0"/>
              <a:t>或 </a:t>
            </a:r>
            <a:r>
              <a:rPr lang="en-US" altLang="zh-TW" dirty="0" err="1">
                <a:latin typeface="Consolas" panose="020B0609020204030204" pitchFamily="49" charset="0"/>
              </a:rPr>
              <a:t>dict</a:t>
            </a:r>
            <a:r>
              <a:rPr lang="zh-TW" altLang="en-US" dirty="0"/>
              <a:t>（詞典，之後會介紹）完全可以應付需求。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6739C4-27EA-4AF0-B140-6A6C9F96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411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83FBBF-77F7-4D17-95F9-A36AB339F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結構模式比對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match ... case ...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E7A399-9D13-4A96-9612-B4E3C1410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直到 </a:t>
            </a:r>
            <a:r>
              <a:rPr lang="en-US" altLang="zh-TW" dirty="0"/>
              <a:t>2021 </a:t>
            </a:r>
            <a:r>
              <a:rPr lang="zh-TW" altLang="en-US" dirty="0"/>
              <a:t>年的 </a:t>
            </a:r>
            <a:r>
              <a:rPr lang="en-US" altLang="zh-TW" dirty="0">
                <a:solidFill>
                  <a:schemeClr val="accent4"/>
                </a:solidFill>
              </a:rPr>
              <a:t>Python 3.10</a:t>
            </a:r>
            <a:r>
              <a:rPr lang="zh-TW" altLang="en-US" dirty="0"/>
              <a:t>，委員會通過</a:t>
            </a:r>
            <a:r>
              <a:rPr lang="en-US" altLang="zh-TW" dirty="0"/>
              <a:t>《PEP634</a:t>
            </a:r>
            <a:r>
              <a:rPr lang="zh-TW" altLang="en-US" dirty="0"/>
              <a:t>、</a:t>
            </a:r>
            <a:r>
              <a:rPr lang="en-US" altLang="zh-TW" dirty="0"/>
              <a:t>PEP635</a:t>
            </a:r>
            <a:r>
              <a:rPr lang="zh-TW" altLang="en-US" dirty="0"/>
              <a:t>、</a:t>
            </a:r>
            <a:r>
              <a:rPr lang="en-US" altLang="zh-TW" dirty="0"/>
              <a:t>PEP636》</a:t>
            </a:r>
            <a:r>
              <a:rPr lang="zh-TW" altLang="en-US" dirty="0"/>
              <a:t>加入一個新的 </a:t>
            </a:r>
            <a:r>
              <a:rPr lang="en-US" altLang="zh-TW" dirty="0">
                <a:latin typeface="Consolas" panose="020B0609020204030204" pitchFamily="49" charset="0"/>
              </a:rPr>
              <a:t>match…case…</a:t>
            </a:r>
            <a:r>
              <a:rPr lang="en-US" altLang="zh-TW" dirty="0"/>
              <a:t> </a:t>
            </a:r>
            <a:r>
              <a:rPr lang="zh-TW" altLang="en-US" dirty="0"/>
              <a:t>語法，稱之為</a:t>
            </a:r>
            <a:r>
              <a:rPr lang="zh-TW" altLang="en-US" dirty="0">
                <a:solidFill>
                  <a:schemeClr val="accent4"/>
                </a:solidFill>
              </a:rPr>
              <a:t>結構模式比對</a:t>
            </a:r>
            <a:r>
              <a:rPr lang="en-US" altLang="zh-TW" dirty="0"/>
              <a:t>(structural pattern matching)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99FDD6-0BB2-4561-A237-CA519883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115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523E563-A68B-49BF-A519-13865E68B7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9345" y="3429000"/>
            <a:ext cx="5817475" cy="326346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06D6C66-BB0A-49F2-A6CD-0D3F3D9E7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990" y="4934151"/>
            <a:ext cx="3986160" cy="662607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9436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14A0A08-0F99-4073-95A7-49B079DAB39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9521" y="333375"/>
            <a:ext cx="4965651" cy="619125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2A771B5-7FDC-40A4-B108-4521006CD59E}"/>
              </a:ext>
            </a:extLst>
          </p:cNvPr>
          <p:cNvSpPr txBox="1"/>
          <p:nvPr/>
        </p:nvSpPr>
        <p:spPr>
          <a:xfrm>
            <a:off x="10262695" y="405110"/>
            <a:ext cx="1158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</a:t>
            </a:r>
            <a:r>
              <a:rPr lang="zh-TW" altLang="en-US" sz="2400" dirty="0"/>
              <a:t> 語言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952398C-9D11-48FF-B1BC-B23CEDBBECF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429" y="1261077"/>
            <a:ext cx="6120682" cy="433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38620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178D3A-DB7A-425E-930F-1D7B782A7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注意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115959-9638-4381-BB59-0D32C6800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由於 </a:t>
            </a:r>
            <a:r>
              <a:rPr lang="en-US" altLang="zh-TW" dirty="0">
                <a:latin typeface="Consolas" panose="020B0609020204030204" pitchFamily="49" charset="0"/>
              </a:rPr>
              <a:t>match…case…</a:t>
            </a:r>
            <a:r>
              <a:rPr lang="en-US" altLang="zh-TW" dirty="0"/>
              <a:t> </a:t>
            </a:r>
            <a:r>
              <a:rPr lang="zh-TW" altLang="en-US" dirty="0"/>
              <a:t>語法是 </a:t>
            </a:r>
            <a:r>
              <a:rPr lang="en-US" altLang="zh-TW" dirty="0"/>
              <a:t>Python 3.10 </a:t>
            </a:r>
            <a:r>
              <a:rPr lang="zh-TW" altLang="en-US" dirty="0"/>
              <a:t>才有且 </a:t>
            </a:r>
            <a:r>
              <a:rPr lang="en-US" altLang="zh-TW" dirty="0"/>
              <a:t>CodeJudger </a:t>
            </a:r>
            <a:r>
              <a:rPr lang="zh-TW" altLang="en-US" dirty="0"/>
              <a:t>目前用的是 </a:t>
            </a:r>
            <a:r>
              <a:rPr lang="en-US" altLang="zh-TW" dirty="0"/>
              <a:t>Python 3.8.8</a:t>
            </a:r>
            <a:r>
              <a:rPr lang="zh-TW" altLang="en-US" dirty="0"/>
              <a:t>，所以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6E0BF9-07E3-4071-B3B9-0F7C42C8D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117</a:t>
            </a:fld>
            <a:endParaRPr lang="zh-TW" altLang="en-US" dirty="0"/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D5DA8BD4-D6AC-4DC6-B754-C18C4B24AA75}"/>
              </a:ext>
            </a:extLst>
          </p:cNvPr>
          <p:cNvSpPr/>
          <p:nvPr/>
        </p:nvSpPr>
        <p:spPr>
          <a:xfrm>
            <a:off x="3260650" y="2996609"/>
            <a:ext cx="7740503" cy="864782"/>
          </a:xfrm>
          <a:prstGeom prst="wedgeRoundRectCallout">
            <a:avLst>
              <a:gd name="adj1" fmla="val -53800"/>
              <a:gd name="adj2" fmla="val -4159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match…case… </a:t>
            </a:r>
            <a:r>
              <a:rPr lang="zh-TW" altLang="en-US" sz="2800" dirty="0"/>
              <a:t>語法在 </a:t>
            </a:r>
            <a:r>
              <a:rPr lang="en-US" altLang="zh-TW" sz="2800" dirty="0"/>
              <a:t>CJ </a:t>
            </a:r>
            <a:r>
              <a:rPr lang="zh-TW" altLang="en-US" sz="2800" dirty="0"/>
              <a:t>平台不能使用 </a:t>
            </a:r>
            <a:r>
              <a:rPr lang="en-US" altLang="zh-TW" sz="2800" dirty="0">
                <a:sym typeface="Wingdings" panose="05000000000000000000" pitchFamily="2" charset="2"/>
              </a:rPr>
              <a:t>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6509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佈景主題">
  <a:themeElements>
    <a:clrScheme name="Metro配色">
      <a:dk1>
        <a:sysClr val="windowText" lastClr="000000"/>
      </a:dk1>
      <a:lt1>
        <a:sysClr val="window" lastClr="FFFFFF"/>
      </a:lt1>
      <a:dk2>
        <a:srgbClr val="2A7EA3"/>
      </a:dk2>
      <a:lt2>
        <a:srgbClr val="FFE26A"/>
      </a:lt2>
      <a:accent1>
        <a:srgbClr val="5B9BD5"/>
      </a:accent1>
      <a:accent2>
        <a:srgbClr val="ED7D31"/>
      </a:accent2>
      <a:accent3>
        <a:srgbClr val="75C3B5"/>
      </a:accent3>
      <a:accent4>
        <a:srgbClr val="F2635F"/>
      </a:accent4>
      <a:accent5>
        <a:srgbClr val="139AAF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>
          <a:noFill/>
        </a:ln>
      </a:spPr>
      <a:bodyPr rtlCol="0" anchor="ctr"/>
      <a:lstStyle>
        <a:defPPr algn="ctr">
          <a:defRPr sz="2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4062</Words>
  <Application>Microsoft Office PowerPoint</Application>
  <PresentationFormat>寬螢幕</PresentationFormat>
  <Paragraphs>621</Paragraphs>
  <Slides>117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117</vt:i4>
      </vt:variant>
    </vt:vector>
  </HeadingPairs>
  <TitlesOfParts>
    <vt:vector size="124" baseType="lpstr">
      <vt:lpstr>微軟正黑體</vt:lpstr>
      <vt:lpstr>Arial</vt:lpstr>
      <vt:lpstr>Calibri</vt:lpstr>
      <vt:lpstr>Cambria Math</vt:lpstr>
      <vt:lpstr>Consolas</vt:lpstr>
      <vt:lpstr>Wingdings</vt:lpstr>
      <vt:lpstr>Office 佈景主題</vt:lpstr>
      <vt:lpstr>Py_Week2 輸出與輸入 運算式 選擇敘述 </vt:lpstr>
      <vt:lpstr>主題</vt:lpstr>
      <vt:lpstr>PowerPoint 簡報</vt:lpstr>
      <vt:lpstr>主題</vt:lpstr>
      <vt:lpstr>print() 的語法</vt:lpstr>
      <vt:lpstr>更多範例(1/3)</vt:lpstr>
      <vt:lpstr>更多範例(2/3)</vt:lpstr>
      <vt:lpstr>更多範例(3/3)</vt:lpstr>
      <vt:lpstr>輸出彩色字體(1/2)</vt:lpstr>
      <vt:lpstr>輸出彩色字體(2/2)</vt:lpstr>
      <vt:lpstr>設定字體效果</vt:lpstr>
      <vt:lpstr>主題</vt:lpstr>
      <vt:lpstr>格式化輸出</vt:lpstr>
      <vt:lpstr>百分號(1/4)</vt:lpstr>
      <vt:lpstr>百分號(2/4)</vt:lpstr>
      <vt:lpstr>百分號(3/4)</vt:lpstr>
      <vt:lpstr>浮點數精確度問題</vt:lpstr>
      <vt:lpstr>百分號(4/4)</vt:lpstr>
      <vt:lpstr>format() (1/2)</vt:lpstr>
      <vt:lpstr>format() (2/2)</vt:lpstr>
      <vt:lpstr>format() 範例(1/3)</vt:lpstr>
      <vt:lpstr>format() 範例(2/3)</vt:lpstr>
      <vt:lpstr>format() 範例(3/3)</vt:lpstr>
      <vt:lpstr>f-string (1/2)</vt:lpstr>
      <vt:lpstr>f-string (2/2)</vt:lpstr>
      <vt:lpstr>f-string 範例</vt:lpstr>
      <vt:lpstr>練習</vt:lpstr>
      <vt:lpstr>主題</vt:lpstr>
      <vt:lpstr>輸入資料</vt:lpstr>
      <vt:lpstr>注意資料型別</vt:lpstr>
      <vt:lpstr>修正方式</vt:lpstr>
      <vt:lpstr>這有點問題 …</vt:lpstr>
      <vt:lpstr>判斷小數點</vt:lpstr>
      <vt:lpstr>內建函式 eval()</vt:lpstr>
      <vt:lpstr>eval(運算式)</vt:lpstr>
      <vt:lpstr>簡化輸入</vt:lpstr>
      <vt:lpstr>注意</vt:lpstr>
      <vt:lpstr>練習：計算 BMI</vt:lpstr>
      <vt:lpstr>主題</vt:lpstr>
      <vt:lpstr>PowerPoint 簡報</vt:lpstr>
      <vt:lpstr>PowerPoint 簡報</vt:lpstr>
      <vt:lpstr>PowerPoint 簡報</vt:lpstr>
      <vt:lpstr>運算子的種類</vt:lpstr>
      <vt:lpstr>數學上 …</vt:lpstr>
      <vt:lpstr>運算子的優先順序(operator precedence)</vt:lpstr>
      <vt:lpstr>PowerPoint 簡報</vt:lpstr>
      <vt:lpstr>PowerPoint 簡報</vt:lpstr>
      <vt:lpstr>主題</vt:lpstr>
      <vt:lpstr>算術運算子(arithmetic operator)</vt:lpstr>
      <vt:lpstr>三種除法</vt:lpstr>
      <vt:lpstr>範例：三種除法</vt:lpstr>
      <vt:lpstr>(10%-3)  -2？</vt:lpstr>
      <vt:lpstr>範例：不同資料型別做運算</vt:lpstr>
      <vt:lpstr>主題</vt:lpstr>
      <vt:lpstr>複合指定運算子(compound assignment operator)</vt:lpstr>
      <vt:lpstr>範例：求圓面積</vt:lpstr>
      <vt:lpstr>練習：計算導數值</vt:lpstr>
      <vt:lpstr>主題</vt:lpstr>
      <vt:lpstr>比較運算子(comparison operator)</vt:lpstr>
      <vt:lpstr>比較運算子</vt:lpstr>
      <vt:lpstr>注意</vt:lpstr>
      <vt:lpstr>主題</vt:lpstr>
      <vt:lpstr>邏輯運算子(logical operator)</vt:lpstr>
      <vt:lpstr>邏輯運算子</vt:lpstr>
      <vt:lpstr>範例</vt:lpstr>
      <vt:lpstr>範例：交換兩變數值</vt:lpstr>
      <vt:lpstr>練習：XOR</vt:lpstr>
      <vt:lpstr>主題</vt:lpstr>
      <vt:lpstr>位元運算子(bitwise operator)</vt:lpstr>
      <vt:lpstr>位元運算子</vt:lpstr>
      <vt:lpstr>運算範例(1/2)</vt:lpstr>
      <vt:lpstr>運算範例(2/2)</vt:lpstr>
      <vt:lpstr>範例：奇偶數判斷</vt:lpstr>
      <vt:lpstr>主題</vt:lpstr>
      <vt:lpstr>結構化程式設計(structured programming)</vt:lpstr>
      <vt:lpstr>流程控制(flow control) (1/2)</vt:lpstr>
      <vt:lpstr>流程控制(2/2)</vt:lpstr>
      <vt:lpstr>主題</vt:lpstr>
      <vt:lpstr>選擇敘述</vt:lpstr>
      <vt:lpstr>範例</vt:lpstr>
      <vt:lpstr>單向條件式（if ...）</vt:lpstr>
      <vt:lpstr>if ...</vt:lpstr>
      <vt:lpstr>有時會看到這種寫法</vt:lpstr>
      <vt:lpstr>縮排(indentation)</vt:lpstr>
      <vt:lpstr>縮排</vt:lpstr>
      <vt:lpstr>Python 的縮排(1/2)</vt:lpstr>
      <vt:lpstr>Python 的縮排(2/2)</vt:lpstr>
      <vt:lpstr>用哪一種有差嗎？</vt:lpstr>
      <vt:lpstr>空白鍵 vs Tab鍵</vt:lpstr>
      <vt:lpstr>PowerPoint 簡報</vt:lpstr>
      <vt:lpstr>PowerPoint 簡報</vt:lpstr>
      <vt:lpstr>PowerPoint 簡報</vt:lpstr>
      <vt:lpstr>分析結果</vt:lpstr>
      <vt:lpstr>Soft-Tab</vt:lpstr>
      <vt:lpstr>主題</vt:lpstr>
      <vt:lpstr>雙向條件式(if ... else ...)</vt:lpstr>
      <vt:lpstr>雙向條件式</vt:lpstr>
      <vt:lpstr>三元運算子(1/3)</vt:lpstr>
      <vt:lpstr>三元運算子(2/3)</vt:lpstr>
      <vt:lpstr>三元運算子(3/3)</vt:lpstr>
      <vt:lpstr>練習：英制與公制互換</vt:lpstr>
      <vt:lpstr>練習：計算導數值</vt:lpstr>
      <vt:lpstr>主題</vt:lpstr>
      <vt:lpstr>範例</vt:lpstr>
      <vt:lpstr>修改一下</vt:lpstr>
      <vt:lpstr>多向條件式(if ... elif ... else ...)</vt:lpstr>
      <vt:lpstr>範例</vt:lpstr>
      <vt:lpstr>主題</vt:lpstr>
      <vt:lpstr>巢狀(nested)</vt:lpstr>
      <vt:lpstr>哪個比較容易閱讀？</vt:lpstr>
      <vt:lpstr>練習：成績評等</vt:lpstr>
      <vt:lpstr>主題</vt:lpstr>
      <vt:lpstr>switch 敘述</vt:lpstr>
      <vt:lpstr>Python 沒有類似 switch 的語法</vt:lpstr>
      <vt:lpstr>結構模式比對(match ... case ...)</vt:lpstr>
      <vt:lpstr>PowerPoint 簡報</vt:lpstr>
      <vt:lpstr>注意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王頌文</cp:lastModifiedBy>
  <cp:revision>4</cp:revision>
  <dcterms:created xsi:type="dcterms:W3CDTF">2023-12-30T06:05:41Z</dcterms:created>
  <dcterms:modified xsi:type="dcterms:W3CDTF">2026-10-24T22:49:15Z</dcterms:modified>
</cp:coreProperties>
</file>