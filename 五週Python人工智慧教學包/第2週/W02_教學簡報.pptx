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ad21b818a411f" /><Relationship Type="http://schemas.openxmlformats.org/officeDocument/2006/relationships/extended-properties" Target="/docProps/app.xml" Id="Rb230bae782174e0d" /><Relationship Type="http://schemas.openxmlformats.org/officeDocument/2006/relationships/officeDocument" Target="/ppt/presentation.xml" Id="Re2e7a5e6898c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40a62f37954d92"/>
  </p:sldMasterIdLst>
  <p:notesMasterIdLst>
    <p:notesMasterId xmlns:r="http://schemas.openxmlformats.org/officeDocument/2006/relationships" r:id="R5c8d4296cfd44273"/>
  </p:notesMasterIdLst>
  <p:sldIdLst>
    <p:sldId xmlns:r="http://schemas.openxmlformats.org/officeDocument/2006/relationships" id="256" r:id="R9a1fd7d34f3f4db9"/>
    <p:sldId xmlns:r="http://schemas.openxmlformats.org/officeDocument/2006/relationships" id="257" r:id="R1da953e38b6e4afe"/>
    <p:sldId xmlns:r="http://schemas.openxmlformats.org/officeDocument/2006/relationships" id="258" r:id="R9c8e9ff2c9f54906"/>
    <p:sldId xmlns:r="http://schemas.openxmlformats.org/officeDocument/2006/relationships" id="259" r:id="Rb7cf97962dbe40f4"/>
    <p:sldId xmlns:r="http://schemas.openxmlformats.org/officeDocument/2006/relationships" id="260" r:id="R4276677e5c704416"/>
    <p:sldId xmlns:r="http://schemas.openxmlformats.org/officeDocument/2006/relationships" id="261" r:id="R9cdf73c5a0454a32"/>
    <p:sldId xmlns:r="http://schemas.openxmlformats.org/officeDocument/2006/relationships" id="262" r:id="Rcc918a88b8c340a0"/>
    <p:sldId xmlns:r="http://schemas.openxmlformats.org/officeDocument/2006/relationships" id="263" r:id="R53872da19ee94650"/>
    <p:sldId xmlns:r="http://schemas.openxmlformats.org/officeDocument/2006/relationships" id="264" r:id="R70f1974906674839"/>
    <p:sldId xmlns:r="http://schemas.openxmlformats.org/officeDocument/2006/relationships" id="265" r:id="R8b92c6be095e4ae6"/>
    <p:sldId xmlns:r="http://schemas.openxmlformats.org/officeDocument/2006/relationships" id="266" r:id="Re820d34474aa497d"/>
    <p:sldId xmlns:r="http://schemas.openxmlformats.org/officeDocument/2006/relationships" id="267" r:id="Rbe064f393eba4eb4"/>
    <p:sldId xmlns:r="http://schemas.openxmlformats.org/officeDocument/2006/relationships" id="268" r:id="Rf9ac7c042f9b4458"/>
    <p:sldId xmlns:r="http://schemas.openxmlformats.org/officeDocument/2006/relationships" id="269" r:id="Ra06c7d3212604fdc"/>
    <p:sldId xmlns:r="http://schemas.openxmlformats.org/officeDocument/2006/relationships" id="270" r:id="R3e0a01645c414051"/>
    <p:sldId xmlns:r="http://schemas.openxmlformats.org/officeDocument/2006/relationships" id="271" r:id="R42ba89ffa3e340a3"/>
    <p:sldId xmlns:r="http://schemas.openxmlformats.org/officeDocument/2006/relationships" id="272" r:id="R19c38978729e4957"/>
    <p:sldId xmlns:r="http://schemas.openxmlformats.org/officeDocument/2006/relationships" id="273" r:id="Rf65ae23f74584c5b"/>
    <p:sldId xmlns:r="http://schemas.openxmlformats.org/officeDocument/2006/relationships" id="274" r:id="Reedc4492f8404128"/>
    <p:sldId xmlns:r="http://schemas.openxmlformats.org/officeDocument/2006/relationships" id="275" r:id="Rbc1ced13a0764338"/>
    <p:sldId xmlns:r="http://schemas.openxmlformats.org/officeDocument/2006/relationships" id="276" r:id="R484d4535def441a7"/>
    <p:sldId xmlns:r="http://schemas.openxmlformats.org/officeDocument/2006/relationships" id="277" r:id="Re0526a5f846c46f9"/>
    <p:sldId xmlns:r="http://schemas.openxmlformats.org/officeDocument/2006/relationships" id="278" r:id="R1ee66f3d5d824a55"/>
    <p:sldId xmlns:r="http://schemas.openxmlformats.org/officeDocument/2006/relationships" id="279" r:id="Rf38132ae44da4106"/>
    <p:sldId xmlns:r="http://schemas.openxmlformats.org/officeDocument/2006/relationships" id="280" r:id="R119f707f971646aa"/>
    <p:sldId xmlns:r="http://schemas.openxmlformats.org/officeDocument/2006/relationships" id="281" r:id="R9d43bce53f0a4fc8"/>
    <p:sldId xmlns:r="http://schemas.openxmlformats.org/officeDocument/2006/relationships" id="282" r:id="R95d7732ab95d4a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a7d93d5324aa2" /><Relationship Type="http://schemas.openxmlformats.org/officeDocument/2006/relationships/slideMaster" Target="/ppt/slideMasters/slideMaster1.xml" Id="Re440a62f37954d92" /><Relationship Type="http://schemas.openxmlformats.org/officeDocument/2006/relationships/notesMaster" Target="/ppt/notesMasters/notesMaster1.xml" Id="R5c8d4296cfd44273" /><Relationship Type="http://schemas.openxmlformats.org/officeDocument/2006/relationships/presProps" Target="/ppt/presProps.xml" Id="Rc8945b07100c4629" /><Relationship Type="http://schemas.openxmlformats.org/officeDocument/2006/relationships/tableStyles" Target="/ppt/tableStyles.xml" Id="R128f288f39554caa" /><Relationship Type="http://schemas.openxmlformats.org/officeDocument/2006/relationships/slide" Target="/ppt/slides/slide1.xml" Id="R9a1fd7d34f3f4db9" /><Relationship Type="http://schemas.openxmlformats.org/officeDocument/2006/relationships/slide" Target="/ppt/slides/slide2.xml" Id="R1da953e38b6e4afe" /><Relationship Type="http://schemas.openxmlformats.org/officeDocument/2006/relationships/slide" Target="/ppt/slides/slide3.xml" Id="R9c8e9ff2c9f54906" /><Relationship Type="http://schemas.openxmlformats.org/officeDocument/2006/relationships/slide" Target="/ppt/slides/slide4.xml" Id="Rb7cf97962dbe40f4" /><Relationship Type="http://schemas.openxmlformats.org/officeDocument/2006/relationships/slide" Target="/ppt/slides/slide5.xml" Id="R4276677e5c704416" /><Relationship Type="http://schemas.openxmlformats.org/officeDocument/2006/relationships/slide" Target="/ppt/slides/slide6.xml" Id="R9cdf73c5a0454a32" /><Relationship Type="http://schemas.openxmlformats.org/officeDocument/2006/relationships/slide" Target="/ppt/slides/slide7.xml" Id="Rcc918a88b8c340a0" /><Relationship Type="http://schemas.openxmlformats.org/officeDocument/2006/relationships/slide" Target="/ppt/slides/slide8.xml" Id="R53872da19ee94650" /><Relationship Type="http://schemas.openxmlformats.org/officeDocument/2006/relationships/slide" Target="/ppt/slides/slide9.xml" Id="R70f1974906674839" /><Relationship Type="http://schemas.openxmlformats.org/officeDocument/2006/relationships/slide" Target="/ppt/slides/slide10.xml" Id="R8b92c6be095e4ae6" /><Relationship Type="http://schemas.openxmlformats.org/officeDocument/2006/relationships/slide" Target="/ppt/slides/slide11.xml" Id="Re820d34474aa497d" /><Relationship Type="http://schemas.openxmlformats.org/officeDocument/2006/relationships/slide" Target="/ppt/slides/slide12.xml" Id="Rbe064f393eba4eb4" /><Relationship Type="http://schemas.openxmlformats.org/officeDocument/2006/relationships/slide" Target="/ppt/slides/slide13.xml" Id="Rf9ac7c042f9b4458" /><Relationship Type="http://schemas.openxmlformats.org/officeDocument/2006/relationships/slide" Target="/ppt/slides/slide14.xml" Id="Ra06c7d3212604fdc" /><Relationship Type="http://schemas.openxmlformats.org/officeDocument/2006/relationships/slide" Target="/ppt/slides/slide15.xml" Id="R3e0a01645c414051" /><Relationship Type="http://schemas.openxmlformats.org/officeDocument/2006/relationships/slide" Target="/ppt/slides/slide16.xml" Id="R42ba89ffa3e340a3" /><Relationship Type="http://schemas.openxmlformats.org/officeDocument/2006/relationships/slide" Target="/ppt/slides/slide17.xml" Id="R19c38978729e4957" /><Relationship Type="http://schemas.openxmlformats.org/officeDocument/2006/relationships/slide" Target="/ppt/slides/slide18.xml" Id="Rf65ae23f74584c5b" /><Relationship Type="http://schemas.openxmlformats.org/officeDocument/2006/relationships/slide" Target="/ppt/slides/slide19.xml" Id="Reedc4492f8404128" /><Relationship Type="http://schemas.openxmlformats.org/officeDocument/2006/relationships/slide" Target="/ppt/slides/slide20.xml" Id="Rbc1ced13a0764338" /><Relationship Type="http://schemas.openxmlformats.org/officeDocument/2006/relationships/slide" Target="/ppt/slides/slide21.xml" Id="R484d4535def441a7" /><Relationship Type="http://schemas.openxmlformats.org/officeDocument/2006/relationships/slide" Target="/ppt/slides/slide22.xml" Id="Re0526a5f846c46f9" /><Relationship Type="http://schemas.openxmlformats.org/officeDocument/2006/relationships/slide" Target="/ppt/slides/slide23.xml" Id="R1ee66f3d5d824a55" /><Relationship Type="http://schemas.openxmlformats.org/officeDocument/2006/relationships/slide" Target="/ppt/slides/slide24.xml" Id="Rf38132ae44da4106" /><Relationship Type="http://schemas.openxmlformats.org/officeDocument/2006/relationships/slide" Target="/ppt/slides/slide25.xml" Id="R119f707f971646aa" /><Relationship Type="http://schemas.openxmlformats.org/officeDocument/2006/relationships/slide" Target="/ppt/slides/slide26.xml" Id="R9d43bce53f0a4fc8" /><Relationship Type="http://schemas.openxmlformats.org/officeDocument/2006/relationships/slide" Target="/ppt/slides/slide27.xml" Id="R95d7732ab95d4a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bf581b7a5b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23d4563e04523" /><Relationship Type="http://schemas.openxmlformats.org/officeDocument/2006/relationships/notesMaster" Target="/ppt/notesMasters/notesMaster1.xml" Id="Re6b3d2fa0bcd42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06c637cf6a40d6" /><Relationship Type="http://schemas.openxmlformats.org/officeDocument/2006/relationships/notesMaster" Target="/ppt/notesMasters/notesMaster1.xml" Id="R305490fcfd7f46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f3b826b4494c3b" /><Relationship Type="http://schemas.openxmlformats.org/officeDocument/2006/relationships/notesMaster" Target="/ppt/notesMasters/notesMaster1.xml" Id="R7cef50c20b5847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000084e454b4a" /><Relationship Type="http://schemas.openxmlformats.org/officeDocument/2006/relationships/notesMaster" Target="/ppt/notesMasters/notesMaster1.xml" Id="R336624dde0da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319700b1441c2" /><Relationship Type="http://schemas.openxmlformats.org/officeDocument/2006/relationships/notesMaster" Target="/ppt/notesMasters/notesMaster1.xml" Id="R9dd27f84cf0b47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899fd8ee034161" /><Relationship Type="http://schemas.openxmlformats.org/officeDocument/2006/relationships/notesMaster" Target="/ppt/notesMasters/notesMaster1.xml" Id="Ra180396abc1c44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eeb98fd81e4dd4" /><Relationship Type="http://schemas.openxmlformats.org/officeDocument/2006/relationships/notesMaster" Target="/ppt/notesMasters/notesMaster1.xml" Id="R726afbb1062a48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e8e6bc88c04b58" /><Relationship Type="http://schemas.openxmlformats.org/officeDocument/2006/relationships/notesMaster" Target="/ppt/notesMasters/notesMaster1.xml" Id="Rbc54ef206838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a0643437ee4010" /><Relationship Type="http://schemas.openxmlformats.org/officeDocument/2006/relationships/notesMaster" Target="/ppt/notesMasters/notesMaster1.xml" Id="Raefe3e4b1b4649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298b820b7f43ae" /><Relationship Type="http://schemas.openxmlformats.org/officeDocument/2006/relationships/notesMaster" Target="/ppt/notesMasters/notesMaster1.xml" Id="R9b5c18c22ca646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31752cfa314669" /><Relationship Type="http://schemas.openxmlformats.org/officeDocument/2006/relationships/notesMaster" Target="/ppt/notesMasters/notesMaster1.xml" Id="Rb4a66800fc6b45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3c97bafef24163" /><Relationship Type="http://schemas.openxmlformats.org/officeDocument/2006/relationships/notesMaster" Target="/ppt/notesMasters/notesMaster1.xml" Id="R695fdc13e0324f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3a2b2d457d4f48" /><Relationship Type="http://schemas.openxmlformats.org/officeDocument/2006/relationships/notesMaster" Target="/ppt/notesMasters/notesMaster1.xml" Id="Reafd8b5e0ed04d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4406f108d94c74" /><Relationship Type="http://schemas.openxmlformats.org/officeDocument/2006/relationships/notesMaster" Target="/ppt/notesMasters/notesMaster1.xml" Id="R94673af69ed146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891139e3d44b3b" /><Relationship Type="http://schemas.openxmlformats.org/officeDocument/2006/relationships/notesMaster" Target="/ppt/notesMasters/notesMaster1.xml" Id="Rbdb80243b17f45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a63d5d3ed54674" /><Relationship Type="http://schemas.openxmlformats.org/officeDocument/2006/relationships/notesMaster" Target="/ppt/notesMasters/notesMaster1.xml" Id="R607835ec0b534a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7674caa9df467a" /><Relationship Type="http://schemas.openxmlformats.org/officeDocument/2006/relationships/notesMaster" Target="/ppt/notesMasters/notesMaster1.xml" Id="R21d495991cb843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f892ff9d5a43dd" /><Relationship Type="http://schemas.openxmlformats.org/officeDocument/2006/relationships/notesMaster" Target="/ppt/notesMasters/notesMaster1.xml" Id="R79b952d7ae6b47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a42dbb56c24162" /><Relationship Type="http://schemas.openxmlformats.org/officeDocument/2006/relationships/notesMaster" Target="/ppt/notesMasters/notesMaster1.xml" Id="Rac93576a3a2f4b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b93b88ab814f8e" /><Relationship Type="http://schemas.openxmlformats.org/officeDocument/2006/relationships/notesMaster" Target="/ppt/notesMasters/notesMaster1.xml" Id="R35aa128aa21a4c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c5c95c0b7b4f35" /><Relationship Type="http://schemas.openxmlformats.org/officeDocument/2006/relationships/notesMaster" Target="/ppt/notesMasters/notesMaster1.xml" Id="R8b610d66158e4c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d88a33413e4eab" /><Relationship Type="http://schemas.openxmlformats.org/officeDocument/2006/relationships/notesMaster" Target="/ppt/notesMasters/notesMaster1.xml" Id="R03a2c1b42cf843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d4fb0014304382" /><Relationship Type="http://schemas.openxmlformats.org/officeDocument/2006/relationships/notesMaster" Target="/ppt/notesMasters/notesMaster1.xml" Id="R3abec1eb46ce4f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df25fef7f04427" /><Relationship Type="http://schemas.openxmlformats.org/officeDocument/2006/relationships/notesMaster" Target="/ppt/notesMasters/notesMaster1.xml" Id="R80797a3ff3fd463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91b6d0666d4d5c" /><Relationship Type="http://schemas.openxmlformats.org/officeDocument/2006/relationships/notesMaster" Target="/ppt/notesMasters/notesMaster1.xml" Id="Rbef465f2234c42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89fb2c46fc46da" /><Relationship Type="http://schemas.openxmlformats.org/officeDocument/2006/relationships/notesMaster" Target="/ppt/notesMasters/notesMaster1.xml" Id="R5f6a94e2cd034a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86504a55bff49c4" /><Relationship Type="http://schemas.openxmlformats.org/officeDocument/2006/relationships/notesMaster" Target="/ppt/notesMasters/notesMaster1.xml" Id="R27b5b7be7f4a4b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本週目標：能寫出if與elif分支；能用for逐筆處理串列；能用邊界值測試規則</a:t>
            </a:r>
          </a:p>
          <a:p xmlns:a="http://schemas.openxmlformats.org/drawingml/2006/main">
            <a:r>
              <a:t>教材對照：CH04PPT 第4章；CH05PPT 第5章；CH07PPT 7-2 串列先行導入</a:t>
            </a:r>
          </a:p>
          <a:p xmlns:a="http://schemas.openxmlformats.org/drawingml/2006/main">
            <a:r>
              <a:t>完整180分鐘流程見逐字講稿。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週我們讓電腦計算總價，今天要讓它根據總價決定是否收運費。請先寫中文規則：商品金額滿一百免運，未滿一百收二十元。如果只說高金額免運，電腦不知道多高才算。規則需要明確門檻，還要說清楚剛好一百的情況。今天最後要處理多筆訂單，請先把單筆規則說對，再來談重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活動：口頭判斷99、100、101元的運費。</a:t>
            </a:r>
          </a:p>
          <a:p xmlns:a="http://schemas.openxmlformats.org/drawingml/2006/main">
            <a:r>
              <a:t>參考答案：依序20、0、0元。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週我們讓電腦計算總價，今天要讓它根據總價決定是否收運費。請先寫中文規則：商品金額滿一百免運，未滿一百收二十元。如果只說高金額免運，電腦不知道多高才算。規則需要明確門檻，還要說清楚剛好一百的情況。今天最後要處理多筆訂單，請先把單筆規則說對，再來談重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活動：口頭判斷99、100、101元的運費。</a:t>
            </a:r>
          </a:p>
          <a:p xmlns:a="http://schemas.openxmlformats.org/drawingml/2006/main">
            <a:r>
              <a:t>參考答案：依序20、0、0元。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比較運算會得到真或假，Python 寫成 True 和 False。請注意大於等於與大於不一樣，一百大於等於一百是真的，但一百大於一百是假的。兩個等號表示比較，一個等號表示指定資料。接下來每次執行前，先在紙上寫預測。你若能預測布林結果，寫 if 就會容易很多。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活動：列出99、100、101是否滿100，再比較100 &gt; 100與100 &gt;= 100。</a:t>
            </a:r>
          </a:p>
          <a:p xmlns:a="http://schemas.openxmlformats.org/drawingml/2006/main">
            <a:r>
              <a:t>參考答案：False、True、True；後兩個比較為False、True。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比較運算會得到真或假，Python 寫成 True 和 False。請注意大於等於與大於不一樣，一百大於等於一百是真的，但一百大於一百是假的。兩個等號表示比較，一個等號表示指定資料。接下來每次執行前，先在紙上寫預測。你若能預測布林結果，寫 if 就會容易很多。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活動：列出99、100、101是否滿100，再比較100 &gt; 100與100 &gt;= 100。</a:t>
            </a:r>
          </a:p>
          <a:p xmlns:a="http://schemas.openxmlformats.org/drawingml/2006/main">
            <a:r>
              <a:t>參考答案：False、True、True；後兩個比較為False、True。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我們把剛才的比較放到 if 後面，意思是如果條件成立，就執行下面縮排的指令。否則走 else。冒號和縮排共同表達程式的結構。請用四個空格，不要混用 Tab。最下方列印的那行沒有縮排，代表不論走哪個分支都會執行。現在請你用手指沿著程式走一遍，金額九十九時走哪邊，金額一百時走哪邊。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活動：改動amount為99與100，逐一記錄運費。</a:t>
            </a:r>
          </a:p>
          <a:p xmlns:a="http://schemas.openxmlformats.org/drawingml/2006/main">
            <a:r>
              <a:t>參考答案：99運費20；100運費0。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CH04PPT.ppt 第28頁。沿YES與NO各走一次，將及格門檻換成免運門檻。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我們把剛才的比較放到 if 後面，意思是如果條件成立，就執行下面縮排的指令。否則走 else。冒號和縮排共同表達程式的結構。請用四個空格，不要混用 Tab。最下方列印的那行沒有縮排，代表不論走哪個分支都會執行。現在請你用手指沿著程式走一遍，金額九十九時走哪邊，金額一百時走哪邊。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活動：改動amount為99與100，逐一記錄運費。</a:t>
            </a:r>
          </a:p>
          <a:p xmlns:a="http://schemas.openxmlformats.org/drawingml/2006/main">
            <a:r>
              <a:t>參考答案：99運費20；100運費0。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CH04PPT.ppt 第28頁。沿YES與NO各走一次，將及格門檻換成免運門檻。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我們把剛才的比較放到 if 後面，意思是如果條件成立，就執行下面縮排的指令。否則走 else。冒號和縮排共同表達程式的結構。請用四個空格，不要混用 Tab。最下方列印的那行沒有縮排，代表不論走哪個分支都會執行。現在請你用手指沿著程式走一遍，金額九十九時走哪邊，金額一百時走哪邊。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活動：改動amount為99與100，逐一記錄運費。</a:t>
            </a:r>
          </a:p>
          <a:p xmlns:a="http://schemas.openxmlformats.org/drawingml/2006/main">
            <a:r>
              <a:t>參考答案：99運費20；100運費0。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CH04PPT.ppt 第28頁。沿YES與NO各走一次，將及格門檻換成免運門檻。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如果滿兩百運費零元、滿一百運費十元，其餘二十元，就需要多個分支。Python 由上往下找到第一個成立的分支便停止，所以先檢查兩百，再檢查一百。若把一百放在前面，兩百也滿足一百，後面的分支就沒有機會執行。邏輯運算則可以組合條件，例如會員而且滿五十才免運。請把每個條件先單獨念一次，再念組合後的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活動：測試99、100、199、200；說明若交換前兩個分支的問題。</a:t>
            </a:r>
          </a:p>
          <a:p xmlns:a="http://schemas.openxmlformats.org/drawingml/2006/main">
            <a:r>
              <a:t>參考答案：運費20、10、10、0；先判斷&gt;=100會攔住200以上金額。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如果滿兩百運費零元、滿一百運費十元，其餘二十元，就需要多個分支。Python 由上往下找到第一個成立的分支便停止，所以先檢查兩百，再檢查一百。若把一百放在前面，兩百也滿足一百，後面的分支就沒有機會執行。邏輯運算則可以組合條件，例如會員而且滿五十才免運。請把每個條件先單獨念一次，再念組合後的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活動：測試99、100、199、200；說明若交換前兩個分支的問題。</a:t>
            </a:r>
          </a:p>
          <a:p xmlns:a="http://schemas.openxmlformats.org/drawingml/2006/main">
            <a:r>
              <a:t>參考答案：運費20、10、10、0；先判斷&gt;=100會攔住200以上金額。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先休息十分鐘。請在文字格寫下三段運費規則，回來時我們會用同一套規則處理一串訂單。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活動：存檔與休息。</a:t>
            </a:r>
          </a:p>
          <a:p xmlns:a="http://schemas.openxmlformats.org/drawingml/2006/main">
            <a:r>
              <a:t>參考答案：能區分本週兩段與三段運費範例。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一張訂單可以用一個變數，一群訂單可以放在串列。串列用中括號包起來，資料用逗號隔開。for amount in amounts，請讀成對 amounts 裡每一個金額，依序取出來叫做 amount。不是同時執行，而是一筆接著一筆。請先猜下面會印出幾行，再執行。接著增加一筆訂單，觀察我們不必複製新的 print 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活動：將第四筆200加入串列，列印每筆金額。</a:t>
            </a:r>
          </a:p>
          <a:p xmlns:a="http://schemas.openxmlformats.org/drawingml/2006/main">
            <a:r>
              <a:t>參考答案：依序50、100、150、200，共4行。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CH05PPT.ppt 第8頁。從流程圖指出重複與停止位置；本課for先走訪串列。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一張訂單可以用一個變數，一群訂單可以放在串列。串列用中括號包起來，資料用逗號隔開。for amount in amounts，請讀成對 amounts 裡每一個金額，依序取出來叫做 amount。不是同時執行，而是一筆接著一筆。請先猜下面會印出幾行，再執行。接著增加一筆訂單，觀察我們不必複製新的 print 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活動：將第四筆200加入串列，列印每筆金額。</a:t>
            </a:r>
          </a:p>
          <a:p xmlns:a="http://schemas.openxmlformats.org/drawingml/2006/main">
            <a:r>
              <a:t>參考答案：依序50、100、150、200，共4行。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CH05PPT.ppt 第8頁。從流程圖指出重複與停止位置；本課for先走訪串列。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一張訂單可以用一個變數，一群訂單可以放在串列。串列用中括號包起來，資料用逗號隔開。for amount in amounts，請讀成對 amounts 裡每一個金額，依序取出來叫做 amount。不是同時執行，而是一筆接著一筆。請先猜下面會印出幾行，再執行。接著增加一筆訂單，觀察我們不必複製新的 print 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活動：將第四筆200加入串列，列印每筆金額。</a:t>
            </a:r>
          </a:p>
          <a:p xmlns:a="http://schemas.openxmlformats.org/drawingml/2006/main">
            <a:r>
              <a:t>參考答案：依序50、100、150、200，共4行。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CH05PPT.ppt 第8頁。從流程圖指出重複與停止位置；本課for先走訪串列。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現在我們要把每筆金額加起來。請把 total 想成一張記帳紙，開始先寫零，每讀到一筆就加上去。total 加等於 amount 是累加的簡寫。最容易犯的錯是把 total 等於零放到迴圈裡，那就每次都把前面的紀錄擦掉。請畫一張三列的追蹤表，列出每次的 amount 和更新後的 total。透過追蹤表，我們能看出程式的狀態如何改變。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活動：追蹤[50,100,150]的累加；再加入200確認總額。</a:t>
            </a:r>
          </a:p>
          <a:p xmlns:a="http://schemas.openxmlformats.org/drawingml/2006/main">
            <a:r>
              <a:t>參考答案：累計50、150、300；加入200後500。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CH05PPT.ppt 第13頁。原教材1加到5為15，請注意total初始化在迴圈外。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現在我們要把每筆金額加起來。請把 total 想成一張記帳紙，開始先寫零，每讀到一筆就加上去。total 加等於 amount 是累加的簡寫。最容易犯的錯是把 total 等於零放到迴圈裡，那就每次都把前面的紀錄擦掉。請畫一張三列的追蹤表，列出每次的 amount 和更新後的 total。透過追蹤表，我們能看出程式的狀態如何改變。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活動：追蹤[50,100,150]的累加；再加入200確認總額。</a:t>
            </a:r>
          </a:p>
          <a:p xmlns:a="http://schemas.openxmlformats.org/drawingml/2006/main">
            <a:r>
              <a:t>參考答案：累計50、150、300；加入200後500。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CH05PPT.ppt 第13頁。原教材1加到5為15，請注意total初始化在迴圈外。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現在我們要把每筆金額加起來。請把 total 想成一張記帳紙，開始先寫零，每讀到一筆就加上去。total 加等於 amount 是累加的簡寫。最容易犯的錯是把 total 等於零放到迴圈裡，那就每次都把前面的紀錄擦掉。請畫一張三列的追蹤表，列出每次的 amount 和更新後的 total。透過追蹤表，我們能看出程式的狀態如何改變。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活動：追蹤[50,100,150]的累加；再加入200確認總額。</a:t>
            </a:r>
          </a:p>
          <a:p xmlns:a="http://schemas.openxmlformats.org/drawingml/2006/main">
            <a:r>
              <a:t>參考答案：累計50、150、300；加入200後500。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直接引用 CH05PPT.ppt 第13頁。原教材1加到5為15，請注意total初始化在迴圈外。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想重複固定次數，可以用 range。range 一到四包含一、不包含四，所以得到一、二、三。while 則適合條件控制，像剩餘次數大於零時繼續。每次都要更新剩餘次數，不然條件永遠成立，就會形成無窮迴圈。如果程式一直忙碌，先中斷核心，不要一直按執行。本週專題使用 for；while 是讓大家能讀懂教材，也知道如何避免停不下來的程式。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活動：將倒數改成5到1；說明拿掉remaining -= 1會發生什麼。</a:t>
            </a:r>
          </a:p>
          <a:p xmlns:a="http://schemas.openxmlformats.org/drawingml/2006/main">
            <a:r>
              <a:t>參考答案：會倒數5、4、3、2、1；拿掉更新可能無限重複。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想重複固定次數，可以用 range。range 一到四包含一、不包含四，所以得到一、二、三。while 則適合條件控制，像剩餘次數大於零時繼續。每次都要更新剩餘次數，不然條件永遠成立，就會形成無窮迴圈。如果程式一直忙碌，先中斷核心，不要一直按執行。本週專題使用 for；while 是讓大家能讀懂教材，也知道如何避免停不下來的程式。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活動：將倒數改成5到1；說明拿掉remaining -= 1會發生什麼。</a:t>
            </a:r>
          </a:p>
          <a:p xmlns:a="http://schemas.openxmlformats.org/drawingml/2006/main">
            <a:r>
              <a:t>參考答案：會倒數5、4、3、2、1；拿掉更新可能無限重複。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接下來把 if 放進 for。每次取出一筆商品金額，先判斷運費，再加進總付款。請留意我們判斷的是商品金額，不能先加了運費才判斷免運，那會改變規則。當筆付款和全部總額要使用不同名稱，這樣才不會誤把上一筆結果帶進下一筆。今天綜合專題統一採兩段規則：滿一百免運，其餘二十，請不要混入前面的三段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活動：計算[80,100,120]每筆付款與總付款，畫出三次追蹤表。</a:t>
            </a:r>
          </a:p>
          <a:p xmlns:a="http://schemas.openxmlformats.org/drawingml/2006/main">
            <a:r>
              <a:t>參考答案：付款100、100、120；總付款320。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接下來把 if 放進 for。每次取出一筆商品金額，先判斷運費，再加進總付款。請留意我們判斷的是商品金額，不能先加了運費才判斷免運，那會改變規則。當筆付款和全部總額要使用不同名稱，這樣才不會誤把上一筆結果帶進下一筆。今天綜合專題統一採兩段規則：滿一百免運，其餘二十，請不要混入前面的三段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活動：計算[80,100,120]每筆付款與總付款，畫出三次追蹤表。</a:t>
            </a:r>
          </a:p>
          <a:p xmlns:a="http://schemas.openxmlformats.org/drawingml/2006/main">
            <a:r>
              <a:t>參考答案：付款100、100、120；總付款320。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請獨立完成五筆訂單。資料是零、九十九、一百、一百零一與兩百。這裡零元訂單仍依題目規則收二十元；真實商店可能禁止零元訂單，那是另一條需要另外寫清楚的規則。請列出各筆付款，累加總付款，並統計免運筆數。最後把串列改成空的，確認結果應該是零筆、零元。不要為了通過測試把答案直接寫成固定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活動：完成指定5筆與空串列測試；快組再加入禁止負金額的規則。</a:t>
            </a:r>
          </a:p>
          <a:p xmlns:a="http://schemas.openxmlformats.org/drawingml/2006/main">
            <a:r>
              <a:t>參考答案：五筆付款20、119、100、101、200；總付款540、免運3筆。空串列為0、0。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請獨立完成五筆訂單。資料是零、九十九、一百、一百零一與兩百。這裡零元訂單仍依題目規則收二十元；真實商店可能禁止零元訂單，那是另一條需要另外寫清楚的規則。請列出各筆付款，累加總付款，並統計免運筆數。最後把串列改成空的，確認結果應該是零筆、零元。不要為了通過測試把答案直接寫成固定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活動：完成指定5筆與空串列測試；快組再加入禁止負金額的規則。</a:t>
            </a:r>
          </a:p>
          <a:p xmlns:a="http://schemas.openxmlformats.org/drawingml/2006/main">
            <a:r>
              <a:t>參考答案：五筆付款20、119、100、101、200；總付款540、免運3筆。空串列為0、0。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不是隨便換幾個數字。最容易出錯的地方就在規則邊界，所以要測門檻前一個、門檻本身、門檻後一個。請同桌看你的九十九、一百、一百零一，確認免運邊界沒有漏掉。接著指出總額初始化在哪裡，說明為什麼放在迴圈外。若結果只留下最後一筆，先檢查初始化和縮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活動：同桌檢查邊界值、空串列與縮排。</a:t>
            </a:r>
          </a:p>
          <a:p xmlns:a="http://schemas.openxmlformats.org/drawingml/2006/main">
            <a:r>
              <a:t>參考答案：100必須免運；總額與計數初始化在for之前。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不是隨便換幾個數字。最容易出錯的地方就在規則邊界，所以要測門檻前一個、門檻本身、門檻後一個。請同桌看你的九十九、一百、一百零一，確認免運邊界沒有漏掉。接著指出總額初始化在哪裡，說明為什麼放在迴圈外。若結果只留下最後一筆，先檢查初始化和縮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活動：同桌檢查邊界值、空串列與縮排。</a:t>
            </a:r>
          </a:p>
          <a:p xmlns:a="http://schemas.openxmlformats.org/drawingml/2006/main">
            <a:r>
              <a:t>參考答案：100必須免運；總額與計數初始化在for之前。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請用一句話說明 for 與 while 的差別，再回答 range 一到五會有幾個數。課後請統計一組分數有幾人及格，及格門檻六十，至少包含五十九、六十與六十一。下週我們把同一個規則包成函數，讓它可以重複使用，也更容易逐一測試。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活動：課後用[59,60,61,80,40]統計及格人數與總分。</a:t>
            </a:r>
          </a:p>
          <a:p xmlns:a="http://schemas.openxmlformats.org/drawingml/2006/main">
            <a:r>
              <a:t>參考答案：for遍歷資料，while依條件重複；range(1,5)有4個數。及格3人、總分300。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請用一句話說明 for 與 while 的差別，再回答 range 一到五會有幾個數。課後請統計一組分數有幾人及格，及格門檻六十，至少包含五十九、六十與六十一。下週我們把同一個規則包成函數，讓它可以重複使用，也更容易逐一測試。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活動：課後用[59,60,61,80,40]統計及格人數與總分。</a:t>
            </a:r>
          </a:p>
          <a:p xmlns:a="http://schemas.openxmlformats.org/drawingml/2006/main">
            <a:r>
              <a:t>參考答案：for遍歷資料，while依條件重複；range(1,5)有4個數。及格3人、總分300。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教材來源：CH04PPT 第4章；CH05PPT 第5章；CH07PPT 7-2 串列先行導入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e5a2e215542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46f1627d194491" /><Relationship Type="http://schemas.openxmlformats.org/officeDocument/2006/relationships/slideLayout" Target="/ppt/slideLayouts/slideLayout1.xml" Id="R95bc573927a943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c573927a943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e8a8213e04a5d" /><Relationship Type="http://schemas.openxmlformats.org/officeDocument/2006/relationships/notesSlide" Target="/ppt/notesSlides/notesSlide1.xml" Id="R6089180030eb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77af862354a0f" /><Relationship Type="http://schemas.openxmlformats.org/officeDocument/2006/relationships/notesSlide" Target="/ppt/notesSlides/notesSlide2.xml" Id="Rde34ec7b2ae3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45ce993f94e5e" /><Relationship Type="http://schemas.openxmlformats.org/officeDocument/2006/relationships/notesSlide" Target="/ppt/notesSlides/notesSlide3.xml" Id="Rfccf8e57c69f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43efdca594250" /><Relationship Type="http://schemas.openxmlformats.org/officeDocument/2006/relationships/notesSlide" Target="/ppt/notesSlides/notesSlide4.xml" Id="Rcaa4c2ae7466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e6aeef4ab4345" /><Relationship Type="http://schemas.openxmlformats.org/officeDocument/2006/relationships/notesSlide" Target="/ppt/notesSlides/notesSlide5.xml" Id="R5fc15d455339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ab04855a04dba" /><Relationship Type="http://schemas.openxmlformats.org/officeDocument/2006/relationships/notesSlide" Target="/ppt/notesSlides/notesSlide6.xml" Id="Rda8dfc5b573149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95ffebfcc4c96" /><Relationship Type="http://schemas.openxmlformats.org/officeDocument/2006/relationships/notesSlide" Target="/ppt/notesSlides/notesSlide7.xml" Id="Rca0a81f2335746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12f10b4d54d62" /><Relationship Type="http://schemas.openxmlformats.org/officeDocument/2006/relationships/image" Target="/ppt/media/image.png" Id="R313ee5c31fbd41bb" /><Relationship Type="http://schemas.openxmlformats.org/officeDocument/2006/relationships/notesSlide" Target="/ppt/notesSlides/notesSlide8.xml" Id="Rafd9609e1d9248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b62d578d74e13" /><Relationship Type="http://schemas.openxmlformats.org/officeDocument/2006/relationships/notesSlide" Target="/ppt/notesSlides/notesSlide9.xml" Id="R8f7641a6d053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d2fbc3f984407" /><Relationship Type="http://schemas.openxmlformats.org/officeDocument/2006/relationships/notesSlide" Target="/ppt/notesSlides/notesSlide10.xml" Id="R5603bf4d3a534c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ff54e691247eb" /><Relationship Type="http://schemas.openxmlformats.org/officeDocument/2006/relationships/notesSlide" Target="/ppt/notesSlides/notesSlide11.xml" Id="R07c5744242e444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9c3fe519c4c33" /><Relationship Type="http://schemas.openxmlformats.org/officeDocument/2006/relationships/notesSlide" Target="/ppt/notesSlides/notesSlide12.xml" Id="R98207d956b334a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56a69fefe4e6f" /><Relationship Type="http://schemas.openxmlformats.org/officeDocument/2006/relationships/notesSlide" Target="/ppt/notesSlides/notesSlide13.xml" Id="R3ce4597f47544b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4ee9f03404395" /><Relationship Type="http://schemas.openxmlformats.org/officeDocument/2006/relationships/image" Target="/ppt/media/image2.png" Id="R62813df529684eaf" /><Relationship Type="http://schemas.openxmlformats.org/officeDocument/2006/relationships/notesSlide" Target="/ppt/notesSlides/notesSlide14.xml" Id="Re1affc435aaf4b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3e938c2c147c5" /><Relationship Type="http://schemas.openxmlformats.org/officeDocument/2006/relationships/notesSlide" Target="/ppt/notesSlides/notesSlide15.xml" Id="R17a6f78c482845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e8423b33e4eb1" /><Relationship Type="http://schemas.openxmlformats.org/officeDocument/2006/relationships/notesSlide" Target="/ppt/notesSlides/notesSlide16.xml" Id="R9124dabdea504c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befc9f5db4ed5" /><Relationship Type="http://schemas.openxmlformats.org/officeDocument/2006/relationships/image" Target="/ppt/media/image3.png" Id="R861910d476354e4f" /><Relationship Type="http://schemas.openxmlformats.org/officeDocument/2006/relationships/notesSlide" Target="/ppt/notesSlides/notesSlide17.xml" Id="Rf3c1ef67a1a44a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d416470d4464b" /><Relationship Type="http://schemas.openxmlformats.org/officeDocument/2006/relationships/notesSlide" Target="/ppt/notesSlides/notesSlide18.xml" Id="R2145f5f493df49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6ca5fa4984283" /><Relationship Type="http://schemas.openxmlformats.org/officeDocument/2006/relationships/notesSlide" Target="/ppt/notesSlides/notesSlide19.xml" Id="Rf26c14d095f645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14f60e6744566" /><Relationship Type="http://schemas.openxmlformats.org/officeDocument/2006/relationships/notesSlide" Target="/ppt/notesSlides/notesSlide20.xml" Id="R7260fa7a4fb242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dd272dc6243a9" /><Relationship Type="http://schemas.openxmlformats.org/officeDocument/2006/relationships/notesSlide" Target="/ppt/notesSlides/notesSlide21.xml" Id="R9d69a3d353d741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e51b28cc4245" /><Relationship Type="http://schemas.openxmlformats.org/officeDocument/2006/relationships/notesSlide" Target="/ppt/notesSlides/notesSlide22.xml" Id="R1c782231b52843c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f4dbf00214459" /><Relationship Type="http://schemas.openxmlformats.org/officeDocument/2006/relationships/notesSlide" Target="/ppt/notesSlides/notesSlide23.xml" Id="Rb77a59aaff2348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9c3aa2da4826" /><Relationship Type="http://schemas.openxmlformats.org/officeDocument/2006/relationships/notesSlide" Target="/ppt/notesSlides/notesSlide24.xml" Id="R12ccbc1efeaa4a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74ec50b054201" /><Relationship Type="http://schemas.openxmlformats.org/officeDocument/2006/relationships/notesSlide" Target="/ppt/notesSlides/notesSlide25.xml" Id="R73eb219adeaa40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d68586e36475d" /><Relationship Type="http://schemas.openxmlformats.org/officeDocument/2006/relationships/notesSlide" Target="/ppt/notesSlides/notesSlide26.xml" Id="Rd9e5d1c3ea544f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72ab925424131" /><Relationship Type="http://schemas.openxmlformats.org/officeDocument/2006/relationships/notesSlide" Target="/ppt/notesSlides/notesSlide27.xml" Id="R0527633da7c942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F217C-E26B-49D4-B3D3-12E290C4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rPr>
              <a:t>第 2 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FDCE0-1A56-4CA5-8E60-7F5C5A1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條件判斷與重複處理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66188-A9A1-4299-9676-90D1E74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完成多筆訂單運費計算與總額統計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0DE8-6236-4ADE-A287-4AFC4C6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180 分鐘  含 10 分鐘休息</a:t>
            </a:r>
          </a:p>
        </p:txBody>
      </p:sp>
    </p:spTree>
    <p:extLst>
      <p:ext uri="{BB962C8B-B14F-4D97-AF65-F5344CB8AC3E}">
        <p14:creationId xmlns:p14="http://schemas.microsoft.com/office/powerpoint/2010/main" val="304955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2E4C8-066A-4EB1-91B0-6693813C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W2-01   000–010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D19FC-0220-4E72-9461-3DC4085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變數複習與本週任務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B926E-A1FF-4368-848B-139C3698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5447-41E8-4D2D-9CD2-50670FF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上週計算一張訂單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79227-368A-4886-BFB1-B34D3D2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8331F-EFE7-4BD9-A151-FE5419C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本週依金額決定運費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1EB34-859B-46C7-9AC3-0A3891B0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F2F44-990D-4803-8393-DECC9A11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規則先用中文寫清楚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4AEB8-DEFC-4F11-9E20-4EFB255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586398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BED88-3F4E-4B42-B521-75B45AE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W2-01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073BE-F274-427C-8FDB-C2011662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變數複習與本週任務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9E0-E6D0-4EA6-8E73-0B60F905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口頭判斷99、100、101元的運費。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791FC-7D25-47E1-A63D-4E6DA79A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9B367-AFA0-4FEC-9297-244A3EB4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依序20、0、0元。</a:t>
            </a:r>
          </a:p>
        </p:txBody>
      </p:sp>
    </p:spTree>
    <p:extLst>
      <p:ext uri="{BB962C8B-B14F-4D97-AF65-F5344CB8AC3E}">
        <p14:creationId xmlns:p14="http://schemas.microsoft.com/office/powerpoint/2010/main" val="2020035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D9058-AED9-4226-AD04-F6524EB0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W2-02   010–025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BD5F0-299D-4B0B-B4B4-ADFC7522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比較與布林值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64988-7556-4F82-B99F-E6D9CA26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2B0E9-6F85-401C-B053-2B43FD4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&gt;= 包含等於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7FAF5-BB42-47C9-9577-D89CC9F9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A692E-8BA7-42FE-806F-06D4339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== 比較，= 指定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C33F5-AC62-49D4-B2D2-805CB68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B58FC-4D33-4B84-AC09-8D6EA0F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結果是 True 或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99A3D-7123-4D37-9EB5-E069410E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360287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A366C-9503-437A-BE80-9DCA3595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W2-02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408FA-8FC9-49D6-9C21-0736B2A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比較與布林值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0ADE1-A454-44B9-A073-E5D9DA8F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 = 100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print(amount &gt;= 100)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print(amount == 100)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print(amount &gt; 100)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0BCB8-0158-4510-828B-33841439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列出99、100、101是否滿100，再比較100 &gt; 100與100 &gt;= 100。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BFAE8-D16D-4DEC-83AC-C6F2C478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W2-02</a:t>
            </a:r>
          </a:p>
        </p:txBody>
      </p:sp>
    </p:spTree>
    <p:extLst>
      <p:ext uri="{BB962C8B-B14F-4D97-AF65-F5344CB8AC3E}">
        <p14:creationId xmlns:p14="http://schemas.microsoft.com/office/powerpoint/2010/main" val="522819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0C39B-7976-4519-A12F-E5C5F32D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W2-03   025–045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2D55E-8C9B-4ED7-87C8-757F3DD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if 與 else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CD671-AB5E-45EB-9764-87E600DE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7893E-2F30-47D7-8FA3-2CA41DA4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冒號表示區塊開始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3F41E-931F-4ABE-8704-8FBB960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4B148-2EF8-41B8-B2F9-17B066F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區塊內縮排四個空格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5BCCF-6F70-4468-8428-9CD47C29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8526E-91D0-4A70-A095-8D63D5DF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兩個分支只執行其中一個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855DE-9304-47F2-9715-6D07016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172493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06824-4396-45D1-985D-2BEBC33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W2-03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6F89A-EF42-4E74-8943-BBDA2AD1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if 與 else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35830-67C0-4C2C-A9ED-D546E5C8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 = 99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if amount &gt;= 100: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shipping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else: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shipping = 20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print(amount + shipping)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3E69A-D8E1-4FDF-BD9E-BDF948D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改動amount為99與100，逐一記錄運費。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83FEE-D3DD-4DC6-8E5D-348BDFB1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W2-03</a:t>
            </a:r>
          </a:p>
        </p:txBody>
      </p:sp>
    </p:spTree>
    <p:extLst>
      <p:ext uri="{BB962C8B-B14F-4D97-AF65-F5344CB8AC3E}">
        <p14:creationId xmlns:p14="http://schemas.microsoft.com/office/powerpoint/2010/main" val="1143529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EAF16-7D79-4873-930B-512536D9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W2-03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ee5c31fbd41bb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2A0F8-FD0A-415A-B6D7-E6EC7A60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CH04PPT.ppt 第 28 頁</a:t>
            </a:r>
          </a:p>
        </p:txBody>
      </p:sp>
    </p:spTree>
    <p:extLst>
      <p:ext uri="{BB962C8B-B14F-4D97-AF65-F5344CB8AC3E}">
        <p14:creationId xmlns:p14="http://schemas.microsoft.com/office/powerpoint/2010/main" val="1340258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6FA89-9E6E-4C59-9343-2BE29205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W2-04   045–060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4E7EA-D25E-4A16-9E65-C5D3E36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多分支與邏輯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A71CA-5AE7-4BD5-832A-05605ED9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93E1F-D313-467D-BAD8-F126EB0B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elif 由上往下找第一個成立條件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42D3E-016D-4484-959D-36B5EAE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2BEED-7F85-4B38-BF75-4548FCC1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多個門檻通常先檢查較高者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F4226-E916-4DF1-B3C1-4420469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E8B05-00CD-4D2D-98DA-563934F2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and 兩者皆成立，or 至少一者成立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94A8F-EC0A-4C6D-B845-825F547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23457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2F794-546B-41F3-9F31-B7E49E0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W2-04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ECBC6-F150-4A7D-9D5F-B94060B3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多分支與邏輯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F6412-663E-4D3F-B44E-F867AAC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 = 200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if amount &gt;= 200: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shipping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elif amount &gt;= 100: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shipping = 10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else: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shipping = 20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print(shipping)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64958-C9CB-40D5-B805-8E1053A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測試99、100、199、200；說明若交換前兩個分支的問題。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AF26B-61B0-4678-A61E-9E128DDB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W2-04</a:t>
            </a:r>
          </a:p>
        </p:txBody>
      </p:sp>
    </p:spTree>
    <p:extLst>
      <p:ext uri="{BB962C8B-B14F-4D97-AF65-F5344CB8AC3E}">
        <p14:creationId xmlns:p14="http://schemas.microsoft.com/office/powerpoint/2010/main" val="1676595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09C2B-2BAA-4EFE-9860-39E2D2B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W2-05   060–070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C8D5C-EF2A-4A92-9523-9005570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休息與規則確認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885DA-3EAA-4B65-895D-7EE62118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7814D-0D5C-4B54-BE58-0B4DDABD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先儲存，再離開座位</a:t>
            </a:r>
          </a:p>
        </p:txBody>
      </p:sp>
    </p:spTree>
    <p:extLst>
      <p:ext uri="{BB962C8B-B14F-4D97-AF65-F5344CB8AC3E}">
        <p14:creationId xmlns:p14="http://schemas.microsoft.com/office/powerpoint/2010/main" val="383139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4BD3F-EF16-47CC-83A9-1B43AB38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W2-06   070–090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1263F-F4DC-41B0-99BF-73057501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串列與 for 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FBA3B-0AD2-49B3-BF5D-88F1F529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1462A-9C6F-42C7-8EB1-BC4307B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串列用中括號裝多筆資料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8B6EE-D7B1-48C3-8A56-18A1C72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0FDE7-7601-4F6A-957D-9523170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for 每次取出一筆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C4DFD-174E-4F23-B593-570B3CB6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2724F-07D3-4B60-9AA5-59B5888F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迴圈變數代表當次資料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19AD5-FA78-40D0-8752-B36C0776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36620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0F305-B13B-43E7-994B-A12AEF2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W2-06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770F6-A2A0-4159-85E6-ACEBCFC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串列與 for 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E03CC-4F8D-41BA-A964-EC7A377D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amounts = [50, 100, 150]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amount in amounts: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print("商品金額", amount)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F5CCC-C997-42D1-B559-90AAA0B5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將第四筆200加入串列，列印每筆金額。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BFA0A-1408-4DF8-BAD6-06D6A2B6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W2-06</a:t>
            </a:r>
          </a:p>
        </p:txBody>
      </p:sp>
    </p:spTree>
    <p:extLst>
      <p:ext uri="{BB962C8B-B14F-4D97-AF65-F5344CB8AC3E}">
        <p14:creationId xmlns:p14="http://schemas.microsoft.com/office/powerpoint/2010/main" val="3413985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0CBD-7313-4822-9151-76190B9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W2-06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13df529684eaf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6E43B-38AC-487B-9B04-EE0AC699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CH05PPT.ppt 第 8 頁</a:t>
            </a:r>
          </a:p>
        </p:txBody>
      </p:sp>
    </p:spTree>
    <p:extLst>
      <p:ext uri="{BB962C8B-B14F-4D97-AF65-F5344CB8AC3E}">
        <p14:creationId xmlns:p14="http://schemas.microsoft.com/office/powerpoint/2010/main" val="1465734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5E28A-4158-4856-93D5-5EE357E1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W2-07   090–110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995A2-8841-4995-9567-DFF977E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累加與計數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F9DBC-9E3F-4CA6-9FE4-5C850CE0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7A4F7-6B0A-4F3F-8853-2004CB5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總額從0開始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EB5E0-694C-4943-AD5D-DC0F4644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130EE-C26F-4F1F-9FD7-E1D1CAFF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每次加上當筆金額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D0A7D-EA96-48B6-A7EE-6C7A61D1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010F3-B38C-45E1-A65E-57B0E6A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初始化放在迴圈外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B3CC1-05CF-4A3B-9CB2-E5D46A6D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21387687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A6F21-5C14-4A94-BEE4-29248D16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W2-07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B7509-8520-4C0C-84A8-82F009D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累加與計數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D2941-AF7F-472B-8526-64627BD1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amounts = [50, 100, 150]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total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count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amount in amounts: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total += amount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count += 1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print(amount, total)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print("筆數", count)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98FB-A98B-4001-9E4E-2B63A2D1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追蹤[50,100,150]的累加；再加入200確認總額。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D6E70-6598-48C2-B525-7D95B02B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W2-07</a:t>
            </a:r>
          </a:p>
        </p:txBody>
      </p:sp>
    </p:spTree>
    <p:extLst>
      <p:ext uri="{BB962C8B-B14F-4D97-AF65-F5344CB8AC3E}">
        <p14:creationId xmlns:p14="http://schemas.microsoft.com/office/powerpoint/2010/main" val="13742138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9BAF2-E56F-41D6-9230-260AD31A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W2-07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910d476354e4f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2ED71-C730-4414-A38F-B3D7B0F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CH05PPT.ppt 第 13 頁</a:t>
            </a:r>
          </a:p>
        </p:txBody>
      </p:sp>
    </p:spTree>
    <p:extLst>
      <p:ext uri="{BB962C8B-B14F-4D97-AF65-F5344CB8AC3E}">
        <p14:creationId xmlns:p14="http://schemas.microsoft.com/office/powerpoint/2010/main" val="10949337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30F15-0D45-4E1E-B498-D2B516A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W2-08   110–125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40CE-3132-4F0A-82AE-0A75CF2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range 與 while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EF8D9-FFBE-419A-BE0E-21E1147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D90D-9C79-4587-99EB-DDE7CB25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range(1,4) 產生1、2、3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16363-4C9B-460A-836A-B4CDD8F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AD982-1980-40F5-827C-D20822FC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while 在條件成立時繼續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64427-28BC-4B0A-98F2-CA656B2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2F3A2-24B3-43B8-A088-691694E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必須讓條件有機會變成假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E4E2F-3F29-41CD-9F7B-AE6CE3A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15174040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65AB2-28A6-4D44-B774-67E74B6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W2-08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766B3-8978-461A-9371-717D94A5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range 與 while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FD25-112F-42D2-AA80-8231BB1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i in range(1, 4):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print("第", i, "次")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remaining = 3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while remaining &gt; 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print(remaining)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remaining -=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272C-C31E-4292-AAE4-110F7E68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將倒數改成5到1；說明拿掉remaining -= 1會發生什麼。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7692F-E474-4B02-B739-DA3FCA35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W2-08</a:t>
            </a:r>
          </a:p>
        </p:txBody>
      </p:sp>
    </p:spTree>
    <p:extLst>
      <p:ext uri="{BB962C8B-B14F-4D97-AF65-F5344CB8AC3E}">
        <p14:creationId xmlns:p14="http://schemas.microsoft.com/office/powerpoint/2010/main" val="11743758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4E527-F3B0-46D8-AB2F-71F4AD7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W2-09   125–140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7DF31-2CD8-4837-BDC2-5DA4C8A4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迴圈內的條件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CAD99-0C7B-4CE8-98FE-23019A78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1BBDA-C965-4902-B3EB-2E5588AA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每筆訂單各自決定運費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ACC8A-F7E1-4690-960A-F62CCF1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642C6-1D0F-4423-8BF4-0D42373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subtotal 與 grand_total 分開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4973D-EED0-49DD-93CE-8053841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CB6D8-A748-4C19-8A49-CC00D9CD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門檻要以商品金額判斷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F915A-7859-4778-B886-E3F9BE3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8175568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F7629-9CBF-48BE-9C97-D45837F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W2-09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6CB24-FC1B-43F2-B0FB-EDE74CA8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迴圈內的條件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15DA2-49E0-4D9E-AFA4-0CE461E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amounts = [80, 100, 120]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grand_total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amount in amounts: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if amount &gt;= 100: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shipping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else: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shipping = 20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subtotal = amount + shipping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B6A40-35B4-4339-8EB0-22CF279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計算[80,100,120]每筆付款與總付款，畫出三次追蹤表。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64F64-BA07-48F5-A64A-72697983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W2-09</a:t>
            </a:r>
          </a:p>
        </p:txBody>
      </p:sp>
    </p:spTree>
    <p:extLst>
      <p:ext uri="{BB962C8B-B14F-4D97-AF65-F5344CB8AC3E}">
        <p14:creationId xmlns:p14="http://schemas.microsoft.com/office/powerpoint/2010/main" val="11433183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BC3B1-2CDC-43C7-9A8A-D46684F5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W2-10   140–160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0074C-1C31-4159-8603-3CF460B8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多筆訂單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B8722-75C4-4E75-99FC-664AED4A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3EF70-6151-48CA-8F3A-D56E96E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商品金額滿100免運，其餘20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D8628-A759-44D8-9FF7-E95DC6D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3ABF5-484F-44FB-86E0-633B0E3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同時計算總付款與免運筆數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D42E6-1C30-40D8-BA2A-E51675A2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3C4F4-05A7-4E48-89BA-EEA0BBA0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空串列也要有合理結果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F7F80-A019-42D5-95D8-086B9332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928256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17EE6-9553-4D13-8E4C-F141ADA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W2-10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DF390-BD11-4AEB-8109-C77764A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多筆訂單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5BC27-8F02-4472-9BB8-8569ECD1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amounts = [0, 99, 100, 101, 200]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print("請依兩段規則完成專題")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1104D-1FCF-4CA0-B101-DDB35526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完成指定5筆與空串列測試；快組再加入禁止負金額的規則。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44985-DE5F-40D8-AB6F-97F00B51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W2-10</a:t>
            </a:r>
          </a:p>
        </p:txBody>
      </p:sp>
    </p:spTree>
    <p:extLst>
      <p:ext uri="{BB962C8B-B14F-4D97-AF65-F5344CB8AC3E}">
        <p14:creationId xmlns:p14="http://schemas.microsoft.com/office/powerpoint/2010/main" val="7806581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31F73-CB93-470D-A757-906DF36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W2-11   160–170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4F2F7-4ED7-4BC2-924A-8BF841C5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邊界測試與互評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3443A-EC6F-4E29-BD12-9563C4E5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BCA57-BEE6-40ED-A44A-028B4A9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至少測99、100、101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F0DF3-BB59-484E-A150-818B692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F5890-EC33-4E44-80F5-E7D3CC4D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說明初始化的位置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A7CB0-D5CE-48A2-9393-5AA6AF5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05D15-5D5F-44C9-8528-3F9B079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同桌修改一筆資料再驗算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0E6D4-C436-44F2-8263-AC4E45A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18558302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B5B7-3F52-4C76-940E-4E92F56A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W2-11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86902-0403-4D7E-92B5-C458A52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邊界測試與互評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11EAA-368C-4947-A764-D2D8FD4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同桌檢查邊界值、空串列與縮排。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E9FF5-D5AE-4E11-A968-F26807AA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34DEA-3D83-4AB7-A183-FEC8C73C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100必須免運；總額與計數初始化在for之前。</a:t>
            </a:r>
          </a:p>
        </p:txBody>
      </p:sp>
    </p:spTree>
    <p:extLst>
      <p:ext uri="{BB962C8B-B14F-4D97-AF65-F5344CB8AC3E}">
        <p14:creationId xmlns:p14="http://schemas.microsoft.com/office/powerpoint/2010/main" val="21430969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A7285-F941-4480-82FE-BFFEB28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W2-12   170–180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92453-DF76-43BF-9816-DDCFC9B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7CA9B-D484-4A71-9469-3B6F2148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472D4-4813-4C3B-8BD6-0A98A25F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for 與 while 的用途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79EE2-73BA-49AC-A33B-86248DE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01763-3137-4D87-9E91-798A6AC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range 不包含結束值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85645-D666-4B6C-8107-D7EC4405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5DC66-B866-4EE4-AB99-189491A2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下週把規則包成函數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13FD-4915-4FAD-AC26-AF9AD81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本週作品：完成多筆訂單運費計算與總額統計</a:t>
            </a:r>
          </a:p>
        </p:txBody>
      </p:sp>
    </p:spTree>
    <p:extLst>
      <p:ext uri="{BB962C8B-B14F-4D97-AF65-F5344CB8AC3E}">
        <p14:creationId xmlns:p14="http://schemas.microsoft.com/office/powerpoint/2010/main" val="13808948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349B9-D471-44FD-BBC3-557CD28F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W2-12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CC2CB-D48A-4861-8A88-1ABC2C2E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20CF-6FDB-4F8D-94CB-68EFB3B1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課後用[59,60,61,80,40]統計及格人數與總分。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BC35-00E5-40A9-877D-ED2943A4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462D9-DDE9-44F4-93E2-F51BC200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for遍歷資料，while依條件重複；range(1,5)有4個數。及格3人、總分300。</a:t>
            </a:r>
          </a:p>
        </p:txBody>
      </p:sp>
    </p:spTree>
    <p:extLst>
      <p:ext uri="{BB962C8B-B14F-4D97-AF65-F5344CB8AC3E}">
        <p14:creationId xmlns:p14="http://schemas.microsoft.com/office/powerpoint/2010/main" val="1630566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2026-10-07T23:28:38.6740000Z</dcterms:created>
  <dcterms:modified xsi:type="dcterms:W3CDTF">2026-10-07T23:28:38.6740000Z</dcterms:modified>
</coreProperties>
</file>