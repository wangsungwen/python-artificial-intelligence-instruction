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8e3b4f22af4ad1" /><Relationship Type="http://schemas.openxmlformats.org/officeDocument/2006/relationships/extended-properties" Target="/docProps/app.xml" Id="R029b76abeb584996" /><Relationship Type="http://schemas.openxmlformats.org/officeDocument/2006/relationships/officeDocument" Target="/ppt/presentation.xml" Id="R4c04bbe9659a4c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43f063995c43c5"/>
  </p:sldMasterIdLst>
  <p:notesMasterIdLst>
    <p:notesMasterId xmlns:r="http://schemas.openxmlformats.org/officeDocument/2006/relationships" r:id="Rb243e5ab889c4e2c"/>
  </p:notesMasterIdLst>
  <p:sldIdLst>
    <p:sldId xmlns:r="http://schemas.openxmlformats.org/officeDocument/2006/relationships" id="256" r:id="R1433ceba53574fe2"/>
    <p:sldId xmlns:r="http://schemas.openxmlformats.org/officeDocument/2006/relationships" id="257" r:id="Rb2f556b24ca74125"/>
    <p:sldId xmlns:r="http://schemas.openxmlformats.org/officeDocument/2006/relationships" id="258" r:id="R974fa1bcadb449e4"/>
    <p:sldId xmlns:r="http://schemas.openxmlformats.org/officeDocument/2006/relationships" id="259" r:id="R1946afb910c44593"/>
    <p:sldId xmlns:r="http://schemas.openxmlformats.org/officeDocument/2006/relationships" id="260" r:id="Rb3d89216018f460b"/>
    <p:sldId xmlns:r="http://schemas.openxmlformats.org/officeDocument/2006/relationships" id="261" r:id="R15ffd9f21aef46fd"/>
    <p:sldId xmlns:r="http://schemas.openxmlformats.org/officeDocument/2006/relationships" id="262" r:id="R74b4ba8dd1614cfa"/>
    <p:sldId xmlns:r="http://schemas.openxmlformats.org/officeDocument/2006/relationships" id="263" r:id="R5fb2e7f16445441f"/>
    <p:sldId xmlns:r="http://schemas.openxmlformats.org/officeDocument/2006/relationships" id="264" r:id="Rb37bcff2e9904cf9"/>
    <p:sldId xmlns:r="http://schemas.openxmlformats.org/officeDocument/2006/relationships" id="265" r:id="Re25ebcce961b471b"/>
    <p:sldId xmlns:r="http://schemas.openxmlformats.org/officeDocument/2006/relationships" id="266" r:id="R3d9a0fe8e5484152"/>
    <p:sldId xmlns:r="http://schemas.openxmlformats.org/officeDocument/2006/relationships" id="267" r:id="Rf61a6678d9fe4f2b"/>
    <p:sldId xmlns:r="http://schemas.openxmlformats.org/officeDocument/2006/relationships" id="268" r:id="R1c02413034fe4173"/>
    <p:sldId xmlns:r="http://schemas.openxmlformats.org/officeDocument/2006/relationships" id="269" r:id="R7447c3b3919f463d"/>
    <p:sldId xmlns:r="http://schemas.openxmlformats.org/officeDocument/2006/relationships" id="270" r:id="Re68f33f1a9d64aa7"/>
    <p:sldId xmlns:r="http://schemas.openxmlformats.org/officeDocument/2006/relationships" id="271" r:id="Rfdff258af2284f30"/>
    <p:sldId xmlns:r="http://schemas.openxmlformats.org/officeDocument/2006/relationships" id="272" r:id="R84f440776243439d"/>
    <p:sldId xmlns:r="http://schemas.openxmlformats.org/officeDocument/2006/relationships" id="273" r:id="R4cfaadc585714675"/>
    <p:sldId xmlns:r="http://schemas.openxmlformats.org/officeDocument/2006/relationships" id="274" r:id="R4b27d3bd1e514267"/>
    <p:sldId xmlns:r="http://schemas.openxmlformats.org/officeDocument/2006/relationships" id="275" r:id="Rf54e21821ef74c89"/>
    <p:sldId xmlns:r="http://schemas.openxmlformats.org/officeDocument/2006/relationships" id="276" r:id="Rd4234a8509fc45fb"/>
    <p:sldId xmlns:r="http://schemas.openxmlformats.org/officeDocument/2006/relationships" id="277" r:id="Rc68bb3b647424104"/>
    <p:sldId xmlns:r="http://schemas.openxmlformats.org/officeDocument/2006/relationships" id="278" r:id="R6d9fc17099cf4197"/>
    <p:sldId xmlns:r="http://schemas.openxmlformats.org/officeDocument/2006/relationships" id="279" r:id="R7c539a145caf4bc6"/>
    <p:sldId xmlns:r="http://schemas.openxmlformats.org/officeDocument/2006/relationships" id="280" r:id="Rb2ebb980d50849c3"/>
    <p:sldId xmlns:r="http://schemas.openxmlformats.org/officeDocument/2006/relationships" id="281" r:id="R2e495127b6aa47bd"/>
    <p:sldId xmlns:r="http://schemas.openxmlformats.org/officeDocument/2006/relationships" id="282" r:id="R5cae2cf9c9124bfd"/>
    <p:sldId xmlns:r="http://schemas.openxmlformats.org/officeDocument/2006/relationships" id="283" r:id="R8418a07bed46499f"/>
    <p:sldId xmlns:r="http://schemas.openxmlformats.org/officeDocument/2006/relationships" id="284" r:id="R3934ec8989804744"/>
    <p:sldId xmlns:r="http://schemas.openxmlformats.org/officeDocument/2006/relationships" id="285" r:id="Rc47e05caf9c24df3"/>
    <p:sldId xmlns:r="http://schemas.openxmlformats.org/officeDocument/2006/relationships" id="286" r:id="Ree12e5f49b994a61"/>
    <p:sldId xmlns:r="http://schemas.openxmlformats.org/officeDocument/2006/relationships" id="287" r:id="R765dadeb885c4e1c"/>
    <p:sldId xmlns:r="http://schemas.openxmlformats.org/officeDocument/2006/relationships" id="288" r:id="R250fb97e421143de"/>
    <p:sldId xmlns:r="http://schemas.openxmlformats.org/officeDocument/2006/relationships" id="289" r:id="R16887d0a470b43db"/>
    <p:sldId xmlns:r="http://schemas.openxmlformats.org/officeDocument/2006/relationships" id="290" r:id="R8669f3d5d6d147b9"/>
    <p:sldId xmlns:r="http://schemas.openxmlformats.org/officeDocument/2006/relationships" id="291" r:id="Rea665373415148cf"/>
    <p:sldId xmlns:r="http://schemas.openxmlformats.org/officeDocument/2006/relationships" id="292" r:id="Rfd98c7aee6de4c34"/>
    <p:sldId xmlns:r="http://schemas.openxmlformats.org/officeDocument/2006/relationships" id="293" r:id="Rbe0441e5810b410e"/>
    <p:sldId xmlns:r="http://schemas.openxmlformats.org/officeDocument/2006/relationships" id="294" r:id="Rc0315ebe58374bdc"/>
    <p:sldId xmlns:r="http://schemas.openxmlformats.org/officeDocument/2006/relationships" id="295" r:id="Re0cc3a288a82483e"/>
    <p:sldId xmlns:r="http://schemas.openxmlformats.org/officeDocument/2006/relationships" id="296" r:id="R425816eaa5254b85"/>
    <p:sldId xmlns:r="http://schemas.openxmlformats.org/officeDocument/2006/relationships" id="297" r:id="R644e2c0d01b54fca"/>
    <p:sldId xmlns:r="http://schemas.openxmlformats.org/officeDocument/2006/relationships" id="298" r:id="R9d9d93ce6e8c4402"/>
    <p:sldId xmlns:r="http://schemas.openxmlformats.org/officeDocument/2006/relationships" id="299" r:id="R3a2ea84f4eb9466d"/>
    <p:sldId xmlns:r="http://schemas.openxmlformats.org/officeDocument/2006/relationships" id="300" r:id="Rf79467874dae484f"/>
    <p:sldId xmlns:r="http://schemas.openxmlformats.org/officeDocument/2006/relationships" id="301" r:id="Rc8ae2de41ea14946"/>
    <p:sldId xmlns:r="http://schemas.openxmlformats.org/officeDocument/2006/relationships" id="302" r:id="Raa18578fa2384b55"/>
    <p:sldId xmlns:r="http://schemas.openxmlformats.org/officeDocument/2006/relationships" id="303" r:id="R4da1b83d112c46e0"/>
    <p:sldId xmlns:r="http://schemas.openxmlformats.org/officeDocument/2006/relationships" id="304" r:id="Rb7da72aa51a5435e"/>
    <p:sldId xmlns:r="http://schemas.openxmlformats.org/officeDocument/2006/relationships" id="305" r:id="R2b27ef120d1d4eeb"/>
    <p:sldId xmlns:r="http://schemas.openxmlformats.org/officeDocument/2006/relationships" id="306" r:id="Rfe0238cbd7204b8c"/>
    <p:sldId xmlns:r="http://schemas.openxmlformats.org/officeDocument/2006/relationships" id="307" r:id="Rbe2b925cce5b4666"/>
    <p:sldId xmlns:r="http://schemas.openxmlformats.org/officeDocument/2006/relationships" id="308" r:id="R165ba43a071340a8"/>
    <p:sldId xmlns:r="http://schemas.openxmlformats.org/officeDocument/2006/relationships" id="309" r:id="Rd5f0358b1634468c"/>
    <p:sldId xmlns:r="http://schemas.openxmlformats.org/officeDocument/2006/relationships" id="310" r:id="Rd08824fc7a3442fd"/>
    <p:sldId xmlns:r="http://schemas.openxmlformats.org/officeDocument/2006/relationships" id="311" r:id="Rf9238fed9312423d"/>
    <p:sldId xmlns:r="http://schemas.openxmlformats.org/officeDocument/2006/relationships" id="312" r:id="R4d6af7ceaea64f73"/>
    <p:sldId xmlns:r="http://schemas.openxmlformats.org/officeDocument/2006/relationships" id="313" r:id="R95616c1c17b74853"/>
    <p:sldId xmlns:r="http://schemas.openxmlformats.org/officeDocument/2006/relationships" id="314" r:id="R8aba7f2df3764886"/>
    <p:sldId xmlns:r="http://schemas.openxmlformats.org/officeDocument/2006/relationships" id="315" r:id="R845f17cf72174b91"/>
    <p:sldId xmlns:r="http://schemas.openxmlformats.org/officeDocument/2006/relationships" id="316" r:id="R2f13d42c5f3a4643"/>
    <p:sldId xmlns:r="http://schemas.openxmlformats.org/officeDocument/2006/relationships" id="317" r:id="Rc9e21ff180dc4280"/>
    <p:sldId xmlns:r="http://schemas.openxmlformats.org/officeDocument/2006/relationships" id="318" r:id="R9df878bd52cb4d9b"/>
    <p:sldId xmlns:r="http://schemas.openxmlformats.org/officeDocument/2006/relationships" id="319" r:id="R4e1fe8956aeb4b45"/>
    <p:sldId xmlns:r="http://schemas.openxmlformats.org/officeDocument/2006/relationships" id="320" r:id="R7edd92d3d43a46ea"/>
    <p:sldId xmlns:r="http://schemas.openxmlformats.org/officeDocument/2006/relationships" id="321" r:id="Rb8842140958a4eb2"/>
    <p:sldId xmlns:r="http://schemas.openxmlformats.org/officeDocument/2006/relationships" id="322" r:id="R33024897b090439d"/>
    <p:sldId xmlns:r="http://schemas.openxmlformats.org/officeDocument/2006/relationships" id="323" r:id="R48b75c1888664f83"/>
    <p:sldId xmlns:r="http://schemas.openxmlformats.org/officeDocument/2006/relationships" id="324" r:id="R3ca30f48e1644e2c"/>
    <p:sldId xmlns:r="http://schemas.openxmlformats.org/officeDocument/2006/relationships" id="325" r:id="Ra8f520f936c548a6"/>
    <p:sldId xmlns:r="http://schemas.openxmlformats.org/officeDocument/2006/relationships" id="326" r:id="Rd9c50650631b48c0"/>
    <p:sldId xmlns:r="http://schemas.openxmlformats.org/officeDocument/2006/relationships" id="327" r:id="R62a883cbd7a3448e"/>
    <p:sldId xmlns:r="http://schemas.openxmlformats.org/officeDocument/2006/relationships" id="328" r:id="Ra6770435a3434244"/>
    <p:sldId xmlns:r="http://schemas.openxmlformats.org/officeDocument/2006/relationships" id="329" r:id="R062d4a20b6384c55"/>
    <p:sldId xmlns:r="http://schemas.openxmlformats.org/officeDocument/2006/relationships" id="330" r:id="R15b9b4d7d05d4c92"/>
    <p:sldId xmlns:r="http://schemas.openxmlformats.org/officeDocument/2006/relationships" id="331" r:id="R66a18b0e352b4bfb"/>
    <p:sldId xmlns:r="http://schemas.openxmlformats.org/officeDocument/2006/relationships" id="332" r:id="R330aace463a84b6f"/>
    <p:sldId xmlns:r="http://schemas.openxmlformats.org/officeDocument/2006/relationships" id="333" r:id="Re60f8c01b88444cf"/>
    <p:sldId xmlns:r="http://schemas.openxmlformats.org/officeDocument/2006/relationships" id="334" r:id="Ra5182dcf684c4c9e"/>
    <p:sldId xmlns:r="http://schemas.openxmlformats.org/officeDocument/2006/relationships" id="335" r:id="R11960a0921da4239"/>
    <p:sldId xmlns:r="http://schemas.openxmlformats.org/officeDocument/2006/relationships" id="336" r:id="R0c17541bb0894b2f"/>
    <p:sldId xmlns:r="http://schemas.openxmlformats.org/officeDocument/2006/relationships" id="337" r:id="R597373a56f8a494d"/>
    <p:sldId xmlns:r="http://schemas.openxmlformats.org/officeDocument/2006/relationships" id="338" r:id="Rb9d9b4c1611a440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119c8eab15422b" /><Relationship Type="http://schemas.openxmlformats.org/officeDocument/2006/relationships/slideMaster" Target="/ppt/slideMasters/slideMaster1.xml" Id="R7843f063995c43c5" /><Relationship Type="http://schemas.openxmlformats.org/officeDocument/2006/relationships/notesMaster" Target="/ppt/notesMasters/notesMaster1.xml" Id="Rb243e5ab889c4e2c" /><Relationship Type="http://schemas.openxmlformats.org/officeDocument/2006/relationships/presProps" Target="/ppt/presProps.xml" Id="Ree1bdf94ef964794" /><Relationship Type="http://schemas.openxmlformats.org/officeDocument/2006/relationships/tableStyles" Target="/ppt/tableStyles.xml" Id="Rcca0bf7282114ac7" /><Relationship Type="http://schemas.openxmlformats.org/officeDocument/2006/relationships/slide" Target="/ppt/slides/slide1.xml" Id="R1433ceba53574fe2" /><Relationship Type="http://schemas.openxmlformats.org/officeDocument/2006/relationships/slide" Target="/ppt/slides/slide2.xml" Id="Rb2f556b24ca74125" /><Relationship Type="http://schemas.openxmlformats.org/officeDocument/2006/relationships/slide" Target="/ppt/slides/slide3.xml" Id="R974fa1bcadb449e4" /><Relationship Type="http://schemas.openxmlformats.org/officeDocument/2006/relationships/slide" Target="/ppt/slides/slide4.xml" Id="R1946afb910c44593" /><Relationship Type="http://schemas.openxmlformats.org/officeDocument/2006/relationships/slide" Target="/ppt/slides/slide5.xml" Id="Rb3d89216018f460b" /><Relationship Type="http://schemas.openxmlformats.org/officeDocument/2006/relationships/slide" Target="/ppt/slides/slide6.xml" Id="R15ffd9f21aef46fd" /><Relationship Type="http://schemas.openxmlformats.org/officeDocument/2006/relationships/slide" Target="/ppt/slides/slide7.xml" Id="R74b4ba8dd1614cfa" /><Relationship Type="http://schemas.openxmlformats.org/officeDocument/2006/relationships/slide" Target="/ppt/slides/slide8.xml" Id="R5fb2e7f16445441f" /><Relationship Type="http://schemas.openxmlformats.org/officeDocument/2006/relationships/slide" Target="/ppt/slides/slide9.xml" Id="Rb37bcff2e9904cf9" /><Relationship Type="http://schemas.openxmlformats.org/officeDocument/2006/relationships/slide" Target="/ppt/slides/slide10.xml" Id="Re25ebcce961b471b" /><Relationship Type="http://schemas.openxmlformats.org/officeDocument/2006/relationships/slide" Target="/ppt/slides/slide11.xml" Id="R3d9a0fe8e5484152" /><Relationship Type="http://schemas.openxmlformats.org/officeDocument/2006/relationships/slide" Target="/ppt/slides/slide12.xml" Id="Rf61a6678d9fe4f2b" /><Relationship Type="http://schemas.openxmlformats.org/officeDocument/2006/relationships/slide" Target="/ppt/slides/slide13.xml" Id="R1c02413034fe4173" /><Relationship Type="http://schemas.openxmlformats.org/officeDocument/2006/relationships/slide" Target="/ppt/slides/slide14.xml" Id="R7447c3b3919f463d" /><Relationship Type="http://schemas.openxmlformats.org/officeDocument/2006/relationships/slide" Target="/ppt/slides/slide15.xml" Id="Re68f33f1a9d64aa7" /><Relationship Type="http://schemas.openxmlformats.org/officeDocument/2006/relationships/slide" Target="/ppt/slides/slide16.xml" Id="Rfdff258af2284f30" /><Relationship Type="http://schemas.openxmlformats.org/officeDocument/2006/relationships/slide" Target="/ppt/slides/slide17.xml" Id="R84f440776243439d" /><Relationship Type="http://schemas.openxmlformats.org/officeDocument/2006/relationships/slide" Target="/ppt/slides/slide18.xml" Id="R4cfaadc585714675" /><Relationship Type="http://schemas.openxmlformats.org/officeDocument/2006/relationships/slide" Target="/ppt/slides/slide19.xml" Id="R4b27d3bd1e514267" /><Relationship Type="http://schemas.openxmlformats.org/officeDocument/2006/relationships/slide" Target="/ppt/slides/slide20.xml" Id="Rf54e21821ef74c89" /><Relationship Type="http://schemas.openxmlformats.org/officeDocument/2006/relationships/slide" Target="/ppt/slides/slide21.xml" Id="Rd4234a8509fc45fb" /><Relationship Type="http://schemas.openxmlformats.org/officeDocument/2006/relationships/slide" Target="/ppt/slides/slide22.xml" Id="Rc68bb3b647424104" /><Relationship Type="http://schemas.openxmlformats.org/officeDocument/2006/relationships/slide" Target="/ppt/slides/slide23.xml" Id="R6d9fc17099cf4197" /><Relationship Type="http://schemas.openxmlformats.org/officeDocument/2006/relationships/slide" Target="/ppt/slides/slide24.xml" Id="R7c539a145caf4bc6" /><Relationship Type="http://schemas.openxmlformats.org/officeDocument/2006/relationships/slide" Target="/ppt/slides/slide25.xml" Id="Rb2ebb980d50849c3" /><Relationship Type="http://schemas.openxmlformats.org/officeDocument/2006/relationships/slide" Target="/ppt/slides/slide26.xml" Id="R2e495127b6aa47bd" /><Relationship Type="http://schemas.openxmlformats.org/officeDocument/2006/relationships/slide" Target="/ppt/slides/slide27.xml" Id="R5cae2cf9c9124bfd" /><Relationship Type="http://schemas.openxmlformats.org/officeDocument/2006/relationships/slide" Target="/ppt/slides/slide28.xml" Id="R8418a07bed46499f" /><Relationship Type="http://schemas.openxmlformats.org/officeDocument/2006/relationships/slide" Target="/ppt/slides/slide29.xml" Id="R3934ec8989804744" /><Relationship Type="http://schemas.openxmlformats.org/officeDocument/2006/relationships/slide" Target="/ppt/slides/slide30.xml" Id="Rc47e05caf9c24df3" /><Relationship Type="http://schemas.openxmlformats.org/officeDocument/2006/relationships/slide" Target="/ppt/slides/slide31.xml" Id="Ree12e5f49b994a61" /><Relationship Type="http://schemas.openxmlformats.org/officeDocument/2006/relationships/slide" Target="/ppt/slides/slide32.xml" Id="R765dadeb885c4e1c" /><Relationship Type="http://schemas.openxmlformats.org/officeDocument/2006/relationships/slide" Target="/ppt/slides/slide33.xml" Id="R250fb97e421143de" /><Relationship Type="http://schemas.openxmlformats.org/officeDocument/2006/relationships/slide" Target="/ppt/slides/slide34.xml" Id="R16887d0a470b43db" /><Relationship Type="http://schemas.openxmlformats.org/officeDocument/2006/relationships/slide" Target="/ppt/slides/slide35.xml" Id="R8669f3d5d6d147b9" /><Relationship Type="http://schemas.openxmlformats.org/officeDocument/2006/relationships/slide" Target="/ppt/slides/slide36.xml" Id="Rea665373415148cf" /><Relationship Type="http://schemas.openxmlformats.org/officeDocument/2006/relationships/slide" Target="/ppt/slides/slide37.xml" Id="Rfd98c7aee6de4c34" /><Relationship Type="http://schemas.openxmlformats.org/officeDocument/2006/relationships/slide" Target="/ppt/slides/slide38.xml" Id="Rbe0441e5810b410e" /><Relationship Type="http://schemas.openxmlformats.org/officeDocument/2006/relationships/slide" Target="/ppt/slides/slide39.xml" Id="Rc0315ebe58374bdc" /><Relationship Type="http://schemas.openxmlformats.org/officeDocument/2006/relationships/slide" Target="/ppt/slides/slide40.xml" Id="Re0cc3a288a82483e" /><Relationship Type="http://schemas.openxmlformats.org/officeDocument/2006/relationships/slide" Target="/ppt/slides/slide41.xml" Id="R425816eaa5254b85" /><Relationship Type="http://schemas.openxmlformats.org/officeDocument/2006/relationships/slide" Target="/ppt/slides/slide42.xml" Id="R644e2c0d01b54fca" /><Relationship Type="http://schemas.openxmlformats.org/officeDocument/2006/relationships/slide" Target="/ppt/slides/slide43.xml" Id="R9d9d93ce6e8c4402" /><Relationship Type="http://schemas.openxmlformats.org/officeDocument/2006/relationships/slide" Target="/ppt/slides/slide44.xml" Id="R3a2ea84f4eb9466d" /><Relationship Type="http://schemas.openxmlformats.org/officeDocument/2006/relationships/slide" Target="/ppt/slides/slide45.xml" Id="Rf79467874dae484f" /><Relationship Type="http://schemas.openxmlformats.org/officeDocument/2006/relationships/slide" Target="/ppt/slides/slide46.xml" Id="Rc8ae2de41ea14946" /><Relationship Type="http://schemas.openxmlformats.org/officeDocument/2006/relationships/slide" Target="/ppt/slides/slide47.xml" Id="Raa18578fa2384b55" /><Relationship Type="http://schemas.openxmlformats.org/officeDocument/2006/relationships/slide" Target="/ppt/slides/slide48.xml" Id="R4da1b83d112c46e0" /><Relationship Type="http://schemas.openxmlformats.org/officeDocument/2006/relationships/slide" Target="/ppt/slides/slide49.xml" Id="Rb7da72aa51a5435e" /><Relationship Type="http://schemas.openxmlformats.org/officeDocument/2006/relationships/slide" Target="/ppt/slides/slide50.xml" Id="R2b27ef120d1d4eeb" /><Relationship Type="http://schemas.openxmlformats.org/officeDocument/2006/relationships/slide" Target="/ppt/slides/slide51.xml" Id="Rfe0238cbd7204b8c" /><Relationship Type="http://schemas.openxmlformats.org/officeDocument/2006/relationships/slide" Target="/ppt/slides/slide52.xml" Id="Rbe2b925cce5b4666" /><Relationship Type="http://schemas.openxmlformats.org/officeDocument/2006/relationships/slide" Target="/ppt/slides/slide53.xml" Id="R165ba43a071340a8" /><Relationship Type="http://schemas.openxmlformats.org/officeDocument/2006/relationships/slide" Target="/ppt/slides/slide54.xml" Id="Rd5f0358b1634468c" /><Relationship Type="http://schemas.openxmlformats.org/officeDocument/2006/relationships/slide" Target="/ppt/slides/slide55.xml" Id="Rd08824fc7a3442fd" /><Relationship Type="http://schemas.openxmlformats.org/officeDocument/2006/relationships/slide" Target="/ppt/slides/slide56.xml" Id="Rf9238fed9312423d" /><Relationship Type="http://schemas.openxmlformats.org/officeDocument/2006/relationships/slide" Target="/ppt/slides/slide57.xml" Id="R4d6af7ceaea64f73" /><Relationship Type="http://schemas.openxmlformats.org/officeDocument/2006/relationships/slide" Target="/ppt/slides/slide58.xml" Id="R95616c1c17b74853" /><Relationship Type="http://schemas.openxmlformats.org/officeDocument/2006/relationships/slide" Target="/ppt/slides/slide59.xml" Id="R8aba7f2df3764886" /><Relationship Type="http://schemas.openxmlformats.org/officeDocument/2006/relationships/slide" Target="/ppt/slides/slide60.xml" Id="R845f17cf72174b91" /><Relationship Type="http://schemas.openxmlformats.org/officeDocument/2006/relationships/slide" Target="/ppt/slides/slide61.xml" Id="R2f13d42c5f3a4643" /><Relationship Type="http://schemas.openxmlformats.org/officeDocument/2006/relationships/slide" Target="/ppt/slides/slide62.xml" Id="Rc9e21ff180dc4280" /><Relationship Type="http://schemas.openxmlformats.org/officeDocument/2006/relationships/slide" Target="/ppt/slides/slide63.xml" Id="R9df878bd52cb4d9b" /><Relationship Type="http://schemas.openxmlformats.org/officeDocument/2006/relationships/slide" Target="/ppt/slides/slide64.xml" Id="R4e1fe8956aeb4b45" /><Relationship Type="http://schemas.openxmlformats.org/officeDocument/2006/relationships/slide" Target="/ppt/slides/slide65.xml" Id="R7edd92d3d43a46ea" /><Relationship Type="http://schemas.openxmlformats.org/officeDocument/2006/relationships/slide" Target="/ppt/slides/slide66.xml" Id="Rb8842140958a4eb2" /><Relationship Type="http://schemas.openxmlformats.org/officeDocument/2006/relationships/slide" Target="/ppt/slides/slide67.xml" Id="R33024897b090439d" /><Relationship Type="http://schemas.openxmlformats.org/officeDocument/2006/relationships/slide" Target="/ppt/slides/slide68.xml" Id="R48b75c1888664f83" /><Relationship Type="http://schemas.openxmlformats.org/officeDocument/2006/relationships/slide" Target="/ppt/slides/slide69.xml" Id="R3ca30f48e1644e2c" /><Relationship Type="http://schemas.openxmlformats.org/officeDocument/2006/relationships/slide" Target="/ppt/slides/slide70.xml" Id="Ra8f520f936c548a6" /><Relationship Type="http://schemas.openxmlformats.org/officeDocument/2006/relationships/slide" Target="/ppt/slides/slide71.xml" Id="Rd9c50650631b48c0" /><Relationship Type="http://schemas.openxmlformats.org/officeDocument/2006/relationships/slide" Target="/ppt/slides/slide72.xml" Id="R62a883cbd7a3448e" /><Relationship Type="http://schemas.openxmlformats.org/officeDocument/2006/relationships/slide" Target="/ppt/slides/slide73.xml" Id="Ra6770435a3434244" /><Relationship Type="http://schemas.openxmlformats.org/officeDocument/2006/relationships/slide" Target="/ppt/slides/slide74.xml" Id="R062d4a20b6384c55" /><Relationship Type="http://schemas.openxmlformats.org/officeDocument/2006/relationships/slide" Target="/ppt/slides/slide75.xml" Id="R15b9b4d7d05d4c92" /><Relationship Type="http://schemas.openxmlformats.org/officeDocument/2006/relationships/slide" Target="/ppt/slides/slide76.xml" Id="R66a18b0e352b4bfb" /><Relationship Type="http://schemas.openxmlformats.org/officeDocument/2006/relationships/slide" Target="/ppt/slides/slide77.xml" Id="R330aace463a84b6f" /><Relationship Type="http://schemas.openxmlformats.org/officeDocument/2006/relationships/slide" Target="/ppt/slides/slide78.xml" Id="Re60f8c01b88444cf" /><Relationship Type="http://schemas.openxmlformats.org/officeDocument/2006/relationships/slide" Target="/ppt/slides/slide79.xml" Id="Ra5182dcf684c4c9e" /><Relationship Type="http://schemas.openxmlformats.org/officeDocument/2006/relationships/slide" Target="/ppt/slides/slide80.xml" Id="R11960a0921da4239" /><Relationship Type="http://schemas.openxmlformats.org/officeDocument/2006/relationships/slide" Target="/ppt/slides/slide81.xml" Id="R0c17541bb0894b2f" /><Relationship Type="http://schemas.openxmlformats.org/officeDocument/2006/relationships/slide" Target="/ppt/slides/slide82.xml" Id="R597373a56f8a494d" /><Relationship Type="http://schemas.openxmlformats.org/officeDocument/2006/relationships/slide" Target="/ppt/slides/slide83.xml" Id="Rb9d9b4c1611a44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1b700fa96f4a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c602a92dad42ef" /><Relationship Type="http://schemas.openxmlformats.org/officeDocument/2006/relationships/notesMaster" Target="/ppt/notesMasters/notesMaster1.xml" Id="R7f871355ebda4c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ab4b3650cd4742" /><Relationship Type="http://schemas.openxmlformats.org/officeDocument/2006/relationships/notesMaster" Target="/ppt/notesMasters/notesMaster1.xml" Id="Rc2b4a3954d3844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438e673d6c4008" /><Relationship Type="http://schemas.openxmlformats.org/officeDocument/2006/relationships/notesMaster" Target="/ppt/notesMasters/notesMaster1.xml" Id="R4d3ccc3fd35848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c9b4c523ec484e" /><Relationship Type="http://schemas.openxmlformats.org/officeDocument/2006/relationships/notesMaster" Target="/ppt/notesMasters/notesMaster1.xml" Id="R979e06bb946f42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c11c0e1e1b4e7d" /><Relationship Type="http://schemas.openxmlformats.org/officeDocument/2006/relationships/notesMaster" Target="/ppt/notesMasters/notesMaster1.xml" Id="Re810656b325440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9262f6e5d741f5" /><Relationship Type="http://schemas.openxmlformats.org/officeDocument/2006/relationships/notesMaster" Target="/ppt/notesMasters/notesMaster1.xml" Id="R8db54c68e1ef46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2d28c0d5aa4df4" /><Relationship Type="http://schemas.openxmlformats.org/officeDocument/2006/relationships/notesMaster" Target="/ppt/notesMasters/notesMaster1.xml" Id="R3265b99f400e40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35910aabc84496" /><Relationship Type="http://schemas.openxmlformats.org/officeDocument/2006/relationships/notesMaster" Target="/ppt/notesMasters/notesMaster1.xml" Id="R907e90e6ee2943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578d3170f04f4c" /><Relationship Type="http://schemas.openxmlformats.org/officeDocument/2006/relationships/notesMaster" Target="/ppt/notesMasters/notesMaster1.xml" Id="R457bdd9230da43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0e262569a142d2" /><Relationship Type="http://schemas.openxmlformats.org/officeDocument/2006/relationships/notesMaster" Target="/ppt/notesMasters/notesMaster1.xml" Id="Rc3e0df567b274d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f962f3577240e1" /><Relationship Type="http://schemas.openxmlformats.org/officeDocument/2006/relationships/notesMaster" Target="/ppt/notesMasters/notesMaster1.xml" Id="R9eeb9b3afd1f40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be4593cb1343f3" /><Relationship Type="http://schemas.openxmlformats.org/officeDocument/2006/relationships/notesMaster" Target="/ppt/notesMasters/notesMaster1.xml" Id="R86b05ef4544d411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783c8275aa84e52" /><Relationship Type="http://schemas.openxmlformats.org/officeDocument/2006/relationships/notesMaster" Target="/ppt/notesMasters/notesMaster1.xml" Id="R17571ff58ad74e1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e41dfa57ea34ca2" /><Relationship Type="http://schemas.openxmlformats.org/officeDocument/2006/relationships/notesMaster" Target="/ppt/notesMasters/notesMaster1.xml" Id="R0da9e777073e479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9edd2aa79594578" /><Relationship Type="http://schemas.openxmlformats.org/officeDocument/2006/relationships/notesMaster" Target="/ppt/notesMasters/notesMaster1.xml" Id="Ra3152052f54942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48df7a7ec9942c6" /><Relationship Type="http://schemas.openxmlformats.org/officeDocument/2006/relationships/notesMaster" Target="/ppt/notesMasters/notesMaster1.xml" Id="Rfcdfd6062cb54c6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1540e745151489b" /><Relationship Type="http://schemas.openxmlformats.org/officeDocument/2006/relationships/notesMaster" Target="/ppt/notesMasters/notesMaster1.xml" Id="Rfb91add546dc459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ea5d34ef8024e08" /><Relationship Type="http://schemas.openxmlformats.org/officeDocument/2006/relationships/notesMaster" Target="/ppt/notesMasters/notesMaster1.xml" Id="Ra22d5316eebf4ff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fa58e075dbd4495" /><Relationship Type="http://schemas.openxmlformats.org/officeDocument/2006/relationships/notesMaster" Target="/ppt/notesMasters/notesMaster1.xml" Id="Rdc18cff1bed74f8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521fab735494b22" /><Relationship Type="http://schemas.openxmlformats.org/officeDocument/2006/relationships/notesMaster" Target="/ppt/notesMasters/notesMaster1.xml" Id="Rf3a348b4a77a421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18cdf1eb1604bd7" /><Relationship Type="http://schemas.openxmlformats.org/officeDocument/2006/relationships/notesMaster" Target="/ppt/notesMasters/notesMaster1.xml" Id="Ra76e7a173bd64f5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caae893f21b4e71" /><Relationship Type="http://schemas.openxmlformats.org/officeDocument/2006/relationships/notesMaster" Target="/ppt/notesMasters/notesMaster1.xml" Id="R477932e39bcf48f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82e11f928ed4546" /><Relationship Type="http://schemas.openxmlformats.org/officeDocument/2006/relationships/notesMaster" Target="/ppt/notesMasters/notesMaster1.xml" Id="Rfdd36778c0804bf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f64532575f94559" /><Relationship Type="http://schemas.openxmlformats.org/officeDocument/2006/relationships/notesMaster" Target="/ppt/notesMasters/notesMaster1.xml" Id="R157c2e2608854ab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1dbe8b00931493f" /><Relationship Type="http://schemas.openxmlformats.org/officeDocument/2006/relationships/notesMaster" Target="/ppt/notesMasters/notesMaster1.xml" Id="R6fa2f6e5333248d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8beedeb308845d9" /><Relationship Type="http://schemas.openxmlformats.org/officeDocument/2006/relationships/notesMaster" Target="/ppt/notesMasters/notesMaster1.xml" Id="R48ea0f64bc6843d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97d64a47631438f" /><Relationship Type="http://schemas.openxmlformats.org/officeDocument/2006/relationships/notesMaster" Target="/ppt/notesMasters/notesMaster1.xml" Id="R615b130a64dc479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2a1585746b44b51" /><Relationship Type="http://schemas.openxmlformats.org/officeDocument/2006/relationships/notesMaster" Target="/ppt/notesMasters/notesMaster1.xml" Id="R2e713bc9619d4b0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637bebb8d234506" /><Relationship Type="http://schemas.openxmlformats.org/officeDocument/2006/relationships/notesMaster" Target="/ppt/notesMasters/notesMaster1.xml" Id="R2a97801a27404d1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26364d0f49143a5" /><Relationship Type="http://schemas.openxmlformats.org/officeDocument/2006/relationships/notesMaster" Target="/ppt/notesMasters/notesMaster1.xml" Id="R8543e5214b6a451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521c1e4e9d2426d" /><Relationship Type="http://schemas.openxmlformats.org/officeDocument/2006/relationships/notesMaster" Target="/ppt/notesMasters/notesMaster1.xml" Id="Rd6b9595301764a6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e978faa482b4d0c" /><Relationship Type="http://schemas.openxmlformats.org/officeDocument/2006/relationships/notesMaster" Target="/ppt/notesMasters/notesMaster1.xml" Id="R7dd64a9e7b71410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174c1b457e54716" /><Relationship Type="http://schemas.openxmlformats.org/officeDocument/2006/relationships/notesMaster" Target="/ppt/notesMasters/notesMaster1.xml" Id="Re14fca3e38614a6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fd2e99f233049ba" /><Relationship Type="http://schemas.openxmlformats.org/officeDocument/2006/relationships/notesMaster" Target="/ppt/notesMasters/notesMaster1.xml" Id="Rdf60687be0a5419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c4ab573f07749fa" /><Relationship Type="http://schemas.openxmlformats.org/officeDocument/2006/relationships/notesMaster" Target="/ppt/notesMasters/notesMaster1.xml" Id="R44ec72c34c224f9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026bb265fa24dfa" /><Relationship Type="http://schemas.openxmlformats.org/officeDocument/2006/relationships/notesMaster" Target="/ppt/notesMasters/notesMaster1.xml" Id="R5ba4447cb1d54ec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22c59e6a0014419" /><Relationship Type="http://schemas.openxmlformats.org/officeDocument/2006/relationships/notesMaster" Target="/ppt/notesMasters/notesMaster1.xml" Id="R75d1b2362ec24f7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4912493adcf4c5f" /><Relationship Type="http://schemas.openxmlformats.org/officeDocument/2006/relationships/notesMaster" Target="/ppt/notesMasters/notesMaster1.xml" Id="R83cf14a9199c462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1f5143faedc4155" /><Relationship Type="http://schemas.openxmlformats.org/officeDocument/2006/relationships/notesMaster" Target="/ppt/notesMasters/notesMaster1.xml" Id="R6737eca40245446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9f36af913fa4c93" /><Relationship Type="http://schemas.openxmlformats.org/officeDocument/2006/relationships/notesMaster" Target="/ppt/notesMasters/notesMaster1.xml" Id="R19ba22eea786406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0bdf609ef784898" /><Relationship Type="http://schemas.openxmlformats.org/officeDocument/2006/relationships/notesMaster" Target="/ppt/notesMasters/notesMaster1.xml" Id="Rf89cf2b7b22e4b3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1d5403c33f84926" /><Relationship Type="http://schemas.openxmlformats.org/officeDocument/2006/relationships/notesMaster" Target="/ppt/notesMasters/notesMaster1.xml" Id="R34a7c8afb8ed446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3751970841940ec" /><Relationship Type="http://schemas.openxmlformats.org/officeDocument/2006/relationships/notesMaster" Target="/ppt/notesMasters/notesMaster1.xml" Id="R7e8fc01484614f0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bce1362e03e4969" /><Relationship Type="http://schemas.openxmlformats.org/officeDocument/2006/relationships/notesMaster" Target="/ppt/notesMasters/notesMaster1.xml" Id="R9d00ffa28aa4410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67bf649393c41ed" /><Relationship Type="http://schemas.openxmlformats.org/officeDocument/2006/relationships/notesMaster" Target="/ppt/notesMasters/notesMaster1.xml" Id="Rbe2c1a4bc45c463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98dc34e98484d24" /><Relationship Type="http://schemas.openxmlformats.org/officeDocument/2006/relationships/notesMaster" Target="/ppt/notesMasters/notesMaster1.xml" Id="R256f50c9eca94da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ca311affb314035" /><Relationship Type="http://schemas.openxmlformats.org/officeDocument/2006/relationships/notesMaster" Target="/ppt/notesMasters/notesMaster1.xml" Id="R8500b168cb944644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5a649600ad2f4d57" /><Relationship Type="http://schemas.openxmlformats.org/officeDocument/2006/relationships/notesMaster" Target="/ppt/notesMasters/notesMaster1.xml" Id="Rd4da490de9154547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dc46507243704c05" /><Relationship Type="http://schemas.openxmlformats.org/officeDocument/2006/relationships/notesMaster" Target="/ppt/notesMasters/notesMaster1.xml" Id="R5fa2df32622b4939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2a6f714f59154f24" /><Relationship Type="http://schemas.openxmlformats.org/officeDocument/2006/relationships/notesMaster" Target="/ppt/notesMasters/notesMaster1.xml" Id="R97259a03ee804b02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f3fb7b2c114348b8" /><Relationship Type="http://schemas.openxmlformats.org/officeDocument/2006/relationships/notesMaster" Target="/ppt/notesMasters/notesMaster1.xml" Id="R9bfddfd70fff40b3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f713f90711e948b0" /><Relationship Type="http://schemas.openxmlformats.org/officeDocument/2006/relationships/notesMaster" Target="/ppt/notesMasters/notesMaster1.xml" Id="Rdfc2b1c8ff714518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f4c21f147b4443a2" /><Relationship Type="http://schemas.openxmlformats.org/officeDocument/2006/relationships/notesMaster" Target="/ppt/notesMasters/notesMaster1.xml" Id="R8ae5944ed16a450c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b1cc428ec7d94377" /><Relationship Type="http://schemas.openxmlformats.org/officeDocument/2006/relationships/notesMaster" Target="/ppt/notesMasters/notesMaster1.xml" Id="R1f721a20687b43ac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ce8fb343aacb4836" /><Relationship Type="http://schemas.openxmlformats.org/officeDocument/2006/relationships/notesMaster" Target="/ppt/notesMasters/notesMaster1.xml" Id="Rb8c35ece06c2430a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89da3f3f5e934246" /><Relationship Type="http://schemas.openxmlformats.org/officeDocument/2006/relationships/notesMaster" Target="/ppt/notesMasters/notesMaster1.xml" Id="R825d671d56ad4295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160622fe02664745" /><Relationship Type="http://schemas.openxmlformats.org/officeDocument/2006/relationships/notesMaster" Target="/ppt/notesMasters/notesMaster1.xml" Id="R0a02c76852e04535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45f18c496a164920" /><Relationship Type="http://schemas.openxmlformats.org/officeDocument/2006/relationships/notesMaster" Target="/ppt/notesMasters/notesMaster1.xml" Id="Rb5648875bccb4771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09dd50914adf4cec" /><Relationship Type="http://schemas.openxmlformats.org/officeDocument/2006/relationships/notesMaster" Target="/ppt/notesMasters/notesMaster1.xml" Id="Rd4db91a6b36c4136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8865a87564484f66" /><Relationship Type="http://schemas.openxmlformats.org/officeDocument/2006/relationships/notesMaster" Target="/ppt/notesMasters/notesMaster1.xml" Id="Rcd353454bba34cd6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879ec6b89d464369" /><Relationship Type="http://schemas.openxmlformats.org/officeDocument/2006/relationships/notesMaster" Target="/ppt/notesMasters/notesMaster1.xml" Id="R552baabdcea64cd3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877b3813f2b641fb" /><Relationship Type="http://schemas.openxmlformats.org/officeDocument/2006/relationships/notesMaster" Target="/ppt/notesMasters/notesMaster1.xml" Id="Rcd3f3dfcf6b04995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998dfaacd087405a" /><Relationship Type="http://schemas.openxmlformats.org/officeDocument/2006/relationships/notesMaster" Target="/ppt/notesMasters/notesMaster1.xml" Id="Rb8acb021f9fb406f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1db62e476a6a4d60" /><Relationship Type="http://schemas.openxmlformats.org/officeDocument/2006/relationships/notesMaster" Target="/ppt/notesMasters/notesMaster1.xml" Id="Rf7c66f007639458e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8274f27b82cc44ae" /><Relationship Type="http://schemas.openxmlformats.org/officeDocument/2006/relationships/notesMaster" Target="/ppt/notesMasters/notesMaster1.xml" Id="Rfbedf6601d8b4b4f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bd48fefc18534cda" /><Relationship Type="http://schemas.openxmlformats.org/officeDocument/2006/relationships/notesMaster" Target="/ppt/notesMasters/notesMaster1.xml" Id="R7949602c91784ee7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784c5ba21433421f" /><Relationship Type="http://schemas.openxmlformats.org/officeDocument/2006/relationships/notesMaster" Target="/ppt/notesMasters/notesMaster1.xml" Id="R0d3a80bb4c094a9a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16c88d9ec7fa4386" /><Relationship Type="http://schemas.openxmlformats.org/officeDocument/2006/relationships/notesMaster" Target="/ppt/notesMasters/notesMaster1.xml" Id="R6f048667e0d54d77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d144cafe255f4cb3" /><Relationship Type="http://schemas.openxmlformats.org/officeDocument/2006/relationships/notesMaster" Target="/ppt/notesMasters/notesMaster1.xml" Id="Ra07b122af3d544c6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8ed212a0f0274226" /><Relationship Type="http://schemas.openxmlformats.org/officeDocument/2006/relationships/notesMaster" Target="/ppt/notesMasters/notesMaster1.xml" Id="Rc620d51aea8748ed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424ca6960c524ea7" /><Relationship Type="http://schemas.openxmlformats.org/officeDocument/2006/relationships/notesMaster" Target="/ppt/notesMasters/notesMaster1.xml" Id="R5bf6ae9e13824d34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db5176590c9f4802" /><Relationship Type="http://schemas.openxmlformats.org/officeDocument/2006/relationships/notesMaster" Target="/ppt/notesMasters/notesMaster1.xml" Id="Rcd62bfe5c2864e39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a55419ab79e747a0" /><Relationship Type="http://schemas.openxmlformats.org/officeDocument/2006/relationships/notesMaster" Target="/ppt/notesMasters/notesMaster1.xml" Id="R290df34dd98c49db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28be719375b94268" /><Relationship Type="http://schemas.openxmlformats.org/officeDocument/2006/relationships/notesMaster" Target="/ppt/notesMasters/notesMaster1.xml" Id="R6a434ce4f9ab46f8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20a97ee008db4560" /><Relationship Type="http://schemas.openxmlformats.org/officeDocument/2006/relationships/notesMaster" Target="/ppt/notesMasters/notesMaster1.xml" Id="R785af8ab894543f0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43ce4946cb24449e" /><Relationship Type="http://schemas.openxmlformats.org/officeDocument/2006/relationships/notesMaster" Target="/ppt/notesMasters/notesMaster1.xml" Id="Rfebafb54c6794f05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d53c9377fbe24850" /><Relationship Type="http://schemas.openxmlformats.org/officeDocument/2006/relationships/notesMaster" Target="/ppt/notesMasters/notesMaster1.xml" Id="R7e7a73e850944037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c7f001bd979944ce" /><Relationship Type="http://schemas.openxmlformats.org/officeDocument/2006/relationships/notesMaster" Target="/ppt/notesMasters/notesMaster1.xml" Id="R537dbaaf0c3944f4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2030627de27f47bd" /><Relationship Type="http://schemas.openxmlformats.org/officeDocument/2006/relationships/notesMaster" Target="/ppt/notesMasters/notesMaster1.xml" Id="R2616f644db2049e2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fd2ae8ea6c754b08" /><Relationship Type="http://schemas.openxmlformats.org/officeDocument/2006/relationships/notesMaster" Target="/ppt/notesMasters/notesMaster1.xml" Id="R63bfb76fc7cf437b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3b7083a4578d4339" /><Relationship Type="http://schemas.openxmlformats.org/officeDocument/2006/relationships/notesMaster" Target="/ppt/notesMasters/notesMaster1.xml" Id="Rfbe6a123b7524c45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04482e1fadb74160" /><Relationship Type="http://schemas.openxmlformats.org/officeDocument/2006/relationships/notesMaster" Target="/ppt/notesMasters/notesMaster1.xml" Id="R0c65c75329964151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7bf1f9002ee54122" /><Relationship Type="http://schemas.openxmlformats.org/officeDocument/2006/relationships/notesMaster" Target="/ppt/notesMasters/notesMaster1.xml" Id="R03679f7b59894d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運算式與運算子  ／  判斷式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for與while  ／  函式  ／  串列與陣列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對應兩份範例筆記本與五份補充PPTX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對應教材：第2–9章  基礎程式設計與應用整合</a:t>
            </a:r>
          </a:p>
          <a:p xmlns:a="http://schemas.openxmlformats.org/drawingml/2006/main">
            <a:r>
              <a:t>對應範例：Python_計算機.ipynb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原投影片來源均為使用者提供，署名林英志。全華教材章名依課程既有章節對應。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對應教材：使用方式</a:t>
            </a:r>
          </a:p>
          <a:p xmlns:a="http://schemas.openxmlformats.org/drawingml/2006/main">
            <a:r>
              <a:t>對應範例：Python_計算機.ipynb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C0 作品拆解與使用方式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**講授：** 請先觀察原計算機：按7並不會立刻算出答案，而是將字元`"7"`加入算式。按`+`後等待下一個數，按`=`才運算。顯示、資料及計算是三件事，應分開處理。原範例的`current_expression`保存字串，`update_display`更新畫面，`on_button_click`負責選擇動作，`buttons_data`描述按鈕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我們先不用視窗，只用固定資料看懂數學與判斷；接著建立可測試的`calculate`函式，再把它交給介面使用。Notebook重新啟動核心後，請從最上面的程式格開始執行。介面需要 `ipywidgets`；若提示未安裝，可自行在新程式格執行 `%pip install ipywidgets` 後重新啟動核心。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**檢核：** `"7+3"`是字串還是數值？為何按鍵上的`x`要轉成`*`？答案：前者是字串；Python以`*`表示乘法。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對應教材：第2章 程式結構與輸出／第3章 變數</a:t>
            </a:r>
          </a:p>
          <a:p xmlns:a="http://schemas.openxmlformats.org/drawingml/2006/main">
            <a:r>
              <a:t>對應範例：Python_計算機.ipynb C0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Python教學影片PPT/Py01_基本認識(1).pptx</a:t>
            </a:r>
          </a:p>
          <a:p xmlns:a="http://schemas.openxmlformats.org/drawingml/2006/main">
            <a:r>
              <a:t>投影片序號34，署名林英志。</a:t>
            </a:r>
          </a:p>
          <a:p xmlns:a="http://schemas.openxmlformats.org/drawingml/2006/main">
            <a:r>
              <a:t>等號（</a:t>
            </a:r>
          </a:p>
          <a:p xmlns:a="http://schemas.openxmlformats.org/drawingml/2006/main">
            <a:r>
              <a:t>=</a:t>
            </a:r>
          </a:p>
          <a:p xmlns:a="http://schemas.openxmlformats.org/drawingml/2006/main">
            <a:r>
              <a:t>）</a:t>
            </a:r>
          </a:p>
          <a:p xmlns:a="http://schemas.openxmlformats.org/drawingml/2006/main">
            <a:r>
              <a:t>程式語言的等號並非數學上的兩邊相等，而是</a:t>
            </a:r>
          </a:p>
          <a:p xmlns:a="http://schemas.openxmlformats.org/drawingml/2006/main">
            <a:r>
              <a:t>指派</a:t>
            </a:r>
          </a:p>
          <a:p xmlns:a="http://schemas.openxmlformats.org/drawingml/2006/main">
            <a:r>
              <a:t>(assign)</a:t>
            </a:r>
          </a:p>
          <a:p xmlns:a="http://schemas.openxmlformats.org/drawingml/2006/main">
            <a:r>
              <a:t>。</a:t>
            </a:r>
          </a:p>
          <a:p xmlns:a="http://schemas.openxmlformats.org/drawingml/2006/main">
            <a:r>
              <a:t>將等號右邊的值指派給左邊的變數。</a:t>
            </a:r>
          </a:p>
          <a:p xmlns:a="http://schemas.openxmlformats.org/drawingml/2006/main">
            <a:r>
              <a:t>有時也稱為</a:t>
            </a:r>
          </a:p>
          <a:p xmlns:a="http://schemas.openxmlformats.org/drawingml/2006/main">
            <a:r>
              <a:t>賦值</a:t>
            </a:r>
          </a:p>
          <a:p xmlns:a="http://schemas.openxmlformats.org/drawingml/2006/main">
            <a:r>
              <a:t>，閱讀時需要從等號右邊讀到左邊。</a:t>
            </a:r>
          </a:p>
          <a:p xmlns:a="http://schemas.openxmlformats.org/drawingml/2006/main">
            <a:r>
              <a:t>因此「</a:t>
            </a:r>
          </a:p>
          <a:p xmlns:a="http://schemas.openxmlformats.org/drawingml/2006/main">
            <a:r>
              <a:t>=</a:t>
            </a:r>
          </a:p>
          <a:p xmlns:a="http://schemas.openxmlformats.org/drawingml/2006/main">
            <a:r>
              <a:t>」被稱為</a:t>
            </a:r>
          </a:p>
          <a:p xmlns:a="http://schemas.openxmlformats.org/drawingml/2006/main">
            <a:r>
              <a:t>指派運算子</a:t>
            </a:r>
          </a:p>
          <a:p xmlns:a="http://schemas.openxmlformats.org/drawingml/2006/main">
            <a:r>
              <a:t>(assign operator)</a:t>
            </a:r>
          </a:p>
          <a:p xmlns:a="http://schemas.openxmlformats.org/drawingml/2006/main">
            <a:r>
              <a:t>，也稱為</a:t>
            </a:r>
          </a:p>
          <a:p xmlns:a="http://schemas.openxmlformats.org/drawingml/2006/main">
            <a:r>
              <a:t>賦值</a:t>
            </a:r>
          </a:p>
          <a:p xmlns:a="http://schemas.openxmlformats.org/drawingml/2006/main">
            <a:r>
              <a:t>。</a:t>
            </a:r>
          </a:p>
          <a:p xmlns:a="http://schemas.openxmlformats.org/drawingml/2006/main">
            <a:r>
              <a:t>例如：</a:t>
            </a:r>
          </a:p>
          <a:p xmlns:a="http://schemas.openxmlformats.org/drawingml/2006/main">
            <a:r>
              <a:t>a = 1 + 2</a:t>
            </a:r>
          </a:p>
          <a:p xmlns:a="http://schemas.openxmlformats.org/drawingml/2006/main">
            <a:r>
              <a:t>意思是建立一個以 </a:t>
            </a:r>
          </a:p>
          <a:p xmlns:a="http://schemas.openxmlformats.org/drawingml/2006/main">
            <a:r>
              <a:t>a </a:t>
            </a:r>
          </a:p>
          <a:p xmlns:a="http://schemas.openxmlformats.org/drawingml/2006/main">
            <a:r>
              <a:t>為名稱的變數，並指定 </a:t>
            </a:r>
          </a:p>
          <a:p xmlns:a="http://schemas.openxmlformats.org/drawingml/2006/main">
            <a:r>
              <a:t>1 + 2 </a:t>
            </a:r>
          </a:p>
          <a:p xmlns:a="http://schemas.openxmlformats.org/drawingml/2006/main">
            <a:r>
              <a:t>的運算結果為此變數值。</a:t>
            </a:r>
          </a:p>
          <a:p xmlns:a="http://schemas.openxmlformats.org/drawingml/2006/main">
            <a:r>
              <a:t>34</a:t>
            </a:r>
          </a:p>
          <a:p xmlns:a="http://schemas.openxmlformats.org/drawingml/2006/main">
            <a:r>
              <a:t>數學運算裡的等於符號，</a:t>
            </a:r>
          </a:p>
          <a:p xmlns:a="http://schemas.openxmlformats.org/drawingml/2006/main">
            <a:r>
              <a:t>Python </a:t>
            </a:r>
          </a:p>
          <a:p xmlns:a="http://schemas.openxmlformats.org/drawingml/2006/main">
            <a:r>
              <a:t>裡要寫成兩個等號（</a:t>
            </a:r>
          </a:p>
          <a:p xmlns:a="http://schemas.openxmlformats.org/drawingml/2006/main">
            <a:r>
              <a:t>==</a:t>
            </a:r>
          </a:p>
          <a:p xmlns:a="http://schemas.openxmlformats.org/drawingml/2006/main">
            <a:r>
              <a:t>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對應教材：第2章 程式結構與輸出／第3章 變數</a:t>
            </a:r>
          </a:p>
          <a:p xmlns:a="http://schemas.openxmlformats.org/drawingml/2006/main">
            <a:r>
              <a:t>對應範例：Python_計算機.ipynb C0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Python教學影片PPT/Py01_基本認識(2).pptx</a:t>
            </a:r>
          </a:p>
          <a:p xmlns:a="http://schemas.openxmlformats.org/drawingml/2006/main">
            <a:r>
              <a:t>投影片序號29，署名林英志。</a:t>
            </a:r>
          </a:p>
          <a:p xmlns:a="http://schemas.openxmlformats.org/drawingml/2006/main">
            <a:r>
              <a:t>輸入資料</a:t>
            </a:r>
          </a:p>
          <a:p xmlns:a="http://schemas.openxmlformats.org/drawingml/2006/main">
            <a:r>
              <a:t>print()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是輸出資料，而內建函式 </a:t>
            </a:r>
          </a:p>
          <a:p xmlns:a="http://schemas.openxmlformats.org/drawingml/2006/main">
            <a:r>
              <a:t>input()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則是</a:t>
            </a:r>
          </a:p>
          <a:p xmlns:a="http://schemas.openxmlformats.org/drawingml/2006/main">
            <a:r>
              <a:t>暫停程式</a:t>
            </a:r>
          </a:p>
          <a:p xmlns:a="http://schemas.openxmlformats.org/drawingml/2006/main">
            <a:r>
              <a:t>等待使用者由「標準輸入」裝置</a:t>
            </a:r>
          </a:p>
          <a:p xmlns:a="http://schemas.openxmlformats.org/drawingml/2006/main">
            <a:r>
              <a:t>輸入資料</a:t>
            </a:r>
          </a:p>
          <a:p xmlns:a="http://schemas.openxmlformats.org/drawingml/2006/main">
            <a:r>
              <a:t>。</a:t>
            </a:r>
          </a:p>
          <a:p xmlns:a="http://schemas.openxmlformats.org/drawingml/2006/main">
            <a:r>
              <a:t>如果沒有特別設定，</a:t>
            </a:r>
          </a:p>
          <a:p xmlns:a="http://schemas.openxmlformats.org/drawingml/2006/main">
            <a:r>
              <a:t>標準輸入</a:t>
            </a:r>
          </a:p>
          <a:p xmlns:a="http://schemas.openxmlformats.org/drawingml/2006/main">
            <a:r>
              <a:t>指的是鍵盤。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變數 </a:t>
            </a:r>
          </a:p>
          <a:p xmlns:a="http://schemas.openxmlformats.org/drawingml/2006/main">
            <a:r>
              <a:t>=</a:t>
            </a:r>
          </a:p>
          <a:p xmlns:a="http://schemas.openxmlformats.org/drawingml/2006/main">
            <a:r>
              <a:t>] </a:t>
            </a:r>
          </a:p>
          <a:p xmlns:a="http://schemas.openxmlformats.org/drawingml/2006/main">
            <a:r>
              <a:t>input(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提示字串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對應教材：第2章 程式結構與輸出／第3章 變數</a:t>
            </a:r>
          </a:p>
          <a:p xmlns:a="http://schemas.openxmlformats.org/drawingml/2006/main">
            <a:r>
              <a:t>對應範例：Python_計算機.ipynb C0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C1 運算式與運算子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**講授：** 運算式會產生一個值，`7 + 3`的兩個運算元是7和3，運算子是`+`。`total = 7 + 3`先算右邊，再將結果交給名稱`total`。按鍵文字是字串，`"7" + "3"`會串接成`"73"`；轉為`float`後才是數值加法。`input()`回傳的也是字串，輸入小數時用`float`，不要把`"3.5"`直接交給`int`。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運算子 | 用途 | 例子與結果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`+ - * /` | 加、減、乘、真除法 | `7/2`為3.5 |</a:t>
            </a:r>
          </a:p>
          <a:p xmlns:a="http://schemas.openxmlformats.org/drawingml/2006/main">
            <a:r>
              <a:t>| `// %` | 向下取整除法、餘數 | `7//2`為3；`7%2`為1 |</a:t>
            </a:r>
          </a:p>
          <a:p xmlns:a="http://schemas.openxmlformats.org/drawingml/2006/main">
            <a:r>
              <a:t>| `**` | 次方 | `2**3`為8 |</a:t>
            </a:r>
          </a:p>
          <a:p xmlns:a="http://schemas.openxmlformats.org/drawingml/2006/main">
            <a:r>
              <a:t>| `+=` | 計算後重新指派 | 字串可累加按鍵，數值可累加結果 |</a:t>
            </a:r>
          </a:p>
          <a:p xmlns:a="http://schemas.openxmlformats.org/drawingml/2006/main">
            <a:r>
              <a:t>| `== != &lt; &lt;= &gt; &gt;=` | 比較大小或相等 | 結果為True或False |</a:t>
            </a:r>
          </a:p>
          <a:p xmlns:a="http://schemas.openxmlformats.org/drawingml/2006/main">
            <a:r>
              <a:t>| `and or not` | 組合條件、反轉真假 | 先檢查非零再進行除法 |</a:t>
            </a:r>
          </a:p>
          <a:p xmlns:a="http://schemas.openxmlformats.org/drawingml/2006/main">
            <a:r>
              <a:t>| `in / not in` | 成員檢查 | `op in ["/", "//", "%"]`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用優先順序可先記「括號、次方、乘除餘數、加減、比較、not、and、or」。負號和次方要特別看括號：`-2**2`是-4，`(-2)**2`是4；次方由右往左結合。`a/b`、`a//b`、`a%b`的除數都不能為0。用括號表達計算意圖比背完整表格更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浮點數保存近似值，`0.1+0.2`可能顯示長小數。顯示兩位可用`f"{result:.2f}"`，這不會改變內部數值；測試近似值可用`math.isclose`。位元運算`&amp; | ^ ~ &lt;&lt; &gt;&gt;`是延伸項，`^`是位元互斥或，不能當作次方。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**預測與檢核：** 先寫出以下每個輸出，再執行。請說明`-7//2`為何不是-3。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對應教材：第3章 運算式與運算子</a:t>
            </a:r>
          </a:p>
          <a:p xmlns:a="http://schemas.openxmlformats.org/drawingml/2006/main">
            <a:r>
              <a:t>對應範例：Python_計算機.ipynb C1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C1 運算式與運算子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**講授：** 運算式會產生一個值，`7 + 3`的兩個運算元是7和3，運算子是`+`。`total = 7 + 3`先算右邊，再將結果交給名稱`total`。按鍵文字是字串，`"7" + "3"`會串接成`"73"`；轉為`float`後才是數值加法。`input()`回傳的也是字串，輸入小數時用`float`，不要把`"3.5"`直接交給`int`。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運算子 | 用途 | 例子與結果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`+ - * /` | 加、減、乘、真除法 | `7/2`為3.5 |</a:t>
            </a:r>
          </a:p>
          <a:p xmlns:a="http://schemas.openxmlformats.org/drawingml/2006/main">
            <a:r>
              <a:t>| `// %` | 向下取整除法、餘數 | `7//2`為3；`7%2`為1 |</a:t>
            </a:r>
          </a:p>
          <a:p xmlns:a="http://schemas.openxmlformats.org/drawingml/2006/main">
            <a:r>
              <a:t>| `**` | 次方 | `2**3`為8 |</a:t>
            </a:r>
          </a:p>
          <a:p xmlns:a="http://schemas.openxmlformats.org/drawingml/2006/main">
            <a:r>
              <a:t>| `+=` | 計算後重新指派 | 字串可累加按鍵，數值可累加結果 |</a:t>
            </a:r>
          </a:p>
          <a:p xmlns:a="http://schemas.openxmlformats.org/drawingml/2006/main">
            <a:r>
              <a:t>| `== != &lt; &lt;= &gt; &gt;=` | 比較大小或相等 | 結果為True或False |</a:t>
            </a:r>
          </a:p>
          <a:p xmlns:a="http://schemas.openxmlformats.org/drawingml/2006/main">
            <a:r>
              <a:t>| `and or not` | 組合條件、反轉真假 | 先檢查非零再進行除法 |</a:t>
            </a:r>
          </a:p>
          <a:p xmlns:a="http://schemas.openxmlformats.org/drawingml/2006/main">
            <a:r>
              <a:t>| `in / not in` | 成員檢查 | `op in ["/", "//", "%"]`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用優先順序可先記「括號、次方、乘除餘數、加減、比較、not、and、or」。負號和次方要特別看括號：`-2**2`是-4，`(-2)**2`是4；次方由右往左結合。`a/b`、`a//b`、`a%b`的除數都不能為0。用括號表達計算意圖比背完整表格更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浮點數保存近似值，`0.1+0.2`可能顯示長小數。顯示兩位可用`f"{result:.2f}"`，這不會改變內部數值；測試近似值可用`math.isclose`。位元運算`&amp; | ^ ~ &lt;&lt; &gt;&gt;`是延伸項，`^`是位元互斥或，不能當作次方。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**預測與檢核：** 先寫出以下每個輸出，再執行。請說明`-7//2`為何不是-3。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對應教材：第3章 運算式與運算子</a:t>
            </a:r>
          </a:p>
          <a:p xmlns:a="http://schemas.openxmlformats.org/drawingml/2006/main">
            <a:r>
              <a:t>對應範例：Python_計算機.ipynb C1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Python教學影片PPT/Py01_基本認識(3).pptx</a:t>
            </a:r>
          </a:p>
          <a:p xmlns:a="http://schemas.openxmlformats.org/drawingml/2006/main">
            <a:r>
              <a:t>投影片序號12，署名林英志。</a:t>
            </a:r>
          </a:p>
          <a:p xmlns:a="http://schemas.openxmlformats.org/drawingml/2006/main">
            <a:r>
              <a:t>算術運算子</a:t>
            </a:r>
          </a:p>
          <a:p xmlns:a="http://schemas.openxmlformats.org/drawingml/2006/main">
            <a:r>
              <a:t>(arithmetic operator)</a:t>
            </a:r>
          </a:p>
          <a:p xmlns:a="http://schemas.openxmlformats.org/drawingml/2006/main">
            <a:r>
              <a:t>算術運算子進行數值的數學計算，得到的結果是另一個數值。</a:t>
            </a:r>
          </a:p>
          <a:p xmlns:a="http://schemas.openxmlformats.org/drawingml/2006/main">
            <a:r>
              <a:t>12</a:t>
            </a:r>
          </a:p>
          <a:p xmlns:a="http://schemas.openxmlformats.org/drawingml/2006/main">
            <a:r>
              <a:t>除數不能為 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講授補充：//向下取整，負數不可只刪除小數；-7//2=-4。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對應教材：第3章 運算式與運算子</a:t>
            </a:r>
          </a:p>
          <a:p xmlns:a="http://schemas.openxmlformats.org/drawingml/2006/main">
            <a:r>
              <a:t>對應範例：Python_計算機.ipynb C1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Python教學影片PPT/Py01_基本認識(3).pptx</a:t>
            </a:r>
          </a:p>
          <a:p xmlns:a="http://schemas.openxmlformats.org/drawingml/2006/main">
            <a:r>
              <a:t>投影片序號10，署名林英志。</a:t>
            </a:r>
          </a:p>
          <a:p xmlns:a="http://schemas.openxmlformats.org/drawingml/2006/main">
            <a:r>
              <a:t>Source: </a:t>
            </a:r>
          </a:p>
          <a:p xmlns:a="http://schemas.openxmlformats.org/drawingml/2006/main">
            <a:r>
              <a:t>Python–Operator precedence</a:t>
            </a:r>
          </a:p>
          <a:p xmlns:a="http://schemas.openxmlformats.org/drawingml/2006/main">
            <a:r>
              <a:t>只是加減乘除運算還好，</a:t>
            </a:r>
          </a:p>
          <a:p xmlns:a="http://schemas.openxmlformats.org/drawingml/2006/main">
            <a:r>
              <a:t>e.g., 1+2*3/4-5</a:t>
            </a:r>
          </a:p>
          <a:p xmlns:a="http://schemas.openxmlformats.org/drawingml/2006/main">
            <a:r>
              <a:t>，但 </a:t>
            </a:r>
          </a:p>
          <a:p xmlns:a="http://schemas.openxmlformats.org/drawingml/2006/main">
            <a:r>
              <a:t>…</a:t>
            </a:r>
          </a:p>
          <a:p xmlns:a="http://schemas.openxmlformats.org/drawingml/2006/main">
            <a:r>
              <a:t>建議還是用</a:t>
            </a:r>
          </a:p>
          <a:p xmlns:a="http://schemas.openxmlformats.org/drawingml/2006/main">
            <a:r>
              <a:t>括號</a:t>
            </a:r>
          </a:p>
          <a:p xmlns:a="http://schemas.openxmlformats.org/drawingml/2006/main">
            <a:r>
              <a:t>標示運算順序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對應教材：第3章 運算式與運算子</a:t>
            </a:r>
          </a:p>
          <a:p xmlns:a="http://schemas.openxmlformats.org/drawingml/2006/main">
            <a:r>
              <a:t>對應範例：Python_計算機.ipynb C1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Python教學影片PPT/Py01_基本認識(3).pptx</a:t>
            </a:r>
          </a:p>
          <a:p xmlns:a="http://schemas.openxmlformats.org/drawingml/2006/main">
            <a:r>
              <a:t>投影片序號15，署名林英志。</a:t>
            </a:r>
          </a:p>
          <a:p xmlns:a="http://schemas.openxmlformats.org/drawingml/2006/main">
            <a:r>
              <a:t>(10%-3) </a:t>
            </a:r>
          </a:p>
          <a:p xmlns:a="http://schemas.openxmlformats.org/drawingml/2006/main">
            <a:r>
              <a:t> -2</a:t>
            </a:r>
          </a:p>
          <a:p xmlns:a="http://schemas.openxmlformats.org/drawingml/2006/main">
            <a:r>
              <a:t>？</a:t>
            </a:r>
          </a:p>
          <a:p xmlns:a="http://schemas.openxmlformats.org/drawingml/2006/main">
            <a:r>
              <a:t>10%-3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?</a:t>
            </a:r>
          </a:p>
          <a:p xmlns:a="http://schemas.openxmlformats.org/drawingml/2006/main">
            <a:r>
              <a:t>10/-3</a:t>
            </a:r>
          </a:p>
          <a:p xmlns:a="http://schemas.openxmlformats.org/drawingml/2006/main">
            <a:r>
              <a:t>  </a:t>
            </a:r>
          </a:p>
          <a:p xmlns:a="http://schemas.openxmlformats.org/drawingml/2006/main">
            <a:r>
              <a:t> </a:t>
            </a:r>
          </a:p>
          <a:p xmlns:a="http://schemas.openxmlformats.org/drawingml/2006/main">
            <a:r>
              <a:t> -3.33333   </a:t>
            </a:r>
          </a:p>
          <a:p xmlns:a="http://schemas.openxmlformats.org/drawingml/2006/main">
            <a:r>
              <a:t>math.floor</a:t>
            </a:r>
          </a:p>
          <a:p xmlns:a="http://schemas.openxmlformats.org/drawingml/2006/main">
            <a:r>
              <a:t>(-3.33333)</a:t>
            </a:r>
          </a:p>
          <a:p xmlns:a="http://schemas.openxmlformats.org/drawingml/2006/main">
            <a:r>
              <a:t>    -4</a:t>
            </a:r>
          </a:p>
          <a:p xmlns:a="http://schemas.openxmlformats.org/drawingml/2006/main">
            <a:r>
              <a:t>(-4 × -3 + (</a:t>
            </a:r>
          </a:p>
          <a:p xmlns:a="http://schemas.openxmlformats.org/drawingml/2006/main">
            <a:r>
              <a:t>-2</a:t>
            </a:r>
          </a:p>
          <a:p xmlns:a="http://schemas.openxmlformats.org/drawingml/2006/main">
            <a:r>
              <a:t>)) % -3    </a:t>
            </a:r>
          </a:p>
          <a:p xmlns:a="http://schemas.openxmlformats.org/drawingml/2006/main">
            <a:r>
              <a:t>-2</a:t>
            </a:r>
          </a:p>
          <a:p xmlns:a="http://schemas.openxmlformats.org/drawingml/2006/main">
            <a:r>
              <a:t>e.g., </a:t>
            </a:r>
          </a:p>
          <a:p xmlns:a="http://schemas.openxmlformats.org/drawingml/2006/main">
            <a:r>
              <a:t>-3%7</a:t>
            </a:r>
          </a:p>
          <a:p xmlns:a="http://schemas.openxmlformats.org/drawingml/2006/main">
            <a:r>
              <a:t>    (-1 × 7 + 4) % 7    4</a:t>
            </a:r>
          </a:p>
          <a:p xmlns:a="http://schemas.openxmlformats.org/drawingml/2006/main">
            <a:r>
              <a:t>          </a:t>
            </a:r>
          </a:p>
          <a:p xmlns:a="http://schemas.openxmlformats.org/drawingml/2006/main">
            <a:r>
              <a:t>-5%2</a:t>
            </a:r>
          </a:p>
          <a:p xmlns:a="http://schemas.openxmlformats.org/drawingml/2006/main">
            <a:r>
              <a:t>    (-3 × 2 + 1) % 2    1</a:t>
            </a:r>
          </a:p>
          <a:p xmlns:a="http://schemas.openxmlformats.org/drawingml/2006/main">
            <a:r>
              <a:t>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對應教材：第3章 運算式與運算子</a:t>
            </a:r>
          </a:p>
          <a:p xmlns:a="http://schemas.openxmlformats.org/drawingml/2006/main">
            <a:r>
              <a:t>對應範例：Python_計算機.ipynb C1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Python教學影片PPT/Py01_基本認識(3).pptx</a:t>
            </a:r>
          </a:p>
          <a:p xmlns:a="http://schemas.openxmlformats.org/drawingml/2006/main">
            <a:r>
              <a:t>投影片序號18，署名林英志。</a:t>
            </a:r>
          </a:p>
          <a:p xmlns:a="http://schemas.openxmlformats.org/drawingml/2006/main">
            <a:r>
              <a:t>複合指定運算子</a:t>
            </a:r>
          </a:p>
          <a:p xmlns:a="http://schemas.openxmlformats.org/drawingml/2006/main">
            <a:r>
              <a:t>(compound assignment operator)</a:t>
            </a:r>
          </a:p>
          <a:p xmlns:a="http://schemas.openxmlformats.org/drawingml/2006/main">
            <a:r>
              <a:t>同時做「運算」及「指派」兩件事</a:t>
            </a:r>
          </a:p>
          <a:p xmlns:a="http://schemas.openxmlformats.org/drawingml/2006/main">
            <a:r>
              <a:t>i</a:t>
            </a:r>
          </a:p>
          <a:p xmlns:a="http://schemas.openxmlformats.org/drawingml/2006/main">
            <a:r>
              <a:t> +=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i</a:t>
            </a:r>
          </a:p>
          <a:p xmlns:a="http://schemas.openxmlformats.org/drawingml/2006/main">
            <a:r>
              <a:t> = </a:t>
            </a:r>
          </a:p>
          <a:p xmlns:a="http://schemas.openxmlformats.org/drawingml/2006/main">
            <a:r>
              <a:t>i</a:t>
            </a:r>
          </a:p>
          <a:p xmlns:a="http://schemas.openxmlformats.org/drawingml/2006/main">
            <a:r>
              <a:t> + 2</a:t>
            </a:r>
          </a:p>
          <a:p xmlns:a="http://schemas.openxmlformats.org/drawingml/2006/main">
            <a:r>
              <a:t>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對應教材：第3章 運算式與運算子</a:t>
            </a:r>
          </a:p>
          <a:p xmlns:a="http://schemas.openxmlformats.org/drawingml/2006/main">
            <a:r>
              <a:t>對應範例：Python_計算機.ipynb C1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Python教學影片PPT/Py01_基本認識(3).pptx</a:t>
            </a:r>
          </a:p>
          <a:p xmlns:a="http://schemas.openxmlformats.org/drawingml/2006/main">
            <a:r>
              <a:t>投影片序號23，署名林英志。</a:t>
            </a:r>
          </a:p>
          <a:p xmlns:a="http://schemas.openxmlformats.org/drawingml/2006/main">
            <a:r>
              <a:t>比較運算子</a:t>
            </a:r>
          </a:p>
          <a:p xmlns:a="http://schemas.openxmlformats.org/drawingml/2006/main">
            <a:r>
              <a:t>23</a:t>
            </a:r>
          </a:p>
          <a:p xmlns:a="http://schemas.openxmlformats.org/drawingml/2006/main">
            <a:r>
              <a:t>「</a:t>
            </a:r>
          </a:p>
          <a:p xmlns:a="http://schemas.openxmlformats.org/drawingml/2006/main">
            <a:r>
              <a:t>&gt;=</a:t>
            </a:r>
          </a:p>
          <a:p xmlns:a="http://schemas.openxmlformats.org/drawingml/2006/main">
            <a:r>
              <a:t>」 </a:t>
            </a:r>
          </a:p>
          <a:p xmlns:a="http://schemas.openxmlformats.org/drawingml/2006/main">
            <a:r>
              <a:t>  </a:t>
            </a:r>
          </a:p>
          <a:p xmlns:a="http://schemas.openxmlformats.org/drawingml/2006/main">
            <a:r>
              <a:t>大於或等於</a:t>
            </a:r>
          </a:p>
          <a:p xmlns:a="http://schemas.openxmlformats.org/drawingml/2006/main">
            <a:r>
              <a:t>「</a:t>
            </a:r>
          </a:p>
          <a:p xmlns:a="http://schemas.openxmlformats.org/drawingml/2006/main">
            <a:r>
              <a:t>&lt;=</a:t>
            </a:r>
          </a:p>
          <a:p xmlns:a="http://schemas.openxmlformats.org/drawingml/2006/main">
            <a:r>
              <a:t>」 </a:t>
            </a:r>
          </a:p>
          <a:p xmlns:a="http://schemas.openxmlformats.org/drawingml/2006/main">
            <a:r>
              <a:t>  </a:t>
            </a:r>
          </a:p>
          <a:p xmlns:a="http://schemas.openxmlformats.org/drawingml/2006/main">
            <a:r>
              <a:t>小於或等於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對應教材：第3章 運算式與運算子</a:t>
            </a:r>
          </a:p>
          <a:p xmlns:a="http://schemas.openxmlformats.org/drawingml/2006/main">
            <a:r>
              <a:t>對應範例：Python_計算機.ipynb C1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Python教學影片PPT/Py01_基本認識(3).pptx</a:t>
            </a:r>
          </a:p>
          <a:p xmlns:a="http://schemas.openxmlformats.org/drawingml/2006/main">
            <a:r>
              <a:t>投影片序號26，署名林英志。</a:t>
            </a:r>
          </a:p>
          <a:p xmlns:a="http://schemas.openxmlformats.org/drawingml/2006/main">
            <a:r>
              <a:t>邏輯運算子</a:t>
            </a:r>
          </a:p>
          <a:p xmlns:a="http://schemas.openxmlformats.org/drawingml/2006/main">
            <a:r>
              <a:t>(logical operator)</a:t>
            </a:r>
          </a:p>
          <a:p xmlns:a="http://schemas.openxmlformats.org/drawingml/2006/main">
            <a:r>
              <a:t>Python </a:t>
            </a:r>
          </a:p>
          <a:p xmlns:a="http://schemas.openxmlformats.org/drawingml/2006/main">
            <a:r>
              <a:t>可以判斷的三種邏輯狀態有</a:t>
            </a:r>
          </a:p>
          <a:p xmlns:a="http://schemas.openxmlformats.org/drawingml/2006/main">
            <a:r>
              <a:t>且</a:t>
            </a:r>
          </a:p>
          <a:p xmlns:a="http://schemas.openxmlformats.org/drawingml/2006/main">
            <a:r>
              <a:t>(and)</a:t>
            </a:r>
          </a:p>
          <a:p xmlns:a="http://schemas.openxmlformats.org/drawingml/2006/main">
            <a:r>
              <a:t>、或</a:t>
            </a:r>
          </a:p>
          <a:p xmlns:a="http://schemas.openxmlformats.org/drawingml/2006/main">
            <a:r>
              <a:t>(or)</a:t>
            </a:r>
          </a:p>
          <a:p xmlns:a="http://schemas.openxmlformats.org/drawingml/2006/main">
            <a:r>
              <a:t>、非</a:t>
            </a:r>
          </a:p>
          <a:p xmlns:a="http://schemas.openxmlformats.org/drawingml/2006/main">
            <a:r>
              <a:t>(not)</a:t>
            </a:r>
          </a:p>
          <a:p xmlns:a="http://schemas.openxmlformats.org/drawingml/2006/main">
            <a:r>
              <a:t>，邏輯運算的結果依下面的</a:t>
            </a:r>
          </a:p>
          <a:p xmlns:a="http://schemas.openxmlformats.org/drawingml/2006/main">
            <a:r>
              <a:t>真值表</a:t>
            </a:r>
          </a:p>
          <a:p xmlns:a="http://schemas.openxmlformats.org/drawingml/2006/main">
            <a:r>
              <a:t>(truth table)</a:t>
            </a:r>
          </a:p>
          <a:p xmlns:a="http://schemas.openxmlformats.org/drawingml/2006/main">
            <a:r>
              <a:t>來決定。</a:t>
            </a:r>
          </a:p>
          <a:p xmlns:a="http://schemas.openxmlformats.org/drawingml/2006/main">
            <a:r>
              <a:t>26</a:t>
            </a:r>
          </a:p>
          <a:p xmlns:a="http://schemas.openxmlformats.org/drawingml/2006/main">
            <a:r>
              <a:t>T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 True</a:t>
            </a:r>
          </a:p>
          <a:p xmlns:a="http://schemas.openxmlformats.org/drawingml/2006/main">
            <a:r>
              <a:t>F  False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對應教材：第3章 運算式與運算子</a:t>
            </a:r>
          </a:p>
          <a:p xmlns:a="http://schemas.openxmlformats.org/drawingml/2006/main">
            <a:r>
              <a:t>對應範例：Python_計算機.ipynb C1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Python教學影片PPT/Py01_基本認識(3).pptx</a:t>
            </a:r>
          </a:p>
          <a:p xmlns:a="http://schemas.openxmlformats.org/drawingml/2006/main">
            <a:r>
              <a:t>投影片序號33，署名林英志。</a:t>
            </a:r>
          </a:p>
          <a:p xmlns:a="http://schemas.openxmlformats.org/drawingml/2006/main">
            <a:r>
              <a:t>位元運算子</a:t>
            </a:r>
          </a:p>
          <a:p xmlns:a="http://schemas.openxmlformats.org/drawingml/2006/main">
            <a:r>
              <a:t>33</a:t>
            </a:r>
          </a:p>
          <a:p xmlns:a="http://schemas.openxmlformats.org/drawingml/2006/main">
            <a:r>
              <a:t>位移運算子</a:t>
            </a:r>
          </a:p>
          <a:p xmlns:a="http://schemas.openxmlformats.org/drawingml/2006/main">
            <a:r>
              <a:t>(shift operator)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對應教材：第3章 運算式與運算子</a:t>
            </a:r>
          </a:p>
          <a:p xmlns:a="http://schemas.openxmlformats.org/drawingml/2006/main">
            <a:r>
              <a:t>對應範例：Python_計算機.ipynb C1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來源：Python_計算機.ipynb，第5個儲存格。L行號相對於該儲存格，視覺折行不改變原碼。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import math</a:t>
            </a:r>
          </a:p>
          <a:p xmlns:a="http://schemas.openxmlformats.org/drawingml/2006/main">
            <a:r>
              <a:t>print("字串串接：", "7" + "3")</a:t>
            </a:r>
          </a:p>
          <a:p xmlns:a="http://schemas.openxmlformats.org/drawingml/2006/main">
            <a:r>
              <a:t>print("數值加法：", float("7") + float("3"))</a:t>
            </a:r>
          </a:p>
          <a:p xmlns:a="http://schemas.openxmlformats.org/drawingml/2006/main">
            <a:r>
              <a:t>print("先乘後加：", 2 + 3 * 4, "括號優先：", (2 + 3) * 4)</a:t>
            </a:r>
          </a:p>
          <a:p xmlns:a="http://schemas.openxmlformats.org/drawingml/2006/main">
            <a:r>
              <a:t>print("除法、整除、餘數：", 7 / 2, -7 // 2, -7 % 2)</a:t>
            </a:r>
          </a:p>
          <a:p xmlns:a="http://schemas.openxmlformats.org/drawingml/2006/main">
            <a:r>
              <a:t>print("次方：", 2 ** 3, -2 ** 2, (-2) ** 2)</a:t>
            </a:r>
          </a:p>
          <a:p xmlns:a="http://schemas.openxmlformats.org/drawingml/2006/main">
            <a:r>
              <a:t>print("浮點結果：", 0.1 + 0.2, math.isclose(0.1 + 0.2, 0.3))</a:t>
            </a:r>
          </a:p>
          <a:p xmlns:a="http://schemas.openxmlformats.org/drawingml/2006/main">
            <a:r>
              <a:t>print("格式化：", f"{7 / 3:.2f}")</a:t>
            </a:r>
          </a:p>
          <a:p xmlns:a="http://schemas.openxmlformats.org/drawingml/2006/main">
            <a:r>
              <a:t>print("位元延伸：", 5 &amp; 3, 5 | 3, 5 ^ 3)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對應教材：第3章 運算式與運算子</a:t>
            </a:r>
          </a:p>
          <a:p xmlns:a="http://schemas.openxmlformats.org/drawingml/2006/main">
            <a:r>
              <a:t>對應範例：Python_計算機.ipynb C1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以下是對應Notebook已執行的實際輸出。</a:t>
            </a:r>
          </a:p>
          <a:p xmlns:a="http://schemas.openxmlformats.org/drawingml/2006/main">
            <a:r>
              <a:t>字串串接： 73</a:t>
            </a:r>
          </a:p>
          <a:p xmlns:a="http://schemas.openxmlformats.org/drawingml/2006/main">
            <a:r>
              <a:t>數值加法： 10.0</a:t>
            </a:r>
          </a:p>
          <a:p xmlns:a="http://schemas.openxmlformats.org/drawingml/2006/main">
            <a:r>
              <a:t>先乘後加： 14 括號優先： 20</a:t>
            </a:r>
          </a:p>
          <a:p xmlns:a="http://schemas.openxmlformats.org/drawingml/2006/main">
            <a:r>
              <a:t>除法、整除、餘數： 3.5 -4 1</a:t>
            </a:r>
          </a:p>
          <a:p xmlns:a="http://schemas.openxmlformats.org/drawingml/2006/main">
            <a:r>
              <a:t>次方： 8 -4 4</a:t>
            </a:r>
          </a:p>
          <a:p xmlns:a="http://schemas.openxmlformats.org/drawingml/2006/main">
            <a:r>
              <a:t>浮點結果： 0.30000000000000004 True</a:t>
            </a:r>
          </a:p>
          <a:p xmlns:a="http://schemas.openxmlformats.org/drawingml/2006/main">
            <a:r>
              <a:t>格式化： 2.33</a:t>
            </a:r>
          </a:p>
          <a:p xmlns:a="http://schemas.openxmlformats.org/drawingml/2006/main">
            <a:r>
              <a:t>位元延伸： 1 7 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對應教材：第3章 運算式與運算子</a:t>
            </a:r>
          </a:p>
          <a:p xmlns:a="http://schemas.openxmlformats.org/drawingml/2006/main">
            <a:r>
              <a:t>對應範例：Python_計算機.ipynb C1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C2 判斷式與按鍵流程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**講授：** `if`只在條件成立時執行縮排區塊；`else`承接不成立的情況。多種互斥動作使用`if/elif/else`，由上到下只選第一個成立的分支。每行條件後加冒號，區塊用四個空白，避免混用Tab。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按鍵流程是：AC清空；等號進行計算；其他按鍵追加字串。若目前顯示Error，下一個數字應開始新的輸入。這是外層選按鍵、內層檢查狀態的巢狀判斷。條件式運算`"0" if text == "" else text`產生一個顯示值，適合很短的二選一。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`and`會在左邊是假時停止檢查：`b != 0 and a/b &gt; 2`可避免在b為0時做除法。`&amp;`會計算兩邊，不能用來替換這個防護。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**逐步追蹤：** 下例輸入`7,+,3,AC,9`，每輪依序得到`7`、`7+`、`7+3`、空字串、`9`。這裡遇到等號只作流程標記，真正計算於C3及C7補齊。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對應教材：第4章 條件判斷</a:t>
            </a:r>
          </a:p>
          <a:p xmlns:a="http://schemas.openxmlformats.org/drawingml/2006/main">
            <a:r>
              <a:t>對應範例：Python_計算機.ipynb C2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Python教學影片PPT/Py02_選擇敘述與迴圈(1).pptx</a:t>
            </a:r>
          </a:p>
          <a:p xmlns:a="http://schemas.openxmlformats.org/drawingml/2006/main">
            <a:r>
              <a:t>投影片序號14，署名林英志。</a:t>
            </a:r>
          </a:p>
          <a:p xmlns:a="http://schemas.openxmlformats.org/drawingml/2006/main">
            <a:r>
              <a:t>Python </a:t>
            </a:r>
          </a:p>
          <a:p xmlns:a="http://schemas.openxmlformats.org/drawingml/2006/main">
            <a:r>
              <a:t>的縮排</a:t>
            </a:r>
          </a:p>
          <a:p xmlns:a="http://schemas.openxmlformats.org/drawingml/2006/main">
            <a:r>
              <a:t>(1/2)</a:t>
            </a:r>
          </a:p>
          <a:p xmlns:a="http://schemas.openxmlformats.org/drawingml/2006/main">
            <a:r>
              <a:t>Python </a:t>
            </a:r>
          </a:p>
          <a:p xmlns:a="http://schemas.openxmlformats.org/drawingml/2006/main">
            <a:r>
              <a:t>以</a:t>
            </a:r>
          </a:p>
          <a:p xmlns:a="http://schemas.openxmlformats.org/drawingml/2006/main">
            <a:r>
              <a:t>冒號 </a:t>
            </a:r>
          </a:p>
          <a:p xmlns:a="http://schemas.openxmlformats.org/drawingml/2006/main">
            <a:r>
              <a:t>+ </a:t>
            </a:r>
          </a:p>
          <a:p xmlns:a="http://schemas.openxmlformats.org/drawingml/2006/main">
            <a:r>
              <a:t>縮排</a:t>
            </a:r>
          </a:p>
          <a:p xmlns:a="http://schemas.openxmlformats.org/drawingml/2006/main">
            <a:r>
              <a:t>來表示程式區塊</a:t>
            </a:r>
          </a:p>
          <a:p xmlns:a="http://schemas.openxmlformats.org/drawingml/2006/main">
            <a:r>
              <a:t>14</a:t>
            </a:r>
          </a:p>
          <a:p xmlns:a="http://schemas.openxmlformats.org/drawingml/2006/main">
            <a:r>
              <a:t>縮排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對應教材：第4章 條件判斷</a:t>
            </a:r>
          </a:p>
          <a:p xmlns:a="http://schemas.openxmlformats.org/drawingml/2006/main">
            <a:r>
              <a:t>對應範例：Python_計算機.ipynb C2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Python教學影片PPT/Py02_選擇敘述與迴圈(1).pptx</a:t>
            </a:r>
          </a:p>
          <a:p xmlns:a="http://schemas.openxmlformats.org/drawingml/2006/main">
            <a:r>
              <a:t>投影片序號34，署名林英志。</a:t>
            </a:r>
          </a:p>
          <a:p xmlns:a="http://schemas.openxmlformats.org/drawingml/2006/main">
            <a:r>
              <a:t>多向條件式</a:t>
            </a:r>
          </a:p>
          <a:p xmlns:a="http://schemas.openxmlformats.org/drawingml/2006/main">
            <a:r>
              <a:t>(</a:t>
            </a:r>
          </a:p>
          <a:p xmlns:a="http://schemas.openxmlformats.org/drawingml/2006/main">
            <a:r>
              <a:t>if ... </a:t>
            </a:r>
          </a:p>
          <a:p xmlns:a="http://schemas.openxmlformats.org/drawingml/2006/main">
            <a:r>
              <a:t>elif</a:t>
            </a:r>
          </a:p>
          <a:p xmlns:a="http://schemas.openxmlformats.org/drawingml/2006/main">
            <a:r>
              <a:t> ... else ...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對應教材：第4章 條件判斷</a:t>
            </a:r>
          </a:p>
          <a:p xmlns:a="http://schemas.openxmlformats.org/drawingml/2006/main">
            <a:r>
              <a:t>對應範例：Python_計算機.ipynb C2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來源：Python_計算機.ipynb，第7個儲存格。L行號相對於該儲存格，視覺折行不改變原碼。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expression = ""</a:t>
            </a:r>
          </a:p>
          <a:p xmlns:a="http://schemas.openxmlformats.org/drawingml/2006/main">
            <a:r>
              <a:t>for key in ["7", "+", "3", "AC", "9"]:</a:t>
            </a:r>
          </a:p>
          <a:p xmlns:a="http://schemas.openxmlformats.org/drawingml/2006/main">
            <a:r>
              <a:t>    if key == "AC":</a:t>
            </a:r>
          </a:p>
          <a:p xmlns:a="http://schemas.openxmlformats.org/drawingml/2006/main">
            <a:r>
              <a:t>        expression = ""</a:t>
            </a:r>
          </a:p>
          <a:p xmlns:a="http://schemas.openxmlformats.org/drawingml/2006/main">
            <a:r>
              <a:t>    elif key == "=":</a:t>
            </a:r>
          </a:p>
          <a:p xmlns:a="http://schemas.openxmlformats.org/drawingml/2006/main">
            <a:r>
              <a:t>        print("交給計算函式")</a:t>
            </a:r>
          </a:p>
          <a:p xmlns:a="http://schemas.openxmlformats.org/drawingml/2006/main">
            <a:r>
              <a:t>    else:</a:t>
            </a:r>
          </a:p>
          <a:p xmlns:a="http://schemas.openxmlformats.org/drawingml/2006/main">
            <a:r>
              <a:t>        if expression == "Error":</a:t>
            </a:r>
          </a:p>
          <a:p xmlns:a="http://schemas.openxmlformats.org/drawingml/2006/main">
            <a:r>
              <a:t>            expression = ""</a:t>
            </a:r>
          </a:p>
          <a:p xmlns:a="http://schemas.openxmlformats.org/drawingml/2006/main">
            <a:r>
              <a:t>        expression += key</a:t>
            </a:r>
          </a:p>
          <a:p xmlns:a="http://schemas.openxmlformats.org/drawingml/2006/main">
            <a:r>
              <a:t>    print(key, "=&gt;", expression if expression != "" else "0")</a:t>
            </a:r>
          </a:p>
          <a:p xmlns:a="http://schemas.openxmlformats.org/drawingml/2006/main">
            <a:r>
              <a:t>a, b = 10, 0</a:t>
            </a:r>
          </a:p>
          <a:p xmlns:a="http://schemas.openxmlformats.org/drawingml/2006/main">
            <a:r>
              <a:t>print("短路檢查：", b != 0 and a / b &gt; 2)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對應教材：第4章 條件判斷</a:t>
            </a:r>
          </a:p>
          <a:p xmlns:a="http://schemas.openxmlformats.org/drawingml/2006/main">
            <a:r>
              <a:t>對應範例：Python_計算機.ipynb C2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來源：Python_計算機.ipynb，第7個儲存格。L行號相對於該儲存格，視覺折行不改變原碼。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expression = ""</a:t>
            </a:r>
          </a:p>
          <a:p xmlns:a="http://schemas.openxmlformats.org/drawingml/2006/main">
            <a:r>
              <a:t>for key in ["7", "+", "3", "AC", "9"]:</a:t>
            </a:r>
          </a:p>
          <a:p xmlns:a="http://schemas.openxmlformats.org/drawingml/2006/main">
            <a:r>
              <a:t>    if key == "AC":</a:t>
            </a:r>
          </a:p>
          <a:p xmlns:a="http://schemas.openxmlformats.org/drawingml/2006/main">
            <a:r>
              <a:t>        expression = ""</a:t>
            </a:r>
          </a:p>
          <a:p xmlns:a="http://schemas.openxmlformats.org/drawingml/2006/main">
            <a:r>
              <a:t>    elif key == "=":</a:t>
            </a:r>
          </a:p>
          <a:p xmlns:a="http://schemas.openxmlformats.org/drawingml/2006/main">
            <a:r>
              <a:t>        print("交給計算函式")</a:t>
            </a:r>
          </a:p>
          <a:p xmlns:a="http://schemas.openxmlformats.org/drawingml/2006/main">
            <a:r>
              <a:t>    else:</a:t>
            </a:r>
          </a:p>
          <a:p xmlns:a="http://schemas.openxmlformats.org/drawingml/2006/main">
            <a:r>
              <a:t>        if expression == "Error":</a:t>
            </a:r>
          </a:p>
          <a:p xmlns:a="http://schemas.openxmlformats.org/drawingml/2006/main">
            <a:r>
              <a:t>            expression = ""</a:t>
            </a:r>
          </a:p>
          <a:p xmlns:a="http://schemas.openxmlformats.org/drawingml/2006/main">
            <a:r>
              <a:t>        expression += key</a:t>
            </a:r>
          </a:p>
          <a:p xmlns:a="http://schemas.openxmlformats.org/drawingml/2006/main">
            <a:r>
              <a:t>    print(key, "=&gt;", expression if expression != "" else "0")</a:t>
            </a:r>
          </a:p>
          <a:p xmlns:a="http://schemas.openxmlformats.org/drawingml/2006/main">
            <a:r>
              <a:t>a, b = 10, 0</a:t>
            </a:r>
          </a:p>
          <a:p xmlns:a="http://schemas.openxmlformats.org/drawingml/2006/main">
            <a:r>
              <a:t>print("短路檢查：", b != 0 and a / b &gt; 2)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對應教材：第4章 條件判斷</a:t>
            </a:r>
          </a:p>
          <a:p xmlns:a="http://schemas.openxmlformats.org/drawingml/2006/main">
            <a:r>
              <a:t>對應範例：Python_計算機.ipynb C2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以下是對應Notebook已執行的實際輸出。</a:t>
            </a:r>
          </a:p>
          <a:p xmlns:a="http://schemas.openxmlformats.org/drawingml/2006/main">
            <a:r>
              <a:t>7 =&gt; 7</a:t>
            </a:r>
          </a:p>
          <a:p xmlns:a="http://schemas.openxmlformats.org/drawingml/2006/main">
            <a:r>
              <a:t>+ =&gt; 7+</a:t>
            </a:r>
          </a:p>
          <a:p xmlns:a="http://schemas.openxmlformats.org/drawingml/2006/main">
            <a:r>
              <a:t>3 =&gt; 7+3</a:t>
            </a:r>
          </a:p>
          <a:p xmlns:a="http://schemas.openxmlformats.org/drawingml/2006/main">
            <a:r>
              <a:t>AC =&gt; 0</a:t>
            </a:r>
          </a:p>
          <a:p xmlns:a="http://schemas.openxmlformats.org/drawingml/2006/main">
            <a:r>
              <a:t>9 =&gt; 9</a:t>
            </a:r>
          </a:p>
          <a:p xmlns:a="http://schemas.openxmlformats.org/drawingml/2006/main">
            <a:r>
              <a:t>短路檢查： False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對應教材：第4章 條件判斷</a:t>
            </a:r>
          </a:p>
          <a:p xmlns:a="http://schemas.openxmlformats.org/drawingml/2006/main">
            <a:r>
              <a:t>對應範例：Python_計算機.ipynb C2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C3 函式把運算規則集中管理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**講授：** `def calculate(a, op, b):`只定義方法，呼叫`calculate(7, "+", 3)`才執行。定義中的a、op、b是參數，呼叫時的7、`"+"`、3是引數。函式內的名稱原則上是區域變數，外面的介面只需拿回傳值，不必知道內部用了哪個分支。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`return`把答案交回呼叫端，並立刻結束函式；`print`只負責顯示。若函式只有print而沒有return，取得的結果會是None。把「計算」和「顯示」拆開，才能重複用於Notebook、網頁按鈕與Tkinter。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下面先檢查輸入為有限數值，接著排除除以零，最後選擇運算分支。錯誤以`raise ValueError`交給上層處理，不把`"Error"`混進數值答案。`try/except`是錯誤處理延伸語法，用來讓單筆錯誤不終止整個示範。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**檢核：** `calculate(8,"/",2)`回傳4.0；`calculate(8,"/",0)`提出錯誤。試著把呼叫結果再乘以2，體會return的用途。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對應教材：第6章 函數</a:t>
            </a:r>
          </a:p>
          <a:p xmlns:a="http://schemas.openxmlformats.org/drawingml/2006/main">
            <a:r>
              <a:t>對應範例：Python_計算機.ipynb C3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來源：Python_計算機.ipynb，第9個儲存格。L行號相對於該儲存格，視覺折行不改變原碼。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calculate(a, op, b):</a:t>
            </a:r>
          </a:p>
          <a:p xmlns:a="http://schemas.openxmlformats.org/drawingml/2006/main">
            <a:r>
              <a:t>    if type(a) not in (int, float) or type(b) not in (int, float):</a:t>
            </a:r>
          </a:p>
          <a:p xmlns:a="http://schemas.openxmlformats.org/drawingml/2006/main">
            <a:r>
              <a:t>        raise ValueError("運算元必須是數值")</a:t>
            </a:r>
          </a:p>
          <a:p xmlns:a="http://schemas.openxmlformats.org/drawingml/2006/main">
            <a:r>
              <a:t>    if not math.isfinite(a) or not math.isfinite(b):</a:t>
            </a:r>
          </a:p>
          <a:p xmlns:a="http://schemas.openxmlformats.org/drawingml/2006/main">
            <a:r>
              <a:t>        raise ValueError("請輸入有限數值")</a:t>
            </a:r>
          </a:p>
          <a:p xmlns:a="http://schemas.openxmlformats.org/drawingml/2006/main">
            <a:r>
              <a:t>    if op in ["/", "//", "%"] and b == 0:</a:t>
            </a:r>
          </a:p>
          <a:p xmlns:a="http://schemas.openxmlformats.org/drawingml/2006/main">
            <a:r>
              <a:t>        raise ValueError("除數不可為0")</a:t>
            </a:r>
          </a:p>
          <a:p xmlns:a="http://schemas.openxmlformats.org/drawingml/2006/main">
            <a:r>
              <a:t>    if op == "+":</a:t>
            </a:r>
          </a:p>
          <a:p xmlns:a="http://schemas.openxmlformats.org/drawingml/2006/main">
            <a:r>
              <a:t>        return a + b</a:t>
            </a:r>
          </a:p>
          <a:p xmlns:a="http://schemas.openxmlformats.org/drawingml/2006/main">
            <a:r>
              <a:t>    elif op == "-":</a:t>
            </a:r>
          </a:p>
          <a:p xmlns:a="http://schemas.openxmlformats.org/drawingml/2006/main">
            <a:r>
              <a:t>        return a - b</a:t>
            </a:r>
          </a:p>
          <a:p xmlns:a="http://schemas.openxmlformats.org/drawingml/2006/main">
            <a:r>
              <a:t>    elif op == "*":</a:t>
            </a:r>
          </a:p>
          <a:p xmlns:a="http://schemas.openxmlformats.org/drawingml/2006/main">
            <a:r>
              <a:t>        return a * b</a:t>
            </a:r>
          </a:p>
          <a:p xmlns:a="http://schemas.openxmlformats.org/drawingml/2006/main">
            <a:r>
              <a:t>    elif op == "/":</a:t>
            </a:r>
          </a:p>
          <a:p xmlns:a="http://schemas.openxmlformats.org/drawingml/2006/main">
            <a:r>
              <a:t>        return a / b</a:t>
            </a:r>
          </a:p>
          <a:p xmlns:a="http://schemas.openxmlformats.org/drawingml/2006/main">
            <a:r>
              <a:t>    elif op == "//":</a:t>
            </a:r>
          </a:p>
          <a:p xmlns:a="http://schemas.openxmlformats.org/drawingml/2006/main">
            <a:r>
              <a:t>        return a // b</a:t>
            </a:r>
          </a:p>
          <a:p xmlns:a="http://schemas.openxmlformats.org/drawingml/2006/main">
            <a:r>
              <a:t>    elif op == "%":</a:t>
            </a:r>
          </a:p>
          <a:p xmlns:a="http://schemas.openxmlformats.org/drawingml/2006/main">
            <a:r>
              <a:t>        return a % b</a:t>
            </a:r>
          </a:p>
          <a:p xmlns:a="http://schemas.openxmlformats.org/drawingml/2006/main">
            <a:r>
              <a:t>    elif op == "**":</a:t>
            </a:r>
          </a:p>
          <a:p xmlns:a="http://schemas.openxmlformats.org/drawingml/2006/main">
            <a:r>
              <a:t>        if abs(a) &gt; 1000000 or abs(b) &gt; 10:</a:t>
            </a:r>
          </a:p>
          <a:p xmlns:a="http://schemas.openxmlformats.org/drawingml/2006/main">
            <a:r>
              <a:t>            raise ValueError("本教學版次方限定底數絕對值不超過1000000，指數不超過10")</a:t>
            </a:r>
          </a:p>
          <a:p xmlns:a="http://schemas.openxmlformats.org/drawingml/2006/main">
            <a:r>
              <a:t>        result = a ** b</a:t>
            </a:r>
          </a:p>
          <a:p xmlns:a="http://schemas.openxmlformats.org/drawingml/2006/main">
            <a:r>
              <a:t>        if isinstance(result, complex):</a:t>
            </a:r>
          </a:p>
          <a:p xmlns:a="http://schemas.openxmlformats.org/drawingml/2006/main">
            <a:r>
              <a:t>            raise ValueError("本教學版僅處理實數")</a:t>
            </a:r>
          </a:p>
          <a:p xmlns:a="http://schemas.openxmlformats.org/drawingml/2006/main">
            <a:r>
              <a:t>        return result</a:t>
            </a:r>
          </a:p>
          <a:p xmlns:a="http://schemas.openxmlformats.org/drawingml/2006/main">
            <a:r>
              <a:t>    raise ValueError("不支援的運算子")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print(calculate(8, "/", 2) * 2)</a:t>
            </a:r>
          </a:p>
          <a:p xmlns:a="http://schemas.openxmlformats.org/drawingml/2006/main">
            <a:r>
              <a:t>try:</a:t>
            </a:r>
          </a:p>
          <a:p xmlns:a="http://schemas.openxmlformats.org/drawingml/2006/main">
            <a:r>
              <a:t>    calculate(8, "/", 0)</a:t>
            </a:r>
          </a:p>
          <a:p xmlns:a="http://schemas.openxmlformats.org/drawingml/2006/main">
            <a:r>
              <a:t>except ValueError as error:</a:t>
            </a:r>
          </a:p>
          <a:p xmlns:a="http://schemas.openxmlformats.org/drawingml/2006/main">
            <a:r>
              <a:t>    print("已處理：", error)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對應教材：第6章 函數</a:t>
            </a:r>
          </a:p>
          <a:p xmlns:a="http://schemas.openxmlformats.org/drawingml/2006/main">
            <a:r>
              <a:t>對應範例：Python_計算機.ipynb C3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來源：Python_計算機.ipynb，第9個儲存格。L行號相對於該儲存格，視覺折行不改變原碼。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calculate(a, op, b):</a:t>
            </a:r>
          </a:p>
          <a:p xmlns:a="http://schemas.openxmlformats.org/drawingml/2006/main">
            <a:r>
              <a:t>    if type(a) not in (int, float) or type(b) not in (int, float):</a:t>
            </a:r>
          </a:p>
          <a:p xmlns:a="http://schemas.openxmlformats.org/drawingml/2006/main">
            <a:r>
              <a:t>        raise ValueError("運算元必須是數值")</a:t>
            </a:r>
          </a:p>
          <a:p xmlns:a="http://schemas.openxmlformats.org/drawingml/2006/main">
            <a:r>
              <a:t>    if not math.isfinite(a) or not math.isfinite(b):</a:t>
            </a:r>
          </a:p>
          <a:p xmlns:a="http://schemas.openxmlformats.org/drawingml/2006/main">
            <a:r>
              <a:t>        raise ValueError("請輸入有限數值")</a:t>
            </a:r>
          </a:p>
          <a:p xmlns:a="http://schemas.openxmlformats.org/drawingml/2006/main">
            <a:r>
              <a:t>    if op in ["/", "//", "%"] and b == 0:</a:t>
            </a:r>
          </a:p>
          <a:p xmlns:a="http://schemas.openxmlformats.org/drawingml/2006/main">
            <a:r>
              <a:t>        raise ValueError("除數不可為0")</a:t>
            </a:r>
          </a:p>
          <a:p xmlns:a="http://schemas.openxmlformats.org/drawingml/2006/main">
            <a:r>
              <a:t>    if op == "+":</a:t>
            </a:r>
          </a:p>
          <a:p xmlns:a="http://schemas.openxmlformats.org/drawingml/2006/main">
            <a:r>
              <a:t>        return a + b</a:t>
            </a:r>
          </a:p>
          <a:p xmlns:a="http://schemas.openxmlformats.org/drawingml/2006/main">
            <a:r>
              <a:t>    elif op == "-":</a:t>
            </a:r>
          </a:p>
          <a:p xmlns:a="http://schemas.openxmlformats.org/drawingml/2006/main">
            <a:r>
              <a:t>        return a - b</a:t>
            </a:r>
          </a:p>
          <a:p xmlns:a="http://schemas.openxmlformats.org/drawingml/2006/main">
            <a:r>
              <a:t>    elif op == "*":</a:t>
            </a:r>
          </a:p>
          <a:p xmlns:a="http://schemas.openxmlformats.org/drawingml/2006/main">
            <a:r>
              <a:t>        return a * b</a:t>
            </a:r>
          </a:p>
          <a:p xmlns:a="http://schemas.openxmlformats.org/drawingml/2006/main">
            <a:r>
              <a:t>    elif op == "/":</a:t>
            </a:r>
          </a:p>
          <a:p xmlns:a="http://schemas.openxmlformats.org/drawingml/2006/main">
            <a:r>
              <a:t>        return a / b</a:t>
            </a:r>
          </a:p>
          <a:p xmlns:a="http://schemas.openxmlformats.org/drawingml/2006/main">
            <a:r>
              <a:t>    elif op == "//":</a:t>
            </a:r>
          </a:p>
          <a:p xmlns:a="http://schemas.openxmlformats.org/drawingml/2006/main">
            <a:r>
              <a:t>        return a // b</a:t>
            </a:r>
          </a:p>
          <a:p xmlns:a="http://schemas.openxmlformats.org/drawingml/2006/main">
            <a:r>
              <a:t>    elif op == "%":</a:t>
            </a:r>
          </a:p>
          <a:p xmlns:a="http://schemas.openxmlformats.org/drawingml/2006/main">
            <a:r>
              <a:t>        return a % b</a:t>
            </a:r>
          </a:p>
          <a:p xmlns:a="http://schemas.openxmlformats.org/drawingml/2006/main">
            <a:r>
              <a:t>    elif op == "**":</a:t>
            </a:r>
          </a:p>
          <a:p xmlns:a="http://schemas.openxmlformats.org/drawingml/2006/main">
            <a:r>
              <a:t>        if abs(a) &gt; 1000000 or abs(b) &gt; 10:</a:t>
            </a:r>
          </a:p>
          <a:p xmlns:a="http://schemas.openxmlformats.org/drawingml/2006/main">
            <a:r>
              <a:t>            raise ValueError("本教學版次方限定底數絕對值不超過1000000，指數不超過10")</a:t>
            </a:r>
          </a:p>
          <a:p xmlns:a="http://schemas.openxmlformats.org/drawingml/2006/main">
            <a:r>
              <a:t>        result = a ** b</a:t>
            </a:r>
          </a:p>
          <a:p xmlns:a="http://schemas.openxmlformats.org/drawingml/2006/main">
            <a:r>
              <a:t>        if isinstance(result, complex):</a:t>
            </a:r>
          </a:p>
          <a:p xmlns:a="http://schemas.openxmlformats.org/drawingml/2006/main">
            <a:r>
              <a:t>            raise ValueError("本教學版僅處理實數")</a:t>
            </a:r>
          </a:p>
          <a:p xmlns:a="http://schemas.openxmlformats.org/drawingml/2006/main">
            <a:r>
              <a:t>        return result</a:t>
            </a:r>
          </a:p>
          <a:p xmlns:a="http://schemas.openxmlformats.org/drawingml/2006/main">
            <a:r>
              <a:t>    raise ValueError("不支援的運算子")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print(calculate(8, "/", 2) * 2)</a:t>
            </a:r>
          </a:p>
          <a:p xmlns:a="http://schemas.openxmlformats.org/drawingml/2006/main">
            <a:r>
              <a:t>try:</a:t>
            </a:r>
          </a:p>
          <a:p xmlns:a="http://schemas.openxmlformats.org/drawingml/2006/main">
            <a:r>
              <a:t>    calculate(8, "/", 0)</a:t>
            </a:r>
          </a:p>
          <a:p xmlns:a="http://schemas.openxmlformats.org/drawingml/2006/main">
            <a:r>
              <a:t>except ValueError as error:</a:t>
            </a:r>
          </a:p>
          <a:p xmlns:a="http://schemas.openxmlformats.org/drawingml/2006/main">
            <a:r>
              <a:t>    print("已處理：", error)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對應教材：第6章 函數</a:t>
            </a:r>
          </a:p>
          <a:p xmlns:a="http://schemas.openxmlformats.org/drawingml/2006/main">
            <a:r>
              <a:t>對應範例：Python_計算機.ipynb C3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來源：Python_計算機.ipynb，第9個儲存格。L行號相對於該儲存格，視覺折行不改變原碼。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calculate(a, op, b):</a:t>
            </a:r>
          </a:p>
          <a:p xmlns:a="http://schemas.openxmlformats.org/drawingml/2006/main">
            <a:r>
              <a:t>    if type(a) not in (int, float) or type(b) not in (int, float):</a:t>
            </a:r>
          </a:p>
          <a:p xmlns:a="http://schemas.openxmlformats.org/drawingml/2006/main">
            <a:r>
              <a:t>        raise ValueError("運算元必須是數值")</a:t>
            </a:r>
          </a:p>
          <a:p xmlns:a="http://schemas.openxmlformats.org/drawingml/2006/main">
            <a:r>
              <a:t>    if not math.isfinite(a) or not math.isfinite(b):</a:t>
            </a:r>
          </a:p>
          <a:p xmlns:a="http://schemas.openxmlformats.org/drawingml/2006/main">
            <a:r>
              <a:t>        raise ValueError("請輸入有限數值")</a:t>
            </a:r>
          </a:p>
          <a:p xmlns:a="http://schemas.openxmlformats.org/drawingml/2006/main">
            <a:r>
              <a:t>    if op in ["/", "//", "%"] and b == 0:</a:t>
            </a:r>
          </a:p>
          <a:p xmlns:a="http://schemas.openxmlformats.org/drawingml/2006/main">
            <a:r>
              <a:t>        raise ValueError("除數不可為0")</a:t>
            </a:r>
          </a:p>
          <a:p xmlns:a="http://schemas.openxmlformats.org/drawingml/2006/main">
            <a:r>
              <a:t>    if op == "+":</a:t>
            </a:r>
          </a:p>
          <a:p xmlns:a="http://schemas.openxmlformats.org/drawingml/2006/main">
            <a:r>
              <a:t>        return a + b</a:t>
            </a:r>
          </a:p>
          <a:p xmlns:a="http://schemas.openxmlformats.org/drawingml/2006/main">
            <a:r>
              <a:t>    elif op == "-":</a:t>
            </a:r>
          </a:p>
          <a:p xmlns:a="http://schemas.openxmlformats.org/drawingml/2006/main">
            <a:r>
              <a:t>        return a - b</a:t>
            </a:r>
          </a:p>
          <a:p xmlns:a="http://schemas.openxmlformats.org/drawingml/2006/main">
            <a:r>
              <a:t>    elif op == "*":</a:t>
            </a:r>
          </a:p>
          <a:p xmlns:a="http://schemas.openxmlformats.org/drawingml/2006/main">
            <a:r>
              <a:t>        return a * b</a:t>
            </a:r>
          </a:p>
          <a:p xmlns:a="http://schemas.openxmlformats.org/drawingml/2006/main">
            <a:r>
              <a:t>    elif op == "/":</a:t>
            </a:r>
          </a:p>
          <a:p xmlns:a="http://schemas.openxmlformats.org/drawingml/2006/main">
            <a:r>
              <a:t>        return a / b</a:t>
            </a:r>
          </a:p>
          <a:p xmlns:a="http://schemas.openxmlformats.org/drawingml/2006/main">
            <a:r>
              <a:t>    elif op == "//":</a:t>
            </a:r>
          </a:p>
          <a:p xmlns:a="http://schemas.openxmlformats.org/drawingml/2006/main">
            <a:r>
              <a:t>        return a // b</a:t>
            </a:r>
          </a:p>
          <a:p xmlns:a="http://schemas.openxmlformats.org/drawingml/2006/main">
            <a:r>
              <a:t>    elif op == "%":</a:t>
            </a:r>
          </a:p>
          <a:p xmlns:a="http://schemas.openxmlformats.org/drawingml/2006/main">
            <a:r>
              <a:t>        return a % b</a:t>
            </a:r>
          </a:p>
          <a:p xmlns:a="http://schemas.openxmlformats.org/drawingml/2006/main">
            <a:r>
              <a:t>    elif op == "**":</a:t>
            </a:r>
          </a:p>
          <a:p xmlns:a="http://schemas.openxmlformats.org/drawingml/2006/main">
            <a:r>
              <a:t>        if abs(a) &gt; 1000000 or abs(b) &gt; 10:</a:t>
            </a:r>
          </a:p>
          <a:p xmlns:a="http://schemas.openxmlformats.org/drawingml/2006/main">
            <a:r>
              <a:t>            raise ValueError("本教學版次方限定底數絕對值不超過1000000，指數不超過10")</a:t>
            </a:r>
          </a:p>
          <a:p xmlns:a="http://schemas.openxmlformats.org/drawingml/2006/main">
            <a:r>
              <a:t>        result = a ** b</a:t>
            </a:r>
          </a:p>
          <a:p xmlns:a="http://schemas.openxmlformats.org/drawingml/2006/main">
            <a:r>
              <a:t>        if isinstance(result, complex):</a:t>
            </a:r>
          </a:p>
          <a:p xmlns:a="http://schemas.openxmlformats.org/drawingml/2006/main">
            <a:r>
              <a:t>            raise ValueError("本教學版僅處理實數")</a:t>
            </a:r>
          </a:p>
          <a:p xmlns:a="http://schemas.openxmlformats.org/drawingml/2006/main">
            <a:r>
              <a:t>        return result</a:t>
            </a:r>
          </a:p>
          <a:p xmlns:a="http://schemas.openxmlformats.org/drawingml/2006/main">
            <a:r>
              <a:t>    raise ValueError("不支援的運算子")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print(calculate(8, "/", 2) * 2)</a:t>
            </a:r>
          </a:p>
          <a:p xmlns:a="http://schemas.openxmlformats.org/drawingml/2006/main">
            <a:r>
              <a:t>try:</a:t>
            </a:r>
          </a:p>
          <a:p xmlns:a="http://schemas.openxmlformats.org/drawingml/2006/main">
            <a:r>
              <a:t>    calculate(8, "/", 0)</a:t>
            </a:r>
          </a:p>
          <a:p xmlns:a="http://schemas.openxmlformats.org/drawingml/2006/main">
            <a:r>
              <a:t>except ValueError as error:</a:t>
            </a:r>
          </a:p>
          <a:p xmlns:a="http://schemas.openxmlformats.org/drawingml/2006/main">
            <a:r>
              <a:t>    print("已處理：", error)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對應教材：第6章 函數</a:t>
            </a:r>
          </a:p>
          <a:p xmlns:a="http://schemas.openxmlformats.org/drawingml/2006/main">
            <a:r>
              <a:t>對應範例：Python_計算機.ipynb C3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來源：Python_計算機.ipynb，第9個儲存格。L行號相對於該儲存格，視覺折行不改變原碼。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calculate(a, op, b):</a:t>
            </a:r>
          </a:p>
          <a:p xmlns:a="http://schemas.openxmlformats.org/drawingml/2006/main">
            <a:r>
              <a:t>    if type(a) not in (int, float) or type(b) not in (int, float):</a:t>
            </a:r>
          </a:p>
          <a:p xmlns:a="http://schemas.openxmlformats.org/drawingml/2006/main">
            <a:r>
              <a:t>        raise ValueError("運算元必須是數值")</a:t>
            </a:r>
          </a:p>
          <a:p xmlns:a="http://schemas.openxmlformats.org/drawingml/2006/main">
            <a:r>
              <a:t>    if not math.isfinite(a) or not math.isfinite(b):</a:t>
            </a:r>
          </a:p>
          <a:p xmlns:a="http://schemas.openxmlformats.org/drawingml/2006/main">
            <a:r>
              <a:t>        raise ValueError("請輸入有限數值")</a:t>
            </a:r>
          </a:p>
          <a:p xmlns:a="http://schemas.openxmlformats.org/drawingml/2006/main">
            <a:r>
              <a:t>    if op in ["/", "//", "%"] and b == 0:</a:t>
            </a:r>
          </a:p>
          <a:p xmlns:a="http://schemas.openxmlformats.org/drawingml/2006/main">
            <a:r>
              <a:t>        raise ValueError("除數不可為0")</a:t>
            </a:r>
          </a:p>
          <a:p xmlns:a="http://schemas.openxmlformats.org/drawingml/2006/main">
            <a:r>
              <a:t>    if op == "+":</a:t>
            </a:r>
          </a:p>
          <a:p xmlns:a="http://schemas.openxmlformats.org/drawingml/2006/main">
            <a:r>
              <a:t>        return a + b</a:t>
            </a:r>
          </a:p>
          <a:p xmlns:a="http://schemas.openxmlformats.org/drawingml/2006/main">
            <a:r>
              <a:t>    elif op == "-":</a:t>
            </a:r>
          </a:p>
          <a:p xmlns:a="http://schemas.openxmlformats.org/drawingml/2006/main">
            <a:r>
              <a:t>        return a - b</a:t>
            </a:r>
          </a:p>
          <a:p xmlns:a="http://schemas.openxmlformats.org/drawingml/2006/main">
            <a:r>
              <a:t>    elif op == "*":</a:t>
            </a:r>
          </a:p>
          <a:p xmlns:a="http://schemas.openxmlformats.org/drawingml/2006/main">
            <a:r>
              <a:t>        return a * b</a:t>
            </a:r>
          </a:p>
          <a:p xmlns:a="http://schemas.openxmlformats.org/drawingml/2006/main">
            <a:r>
              <a:t>    elif op == "/":</a:t>
            </a:r>
          </a:p>
          <a:p xmlns:a="http://schemas.openxmlformats.org/drawingml/2006/main">
            <a:r>
              <a:t>        return a / b</a:t>
            </a:r>
          </a:p>
          <a:p xmlns:a="http://schemas.openxmlformats.org/drawingml/2006/main">
            <a:r>
              <a:t>    elif op == "//":</a:t>
            </a:r>
          </a:p>
          <a:p xmlns:a="http://schemas.openxmlformats.org/drawingml/2006/main">
            <a:r>
              <a:t>        return a // b</a:t>
            </a:r>
          </a:p>
          <a:p xmlns:a="http://schemas.openxmlformats.org/drawingml/2006/main">
            <a:r>
              <a:t>    elif op == "%":</a:t>
            </a:r>
          </a:p>
          <a:p xmlns:a="http://schemas.openxmlformats.org/drawingml/2006/main">
            <a:r>
              <a:t>        return a % b</a:t>
            </a:r>
          </a:p>
          <a:p xmlns:a="http://schemas.openxmlformats.org/drawingml/2006/main">
            <a:r>
              <a:t>    elif op == "**":</a:t>
            </a:r>
          </a:p>
          <a:p xmlns:a="http://schemas.openxmlformats.org/drawingml/2006/main">
            <a:r>
              <a:t>        if abs(a) &gt; 1000000 or abs(b) &gt; 10:</a:t>
            </a:r>
          </a:p>
          <a:p xmlns:a="http://schemas.openxmlformats.org/drawingml/2006/main">
            <a:r>
              <a:t>            raise ValueError("本教學版次方限定底數絕對值不超過1000000，指數不超過10")</a:t>
            </a:r>
          </a:p>
          <a:p xmlns:a="http://schemas.openxmlformats.org/drawingml/2006/main">
            <a:r>
              <a:t>        result = a ** b</a:t>
            </a:r>
          </a:p>
          <a:p xmlns:a="http://schemas.openxmlformats.org/drawingml/2006/main">
            <a:r>
              <a:t>        if isinstance(result, complex):</a:t>
            </a:r>
          </a:p>
          <a:p xmlns:a="http://schemas.openxmlformats.org/drawingml/2006/main">
            <a:r>
              <a:t>            raise ValueError("本教學版僅處理實數")</a:t>
            </a:r>
          </a:p>
          <a:p xmlns:a="http://schemas.openxmlformats.org/drawingml/2006/main">
            <a:r>
              <a:t>        return result</a:t>
            </a:r>
          </a:p>
          <a:p xmlns:a="http://schemas.openxmlformats.org/drawingml/2006/main">
            <a:r>
              <a:t>    raise ValueError("不支援的運算子")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print(calculate(8, "/", 2) * 2)</a:t>
            </a:r>
          </a:p>
          <a:p xmlns:a="http://schemas.openxmlformats.org/drawingml/2006/main">
            <a:r>
              <a:t>try:</a:t>
            </a:r>
          </a:p>
          <a:p xmlns:a="http://schemas.openxmlformats.org/drawingml/2006/main">
            <a:r>
              <a:t>    calculate(8, "/", 0)</a:t>
            </a:r>
          </a:p>
          <a:p xmlns:a="http://schemas.openxmlformats.org/drawingml/2006/main">
            <a:r>
              <a:t>except ValueError as error:</a:t>
            </a:r>
          </a:p>
          <a:p xmlns:a="http://schemas.openxmlformats.org/drawingml/2006/main">
            <a:r>
              <a:t>    print("已處理：", error)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對應教材：第6章 函數</a:t>
            </a:r>
          </a:p>
          <a:p xmlns:a="http://schemas.openxmlformats.org/drawingml/2006/main">
            <a:r>
              <a:t>對應範例：Python_計算機.ipynb C3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來源：Python_計算機.ipynb，第9個儲存格。L行號相對於該儲存格，視覺折行不改變原碼。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calculate(a, op, b):</a:t>
            </a:r>
          </a:p>
          <a:p xmlns:a="http://schemas.openxmlformats.org/drawingml/2006/main">
            <a:r>
              <a:t>    if type(a) not in (int, float) or type(b) not in (int, float):</a:t>
            </a:r>
          </a:p>
          <a:p xmlns:a="http://schemas.openxmlformats.org/drawingml/2006/main">
            <a:r>
              <a:t>        raise ValueError("運算元必須是數值")</a:t>
            </a:r>
          </a:p>
          <a:p xmlns:a="http://schemas.openxmlformats.org/drawingml/2006/main">
            <a:r>
              <a:t>    if not math.isfinite(a) or not math.isfinite(b):</a:t>
            </a:r>
          </a:p>
          <a:p xmlns:a="http://schemas.openxmlformats.org/drawingml/2006/main">
            <a:r>
              <a:t>        raise ValueError("請輸入有限數值")</a:t>
            </a:r>
          </a:p>
          <a:p xmlns:a="http://schemas.openxmlformats.org/drawingml/2006/main">
            <a:r>
              <a:t>    if op in ["/", "//", "%"] and b == 0:</a:t>
            </a:r>
          </a:p>
          <a:p xmlns:a="http://schemas.openxmlformats.org/drawingml/2006/main">
            <a:r>
              <a:t>        raise ValueError("除數不可為0")</a:t>
            </a:r>
          </a:p>
          <a:p xmlns:a="http://schemas.openxmlformats.org/drawingml/2006/main">
            <a:r>
              <a:t>    if op == "+":</a:t>
            </a:r>
          </a:p>
          <a:p xmlns:a="http://schemas.openxmlformats.org/drawingml/2006/main">
            <a:r>
              <a:t>        return a + b</a:t>
            </a:r>
          </a:p>
          <a:p xmlns:a="http://schemas.openxmlformats.org/drawingml/2006/main">
            <a:r>
              <a:t>    elif op == "-":</a:t>
            </a:r>
          </a:p>
          <a:p xmlns:a="http://schemas.openxmlformats.org/drawingml/2006/main">
            <a:r>
              <a:t>        return a - b</a:t>
            </a:r>
          </a:p>
          <a:p xmlns:a="http://schemas.openxmlformats.org/drawingml/2006/main">
            <a:r>
              <a:t>    elif op == "*":</a:t>
            </a:r>
          </a:p>
          <a:p xmlns:a="http://schemas.openxmlformats.org/drawingml/2006/main">
            <a:r>
              <a:t>        return a * b</a:t>
            </a:r>
          </a:p>
          <a:p xmlns:a="http://schemas.openxmlformats.org/drawingml/2006/main">
            <a:r>
              <a:t>    elif op == "/":</a:t>
            </a:r>
          </a:p>
          <a:p xmlns:a="http://schemas.openxmlformats.org/drawingml/2006/main">
            <a:r>
              <a:t>        return a / b</a:t>
            </a:r>
          </a:p>
          <a:p xmlns:a="http://schemas.openxmlformats.org/drawingml/2006/main">
            <a:r>
              <a:t>    elif op == "//":</a:t>
            </a:r>
          </a:p>
          <a:p xmlns:a="http://schemas.openxmlformats.org/drawingml/2006/main">
            <a:r>
              <a:t>        return a // b</a:t>
            </a:r>
          </a:p>
          <a:p xmlns:a="http://schemas.openxmlformats.org/drawingml/2006/main">
            <a:r>
              <a:t>    elif op == "%":</a:t>
            </a:r>
          </a:p>
          <a:p xmlns:a="http://schemas.openxmlformats.org/drawingml/2006/main">
            <a:r>
              <a:t>        return a % b</a:t>
            </a:r>
          </a:p>
          <a:p xmlns:a="http://schemas.openxmlformats.org/drawingml/2006/main">
            <a:r>
              <a:t>    elif op == "**":</a:t>
            </a:r>
          </a:p>
          <a:p xmlns:a="http://schemas.openxmlformats.org/drawingml/2006/main">
            <a:r>
              <a:t>        if abs(a) &gt; 1000000 or abs(b) &gt; 10:</a:t>
            </a:r>
          </a:p>
          <a:p xmlns:a="http://schemas.openxmlformats.org/drawingml/2006/main">
            <a:r>
              <a:t>            raise ValueError("本教學版次方限定底數絕對值不超過1000000，指數不超過10")</a:t>
            </a:r>
          </a:p>
          <a:p xmlns:a="http://schemas.openxmlformats.org/drawingml/2006/main">
            <a:r>
              <a:t>        result = a ** b</a:t>
            </a:r>
          </a:p>
          <a:p xmlns:a="http://schemas.openxmlformats.org/drawingml/2006/main">
            <a:r>
              <a:t>        if isinstance(result, complex):</a:t>
            </a:r>
          </a:p>
          <a:p xmlns:a="http://schemas.openxmlformats.org/drawingml/2006/main">
            <a:r>
              <a:t>            raise ValueError("本教學版僅處理實數")</a:t>
            </a:r>
          </a:p>
          <a:p xmlns:a="http://schemas.openxmlformats.org/drawingml/2006/main">
            <a:r>
              <a:t>        return result</a:t>
            </a:r>
          </a:p>
          <a:p xmlns:a="http://schemas.openxmlformats.org/drawingml/2006/main">
            <a:r>
              <a:t>    raise ValueError("不支援的運算子")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print(calculate(8, "/", 2) * 2)</a:t>
            </a:r>
          </a:p>
          <a:p xmlns:a="http://schemas.openxmlformats.org/drawingml/2006/main">
            <a:r>
              <a:t>try:</a:t>
            </a:r>
          </a:p>
          <a:p xmlns:a="http://schemas.openxmlformats.org/drawingml/2006/main">
            <a:r>
              <a:t>    calculate(8, "/", 0)</a:t>
            </a:r>
          </a:p>
          <a:p xmlns:a="http://schemas.openxmlformats.org/drawingml/2006/main">
            <a:r>
              <a:t>except ValueError as error:</a:t>
            </a:r>
          </a:p>
          <a:p xmlns:a="http://schemas.openxmlformats.org/drawingml/2006/main">
            <a:r>
              <a:t>    print("已處理：", error)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對應教材：第6章 函數</a:t>
            </a:r>
          </a:p>
          <a:p xmlns:a="http://schemas.openxmlformats.org/drawingml/2006/main">
            <a:r>
              <a:t>對應範例：Python_計算機.ipynb C3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以下是對應Notebook已執行的實際輸出。</a:t>
            </a:r>
          </a:p>
          <a:p xmlns:a="http://schemas.openxmlformats.org/drawingml/2006/main">
            <a:r>
              <a:t>8.0</a:t>
            </a:r>
          </a:p>
          <a:p xmlns:a="http://schemas.openxmlformats.org/drawingml/2006/main">
            <a:r>
              <a:t>已處理： 除數不可為0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對應教材：第6章 函數</a:t>
            </a:r>
          </a:p>
          <a:p xmlns:a="http://schemas.openxmlformats.org/drawingml/2006/main">
            <a:r>
              <a:t>對應範例：Python_計算機.ipynb C3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C4 一維串列與二維按鈕陣列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**講授：** 串列用方括號建立，第一項索引是0，最後一項可用-1。`len`取得長度，`append`加在末尾，切片`[0:2]`取前兩項，不包含索引2。空串列`[]`可作為逐步蒐集資料的容器。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範例`buttons_data`是一個「列裡面還有列」的二維串列。`buttons_data[0][3]`表示第一列第四個按鍵，不是第四列第一個。外層長度是列數，內層長度是該列按鍵數。加入一整列時，畫面建構迴圈就能自動產生新按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串列可以修改，`other = buttons_data`只共用同一個物件，並未複製。建立二維表格時避免`[[0]*4]*4`，因為各列共用；可用推導式`[[0]*4 for _ in range(4)]`建立獨立列。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**檢核：** 請找出原版等號的索引`[3][2]`。本教學擴充版加入小數點、括號與三種延伸運算，等號位置改為`[4][3]`，因此不能把舊索引寫死。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對應教材：第7章 字串與容器型態</a:t>
            </a:r>
          </a:p>
          <a:p xmlns:a="http://schemas.openxmlformats.org/drawingml/2006/main">
            <a:r>
              <a:t>對應範例：Python_計算機.ipynb C4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來源：Python_計算機.ipynb，第11個儲存格。L行號相對於該儲存格，視覺折行不改變原碼。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buttons_data = [</a:t>
            </a:r>
          </a:p>
          <a:p xmlns:a="http://schemas.openxmlformats.org/drawingml/2006/main">
            <a:r>
              <a:t>    ["7", "8", "9", "+"],</a:t>
            </a:r>
          </a:p>
          <a:p xmlns:a="http://schemas.openxmlformats.org/drawingml/2006/main">
            <a:r>
              <a:t>    ["4", "5", "6", "-"],</a:t>
            </a:r>
          </a:p>
          <a:p xmlns:a="http://schemas.openxmlformats.org/drawingml/2006/main">
            <a:r>
              <a:t>    ["1", "2", "3", "x"],</a:t>
            </a:r>
          </a:p>
          <a:p xmlns:a="http://schemas.openxmlformats.org/drawingml/2006/main">
            <a:r>
              <a:t>    ["AC", "0", ".", "/"],</a:t>
            </a:r>
          </a:p>
          <a:p xmlns:a="http://schemas.openxmlformats.org/drawingml/2006/main">
            <a:r>
              <a:t>    ["(", ")", "**", "="],</a:t>
            </a:r>
          </a:p>
          <a:p xmlns:a="http://schemas.openxmlformats.org/drawingml/2006/main">
            <a:r>
              <a:t>    ["//", "%", "DEL", "±"],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history = []</a:t>
            </a:r>
          </a:p>
          <a:p xmlns:a="http://schemas.openxmlformats.org/drawingml/2006/main">
            <a:r>
              <a:t>history.append(calculate(7, "+", 3))</a:t>
            </a:r>
          </a:p>
          <a:p xmlns:a="http://schemas.openxmlformats.org/drawingml/2006/main">
            <a:r>
              <a:t>history.append(calculate(9, "*", 2))</a:t>
            </a:r>
          </a:p>
          <a:p xmlns:a="http://schemas.openxmlformats.org/drawingml/2006/main">
            <a:r>
              <a:t>print("第一列第四鍵：", buttons_data[0][3])</a:t>
            </a:r>
          </a:p>
          <a:p xmlns:a="http://schemas.openxmlformats.org/drawingml/2006/main">
            <a:r>
              <a:t>print("列數：", len(buttons_data), "等號：", buttons_data[4][3])</a:t>
            </a:r>
          </a:p>
          <a:p xmlns:a="http://schemas.openxmlformats.org/drawingml/2006/main">
            <a:r>
              <a:t>print("歷程：", history, "最後一筆：", history[-1])</a:t>
            </a:r>
          </a:p>
          <a:p xmlns:a="http://schemas.openxmlformats.org/drawingml/2006/main">
            <a:r>
              <a:t>print("前兩列：", buttons_data[:2])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對應教材：第7章 字串與容器型態</a:t>
            </a:r>
          </a:p>
          <a:p xmlns:a="http://schemas.openxmlformats.org/drawingml/2006/main">
            <a:r>
              <a:t>對應範例：Python_計算機.ipynb C4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來源：Python_計算機.ipynb，第11個儲存格。L行號相對於該儲存格，視覺折行不改變原碼。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buttons_data = [</a:t>
            </a:r>
          </a:p>
          <a:p xmlns:a="http://schemas.openxmlformats.org/drawingml/2006/main">
            <a:r>
              <a:t>    ["7", "8", "9", "+"],</a:t>
            </a:r>
          </a:p>
          <a:p xmlns:a="http://schemas.openxmlformats.org/drawingml/2006/main">
            <a:r>
              <a:t>    ["4", "5", "6", "-"],</a:t>
            </a:r>
          </a:p>
          <a:p xmlns:a="http://schemas.openxmlformats.org/drawingml/2006/main">
            <a:r>
              <a:t>    ["1", "2", "3", "x"],</a:t>
            </a:r>
          </a:p>
          <a:p xmlns:a="http://schemas.openxmlformats.org/drawingml/2006/main">
            <a:r>
              <a:t>    ["AC", "0", ".", "/"],</a:t>
            </a:r>
          </a:p>
          <a:p xmlns:a="http://schemas.openxmlformats.org/drawingml/2006/main">
            <a:r>
              <a:t>    ["(", ")", "**", "="],</a:t>
            </a:r>
          </a:p>
          <a:p xmlns:a="http://schemas.openxmlformats.org/drawingml/2006/main">
            <a:r>
              <a:t>    ["//", "%", "DEL", "±"],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history = []</a:t>
            </a:r>
          </a:p>
          <a:p xmlns:a="http://schemas.openxmlformats.org/drawingml/2006/main">
            <a:r>
              <a:t>history.append(calculate(7, "+", 3))</a:t>
            </a:r>
          </a:p>
          <a:p xmlns:a="http://schemas.openxmlformats.org/drawingml/2006/main">
            <a:r>
              <a:t>history.append(calculate(9, "*", 2))</a:t>
            </a:r>
          </a:p>
          <a:p xmlns:a="http://schemas.openxmlformats.org/drawingml/2006/main">
            <a:r>
              <a:t>print("第一列第四鍵：", buttons_data[0][3])</a:t>
            </a:r>
          </a:p>
          <a:p xmlns:a="http://schemas.openxmlformats.org/drawingml/2006/main">
            <a:r>
              <a:t>print("列數：", len(buttons_data), "等號：", buttons_data[4][3])</a:t>
            </a:r>
          </a:p>
          <a:p xmlns:a="http://schemas.openxmlformats.org/drawingml/2006/main">
            <a:r>
              <a:t>print("歷程：", history, "最後一筆：", history[-1])</a:t>
            </a:r>
          </a:p>
          <a:p xmlns:a="http://schemas.openxmlformats.org/drawingml/2006/main">
            <a:r>
              <a:t>print("前兩列：", buttons_data[:2])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對應教材：第7章 字串與容器型態</a:t>
            </a:r>
          </a:p>
          <a:p xmlns:a="http://schemas.openxmlformats.org/drawingml/2006/main">
            <a:r>
              <a:t>對應範例：Python_計算機.ipynb C4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以下是對應Notebook已執行的實際輸出。</a:t>
            </a:r>
          </a:p>
          <a:p xmlns:a="http://schemas.openxmlformats.org/drawingml/2006/main">
            <a:r>
              <a:t>第一列第四鍵： +</a:t>
            </a:r>
          </a:p>
          <a:p xmlns:a="http://schemas.openxmlformats.org/drawingml/2006/main">
            <a:r>
              <a:t>列數： 6 等號： =</a:t>
            </a:r>
          </a:p>
          <a:p xmlns:a="http://schemas.openxmlformats.org/drawingml/2006/main">
            <a:r>
              <a:t>歷程： [10, 18] 最後一筆： 18</a:t>
            </a:r>
          </a:p>
          <a:p xmlns:a="http://schemas.openxmlformats.org/drawingml/2006/main">
            <a:r>
              <a:t>前兩列： [['7', '8', '9', '+'], ['4', '5', '6', '-']]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對應教材：第7章 字串與容器型態</a:t>
            </a:r>
          </a:p>
          <a:p xmlns:a="http://schemas.openxmlformats.org/drawingml/2006/main">
            <a:r>
              <a:t>對應範例：Python_計算機.ipynb C4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C5 for與巢狀迴圈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**講授：** `for value in data`依序取得每個元素，處理已知的一批資料很方便。`range(4)`產生0、1、2、3，不含4；`range(1,5)`是1至4；`range(5,0,-1)`是5至1，間隔不能為0。想同時取得索引與值可用`enumerate`。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按鈕的外層迴圈每次取一列，內層每次取一個字元。原範例在每列開始時重新建立`row_widgets=[]`，避免把前面列的按鈕重複放進來。6列、每列4個按鍵，共建立24個按鈕；不是6+4個。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第二段以for批次處理運算資料。遇錯用continue只略過該次，下一筆仍可執行。迴圈後的else是在未被break中止時執行，與if的else意義不同。巢狀迴圈中的break只跳出最近的一層。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對應教材：第5章 重複執行程式碼</a:t>
            </a:r>
          </a:p>
          <a:p xmlns:a="http://schemas.openxmlformats.org/drawingml/2006/main">
            <a:r>
              <a:t>對應範例：Python_計算機.ipynb C5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Python教學影片PPT/Py02_選擇敘述與迴圈(2).pptx</a:t>
            </a:r>
          </a:p>
          <a:p xmlns:a="http://schemas.openxmlformats.org/drawingml/2006/main">
            <a:r>
              <a:t>投影片序號14，署名林英志。</a:t>
            </a:r>
          </a:p>
          <a:p xmlns:a="http://schemas.openxmlformats.org/drawingml/2006/main">
            <a:r>
              <a:t>for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迴圈</a:t>
            </a:r>
          </a:p>
          <a:p xmlns:a="http://schemas.openxmlformats.org/drawingml/2006/main">
            <a:r>
              <a:t>(1/2)</a:t>
            </a:r>
          </a:p>
          <a:p xmlns:a="http://schemas.openxmlformats.org/drawingml/2006/main">
            <a:r>
              <a:t>用來表達「對目標內的每一筆資料執行既定動作，直到每筆資料都執行完畢為止」的語意。</a:t>
            </a:r>
          </a:p>
          <a:p xmlns:a="http://schemas.openxmlformats.org/drawingml/2006/main">
            <a:r>
              <a:t>語法為</a:t>
            </a:r>
          </a:p>
          <a:p xmlns:a="http://schemas.openxmlformats.org/drawingml/2006/main">
            <a:r>
              <a:t>for</a:t>
            </a:r>
          </a:p>
          <a:p xmlns:a="http://schemas.openxmlformats.org/drawingml/2006/main">
            <a:r>
              <a:t>  </a:t>
            </a:r>
          </a:p>
          <a:p xmlns:a="http://schemas.openxmlformats.org/drawingml/2006/main">
            <a:r>
              <a:t>變數  </a:t>
            </a:r>
          </a:p>
          <a:p xmlns:a="http://schemas.openxmlformats.org/drawingml/2006/main">
            <a:r>
              <a:t>in</a:t>
            </a:r>
          </a:p>
          <a:p xmlns:a="http://schemas.openxmlformats.org/drawingml/2006/main">
            <a:r>
              <a:t>  </a:t>
            </a:r>
          </a:p>
          <a:p xmlns:a="http://schemas.openxmlformats.org/drawingml/2006/main">
            <a:r>
              <a:t>可迭代物件</a:t>
            </a:r>
          </a:p>
          <a:p xmlns:a="http://schemas.openxmlformats.org/drawingml/2006/main">
            <a:r>
              <a:t>:</a:t>
            </a:r>
          </a:p>
          <a:p xmlns:a="http://schemas.openxmlformats.org/drawingml/2006/main">
            <a:r>
              <a:t>     程式區塊</a:t>
            </a:r>
          </a:p>
          <a:p xmlns:a="http://schemas.openxmlformats.org/drawingml/2006/main">
            <a:r>
              <a:t>14</a:t>
            </a:r>
          </a:p>
          <a:p xmlns:a="http://schemas.openxmlformats.org/drawingml/2006/main">
            <a:r>
              <a:t>是否與 </a:t>
            </a:r>
          </a:p>
          <a:p xmlns:a="http://schemas.openxmlformats.org/drawingml/2006/main">
            <a:r>
              <a:t>while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的運作流程很像？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對應教材：第5章 重複執行程式碼</a:t>
            </a:r>
          </a:p>
          <a:p xmlns:a="http://schemas.openxmlformats.org/drawingml/2006/main">
            <a:r>
              <a:t>對應範例：Python_計算機.ipynb C5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Python教學影片PPT/Py02_選擇敘述與迴圈(2).pptx</a:t>
            </a:r>
          </a:p>
          <a:p xmlns:a="http://schemas.openxmlformats.org/drawingml/2006/main">
            <a:r>
              <a:t>投影片序號21，署名林英志。</a:t>
            </a:r>
          </a:p>
          <a:p xmlns:a="http://schemas.openxmlformats.org/drawingml/2006/main">
            <a:r>
              <a:t>range()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(4/5)</a:t>
            </a:r>
          </a:p>
          <a:p xmlns:a="http://schemas.openxmlformats.org/drawingml/2006/main">
            <a:r>
              <a:t>range()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的語法有三種，以</a:t>
            </a:r>
          </a:p>
          <a:p xmlns:a="http://schemas.openxmlformats.org/drawingml/2006/main">
            <a:r>
              <a:t>參數的個數</a:t>
            </a:r>
          </a:p>
          <a:p xmlns:a="http://schemas.openxmlformats.org/drawingml/2006/main">
            <a:r>
              <a:t>來區分。</a:t>
            </a:r>
          </a:p>
          <a:p xmlns:a="http://schemas.openxmlformats.org/drawingml/2006/main">
            <a:r>
              <a:t>3 </a:t>
            </a:r>
          </a:p>
          <a:p xmlns:a="http://schemas.openxmlformats.org/drawingml/2006/main">
            <a:r>
              <a:t>個參數的語法為：</a:t>
            </a:r>
          </a:p>
          <a:p xmlns:a="http://schemas.openxmlformats.org/drawingml/2006/main">
            <a:r>
              <a:t>range(</a:t>
            </a:r>
          </a:p>
          <a:p xmlns:a="http://schemas.openxmlformats.org/drawingml/2006/main">
            <a:r>
              <a:t>起始值</a:t>
            </a:r>
          </a:p>
          <a:p xmlns:a="http://schemas.openxmlformats.org/drawingml/2006/main">
            <a:r>
              <a:t>, </a:t>
            </a:r>
          </a:p>
          <a:p xmlns:a="http://schemas.openxmlformats.org/drawingml/2006/main">
            <a:r>
              <a:t>終止值</a:t>
            </a:r>
          </a:p>
          <a:p xmlns:a="http://schemas.openxmlformats.org/drawingml/2006/main">
            <a:r>
              <a:t>, </a:t>
            </a:r>
          </a:p>
          <a:p xmlns:a="http://schemas.openxmlformats.org/drawingml/2006/main">
            <a:r>
              <a:t>間隔值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range(3, 8, 1) = range(3, 8)</a:t>
            </a:r>
          </a:p>
          <a:p xmlns:a="http://schemas.openxmlformats.org/drawingml/2006/main">
            <a:r>
              <a:t>range(3, 8, 2)</a:t>
            </a:r>
          </a:p>
          <a:p xmlns:a="http://schemas.openxmlformats.org/drawingml/2006/main">
            <a:r>
              <a:t>range(8, 3, -1)</a:t>
            </a:r>
          </a:p>
          <a:p xmlns:a="http://schemas.openxmlformats.org/drawingml/2006/main">
            <a:r>
              <a:t>21</a:t>
            </a:r>
          </a:p>
          <a:p xmlns:a="http://schemas.openxmlformats.org/drawingml/2006/main">
            <a:r>
              <a:t>3, 4, 5, 6, 7</a:t>
            </a:r>
          </a:p>
          <a:p xmlns:a="http://schemas.openxmlformats.org/drawingml/2006/main">
            <a:r>
              <a:t>3, 5, 7</a:t>
            </a:r>
          </a:p>
          <a:p xmlns:a="http://schemas.openxmlformats.org/drawingml/2006/main">
            <a:r>
              <a:t>8, 7, 6, 5, 4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對應教材：第5章 重複執行程式碼</a:t>
            </a:r>
          </a:p>
          <a:p xmlns:a="http://schemas.openxmlformats.org/drawingml/2006/main">
            <a:r>
              <a:t>對應範例：Python_計算機.ipynb C5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Python教學影片PPT/Py02_選擇敘述與迴圈(2).pptx</a:t>
            </a:r>
          </a:p>
          <a:p xmlns:a="http://schemas.openxmlformats.org/drawingml/2006/main">
            <a:r>
              <a:t>投影片序號38，署名林英志。</a:t>
            </a:r>
          </a:p>
          <a:p xmlns:a="http://schemas.openxmlformats.org/drawingml/2006/main">
            <a:r>
              <a:t>巢狀迴圈</a:t>
            </a:r>
          </a:p>
          <a:p xmlns:a="http://schemas.openxmlformats.org/drawingml/2006/main">
            <a:r>
              <a:t>在一個迴圈的程式區塊內包含更多層迴圈時，就稱這個結構為</a:t>
            </a:r>
          </a:p>
          <a:p xmlns:a="http://schemas.openxmlformats.org/drawingml/2006/main">
            <a:r>
              <a:t>巢狀迴圈</a:t>
            </a:r>
          </a:p>
          <a:p xmlns:a="http://schemas.openxmlformats.org/drawingml/2006/main">
            <a:r>
              <a:t>(nested loop)</a:t>
            </a:r>
          </a:p>
          <a:p xmlns:a="http://schemas.openxmlformats.org/drawingml/2006/main">
            <a:r>
              <a:t>。</a:t>
            </a:r>
          </a:p>
          <a:p xmlns:a="http://schemas.openxmlformats.org/drawingml/2006/main">
            <a:r>
              <a:t>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對應教材：第5章 重複執行程式碼</a:t>
            </a:r>
          </a:p>
          <a:p xmlns:a="http://schemas.openxmlformats.org/drawingml/2006/main">
            <a:r>
              <a:t>對應範例：Python_計算機.ipynb C5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來源：Python_計算機.ipynb，第13個儲存格。L行號相對於該儲存格，視覺折行不改變原碼。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print("range示範：", list(range(4)), list(range(1, 5)), list(range(5, 0, -1)))</a:t>
            </a:r>
          </a:p>
          <a:p xmlns:a="http://schemas.openxmlformats.org/drawingml/2006/main">
            <a:r>
              <a:t>button_count = 0</a:t>
            </a:r>
          </a:p>
          <a:p xmlns:a="http://schemas.openxmlformats.org/drawingml/2006/main">
            <a:r>
              <a:t>for row_index, row_data in enumerate(buttons_data):</a:t>
            </a:r>
          </a:p>
          <a:p xmlns:a="http://schemas.openxmlformats.org/drawingml/2006/main">
            <a:r>
              <a:t>    for column_index, key in enumerate(row_data):</a:t>
            </a:r>
          </a:p>
          <a:p xmlns:a="http://schemas.openxmlformats.org/drawingml/2006/main">
            <a:r>
              <a:t>        button_count += 1</a:t>
            </a:r>
          </a:p>
          <a:p xmlns:a="http://schemas.openxmlformats.org/drawingml/2006/main">
            <a:r>
              <a:t>        print(f"({row_index},{column_index})={key}", end="  ")</a:t>
            </a:r>
          </a:p>
          <a:p xmlns:a="http://schemas.openxmlformats.org/drawingml/2006/main">
            <a:r>
              <a:t>    print()</a:t>
            </a:r>
          </a:p>
          <a:p xmlns:a="http://schemas.openxmlformats.org/drawingml/2006/main">
            <a:r>
              <a:t>print("按鈕總數：", button_count)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jobs = [(7, "+", 3), (9, "/", 0), (8, "%", 3)]</a:t>
            </a:r>
          </a:p>
          <a:p xmlns:a="http://schemas.openxmlformats.org/drawingml/2006/main">
            <a:r>
              <a:t>batch_results = []</a:t>
            </a:r>
          </a:p>
          <a:p xmlns:a="http://schemas.openxmlformats.org/drawingml/2006/main">
            <a:r>
              <a:t>for a, op, b in jobs:</a:t>
            </a:r>
          </a:p>
          <a:p xmlns:a="http://schemas.openxmlformats.org/drawingml/2006/main">
            <a:r>
              <a:t>    try:</a:t>
            </a:r>
          </a:p>
          <a:p xmlns:a="http://schemas.openxmlformats.org/drawingml/2006/main">
            <a:r>
              <a:t>        result = calculate(a, op, b)</a:t>
            </a:r>
          </a:p>
          <a:p xmlns:a="http://schemas.openxmlformats.org/drawingml/2006/main">
            <a:r>
              <a:t>    except ValueError as error:</a:t>
            </a:r>
          </a:p>
          <a:p xmlns:a="http://schemas.openxmlformats.org/drawingml/2006/main">
            <a:r>
              <a:t>        print("略過：", error)</a:t>
            </a:r>
          </a:p>
          <a:p xmlns:a="http://schemas.openxmlformats.org/drawingml/2006/main">
            <a:r>
              <a:t>        continue</a:t>
            </a:r>
          </a:p>
          <a:p xmlns:a="http://schemas.openxmlformats.org/drawingml/2006/main">
            <a:r>
              <a:t>    batch_results.append(result)</a:t>
            </a:r>
          </a:p>
          <a:p xmlns:a="http://schemas.openxmlformats.org/drawingml/2006/main">
            <a:r>
              <a:t>else:</a:t>
            </a:r>
          </a:p>
          <a:p xmlns:a="http://schemas.openxmlformats.org/drawingml/2006/main">
            <a:r>
              <a:t>    print("所有工作已走訪完成：", batch_results)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對應教材：第5章 重複執行程式碼</a:t>
            </a:r>
          </a:p>
          <a:p xmlns:a="http://schemas.openxmlformats.org/drawingml/2006/main">
            <a:r>
              <a:t>對應範例：Python_計算機.ipynb C5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來源：Python_計算機.ipynb，第13個儲存格。L行號相對於該儲存格，視覺折行不改變原碼。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print("range示範：", list(range(4)), list(range(1, 5)), list(range(5, 0, -1)))</a:t>
            </a:r>
          </a:p>
          <a:p xmlns:a="http://schemas.openxmlformats.org/drawingml/2006/main">
            <a:r>
              <a:t>button_count = 0</a:t>
            </a:r>
          </a:p>
          <a:p xmlns:a="http://schemas.openxmlformats.org/drawingml/2006/main">
            <a:r>
              <a:t>for row_index, row_data in enumerate(buttons_data):</a:t>
            </a:r>
          </a:p>
          <a:p xmlns:a="http://schemas.openxmlformats.org/drawingml/2006/main">
            <a:r>
              <a:t>    for column_index, key in enumerate(row_data):</a:t>
            </a:r>
          </a:p>
          <a:p xmlns:a="http://schemas.openxmlformats.org/drawingml/2006/main">
            <a:r>
              <a:t>        button_count += 1</a:t>
            </a:r>
          </a:p>
          <a:p xmlns:a="http://schemas.openxmlformats.org/drawingml/2006/main">
            <a:r>
              <a:t>        print(f"({row_index},{column_index})={key}", end="  ")</a:t>
            </a:r>
          </a:p>
          <a:p xmlns:a="http://schemas.openxmlformats.org/drawingml/2006/main">
            <a:r>
              <a:t>    print()</a:t>
            </a:r>
          </a:p>
          <a:p xmlns:a="http://schemas.openxmlformats.org/drawingml/2006/main">
            <a:r>
              <a:t>print("按鈕總數：", button_count)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jobs = [(7, "+", 3), (9, "/", 0), (8, "%", 3)]</a:t>
            </a:r>
          </a:p>
          <a:p xmlns:a="http://schemas.openxmlformats.org/drawingml/2006/main">
            <a:r>
              <a:t>batch_results = []</a:t>
            </a:r>
          </a:p>
          <a:p xmlns:a="http://schemas.openxmlformats.org/drawingml/2006/main">
            <a:r>
              <a:t>for a, op, b in jobs:</a:t>
            </a:r>
          </a:p>
          <a:p xmlns:a="http://schemas.openxmlformats.org/drawingml/2006/main">
            <a:r>
              <a:t>    try:</a:t>
            </a:r>
          </a:p>
          <a:p xmlns:a="http://schemas.openxmlformats.org/drawingml/2006/main">
            <a:r>
              <a:t>        result = calculate(a, op, b)</a:t>
            </a:r>
          </a:p>
          <a:p xmlns:a="http://schemas.openxmlformats.org/drawingml/2006/main">
            <a:r>
              <a:t>    except ValueError as error:</a:t>
            </a:r>
          </a:p>
          <a:p xmlns:a="http://schemas.openxmlformats.org/drawingml/2006/main">
            <a:r>
              <a:t>        print("略過：", error)</a:t>
            </a:r>
          </a:p>
          <a:p xmlns:a="http://schemas.openxmlformats.org/drawingml/2006/main">
            <a:r>
              <a:t>        continue</a:t>
            </a:r>
          </a:p>
          <a:p xmlns:a="http://schemas.openxmlformats.org/drawingml/2006/main">
            <a:r>
              <a:t>    batch_results.append(result)</a:t>
            </a:r>
          </a:p>
          <a:p xmlns:a="http://schemas.openxmlformats.org/drawingml/2006/main">
            <a:r>
              <a:t>else:</a:t>
            </a:r>
          </a:p>
          <a:p xmlns:a="http://schemas.openxmlformats.org/drawingml/2006/main">
            <a:r>
              <a:t>    print("所有工作已走訪完成：", batch_results)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對應教材：第5章 重複執行程式碼</a:t>
            </a:r>
          </a:p>
          <a:p xmlns:a="http://schemas.openxmlformats.org/drawingml/2006/main">
            <a:r>
              <a:t>對應範例：Python_計算機.ipynb C5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以下是對應Notebook已執行的實際輸出。</a:t>
            </a:r>
          </a:p>
          <a:p xmlns:a="http://schemas.openxmlformats.org/drawingml/2006/main">
            <a:r>
              <a:t>range示範： [0, 1, 2, 3] [1, 2, 3, 4] [5, 4, 3, 2, 1]</a:t>
            </a:r>
          </a:p>
          <a:p xmlns:a="http://schemas.openxmlformats.org/drawingml/2006/main">
            <a:r>
              <a:t>(0,0)=7  (0,1)=8  (0,2)=9  (0,3)=+  </a:t>
            </a:r>
          </a:p>
          <a:p xmlns:a="http://schemas.openxmlformats.org/drawingml/2006/main">
            <a:r>
              <a:t>(1,0)=4  (1,1)=5  (1,2)=6  (1,3)=-  </a:t>
            </a:r>
          </a:p>
          <a:p xmlns:a="http://schemas.openxmlformats.org/drawingml/2006/main">
            <a:r>
              <a:t>(2,0)=1  (2,1)=2  (2,2)=3  (2,3)=x  </a:t>
            </a:r>
          </a:p>
          <a:p xmlns:a="http://schemas.openxmlformats.org/drawingml/2006/main">
            <a:r>
              <a:t>(3,0)=AC  (3,1)=0  (3,2)=.  (3,3)=/  </a:t>
            </a:r>
          </a:p>
          <a:p xmlns:a="http://schemas.openxmlformats.org/drawingml/2006/main">
            <a:r>
              <a:t>(4,0)=(  (4,1)=)  (4,2)=**  (4,3)==  </a:t>
            </a:r>
          </a:p>
          <a:p xmlns:a="http://schemas.openxmlformats.org/drawingml/2006/main">
            <a:r>
              <a:t>(5,0)=//  (5,1)=%  (5,2)=DEL  (5,3)=±  </a:t>
            </a:r>
          </a:p>
          <a:p xmlns:a="http://schemas.openxmlformats.org/drawingml/2006/main">
            <a:r>
              <a:t>按鈕總數： 24</a:t>
            </a:r>
          </a:p>
          <a:p xmlns:a="http://schemas.openxmlformats.org/drawingml/2006/main">
            <a:r>
              <a:t>略過： 除數不可為0</a:t>
            </a:r>
          </a:p>
          <a:p xmlns:a="http://schemas.openxmlformats.org/drawingml/2006/main">
            <a:r>
              <a:t>所有工作已走訪完成： [10, 2]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對應教材：第5章 重複執行程式碼</a:t>
            </a:r>
          </a:p>
          <a:p xmlns:a="http://schemas.openxmlformats.org/drawingml/2006/main">
            <a:r>
              <a:t>對應範例：Python_計算機.ipynb C5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C6 while、停止條件與互動輸入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**講授：** while在每次執行區塊前檢查條件，成立才執行；如果一開始就是False，會執行零次。設計時找出三件事：初值、持續條件、狀態更新。下例初值index=0，持續條件`index&lt;len(commands)`，每輪執行`index+=1`。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我們先以串列模擬使用者操作，讓整份筆記本可自動跑完。空指令用continue略過；quit用break離開。index必須在continue之前增加，否則可能永遠讀到同一個空字串。真正的命令列輸入通常使用while True，讀到q便break；原GUI則由事件迴圈等待點擊，不要在按鍵回呼內再寫阻塞的while True。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**檢核：** 下例應只記錄7與3；quit之後的9不會被處理。把quit移除後，迴圈仍會在清單結尾停止。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對應教材：第5章 重複執行程式碼</a:t>
            </a:r>
          </a:p>
          <a:p xmlns:a="http://schemas.openxmlformats.org/drawingml/2006/main">
            <a:r>
              <a:t>對應範例：Python_計算機.ipynb C6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Python教學影片PPT/Py02_選擇敘述與迴圈(2).pptx</a:t>
            </a:r>
          </a:p>
          <a:p xmlns:a="http://schemas.openxmlformats.org/drawingml/2006/main">
            <a:r>
              <a:t>投影片序號6，署名林英志。</a:t>
            </a:r>
          </a:p>
          <a:p xmlns:a="http://schemas.openxmlformats.org/drawingml/2006/main">
            <a:r>
              <a:t>while</a:t>
            </a:r>
          </a:p>
          <a:p xmlns:a="http://schemas.openxmlformats.org/drawingml/2006/main">
            <a:r>
              <a:t> 迴圈</a:t>
            </a:r>
          </a:p>
          <a:p xmlns:a="http://schemas.openxmlformats.org/drawingml/2006/main">
            <a:r>
              <a:t>這個敘述用來表達「若某條件成立，則一直重複執行既定動作，直到該條件不再成立為止」的語意</a:t>
            </a:r>
          </a:p>
          <a:p xmlns:a="http://schemas.openxmlformats.org/drawingml/2006/main">
            <a:r>
              <a:t>，運作流程如下：</a:t>
            </a:r>
          </a:p>
          <a:p xmlns:a="http://schemas.openxmlformats.org/drawingml/2006/main">
            <a:r>
              <a:t>語法為</a:t>
            </a:r>
          </a:p>
          <a:p xmlns:a="http://schemas.openxmlformats.org/drawingml/2006/main">
            <a:r>
              <a:t>while </a:t>
            </a:r>
          </a:p>
          <a:p xmlns:a="http://schemas.openxmlformats.org/drawingml/2006/main">
            <a:r>
              <a:t>條件式</a:t>
            </a:r>
          </a:p>
          <a:p xmlns:a="http://schemas.openxmlformats.org/drawingml/2006/main">
            <a:r>
              <a:t>:</a:t>
            </a:r>
          </a:p>
          <a:p xmlns:a="http://schemas.openxmlformats.org/drawingml/2006/main">
            <a:r>
              <a:t>    程式區塊</a:t>
            </a:r>
          </a:p>
          <a:p xmlns:a="http://schemas.openxmlformats.org/drawingml/2006/main">
            <a:r>
              <a:t>6</a:t>
            </a:r>
          </a:p>
          <a:p xmlns:a="http://schemas.openxmlformats.org/drawingml/2006/main">
            <a:r>
              <a:t>是否與 </a:t>
            </a:r>
          </a:p>
          <a:p xmlns:a="http://schemas.openxmlformats.org/drawingml/2006/main">
            <a:r>
              <a:t>if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的運作流程很像？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對應教材：第5章 重複執行程式碼</a:t>
            </a:r>
          </a:p>
          <a:p xmlns:a="http://schemas.openxmlformats.org/drawingml/2006/main">
            <a:r>
              <a:t>對應範例：Python_計算機.ipynb C6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Python教學影片PPT/Py02_選擇敘述與迴圈(2).pptx</a:t>
            </a:r>
          </a:p>
          <a:p xmlns:a="http://schemas.openxmlformats.org/drawingml/2006/main">
            <a:r>
              <a:t>投影片序號27，署名林英志。</a:t>
            </a:r>
          </a:p>
          <a:p xmlns:a="http://schemas.openxmlformats.org/drawingml/2006/main">
            <a:r>
              <a:t>break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敘述</a:t>
            </a:r>
          </a:p>
          <a:p xmlns:a="http://schemas.openxmlformats.org/drawingml/2006/main">
            <a:r>
              <a:t>當我們希望迴圈在執行程式區塊的過程中，直接</a:t>
            </a:r>
          </a:p>
          <a:p xmlns:a="http://schemas.openxmlformats.org/drawingml/2006/main">
            <a:r>
              <a:t>中斷離開這個迴圈</a:t>
            </a:r>
          </a:p>
          <a:p xmlns:a="http://schemas.openxmlformats.org/drawingml/2006/main">
            <a:r>
              <a:t>，並繼續執行迴圈後的下一段程式，就能使用 </a:t>
            </a:r>
          </a:p>
          <a:p xmlns:a="http://schemas.openxmlformats.org/drawingml/2006/main">
            <a:r>
              <a:t>break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敘述。</a:t>
            </a:r>
          </a:p>
          <a:p xmlns:a="http://schemas.openxmlformats.org/drawingml/2006/main">
            <a:r>
              <a:t>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對應教材：第5章 重複執行程式碼</a:t>
            </a:r>
          </a:p>
          <a:p xmlns:a="http://schemas.openxmlformats.org/drawingml/2006/main">
            <a:r>
              <a:t>對應範例：Python_計算機.ipynb C6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Python教學影片PPT/Py02_選擇敘述與迴圈(2).pptx</a:t>
            </a:r>
          </a:p>
          <a:p xmlns:a="http://schemas.openxmlformats.org/drawingml/2006/main">
            <a:r>
              <a:t>投影片序號30，署名林英志。</a:t>
            </a:r>
          </a:p>
          <a:p xmlns:a="http://schemas.openxmlformats.org/drawingml/2006/main">
            <a:r>
              <a:t>continue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敘述</a:t>
            </a:r>
          </a:p>
          <a:p xmlns:a="http://schemas.openxmlformats.org/drawingml/2006/main">
            <a:r>
              <a:t>當我們想要迴圈執行完部分程式區塊後，即</a:t>
            </a:r>
          </a:p>
          <a:p xmlns:a="http://schemas.openxmlformats.org/drawingml/2006/main">
            <a:r>
              <a:t>略過剩餘部分直接跳到下一個元素</a:t>
            </a:r>
          </a:p>
          <a:p xmlns:a="http://schemas.openxmlformats.org/drawingml/2006/main">
            <a:r>
              <a:t>時，就可使用 </a:t>
            </a:r>
          </a:p>
          <a:p xmlns:a="http://schemas.openxmlformats.org/drawingml/2006/main">
            <a:r>
              <a:t>continue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敘述。</a:t>
            </a:r>
          </a:p>
          <a:p xmlns:a="http://schemas.openxmlformats.org/drawingml/2006/main">
            <a:r>
              <a:t>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對應教材：第5章 重複執行程式碼</a:t>
            </a:r>
          </a:p>
          <a:p xmlns:a="http://schemas.openxmlformats.org/drawingml/2006/main">
            <a:r>
              <a:t>對應範例：Python_計算機.ipynb C6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來源：Python_計算機.ipynb，第15個儲存格。L行號相對於該儲存格，視覺折行不改變原碼。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commands = ["7", "", "3", "quit", "9"]</a:t>
            </a:r>
          </a:p>
          <a:p xmlns:a="http://schemas.openxmlformats.org/drawingml/2006/main">
            <a:r>
              <a:t>index = 0</a:t>
            </a:r>
          </a:p>
          <a:p xmlns:a="http://schemas.openxmlformats.org/drawingml/2006/main">
            <a:r>
              <a:t>accepted = []</a:t>
            </a:r>
          </a:p>
          <a:p xmlns:a="http://schemas.openxmlformats.org/drawingml/2006/main">
            <a:r>
              <a:t>while index &lt; len(commands):</a:t>
            </a:r>
          </a:p>
          <a:p xmlns:a="http://schemas.openxmlformats.org/drawingml/2006/main">
            <a:r>
              <a:t>    command = commands[index]</a:t>
            </a:r>
          </a:p>
          <a:p xmlns:a="http://schemas.openxmlformats.org/drawingml/2006/main">
            <a:r>
              <a:t>    index += 1</a:t>
            </a:r>
          </a:p>
          <a:p xmlns:a="http://schemas.openxmlformats.org/drawingml/2006/main">
            <a:r>
              <a:t>    if command == "":</a:t>
            </a:r>
          </a:p>
          <a:p xmlns:a="http://schemas.openxmlformats.org/drawingml/2006/main">
            <a:r>
              <a:t>        continue</a:t>
            </a:r>
          </a:p>
          <a:p xmlns:a="http://schemas.openxmlformats.org/drawingml/2006/main">
            <a:r>
              <a:t>    if command == "quit":</a:t>
            </a:r>
          </a:p>
          <a:p xmlns:a="http://schemas.openxmlformats.org/drawingml/2006/main">
            <a:r>
              <a:t>        break</a:t>
            </a:r>
          </a:p>
          <a:p xmlns:a="http://schemas.openxmlformats.org/drawingml/2006/main">
            <a:r>
              <a:t>    accepted.append(command)</a:t>
            </a:r>
          </a:p>
          <a:p xmlns:a="http://schemas.openxmlformats.org/drawingml/2006/main">
            <a:r>
              <a:t>print("收到的數字：", accepted)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run_console_calculator():</a:t>
            </a:r>
          </a:p>
          <a:p xmlns:a="http://schemas.openxmlformats.org/drawingml/2006/main">
            <a:r>
              <a:t>    while True:</a:t>
            </a:r>
          </a:p>
          <a:p xmlns:a="http://schemas.openxmlformats.org/drawingml/2006/main">
            <a:r>
              <a:t>        raw = input("第一個數（q離開）：").strip()</a:t>
            </a:r>
          </a:p>
          <a:p xmlns:a="http://schemas.openxmlformats.org/drawingml/2006/main">
            <a:r>
              <a:t>        if raw.lower() == "q":</a:t>
            </a:r>
          </a:p>
          <a:p xmlns:a="http://schemas.openxmlformats.org/drawingml/2006/main">
            <a:r>
              <a:t>            break</a:t>
            </a:r>
          </a:p>
          <a:p xmlns:a="http://schemas.openxmlformats.org/drawingml/2006/main">
            <a:r>
              <a:t>        try:</a:t>
            </a:r>
          </a:p>
          <a:p xmlns:a="http://schemas.openxmlformats.org/drawingml/2006/main">
            <a:r>
              <a:t>            a = float(raw)</a:t>
            </a:r>
          </a:p>
          <a:p xmlns:a="http://schemas.openxmlformats.org/drawingml/2006/main">
            <a:r>
              <a:t>            op = input("運算子：").strip()</a:t>
            </a:r>
          </a:p>
          <a:p xmlns:a="http://schemas.openxmlformats.org/drawingml/2006/main">
            <a:r>
              <a:t>            b = float(input("第二個數："))</a:t>
            </a:r>
          </a:p>
          <a:p xmlns:a="http://schemas.openxmlformats.org/drawingml/2006/main">
            <a:r>
              <a:t>            print("答案：", calculate(a, op, b))</a:t>
            </a:r>
          </a:p>
          <a:p xmlns:a="http://schemas.openxmlformats.org/drawingml/2006/main">
            <a:r>
              <a:t>        except (ValueError, ZeroDivisionError, OverflowError) as error:</a:t>
            </a:r>
          </a:p>
          <a:p xmlns:a="http://schemas.openxmlformats.org/drawingml/2006/main">
            <a:r>
              <a:t>            print("請重新輸入：", error)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RUN_INPUT_DEMO = False  # 想體驗input時改成True；輸入q結束</a:t>
            </a:r>
          </a:p>
          <a:p xmlns:a="http://schemas.openxmlformats.org/drawingml/2006/main">
            <a:r>
              <a:t>if RUN_INPUT_DEMO:</a:t>
            </a:r>
          </a:p>
          <a:p xmlns:a="http://schemas.openxmlformats.org/drawingml/2006/main">
            <a:r>
              <a:t>    run_console_calculator()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對應教材：第5章 重複執行程式碼</a:t>
            </a:r>
          </a:p>
          <a:p xmlns:a="http://schemas.openxmlformats.org/drawingml/2006/main">
            <a:r>
              <a:t>對應範例：Python_計算機.ipynb C6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來源：Python_計算機.ipynb，第15個儲存格。L行號相對於該儲存格，視覺折行不改變原碼。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commands = ["7", "", "3", "quit", "9"]</a:t>
            </a:r>
          </a:p>
          <a:p xmlns:a="http://schemas.openxmlformats.org/drawingml/2006/main">
            <a:r>
              <a:t>index = 0</a:t>
            </a:r>
          </a:p>
          <a:p xmlns:a="http://schemas.openxmlformats.org/drawingml/2006/main">
            <a:r>
              <a:t>accepted = []</a:t>
            </a:r>
          </a:p>
          <a:p xmlns:a="http://schemas.openxmlformats.org/drawingml/2006/main">
            <a:r>
              <a:t>while index &lt; len(commands):</a:t>
            </a:r>
          </a:p>
          <a:p xmlns:a="http://schemas.openxmlformats.org/drawingml/2006/main">
            <a:r>
              <a:t>    command = commands[index]</a:t>
            </a:r>
          </a:p>
          <a:p xmlns:a="http://schemas.openxmlformats.org/drawingml/2006/main">
            <a:r>
              <a:t>    index += 1</a:t>
            </a:r>
          </a:p>
          <a:p xmlns:a="http://schemas.openxmlformats.org/drawingml/2006/main">
            <a:r>
              <a:t>    if command == "":</a:t>
            </a:r>
          </a:p>
          <a:p xmlns:a="http://schemas.openxmlformats.org/drawingml/2006/main">
            <a:r>
              <a:t>        continue</a:t>
            </a:r>
          </a:p>
          <a:p xmlns:a="http://schemas.openxmlformats.org/drawingml/2006/main">
            <a:r>
              <a:t>    if command == "quit":</a:t>
            </a:r>
          </a:p>
          <a:p xmlns:a="http://schemas.openxmlformats.org/drawingml/2006/main">
            <a:r>
              <a:t>        break</a:t>
            </a:r>
          </a:p>
          <a:p xmlns:a="http://schemas.openxmlformats.org/drawingml/2006/main">
            <a:r>
              <a:t>    accepted.append(command)</a:t>
            </a:r>
          </a:p>
          <a:p xmlns:a="http://schemas.openxmlformats.org/drawingml/2006/main">
            <a:r>
              <a:t>print("收到的數字：", accepted)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run_console_calculator():</a:t>
            </a:r>
          </a:p>
          <a:p xmlns:a="http://schemas.openxmlformats.org/drawingml/2006/main">
            <a:r>
              <a:t>    while True:</a:t>
            </a:r>
          </a:p>
          <a:p xmlns:a="http://schemas.openxmlformats.org/drawingml/2006/main">
            <a:r>
              <a:t>        raw = input("第一個數（q離開）：").strip()</a:t>
            </a:r>
          </a:p>
          <a:p xmlns:a="http://schemas.openxmlformats.org/drawingml/2006/main">
            <a:r>
              <a:t>        if raw.lower() == "q":</a:t>
            </a:r>
          </a:p>
          <a:p xmlns:a="http://schemas.openxmlformats.org/drawingml/2006/main">
            <a:r>
              <a:t>            break</a:t>
            </a:r>
          </a:p>
          <a:p xmlns:a="http://schemas.openxmlformats.org/drawingml/2006/main">
            <a:r>
              <a:t>        try:</a:t>
            </a:r>
          </a:p>
          <a:p xmlns:a="http://schemas.openxmlformats.org/drawingml/2006/main">
            <a:r>
              <a:t>            a = float(raw)</a:t>
            </a:r>
          </a:p>
          <a:p xmlns:a="http://schemas.openxmlformats.org/drawingml/2006/main">
            <a:r>
              <a:t>            op = input("運算子：").strip()</a:t>
            </a:r>
          </a:p>
          <a:p xmlns:a="http://schemas.openxmlformats.org/drawingml/2006/main">
            <a:r>
              <a:t>            b = float(input("第二個數："))</a:t>
            </a:r>
          </a:p>
          <a:p xmlns:a="http://schemas.openxmlformats.org/drawingml/2006/main">
            <a:r>
              <a:t>            print("答案：", calculate(a, op, b))</a:t>
            </a:r>
          </a:p>
          <a:p xmlns:a="http://schemas.openxmlformats.org/drawingml/2006/main">
            <a:r>
              <a:t>        except (ValueError, ZeroDivisionError, OverflowError) as error:</a:t>
            </a:r>
          </a:p>
          <a:p xmlns:a="http://schemas.openxmlformats.org/drawingml/2006/main">
            <a:r>
              <a:t>            print("請重新輸入：", error)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RUN_INPUT_DEMO = False  # 想體驗input時改成True；輸入q結束</a:t>
            </a:r>
          </a:p>
          <a:p xmlns:a="http://schemas.openxmlformats.org/drawingml/2006/main">
            <a:r>
              <a:t>if RUN_INPUT_DEMO:</a:t>
            </a:r>
          </a:p>
          <a:p xmlns:a="http://schemas.openxmlformats.org/drawingml/2006/main">
            <a:r>
              <a:t>    run_console_calculator()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對應教材：第5章 重複執行程式碼</a:t>
            </a:r>
          </a:p>
          <a:p xmlns:a="http://schemas.openxmlformats.org/drawingml/2006/main">
            <a:r>
              <a:t>對應範例：Python_計算機.ipynb C6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來源：Python_計算機.ipynb，第15個儲存格。L行號相對於該儲存格，視覺折行不改變原碼。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commands = ["7", "", "3", "quit", "9"]</a:t>
            </a:r>
          </a:p>
          <a:p xmlns:a="http://schemas.openxmlformats.org/drawingml/2006/main">
            <a:r>
              <a:t>index = 0</a:t>
            </a:r>
          </a:p>
          <a:p xmlns:a="http://schemas.openxmlformats.org/drawingml/2006/main">
            <a:r>
              <a:t>accepted = []</a:t>
            </a:r>
          </a:p>
          <a:p xmlns:a="http://schemas.openxmlformats.org/drawingml/2006/main">
            <a:r>
              <a:t>while index &lt; len(commands):</a:t>
            </a:r>
          </a:p>
          <a:p xmlns:a="http://schemas.openxmlformats.org/drawingml/2006/main">
            <a:r>
              <a:t>    command = commands[index]</a:t>
            </a:r>
          </a:p>
          <a:p xmlns:a="http://schemas.openxmlformats.org/drawingml/2006/main">
            <a:r>
              <a:t>    index += 1</a:t>
            </a:r>
          </a:p>
          <a:p xmlns:a="http://schemas.openxmlformats.org/drawingml/2006/main">
            <a:r>
              <a:t>    if command == "":</a:t>
            </a:r>
          </a:p>
          <a:p xmlns:a="http://schemas.openxmlformats.org/drawingml/2006/main">
            <a:r>
              <a:t>        continue</a:t>
            </a:r>
          </a:p>
          <a:p xmlns:a="http://schemas.openxmlformats.org/drawingml/2006/main">
            <a:r>
              <a:t>    if command == "quit":</a:t>
            </a:r>
          </a:p>
          <a:p xmlns:a="http://schemas.openxmlformats.org/drawingml/2006/main">
            <a:r>
              <a:t>        break</a:t>
            </a:r>
          </a:p>
          <a:p xmlns:a="http://schemas.openxmlformats.org/drawingml/2006/main">
            <a:r>
              <a:t>    accepted.append(command)</a:t>
            </a:r>
          </a:p>
          <a:p xmlns:a="http://schemas.openxmlformats.org/drawingml/2006/main">
            <a:r>
              <a:t>print("收到的數字：", accepted)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run_console_calculator():</a:t>
            </a:r>
          </a:p>
          <a:p xmlns:a="http://schemas.openxmlformats.org/drawingml/2006/main">
            <a:r>
              <a:t>    while True:</a:t>
            </a:r>
          </a:p>
          <a:p xmlns:a="http://schemas.openxmlformats.org/drawingml/2006/main">
            <a:r>
              <a:t>        raw = input("第一個數（q離開）：").strip()</a:t>
            </a:r>
          </a:p>
          <a:p xmlns:a="http://schemas.openxmlformats.org/drawingml/2006/main">
            <a:r>
              <a:t>        if raw.lower() == "q":</a:t>
            </a:r>
          </a:p>
          <a:p xmlns:a="http://schemas.openxmlformats.org/drawingml/2006/main">
            <a:r>
              <a:t>            break</a:t>
            </a:r>
          </a:p>
          <a:p xmlns:a="http://schemas.openxmlformats.org/drawingml/2006/main">
            <a:r>
              <a:t>        try:</a:t>
            </a:r>
          </a:p>
          <a:p xmlns:a="http://schemas.openxmlformats.org/drawingml/2006/main">
            <a:r>
              <a:t>            a = float(raw)</a:t>
            </a:r>
          </a:p>
          <a:p xmlns:a="http://schemas.openxmlformats.org/drawingml/2006/main">
            <a:r>
              <a:t>            op = input("運算子：").strip()</a:t>
            </a:r>
          </a:p>
          <a:p xmlns:a="http://schemas.openxmlformats.org/drawingml/2006/main">
            <a:r>
              <a:t>            b = float(input("第二個數："))</a:t>
            </a:r>
          </a:p>
          <a:p xmlns:a="http://schemas.openxmlformats.org/drawingml/2006/main">
            <a:r>
              <a:t>            print("答案：", calculate(a, op, b))</a:t>
            </a:r>
          </a:p>
          <a:p xmlns:a="http://schemas.openxmlformats.org/drawingml/2006/main">
            <a:r>
              <a:t>        except (ValueError, ZeroDivisionError, OverflowError) as error:</a:t>
            </a:r>
          </a:p>
          <a:p xmlns:a="http://schemas.openxmlformats.org/drawingml/2006/main">
            <a:r>
              <a:t>            print("請重新輸入：", error)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RUN_INPUT_DEMO = False  # 想體驗input時改成True；輸入q結束</a:t>
            </a:r>
          </a:p>
          <a:p xmlns:a="http://schemas.openxmlformats.org/drawingml/2006/main">
            <a:r>
              <a:t>if RUN_INPUT_DEMO:</a:t>
            </a:r>
          </a:p>
          <a:p xmlns:a="http://schemas.openxmlformats.org/drawingml/2006/main">
            <a:r>
              <a:t>    run_console_calculator()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對應教材：第5章 重複執行程式碼</a:t>
            </a:r>
          </a:p>
          <a:p xmlns:a="http://schemas.openxmlformats.org/drawingml/2006/main">
            <a:r>
              <a:t>對應範例：Python_計算機.ipynb C6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以下是對應Notebook已執行的實際輸出。</a:t>
            </a:r>
          </a:p>
          <a:p xmlns:a="http://schemas.openxmlformats.org/drawingml/2006/main">
            <a:r>
              <a:t>收到的數字： ['7', '3']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對應教材：第5章 重複執行程式碼</a:t>
            </a:r>
          </a:p>
          <a:p xmlns:a="http://schemas.openxmlformats.org/drawingml/2006/main">
            <a:r>
              <a:t>對應範例：Python_計算機.ipynb C6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C7 完整算式與原eval的對照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**講授：** C3處理一個二元運算，原按鈕計算機卻能累積`2+3*4`。完整算式需要辨識先後順序，不能一律從左算到右。原碼使用`eval`直接求值；投影片Py01(2)第34–37頁正好說明此功能與風險。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選讀的解析工具：用Python的ast讀取算式結構，只接受數字、正負號及七種算術運算，運算時仍呼叫C3的calculate。這樣按鈕及輸入欄位都不會呼叫任意名稱或函式。字元長度、節點數及次方範圍也有限制。初學者本週須理解「輸入字串、回傳數值、錯誤可捕捉」，遞迴解析留作進階閱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**對照：** 原`current_expression.replace('x','*')`仍保留；原`eval(eval_expr)`改成`evaluate_expression`。這是實作調整，不是原PPT的程式。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對應教材：第9章 模組與套件／應用延伸</a:t>
            </a:r>
          </a:p>
          <a:p xmlns:a="http://schemas.openxmlformats.org/drawingml/2006/main">
            <a:r>
              <a:t>對應範例：Python_計算機.ipynb C7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Python教學影片PPT/Py01_基本認識(2).pptx</a:t>
            </a:r>
          </a:p>
          <a:p xmlns:a="http://schemas.openxmlformats.org/drawingml/2006/main">
            <a:r>
              <a:t>投影片序號35，署名林英志。</a:t>
            </a:r>
          </a:p>
          <a:p xmlns:a="http://schemas.openxmlformats.org/drawingml/2006/main">
            <a:r>
              <a:t>eval(</a:t>
            </a:r>
          </a:p>
          <a:p xmlns:a="http://schemas.openxmlformats.org/drawingml/2006/main">
            <a:r>
              <a:t>運算式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eval()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真正用途是執行</a:t>
            </a:r>
          </a:p>
          <a:p xmlns:a="http://schemas.openxmlformats.org/drawingml/2006/main">
            <a:r>
              <a:t>字串運算式</a:t>
            </a:r>
          </a:p>
          <a:p xmlns:a="http://schemas.openxmlformats.org/drawingml/2006/main">
            <a:r>
              <a:t>(expression)</a:t>
            </a:r>
          </a:p>
          <a:p xmlns:a="http://schemas.openxmlformats.org/drawingml/2006/main">
            <a:r>
              <a:t>，並回傳該運算式的運算結果。</a:t>
            </a:r>
          </a:p>
          <a:p xmlns:a="http://schemas.openxmlformats.org/drawingml/2006/main">
            <a:r>
              <a:t>這個運算式可包含變數，也可由使用者直接輸入。</a:t>
            </a:r>
          </a:p>
          <a:p xmlns:a="http://schemas.openxmlformats.org/drawingml/2006/main">
            <a:r>
              <a:t>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對應教材：第9章 模組與套件／應用延伸</a:t>
            </a:r>
          </a:p>
          <a:p xmlns:a="http://schemas.openxmlformats.org/drawingml/2006/main">
            <a:r>
              <a:t>對應範例：Python_計算機.ipynb C7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Python教學影片PPT/Py01_基本認識(2).pptx</a:t>
            </a:r>
          </a:p>
          <a:p xmlns:a="http://schemas.openxmlformats.org/drawingml/2006/main">
            <a:r>
              <a:t>投影片序號37，署名林英志。</a:t>
            </a:r>
          </a:p>
          <a:p xmlns:a="http://schemas.openxmlformats.org/drawingml/2006/main">
            <a:r>
              <a:t>注意</a:t>
            </a:r>
          </a:p>
          <a:p xmlns:a="http://schemas.openxmlformats.org/drawingml/2006/main">
            <a:r>
              <a:t>eval()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會嘗試將一個字串轉換成</a:t>
            </a:r>
          </a:p>
          <a:p xmlns:a="http://schemas.openxmlformats.org/drawingml/2006/main">
            <a:r>
              <a:t>可執行的程式碼</a:t>
            </a:r>
          </a:p>
          <a:p xmlns:a="http://schemas.openxmlformats.org/drawingml/2006/main">
            <a:r>
              <a:t>並</a:t>
            </a:r>
          </a:p>
          <a:p xmlns:a="http://schemas.openxmlformats.org/drawingml/2006/main">
            <a:r>
              <a:t>執行</a:t>
            </a:r>
          </a:p>
          <a:p xmlns:a="http://schemas.openxmlformats.org/drawingml/2006/main">
            <a:r>
              <a:t>，但不能進行複雜的邏輯運算，比如賦值、迴圈等。</a:t>
            </a:r>
          </a:p>
          <a:p xmlns:a="http://schemas.openxmlformats.org/drawingml/2006/main">
            <a:r>
              <a:t>儘管方便使用，但也具有潛在的資安風險。</a:t>
            </a:r>
          </a:p>
          <a:p xmlns:a="http://schemas.openxmlformats.org/drawingml/2006/main">
            <a:r>
              <a:t>使用者惡意輸入類似「</a:t>
            </a:r>
          </a:p>
          <a:p xmlns:a="http://schemas.openxmlformats.org/drawingml/2006/main">
            <a:r>
              <a:t>系統指令</a:t>
            </a:r>
          </a:p>
          <a:p xmlns:a="http://schemas.openxmlformats.org/drawingml/2006/main">
            <a:r>
              <a:t>」的字串，可能導致程式碼注入漏洞。</a:t>
            </a:r>
          </a:p>
          <a:p xmlns:a="http://schemas.openxmlformats.org/drawingml/2006/main">
            <a:r>
              <a:t>e.g., </a:t>
            </a:r>
          </a:p>
          <a:p xmlns:a="http://schemas.openxmlformats.org/drawingml/2006/main">
            <a:r>
              <a:t>使用 </a:t>
            </a:r>
          </a:p>
          <a:p xmlns:a="http://schemas.openxmlformats.org/drawingml/2006/main">
            <a:r>
              <a:t>eval("__import__('</a:t>
            </a:r>
          </a:p>
          <a:p xmlns:a="http://schemas.openxmlformats.org/drawingml/2006/main">
            <a:r>
              <a:t>os</a:t>
            </a:r>
          </a:p>
          <a:p xmlns:a="http://schemas.openxmlformats.org/drawingml/2006/main">
            <a:r>
              <a:t>').system('</a:t>
            </a:r>
          </a:p>
          <a:p xmlns:a="http://schemas.openxmlformats.org/drawingml/2006/main">
            <a:r>
              <a:t>dir</a:t>
            </a:r>
          </a:p>
          <a:p xmlns:a="http://schemas.openxmlformats.org/drawingml/2006/main">
            <a:r>
              <a:t>')")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就能直接獲得當前資料夾的目錄與檔案資訊，因此使用時需小心謹慎。</a:t>
            </a:r>
          </a:p>
          <a:p xmlns:a="http://schemas.openxmlformats.org/drawingml/2006/main">
            <a:r>
              <a:t>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對應教材：第9章 模組與套件／應用延伸</a:t>
            </a:r>
          </a:p>
          <a:p xmlns:a="http://schemas.openxmlformats.org/drawingml/2006/main">
            <a:r>
              <a:t>對應範例：Python_計算機.ipynb C7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來源：Python_計算機.ipynb，第17個儲存格。L行號相對於該儲存格，視覺折行不改變原碼。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import ast</a:t>
            </a:r>
          </a:p>
          <a:p xmlns:a="http://schemas.openxmlformats.org/drawingml/2006/main">
            <a:r>
              <a:t>import 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AST_OPERATORS = {ast.Add: "+", ast.Sub: "-", ast.Mult: "*", ast.Div: "/",</a:t>
            </a:r>
          </a:p>
          <a:p xmlns:a="http://schemas.openxmlformats.org/drawingml/2006/main">
            <a:r>
              <a:t>                 ast.FloorDiv: "//", ast.Mod: "%", ast.Pow: "**"}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evaluate_expression(text):</a:t>
            </a:r>
          </a:p>
          <a:p xmlns:a="http://schemas.openxmlformats.org/drawingml/2006/main">
            <a:r>
              <a:t>    expression = text.strip().replace("x", "*")</a:t>
            </a:r>
          </a:p>
          <a:p xmlns:a="http://schemas.openxmlformats.org/drawingml/2006/main">
            <a:r>
              <a:t>    if not expression or len(expression) &gt; 100:</a:t>
            </a:r>
          </a:p>
          <a:p xmlns:a="http://schemas.openxmlformats.org/drawingml/2006/main">
            <a:r>
              <a:t>        raise ValueError("請輸入1至100字的算式")</a:t>
            </a:r>
          </a:p>
          <a:p xmlns:a="http://schemas.openxmlformats.org/drawingml/2006/main">
            <a:r>
              <a:t>    tree = ast.parse(expression, mode="eval")</a:t>
            </a:r>
          </a:p>
          <a:p xmlns:a="http://schemas.openxmlformats.org/drawingml/2006/main">
            <a:r>
              <a:t>    if sum(1 for _ in ast.walk(tree)) &gt; 80:</a:t>
            </a:r>
          </a:p>
          <a:p xmlns:a="http://schemas.openxmlformats.org/drawingml/2006/main">
            <a:r>
              <a:t>        raise ValueError("算式過長")</a:t>
            </a:r>
          </a:p>
          <a:p xmlns:a="http://schemas.openxmlformats.org/drawingml/2006/main">
            <a:r>
              <a:t>    def visit(node):</a:t>
            </a:r>
          </a:p>
          <a:p xmlns:a="http://schemas.openxmlformats.org/drawingml/2006/main">
            <a:r>
              <a:t>        if isinstance(node, ast.Constant) and type(node.value) in (int, float):</a:t>
            </a:r>
          </a:p>
          <a:p xmlns:a="http://schemas.openxmlformats.org/drawingml/2006/main">
            <a:r>
              <a:t>            value = node.value</a:t>
            </a:r>
          </a:p>
          <a:p xmlns:a="http://schemas.openxmlformats.org/drawingml/2006/main">
            <a:r>
              <a:t>        elif isinstance(node, ast.UnaryOp) and isinstance(node.op, (ast.UAdd, ast.USub)):</a:t>
            </a:r>
          </a:p>
          <a:p xmlns:a="http://schemas.openxmlformats.org/drawingml/2006/main">
            <a:r>
              <a:t>            value = visit(node.operand)</a:t>
            </a:r>
          </a:p>
          <a:p xmlns:a="http://schemas.openxmlformats.org/drawingml/2006/main">
            <a:r>
              <a:t>            if isinstance(node.op, ast.USub):</a:t>
            </a:r>
          </a:p>
          <a:p xmlns:a="http://schemas.openxmlformats.org/drawingml/2006/main">
            <a:r>
              <a:t>                value = -value</a:t>
            </a:r>
          </a:p>
          <a:p xmlns:a="http://schemas.openxmlformats.org/drawingml/2006/main">
            <a:r>
              <a:t>        elif isinstance(node, ast.BinOp) and type(node.op) in AST_OPERATORS:</a:t>
            </a:r>
          </a:p>
          <a:p xmlns:a="http://schemas.openxmlformats.org/drawingml/2006/main">
            <a:r>
              <a:t>            value = calculate(visit(node.left), AST_OPERATORS[type(node.op)], visit(node.right))</a:t>
            </a:r>
          </a:p>
          <a:p xmlns:a="http://schemas.openxmlformats.org/drawingml/2006/main">
            <a:r>
              <a:t>        else:</a:t>
            </a:r>
          </a:p>
          <a:p xmlns:a="http://schemas.openxmlformats.org/drawingml/2006/main">
            <a:r>
              <a:t>            raise ValueError("只接受數字與算術運算")</a:t>
            </a:r>
          </a:p>
          <a:p xmlns:a="http://schemas.openxmlformats.org/drawingml/2006/main">
            <a:r>
              <a:t>        if not math.isfinite(value) or abs(value) &gt; 1e100:</a:t>
            </a:r>
          </a:p>
          <a:p xmlns:a="http://schemas.openxmlformats.org/drawingml/2006/main">
            <a:r>
              <a:t>            raise ValueError("結果超出教學版範圍")</a:t>
            </a:r>
          </a:p>
          <a:p xmlns:a="http://schemas.openxmlformats.org/drawingml/2006/main">
            <a:r>
              <a:t>        return value</a:t>
            </a:r>
          </a:p>
          <a:p xmlns:a="http://schemas.openxmlformats.org/drawingml/2006/main">
            <a:r>
              <a:t>    return visit(tree.body)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expression in ["2+3*4", "(2+3)*4", "-7//2", "0.5+1.25", "2**3"]:</a:t>
            </a:r>
          </a:p>
          <a:p xmlns:a="http://schemas.openxmlformats.org/drawingml/2006/main">
            <a:r>
              <a:t>    print(expression, "=", evaluate_expression(expression))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對應教材：第9章 模組與套件／應用延伸</a:t>
            </a:r>
          </a:p>
          <a:p xmlns:a="http://schemas.openxmlformats.org/drawingml/2006/main">
            <a:r>
              <a:t>對應範例：Python_計算機.ipynb C7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來源：Python_計算機.ipynb，第17個儲存格。L行號相對於該儲存格，視覺折行不改變原碼。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import ast</a:t>
            </a:r>
          </a:p>
          <a:p xmlns:a="http://schemas.openxmlformats.org/drawingml/2006/main">
            <a:r>
              <a:t>import 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AST_OPERATORS = {ast.Add: "+", ast.Sub: "-", ast.Mult: "*", ast.Div: "/",</a:t>
            </a:r>
          </a:p>
          <a:p xmlns:a="http://schemas.openxmlformats.org/drawingml/2006/main">
            <a:r>
              <a:t>                 ast.FloorDiv: "//", ast.Mod: "%", ast.Pow: "**"}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evaluate_expression(text):</a:t>
            </a:r>
          </a:p>
          <a:p xmlns:a="http://schemas.openxmlformats.org/drawingml/2006/main">
            <a:r>
              <a:t>    expression = text.strip().replace("x", "*")</a:t>
            </a:r>
          </a:p>
          <a:p xmlns:a="http://schemas.openxmlformats.org/drawingml/2006/main">
            <a:r>
              <a:t>    if not expression or len(expression) &gt; 100:</a:t>
            </a:r>
          </a:p>
          <a:p xmlns:a="http://schemas.openxmlformats.org/drawingml/2006/main">
            <a:r>
              <a:t>        raise ValueError("請輸入1至100字的算式")</a:t>
            </a:r>
          </a:p>
          <a:p xmlns:a="http://schemas.openxmlformats.org/drawingml/2006/main">
            <a:r>
              <a:t>    tree = ast.parse(expression, mode="eval")</a:t>
            </a:r>
          </a:p>
          <a:p xmlns:a="http://schemas.openxmlformats.org/drawingml/2006/main">
            <a:r>
              <a:t>    if sum(1 for _ in ast.walk(tree)) &gt; 80:</a:t>
            </a:r>
          </a:p>
          <a:p xmlns:a="http://schemas.openxmlformats.org/drawingml/2006/main">
            <a:r>
              <a:t>        raise ValueError("算式過長")</a:t>
            </a:r>
          </a:p>
          <a:p xmlns:a="http://schemas.openxmlformats.org/drawingml/2006/main">
            <a:r>
              <a:t>    def visit(node):</a:t>
            </a:r>
          </a:p>
          <a:p xmlns:a="http://schemas.openxmlformats.org/drawingml/2006/main">
            <a:r>
              <a:t>        if isinstance(node, ast.Constant) and type(node.value) in (int, float):</a:t>
            </a:r>
          </a:p>
          <a:p xmlns:a="http://schemas.openxmlformats.org/drawingml/2006/main">
            <a:r>
              <a:t>            value = node.value</a:t>
            </a:r>
          </a:p>
          <a:p xmlns:a="http://schemas.openxmlformats.org/drawingml/2006/main">
            <a:r>
              <a:t>        elif isinstance(node, ast.UnaryOp) and isinstance(node.op, (ast.UAdd, ast.USub)):</a:t>
            </a:r>
          </a:p>
          <a:p xmlns:a="http://schemas.openxmlformats.org/drawingml/2006/main">
            <a:r>
              <a:t>            value = visit(node.operand)</a:t>
            </a:r>
          </a:p>
          <a:p xmlns:a="http://schemas.openxmlformats.org/drawingml/2006/main">
            <a:r>
              <a:t>            if isinstance(node.op, ast.USub):</a:t>
            </a:r>
          </a:p>
          <a:p xmlns:a="http://schemas.openxmlformats.org/drawingml/2006/main">
            <a:r>
              <a:t>                value = -value</a:t>
            </a:r>
          </a:p>
          <a:p xmlns:a="http://schemas.openxmlformats.org/drawingml/2006/main">
            <a:r>
              <a:t>        elif isinstance(node, ast.BinOp) and type(node.op) in AST_OPERATORS:</a:t>
            </a:r>
          </a:p>
          <a:p xmlns:a="http://schemas.openxmlformats.org/drawingml/2006/main">
            <a:r>
              <a:t>            value = calculate(visit(node.left), AST_OPERATORS[type(node.op)], visit(node.right))</a:t>
            </a:r>
          </a:p>
          <a:p xmlns:a="http://schemas.openxmlformats.org/drawingml/2006/main">
            <a:r>
              <a:t>        else:</a:t>
            </a:r>
          </a:p>
          <a:p xmlns:a="http://schemas.openxmlformats.org/drawingml/2006/main">
            <a:r>
              <a:t>            raise ValueError("只接受數字與算術運算")</a:t>
            </a:r>
          </a:p>
          <a:p xmlns:a="http://schemas.openxmlformats.org/drawingml/2006/main">
            <a:r>
              <a:t>        if not math.isfinite(value) or abs(value) &gt; 1e100:</a:t>
            </a:r>
          </a:p>
          <a:p xmlns:a="http://schemas.openxmlformats.org/drawingml/2006/main">
            <a:r>
              <a:t>            raise ValueError("結果超出教學版範圍")</a:t>
            </a:r>
          </a:p>
          <a:p xmlns:a="http://schemas.openxmlformats.org/drawingml/2006/main">
            <a:r>
              <a:t>        return value</a:t>
            </a:r>
          </a:p>
          <a:p xmlns:a="http://schemas.openxmlformats.org/drawingml/2006/main">
            <a:r>
              <a:t>    return visit(tree.body)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expression in ["2+3*4", "(2+3)*4", "-7//2", "0.5+1.25", "2**3"]:</a:t>
            </a:r>
          </a:p>
          <a:p xmlns:a="http://schemas.openxmlformats.org/drawingml/2006/main">
            <a:r>
              <a:t>    print(expression, "=", evaluate_expression(expression))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對應教材：第9章 模組與套件／應用延伸</a:t>
            </a:r>
          </a:p>
          <a:p xmlns:a="http://schemas.openxmlformats.org/drawingml/2006/main">
            <a:r>
              <a:t>對應範例：Python_計算機.ipynb C7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來源：Python_計算機.ipynb，第17個儲存格。L行號相對於該儲存格，視覺折行不改變原碼。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import ast</a:t>
            </a:r>
          </a:p>
          <a:p xmlns:a="http://schemas.openxmlformats.org/drawingml/2006/main">
            <a:r>
              <a:t>import 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AST_OPERATORS = {ast.Add: "+", ast.Sub: "-", ast.Mult: "*", ast.Div: "/",</a:t>
            </a:r>
          </a:p>
          <a:p xmlns:a="http://schemas.openxmlformats.org/drawingml/2006/main">
            <a:r>
              <a:t>                 ast.FloorDiv: "//", ast.Mod: "%", ast.Pow: "**"}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evaluate_expression(text):</a:t>
            </a:r>
          </a:p>
          <a:p xmlns:a="http://schemas.openxmlformats.org/drawingml/2006/main">
            <a:r>
              <a:t>    expression = text.strip().replace("x", "*")</a:t>
            </a:r>
          </a:p>
          <a:p xmlns:a="http://schemas.openxmlformats.org/drawingml/2006/main">
            <a:r>
              <a:t>    if not expression or len(expression) &gt; 100:</a:t>
            </a:r>
          </a:p>
          <a:p xmlns:a="http://schemas.openxmlformats.org/drawingml/2006/main">
            <a:r>
              <a:t>        raise ValueError("請輸入1至100字的算式")</a:t>
            </a:r>
          </a:p>
          <a:p xmlns:a="http://schemas.openxmlformats.org/drawingml/2006/main">
            <a:r>
              <a:t>    tree = ast.parse(expression, mode="eval")</a:t>
            </a:r>
          </a:p>
          <a:p xmlns:a="http://schemas.openxmlformats.org/drawingml/2006/main">
            <a:r>
              <a:t>    if sum(1 for _ in ast.walk(tree)) &gt; 80:</a:t>
            </a:r>
          </a:p>
          <a:p xmlns:a="http://schemas.openxmlformats.org/drawingml/2006/main">
            <a:r>
              <a:t>        raise ValueError("算式過長")</a:t>
            </a:r>
          </a:p>
          <a:p xmlns:a="http://schemas.openxmlformats.org/drawingml/2006/main">
            <a:r>
              <a:t>    def visit(node):</a:t>
            </a:r>
          </a:p>
          <a:p xmlns:a="http://schemas.openxmlformats.org/drawingml/2006/main">
            <a:r>
              <a:t>        if isinstance(node, ast.Constant) and type(node.value) in (int, float):</a:t>
            </a:r>
          </a:p>
          <a:p xmlns:a="http://schemas.openxmlformats.org/drawingml/2006/main">
            <a:r>
              <a:t>            value = node.value</a:t>
            </a:r>
          </a:p>
          <a:p xmlns:a="http://schemas.openxmlformats.org/drawingml/2006/main">
            <a:r>
              <a:t>        elif isinstance(node, ast.UnaryOp) and isinstance(node.op, (ast.UAdd, ast.USub)):</a:t>
            </a:r>
          </a:p>
          <a:p xmlns:a="http://schemas.openxmlformats.org/drawingml/2006/main">
            <a:r>
              <a:t>            value = visit(node.operand)</a:t>
            </a:r>
          </a:p>
          <a:p xmlns:a="http://schemas.openxmlformats.org/drawingml/2006/main">
            <a:r>
              <a:t>            if isinstance(node.op, ast.USub):</a:t>
            </a:r>
          </a:p>
          <a:p xmlns:a="http://schemas.openxmlformats.org/drawingml/2006/main">
            <a:r>
              <a:t>                value = -value</a:t>
            </a:r>
          </a:p>
          <a:p xmlns:a="http://schemas.openxmlformats.org/drawingml/2006/main">
            <a:r>
              <a:t>        elif isinstance(node, ast.BinOp) and type(node.op) in AST_OPERATORS:</a:t>
            </a:r>
          </a:p>
          <a:p xmlns:a="http://schemas.openxmlformats.org/drawingml/2006/main">
            <a:r>
              <a:t>            value = calculate(visit(node.left), AST_OPERATORS[type(node.op)], visit(node.right))</a:t>
            </a:r>
          </a:p>
          <a:p xmlns:a="http://schemas.openxmlformats.org/drawingml/2006/main">
            <a:r>
              <a:t>        else:</a:t>
            </a:r>
          </a:p>
          <a:p xmlns:a="http://schemas.openxmlformats.org/drawingml/2006/main">
            <a:r>
              <a:t>            raise ValueError("只接受數字與算術運算")</a:t>
            </a:r>
          </a:p>
          <a:p xmlns:a="http://schemas.openxmlformats.org/drawingml/2006/main">
            <a:r>
              <a:t>        if not math.isfinite(value) or abs(value) &gt; 1e100:</a:t>
            </a:r>
          </a:p>
          <a:p xmlns:a="http://schemas.openxmlformats.org/drawingml/2006/main">
            <a:r>
              <a:t>            raise ValueError("結果超出教學版範圍")</a:t>
            </a:r>
          </a:p>
          <a:p xmlns:a="http://schemas.openxmlformats.org/drawingml/2006/main">
            <a:r>
              <a:t>        return value</a:t>
            </a:r>
          </a:p>
          <a:p xmlns:a="http://schemas.openxmlformats.org/drawingml/2006/main">
            <a:r>
              <a:t>    return visit(tree.body)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expression in ["2+3*4", "(2+3)*4", "-7//2", "0.5+1.25", "2**3"]:</a:t>
            </a:r>
          </a:p>
          <a:p xmlns:a="http://schemas.openxmlformats.org/drawingml/2006/main">
            <a:r>
              <a:t>    print(expression, "=", evaluate_expression(expression))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對應教材：第9章 模組與套件／應用延伸</a:t>
            </a:r>
          </a:p>
          <a:p xmlns:a="http://schemas.openxmlformats.org/drawingml/2006/main">
            <a:r>
              <a:t>對應範例：Python_計算機.ipynb C7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來源：Python_計算機.ipynb，第17個儲存格。L行號相對於該儲存格，視覺折行不改變原碼。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import ast</a:t>
            </a:r>
          </a:p>
          <a:p xmlns:a="http://schemas.openxmlformats.org/drawingml/2006/main">
            <a:r>
              <a:t>import 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AST_OPERATORS = {ast.Add: "+", ast.Sub: "-", ast.Mult: "*", ast.Div: "/",</a:t>
            </a:r>
          </a:p>
          <a:p xmlns:a="http://schemas.openxmlformats.org/drawingml/2006/main">
            <a:r>
              <a:t>                 ast.FloorDiv: "//", ast.Mod: "%", ast.Pow: "**"}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evaluate_expression(text):</a:t>
            </a:r>
          </a:p>
          <a:p xmlns:a="http://schemas.openxmlformats.org/drawingml/2006/main">
            <a:r>
              <a:t>    expression = text.strip().replace("x", "*")</a:t>
            </a:r>
          </a:p>
          <a:p xmlns:a="http://schemas.openxmlformats.org/drawingml/2006/main">
            <a:r>
              <a:t>    if not expression or len(expression) &gt; 100:</a:t>
            </a:r>
          </a:p>
          <a:p xmlns:a="http://schemas.openxmlformats.org/drawingml/2006/main">
            <a:r>
              <a:t>        raise ValueError("請輸入1至100字的算式")</a:t>
            </a:r>
          </a:p>
          <a:p xmlns:a="http://schemas.openxmlformats.org/drawingml/2006/main">
            <a:r>
              <a:t>    tree = ast.parse(expression, mode="eval")</a:t>
            </a:r>
          </a:p>
          <a:p xmlns:a="http://schemas.openxmlformats.org/drawingml/2006/main">
            <a:r>
              <a:t>    if sum(1 for _ in ast.walk(tree)) &gt; 80:</a:t>
            </a:r>
          </a:p>
          <a:p xmlns:a="http://schemas.openxmlformats.org/drawingml/2006/main">
            <a:r>
              <a:t>        raise ValueError("算式過長")</a:t>
            </a:r>
          </a:p>
          <a:p xmlns:a="http://schemas.openxmlformats.org/drawingml/2006/main">
            <a:r>
              <a:t>    def visit(node):</a:t>
            </a:r>
          </a:p>
          <a:p xmlns:a="http://schemas.openxmlformats.org/drawingml/2006/main">
            <a:r>
              <a:t>        if isinstance(node, ast.Constant) and type(node.value) in (int, float):</a:t>
            </a:r>
          </a:p>
          <a:p xmlns:a="http://schemas.openxmlformats.org/drawingml/2006/main">
            <a:r>
              <a:t>            value = node.value</a:t>
            </a:r>
          </a:p>
          <a:p xmlns:a="http://schemas.openxmlformats.org/drawingml/2006/main">
            <a:r>
              <a:t>        elif isinstance(node, ast.UnaryOp) and isinstance(node.op, (ast.UAdd, ast.USub)):</a:t>
            </a:r>
          </a:p>
          <a:p xmlns:a="http://schemas.openxmlformats.org/drawingml/2006/main">
            <a:r>
              <a:t>            value = visit(node.operand)</a:t>
            </a:r>
          </a:p>
          <a:p xmlns:a="http://schemas.openxmlformats.org/drawingml/2006/main">
            <a:r>
              <a:t>            if isinstance(node.op, ast.USub):</a:t>
            </a:r>
          </a:p>
          <a:p xmlns:a="http://schemas.openxmlformats.org/drawingml/2006/main">
            <a:r>
              <a:t>                value = -value</a:t>
            </a:r>
          </a:p>
          <a:p xmlns:a="http://schemas.openxmlformats.org/drawingml/2006/main">
            <a:r>
              <a:t>        elif isinstance(node, ast.BinOp) and type(node.op) in AST_OPERATORS:</a:t>
            </a:r>
          </a:p>
          <a:p xmlns:a="http://schemas.openxmlformats.org/drawingml/2006/main">
            <a:r>
              <a:t>            value = calculate(visit(node.left), AST_OPERATORS[type(node.op)], visit(node.right))</a:t>
            </a:r>
          </a:p>
          <a:p xmlns:a="http://schemas.openxmlformats.org/drawingml/2006/main">
            <a:r>
              <a:t>        else:</a:t>
            </a:r>
          </a:p>
          <a:p xmlns:a="http://schemas.openxmlformats.org/drawingml/2006/main">
            <a:r>
              <a:t>            raise ValueError("只接受數字與算術運算")</a:t>
            </a:r>
          </a:p>
          <a:p xmlns:a="http://schemas.openxmlformats.org/drawingml/2006/main">
            <a:r>
              <a:t>        if not math.isfinite(value) or abs(value) &gt; 1e100:</a:t>
            </a:r>
          </a:p>
          <a:p xmlns:a="http://schemas.openxmlformats.org/drawingml/2006/main">
            <a:r>
              <a:t>            raise ValueError("結果超出教學版範圍")</a:t>
            </a:r>
          </a:p>
          <a:p xmlns:a="http://schemas.openxmlformats.org/drawingml/2006/main">
            <a:r>
              <a:t>        return value</a:t>
            </a:r>
          </a:p>
          <a:p xmlns:a="http://schemas.openxmlformats.org/drawingml/2006/main">
            <a:r>
              <a:t>    return visit(tree.body)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expression in ["2+3*4", "(2+3)*4", "-7//2", "0.5+1.25", "2**3"]:</a:t>
            </a:r>
          </a:p>
          <a:p xmlns:a="http://schemas.openxmlformats.org/drawingml/2006/main">
            <a:r>
              <a:t>    print(expression, "=", evaluate_expression(expression))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對應教材：第9章 模組與套件／應用延伸</a:t>
            </a:r>
          </a:p>
          <a:p xmlns:a="http://schemas.openxmlformats.org/drawingml/2006/main">
            <a:r>
              <a:t>對應範例：Python_計算機.ipynb C7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以下是對應Notebook已執行的實際輸出。</a:t>
            </a:r>
          </a:p>
          <a:p xmlns:a="http://schemas.openxmlformats.org/drawingml/2006/main">
            <a:r>
              <a:t>2+3*4 = 14</a:t>
            </a:r>
          </a:p>
          <a:p xmlns:a="http://schemas.openxmlformats.org/drawingml/2006/main">
            <a:r>
              <a:t>(2+3)*4 = 20</a:t>
            </a:r>
          </a:p>
          <a:p xmlns:a="http://schemas.openxmlformats.org/drawingml/2006/main">
            <a:r>
              <a:t>-7//2 = -4</a:t>
            </a:r>
          </a:p>
          <a:p xmlns:a="http://schemas.openxmlformats.org/drawingml/2006/main">
            <a:r>
              <a:t>0.5+1.25 = 1.75</a:t>
            </a:r>
          </a:p>
          <a:p xmlns:a="http://schemas.openxmlformats.org/drawingml/2006/main">
            <a:r>
              <a:t>2**3 = 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對應教材：第9章 模組與套件／應用延伸</a:t>
            </a:r>
          </a:p>
          <a:p xmlns:a="http://schemas.openxmlformats.org/drawingml/2006/main">
            <a:r>
              <a:t>對應範例：Python_計算機.ipynb C7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C8 整合網頁按鈕與事件回呼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**講授：** 先追蹤一次按鍵生命週期：建立Button、用`on_click(on_button_click)`登記處理函式、使用者點擊、系統將按鈕物件b傳入、讀取b.description、更新算式、更新HTML。登記時不加`()`，因為此時只是交出函式，尚未要執行它。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處保留原範例的全域字串做入門說明。函式內重新指派current_expression時需宣告global；C3的數值計算函式沒有改全域狀態，所以較容易測試。新增DEL刪去末字元；±將目前整段算式取負，並非只改最後一個運算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for迴圈只負責建立24個按鈕；互動之後交給Jupyter的事件機制，不必額外使用while。操作測試：`AC,2,+,3,x,4,=`應得14；`AC,8,/,0,=`應顯示Error；之後按7應重新開始。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對應教材：第6章 函數／第7章 容器／應用整合</a:t>
            </a:r>
          </a:p>
          <a:p xmlns:a="http://schemas.openxmlformats.org/drawingml/2006/main">
            <a:r>
              <a:t>對應範例：Python_計算機.ipynb C8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來源：Python_計算機.ipynb，第19個儲存格。L行號相對於該儲存格，視覺折行不改變原碼。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try:</a:t>
            </a:r>
          </a:p>
          <a:p xmlns:a="http://schemas.openxmlformats.org/drawingml/2006/main">
            <a:r>
              <a:t>    import ipywidgets as widgets</a:t>
            </a:r>
          </a:p>
          <a:p xmlns:a="http://schemas.openxmlformats.org/drawingml/2006/main">
            <a:r>
              <a:t>    from IPython.display import display</a:t>
            </a:r>
          </a:p>
          <a:p xmlns:a="http://schemas.openxmlformats.org/drawingml/2006/main">
            <a:r>
              <a:t>except ImportError:</a:t>
            </a:r>
          </a:p>
          <a:p xmlns:a="http://schemas.openxmlformats.org/drawingml/2006/main">
            <a:r>
              <a:t>    widgets = None</a:t>
            </a:r>
          </a:p>
          <a:p xmlns:a="http://schemas.openxmlformats.org/drawingml/2006/main">
            <a:r>
              <a:t>    print("互動介面需ipywidgets；基本語法與測試仍可執行。安裝指令：%pip install ipywidgets")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current_expression = ""</a:t>
            </a:r>
          </a:p>
          <a:p xmlns:a="http://schemas.openxmlformats.org/drawingml/2006/main">
            <a:r>
              <a:t>html_display = widgets.HTML() if widgets is not None else None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update_display(text):</a:t>
            </a:r>
          </a:p>
          <a:p xmlns:a="http://schemas.openxmlformats.org/drawingml/2006/main">
            <a:r>
              <a:t>    display_text = text if text != "" else "0"</a:t>
            </a:r>
          </a:p>
          <a:p xmlns:a="http://schemas.openxmlformats.org/drawingml/2006/main">
            <a:r>
              <a:t>    if html_display is not None:</a:t>
            </a:r>
          </a:p>
          <a:p xmlns:a="http://schemas.openxmlformats.org/drawingml/2006/main">
            <a:r>
              <a:t>        html_display.value = ('&lt;div style="padding:12px;border:1px solid #777;'</a:t>
            </a:r>
          </a:p>
          <a:p xmlns:a="http://schemas.openxmlformats.org/drawingml/2006/main">
            <a:r>
              <a:t>                              'font:24px monospace;text-align:right;overflow-wrap:anywhere"&gt;'</a:t>
            </a:r>
          </a:p>
          <a:p xmlns:a="http://schemas.openxmlformats.org/drawingml/2006/main">
            <a:r>
              <a:t>                              + html.escape(display_text) + '&lt;/div&gt;')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on_button_click(b):</a:t>
            </a:r>
          </a:p>
          <a:p xmlns:a="http://schemas.openxmlformats.org/drawingml/2006/main">
            <a:r>
              <a:t>    global current_expression</a:t>
            </a:r>
          </a:p>
          <a:p xmlns:a="http://schemas.openxmlformats.org/drawingml/2006/main">
            <a:r>
              <a:t>    key = b.description</a:t>
            </a:r>
          </a:p>
          <a:p xmlns:a="http://schemas.openxmlformats.org/drawingml/2006/main">
            <a:r>
              <a:t>    if key == "AC":</a:t>
            </a:r>
          </a:p>
          <a:p xmlns:a="http://schemas.openxmlformats.org/drawingml/2006/main">
            <a:r>
              <a:t>        current_expression = ""</a:t>
            </a:r>
          </a:p>
          <a:p xmlns:a="http://schemas.openxmlformats.org/drawingml/2006/main">
            <a:r>
              <a:t>    elif key == "=":</a:t>
            </a:r>
          </a:p>
          <a:p xmlns:a="http://schemas.openxmlformats.org/drawingml/2006/main">
            <a:r>
              <a:t>        try:</a:t>
            </a:r>
          </a:p>
          <a:p xmlns:a="http://schemas.openxmlformats.org/drawingml/2006/main">
            <a:r>
              <a:t>            current_expression = str(evaluate_expression(current_expression))</a:t>
            </a:r>
          </a:p>
          <a:p xmlns:a="http://schemas.openxmlformats.org/drawingml/2006/main">
            <a:r>
              <a:t>        except (ValueError, SyntaxError, ZeroDivisionError, OverflowError, RecursionError):</a:t>
            </a:r>
          </a:p>
          <a:p xmlns:a="http://schemas.openxmlformats.org/drawingml/2006/main">
            <a:r>
              <a:t>            current_expression = "Error"</a:t>
            </a:r>
          </a:p>
          <a:p xmlns:a="http://schemas.openxmlformats.org/drawingml/2006/main">
            <a:r>
              <a:t>    elif key == "DEL":</a:t>
            </a:r>
          </a:p>
          <a:p xmlns:a="http://schemas.openxmlformats.org/drawingml/2006/main">
            <a:r>
              <a:t>        current_expression = "" if current_expression == "Error" else current_expression[:-1]</a:t>
            </a:r>
          </a:p>
          <a:p xmlns:a="http://schemas.openxmlformats.org/drawingml/2006/main">
            <a:r>
              <a:t>    elif key == "±":</a:t>
            </a:r>
          </a:p>
          <a:p xmlns:a="http://schemas.openxmlformats.org/drawingml/2006/main">
            <a:r>
              <a:t>        if current_expression and current_expression != "Error":</a:t>
            </a:r>
          </a:p>
          <a:p xmlns:a="http://schemas.openxmlformats.org/drawingml/2006/main">
            <a:r>
              <a:t>            current_expression = f"-({current_expression})"</a:t>
            </a:r>
          </a:p>
          <a:p xmlns:a="http://schemas.openxmlformats.org/drawingml/2006/main">
            <a:r>
              <a:t>    else:</a:t>
            </a:r>
          </a:p>
          <a:p xmlns:a="http://schemas.openxmlformats.org/drawingml/2006/main">
            <a:r>
              <a:t>        if current_expression == "Error":</a:t>
            </a:r>
          </a:p>
          <a:p xmlns:a="http://schemas.openxmlformats.org/drawingml/2006/main">
            <a:r>
              <a:t>            current_expression = ""</a:t>
            </a:r>
          </a:p>
          <a:p xmlns:a="http://schemas.openxmlformats.org/drawingml/2006/main">
            <a:r>
              <a:t>        if len(current_expression) + len(key) &lt;= 100:</a:t>
            </a:r>
          </a:p>
          <a:p xmlns:a="http://schemas.openxmlformats.org/drawingml/2006/main">
            <a:r>
              <a:t>            current_expression += key</a:t>
            </a:r>
          </a:p>
          <a:p xmlns:a="http://schemas.openxmlformats.org/drawingml/2006/main">
            <a:r>
              <a:t>    update_display(current_expression)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widgets is not None:</a:t>
            </a:r>
          </a:p>
          <a:p xmlns:a="http://schemas.openxmlformats.org/drawingml/2006/main">
            <a:r>
              <a:t>    rows = []</a:t>
            </a:r>
          </a:p>
          <a:p xmlns:a="http://schemas.openxmlformats.org/drawingml/2006/main">
            <a:r>
              <a:t>    for row_data in buttons_data:</a:t>
            </a:r>
          </a:p>
          <a:p xmlns:a="http://schemas.openxmlformats.org/drawingml/2006/main">
            <a:r>
              <a:t>        row_widgets = []</a:t>
            </a:r>
          </a:p>
          <a:p xmlns:a="http://schemas.openxmlformats.org/drawingml/2006/main">
            <a:r>
              <a:t>        for key in row_data:</a:t>
            </a:r>
          </a:p>
          <a:p xmlns:a="http://schemas.openxmlformats.org/drawingml/2006/main">
            <a:r>
              <a:t>            button = widgets.Button(description=key, layout=widgets.Layout(width="60px", height="42px"))</a:t>
            </a:r>
          </a:p>
          <a:p xmlns:a="http://schemas.openxmlformats.org/drawingml/2006/main">
            <a:r>
              <a:t>            if key in ["+", "-", "x", "/", "//", "%", "**", "="]:</a:t>
            </a:r>
          </a:p>
          <a:p xmlns:a="http://schemas.openxmlformats.org/drawingml/2006/main">
            <a:r>
              <a:t>                button.style.button_color = "#f6c56f"</a:t>
            </a:r>
          </a:p>
          <a:p xmlns:a="http://schemas.openxmlformats.org/drawingml/2006/main">
            <a:r>
              <a:t>            button.on_click(on_button_click)</a:t>
            </a:r>
          </a:p>
          <a:p xmlns:a="http://schemas.openxmlformats.org/drawingml/2006/main">
            <a:r>
              <a:t>            row_widgets.append(button)</a:t>
            </a:r>
          </a:p>
          <a:p xmlns:a="http://schemas.openxmlformats.org/drawingml/2006/main">
            <a:r>
              <a:t>        rows.append(widgets.HBox(row_widgets))</a:t>
            </a:r>
          </a:p>
          <a:p xmlns:a="http://schemas.openxmlformats.org/drawingml/2006/main">
            <a:r>
              <a:t>    update_display("")</a:t>
            </a:r>
          </a:p>
          <a:p xmlns:a="http://schemas.openxmlformats.org/drawingml/2006/main">
            <a:r>
              <a:t>    calculator_ui = widgets.VBox([html_display] + rows)</a:t>
            </a:r>
          </a:p>
          <a:p xmlns:a="http://schemas.openxmlformats.org/drawingml/2006/main">
            <a:r>
              <a:t>    display(calculator_ui)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對應教材：第6章 函數／第7章 容器／應用整合</a:t>
            </a:r>
          </a:p>
          <a:p xmlns:a="http://schemas.openxmlformats.org/drawingml/2006/main">
            <a:r>
              <a:t>對應範例：Python_計算機.ipynb C8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來源：Python_計算機.ipynb，第19個儲存格。L行號相對於該儲存格，視覺折行不改變原碼。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try:</a:t>
            </a:r>
          </a:p>
          <a:p xmlns:a="http://schemas.openxmlformats.org/drawingml/2006/main">
            <a:r>
              <a:t>    import ipywidgets as widgets</a:t>
            </a:r>
          </a:p>
          <a:p xmlns:a="http://schemas.openxmlformats.org/drawingml/2006/main">
            <a:r>
              <a:t>    from IPython.display import display</a:t>
            </a:r>
          </a:p>
          <a:p xmlns:a="http://schemas.openxmlformats.org/drawingml/2006/main">
            <a:r>
              <a:t>except ImportError:</a:t>
            </a:r>
          </a:p>
          <a:p xmlns:a="http://schemas.openxmlformats.org/drawingml/2006/main">
            <a:r>
              <a:t>    widgets = None</a:t>
            </a:r>
          </a:p>
          <a:p xmlns:a="http://schemas.openxmlformats.org/drawingml/2006/main">
            <a:r>
              <a:t>    print("互動介面需ipywidgets；基本語法與測試仍可執行。安裝指令：%pip install ipywidgets")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current_expression = ""</a:t>
            </a:r>
          </a:p>
          <a:p xmlns:a="http://schemas.openxmlformats.org/drawingml/2006/main">
            <a:r>
              <a:t>html_display = widgets.HTML() if widgets is not None else None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update_display(text):</a:t>
            </a:r>
          </a:p>
          <a:p xmlns:a="http://schemas.openxmlformats.org/drawingml/2006/main">
            <a:r>
              <a:t>    display_text = text if text != "" else "0"</a:t>
            </a:r>
          </a:p>
          <a:p xmlns:a="http://schemas.openxmlformats.org/drawingml/2006/main">
            <a:r>
              <a:t>    if html_display is not None:</a:t>
            </a:r>
          </a:p>
          <a:p xmlns:a="http://schemas.openxmlformats.org/drawingml/2006/main">
            <a:r>
              <a:t>        html_display.value = ('&lt;div style="padding:12px;border:1px solid #777;'</a:t>
            </a:r>
          </a:p>
          <a:p xmlns:a="http://schemas.openxmlformats.org/drawingml/2006/main">
            <a:r>
              <a:t>                              'font:24px monospace;text-align:right;overflow-wrap:anywhere"&gt;'</a:t>
            </a:r>
          </a:p>
          <a:p xmlns:a="http://schemas.openxmlformats.org/drawingml/2006/main">
            <a:r>
              <a:t>                              + html.escape(display_text) + '&lt;/div&gt;')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on_button_click(b):</a:t>
            </a:r>
          </a:p>
          <a:p xmlns:a="http://schemas.openxmlformats.org/drawingml/2006/main">
            <a:r>
              <a:t>    global current_expression</a:t>
            </a:r>
          </a:p>
          <a:p xmlns:a="http://schemas.openxmlformats.org/drawingml/2006/main">
            <a:r>
              <a:t>    key = b.description</a:t>
            </a:r>
          </a:p>
          <a:p xmlns:a="http://schemas.openxmlformats.org/drawingml/2006/main">
            <a:r>
              <a:t>    if key == "AC":</a:t>
            </a:r>
          </a:p>
          <a:p xmlns:a="http://schemas.openxmlformats.org/drawingml/2006/main">
            <a:r>
              <a:t>        current_expression = ""</a:t>
            </a:r>
          </a:p>
          <a:p xmlns:a="http://schemas.openxmlformats.org/drawingml/2006/main">
            <a:r>
              <a:t>    elif key == "=":</a:t>
            </a:r>
          </a:p>
          <a:p xmlns:a="http://schemas.openxmlformats.org/drawingml/2006/main">
            <a:r>
              <a:t>        try:</a:t>
            </a:r>
          </a:p>
          <a:p xmlns:a="http://schemas.openxmlformats.org/drawingml/2006/main">
            <a:r>
              <a:t>            current_expression = str(evaluate_expression(current_expression))</a:t>
            </a:r>
          </a:p>
          <a:p xmlns:a="http://schemas.openxmlformats.org/drawingml/2006/main">
            <a:r>
              <a:t>        except (ValueError, SyntaxError, ZeroDivisionError, OverflowError, RecursionError):</a:t>
            </a:r>
          </a:p>
          <a:p xmlns:a="http://schemas.openxmlformats.org/drawingml/2006/main">
            <a:r>
              <a:t>            current_expression = "Error"</a:t>
            </a:r>
          </a:p>
          <a:p xmlns:a="http://schemas.openxmlformats.org/drawingml/2006/main">
            <a:r>
              <a:t>    elif key == "DEL":</a:t>
            </a:r>
          </a:p>
          <a:p xmlns:a="http://schemas.openxmlformats.org/drawingml/2006/main">
            <a:r>
              <a:t>        current_expression = "" if current_expression == "Error" else current_expression[:-1]</a:t>
            </a:r>
          </a:p>
          <a:p xmlns:a="http://schemas.openxmlformats.org/drawingml/2006/main">
            <a:r>
              <a:t>    elif key == "±":</a:t>
            </a:r>
          </a:p>
          <a:p xmlns:a="http://schemas.openxmlformats.org/drawingml/2006/main">
            <a:r>
              <a:t>        if current_expression and current_expression != "Error":</a:t>
            </a:r>
          </a:p>
          <a:p xmlns:a="http://schemas.openxmlformats.org/drawingml/2006/main">
            <a:r>
              <a:t>            current_expression = f"-({current_expression})"</a:t>
            </a:r>
          </a:p>
          <a:p xmlns:a="http://schemas.openxmlformats.org/drawingml/2006/main">
            <a:r>
              <a:t>    else:</a:t>
            </a:r>
          </a:p>
          <a:p xmlns:a="http://schemas.openxmlformats.org/drawingml/2006/main">
            <a:r>
              <a:t>        if current_expression == "Error":</a:t>
            </a:r>
          </a:p>
          <a:p xmlns:a="http://schemas.openxmlformats.org/drawingml/2006/main">
            <a:r>
              <a:t>            current_expression = ""</a:t>
            </a:r>
          </a:p>
          <a:p xmlns:a="http://schemas.openxmlformats.org/drawingml/2006/main">
            <a:r>
              <a:t>        if len(current_expression) + len(key) &lt;= 100:</a:t>
            </a:r>
          </a:p>
          <a:p xmlns:a="http://schemas.openxmlformats.org/drawingml/2006/main">
            <a:r>
              <a:t>            current_expression += key</a:t>
            </a:r>
          </a:p>
          <a:p xmlns:a="http://schemas.openxmlformats.org/drawingml/2006/main">
            <a:r>
              <a:t>    update_display(current_expression)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widgets is not None:</a:t>
            </a:r>
          </a:p>
          <a:p xmlns:a="http://schemas.openxmlformats.org/drawingml/2006/main">
            <a:r>
              <a:t>    rows = []</a:t>
            </a:r>
          </a:p>
          <a:p xmlns:a="http://schemas.openxmlformats.org/drawingml/2006/main">
            <a:r>
              <a:t>    for row_data in buttons_data:</a:t>
            </a:r>
          </a:p>
          <a:p xmlns:a="http://schemas.openxmlformats.org/drawingml/2006/main">
            <a:r>
              <a:t>        row_widgets = []</a:t>
            </a:r>
          </a:p>
          <a:p xmlns:a="http://schemas.openxmlformats.org/drawingml/2006/main">
            <a:r>
              <a:t>        for key in row_data:</a:t>
            </a:r>
          </a:p>
          <a:p xmlns:a="http://schemas.openxmlformats.org/drawingml/2006/main">
            <a:r>
              <a:t>            button = widgets.Button(description=key, layout=widgets.Layout(width="60px", height="42px"))</a:t>
            </a:r>
          </a:p>
          <a:p xmlns:a="http://schemas.openxmlformats.org/drawingml/2006/main">
            <a:r>
              <a:t>            if key in ["+", "-", "x", "/", "//", "%", "**", "="]:</a:t>
            </a:r>
          </a:p>
          <a:p xmlns:a="http://schemas.openxmlformats.org/drawingml/2006/main">
            <a:r>
              <a:t>                button.style.button_color = "#f6c56f"</a:t>
            </a:r>
          </a:p>
          <a:p xmlns:a="http://schemas.openxmlformats.org/drawingml/2006/main">
            <a:r>
              <a:t>            button.on_click(on_button_click)</a:t>
            </a:r>
          </a:p>
          <a:p xmlns:a="http://schemas.openxmlformats.org/drawingml/2006/main">
            <a:r>
              <a:t>            row_widgets.append(button)</a:t>
            </a:r>
          </a:p>
          <a:p xmlns:a="http://schemas.openxmlformats.org/drawingml/2006/main">
            <a:r>
              <a:t>        rows.append(widgets.HBox(row_widgets))</a:t>
            </a:r>
          </a:p>
          <a:p xmlns:a="http://schemas.openxmlformats.org/drawingml/2006/main">
            <a:r>
              <a:t>    update_display("")</a:t>
            </a:r>
          </a:p>
          <a:p xmlns:a="http://schemas.openxmlformats.org/drawingml/2006/main">
            <a:r>
              <a:t>    calculator_ui = widgets.VBox([html_display] + rows)</a:t>
            </a:r>
          </a:p>
          <a:p xmlns:a="http://schemas.openxmlformats.org/drawingml/2006/main">
            <a:r>
              <a:t>    display(calculator_ui)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對應教材：第6章 函數／第7章 容器／應用整合</a:t>
            </a:r>
          </a:p>
          <a:p xmlns:a="http://schemas.openxmlformats.org/drawingml/2006/main">
            <a:r>
              <a:t>對應範例：Python_計算機.ipynb C8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來源：Python_計算機.ipynb，第19個儲存格。L行號相對於該儲存格，視覺折行不改變原碼。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try:</a:t>
            </a:r>
          </a:p>
          <a:p xmlns:a="http://schemas.openxmlformats.org/drawingml/2006/main">
            <a:r>
              <a:t>    import ipywidgets as widgets</a:t>
            </a:r>
          </a:p>
          <a:p xmlns:a="http://schemas.openxmlformats.org/drawingml/2006/main">
            <a:r>
              <a:t>    from IPython.display import display</a:t>
            </a:r>
          </a:p>
          <a:p xmlns:a="http://schemas.openxmlformats.org/drawingml/2006/main">
            <a:r>
              <a:t>except ImportError:</a:t>
            </a:r>
          </a:p>
          <a:p xmlns:a="http://schemas.openxmlformats.org/drawingml/2006/main">
            <a:r>
              <a:t>    widgets = None</a:t>
            </a:r>
          </a:p>
          <a:p xmlns:a="http://schemas.openxmlformats.org/drawingml/2006/main">
            <a:r>
              <a:t>    print("互動介面需ipywidgets；基本語法與測試仍可執行。安裝指令：%pip install ipywidgets")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current_expression = ""</a:t>
            </a:r>
          </a:p>
          <a:p xmlns:a="http://schemas.openxmlformats.org/drawingml/2006/main">
            <a:r>
              <a:t>html_display = widgets.HTML() if widgets is not None else None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update_display(text):</a:t>
            </a:r>
          </a:p>
          <a:p xmlns:a="http://schemas.openxmlformats.org/drawingml/2006/main">
            <a:r>
              <a:t>    display_text = text if text != "" else "0"</a:t>
            </a:r>
          </a:p>
          <a:p xmlns:a="http://schemas.openxmlformats.org/drawingml/2006/main">
            <a:r>
              <a:t>    if html_display is not None:</a:t>
            </a:r>
          </a:p>
          <a:p xmlns:a="http://schemas.openxmlformats.org/drawingml/2006/main">
            <a:r>
              <a:t>        html_display.value = ('&lt;div style="padding:12px;border:1px solid #777;'</a:t>
            </a:r>
          </a:p>
          <a:p xmlns:a="http://schemas.openxmlformats.org/drawingml/2006/main">
            <a:r>
              <a:t>                              'font:24px monospace;text-align:right;overflow-wrap:anywhere"&gt;'</a:t>
            </a:r>
          </a:p>
          <a:p xmlns:a="http://schemas.openxmlformats.org/drawingml/2006/main">
            <a:r>
              <a:t>                              + html.escape(display_text) + '&lt;/div&gt;')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on_button_click(b):</a:t>
            </a:r>
          </a:p>
          <a:p xmlns:a="http://schemas.openxmlformats.org/drawingml/2006/main">
            <a:r>
              <a:t>    global current_expression</a:t>
            </a:r>
          </a:p>
          <a:p xmlns:a="http://schemas.openxmlformats.org/drawingml/2006/main">
            <a:r>
              <a:t>    key = b.description</a:t>
            </a:r>
          </a:p>
          <a:p xmlns:a="http://schemas.openxmlformats.org/drawingml/2006/main">
            <a:r>
              <a:t>    if key == "AC":</a:t>
            </a:r>
          </a:p>
          <a:p xmlns:a="http://schemas.openxmlformats.org/drawingml/2006/main">
            <a:r>
              <a:t>        current_expression = ""</a:t>
            </a:r>
          </a:p>
          <a:p xmlns:a="http://schemas.openxmlformats.org/drawingml/2006/main">
            <a:r>
              <a:t>    elif key == "=":</a:t>
            </a:r>
          </a:p>
          <a:p xmlns:a="http://schemas.openxmlformats.org/drawingml/2006/main">
            <a:r>
              <a:t>        try:</a:t>
            </a:r>
          </a:p>
          <a:p xmlns:a="http://schemas.openxmlformats.org/drawingml/2006/main">
            <a:r>
              <a:t>            current_expression = str(evaluate_expression(current_expression))</a:t>
            </a:r>
          </a:p>
          <a:p xmlns:a="http://schemas.openxmlformats.org/drawingml/2006/main">
            <a:r>
              <a:t>        except (ValueError, SyntaxError, ZeroDivisionError, OverflowError, RecursionError):</a:t>
            </a:r>
          </a:p>
          <a:p xmlns:a="http://schemas.openxmlformats.org/drawingml/2006/main">
            <a:r>
              <a:t>            current_expression = "Error"</a:t>
            </a:r>
          </a:p>
          <a:p xmlns:a="http://schemas.openxmlformats.org/drawingml/2006/main">
            <a:r>
              <a:t>    elif key == "DEL":</a:t>
            </a:r>
          </a:p>
          <a:p xmlns:a="http://schemas.openxmlformats.org/drawingml/2006/main">
            <a:r>
              <a:t>        current_expression = "" if current_expression == "Error" else current_expression[:-1]</a:t>
            </a:r>
          </a:p>
          <a:p xmlns:a="http://schemas.openxmlformats.org/drawingml/2006/main">
            <a:r>
              <a:t>    elif key == "±":</a:t>
            </a:r>
          </a:p>
          <a:p xmlns:a="http://schemas.openxmlformats.org/drawingml/2006/main">
            <a:r>
              <a:t>        if current_expression and current_expression != "Error":</a:t>
            </a:r>
          </a:p>
          <a:p xmlns:a="http://schemas.openxmlformats.org/drawingml/2006/main">
            <a:r>
              <a:t>            current_expression = f"-({current_expression})"</a:t>
            </a:r>
          </a:p>
          <a:p xmlns:a="http://schemas.openxmlformats.org/drawingml/2006/main">
            <a:r>
              <a:t>    else:</a:t>
            </a:r>
          </a:p>
          <a:p xmlns:a="http://schemas.openxmlformats.org/drawingml/2006/main">
            <a:r>
              <a:t>        if current_expression == "Error":</a:t>
            </a:r>
          </a:p>
          <a:p xmlns:a="http://schemas.openxmlformats.org/drawingml/2006/main">
            <a:r>
              <a:t>            current_expression = ""</a:t>
            </a:r>
          </a:p>
          <a:p xmlns:a="http://schemas.openxmlformats.org/drawingml/2006/main">
            <a:r>
              <a:t>        if len(current_expression) + len(key) &lt;= 100:</a:t>
            </a:r>
          </a:p>
          <a:p xmlns:a="http://schemas.openxmlformats.org/drawingml/2006/main">
            <a:r>
              <a:t>            current_expression += key</a:t>
            </a:r>
          </a:p>
          <a:p xmlns:a="http://schemas.openxmlformats.org/drawingml/2006/main">
            <a:r>
              <a:t>    update_display(current_expression)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widgets is not None:</a:t>
            </a:r>
          </a:p>
          <a:p xmlns:a="http://schemas.openxmlformats.org/drawingml/2006/main">
            <a:r>
              <a:t>    rows = []</a:t>
            </a:r>
          </a:p>
          <a:p xmlns:a="http://schemas.openxmlformats.org/drawingml/2006/main">
            <a:r>
              <a:t>    for row_data in buttons_data:</a:t>
            </a:r>
          </a:p>
          <a:p xmlns:a="http://schemas.openxmlformats.org/drawingml/2006/main">
            <a:r>
              <a:t>        row_widgets = []</a:t>
            </a:r>
          </a:p>
          <a:p xmlns:a="http://schemas.openxmlformats.org/drawingml/2006/main">
            <a:r>
              <a:t>        for key in row_data:</a:t>
            </a:r>
          </a:p>
          <a:p xmlns:a="http://schemas.openxmlformats.org/drawingml/2006/main">
            <a:r>
              <a:t>            button = widgets.Button(description=key, layout=widgets.Layout(width="60px", height="42px"))</a:t>
            </a:r>
          </a:p>
          <a:p xmlns:a="http://schemas.openxmlformats.org/drawingml/2006/main">
            <a:r>
              <a:t>            if key in ["+", "-", "x", "/", "//", "%", "**", "="]:</a:t>
            </a:r>
          </a:p>
          <a:p xmlns:a="http://schemas.openxmlformats.org/drawingml/2006/main">
            <a:r>
              <a:t>                button.style.button_color = "#f6c56f"</a:t>
            </a:r>
          </a:p>
          <a:p xmlns:a="http://schemas.openxmlformats.org/drawingml/2006/main">
            <a:r>
              <a:t>            button.on_click(on_button_click)</a:t>
            </a:r>
          </a:p>
          <a:p xmlns:a="http://schemas.openxmlformats.org/drawingml/2006/main">
            <a:r>
              <a:t>            row_widgets.append(button)</a:t>
            </a:r>
          </a:p>
          <a:p xmlns:a="http://schemas.openxmlformats.org/drawingml/2006/main">
            <a:r>
              <a:t>        rows.append(widgets.HBox(row_widgets))</a:t>
            </a:r>
          </a:p>
          <a:p xmlns:a="http://schemas.openxmlformats.org/drawingml/2006/main">
            <a:r>
              <a:t>    update_display("")</a:t>
            </a:r>
          </a:p>
          <a:p xmlns:a="http://schemas.openxmlformats.org/drawingml/2006/main">
            <a:r>
              <a:t>    calculator_ui = widgets.VBox([html_display] + rows)</a:t>
            </a:r>
          </a:p>
          <a:p xmlns:a="http://schemas.openxmlformats.org/drawingml/2006/main">
            <a:r>
              <a:t>    display(calculator_ui)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對應教材：第6章 函數／第7章 容器／應用整合</a:t>
            </a:r>
          </a:p>
          <a:p xmlns:a="http://schemas.openxmlformats.org/drawingml/2006/main">
            <a:r>
              <a:t>對應範例：Python_計算機.ipynb C8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來源：Python_計算機.ipynb，第19個儲存格。L行號相對於該儲存格，視覺折行不改變原碼。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try:</a:t>
            </a:r>
          </a:p>
          <a:p xmlns:a="http://schemas.openxmlformats.org/drawingml/2006/main">
            <a:r>
              <a:t>    import ipywidgets as widgets</a:t>
            </a:r>
          </a:p>
          <a:p xmlns:a="http://schemas.openxmlformats.org/drawingml/2006/main">
            <a:r>
              <a:t>    from IPython.display import display</a:t>
            </a:r>
          </a:p>
          <a:p xmlns:a="http://schemas.openxmlformats.org/drawingml/2006/main">
            <a:r>
              <a:t>except ImportError:</a:t>
            </a:r>
          </a:p>
          <a:p xmlns:a="http://schemas.openxmlformats.org/drawingml/2006/main">
            <a:r>
              <a:t>    widgets = None</a:t>
            </a:r>
          </a:p>
          <a:p xmlns:a="http://schemas.openxmlformats.org/drawingml/2006/main">
            <a:r>
              <a:t>    print("互動介面需ipywidgets；基本語法與測試仍可執行。安裝指令：%pip install ipywidgets")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current_expression = ""</a:t>
            </a:r>
          </a:p>
          <a:p xmlns:a="http://schemas.openxmlformats.org/drawingml/2006/main">
            <a:r>
              <a:t>html_display = widgets.HTML() if widgets is not None else None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update_display(text):</a:t>
            </a:r>
          </a:p>
          <a:p xmlns:a="http://schemas.openxmlformats.org/drawingml/2006/main">
            <a:r>
              <a:t>    display_text = text if text != "" else "0"</a:t>
            </a:r>
          </a:p>
          <a:p xmlns:a="http://schemas.openxmlformats.org/drawingml/2006/main">
            <a:r>
              <a:t>    if html_display is not None:</a:t>
            </a:r>
          </a:p>
          <a:p xmlns:a="http://schemas.openxmlformats.org/drawingml/2006/main">
            <a:r>
              <a:t>        html_display.value = ('&lt;div style="padding:12px;border:1px solid #777;'</a:t>
            </a:r>
          </a:p>
          <a:p xmlns:a="http://schemas.openxmlformats.org/drawingml/2006/main">
            <a:r>
              <a:t>                              'font:24px monospace;text-align:right;overflow-wrap:anywhere"&gt;'</a:t>
            </a:r>
          </a:p>
          <a:p xmlns:a="http://schemas.openxmlformats.org/drawingml/2006/main">
            <a:r>
              <a:t>                              + html.escape(display_text) + '&lt;/div&gt;')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on_button_click(b):</a:t>
            </a:r>
          </a:p>
          <a:p xmlns:a="http://schemas.openxmlformats.org/drawingml/2006/main">
            <a:r>
              <a:t>    global current_expression</a:t>
            </a:r>
          </a:p>
          <a:p xmlns:a="http://schemas.openxmlformats.org/drawingml/2006/main">
            <a:r>
              <a:t>    key = b.description</a:t>
            </a:r>
          </a:p>
          <a:p xmlns:a="http://schemas.openxmlformats.org/drawingml/2006/main">
            <a:r>
              <a:t>    if key == "AC":</a:t>
            </a:r>
          </a:p>
          <a:p xmlns:a="http://schemas.openxmlformats.org/drawingml/2006/main">
            <a:r>
              <a:t>        current_expression = ""</a:t>
            </a:r>
          </a:p>
          <a:p xmlns:a="http://schemas.openxmlformats.org/drawingml/2006/main">
            <a:r>
              <a:t>    elif key == "=":</a:t>
            </a:r>
          </a:p>
          <a:p xmlns:a="http://schemas.openxmlformats.org/drawingml/2006/main">
            <a:r>
              <a:t>        try:</a:t>
            </a:r>
          </a:p>
          <a:p xmlns:a="http://schemas.openxmlformats.org/drawingml/2006/main">
            <a:r>
              <a:t>            current_expression = str(evaluate_expression(current_expression))</a:t>
            </a:r>
          </a:p>
          <a:p xmlns:a="http://schemas.openxmlformats.org/drawingml/2006/main">
            <a:r>
              <a:t>        except (ValueError, SyntaxError, ZeroDivisionError, OverflowError, RecursionError):</a:t>
            </a:r>
          </a:p>
          <a:p xmlns:a="http://schemas.openxmlformats.org/drawingml/2006/main">
            <a:r>
              <a:t>            current_expression = "Error"</a:t>
            </a:r>
          </a:p>
          <a:p xmlns:a="http://schemas.openxmlformats.org/drawingml/2006/main">
            <a:r>
              <a:t>    elif key == "DEL":</a:t>
            </a:r>
          </a:p>
          <a:p xmlns:a="http://schemas.openxmlformats.org/drawingml/2006/main">
            <a:r>
              <a:t>        current_expression = "" if current_expression == "Error" else current_expression[:-1]</a:t>
            </a:r>
          </a:p>
          <a:p xmlns:a="http://schemas.openxmlformats.org/drawingml/2006/main">
            <a:r>
              <a:t>    elif key == "±":</a:t>
            </a:r>
          </a:p>
          <a:p xmlns:a="http://schemas.openxmlformats.org/drawingml/2006/main">
            <a:r>
              <a:t>        if current_expression and current_expression != "Error":</a:t>
            </a:r>
          </a:p>
          <a:p xmlns:a="http://schemas.openxmlformats.org/drawingml/2006/main">
            <a:r>
              <a:t>            current_expression = f"-({current_expression})"</a:t>
            </a:r>
          </a:p>
          <a:p xmlns:a="http://schemas.openxmlformats.org/drawingml/2006/main">
            <a:r>
              <a:t>    else:</a:t>
            </a:r>
          </a:p>
          <a:p xmlns:a="http://schemas.openxmlformats.org/drawingml/2006/main">
            <a:r>
              <a:t>        if current_expression == "Error":</a:t>
            </a:r>
          </a:p>
          <a:p xmlns:a="http://schemas.openxmlformats.org/drawingml/2006/main">
            <a:r>
              <a:t>            current_expression = ""</a:t>
            </a:r>
          </a:p>
          <a:p xmlns:a="http://schemas.openxmlformats.org/drawingml/2006/main">
            <a:r>
              <a:t>        if len(current_expression) + len(key) &lt;= 100:</a:t>
            </a:r>
          </a:p>
          <a:p xmlns:a="http://schemas.openxmlformats.org/drawingml/2006/main">
            <a:r>
              <a:t>            current_expression += key</a:t>
            </a:r>
          </a:p>
          <a:p xmlns:a="http://schemas.openxmlformats.org/drawingml/2006/main">
            <a:r>
              <a:t>    update_display(current_expression)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widgets is not None:</a:t>
            </a:r>
          </a:p>
          <a:p xmlns:a="http://schemas.openxmlformats.org/drawingml/2006/main">
            <a:r>
              <a:t>    rows = []</a:t>
            </a:r>
          </a:p>
          <a:p xmlns:a="http://schemas.openxmlformats.org/drawingml/2006/main">
            <a:r>
              <a:t>    for row_data in buttons_data:</a:t>
            </a:r>
          </a:p>
          <a:p xmlns:a="http://schemas.openxmlformats.org/drawingml/2006/main">
            <a:r>
              <a:t>        row_widgets = []</a:t>
            </a:r>
          </a:p>
          <a:p xmlns:a="http://schemas.openxmlformats.org/drawingml/2006/main">
            <a:r>
              <a:t>        for key in row_data:</a:t>
            </a:r>
          </a:p>
          <a:p xmlns:a="http://schemas.openxmlformats.org/drawingml/2006/main">
            <a:r>
              <a:t>            button = widgets.Button(description=key, layout=widgets.Layout(width="60px", height="42px"))</a:t>
            </a:r>
          </a:p>
          <a:p xmlns:a="http://schemas.openxmlformats.org/drawingml/2006/main">
            <a:r>
              <a:t>            if key in ["+", "-", "x", "/", "//", "%", "**", "="]:</a:t>
            </a:r>
          </a:p>
          <a:p xmlns:a="http://schemas.openxmlformats.org/drawingml/2006/main">
            <a:r>
              <a:t>                button.style.button_color = "#f6c56f"</a:t>
            </a:r>
          </a:p>
          <a:p xmlns:a="http://schemas.openxmlformats.org/drawingml/2006/main">
            <a:r>
              <a:t>            button.on_click(on_button_click)</a:t>
            </a:r>
          </a:p>
          <a:p xmlns:a="http://schemas.openxmlformats.org/drawingml/2006/main">
            <a:r>
              <a:t>            row_widgets.append(button)</a:t>
            </a:r>
          </a:p>
          <a:p xmlns:a="http://schemas.openxmlformats.org/drawingml/2006/main">
            <a:r>
              <a:t>        rows.append(widgets.HBox(row_widgets))</a:t>
            </a:r>
          </a:p>
          <a:p xmlns:a="http://schemas.openxmlformats.org/drawingml/2006/main">
            <a:r>
              <a:t>    update_display("")</a:t>
            </a:r>
          </a:p>
          <a:p xmlns:a="http://schemas.openxmlformats.org/drawingml/2006/main">
            <a:r>
              <a:t>    calculator_ui = widgets.VBox([html_display] + rows)</a:t>
            </a:r>
          </a:p>
          <a:p xmlns:a="http://schemas.openxmlformats.org/drawingml/2006/main">
            <a:r>
              <a:t>    display(calculator_ui)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對應教材：第6章 函數／第7章 容器／應用整合</a:t>
            </a:r>
          </a:p>
          <a:p xmlns:a="http://schemas.openxmlformats.org/drawingml/2006/main">
            <a:r>
              <a:t>對應範例：Python_計算機.ipynb C8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來源：Python_計算機.ipynb，第19個儲存格。L行號相對於該儲存格，視覺折行不改變原碼。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try:</a:t>
            </a:r>
          </a:p>
          <a:p xmlns:a="http://schemas.openxmlformats.org/drawingml/2006/main">
            <a:r>
              <a:t>    import ipywidgets as widgets</a:t>
            </a:r>
          </a:p>
          <a:p xmlns:a="http://schemas.openxmlformats.org/drawingml/2006/main">
            <a:r>
              <a:t>    from IPython.display import display</a:t>
            </a:r>
          </a:p>
          <a:p xmlns:a="http://schemas.openxmlformats.org/drawingml/2006/main">
            <a:r>
              <a:t>except ImportError:</a:t>
            </a:r>
          </a:p>
          <a:p xmlns:a="http://schemas.openxmlformats.org/drawingml/2006/main">
            <a:r>
              <a:t>    widgets = None</a:t>
            </a:r>
          </a:p>
          <a:p xmlns:a="http://schemas.openxmlformats.org/drawingml/2006/main">
            <a:r>
              <a:t>    print("互動介面需ipywidgets；基本語法與測試仍可執行。安裝指令：%pip install ipywidgets")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current_expression = ""</a:t>
            </a:r>
          </a:p>
          <a:p xmlns:a="http://schemas.openxmlformats.org/drawingml/2006/main">
            <a:r>
              <a:t>html_display = widgets.HTML() if widgets is not None else None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update_display(text):</a:t>
            </a:r>
          </a:p>
          <a:p xmlns:a="http://schemas.openxmlformats.org/drawingml/2006/main">
            <a:r>
              <a:t>    display_text = text if text != "" else "0"</a:t>
            </a:r>
          </a:p>
          <a:p xmlns:a="http://schemas.openxmlformats.org/drawingml/2006/main">
            <a:r>
              <a:t>    if html_display is not None:</a:t>
            </a:r>
          </a:p>
          <a:p xmlns:a="http://schemas.openxmlformats.org/drawingml/2006/main">
            <a:r>
              <a:t>        html_display.value = ('&lt;div style="padding:12px;border:1px solid #777;'</a:t>
            </a:r>
          </a:p>
          <a:p xmlns:a="http://schemas.openxmlformats.org/drawingml/2006/main">
            <a:r>
              <a:t>                              'font:24px monospace;text-align:right;overflow-wrap:anywhere"&gt;'</a:t>
            </a:r>
          </a:p>
          <a:p xmlns:a="http://schemas.openxmlformats.org/drawingml/2006/main">
            <a:r>
              <a:t>                              + html.escape(display_text) + '&lt;/div&gt;')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on_button_click(b):</a:t>
            </a:r>
          </a:p>
          <a:p xmlns:a="http://schemas.openxmlformats.org/drawingml/2006/main">
            <a:r>
              <a:t>    global current_expression</a:t>
            </a:r>
          </a:p>
          <a:p xmlns:a="http://schemas.openxmlformats.org/drawingml/2006/main">
            <a:r>
              <a:t>    key = b.description</a:t>
            </a:r>
          </a:p>
          <a:p xmlns:a="http://schemas.openxmlformats.org/drawingml/2006/main">
            <a:r>
              <a:t>    if key == "AC":</a:t>
            </a:r>
          </a:p>
          <a:p xmlns:a="http://schemas.openxmlformats.org/drawingml/2006/main">
            <a:r>
              <a:t>        current_expression = ""</a:t>
            </a:r>
          </a:p>
          <a:p xmlns:a="http://schemas.openxmlformats.org/drawingml/2006/main">
            <a:r>
              <a:t>    elif key == "=":</a:t>
            </a:r>
          </a:p>
          <a:p xmlns:a="http://schemas.openxmlformats.org/drawingml/2006/main">
            <a:r>
              <a:t>        try:</a:t>
            </a:r>
          </a:p>
          <a:p xmlns:a="http://schemas.openxmlformats.org/drawingml/2006/main">
            <a:r>
              <a:t>            current_expression = str(evaluate_expression(current_expression))</a:t>
            </a:r>
          </a:p>
          <a:p xmlns:a="http://schemas.openxmlformats.org/drawingml/2006/main">
            <a:r>
              <a:t>        except (ValueError, SyntaxError, ZeroDivisionError, OverflowError, RecursionError):</a:t>
            </a:r>
          </a:p>
          <a:p xmlns:a="http://schemas.openxmlformats.org/drawingml/2006/main">
            <a:r>
              <a:t>            current_expression = "Error"</a:t>
            </a:r>
          </a:p>
          <a:p xmlns:a="http://schemas.openxmlformats.org/drawingml/2006/main">
            <a:r>
              <a:t>    elif key == "DEL":</a:t>
            </a:r>
          </a:p>
          <a:p xmlns:a="http://schemas.openxmlformats.org/drawingml/2006/main">
            <a:r>
              <a:t>        current_expression = "" if current_expression == "Error" else current_expression[:-1]</a:t>
            </a:r>
          </a:p>
          <a:p xmlns:a="http://schemas.openxmlformats.org/drawingml/2006/main">
            <a:r>
              <a:t>    elif key == "±":</a:t>
            </a:r>
          </a:p>
          <a:p xmlns:a="http://schemas.openxmlformats.org/drawingml/2006/main">
            <a:r>
              <a:t>        if current_expression and current_expression != "Error":</a:t>
            </a:r>
          </a:p>
          <a:p xmlns:a="http://schemas.openxmlformats.org/drawingml/2006/main">
            <a:r>
              <a:t>            current_expression = f"-({current_expression})"</a:t>
            </a:r>
          </a:p>
          <a:p xmlns:a="http://schemas.openxmlformats.org/drawingml/2006/main">
            <a:r>
              <a:t>    else:</a:t>
            </a:r>
          </a:p>
          <a:p xmlns:a="http://schemas.openxmlformats.org/drawingml/2006/main">
            <a:r>
              <a:t>        if current_expression == "Error":</a:t>
            </a:r>
          </a:p>
          <a:p xmlns:a="http://schemas.openxmlformats.org/drawingml/2006/main">
            <a:r>
              <a:t>            current_expression = ""</a:t>
            </a:r>
          </a:p>
          <a:p xmlns:a="http://schemas.openxmlformats.org/drawingml/2006/main">
            <a:r>
              <a:t>        if len(current_expression) + len(key) &lt;= 100:</a:t>
            </a:r>
          </a:p>
          <a:p xmlns:a="http://schemas.openxmlformats.org/drawingml/2006/main">
            <a:r>
              <a:t>            current_expression += key</a:t>
            </a:r>
          </a:p>
          <a:p xmlns:a="http://schemas.openxmlformats.org/drawingml/2006/main">
            <a:r>
              <a:t>    update_display(current_expression)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widgets is not None:</a:t>
            </a:r>
          </a:p>
          <a:p xmlns:a="http://schemas.openxmlformats.org/drawingml/2006/main">
            <a:r>
              <a:t>    rows = []</a:t>
            </a:r>
          </a:p>
          <a:p xmlns:a="http://schemas.openxmlformats.org/drawingml/2006/main">
            <a:r>
              <a:t>    for row_data in buttons_data:</a:t>
            </a:r>
          </a:p>
          <a:p xmlns:a="http://schemas.openxmlformats.org/drawingml/2006/main">
            <a:r>
              <a:t>        row_widgets = []</a:t>
            </a:r>
          </a:p>
          <a:p xmlns:a="http://schemas.openxmlformats.org/drawingml/2006/main">
            <a:r>
              <a:t>        for key in row_data:</a:t>
            </a:r>
          </a:p>
          <a:p xmlns:a="http://schemas.openxmlformats.org/drawingml/2006/main">
            <a:r>
              <a:t>            button = widgets.Button(description=key, layout=widgets.Layout(width="60px", height="42px"))</a:t>
            </a:r>
          </a:p>
          <a:p xmlns:a="http://schemas.openxmlformats.org/drawingml/2006/main">
            <a:r>
              <a:t>            if key in ["+", "-", "x", "/", "//", "%", "**", "="]:</a:t>
            </a:r>
          </a:p>
          <a:p xmlns:a="http://schemas.openxmlformats.org/drawingml/2006/main">
            <a:r>
              <a:t>                button.style.button_color = "#f6c56f"</a:t>
            </a:r>
          </a:p>
          <a:p xmlns:a="http://schemas.openxmlformats.org/drawingml/2006/main">
            <a:r>
              <a:t>            button.on_click(on_button_click)</a:t>
            </a:r>
          </a:p>
          <a:p xmlns:a="http://schemas.openxmlformats.org/drawingml/2006/main">
            <a:r>
              <a:t>            row_widgets.append(button)</a:t>
            </a:r>
          </a:p>
          <a:p xmlns:a="http://schemas.openxmlformats.org/drawingml/2006/main">
            <a:r>
              <a:t>        rows.append(widgets.HBox(row_widgets))</a:t>
            </a:r>
          </a:p>
          <a:p xmlns:a="http://schemas.openxmlformats.org/drawingml/2006/main">
            <a:r>
              <a:t>    update_display("")</a:t>
            </a:r>
          </a:p>
          <a:p xmlns:a="http://schemas.openxmlformats.org/drawingml/2006/main">
            <a:r>
              <a:t>    calculator_ui = widgets.VBox([html_display] + rows)</a:t>
            </a:r>
          </a:p>
          <a:p xmlns:a="http://schemas.openxmlformats.org/drawingml/2006/main">
            <a:r>
              <a:t>    display(calculator_ui)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對應教材：第6章 函數／第7章 容器／應用整合</a:t>
            </a:r>
          </a:p>
          <a:p xmlns:a="http://schemas.openxmlformats.org/drawingml/2006/main">
            <a:r>
              <a:t>對應範例：Python_計算機.ipynb C8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來源：Python_計算機.ipynb，第19個儲存格。L行號相對於該儲存格，視覺折行不改變原碼。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try:</a:t>
            </a:r>
          </a:p>
          <a:p xmlns:a="http://schemas.openxmlformats.org/drawingml/2006/main">
            <a:r>
              <a:t>    import ipywidgets as widgets</a:t>
            </a:r>
          </a:p>
          <a:p xmlns:a="http://schemas.openxmlformats.org/drawingml/2006/main">
            <a:r>
              <a:t>    from IPython.display import display</a:t>
            </a:r>
          </a:p>
          <a:p xmlns:a="http://schemas.openxmlformats.org/drawingml/2006/main">
            <a:r>
              <a:t>except ImportError:</a:t>
            </a:r>
          </a:p>
          <a:p xmlns:a="http://schemas.openxmlformats.org/drawingml/2006/main">
            <a:r>
              <a:t>    widgets = None</a:t>
            </a:r>
          </a:p>
          <a:p xmlns:a="http://schemas.openxmlformats.org/drawingml/2006/main">
            <a:r>
              <a:t>    print("互動介面需ipywidgets；基本語法與測試仍可執行。安裝指令：%pip install ipywidgets")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current_expression = ""</a:t>
            </a:r>
          </a:p>
          <a:p xmlns:a="http://schemas.openxmlformats.org/drawingml/2006/main">
            <a:r>
              <a:t>html_display = widgets.HTML() if widgets is not None else None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update_display(text):</a:t>
            </a:r>
          </a:p>
          <a:p xmlns:a="http://schemas.openxmlformats.org/drawingml/2006/main">
            <a:r>
              <a:t>    display_text = text if text != "" else "0"</a:t>
            </a:r>
          </a:p>
          <a:p xmlns:a="http://schemas.openxmlformats.org/drawingml/2006/main">
            <a:r>
              <a:t>    if html_display is not None:</a:t>
            </a:r>
          </a:p>
          <a:p xmlns:a="http://schemas.openxmlformats.org/drawingml/2006/main">
            <a:r>
              <a:t>        html_display.value = ('&lt;div style="padding:12px;border:1px solid #777;'</a:t>
            </a:r>
          </a:p>
          <a:p xmlns:a="http://schemas.openxmlformats.org/drawingml/2006/main">
            <a:r>
              <a:t>                              'font:24px monospace;text-align:right;overflow-wrap:anywhere"&gt;'</a:t>
            </a:r>
          </a:p>
          <a:p xmlns:a="http://schemas.openxmlformats.org/drawingml/2006/main">
            <a:r>
              <a:t>                              + html.escape(display_text) + '&lt;/div&gt;')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on_button_click(b):</a:t>
            </a:r>
          </a:p>
          <a:p xmlns:a="http://schemas.openxmlformats.org/drawingml/2006/main">
            <a:r>
              <a:t>    global current_expression</a:t>
            </a:r>
          </a:p>
          <a:p xmlns:a="http://schemas.openxmlformats.org/drawingml/2006/main">
            <a:r>
              <a:t>    key = b.description</a:t>
            </a:r>
          </a:p>
          <a:p xmlns:a="http://schemas.openxmlformats.org/drawingml/2006/main">
            <a:r>
              <a:t>    if key == "AC":</a:t>
            </a:r>
          </a:p>
          <a:p xmlns:a="http://schemas.openxmlformats.org/drawingml/2006/main">
            <a:r>
              <a:t>        current_expression = ""</a:t>
            </a:r>
          </a:p>
          <a:p xmlns:a="http://schemas.openxmlformats.org/drawingml/2006/main">
            <a:r>
              <a:t>    elif key == "=":</a:t>
            </a:r>
          </a:p>
          <a:p xmlns:a="http://schemas.openxmlformats.org/drawingml/2006/main">
            <a:r>
              <a:t>        try:</a:t>
            </a:r>
          </a:p>
          <a:p xmlns:a="http://schemas.openxmlformats.org/drawingml/2006/main">
            <a:r>
              <a:t>            current_expression = str(evaluate_expression(current_expression))</a:t>
            </a:r>
          </a:p>
          <a:p xmlns:a="http://schemas.openxmlformats.org/drawingml/2006/main">
            <a:r>
              <a:t>        except (ValueError, SyntaxError, ZeroDivisionError, OverflowError, RecursionError):</a:t>
            </a:r>
          </a:p>
          <a:p xmlns:a="http://schemas.openxmlformats.org/drawingml/2006/main">
            <a:r>
              <a:t>            current_expression = "Error"</a:t>
            </a:r>
          </a:p>
          <a:p xmlns:a="http://schemas.openxmlformats.org/drawingml/2006/main">
            <a:r>
              <a:t>    elif key == "DEL":</a:t>
            </a:r>
          </a:p>
          <a:p xmlns:a="http://schemas.openxmlformats.org/drawingml/2006/main">
            <a:r>
              <a:t>        current_expression = "" if current_expression == "Error" else current_expression[:-1]</a:t>
            </a:r>
          </a:p>
          <a:p xmlns:a="http://schemas.openxmlformats.org/drawingml/2006/main">
            <a:r>
              <a:t>    elif key == "±":</a:t>
            </a:r>
          </a:p>
          <a:p xmlns:a="http://schemas.openxmlformats.org/drawingml/2006/main">
            <a:r>
              <a:t>        if current_expression and current_expression != "Error":</a:t>
            </a:r>
          </a:p>
          <a:p xmlns:a="http://schemas.openxmlformats.org/drawingml/2006/main">
            <a:r>
              <a:t>            current_expression = f"-({current_expression})"</a:t>
            </a:r>
          </a:p>
          <a:p xmlns:a="http://schemas.openxmlformats.org/drawingml/2006/main">
            <a:r>
              <a:t>    else:</a:t>
            </a:r>
          </a:p>
          <a:p xmlns:a="http://schemas.openxmlformats.org/drawingml/2006/main">
            <a:r>
              <a:t>        if current_expression == "Error":</a:t>
            </a:r>
          </a:p>
          <a:p xmlns:a="http://schemas.openxmlformats.org/drawingml/2006/main">
            <a:r>
              <a:t>            current_expression = ""</a:t>
            </a:r>
          </a:p>
          <a:p xmlns:a="http://schemas.openxmlformats.org/drawingml/2006/main">
            <a:r>
              <a:t>        if len(current_expression) + len(key) &lt;= 100:</a:t>
            </a:r>
          </a:p>
          <a:p xmlns:a="http://schemas.openxmlformats.org/drawingml/2006/main">
            <a:r>
              <a:t>            current_expression += key</a:t>
            </a:r>
          </a:p>
          <a:p xmlns:a="http://schemas.openxmlformats.org/drawingml/2006/main">
            <a:r>
              <a:t>    update_display(current_expression)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widgets is not None:</a:t>
            </a:r>
          </a:p>
          <a:p xmlns:a="http://schemas.openxmlformats.org/drawingml/2006/main">
            <a:r>
              <a:t>    rows = []</a:t>
            </a:r>
          </a:p>
          <a:p xmlns:a="http://schemas.openxmlformats.org/drawingml/2006/main">
            <a:r>
              <a:t>    for row_data in buttons_data:</a:t>
            </a:r>
          </a:p>
          <a:p xmlns:a="http://schemas.openxmlformats.org/drawingml/2006/main">
            <a:r>
              <a:t>        row_widgets = []</a:t>
            </a:r>
          </a:p>
          <a:p xmlns:a="http://schemas.openxmlformats.org/drawingml/2006/main">
            <a:r>
              <a:t>        for key in row_data:</a:t>
            </a:r>
          </a:p>
          <a:p xmlns:a="http://schemas.openxmlformats.org/drawingml/2006/main">
            <a:r>
              <a:t>            button = widgets.Button(description=key, layout=widgets.Layout(width="60px", height="42px"))</a:t>
            </a:r>
          </a:p>
          <a:p xmlns:a="http://schemas.openxmlformats.org/drawingml/2006/main">
            <a:r>
              <a:t>            if key in ["+", "-", "x", "/", "//", "%", "**", "="]:</a:t>
            </a:r>
          </a:p>
          <a:p xmlns:a="http://schemas.openxmlformats.org/drawingml/2006/main">
            <a:r>
              <a:t>                button.style.button_color = "#f6c56f"</a:t>
            </a:r>
          </a:p>
          <a:p xmlns:a="http://schemas.openxmlformats.org/drawingml/2006/main">
            <a:r>
              <a:t>            button.on_click(on_button_click)</a:t>
            </a:r>
          </a:p>
          <a:p xmlns:a="http://schemas.openxmlformats.org/drawingml/2006/main">
            <a:r>
              <a:t>            row_widgets.append(button)</a:t>
            </a:r>
          </a:p>
          <a:p xmlns:a="http://schemas.openxmlformats.org/drawingml/2006/main">
            <a:r>
              <a:t>        rows.append(widgets.HBox(row_widgets))</a:t>
            </a:r>
          </a:p>
          <a:p xmlns:a="http://schemas.openxmlformats.org/drawingml/2006/main">
            <a:r>
              <a:t>    update_display("")</a:t>
            </a:r>
          </a:p>
          <a:p xmlns:a="http://schemas.openxmlformats.org/drawingml/2006/main">
            <a:r>
              <a:t>    calculator_ui = widgets.VBox([html_display] + rows)</a:t>
            </a:r>
          </a:p>
          <a:p xmlns:a="http://schemas.openxmlformats.org/drawingml/2006/main">
            <a:r>
              <a:t>    display(calculator_ui)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對應教材：第6章 函數／第7章 容器／應用整合</a:t>
            </a:r>
          </a:p>
          <a:p xmlns:a="http://schemas.openxmlformats.org/drawingml/2006/main">
            <a:r>
              <a:t>對應範例：Python_計算機.ipynb C8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C9 隨堂練習與參考解答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請先在下方作答，再閱讀參考解答。每題都要說明用到哪一個課程觀念。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運算式：先預測`7/2`、`7//2`、`7%2`、`-7//2`，再用程式核對。</a:t>
            </a:r>
          </a:p>
          <a:p xmlns:a="http://schemas.openxmlformats.org/drawingml/2006/main">
            <a:r>
              <a:t>2. 判斷與函式：新增`classify_result(value)`，將結果分為正數、零、負數。</a:t>
            </a:r>
          </a:p>
          <a:p xmlns:a="http://schemas.openxmlformats.org/drawingml/2006/main">
            <a:r>
              <a:t>3. for與陣列：用迴圈統計按鈕資料中共有幾個數字按鍵；新增一列時不要修改統計程式。</a:t>
            </a:r>
          </a:p>
          <a:p xmlns:a="http://schemas.openxmlformats.org/drawingml/2006/main">
            <a:r>
              <a:t>4. while：將命令列計算機改成最多計算3筆有效答案；輸入錯誤不占次數，q可提前結束。</a:t>
            </a:r>
          </a:p>
          <a:p xmlns:a="http://schemas.openxmlformats.org/drawingml/2006/main">
            <a:r>
              <a:t>5. 整合：新增「平方」功能，說明要調整資料、回呼或核心函式的哪些位置，並測試-3的平方是9。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**參考解答與評量：** 第一題為3.5、3、1、-4。第二題先比較大於0，再比較等於0，最後負數。第三題走訪每列及每個key，用key.isdigit()判斷，現有結果為10。第四題把成功計算後才執行的count+=1放在try成功路徑內，以while count&lt;3控制；錯誤後continue。第五題可在按鈕資料新增平方鍵，回呼時將字串改成`f"({current_expression})**2"`再求值，括號不可省略。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建議評分：運算正確30%、分支與邊界25%、函式拆分20%、資料與迴圈15%、能解釋自己的測試10%。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對應教材：第3–7章 綜合練習</a:t>
            </a:r>
          </a:p>
          <a:p xmlns:a="http://schemas.openxmlformats.org/drawingml/2006/main">
            <a:r>
              <a:t>對應範例：Python_計算機.ipynb C9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C9 隨堂練習與參考解答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請先在下方作答，再閱讀參考解答。每題都要說明用到哪一個課程觀念。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運算式：先預測`7/2`、`7//2`、`7%2`、`-7//2`，再用程式核對。</a:t>
            </a:r>
          </a:p>
          <a:p xmlns:a="http://schemas.openxmlformats.org/drawingml/2006/main">
            <a:r>
              <a:t>2. 判斷與函式：新增`classify_result(value)`，將結果分為正數、零、負數。</a:t>
            </a:r>
          </a:p>
          <a:p xmlns:a="http://schemas.openxmlformats.org/drawingml/2006/main">
            <a:r>
              <a:t>3. for與陣列：用迴圈統計按鈕資料中共有幾個數字按鍵；新增一列時不要修改統計程式。</a:t>
            </a:r>
          </a:p>
          <a:p xmlns:a="http://schemas.openxmlformats.org/drawingml/2006/main">
            <a:r>
              <a:t>4. while：將命令列計算機改成最多計算3筆有效答案；輸入錯誤不占次數，q可提前結束。</a:t>
            </a:r>
          </a:p>
          <a:p xmlns:a="http://schemas.openxmlformats.org/drawingml/2006/main">
            <a:r>
              <a:t>5. 整合：新增「平方」功能，說明要調整資料、回呼或核心函式的哪些位置，並測試-3的平方是9。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**參考解答與評量：** 第一題為3.5、3、1、-4。第二題先比較大於0，再比較等於0，最後負數。第三題走訪每列及每個key，用key.isdigit()判斷，現有結果為10。第四題把成功計算後才執行的count+=1放在try成功路徑內，以while count&lt;3控制；錯誤後continue。第五題可在按鈕資料新增平方鍵，回呼時將字串改成`f"({current_expression})**2"`再求值，括號不可省略。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建議評分：運算正確30%、分支與邊界25%、函式拆分20%、資料與迴圈15%、能解釋自己的測試10%。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對應教材：第3–7章 綜合練習</a:t>
            </a:r>
          </a:p>
          <a:p xmlns:a="http://schemas.openxmlformats.org/drawingml/2006/main">
            <a:r>
              <a:t>對應範例：Python_計算機.ipynb C9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來源：Python_計算機.ipynb，第21個儲存格。L行號相對於該儲存格，視覺折行不改變原碼。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classify_result(value):</a:t>
            </a:r>
          </a:p>
          <a:p xmlns:a="http://schemas.openxmlformats.org/drawingml/2006/main">
            <a:r>
              <a:t>    if value &gt; 0:</a:t>
            </a:r>
          </a:p>
          <a:p xmlns:a="http://schemas.openxmlformats.org/drawingml/2006/main">
            <a:r>
              <a:t>        return "正數"</a:t>
            </a:r>
          </a:p>
          <a:p xmlns:a="http://schemas.openxmlformats.org/drawingml/2006/main">
            <a:r>
              <a:t>    elif value == 0:</a:t>
            </a:r>
          </a:p>
          <a:p xmlns:a="http://schemas.openxmlformats.org/drawingml/2006/main">
            <a:r>
              <a:t>        return "零"</a:t>
            </a:r>
          </a:p>
          <a:p xmlns:a="http://schemas.openxmlformats.org/drawingml/2006/main">
            <a:r>
              <a:t>    return "負數"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digit_count = 0</a:t>
            </a:r>
          </a:p>
          <a:p xmlns:a="http://schemas.openxmlformats.org/drawingml/2006/main">
            <a:r>
              <a:t>for row in buttons_data:</a:t>
            </a:r>
          </a:p>
          <a:p xmlns:a="http://schemas.openxmlformats.org/drawingml/2006/main">
            <a:r>
              <a:t>    for key in row:</a:t>
            </a:r>
          </a:p>
          <a:p xmlns:a="http://schemas.openxmlformats.org/drawingml/2006/main">
            <a:r>
              <a:t>        if key.isdigit():</a:t>
            </a:r>
          </a:p>
          <a:p xmlns:a="http://schemas.openxmlformats.org/drawingml/2006/main">
            <a:r>
              <a:t>            digit_count += 1</a:t>
            </a:r>
          </a:p>
          <a:p xmlns:a="http://schemas.openxmlformats.org/drawingml/2006/main">
            <a:r>
              <a:t>print("數字按鍵：", digit_count)</a:t>
            </a:r>
          </a:p>
          <a:p xmlns:a="http://schemas.openxmlformats.org/drawingml/2006/main">
            <a:r>
              <a:t>print([classify_result(value) for value in [-2, 0, 3]])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run_three_calculations():</a:t>
            </a:r>
          </a:p>
          <a:p xmlns:a="http://schemas.openxmlformats.org/drawingml/2006/main">
            <a:r>
              <a:t>    count = 0</a:t>
            </a:r>
          </a:p>
          <a:p xmlns:a="http://schemas.openxmlformats.org/drawingml/2006/main">
            <a:r>
              <a:t>    while count &lt; 3:</a:t>
            </a:r>
          </a:p>
          <a:p xmlns:a="http://schemas.openxmlformats.org/drawingml/2006/main">
            <a:r>
              <a:t>        raw = input("第一個數（q離開）：").strip()</a:t>
            </a:r>
          </a:p>
          <a:p xmlns:a="http://schemas.openxmlformats.org/drawingml/2006/main">
            <a:r>
              <a:t>        if raw.lower() == "q":</a:t>
            </a:r>
          </a:p>
          <a:p xmlns:a="http://schemas.openxmlformats.org/drawingml/2006/main">
            <a:r>
              <a:t>            break</a:t>
            </a:r>
          </a:p>
          <a:p xmlns:a="http://schemas.openxmlformats.org/drawingml/2006/main">
            <a:r>
              <a:t>        try:</a:t>
            </a:r>
          </a:p>
          <a:p xmlns:a="http://schemas.openxmlformats.org/drawingml/2006/main">
            <a:r>
              <a:t>            result = calculate(float(raw), input("運算子："), float(input("第二個數：")))</a:t>
            </a:r>
          </a:p>
          <a:p xmlns:a="http://schemas.openxmlformats.org/drawingml/2006/main">
            <a:r>
              <a:t>        except (ValueError, ZeroDivisionError, OverflowError) as error:</a:t>
            </a:r>
          </a:p>
          <a:p xmlns:a="http://schemas.openxmlformats.org/drawingml/2006/main">
            <a:r>
              <a:t>            print(error)</a:t>
            </a:r>
          </a:p>
          <a:p xmlns:a="http://schemas.openxmlformats.org/drawingml/2006/main">
            <a:r>
              <a:t>            continue</a:t>
            </a:r>
          </a:p>
          <a:p xmlns:a="http://schemas.openxmlformats.org/drawingml/2006/main">
            <a:r>
              <a:t>        count += 1</a:t>
            </a:r>
          </a:p>
          <a:p xmlns:a="http://schemas.openxmlformats.org/drawingml/2006/main">
            <a:r>
              <a:t>        print(f"第{count}筆：{result}")</a:t>
            </a:r>
          </a:p>
          <a:p xmlns:a="http://schemas.openxmlformats.org/drawingml/2006/main">
            <a:r>
              <a:t># 自行呼叫run_three_calculations()體驗；預設不等待輸入。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對應教材：第3–7章 綜合練習</a:t>
            </a:r>
          </a:p>
          <a:p xmlns:a="http://schemas.openxmlformats.org/drawingml/2006/main">
            <a:r>
              <a:t>對應範例：Python_計算機.ipynb C9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來源：Python_計算機.ipynb，第21個儲存格。L行號相對於該儲存格，視覺折行不改變原碼。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classify_result(value):</a:t>
            </a:r>
          </a:p>
          <a:p xmlns:a="http://schemas.openxmlformats.org/drawingml/2006/main">
            <a:r>
              <a:t>    if value &gt; 0:</a:t>
            </a:r>
          </a:p>
          <a:p xmlns:a="http://schemas.openxmlformats.org/drawingml/2006/main">
            <a:r>
              <a:t>        return "正數"</a:t>
            </a:r>
          </a:p>
          <a:p xmlns:a="http://schemas.openxmlformats.org/drawingml/2006/main">
            <a:r>
              <a:t>    elif value == 0:</a:t>
            </a:r>
          </a:p>
          <a:p xmlns:a="http://schemas.openxmlformats.org/drawingml/2006/main">
            <a:r>
              <a:t>        return "零"</a:t>
            </a:r>
          </a:p>
          <a:p xmlns:a="http://schemas.openxmlformats.org/drawingml/2006/main">
            <a:r>
              <a:t>    return "負數"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digit_count = 0</a:t>
            </a:r>
          </a:p>
          <a:p xmlns:a="http://schemas.openxmlformats.org/drawingml/2006/main">
            <a:r>
              <a:t>for row in buttons_data:</a:t>
            </a:r>
          </a:p>
          <a:p xmlns:a="http://schemas.openxmlformats.org/drawingml/2006/main">
            <a:r>
              <a:t>    for key in row:</a:t>
            </a:r>
          </a:p>
          <a:p xmlns:a="http://schemas.openxmlformats.org/drawingml/2006/main">
            <a:r>
              <a:t>        if key.isdigit():</a:t>
            </a:r>
          </a:p>
          <a:p xmlns:a="http://schemas.openxmlformats.org/drawingml/2006/main">
            <a:r>
              <a:t>            digit_count += 1</a:t>
            </a:r>
          </a:p>
          <a:p xmlns:a="http://schemas.openxmlformats.org/drawingml/2006/main">
            <a:r>
              <a:t>print("數字按鍵：", digit_count)</a:t>
            </a:r>
          </a:p>
          <a:p xmlns:a="http://schemas.openxmlformats.org/drawingml/2006/main">
            <a:r>
              <a:t>print([classify_result(value) for value in [-2, 0, 3]])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run_three_calculations():</a:t>
            </a:r>
          </a:p>
          <a:p xmlns:a="http://schemas.openxmlformats.org/drawingml/2006/main">
            <a:r>
              <a:t>    count = 0</a:t>
            </a:r>
          </a:p>
          <a:p xmlns:a="http://schemas.openxmlformats.org/drawingml/2006/main">
            <a:r>
              <a:t>    while count &lt; 3:</a:t>
            </a:r>
          </a:p>
          <a:p xmlns:a="http://schemas.openxmlformats.org/drawingml/2006/main">
            <a:r>
              <a:t>        raw = input("第一個數（q離開）：").strip()</a:t>
            </a:r>
          </a:p>
          <a:p xmlns:a="http://schemas.openxmlformats.org/drawingml/2006/main">
            <a:r>
              <a:t>        if raw.lower() == "q":</a:t>
            </a:r>
          </a:p>
          <a:p xmlns:a="http://schemas.openxmlformats.org/drawingml/2006/main">
            <a:r>
              <a:t>            break</a:t>
            </a:r>
          </a:p>
          <a:p xmlns:a="http://schemas.openxmlformats.org/drawingml/2006/main">
            <a:r>
              <a:t>        try:</a:t>
            </a:r>
          </a:p>
          <a:p xmlns:a="http://schemas.openxmlformats.org/drawingml/2006/main">
            <a:r>
              <a:t>            result = calculate(float(raw), input("運算子："), float(input("第二個數：")))</a:t>
            </a:r>
          </a:p>
          <a:p xmlns:a="http://schemas.openxmlformats.org/drawingml/2006/main">
            <a:r>
              <a:t>        except (ValueError, ZeroDivisionError, OverflowError) as error:</a:t>
            </a:r>
          </a:p>
          <a:p xmlns:a="http://schemas.openxmlformats.org/drawingml/2006/main">
            <a:r>
              <a:t>            print(error)</a:t>
            </a:r>
          </a:p>
          <a:p xmlns:a="http://schemas.openxmlformats.org/drawingml/2006/main">
            <a:r>
              <a:t>            continue</a:t>
            </a:r>
          </a:p>
          <a:p xmlns:a="http://schemas.openxmlformats.org/drawingml/2006/main">
            <a:r>
              <a:t>        count += 1</a:t>
            </a:r>
          </a:p>
          <a:p xmlns:a="http://schemas.openxmlformats.org/drawingml/2006/main">
            <a:r>
              <a:t>        print(f"第{count}筆：{result}")</a:t>
            </a:r>
          </a:p>
          <a:p xmlns:a="http://schemas.openxmlformats.org/drawingml/2006/main">
            <a:r>
              <a:t># 自行呼叫run_three_calculations()體驗；預設不等待輸入。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對應教材：第3–7章 綜合練習</a:t>
            </a:r>
          </a:p>
          <a:p xmlns:a="http://schemas.openxmlformats.org/drawingml/2006/main">
            <a:r>
              <a:t>對應範例：Python_計算機.ipynb C9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來源：Python_計算機.ipynb，第21個儲存格。L行號相對於該儲存格，視覺折行不改變原碼。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classify_result(value):</a:t>
            </a:r>
          </a:p>
          <a:p xmlns:a="http://schemas.openxmlformats.org/drawingml/2006/main">
            <a:r>
              <a:t>    if value &gt; 0:</a:t>
            </a:r>
          </a:p>
          <a:p xmlns:a="http://schemas.openxmlformats.org/drawingml/2006/main">
            <a:r>
              <a:t>        return "正數"</a:t>
            </a:r>
          </a:p>
          <a:p xmlns:a="http://schemas.openxmlformats.org/drawingml/2006/main">
            <a:r>
              <a:t>    elif value == 0:</a:t>
            </a:r>
          </a:p>
          <a:p xmlns:a="http://schemas.openxmlformats.org/drawingml/2006/main">
            <a:r>
              <a:t>        return "零"</a:t>
            </a:r>
          </a:p>
          <a:p xmlns:a="http://schemas.openxmlformats.org/drawingml/2006/main">
            <a:r>
              <a:t>    return "負數"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digit_count = 0</a:t>
            </a:r>
          </a:p>
          <a:p xmlns:a="http://schemas.openxmlformats.org/drawingml/2006/main">
            <a:r>
              <a:t>for row in buttons_data:</a:t>
            </a:r>
          </a:p>
          <a:p xmlns:a="http://schemas.openxmlformats.org/drawingml/2006/main">
            <a:r>
              <a:t>    for key in row:</a:t>
            </a:r>
          </a:p>
          <a:p xmlns:a="http://schemas.openxmlformats.org/drawingml/2006/main">
            <a:r>
              <a:t>        if key.isdigit():</a:t>
            </a:r>
          </a:p>
          <a:p xmlns:a="http://schemas.openxmlformats.org/drawingml/2006/main">
            <a:r>
              <a:t>            digit_count += 1</a:t>
            </a:r>
          </a:p>
          <a:p xmlns:a="http://schemas.openxmlformats.org/drawingml/2006/main">
            <a:r>
              <a:t>print("數字按鍵：", digit_count)</a:t>
            </a:r>
          </a:p>
          <a:p xmlns:a="http://schemas.openxmlformats.org/drawingml/2006/main">
            <a:r>
              <a:t>print([classify_result(value) for value in [-2, 0, 3]])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run_three_calculations():</a:t>
            </a:r>
          </a:p>
          <a:p xmlns:a="http://schemas.openxmlformats.org/drawingml/2006/main">
            <a:r>
              <a:t>    count = 0</a:t>
            </a:r>
          </a:p>
          <a:p xmlns:a="http://schemas.openxmlformats.org/drawingml/2006/main">
            <a:r>
              <a:t>    while count &lt; 3:</a:t>
            </a:r>
          </a:p>
          <a:p xmlns:a="http://schemas.openxmlformats.org/drawingml/2006/main">
            <a:r>
              <a:t>        raw = input("第一個數（q離開）：").strip()</a:t>
            </a:r>
          </a:p>
          <a:p xmlns:a="http://schemas.openxmlformats.org/drawingml/2006/main">
            <a:r>
              <a:t>        if raw.lower() == "q":</a:t>
            </a:r>
          </a:p>
          <a:p xmlns:a="http://schemas.openxmlformats.org/drawingml/2006/main">
            <a:r>
              <a:t>            break</a:t>
            </a:r>
          </a:p>
          <a:p xmlns:a="http://schemas.openxmlformats.org/drawingml/2006/main">
            <a:r>
              <a:t>        try:</a:t>
            </a:r>
          </a:p>
          <a:p xmlns:a="http://schemas.openxmlformats.org/drawingml/2006/main">
            <a:r>
              <a:t>            result = calculate(float(raw), input("運算子："), float(input("第二個數：")))</a:t>
            </a:r>
          </a:p>
          <a:p xmlns:a="http://schemas.openxmlformats.org/drawingml/2006/main">
            <a:r>
              <a:t>        except (ValueError, ZeroDivisionError, OverflowError) as error:</a:t>
            </a:r>
          </a:p>
          <a:p xmlns:a="http://schemas.openxmlformats.org/drawingml/2006/main">
            <a:r>
              <a:t>            print(error)</a:t>
            </a:r>
          </a:p>
          <a:p xmlns:a="http://schemas.openxmlformats.org/drawingml/2006/main">
            <a:r>
              <a:t>            continue</a:t>
            </a:r>
          </a:p>
          <a:p xmlns:a="http://schemas.openxmlformats.org/drawingml/2006/main">
            <a:r>
              <a:t>        count += 1</a:t>
            </a:r>
          </a:p>
          <a:p xmlns:a="http://schemas.openxmlformats.org/drawingml/2006/main">
            <a:r>
              <a:t>        print(f"第{count}筆：{result}")</a:t>
            </a:r>
          </a:p>
          <a:p xmlns:a="http://schemas.openxmlformats.org/drawingml/2006/main">
            <a:r>
              <a:t># 自行呼叫run_three_calculations()體驗；預設不等待輸入。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對應教材：第3–7章 綜合練習</a:t>
            </a:r>
          </a:p>
          <a:p xmlns:a="http://schemas.openxmlformats.org/drawingml/2006/main">
            <a:r>
              <a:t>對應範例：Python_計算機.ipynb C9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以下是對應Notebook已執行的實際輸出。</a:t>
            </a:r>
          </a:p>
          <a:p xmlns:a="http://schemas.openxmlformats.org/drawingml/2006/main">
            <a:r>
              <a:t>數字按鍵： 10</a:t>
            </a:r>
          </a:p>
          <a:p xmlns:a="http://schemas.openxmlformats.org/drawingml/2006/main">
            <a:r>
              <a:t>['負數', '零', '正數']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對應教材：第3–7章 綜合練習</a:t>
            </a:r>
          </a:p>
          <a:p xmlns:a="http://schemas.openxmlformats.org/drawingml/2006/main">
            <a:r>
              <a:t>對應範例：Python_計算機.ipynb C9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C10 自我檢查與原程式對照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以下測試核對所有運算分支、錯誤輸入與按鍵回呼。測試回呼不需要人工點擊，因此可在沒有網頁元件的環境驗證邏輯；網頁是否顯示仍取決於Notebook前端。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原範例位置 | 本版完整講授與程式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code格`current_expression`與字串相加 | C1、C2、C8 |</a:t>
            </a:r>
          </a:p>
          <a:p xmlns:a="http://schemas.openxmlformats.org/drawingml/2006/main">
            <a:r>
              <a:t>| `on_button_click`的AC、=、Error判斷 | C2、C8 |</a:t>
            </a:r>
          </a:p>
          <a:p xmlns:a="http://schemas.openxmlformats.org/drawingml/2006/main">
            <a:r>
              <a:t>| `update_display`、回呼函式 | C3、C8 |</a:t>
            </a:r>
          </a:p>
          <a:p xmlns:a="http://schemas.openxmlformats.org/drawingml/2006/main">
            <a:r>
              <a:t>| `buttons_data`及`rows` | C4、C5 |</a:t>
            </a:r>
          </a:p>
          <a:p xmlns:a="http://schemas.openxmlformats.org/drawingml/2006/main">
            <a:r>
              <a:t>| 雙層for建立HBox與VBox | C5、C8 |</a:t>
            </a:r>
          </a:p>
          <a:p xmlns:a="http://schemas.openxmlformats.org/drawingml/2006/main">
            <a:r>
              <a:t>| `eval(eval_expr)` | C7的受限解析與C3核心運算 |</a:t>
            </a:r>
          </a:p>
          <a:p xmlns:a="http://schemas.openxmlformats.org/drawingml/2006/main">
            <a:r>
              <a:t>| 原範例沒有的while練習 | C6及C9命令列版本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Tkinter原範例只有省略按鈕的骨架，不能直接當成完整計算機。本版最後提供可另存為.py的完整桌面版本；本週主要操作仍採上方Notebook版。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對應教材：第3–9章 綜合檢核</a:t>
            </a:r>
          </a:p>
          <a:p xmlns:a="http://schemas.openxmlformats.org/drawingml/2006/main">
            <a:r>
              <a:t>對應範例：Python_計算機.ipynb C10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C10 自我檢查與原程式對照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以下測試核對所有運算分支、錯誤輸入與按鍵回呼。測試回呼不需要人工點擊，因此可在沒有網頁元件的環境驗證邏輯；網頁是否顯示仍取決於Notebook前端。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原範例位置 | 本版完整講授與程式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code格`current_expression`與字串相加 | C1、C2、C8 |</a:t>
            </a:r>
          </a:p>
          <a:p xmlns:a="http://schemas.openxmlformats.org/drawingml/2006/main">
            <a:r>
              <a:t>| `on_button_click`的AC、=、Error判斷 | C2、C8 |</a:t>
            </a:r>
          </a:p>
          <a:p xmlns:a="http://schemas.openxmlformats.org/drawingml/2006/main">
            <a:r>
              <a:t>| `update_display`、回呼函式 | C3、C8 |</a:t>
            </a:r>
          </a:p>
          <a:p xmlns:a="http://schemas.openxmlformats.org/drawingml/2006/main">
            <a:r>
              <a:t>| `buttons_data`及`rows` | C4、C5 |</a:t>
            </a:r>
          </a:p>
          <a:p xmlns:a="http://schemas.openxmlformats.org/drawingml/2006/main">
            <a:r>
              <a:t>| 雙層for建立HBox與VBox | C5、C8 |</a:t>
            </a:r>
          </a:p>
          <a:p xmlns:a="http://schemas.openxmlformats.org/drawingml/2006/main">
            <a:r>
              <a:t>| `eval(eval_expr)` | C7的受限解析與C3核心運算 |</a:t>
            </a:r>
          </a:p>
          <a:p xmlns:a="http://schemas.openxmlformats.org/drawingml/2006/main">
            <a:r>
              <a:t>| 原範例沒有的while練習 | C6及C9命令列版本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Tkinter原範例只有省略按鈕的骨架，不能直接當成完整計算機。本版最後提供可另存為.py的完整桌面版本；本週主要操作仍採上方Notebook版。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對應教材：第3–9章 綜合檢核</a:t>
            </a:r>
          </a:p>
          <a:p xmlns:a="http://schemas.openxmlformats.org/drawingml/2006/main">
            <a:r>
              <a:t>對應範例：Python_計算機.ipynb C10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來源：Python_計算機.ipynb，第23個儲存格。L行號相對於該儲存格，視覺折行不改變原碼。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assert calculate(7, "+", 3) == 10</a:t>
            </a:r>
          </a:p>
          <a:p xmlns:a="http://schemas.openxmlformats.org/drawingml/2006/main">
            <a:r>
              <a:t>assert calculate(7, "-", 3) == 4</a:t>
            </a:r>
          </a:p>
          <a:p xmlns:a="http://schemas.openxmlformats.org/drawingml/2006/main">
            <a:r>
              <a:t>assert calculate(7, "*", 3) == 21</a:t>
            </a:r>
          </a:p>
          <a:p xmlns:a="http://schemas.openxmlformats.org/drawingml/2006/main">
            <a:r>
              <a:t>assert calculate(7, "/", 2) == 3.5</a:t>
            </a:r>
          </a:p>
          <a:p xmlns:a="http://schemas.openxmlformats.org/drawingml/2006/main">
            <a:r>
              <a:t>assert calculate(-7, "//", 2) == -4</a:t>
            </a:r>
          </a:p>
          <a:p xmlns:a="http://schemas.openxmlformats.org/drawingml/2006/main">
            <a:r>
              <a:t>assert calculate(7, "%", 2) == 1</a:t>
            </a:r>
          </a:p>
          <a:p xmlns:a="http://schemas.openxmlformats.org/drawingml/2006/main">
            <a:r>
              <a:t>assert calculate(2, "**", 3) == 8</a:t>
            </a:r>
          </a:p>
          <a:p xmlns:a="http://schemas.openxmlformats.org/drawingml/2006/main">
            <a:r>
              <a:t>assert evaluate_expression("2+3*4") == 14</a:t>
            </a:r>
          </a:p>
          <a:p xmlns:a="http://schemas.openxmlformats.org/drawingml/2006/main">
            <a:r>
              <a:t>assert evaluate_expression("(-3)**2") == 9</a:t>
            </a:r>
          </a:p>
          <a:p xmlns:a="http://schemas.openxmlformats.org/drawingml/2006/main">
            <a:r>
              <a:t>assert math.isclose(evaluate_expression("0.1+0.2"), 0.3)</a:t>
            </a:r>
          </a:p>
          <a:p xmlns:a="http://schemas.openxmlformats.org/drawingml/2006/main">
            <a:r>
              <a:t>for bad in ["", "8/0", "1+", "sum([1,2])", "True", "2**1000"]:</a:t>
            </a:r>
          </a:p>
          <a:p xmlns:a="http://schemas.openxmlformats.org/drawingml/2006/main">
            <a:r>
              <a:t>    try:</a:t>
            </a:r>
          </a:p>
          <a:p xmlns:a="http://schemas.openxmlformats.org/drawingml/2006/main">
            <a:r>
              <a:t>        evaluate_expression(bad)</a:t>
            </a:r>
          </a:p>
          <a:p xmlns:a="http://schemas.openxmlformats.org/drawingml/2006/main">
            <a:r>
              <a:t>    except (ValueError, SyntaxError, ZeroDivisionError, OverflowError):</a:t>
            </a:r>
          </a:p>
          <a:p xmlns:a="http://schemas.openxmlformats.org/drawingml/2006/main">
            <a:r>
              <a:t>        pass</a:t>
            </a:r>
          </a:p>
          <a:p xmlns:a="http://schemas.openxmlformats.org/drawingml/2006/main">
            <a:r>
              <a:t>    else:</a:t>
            </a:r>
          </a:p>
          <a:p xmlns:a="http://schemas.openxmlformats.org/drawingml/2006/main">
            <a:r>
              <a:t>        raise AssertionError(f"應拒絕此輸入：{bad}")</a:t>
            </a:r>
          </a:p>
          <a:p xmlns:a="http://schemas.openxmlformats.org/drawingml/2006/main">
            <a:r>
              <a:t>from types import SimpleNamespace</a:t>
            </a:r>
          </a:p>
          <a:p xmlns:a="http://schemas.openxmlformats.org/drawingml/2006/main">
            <a:r>
              <a:t>def press(keys):</a:t>
            </a:r>
          </a:p>
          <a:p xmlns:a="http://schemas.openxmlformats.org/drawingml/2006/main">
            <a:r>
              <a:t>    for key in keys:</a:t>
            </a:r>
          </a:p>
          <a:p xmlns:a="http://schemas.openxmlformats.org/drawingml/2006/main">
            <a:r>
              <a:t>        on_button_click(SimpleNamespace(description=key))</a:t>
            </a:r>
          </a:p>
          <a:p xmlns:a="http://schemas.openxmlformats.org/drawingml/2006/main">
            <a:r>
              <a:t>press(["AC", "2", "+", "3", "x", "4", "="])</a:t>
            </a:r>
          </a:p>
          <a:p xmlns:a="http://schemas.openxmlformats.org/drawingml/2006/main">
            <a:r>
              <a:t>assert float(current_expression) == 14</a:t>
            </a:r>
          </a:p>
          <a:p xmlns:a="http://schemas.openxmlformats.org/drawingml/2006/main">
            <a:r>
              <a:t>press(["AC", "8", "/", "0", "="])</a:t>
            </a:r>
          </a:p>
          <a:p xmlns:a="http://schemas.openxmlformats.org/drawingml/2006/main">
            <a:r>
              <a:t>assert current_expression == "Error"</a:t>
            </a:r>
          </a:p>
          <a:p xmlns:a="http://schemas.openxmlformats.org/drawingml/2006/main">
            <a:r>
              <a:t>press(["7"])</a:t>
            </a:r>
          </a:p>
          <a:p xmlns:a="http://schemas.openxmlformats.org/drawingml/2006/main">
            <a:r>
              <a:t>assert current_expression == "7"</a:t>
            </a:r>
          </a:p>
          <a:p xmlns:a="http://schemas.openxmlformats.org/drawingml/2006/main">
            <a:r>
              <a:t>press(["AC"])</a:t>
            </a:r>
          </a:p>
          <a:p xmlns:a="http://schemas.openxmlformats.org/drawingml/2006/main">
            <a:r>
              <a:t>assert digit_count == 10 and button_count == 24</a:t>
            </a:r>
          </a:p>
          <a:p xmlns:a="http://schemas.openxmlformats.org/drawingml/2006/main">
            <a:r>
              <a:t>print("計算機核心、運算優先順序、錯誤處理與按鍵流程檢查通過。")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對應教材：第3–9章 綜合檢核</a:t>
            </a:r>
          </a:p>
          <a:p xmlns:a="http://schemas.openxmlformats.org/drawingml/2006/main">
            <a:r>
              <a:t>對應範例：Python_計算機.ipynb C10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來源：Python_計算機.ipynb，第23個儲存格。L行號相對於該儲存格，視覺折行不改變原碼。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assert calculate(7, "+", 3) == 10</a:t>
            </a:r>
          </a:p>
          <a:p xmlns:a="http://schemas.openxmlformats.org/drawingml/2006/main">
            <a:r>
              <a:t>assert calculate(7, "-", 3) == 4</a:t>
            </a:r>
          </a:p>
          <a:p xmlns:a="http://schemas.openxmlformats.org/drawingml/2006/main">
            <a:r>
              <a:t>assert calculate(7, "*", 3) == 21</a:t>
            </a:r>
          </a:p>
          <a:p xmlns:a="http://schemas.openxmlformats.org/drawingml/2006/main">
            <a:r>
              <a:t>assert calculate(7, "/", 2) == 3.5</a:t>
            </a:r>
          </a:p>
          <a:p xmlns:a="http://schemas.openxmlformats.org/drawingml/2006/main">
            <a:r>
              <a:t>assert calculate(-7, "//", 2) == -4</a:t>
            </a:r>
          </a:p>
          <a:p xmlns:a="http://schemas.openxmlformats.org/drawingml/2006/main">
            <a:r>
              <a:t>assert calculate(7, "%", 2) == 1</a:t>
            </a:r>
          </a:p>
          <a:p xmlns:a="http://schemas.openxmlformats.org/drawingml/2006/main">
            <a:r>
              <a:t>assert calculate(2, "**", 3) == 8</a:t>
            </a:r>
          </a:p>
          <a:p xmlns:a="http://schemas.openxmlformats.org/drawingml/2006/main">
            <a:r>
              <a:t>assert evaluate_expression("2+3*4") == 14</a:t>
            </a:r>
          </a:p>
          <a:p xmlns:a="http://schemas.openxmlformats.org/drawingml/2006/main">
            <a:r>
              <a:t>assert evaluate_expression("(-3)**2") == 9</a:t>
            </a:r>
          </a:p>
          <a:p xmlns:a="http://schemas.openxmlformats.org/drawingml/2006/main">
            <a:r>
              <a:t>assert math.isclose(evaluate_expression("0.1+0.2"), 0.3)</a:t>
            </a:r>
          </a:p>
          <a:p xmlns:a="http://schemas.openxmlformats.org/drawingml/2006/main">
            <a:r>
              <a:t>for bad in ["", "8/0", "1+", "sum([1,2])", "True", "2**1000"]:</a:t>
            </a:r>
          </a:p>
          <a:p xmlns:a="http://schemas.openxmlformats.org/drawingml/2006/main">
            <a:r>
              <a:t>    try:</a:t>
            </a:r>
          </a:p>
          <a:p xmlns:a="http://schemas.openxmlformats.org/drawingml/2006/main">
            <a:r>
              <a:t>        evaluate_expression(bad)</a:t>
            </a:r>
          </a:p>
          <a:p xmlns:a="http://schemas.openxmlformats.org/drawingml/2006/main">
            <a:r>
              <a:t>    except (ValueError, SyntaxError, ZeroDivisionError, OverflowError):</a:t>
            </a:r>
          </a:p>
          <a:p xmlns:a="http://schemas.openxmlformats.org/drawingml/2006/main">
            <a:r>
              <a:t>        pass</a:t>
            </a:r>
          </a:p>
          <a:p xmlns:a="http://schemas.openxmlformats.org/drawingml/2006/main">
            <a:r>
              <a:t>    else:</a:t>
            </a:r>
          </a:p>
          <a:p xmlns:a="http://schemas.openxmlformats.org/drawingml/2006/main">
            <a:r>
              <a:t>        raise AssertionError(f"應拒絕此輸入：{bad}")</a:t>
            </a:r>
          </a:p>
          <a:p xmlns:a="http://schemas.openxmlformats.org/drawingml/2006/main">
            <a:r>
              <a:t>from types import SimpleNamespace</a:t>
            </a:r>
          </a:p>
          <a:p xmlns:a="http://schemas.openxmlformats.org/drawingml/2006/main">
            <a:r>
              <a:t>def press(keys):</a:t>
            </a:r>
          </a:p>
          <a:p xmlns:a="http://schemas.openxmlformats.org/drawingml/2006/main">
            <a:r>
              <a:t>    for key in keys:</a:t>
            </a:r>
          </a:p>
          <a:p xmlns:a="http://schemas.openxmlformats.org/drawingml/2006/main">
            <a:r>
              <a:t>        on_button_click(SimpleNamespace(description=key))</a:t>
            </a:r>
          </a:p>
          <a:p xmlns:a="http://schemas.openxmlformats.org/drawingml/2006/main">
            <a:r>
              <a:t>press(["AC", "2", "+", "3", "x", "4", "="])</a:t>
            </a:r>
          </a:p>
          <a:p xmlns:a="http://schemas.openxmlformats.org/drawingml/2006/main">
            <a:r>
              <a:t>assert float(current_expression) == 14</a:t>
            </a:r>
          </a:p>
          <a:p xmlns:a="http://schemas.openxmlformats.org/drawingml/2006/main">
            <a:r>
              <a:t>press(["AC", "8", "/", "0", "="])</a:t>
            </a:r>
          </a:p>
          <a:p xmlns:a="http://schemas.openxmlformats.org/drawingml/2006/main">
            <a:r>
              <a:t>assert current_expression == "Error"</a:t>
            </a:r>
          </a:p>
          <a:p xmlns:a="http://schemas.openxmlformats.org/drawingml/2006/main">
            <a:r>
              <a:t>press(["7"])</a:t>
            </a:r>
          </a:p>
          <a:p xmlns:a="http://schemas.openxmlformats.org/drawingml/2006/main">
            <a:r>
              <a:t>assert current_expression == "7"</a:t>
            </a:r>
          </a:p>
          <a:p xmlns:a="http://schemas.openxmlformats.org/drawingml/2006/main">
            <a:r>
              <a:t>press(["AC"])</a:t>
            </a:r>
          </a:p>
          <a:p xmlns:a="http://schemas.openxmlformats.org/drawingml/2006/main">
            <a:r>
              <a:t>assert digit_count == 10 and button_count == 24</a:t>
            </a:r>
          </a:p>
          <a:p xmlns:a="http://schemas.openxmlformats.org/drawingml/2006/main">
            <a:r>
              <a:t>print("計算機核心、運算優先順序、錯誤處理與按鍵流程檢查通過。")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對應教材：第3–9章 綜合檢核</a:t>
            </a:r>
          </a:p>
          <a:p xmlns:a="http://schemas.openxmlformats.org/drawingml/2006/main">
            <a:r>
              <a:t>對應範例：Python_計算機.ipynb C10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來源：Python_計算機.ipynb，第23個儲存格。L行號相對於該儲存格，視覺折行不改變原碼。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assert calculate(7, "+", 3) == 10</a:t>
            </a:r>
          </a:p>
          <a:p xmlns:a="http://schemas.openxmlformats.org/drawingml/2006/main">
            <a:r>
              <a:t>assert calculate(7, "-", 3) == 4</a:t>
            </a:r>
          </a:p>
          <a:p xmlns:a="http://schemas.openxmlformats.org/drawingml/2006/main">
            <a:r>
              <a:t>assert calculate(7, "*", 3) == 21</a:t>
            </a:r>
          </a:p>
          <a:p xmlns:a="http://schemas.openxmlformats.org/drawingml/2006/main">
            <a:r>
              <a:t>assert calculate(7, "/", 2) == 3.5</a:t>
            </a:r>
          </a:p>
          <a:p xmlns:a="http://schemas.openxmlformats.org/drawingml/2006/main">
            <a:r>
              <a:t>assert calculate(-7, "//", 2) == -4</a:t>
            </a:r>
          </a:p>
          <a:p xmlns:a="http://schemas.openxmlformats.org/drawingml/2006/main">
            <a:r>
              <a:t>assert calculate(7, "%", 2) == 1</a:t>
            </a:r>
          </a:p>
          <a:p xmlns:a="http://schemas.openxmlformats.org/drawingml/2006/main">
            <a:r>
              <a:t>assert calculate(2, "**", 3) == 8</a:t>
            </a:r>
          </a:p>
          <a:p xmlns:a="http://schemas.openxmlformats.org/drawingml/2006/main">
            <a:r>
              <a:t>assert evaluate_expression("2+3*4") == 14</a:t>
            </a:r>
          </a:p>
          <a:p xmlns:a="http://schemas.openxmlformats.org/drawingml/2006/main">
            <a:r>
              <a:t>assert evaluate_expression("(-3)**2") == 9</a:t>
            </a:r>
          </a:p>
          <a:p xmlns:a="http://schemas.openxmlformats.org/drawingml/2006/main">
            <a:r>
              <a:t>assert math.isclose(evaluate_expression("0.1+0.2"), 0.3)</a:t>
            </a:r>
          </a:p>
          <a:p xmlns:a="http://schemas.openxmlformats.org/drawingml/2006/main">
            <a:r>
              <a:t>for bad in ["", "8/0", "1+", "sum([1,2])", "True", "2**1000"]:</a:t>
            </a:r>
          </a:p>
          <a:p xmlns:a="http://schemas.openxmlformats.org/drawingml/2006/main">
            <a:r>
              <a:t>    try:</a:t>
            </a:r>
          </a:p>
          <a:p xmlns:a="http://schemas.openxmlformats.org/drawingml/2006/main">
            <a:r>
              <a:t>        evaluate_expression(bad)</a:t>
            </a:r>
          </a:p>
          <a:p xmlns:a="http://schemas.openxmlformats.org/drawingml/2006/main">
            <a:r>
              <a:t>    except (ValueError, SyntaxError, ZeroDivisionError, OverflowError):</a:t>
            </a:r>
          </a:p>
          <a:p xmlns:a="http://schemas.openxmlformats.org/drawingml/2006/main">
            <a:r>
              <a:t>        pass</a:t>
            </a:r>
          </a:p>
          <a:p xmlns:a="http://schemas.openxmlformats.org/drawingml/2006/main">
            <a:r>
              <a:t>    else:</a:t>
            </a:r>
          </a:p>
          <a:p xmlns:a="http://schemas.openxmlformats.org/drawingml/2006/main">
            <a:r>
              <a:t>        raise AssertionError(f"應拒絕此輸入：{bad}")</a:t>
            </a:r>
          </a:p>
          <a:p xmlns:a="http://schemas.openxmlformats.org/drawingml/2006/main">
            <a:r>
              <a:t>from types import SimpleNamespace</a:t>
            </a:r>
          </a:p>
          <a:p xmlns:a="http://schemas.openxmlformats.org/drawingml/2006/main">
            <a:r>
              <a:t>def press(keys):</a:t>
            </a:r>
          </a:p>
          <a:p xmlns:a="http://schemas.openxmlformats.org/drawingml/2006/main">
            <a:r>
              <a:t>    for key in keys:</a:t>
            </a:r>
          </a:p>
          <a:p xmlns:a="http://schemas.openxmlformats.org/drawingml/2006/main">
            <a:r>
              <a:t>        on_button_click(SimpleNamespace(description=key))</a:t>
            </a:r>
          </a:p>
          <a:p xmlns:a="http://schemas.openxmlformats.org/drawingml/2006/main">
            <a:r>
              <a:t>press(["AC", "2", "+", "3", "x", "4", "="])</a:t>
            </a:r>
          </a:p>
          <a:p xmlns:a="http://schemas.openxmlformats.org/drawingml/2006/main">
            <a:r>
              <a:t>assert float(current_expression) == 14</a:t>
            </a:r>
          </a:p>
          <a:p xmlns:a="http://schemas.openxmlformats.org/drawingml/2006/main">
            <a:r>
              <a:t>press(["AC", "8", "/", "0", "="])</a:t>
            </a:r>
          </a:p>
          <a:p xmlns:a="http://schemas.openxmlformats.org/drawingml/2006/main">
            <a:r>
              <a:t>assert current_expression == "Error"</a:t>
            </a:r>
          </a:p>
          <a:p xmlns:a="http://schemas.openxmlformats.org/drawingml/2006/main">
            <a:r>
              <a:t>press(["7"])</a:t>
            </a:r>
          </a:p>
          <a:p xmlns:a="http://schemas.openxmlformats.org/drawingml/2006/main">
            <a:r>
              <a:t>assert current_expression == "7"</a:t>
            </a:r>
          </a:p>
          <a:p xmlns:a="http://schemas.openxmlformats.org/drawingml/2006/main">
            <a:r>
              <a:t>press(["AC"])</a:t>
            </a:r>
          </a:p>
          <a:p xmlns:a="http://schemas.openxmlformats.org/drawingml/2006/main">
            <a:r>
              <a:t>assert digit_count == 10 and button_count == 24</a:t>
            </a:r>
          </a:p>
          <a:p xmlns:a="http://schemas.openxmlformats.org/drawingml/2006/main">
            <a:r>
              <a:t>print("計算機核心、運算優先順序、錯誤處理與按鍵流程檢查通過。")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對應教材：第3–9章 綜合檢核</a:t>
            </a:r>
          </a:p>
          <a:p xmlns:a="http://schemas.openxmlformats.org/drawingml/2006/main">
            <a:r>
              <a:t>對應範例：Python_計算機.ipynb C10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來源：Python_計算機.ipynb，第23個儲存格。L行號相對於該儲存格，視覺折行不改變原碼。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assert calculate(7, "+", 3) == 10</a:t>
            </a:r>
          </a:p>
          <a:p xmlns:a="http://schemas.openxmlformats.org/drawingml/2006/main">
            <a:r>
              <a:t>assert calculate(7, "-", 3) == 4</a:t>
            </a:r>
          </a:p>
          <a:p xmlns:a="http://schemas.openxmlformats.org/drawingml/2006/main">
            <a:r>
              <a:t>assert calculate(7, "*", 3) == 21</a:t>
            </a:r>
          </a:p>
          <a:p xmlns:a="http://schemas.openxmlformats.org/drawingml/2006/main">
            <a:r>
              <a:t>assert calculate(7, "/", 2) == 3.5</a:t>
            </a:r>
          </a:p>
          <a:p xmlns:a="http://schemas.openxmlformats.org/drawingml/2006/main">
            <a:r>
              <a:t>assert calculate(-7, "//", 2) == -4</a:t>
            </a:r>
          </a:p>
          <a:p xmlns:a="http://schemas.openxmlformats.org/drawingml/2006/main">
            <a:r>
              <a:t>assert calculate(7, "%", 2) == 1</a:t>
            </a:r>
          </a:p>
          <a:p xmlns:a="http://schemas.openxmlformats.org/drawingml/2006/main">
            <a:r>
              <a:t>assert calculate(2, "**", 3) == 8</a:t>
            </a:r>
          </a:p>
          <a:p xmlns:a="http://schemas.openxmlformats.org/drawingml/2006/main">
            <a:r>
              <a:t>assert evaluate_expression("2+3*4") == 14</a:t>
            </a:r>
          </a:p>
          <a:p xmlns:a="http://schemas.openxmlformats.org/drawingml/2006/main">
            <a:r>
              <a:t>assert evaluate_expression("(-3)**2") == 9</a:t>
            </a:r>
          </a:p>
          <a:p xmlns:a="http://schemas.openxmlformats.org/drawingml/2006/main">
            <a:r>
              <a:t>assert math.isclose(evaluate_expression("0.1+0.2"), 0.3)</a:t>
            </a:r>
          </a:p>
          <a:p xmlns:a="http://schemas.openxmlformats.org/drawingml/2006/main">
            <a:r>
              <a:t>for bad in ["", "8/0", "1+", "sum([1,2])", "True", "2**1000"]:</a:t>
            </a:r>
          </a:p>
          <a:p xmlns:a="http://schemas.openxmlformats.org/drawingml/2006/main">
            <a:r>
              <a:t>    try:</a:t>
            </a:r>
          </a:p>
          <a:p xmlns:a="http://schemas.openxmlformats.org/drawingml/2006/main">
            <a:r>
              <a:t>        evaluate_expression(bad)</a:t>
            </a:r>
          </a:p>
          <a:p xmlns:a="http://schemas.openxmlformats.org/drawingml/2006/main">
            <a:r>
              <a:t>    except (ValueError, SyntaxError, ZeroDivisionError, OverflowError):</a:t>
            </a:r>
          </a:p>
          <a:p xmlns:a="http://schemas.openxmlformats.org/drawingml/2006/main">
            <a:r>
              <a:t>        pass</a:t>
            </a:r>
          </a:p>
          <a:p xmlns:a="http://schemas.openxmlformats.org/drawingml/2006/main">
            <a:r>
              <a:t>    else:</a:t>
            </a:r>
          </a:p>
          <a:p xmlns:a="http://schemas.openxmlformats.org/drawingml/2006/main">
            <a:r>
              <a:t>        raise AssertionError(f"應拒絕此輸入：{bad}")</a:t>
            </a:r>
          </a:p>
          <a:p xmlns:a="http://schemas.openxmlformats.org/drawingml/2006/main">
            <a:r>
              <a:t>from types import SimpleNamespace</a:t>
            </a:r>
          </a:p>
          <a:p xmlns:a="http://schemas.openxmlformats.org/drawingml/2006/main">
            <a:r>
              <a:t>def press(keys):</a:t>
            </a:r>
          </a:p>
          <a:p xmlns:a="http://schemas.openxmlformats.org/drawingml/2006/main">
            <a:r>
              <a:t>    for key in keys:</a:t>
            </a:r>
          </a:p>
          <a:p xmlns:a="http://schemas.openxmlformats.org/drawingml/2006/main">
            <a:r>
              <a:t>        on_button_click(SimpleNamespace(description=key))</a:t>
            </a:r>
          </a:p>
          <a:p xmlns:a="http://schemas.openxmlformats.org/drawingml/2006/main">
            <a:r>
              <a:t>press(["AC", "2", "+", "3", "x", "4", "="])</a:t>
            </a:r>
          </a:p>
          <a:p xmlns:a="http://schemas.openxmlformats.org/drawingml/2006/main">
            <a:r>
              <a:t>assert float(current_expression) == 14</a:t>
            </a:r>
          </a:p>
          <a:p xmlns:a="http://schemas.openxmlformats.org/drawingml/2006/main">
            <a:r>
              <a:t>press(["AC", "8", "/", "0", "="])</a:t>
            </a:r>
          </a:p>
          <a:p xmlns:a="http://schemas.openxmlformats.org/drawingml/2006/main">
            <a:r>
              <a:t>assert current_expression == "Error"</a:t>
            </a:r>
          </a:p>
          <a:p xmlns:a="http://schemas.openxmlformats.org/drawingml/2006/main">
            <a:r>
              <a:t>press(["7"])</a:t>
            </a:r>
          </a:p>
          <a:p xmlns:a="http://schemas.openxmlformats.org/drawingml/2006/main">
            <a:r>
              <a:t>assert current_expression == "7"</a:t>
            </a:r>
          </a:p>
          <a:p xmlns:a="http://schemas.openxmlformats.org/drawingml/2006/main">
            <a:r>
              <a:t>press(["AC"])</a:t>
            </a:r>
          </a:p>
          <a:p xmlns:a="http://schemas.openxmlformats.org/drawingml/2006/main">
            <a:r>
              <a:t>assert digit_count == 10 and button_count == 24</a:t>
            </a:r>
          </a:p>
          <a:p xmlns:a="http://schemas.openxmlformats.org/drawingml/2006/main">
            <a:r>
              <a:t>print("計算機核心、運算優先順序、錯誤處理與按鍵流程檢查通過。")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對應教材：第3–9章 綜合檢核</a:t>
            </a:r>
          </a:p>
          <a:p xmlns:a="http://schemas.openxmlformats.org/drawingml/2006/main">
            <a:r>
              <a:t>對應範例：Python_計算機.ipynb C10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以下是對應Notebook已執行的實際輸出。</a:t>
            </a:r>
          </a:p>
          <a:p xmlns:a="http://schemas.openxmlformats.org/drawingml/2006/main">
            <a:r>
              <a:t>計算機核心、運算優先順序、錯誤處理與按鍵流程檢查通過。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對應教材：第3–9章 綜合檢核</a:t>
            </a:r>
          </a:p>
          <a:p xmlns:a="http://schemas.openxmlformats.org/drawingml/2006/main">
            <a:r>
              <a:t>對應範例：Python_計算機.ipynb C10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C11 本機Tkinter選讀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此完整桌面版採「兩個數值加運算子」介面，讓初學者專注C3核心函式。將C1的`import math`、C3的`calculate`函式及下列程式一起存為.py，在支援Tkinter的本機Python執行。Colab不適用；程式區塊以文字呈現，不會隨全部執行啟動視窗。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```python</a:t>
            </a:r>
          </a:p>
          <a:p xmlns:a="http://schemas.openxmlformats.org/drawingml/2006/main">
            <a:r>
              <a:t>import tkinter as tk</a:t>
            </a:r>
          </a:p>
          <a:p xmlns:a="http://schemas.openxmlformats.org/drawingml/2006/main">
            <a:r>
              <a:t>from tkinter import ttk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= tk.Tk()</a:t>
            </a:r>
          </a:p>
          <a:p xmlns:a="http://schemas.openxmlformats.org/drawingml/2006/main">
            <a:r>
              <a:t>root.title("兩數計算機")</a:t>
            </a:r>
          </a:p>
          <a:p xmlns:a="http://schemas.openxmlformats.org/drawingml/2006/main">
            <a:r>
              <a:t>left = ttk.Entry(root)</a:t>
            </a:r>
          </a:p>
          <a:p xmlns:a="http://schemas.openxmlformats.org/drawingml/2006/main">
            <a:r>
              <a:t>left.grid(row=0, column=0, padx=8, pady=8)</a:t>
            </a:r>
          </a:p>
          <a:p xmlns:a="http://schemas.openxmlformats.org/drawingml/2006/main">
            <a:r>
              <a:t>operator = ttk.Combobox(root, values=["+", "-", "*", "/", "//", "%", "**"], state="readonly", width=5)</a:t>
            </a:r>
          </a:p>
          <a:p xmlns:a="http://schemas.openxmlformats.org/drawingml/2006/main">
            <a:r>
              <a:t>operator.set("+")</a:t>
            </a:r>
          </a:p>
          <a:p xmlns:a="http://schemas.openxmlformats.org/drawingml/2006/main">
            <a:r>
              <a:t>operator.grid(row=0, column=1)</a:t>
            </a:r>
          </a:p>
          <a:p xmlns:a="http://schemas.openxmlformats.org/drawingml/2006/main">
            <a:r>
              <a:t>right = ttk.Entry(root)</a:t>
            </a:r>
          </a:p>
          <a:p xmlns:a="http://schemas.openxmlformats.org/drawingml/2006/main">
            <a:r>
              <a:t>right.grid(row=0, column=2, padx=8, pady=8)</a:t>
            </a:r>
          </a:p>
          <a:p xmlns:a="http://schemas.openxmlformats.org/drawingml/2006/main">
            <a:r>
              <a:t>answer = tk.StringVar(value="請輸入兩個數值")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compute():</a:t>
            </a:r>
          </a:p>
          <a:p xmlns:a="http://schemas.openxmlformats.org/drawingml/2006/main">
            <a:r>
              <a:t>    try:</a:t>
            </a:r>
          </a:p>
          <a:p xmlns:a="http://schemas.openxmlformats.org/drawingml/2006/main">
            <a:r>
              <a:t>        value = calculate(float(left.get()), operator.get(), float(right.get()))</a:t>
            </a:r>
          </a:p>
          <a:p xmlns:a="http://schemas.openxmlformats.org/drawingml/2006/main">
            <a:r>
              <a:t>        answer.set(str(value))</a:t>
            </a:r>
          </a:p>
          <a:p xmlns:a="http://schemas.openxmlformats.org/drawingml/2006/main">
            <a:r>
              <a:t>    except (ValueError, ZeroDivisionError, OverflowError) as error:</a:t>
            </a:r>
          </a:p>
          <a:p xmlns:a="http://schemas.openxmlformats.org/drawingml/2006/main">
            <a:r>
              <a:t>        answer.set(str(error))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ttk.Button(root, text="計算", command=compute).grid(row=1, column=0, columnspan=3)</a:t>
            </a:r>
          </a:p>
          <a:p xmlns:a="http://schemas.openxmlformats.org/drawingml/2006/main">
            <a:r>
              <a:t>ttk.Label(root, textvariable=answer).grid(row=2, column=0, columnspan=3, pady=8)</a:t>
            </a:r>
          </a:p>
          <a:p xmlns:a="http://schemas.openxmlformats.org/drawingml/2006/main">
            <a:r>
              <a:t>root.mainloop()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`mainloop()`由視窗系統處理事件；`command=compute`登記函式而不是當場呼叫。這與Notebook的`on_click`概念相同。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對應教材：第9章 模組與套件／GUI延伸</a:t>
            </a:r>
          </a:p>
          <a:p xmlns:a="http://schemas.openxmlformats.org/drawingml/2006/main">
            <a:r>
              <a:t>對應範例：Python_計算機.ipynb C11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來源：Python_計算機.ipynb，第24個儲存格。L行號相對於該儲存格，視覺折行不改變原碼。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import tkinter as tk</a:t>
            </a:r>
          </a:p>
          <a:p xmlns:a="http://schemas.openxmlformats.org/drawingml/2006/main">
            <a:r>
              <a:t>from tkinter import ttk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= tk.Tk()</a:t>
            </a:r>
          </a:p>
          <a:p xmlns:a="http://schemas.openxmlformats.org/drawingml/2006/main">
            <a:r>
              <a:t>root.title("兩數計算機")</a:t>
            </a:r>
          </a:p>
          <a:p xmlns:a="http://schemas.openxmlformats.org/drawingml/2006/main">
            <a:r>
              <a:t>left = ttk.Entry(root)</a:t>
            </a:r>
          </a:p>
          <a:p xmlns:a="http://schemas.openxmlformats.org/drawingml/2006/main">
            <a:r>
              <a:t>left.grid(row=0, column=0, padx=8, pady=8)</a:t>
            </a:r>
          </a:p>
          <a:p xmlns:a="http://schemas.openxmlformats.org/drawingml/2006/main">
            <a:r>
              <a:t>operator = ttk.Combobox(root, values=["+", "-", "*", "/", "//", "%", "**"], state="readonly", width=5)</a:t>
            </a:r>
          </a:p>
          <a:p xmlns:a="http://schemas.openxmlformats.org/drawingml/2006/main">
            <a:r>
              <a:t>operator.set("+")</a:t>
            </a:r>
          </a:p>
          <a:p xmlns:a="http://schemas.openxmlformats.org/drawingml/2006/main">
            <a:r>
              <a:t>operator.grid(row=0, column=1)</a:t>
            </a:r>
          </a:p>
          <a:p xmlns:a="http://schemas.openxmlformats.org/drawingml/2006/main">
            <a:r>
              <a:t>right = ttk.Entry(root)</a:t>
            </a:r>
          </a:p>
          <a:p xmlns:a="http://schemas.openxmlformats.org/drawingml/2006/main">
            <a:r>
              <a:t>right.grid(row=0, column=2, padx=8, pady=8)</a:t>
            </a:r>
          </a:p>
          <a:p xmlns:a="http://schemas.openxmlformats.org/drawingml/2006/main">
            <a:r>
              <a:t>answer = tk.StringVar(value="請輸入兩個數值")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compute():</a:t>
            </a:r>
          </a:p>
          <a:p xmlns:a="http://schemas.openxmlformats.org/drawingml/2006/main">
            <a:r>
              <a:t>    try:</a:t>
            </a:r>
          </a:p>
          <a:p xmlns:a="http://schemas.openxmlformats.org/drawingml/2006/main">
            <a:r>
              <a:t>        value = calculate(float(left.get()), operator.get(), float(right.get()))</a:t>
            </a:r>
          </a:p>
          <a:p xmlns:a="http://schemas.openxmlformats.org/drawingml/2006/main">
            <a:r>
              <a:t>        answer.set(str(value))</a:t>
            </a:r>
          </a:p>
          <a:p xmlns:a="http://schemas.openxmlformats.org/drawingml/2006/main">
            <a:r>
              <a:t>    except (ValueError, ZeroDivisionError, OverflowError) as error:</a:t>
            </a:r>
          </a:p>
          <a:p xmlns:a="http://schemas.openxmlformats.org/drawingml/2006/main">
            <a:r>
              <a:t>        answer.set(str(error))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ttk.Button(root, text="計算", command=compute).grid(row=1, column=0, columnspan=3)</a:t>
            </a:r>
          </a:p>
          <a:p xmlns:a="http://schemas.openxmlformats.org/drawingml/2006/main">
            <a:r>
              <a:t>ttk.Label(root, textvariable=answer).grid(row=2, column=0, columnspan=3, pady=8)</a:t>
            </a:r>
          </a:p>
          <a:p xmlns:a="http://schemas.openxmlformats.org/drawingml/2006/main">
            <a:r>
              <a:t>root.mainloop()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對應教材：第9章 模組與套件／GUI延伸</a:t>
            </a:r>
          </a:p>
          <a:p xmlns:a="http://schemas.openxmlformats.org/drawingml/2006/main">
            <a:r>
              <a:t>對應範例：Python_計算機.ipynb C11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來源：Python_計算機.ipynb，第24個儲存格。L行號相對於該儲存格，視覺折行不改變原碼。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import tkinter as tk</a:t>
            </a:r>
          </a:p>
          <a:p xmlns:a="http://schemas.openxmlformats.org/drawingml/2006/main">
            <a:r>
              <a:t>from tkinter import ttk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= tk.Tk()</a:t>
            </a:r>
          </a:p>
          <a:p xmlns:a="http://schemas.openxmlformats.org/drawingml/2006/main">
            <a:r>
              <a:t>root.title("兩數計算機")</a:t>
            </a:r>
          </a:p>
          <a:p xmlns:a="http://schemas.openxmlformats.org/drawingml/2006/main">
            <a:r>
              <a:t>left = ttk.Entry(root)</a:t>
            </a:r>
          </a:p>
          <a:p xmlns:a="http://schemas.openxmlformats.org/drawingml/2006/main">
            <a:r>
              <a:t>left.grid(row=0, column=0, padx=8, pady=8)</a:t>
            </a:r>
          </a:p>
          <a:p xmlns:a="http://schemas.openxmlformats.org/drawingml/2006/main">
            <a:r>
              <a:t>operator = ttk.Combobox(root, values=["+", "-", "*", "/", "//", "%", "**"], state="readonly", width=5)</a:t>
            </a:r>
          </a:p>
          <a:p xmlns:a="http://schemas.openxmlformats.org/drawingml/2006/main">
            <a:r>
              <a:t>operator.set("+")</a:t>
            </a:r>
          </a:p>
          <a:p xmlns:a="http://schemas.openxmlformats.org/drawingml/2006/main">
            <a:r>
              <a:t>operator.grid(row=0, column=1)</a:t>
            </a:r>
          </a:p>
          <a:p xmlns:a="http://schemas.openxmlformats.org/drawingml/2006/main">
            <a:r>
              <a:t>right = ttk.Entry(root)</a:t>
            </a:r>
          </a:p>
          <a:p xmlns:a="http://schemas.openxmlformats.org/drawingml/2006/main">
            <a:r>
              <a:t>right.grid(row=0, column=2, padx=8, pady=8)</a:t>
            </a:r>
          </a:p>
          <a:p xmlns:a="http://schemas.openxmlformats.org/drawingml/2006/main">
            <a:r>
              <a:t>answer = tk.StringVar(value="請輸入兩個數值")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compute():</a:t>
            </a:r>
          </a:p>
          <a:p xmlns:a="http://schemas.openxmlformats.org/drawingml/2006/main">
            <a:r>
              <a:t>    try:</a:t>
            </a:r>
          </a:p>
          <a:p xmlns:a="http://schemas.openxmlformats.org/drawingml/2006/main">
            <a:r>
              <a:t>        value = calculate(float(left.get()), operator.get(), float(right.get()))</a:t>
            </a:r>
          </a:p>
          <a:p xmlns:a="http://schemas.openxmlformats.org/drawingml/2006/main">
            <a:r>
              <a:t>        answer.set(str(value))</a:t>
            </a:r>
          </a:p>
          <a:p xmlns:a="http://schemas.openxmlformats.org/drawingml/2006/main">
            <a:r>
              <a:t>    except (ValueError, ZeroDivisionError, OverflowError) as error:</a:t>
            </a:r>
          </a:p>
          <a:p xmlns:a="http://schemas.openxmlformats.org/drawingml/2006/main">
            <a:r>
              <a:t>        answer.set(str(error))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ttk.Button(root, text="計算", command=compute).grid(row=1, column=0, columnspan=3)</a:t>
            </a:r>
          </a:p>
          <a:p xmlns:a="http://schemas.openxmlformats.org/drawingml/2006/main">
            <a:r>
              <a:t>ttk.Label(root, textvariable=answer).grid(row=2, column=0, columnspan=3, pady=8)</a:t>
            </a:r>
          </a:p>
          <a:p xmlns:a="http://schemas.openxmlformats.org/drawingml/2006/main">
            <a:r>
              <a:t>root.mainloop()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對應教材：第9章 模組與套件／GUI延伸</a:t>
            </a:r>
          </a:p>
          <a:p xmlns:a="http://schemas.openxmlformats.org/drawingml/2006/main">
            <a:r>
              <a:t>對應範例：Python_計算機.ipynb C11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來源：Python_計算機.ipynb，第24個儲存格。L行號相對於該儲存格，視覺折行不改變原碼。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import tkinter as tk</a:t>
            </a:r>
          </a:p>
          <a:p xmlns:a="http://schemas.openxmlformats.org/drawingml/2006/main">
            <a:r>
              <a:t>from tkinter import ttk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= tk.Tk()</a:t>
            </a:r>
          </a:p>
          <a:p xmlns:a="http://schemas.openxmlformats.org/drawingml/2006/main">
            <a:r>
              <a:t>root.title("兩數計算機")</a:t>
            </a:r>
          </a:p>
          <a:p xmlns:a="http://schemas.openxmlformats.org/drawingml/2006/main">
            <a:r>
              <a:t>left = ttk.Entry(root)</a:t>
            </a:r>
          </a:p>
          <a:p xmlns:a="http://schemas.openxmlformats.org/drawingml/2006/main">
            <a:r>
              <a:t>left.grid(row=0, column=0, padx=8, pady=8)</a:t>
            </a:r>
          </a:p>
          <a:p xmlns:a="http://schemas.openxmlformats.org/drawingml/2006/main">
            <a:r>
              <a:t>operator = ttk.Combobox(root, values=["+", "-", "*", "/", "//", "%", "**"], state="readonly", width=5)</a:t>
            </a:r>
          </a:p>
          <a:p xmlns:a="http://schemas.openxmlformats.org/drawingml/2006/main">
            <a:r>
              <a:t>operator.set("+")</a:t>
            </a:r>
          </a:p>
          <a:p xmlns:a="http://schemas.openxmlformats.org/drawingml/2006/main">
            <a:r>
              <a:t>operator.grid(row=0, column=1)</a:t>
            </a:r>
          </a:p>
          <a:p xmlns:a="http://schemas.openxmlformats.org/drawingml/2006/main">
            <a:r>
              <a:t>right = ttk.Entry(root)</a:t>
            </a:r>
          </a:p>
          <a:p xmlns:a="http://schemas.openxmlformats.org/drawingml/2006/main">
            <a:r>
              <a:t>right.grid(row=0, column=2, padx=8, pady=8)</a:t>
            </a:r>
          </a:p>
          <a:p xmlns:a="http://schemas.openxmlformats.org/drawingml/2006/main">
            <a:r>
              <a:t>answer = tk.StringVar(value="請輸入兩個數值")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compute():</a:t>
            </a:r>
          </a:p>
          <a:p xmlns:a="http://schemas.openxmlformats.org/drawingml/2006/main">
            <a:r>
              <a:t>    try:</a:t>
            </a:r>
          </a:p>
          <a:p xmlns:a="http://schemas.openxmlformats.org/drawingml/2006/main">
            <a:r>
              <a:t>        value = calculate(float(left.get()), operator.get(), float(right.get()))</a:t>
            </a:r>
          </a:p>
          <a:p xmlns:a="http://schemas.openxmlformats.org/drawingml/2006/main">
            <a:r>
              <a:t>        answer.set(str(value))</a:t>
            </a:r>
          </a:p>
          <a:p xmlns:a="http://schemas.openxmlformats.org/drawingml/2006/main">
            <a:r>
              <a:t>    except (ValueError, ZeroDivisionError, OverflowError) as error:</a:t>
            </a:r>
          </a:p>
          <a:p xmlns:a="http://schemas.openxmlformats.org/drawingml/2006/main">
            <a:r>
              <a:t>        answer.set(str(error))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ttk.Button(root, text="計算", command=compute).grid(row=1, column=0, columnspan=3)</a:t>
            </a:r>
          </a:p>
          <a:p xmlns:a="http://schemas.openxmlformats.org/drawingml/2006/main">
            <a:r>
              <a:t>ttk.Label(root, textvariable=answer).grid(row=2, column=0, columnspan=3, pady=8)</a:t>
            </a:r>
          </a:p>
          <a:p xmlns:a="http://schemas.openxmlformats.org/drawingml/2006/main">
            <a:r>
              <a:t>root.mainloop()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對應教材：第9章 模組與套件／GUI延伸</a:t>
            </a:r>
          </a:p>
          <a:p xmlns:a="http://schemas.openxmlformats.org/drawingml/2006/main">
            <a:r>
              <a:t>對應範例：Python_計算機.ipynb C11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['C0', '作品拆解與使用方式', 3, '第2章 程式結構與輸出／第3章 變數']</a:t>
            </a:r>
          </a:p>
          <a:p xmlns:a="http://schemas.openxmlformats.org/drawingml/2006/main">
            <a:r>
              <a:t>['C1', '運算式與運算子', 6, '第3章 運算式與運算子']</a:t>
            </a:r>
          </a:p>
          <a:p xmlns:a="http://schemas.openxmlformats.org/drawingml/2006/main">
            <a:r>
              <a:t>['C2', '判斷式與按鍵流程', 17, '第4章 條件判斷']</a:t>
            </a:r>
          </a:p>
          <a:p xmlns:a="http://schemas.openxmlformats.org/drawingml/2006/main">
            <a:r>
              <a:t>['C3', '函式把運算規則集中管理', 23, '第6章 函數']</a:t>
            </a:r>
          </a:p>
          <a:p xmlns:a="http://schemas.openxmlformats.org/drawingml/2006/main">
            <a:r>
              <a:t>['C4', '一維串列與二維按鈕陣列', 30, '第7章 字串與容器型態']</a:t>
            </a:r>
          </a:p>
          <a:p xmlns:a="http://schemas.openxmlformats.org/drawingml/2006/main">
            <a:r>
              <a:t>['C5', 'for與巢狀迴圈', 34, '第5章 重複執行程式碼']</a:t>
            </a:r>
          </a:p>
          <a:p xmlns:a="http://schemas.openxmlformats.org/drawingml/2006/main">
            <a:r>
              <a:t>['C6', 'while、停止條件與互動輸入', 41, '第5章 重複執行程式碼']</a:t>
            </a:r>
          </a:p>
          <a:p xmlns:a="http://schemas.openxmlformats.org/drawingml/2006/main">
            <a:r>
              <a:t>['C7', '完整算式與原eval的對照', 49, '第9章 模組與套件／應用延伸']</a:t>
            </a:r>
          </a:p>
          <a:p xmlns:a="http://schemas.openxmlformats.org/drawingml/2006/main">
            <a:r>
              <a:t>['C8', '整合網頁按鈕與事件回呼', 57, '第6章 函數／第7章 容器／應用整合']</a:t>
            </a:r>
          </a:p>
          <a:p xmlns:a="http://schemas.openxmlformats.org/drawingml/2006/main">
            <a:r>
              <a:t>['C9', '隨堂練習與參考解答', 64, '第3–7章 綜合練習']</a:t>
            </a:r>
          </a:p>
          <a:p xmlns:a="http://schemas.openxmlformats.org/drawingml/2006/main">
            <a:r>
              <a:t>['C10', '自我檢查與原程式對照', 70, '第3–9章 綜合檢核']</a:t>
            </a:r>
          </a:p>
          <a:p xmlns:a="http://schemas.openxmlformats.org/drawingml/2006/main">
            <a:r>
              <a:t>['C11', '本機Tkinter選讀', 77, '第9章 模組與套件／GUI延伸']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對應教材：教學導航</a:t>
            </a:r>
          </a:p>
          <a:p xmlns:a="http://schemas.openxmlformats.org/drawingml/2006/main">
            <a:r>
              <a:t>對應範例：Python_計算機.ipynb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C6  while、停止條件與互動輸入  → 第41頁</a:t>
            </a:r>
          </a:p>
          <a:p xmlns:a="http://schemas.openxmlformats.org/drawingml/2006/main">
            <a:r>
              <a:t>C7  完整算式與原eval的對照  → 第49頁</a:t>
            </a:r>
          </a:p>
          <a:p xmlns:a="http://schemas.openxmlformats.org/drawingml/2006/main">
            <a:r>
              <a:t>C8  整合網頁按鈕與事件回呼  → 第57頁</a:t>
            </a:r>
          </a:p>
          <a:p xmlns:a="http://schemas.openxmlformats.org/drawingml/2006/main">
            <a:r>
              <a:t>C9  隨堂練習與參考解答  → 第64頁</a:t>
            </a:r>
          </a:p>
          <a:p xmlns:a="http://schemas.openxmlformats.org/drawingml/2006/main">
            <a:r>
              <a:t>C10  自我檢查與原程式對照  → 第70頁</a:t>
            </a:r>
          </a:p>
          <a:p xmlns:a="http://schemas.openxmlformats.org/drawingml/2006/main">
            <a:r>
              <a:t>C11  本機Tkinter選讀  → 第77頁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對應教材：教學導航</a:t>
            </a:r>
          </a:p>
          <a:p xmlns:a="http://schemas.openxmlformats.org/drawingml/2006/main">
            <a:r>
              <a:t>對應範例：Python_計算機.ipynb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Py01_基本認識(1).pptx</a:t>
            </a:r>
          </a:p>
          <a:p xmlns:a="http://schemas.openxmlformats.org/drawingml/2006/main">
            <a:r>
              <a:t>Py01_基本認識(2).pptx</a:t>
            </a:r>
          </a:p>
          <a:p xmlns:a="http://schemas.openxmlformats.org/drawingml/2006/main">
            <a:r>
              <a:t>Py01_基本認識(3).pptx</a:t>
            </a:r>
          </a:p>
          <a:p xmlns:a="http://schemas.openxmlformats.org/drawingml/2006/main">
            <a:r>
              <a:t>Py02_選擇敘述與迴圈(1).pptx</a:t>
            </a:r>
          </a:p>
          <a:p xmlns:a="http://schemas.openxmlformats.org/drawingml/2006/main">
            <a:r>
              <a:t>Py02_選擇敘述與迴圈(2).pptx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對應教材：出處說明</a:t>
            </a:r>
          </a:p>
          <a:p xmlns:a="http://schemas.openxmlformats.org/drawingml/2006/main">
            <a:r>
              <a:t>對應範例：Python_計算機.ipynb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3a9d4687494a5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b65f9f7fdb438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09150fd51f4f1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e009c56a27449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f7ff2583e6496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e9357c7ab348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F1DB9C-5BC8-4AC8-953E-84FEF1D753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0735195-1529-4233-8800-69337AC4A06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8982B49-33BF-45AD-85F8-F0C868923D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CFF004-BD1F-47D8-B396-8E4B7FCD2D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4619531-FA48-4648-96D1-B7CCC0D99E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1156EA4-A9BC-4252-83AD-02F6C51493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3CF531-35FD-4136-8728-2415FE4AB9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35506AE-9F22-4BAD-AE39-F5F4E376115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9C8624-AF42-4447-8240-FACB9DA0CE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76D9DA-005E-4936-9599-01435A64CC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3e13e80c214d2c" /><Relationship Type="http://schemas.openxmlformats.org/officeDocument/2006/relationships/slideLayout" Target="/ppt/slideLayouts/slideLayout1.xml" Id="R96975f28211e4530" /><Relationship Type="http://schemas.openxmlformats.org/officeDocument/2006/relationships/slideLayout" Target="/ppt/slideLayouts/slideLayout2.xml" Id="R6d16ed5150964998" /><Relationship Type="http://schemas.openxmlformats.org/officeDocument/2006/relationships/slideLayout" Target="/ppt/slideLayouts/slideLayout3.xml" Id="Rb421c80dbb1d41b5" /><Relationship Type="http://schemas.openxmlformats.org/officeDocument/2006/relationships/slideLayout" Target="/ppt/slideLayouts/slideLayout4.xml" Id="R01a137a1b0644f51" /><Relationship Type="http://schemas.openxmlformats.org/officeDocument/2006/relationships/slideLayout" Target="/ppt/slideLayouts/slideLayout5.xml" Id="R955ead4f65c54e54" /><Relationship Type="http://schemas.openxmlformats.org/officeDocument/2006/relationships/slideLayout" Target="/ppt/slideLayouts/slideLayout6.xml" Id="Rbea121ff090141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975f28211e4530"/>
    <p:sldLayoutId xmlns:r="http://schemas.openxmlformats.org/officeDocument/2006/relationships" id="2147483650" r:id="R6d16ed5150964998"/>
    <p:sldLayoutId xmlns:r="http://schemas.openxmlformats.org/officeDocument/2006/relationships" id="2147483651" r:id="Rb421c80dbb1d41b5"/>
    <p:sldLayoutId xmlns:r="http://schemas.openxmlformats.org/officeDocument/2006/relationships" id="2147483652" r:id="R01a137a1b0644f51"/>
    <p:sldLayoutId xmlns:r="http://schemas.openxmlformats.org/officeDocument/2006/relationships" id="2147483653" r:id="R955ead4f65c54e54"/>
    <p:sldLayoutId xmlns:r="http://schemas.openxmlformats.org/officeDocument/2006/relationships" id="2147483654" r:id="Rbea121ff090141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4bf45581ef42df" /><Relationship Type="http://schemas.openxmlformats.org/officeDocument/2006/relationships/notesSlide" Target="/ppt/notesSlides/notesSlide1.xml" Id="Rc7ad9a9c5bc94f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8ea06eff4840d1" /><Relationship Type="http://schemas.openxmlformats.org/officeDocument/2006/relationships/notesSlide" Target="/ppt/notesSlides/notesSlide2.xml" Id="R95e4ed876bd740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7b761cabc24d32" /><Relationship Type="http://schemas.openxmlformats.org/officeDocument/2006/relationships/notesSlide" Target="/ppt/notesSlides/notesSlide3.xml" Id="Rafdabee66f5e42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e7a2b2eb9e4295" /><Relationship Type="http://schemas.openxmlformats.org/officeDocument/2006/relationships/image" Target="/ppt/media/image.png" Id="R36be41e86ad84f47" /><Relationship Type="http://schemas.openxmlformats.org/officeDocument/2006/relationships/notesSlide" Target="/ppt/notesSlides/notesSlide4.xml" Id="Ree8f4aa54fc441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e40fabbc964a89" /><Relationship Type="http://schemas.openxmlformats.org/officeDocument/2006/relationships/image" Target="/ppt/media/image2.png" Id="R289b4291b95a41ad" /><Relationship Type="http://schemas.openxmlformats.org/officeDocument/2006/relationships/notesSlide" Target="/ppt/notesSlides/notesSlide5.xml" Id="Rb612423b9a7e4c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8d2176980841b5" /><Relationship Type="http://schemas.openxmlformats.org/officeDocument/2006/relationships/notesSlide" Target="/ppt/notesSlides/notesSlide6.xml" Id="R9833fc14a29742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08cb3eb8d84418" /><Relationship Type="http://schemas.openxmlformats.org/officeDocument/2006/relationships/notesSlide" Target="/ppt/notesSlides/notesSlide7.xml" Id="R8bf906f1111a42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863d9940a545ed" /><Relationship Type="http://schemas.openxmlformats.org/officeDocument/2006/relationships/image" Target="/ppt/media/image3.png" Id="Rf04687863bdb4135" /><Relationship Type="http://schemas.openxmlformats.org/officeDocument/2006/relationships/notesSlide" Target="/ppt/notesSlides/notesSlide8.xml" Id="Rf914951af00e4b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5b126bc6f74971" /><Relationship Type="http://schemas.openxmlformats.org/officeDocument/2006/relationships/image" Target="/ppt/media/image4.png" Id="Rd99e6352f9174f5c" /><Relationship Type="http://schemas.openxmlformats.org/officeDocument/2006/relationships/notesSlide" Target="/ppt/notesSlides/notesSlide9.xml" Id="R7da5bd079f6b44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4e2960e9394fd3" /><Relationship Type="http://schemas.openxmlformats.org/officeDocument/2006/relationships/image" Target="/ppt/media/image5.png" Id="R26a09c2215ad4754" /><Relationship Type="http://schemas.openxmlformats.org/officeDocument/2006/relationships/notesSlide" Target="/ppt/notesSlides/notesSlide10.xml" Id="Rb4ecbc8a19b9490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a09ab626194336" /><Relationship Type="http://schemas.openxmlformats.org/officeDocument/2006/relationships/image" Target="/ppt/media/image6.png" Id="R26a54055bcf040bf" /><Relationship Type="http://schemas.openxmlformats.org/officeDocument/2006/relationships/notesSlide" Target="/ppt/notesSlides/notesSlide11.xml" Id="R197d024ee42d45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584dccef6d4006" /><Relationship Type="http://schemas.openxmlformats.org/officeDocument/2006/relationships/image" Target="/ppt/media/image7.png" Id="R71276576705f4754" /><Relationship Type="http://schemas.openxmlformats.org/officeDocument/2006/relationships/notesSlide" Target="/ppt/notesSlides/notesSlide12.xml" Id="R85640e032bad45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e62a4e6b6a43e1" /><Relationship Type="http://schemas.openxmlformats.org/officeDocument/2006/relationships/image" Target="/ppt/media/image8.png" Id="Rf4d1a76800d7464f" /><Relationship Type="http://schemas.openxmlformats.org/officeDocument/2006/relationships/notesSlide" Target="/ppt/notesSlides/notesSlide13.xml" Id="R41debd9ee23c447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9e471146f94256" /><Relationship Type="http://schemas.openxmlformats.org/officeDocument/2006/relationships/image" Target="/ppt/media/image9.png" Id="R542efbd4eb6a480a" /><Relationship Type="http://schemas.openxmlformats.org/officeDocument/2006/relationships/notesSlide" Target="/ppt/notesSlides/notesSlide14.xml" Id="R15cea1eb9a67465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a1f247c2f549ac" /><Relationship Type="http://schemas.openxmlformats.org/officeDocument/2006/relationships/notesSlide" Target="/ppt/notesSlides/notesSlide15.xml" Id="R5a9005131ef4473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e982bdc32c4ecc" /><Relationship Type="http://schemas.openxmlformats.org/officeDocument/2006/relationships/notesSlide" Target="/ppt/notesSlides/notesSlide16.xml" Id="Rba37f822fe29469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a565e53bd34312" /><Relationship Type="http://schemas.openxmlformats.org/officeDocument/2006/relationships/notesSlide" Target="/ppt/notesSlides/notesSlide17.xml" Id="R9cdeb95092bf4a8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a5846bd0214275" /><Relationship Type="http://schemas.openxmlformats.org/officeDocument/2006/relationships/image" Target="/ppt/media/image10.png" Id="Reb1c3cbe41d84cad" /><Relationship Type="http://schemas.openxmlformats.org/officeDocument/2006/relationships/notesSlide" Target="/ppt/notesSlides/notesSlide18.xml" Id="Ra90242bdd7d34c0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43b7ff5b504855" /><Relationship Type="http://schemas.openxmlformats.org/officeDocument/2006/relationships/image" Target="/ppt/media/image11.png" Id="Ra8be751b1f0948f3" /><Relationship Type="http://schemas.openxmlformats.org/officeDocument/2006/relationships/notesSlide" Target="/ppt/notesSlides/notesSlide19.xml" Id="R75b9dd85b94449c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1dbddcfde94f62" /><Relationship Type="http://schemas.openxmlformats.org/officeDocument/2006/relationships/notesSlide" Target="/ppt/notesSlides/notesSlide20.xml" Id="Rcdcbbaa70c4441b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abfa16c9c640c3" /><Relationship Type="http://schemas.openxmlformats.org/officeDocument/2006/relationships/notesSlide" Target="/ppt/notesSlides/notesSlide21.xml" Id="R1ced0031fc6e413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b20289f2a3427e" /><Relationship Type="http://schemas.openxmlformats.org/officeDocument/2006/relationships/notesSlide" Target="/ppt/notesSlides/notesSlide22.xml" Id="R5896169248a744f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9eba2080a04d86" /><Relationship Type="http://schemas.openxmlformats.org/officeDocument/2006/relationships/notesSlide" Target="/ppt/notesSlides/notesSlide23.xml" Id="Ra7cf60354382425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dbb6e099164063" /><Relationship Type="http://schemas.openxmlformats.org/officeDocument/2006/relationships/notesSlide" Target="/ppt/notesSlides/notesSlide24.xml" Id="R40316c2ca32644f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c2e3417af74b62" /><Relationship Type="http://schemas.openxmlformats.org/officeDocument/2006/relationships/notesSlide" Target="/ppt/notesSlides/notesSlide25.xml" Id="Rb8a9ddbe94ac4d8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3df22fce2d46c8" /><Relationship Type="http://schemas.openxmlformats.org/officeDocument/2006/relationships/notesSlide" Target="/ppt/notesSlides/notesSlide26.xml" Id="R82c2e985149c479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7c200a68cb4f97" /><Relationship Type="http://schemas.openxmlformats.org/officeDocument/2006/relationships/notesSlide" Target="/ppt/notesSlides/notesSlide27.xml" Id="R2421533a3fef446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cd26a4d3104f8f" /><Relationship Type="http://schemas.openxmlformats.org/officeDocument/2006/relationships/notesSlide" Target="/ppt/notesSlides/notesSlide28.xml" Id="Rafa78443c2ae48a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187e2fe6644a3e" /><Relationship Type="http://schemas.openxmlformats.org/officeDocument/2006/relationships/notesSlide" Target="/ppt/notesSlides/notesSlide29.xml" Id="R45edb6063cee4eb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a91554327a4de9" /><Relationship Type="http://schemas.openxmlformats.org/officeDocument/2006/relationships/notesSlide" Target="/ppt/notesSlides/notesSlide30.xml" Id="R2f4f6d0918dc482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7eb16928f04fd8" /><Relationship Type="http://schemas.openxmlformats.org/officeDocument/2006/relationships/notesSlide" Target="/ppt/notesSlides/notesSlide31.xml" Id="R2405ac36e794447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5afdccb5b94874" /><Relationship Type="http://schemas.openxmlformats.org/officeDocument/2006/relationships/notesSlide" Target="/ppt/notesSlides/notesSlide32.xml" Id="Rae70c994dd8941a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a49e93d67f4290" /><Relationship Type="http://schemas.openxmlformats.org/officeDocument/2006/relationships/notesSlide" Target="/ppt/notesSlides/notesSlide33.xml" Id="Rcb3cc360e48f4b8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309ebe8a894700" /><Relationship Type="http://schemas.openxmlformats.org/officeDocument/2006/relationships/notesSlide" Target="/ppt/notesSlides/notesSlide34.xml" Id="Ra95ab9faecb84b1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57ea95b7334623" /><Relationship Type="http://schemas.openxmlformats.org/officeDocument/2006/relationships/image" Target="/ppt/media/image12.png" Id="R1b282f11f42a46a1" /><Relationship Type="http://schemas.openxmlformats.org/officeDocument/2006/relationships/notesSlide" Target="/ppt/notesSlides/notesSlide35.xml" Id="R2416882e92c447f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89f44926ea4ab2" /><Relationship Type="http://schemas.openxmlformats.org/officeDocument/2006/relationships/image" Target="/ppt/media/image13.png" Id="Ree119c6ced204935" /><Relationship Type="http://schemas.openxmlformats.org/officeDocument/2006/relationships/notesSlide" Target="/ppt/notesSlides/notesSlide36.xml" Id="R902e9cbbf05a419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a5dcdcf1bc4a1e" /><Relationship Type="http://schemas.openxmlformats.org/officeDocument/2006/relationships/image" Target="/ppt/media/image14.png" Id="Rb9c331146e7c473b" /><Relationship Type="http://schemas.openxmlformats.org/officeDocument/2006/relationships/notesSlide" Target="/ppt/notesSlides/notesSlide37.xml" Id="R1339ca0b84af4f7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128a46c9b64a78" /><Relationship Type="http://schemas.openxmlformats.org/officeDocument/2006/relationships/notesSlide" Target="/ppt/notesSlides/notesSlide38.xml" Id="R7ebcce9d941e4c3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48cbd4e12e496c" /><Relationship Type="http://schemas.openxmlformats.org/officeDocument/2006/relationships/notesSlide" Target="/ppt/notesSlides/notesSlide39.xml" Id="Rf18dfcc42cbd4cf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fea4b536f646e7" /><Relationship Type="http://schemas.openxmlformats.org/officeDocument/2006/relationships/notesSlide" Target="/ppt/notesSlides/notesSlide40.xml" Id="Rf4116b4733414f2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90fec097fe447f" /><Relationship Type="http://schemas.openxmlformats.org/officeDocument/2006/relationships/notesSlide" Target="/ppt/notesSlides/notesSlide41.xml" Id="R2218105a3f5e439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3b98cbecd24844" /><Relationship Type="http://schemas.openxmlformats.org/officeDocument/2006/relationships/image" Target="/ppt/media/image15.png" Id="R272128e840bb4057" /><Relationship Type="http://schemas.openxmlformats.org/officeDocument/2006/relationships/notesSlide" Target="/ppt/notesSlides/notesSlide42.xml" Id="Rbd2adb8d8828427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94048ac84e486e" /><Relationship Type="http://schemas.openxmlformats.org/officeDocument/2006/relationships/image" Target="/ppt/media/image16.png" Id="R5d6d4c4c5a9c45e0" /><Relationship Type="http://schemas.openxmlformats.org/officeDocument/2006/relationships/notesSlide" Target="/ppt/notesSlides/notesSlide43.xml" Id="R0eb1f0432f274a2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92deeda48f47e1" /><Relationship Type="http://schemas.openxmlformats.org/officeDocument/2006/relationships/image" Target="/ppt/media/image17.png" Id="Rb9f106085747477a" /><Relationship Type="http://schemas.openxmlformats.org/officeDocument/2006/relationships/notesSlide" Target="/ppt/notesSlides/notesSlide44.xml" Id="R014da66ef6d947b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0f3cf32a7a4c13" /><Relationship Type="http://schemas.openxmlformats.org/officeDocument/2006/relationships/notesSlide" Target="/ppt/notesSlides/notesSlide45.xml" Id="R72aec5eb5f14402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04ad07b7d04dfd" /><Relationship Type="http://schemas.openxmlformats.org/officeDocument/2006/relationships/notesSlide" Target="/ppt/notesSlides/notesSlide46.xml" Id="R7f59911dda12491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1e265d625f47e5" /><Relationship Type="http://schemas.openxmlformats.org/officeDocument/2006/relationships/notesSlide" Target="/ppt/notesSlides/notesSlide47.xml" Id="Ra0065416259647a7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fab3c2905b4bab" /><Relationship Type="http://schemas.openxmlformats.org/officeDocument/2006/relationships/notesSlide" Target="/ppt/notesSlides/notesSlide48.xml" Id="Rdeed10099d6148bb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a4941c4ce249c4" /><Relationship Type="http://schemas.openxmlformats.org/officeDocument/2006/relationships/notesSlide" Target="/ppt/notesSlides/notesSlide49.xml" Id="Re0dc835627964ab7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95006e7f2948a5" /><Relationship Type="http://schemas.openxmlformats.org/officeDocument/2006/relationships/image" Target="/ppt/media/image18.png" Id="R38d4151b945643b6" /><Relationship Type="http://schemas.openxmlformats.org/officeDocument/2006/relationships/notesSlide" Target="/ppt/notesSlides/notesSlide50.xml" Id="R704f3240aa3449cd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6cdca72fab4c70" /><Relationship Type="http://schemas.openxmlformats.org/officeDocument/2006/relationships/image" Target="/ppt/media/image19.png" Id="Ra9d25af867e2428c" /><Relationship Type="http://schemas.openxmlformats.org/officeDocument/2006/relationships/notesSlide" Target="/ppt/notesSlides/notesSlide51.xml" Id="R08f78fd653054c7e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44b2d0015b4cdd" /><Relationship Type="http://schemas.openxmlformats.org/officeDocument/2006/relationships/notesSlide" Target="/ppt/notesSlides/notesSlide52.xml" Id="Rb4bdfbcc9faf41ac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b25b969690464e" /><Relationship Type="http://schemas.openxmlformats.org/officeDocument/2006/relationships/notesSlide" Target="/ppt/notesSlides/notesSlide53.xml" Id="R1ffe14cf2e6c41f2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549ae9819a4aea" /><Relationship Type="http://schemas.openxmlformats.org/officeDocument/2006/relationships/notesSlide" Target="/ppt/notesSlides/notesSlide54.xml" Id="R0d090a3b191241a7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e1e0d6e2a54c58" /><Relationship Type="http://schemas.openxmlformats.org/officeDocument/2006/relationships/notesSlide" Target="/ppt/notesSlides/notesSlide55.xml" Id="R3410b80077a8467b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06b7d7529141ae" /><Relationship Type="http://schemas.openxmlformats.org/officeDocument/2006/relationships/notesSlide" Target="/ppt/notesSlides/notesSlide56.xml" Id="Ra18b9cbfe3fd48b4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af06f9e957451c" /><Relationship Type="http://schemas.openxmlformats.org/officeDocument/2006/relationships/notesSlide" Target="/ppt/notesSlides/notesSlide57.xml" Id="Rfde0ba38e92a4e99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3685e4dd8247ae" /><Relationship Type="http://schemas.openxmlformats.org/officeDocument/2006/relationships/notesSlide" Target="/ppt/notesSlides/notesSlide58.xml" Id="R10a9e079e83b498d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7dbbfeb91a49ae" /><Relationship Type="http://schemas.openxmlformats.org/officeDocument/2006/relationships/notesSlide" Target="/ppt/notesSlides/notesSlide59.xml" Id="Rc3973177f3b44b42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83f80c9f0e4d7a" /><Relationship Type="http://schemas.openxmlformats.org/officeDocument/2006/relationships/notesSlide" Target="/ppt/notesSlides/notesSlide60.xml" Id="R53d854e4f0f44ae1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f9d397cf1c49ea" /><Relationship Type="http://schemas.openxmlformats.org/officeDocument/2006/relationships/notesSlide" Target="/ppt/notesSlides/notesSlide61.xml" Id="R00be0a1e89a64b18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5df54dbf4f4392" /><Relationship Type="http://schemas.openxmlformats.org/officeDocument/2006/relationships/notesSlide" Target="/ppt/notesSlides/notesSlide62.xml" Id="R63fccd3cfa9d4ad4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1bf5412ed242d1" /><Relationship Type="http://schemas.openxmlformats.org/officeDocument/2006/relationships/notesSlide" Target="/ppt/notesSlides/notesSlide63.xml" Id="R14043ae27a904d51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10e7eb46cd4539" /><Relationship Type="http://schemas.openxmlformats.org/officeDocument/2006/relationships/notesSlide" Target="/ppt/notesSlides/notesSlide64.xml" Id="R6e008dd46ecb4b58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4c426361294134" /><Relationship Type="http://schemas.openxmlformats.org/officeDocument/2006/relationships/notesSlide" Target="/ppt/notesSlides/notesSlide65.xml" Id="Rdbd824d4bfce4bb7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888881381b494a" /><Relationship Type="http://schemas.openxmlformats.org/officeDocument/2006/relationships/notesSlide" Target="/ppt/notesSlides/notesSlide66.xml" Id="R4417272537b543ee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a5ced3a982477b" /><Relationship Type="http://schemas.openxmlformats.org/officeDocument/2006/relationships/notesSlide" Target="/ppt/notesSlides/notesSlide67.xml" Id="R49d3385cb7e242dc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eef3380aea4b92" /><Relationship Type="http://schemas.openxmlformats.org/officeDocument/2006/relationships/notesSlide" Target="/ppt/notesSlides/notesSlide68.xml" Id="Rb27e840108764d7d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50d649b0d1483b" /><Relationship Type="http://schemas.openxmlformats.org/officeDocument/2006/relationships/notesSlide" Target="/ppt/notesSlides/notesSlide69.xml" Id="Rf8ecd1d4bccd4ea8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02e562b4344b92" /><Relationship Type="http://schemas.openxmlformats.org/officeDocument/2006/relationships/notesSlide" Target="/ppt/notesSlides/notesSlide70.xml" Id="R24fe516f47904b03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ae21ffb8944fb0" /><Relationship Type="http://schemas.openxmlformats.org/officeDocument/2006/relationships/notesSlide" Target="/ppt/notesSlides/notesSlide71.xml" Id="R1647429242074770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7944f2734b4f16" /><Relationship Type="http://schemas.openxmlformats.org/officeDocument/2006/relationships/notesSlide" Target="/ppt/notesSlides/notesSlide72.xml" Id="Rb5d2f983499e4adf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0446b956c3426f" /><Relationship Type="http://schemas.openxmlformats.org/officeDocument/2006/relationships/notesSlide" Target="/ppt/notesSlides/notesSlide73.xml" Id="R56fd06117cd54d2b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c3e5168d454dff" /><Relationship Type="http://schemas.openxmlformats.org/officeDocument/2006/relationships/notesSlide" Target="/ppt/notesSlides/notesSlide74.xml" Id="R34a3ca5011b1465d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a3cac9cfaf43b8" /><Relationship Type="http://schemas.openxmlformats.org/officeDocument/2006/relationships/notesSlide" Target="/ppt/notesSlides/notesSlide75.xml" Id="R1e7f79f7f3394a6a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1f5f0981e742cf" /><Relationship Type="http://schemas.openxmlformats.org/officeDocument/2006/relationships/notesSlide" Target="/ppt/notesSlides/notesSlide76.xml" Id="R67b9bbfdbe8a48b9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6228b6686b418b" /><Relationship Type="http://schemas.openxmlformats.org/officeDocument/2006/relationships/notesSlide" Target="/ppt/notesSlides/notesSlide77.xml" Id="R73043a0c0b664f2b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b8666f3db34b9c" /><Relationship Type="http://schemas.openxmlformats.org/officeDocument/2006/relationships/notesSlide" Target="/ppt/notesSlides/notesSlide78.xml" Id="Rb4c7112346204a09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a140aef3fc4ea2" /><Relationship Type="http://schemas.openxmlformats.org/officeDocument/2006/relationships/notesSlide" Target="/ppt/notesSlides/notesSlide79.xml" Id="Rdbfbbcf3e04a4e77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ebc495f0db4317" /><Relationship Type="http://schemas.openxmlformats.org/officeDocument/2006/relationships/notesSlide" Target="/ppt/notesSlides/notesSlide80.xml" Id="R3eaa911536394afe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907473305e4a46" /><Relationship Type="http://schemas.openxmlformats.org/officeDocument/2006/relationships/notesSlide" Target="/ppt/notesSlides/notesSlide81.xml" Id="R7e4da54671064628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ce812752154a9c" /><Relationship Type="http://schemas.openxmlformats.org/officeDocument/2006/relationships/notesSlide" Target="/ppt/notesSlides/notesSlide82.xml" Id="Rc7ab51e04ba9438f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4388e0b917465c" /><Relationship Type="http://schemas.openxmlformats.org/officeDocument/2006/relationships/notesSlide" Target="/ppt/notesSlides/notesSlide83.xml" Id="Rb43002272f4941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A63268-99D6-4E58-93E1-353D389E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B6032-635F-4235-AED1-7BAE3B96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8386AD7-0A30-41BB-A62E-81299012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第二週  PYTHON 基礎與應用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E8DE1CF-D12F-485C-A408-75070A21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381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6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66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66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66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66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66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66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66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66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66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6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Python計算機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E301BD8-2182-4510-B441-A08EE306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67075"/>
            <a:ext cx="1333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rPr>
              <a:t>第二週完整講授與逐行程式解析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62D1F2F-7329-435B-8320-0587B99E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rPr>
              <a:t>運算式與運算子  ／  判斷式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D6DAA89-3436-4A29-8987-9D16A3D7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rPr>
              <a:t>for與while  ／  函式  ／  串列與陣列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AEB06AB-BC0B-468E-8C7C-9AAA36DB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rPr>
              <a:t>對應兩份範例筆記本與五份補充PPTX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DB018D2-F99A-4106-B6F3-C8FAADC4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81925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第2–9章  基礎程式設計與應用整合</a:t>
            </a:r>
          </a:p>
        </p:txBody>
      </p:sp>
    </p:spTree>
    <p:extLst>
      <p:ext uri="{BB962C8B-B14F-4D97-AF65-F5344CB8AC3E}">
        <p14:creationId xmlns:p14="http://schemas.microsoft.com/office/powerpoint/2010/main" val="15261603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8F9685-0ED2-4307-8E85-5E3D95BE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A617FEF-DF69-4BD8-9729-F06A7D75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第二週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AC1DCED-C59C-4BC2-9AA9-B0ECA80E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教學路線與閱讀方式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4E21C99-0A3D-4579-B1D5-909FABF7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使用方式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F58838E-DD87-461C-BCE1-8A30878B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2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4C4FB-60F7-4190-9EA9-91A3C344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02AB723-9E0E-4EA4-87E7-AFD2D99E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56C5C10-A5DC-405D-83EF-51DCE8DD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本簡報與Python_計算機.ipynb逐節對應。概念頁保留完整講授脈絡，程式頁依原儲存格順序加上行號與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逐行說明。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12DDE-9E5D-4FCD-A2E5-7CD23585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945CDC6-CB08-47A4-A8E2-85553E64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91ABC487-EDC1-4703-A806-E5E479AC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00350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原PPT相關頁以完整畫面穿插，保留原圖、表格、流程及例題；淺底新編頁補上程式對應與必要釐清。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02E900-8028-49CE-B619-C556A665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498DB1A9-3B4E-479E-AD41-95956CEF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D1D0E1E1-33B8-46F5-980C-F8723917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00450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第二週共180分鐘，含10分鐘休息。先講核心語法，完整算式解析、城市時區與GUI細節可作課後選讀。</a:t>
            </a:r>
          </a:p>
        </p:txBody>
      </p:sp>
    </p:spTree>
    <p:extLst>
      <p:ext uri="{BB962C8B-B14F-4D97-AF65-F5344CB8AC3E}">
        <p14:creationId xmlns:p14="http://schemas.microsoft.com/office/powerpoint/2010/main" val="10937133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354813-7902-4069-9B38-2EEA0E70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BFFFE0F-49A9-450B-99BD-81F50D3C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C0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96795A6-D657-440F-A29C-64D19D8F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作品拆解與使用方式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0D9C2F6-8BF0-4D37-B689-D9B60453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第2章 程式結構與輸出／第3章 變數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8C60DCD-0E89-46AA-B3C2-06166C92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3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AABD1-9135-4E22-BEEA-D900438A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9902E05-BB57-4659-8CC8-4A00A615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DDAC701-CB66-4E2F-818C-1412BE47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講授： 請先觀察原計算機：按7並不會立刻算出答案，而是將字元"7"加入算式。按+後等待下一個數，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按=才運算。顯示、資料及計算是三件事，應分開處理。原範例的current_expression保存字串，updat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e_display更新畫面，on_button_click負責選擇動作，buttons_data描述按鈕位置。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5885B-89B5-4351-96A7-74228B28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6BE8988-4862-477A-87AA-C16E7AE2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5F7B1AD-260E-459B-8755-E6B647B0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33725"/>
            <a:ext cx="1314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我們先不用視窗，只用固定資料看懂數學與判斷；接著建立可測試的calculate函式，再把它交給介面使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用。Notebook重新啟動核心後，請從最上面的程式格開始執行。介面需要 ipywidgets；若提示未安裝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，可自行在新程式格執行 %pip install ipywidgets 後重新啟動核心。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828F34-384C-4F39-AF41-5814D90E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06596A93-6D1A-48AE-BBCC-1ED436C7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434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68C645C4-D220-403D-8F7F-C728E9D8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33900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檢核： "7+3"是字串還是數值？為何按鍵上的x要轉成*？答案：前者是字串；Python以*表示乘法。</a:t>
            </a:r>
          </a:p>
        </p:txBody>
      </p:sp>
    </p:spTree>
    <p:extLst>
      <p:ext uri="{BB962C8B-B14F-4D97-AF65-F5344CB8AC3E}">
        <p14:creationId xmlns:p14="http://schemas.microsoft.com/office/powerpoint/2010/main" val="13554174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857D0-D532-481D-BECE-817E899737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e41e86ad84f47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2D62B-6EF8-431A-835C-197BF2F9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7F027B03-67F5-4A09-B3DF-C4B8053C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C0  Py01_基本認識(1).pptx  第34頁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DAFB39EF-8E4E-410F-83BB-312D8370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教材對應：第2章 程式結構與輸出／第3章 變數；原頁保留完整圖文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837D188-0003-46D4-A34F-98FD4DDE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264076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6CE05-ED6E-4F90-83A5-61357725B0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b4291b95a41ad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3D901-6D52-4061-BDD6-F8F02FFE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7F9E8E11-D62D-4E67-9AAC-0B34DFAB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C0  Py01_基本認識(2).pptx  第29頁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CAD600E0-5104-492B-9A7B-4AB9A372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教材對應：第2章 程式結構與輸出／第3章 變數；原頁保留完整圖文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39B643F-8E1F-441B-952B-98011B20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600207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22745F-0B42-48C2-B1A8-705CA6A0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772FEB9-462D-47CB-8129-6354A419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C1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8B4AC8B-661A-4300-8C13-59D768CD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運算式與運算子 1/2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124AC22-8A80-46F2-9376-BD9C307A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第3章 運算式與運算子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A318BC8-694A-458D-B6CD-457FD322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6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51679-2394-4327-9537-80392B09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28D7275-F9B2-4457-969C-72E4F2B8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A41C7B0-946F-41E0-B5D2-AE626870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講授： 運算式會產生一個值，7 + 3的兩個運算元是7和3，運算子是+。total = 7 + 3先算右邊，再將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結果交給名稱total。按鍵文字是字串，"7" + "3"會串接成"73"；轉為float後才是數值加法。input()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回傳的也是字串，輸入小數時用float，不要把"3.5"直接交給int。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1C47C-686B-4391-B3EF-ED308EA5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C4F7CF95-D510-420A-8F9D-64FAC5B2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A0808CE0-0203-4C7A-AD46-72D299EE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33725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運算子  ／  用途  ／  例子與結果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5D8773-A33B-4881-ABF9-02AF4D99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3825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CCB42AB5-0ED8-4734-A47E-3DC2B103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85882962-EDDE-42C4-9FC4-2AB65129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33825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+ - * /  ／  加、減、乘、真除法  ／  7/2為3.5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72A8C7-254D-4B40-A74D-3637CF1B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33925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9A4147A9-FDC0-425F-ACB8-63783AC3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B8C09800-1D6C-4A6E-B585-38D99B0E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33925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// %  ／  向下取整除法、餘數  ／  7//2為3；7%2為1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743FC3-0289-4662-99E8-063CC6CB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34025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E70AEDF9-A7BD-4192-B4D6-BF0FF260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038FDA48-8A6E-4633-A420-BC7D80F8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34025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**  ／  次方  ／  2**3為8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699E9F-6114-466B-B5BB-279A53BB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DEF55E7B-65C5-44A2-8394-4CEF92EC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D17F6D80-3192-496D-AFF2-95AD191D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334125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+=  ／  計算後重新指派  ／  字串可累加按鍵，數值可累加結果</a:t>
            </a:r>
          </a:p>
        </p:txBody>
      </p:sp>
    </p:spTree>
    <p:extLst>
      <p:ext uri="{BB962C8B-B14F-4D97-AF65-F5344CB8AC3E}">
        <p14:creationId xmlns:p14="http://schemas.microsoft.com/office/powerpoint/2010/main" val="2805620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6C5136-2BD9-45A2-8172-123A5DF2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D8B20EC-26DC-40B4-B665-308EC932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C1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027881D-FA0D-42BA-BA00-8A2CCBAE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運算式與運算子 2/2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06A8F19-6831-4423-80DA-FC427185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第3章 運算式與運算子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0B3C7AA-F270-400F-94B1-C3B8A26B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7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09325-8B2D-40C5-9DE4-0A3045BC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0975402-3476-4CAA-A4CC-063B888B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257D0E6-B4F8-4D8E-9970-FA804D43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== != &lt; &lt;= &gt; &gt;=  ／  比較大小或相等  ／  結果為True或False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53363-9AEC-4312-8194-D354D255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316D6CD-28E6-4B23-A6A8-D9389E4E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2F5123B0-B79D-46B5-BA87-FE46C40B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33650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and or not  ／  組合條件、反轉真假  ／  先檢查非零再進行除法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747A4-A932-4CBE-96E1-F015D5DF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8268038D-EC90-40CE-952D-1DED7830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8EFBA01A-D84F-4359-AA4D-673A6FF1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33750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in / not in  ／  成員檢查  ／  op in ["/", "//", "%"]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5AC38-392A-43CB-ABD2-B2B104A0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3385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AFBADEFB-7157-401A-90DA-1F296DB8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141D0DE8-81E2-4A29-8AAE-319ED8D0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1314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常用優先順序可先記「括號、次方、乘除餘數、加減、比較、not、and、or」。負號和次方要特別看括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號：-2**2是-4，(-2)**2是4；次方由右往左結合。a/b、a//b、a%b的除數都不能為0。用括號表達計算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意圖比背完整表格更可靠。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86C673-A7FD-49D6-B984-F933BE78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3402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9D8B1C25-C045-444B-AB15-6B900E81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3B572ED2-2B8C-4B91-8FA6-0EC6C575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34025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浮點數保存近似值，0.1+0.2可能顯示長小數。顯示兩位可用f"{result:.2f}"，這不會改變內部數值；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測試近似值可用math.isclose。位元運算&amp; | ^ ~ &lt;&lt; &gt;&gt;是延伸項，^是位元互斥或，不能當作次方。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C15631-6A03-4BCC-A60D-A986BDDE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00825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0B790F4D-A72D-4189-9A96-790A3D24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103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52B90E80-F64D-4980-B4B0-BA5F221A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600825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預測與檢核： 先寫出以下每個輸出，再執行。請說明-7//2為何不是-3。</a:t>
            </a:r>
          </a:p>
        </p:txBody>
      </p:sp>
    </p:spTree>
    <p:extLst>
      <p:ext uri="{BB962C8B-B14F-4D97-AF65-F5344CB8AC3E}">
        <p14:creationId xmlns:p14="http://schemas.microsoft.com/office/powerpoint/2010/main" val="12781035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244D5-5711-4314-843D-7AD0692D6B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4687863bdb4135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A5CAF-06E9-4389-9A52-F0184A4A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1A0E999B-44BF-4093-9B58-6B9A7AC0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C1  Py01_基本認識(3).pptx  第12頁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7C4A1D8-B3ED-4973-B356-1ECE4AB9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講授補充：//向下取整，負數不可只刪除小數；-7//2=-4。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C47DD13-BF5E-4E8B-B829-1037C615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0720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FA483-B81F-4625-BE62-7E41E512CA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e6352f9174f5c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3C48E-20A1-4FBA-90B4-0631B957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667861CA-6475-4E7E-A3DC-01952F93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C1  Py01_基本認識(3).pptx  第10頁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6F82BDF2-325A-4083-8F28-B7B84962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教材對應：第3章 運算式與運算子；原頁保留完整圖文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D549DF95-6A4E-44E4-B313-C62D9D76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494190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BF372-61F1-4D9E-9B93-0AC1567179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09c2215ad4754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8F4CB-FCEE-445D-86C8-1C0DC9E7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27C57E10-DD63-42B5-87F9-FE4BFA1B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C1  Py01_基本認識(3).pptx  第15頁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B8B6F13D-5618-47CB-842C-B00B2D66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教材對應：第3章 運算式與運算子；原頁保留完整圖文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E49BC3E-A6FD-46CD-9FD8-D09B4CE2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915683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AD9DD-3247-4874-9A68-149DB05296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54055bcf040bf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418D00-1182-480E-ACBE-4B8D4097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31A887D4-372D-4117-89E5-FE74279C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C1  Py01_基本認識(3).pptx  第18頁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1860280-2620-4BC3-A86B-71583E10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原頁勘誤：*=應說明為「相乘後再指定給原變數」；a*=2等同a=a*2。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D5BB2F44-73EC-40ED-9333-78925C30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326364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EE9C3-AFE5-443E-A468-74D5B8BED1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76576705f4754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2ADB0-EDFC-469C-B2D4-102A2CAF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FF125A8F-FFE0-4278-A71D-6CD3B840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C1  Py01_基本認識(3).pptx  第23頁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7C5E7C74-8365-4D8E-9E0B-F5E3D7E2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教材對應：第3章 運算式與運算子；原頁保留完整圖文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E35925F0-7478-4124-A431-F9C4A066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20390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AC621-1289-4945-A036-1AE2A1556F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1a76800d7464f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8DD47-F7BB-4C36-9EB0-40BC746B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2A8E4F26-2E3E-45FE-B098-42B90BB2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C1  Py01_基本認識(3).pptx  第26頁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966E2D24-94CB-4FA0-A136-C8F5043B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教材對應：第3章 運算式與運算子；原頁保留完整圖文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3AB3414-7878-4CC1-A19C-D833C0BA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83238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DA655-EB44-4F17-931C-9A6CC78B2C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2efbd4eb6a480a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C237F-AAF4-467D-9AE6-6E49EBC4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064080F4-7722-49CE-8731-3CEF6227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C1  Py01_基本認識(3).pptx  第33頁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19B577AC-C7C3-4B04-BB9E-5CEB3101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教材對應：第3章 運算式與運算子；原頁保留完整圖文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9DE60B6-043C-4E84-BB51-9272581A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169515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F6CAED-A1C6-41D4-AF2E-1E8BE98F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FD9E979-A6D5-438B-8C67-8142D966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C1  逐行程式解析  1/1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A803A0F-5852-49EF-B07C-2CA68DC5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運算式與運算子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5F03695-E432-4219-92CC-F021EE1E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第3章 運算式與運算子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FB2BA54-1E5A-4303-BCDB-12822F62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15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6FA3F-F722-4FD0-A9CC-2762FFB0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60B5B2F-2C82-4DE1-BE3D-AF232910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A7058D6-B0AC-42BF-B74A-35A88B10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第5個儲存格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8FC1BDE-AA35-43E7-B1A4-7F4314F4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AC82F-8C44-455E-9EBF-1F667882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296E3895-301D-48C6-81AD-65E894BD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0AD7F6F2-9A0A-43A9-ADB8-66C00215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import math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DC97F9C0-B2B4-4F51-AC90-6A543B22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匯入本段使用的模組或功能。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E9FDF117-394B-42F4-A268-903AE3CE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D6C58200-1FDA-4060-BE89-CEF50E1E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print("字串串接：", "7" + "3")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590F47EE-A414-419D-A27A-BE5A5B04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527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字串相接得到73。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56EC08-EC8C-45BE-B9F3-D26628F7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BF5D826A-221D-4BAD-BC23-457DCC15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0F97005F-E765-42D8-B3F2-C5819A57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718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print("數值加法：", float("7") + float("3"))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0D9A9CEC-2A19-45B2-940E-5F70633F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718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轉成數值後相加得10.0。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53F34B5E-38DB-4218-8086-D91DF545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909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B93BB192-A42A-4661-BE3E-80230A87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909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print("先乘後加：", 2 + 3 * 4, "括號優先：", (2 + 3) * 4)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2B501BEB-448F-49FB-8B4E-7FCF71ED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909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比較先乘與括號優先。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54B727-D0AB-4286-8F81-EE229F7A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909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DB97C3BF-25B9-4493-83B3-CDBC6EEF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A74E2DD3-BAAB-4D6D-A28A-E77F9312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print("除法、整除、餘數：", 7 / 2, -7 // 2, -7 % 2)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430402A1-B315-47D3-9040-45BDF54A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比較真除、整除與餘數。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1D98E78B-DC7D-4E36-A89D-36C9F643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291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EDFC33A8-8CBD-4202-B1D9-79A779C3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291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print("次方：", 2 ** 3, -2 ** 2, (-2) ** 2)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7CF0D027-04BB-43D5-B1EC-3CE69544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291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比較次方與負號的優先序。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1D2E47-E885-4359-A5C6-C821506C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291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E3FFA247-FAF4-4795-9BC4-29258628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610BAF66-62AB-4662-93A8-31C84824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print("浮點結果：", 0.1 + 0.2, math.isclose(0.1 + 0.2, 0.3))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45430A7D-B2D5-4941-AA02-577E357E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482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用isclose比較浮點近似值。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AB833335-F066-4CB8-951B-2D979930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673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9D418C38-0008-4342-8220-5CFF9AA1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print("格式化：", f"{7 / 3:.2f}")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565F9F25-31F7-4F7A-8907-B697E2DB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0673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僅將顯示格式設為兩位小數。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7A1DBF-F483-48DF-84BA-590C5F77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673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C7A15E10-F7DD-4E11-AD6F-77F0C02C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864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8E9CE308-D7BE-4A95-94B3-9E4DD8D1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864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print("位元延伸：", 5 &amp; 3, 5 | 3, 5 ^ 3)</a:t>
            </a:r>
          </a:p>
        </p:txBody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4F4BE578-ECCC-43A3-B190-51A6DBF9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4864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對整數進行位元邏輯運算。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5CFFEF78-A79C-4464-B191-80D8DAA8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3803437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EAD97D-B521-4CFC-BE0C-7D97FF28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0D54904-D220-491D-9767-6600566F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C1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B3B38D5-E34D-472B-B397-FF9C69DE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運算式與運算子：執行結果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99C5F9B-B288-4B84-B1FA-C2EF3332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第3章 運算式與運算子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B6AD749-7CC9-40A7-9AA8-7666D145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16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206773-E642-478B-8F5F-747564CE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432560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F469900-7FE9-4C41-ABDA-8F4E1C5D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3716000" cy="509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字串串接： 73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數值加法： 10.0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先乘後加： 14 括號優先： 20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除法、整除、餘數： 3.5 -4 1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次方： 8 -4 4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浮點結果： 0.30000000000000004 True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格式化： 2.33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位元延伸： 1 7 6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F511E51-EBB9-4949-82EA-FADDA659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62850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課堂提問：哪個運算、分支或迴圈決定了這個結果？改動一個輸入後再驗證。</a:t>
            </a:r>
          </a:p>
        </p:txBody>
      </p:sp>
    </p:spTree>
    <p:extLst>
      <p:ext uri="{BB962C8B-B14F-4D97-AF65-F5344CB8AC3E}">
        <p14:creationId xmlns:p14="http://schemas.microsoft.com/office/powerpoint/2010/main" val="18299858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DD688B-664E-4FFD-8BE8-1E4F389D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79030AD-59E6-4097-BB99-0773FE08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C2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AEE8C13-4171-4256-B90B-3904116A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判斷式與按鍵流程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3DAA193-3DFF-4754-86FC-DD396C31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第4章 條件判斷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016106E-63BF-4BE0-B8F9-599AFA35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17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B3254-439A-4AD7-95C3-5C796815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692CF7B-9E0F-401E-B8AF-F75FAAAB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AAA9813-2840-4497-A897-47D73134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講授： if只在條件成立時執行縮排區塊；else承接不成立的情況。多種互斥動作使用if/elif/else，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由上到下只選第一個成立的分支。每行條件後加冒號，區塊用四個空白，避免混用Tab。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8F9B4-7ECD-44E7-BC11-D1695BDB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5C6CE81-F20B-40D1-A469-771A36EB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AFB9DE8F-4FB0-405C-BDCC-901D2A46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00350"/>
            <a:ext cx="1314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按鍵流程是：AC清空；等號進行計算；其他按鍵追加字串。若目前顯示Error，下一個數字應開始新的輸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入。這是外層選按鍵、內層檢查狀態的巢狀判斷。條件式運算"0" if text == "" else text產生一個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顯示值，適合很短的二選一。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47EF9F-75F2-4704-97EB-0174777D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052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B4309A76-3747-4C8A-AB4C-3B217C1A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4F5BC518-2911-403C-A29B-2E75953E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00525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and會在左邊是假時停止檢查：b != 0 and a/b &gt; 2可避免在b為0時做除法。&amp;會計算兩邊，不能用來替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換這個防護。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BF8268-EB59-4AF4-9FDD-DF681F0D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6732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8FA02DED-C71E-4917-8D8C-33EC408D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F8D49254-CEE9-4CC1-9590-527F1053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67325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逐步追蹤： 下例輸入7,+,3,AC,9，每輪依序得到7、7+、7+3、空字串、9。這裡遇到等號只作流程標記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，真正計算於C3及C7補齊。</a:t>
            </a:r>
          </a:p>
        </p:txBody>
      </p:sp>
    </p:spTree>
    <p:extLst>
      <p:ext uri="{BB962C8B-B14F-4D97-AF65-F5344CB8AC3E}">
        <p14:creationId xmlns:p14="http://schemas.microsoft.com/office/powerpoint/2010/main" val="106742085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83858-7EC3-4231-876E-CC5AA3CE50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c3cbe41d84cad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89A2B-2FC2-46D9-9165-3C62415C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3EA68EBD-8BFC-4D1A-88E6-376DB0C5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C2  Py02_選擇敘述與迴圈(1).pptx  第14頁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7F686A33-33C2-4BF2-BA13-2611A762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教材對應：第4章 條件判斷；原頁保留完整圖文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B76BFE7A-0F95-4352-B6CF-741CDE25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278693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49B94-CF85-4CBB-8052-6936F09B75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be751b1f0948f3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ED44E-136A-4CA8-97CF-4C33919B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DA886E7F-155D-4582-9AFF-9D5DC4C7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C2  Py02_選擇敘述與迴圈(1).pptx  第34頁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4A2C9AB9-36BE-4D58-B05A-1923F653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教材對應：第4章 條件判斷；原頁保留完整圖文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288DCAA5-32E6-49EA-9671-983253C8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3977204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31BA1C-CF94-490A-93DE-38C46E8E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7150DBA-E763-4A95-8480-B7040808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C2  逐行程式解析  1/2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DF3770C-B79F-4CA3-85A2-0B2BD873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判斷式與按鍵流程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9C59237-68B8-4631-9287-706F856D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第4章 條件判斷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CD0FE97-A685-40CD-BB63-8675233F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20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1FDA4-DB85-47A8-AC07-307380D2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F6E4A9D-09F0-4966-826B-66F25933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A58086C-86EB-40CF-9B61-AEC96C65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第7個儲存格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C629CDD-8981-42BA-8EA4-69EDF8C6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BFACCE-12A7-4AA0-88D6-12D02AEE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430BD4AF-5085-4BF0-8822-19B491C8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608DD07D-80A7-4D99-968D-AACAEE3D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expression = ""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CE816A92-2749-449C-8339-CA56057A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設定初始值或清空狀態。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B041929C-4332-43E5-A28C-536590AB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ADC28B3D-A4D0-479F-9447-2F1126B8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for key in ["7", "+", "3", "AC", "9"]: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A1A20459-77FC-420C-B274-598DB570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527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依序取出資料；每一筆執行一次縮排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區塊。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77464-7383-4984-8931-3E506ACF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94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FF4EC3E2-35D2-4293-AECF-074D8635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966B5801-B745-4BE2-B09F-CA0F0567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if key == "AC":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03CF5457-94F3-4C45-A244-0EE8CF5A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AC代表清空算式。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E9FBF2ED-6E1E-4865-8D34-3C4DC698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57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8F25D30D-88EB-4BFD-A673-3C2A36D0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expression = ""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37D55F61-50F8-4BF8-9A21-8D63C803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57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設定初始值或清空狀態。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140219-A727-4B49-A8FE-4F62309F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576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311C7B0B-D717-437C-867E-24D5390F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7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8C58D565-5FD9-4233-9AFD-19B4ED4B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elif key == "=":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3D6CE63C-7A98-4DD1-819C-F9AD0FAD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767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等號分支交給計算函式。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16471539-D9FB-48AA-9220-2F50AAAB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2084185B-B3BC-473A-B772-2CB525AF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print("交給計算函式")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14975ABD-04C2-4BF4-97ED-D472E161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輸出目前結果，核對前面的預測。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6DBAF4-317D-4024-9451-02644012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62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9CDEE60F-30B4-4296-9B7A-0BD3C9DF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81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C86B7106-1C91-422A-B8B7-BFAEBEE6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81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else: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E0874306-45B8-486F-AC54-9F02F2F7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81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前面的條件均不成立時執行。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AB9DA423-4224-4F62-B7CE-3D66F6AB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D6F9A678-8D61-4AAC-9A5B-CF9FADFC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67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if expression == "Error":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4082B815-A9CD-4887-B47C-C9BD9DFD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867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若為錯誤訊息，準備重新輸入。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1E651A-5462-4790-BF40-DB1FBC17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341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5339A162-8E0F-4F8E-8083-312F5987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36E5141A-FEC2-4552-97A1-C34EF82C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5532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expression = ""</a:t>
            </a:r>
          </a:p>
        </p:txBody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22A990B5-22A1-4006-8819-8F3AF1E7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設定初始值或清空狀態。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77127B1E-48C1-4991-A648-26386F54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723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43" name="text-42">
            <a:extLst xmlns:a="http://schemas.openxmlformats.org/drawingml/2006/main">
              <a:ext uri="{FF2B5EF4-FFF2-40B4-BE49-F238E27FC236}">
                <a16:creationId xmlns:a16="http://schemas.microsoft.com/office/drawing/2014/main" id="{B8C0AD6C-617E-422A-A3EF-202292DB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9723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expression += key</a:t>
            </a:r>
          </a:p>
        </p:txBody>
      </p:sp>
      <p:sp>
        <p:nvSpPr>
          <p:cNvPr id="44" name="text-43">
            <a:extLst xmlns:a="http://schemas.openxmlformats.org/drawingml/2006/main">
              <a:ext uri="{FF2B5EF4-FFF2-40B4-BE49-F238E27FC236}">
                <a16:creationId xmlns:a16="http://schemas.microsoft.com/office/drawing/2014/main" id="{EDB352AB-F30E-4A90-A987-563F5C6B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9723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累加目前數值或文字，更新狀態。</a:t>
            </a:r>
          </a:p>
        </p:txBody>
      </p:sp>
      <p:sp>
        <p:nvSpPr>
          <p:cNvPr id="45" name="text-44">
            <a:extLst xmlns:a="http://schemas.openxmlformats.org/drawingml/2006/main">
              <a:ext uri="{FF2B5EF4-FFF2-40B4-BE49-F238E27FC236}">
                <a16:creationId xmlns:a16="http://schemas.microsoft.com/office/drawing/2014/main" id="{DA4545AA-B49B-4D3F-B629-44FBCE56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129643607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D1A361-15E0-4E58-9569-9E05EAAB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F2010AF-EE8E-40ED-BDF1-54DE32C1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C2  逐行程式解析  2/2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1E8C15E-6898-4F67-B028-EC060F95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判斷式與按鍵流程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1F024B0-C439-47CA-AAC4-38879566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第4章 條件判斷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9370A67-B3A4-4C0C-8726-0A17B5AE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21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DA262-717C-426F-9CD4-CF2012A3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765A554-AC5D-47EE-926A-BE05762E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21AC06A-AF5E-4A1D-AF47-DE5E1C38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第7個儲存格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3A5415A-EF33-4D6B-A486-9BE73CB3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32FAD-1FE5-4DDB-AA57-3F38EA48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539FE671-DBF7-43D0-B28A-A2639FA4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EA132186-8ECB-4117-8E6D-9BA2B8BD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print(key, "=&gt;", expression if expression != "" else "0")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A9E74FCF-6FDD-42EB-963A-0A249712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空算式顯示0，否則顯示內容。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C4506AA7-5620-41E0-9037-C68F229F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1A17DFD6-144F-4000-AEA5-A57610DD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a, b = 10, 0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968C4614-962F-4FF4-9F86-2A08BC97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527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a, b。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7EA574-A3D8-414D-A09B-81216159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BF503CC9-4AB9-4F4C-96F3-6BBB94E0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630B7C87-7CF8-48DB-8BFC-E0A82AFA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718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print("短路檢查：", b != 0 and a / b &gt; 2)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47C29ADA-DF18-4204-9A24-CD37F2F6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718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b為0時短路，避免執行除法。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9D91955E-4636-49DE-8445-7EEB2393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196291260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E6554-C594-4B2E-990F-E14CC95E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E936210-FBCB-40B2-B3BA-E2FC6FE8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C2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8DEC770-7023-43D6-B0F3-4A05ACB6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判斷式與按鍵流程：執行結果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7F00172-C8C9-4858-95B0-7BE7077E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第4章 條件判斷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7A6EF40-54C2-4DD4-B3CC-4AEB668A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22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7F2AF-4E26-4A96-AE5C-915AFFE7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432560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DD43B20-303C-4F17-A113-1DBC9629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3716000" cy="509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7 =&gt; 7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+ =&gt; 7+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3 =&gt; 7+3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AC =&gt; 0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9 =&gt; 9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短路檢查： False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CF2861C-C0F2-408A-A551-5EC6D403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62850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課堂提問：哪個運算、分支或迴圈決定了這個結果？改動一個輸入後再驗證。</a:t>
            </a:r>
          </a:p>
        </p:txBody>
      </p:sp>
    </p:spTree>
    <p:extLst>
      <p:ext uri="{BB962C8B-B14F-4D97-AF65-F5344CB8AC3E}">
        <p14:creationId xmlns:p14="http://schemas.microsoft.com/office/powerpoint/2010/main" val="104062055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C58E1A-EAB6-47A6-8ABA-B532A096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CC0A938-BEDE-49C9-9135-70201709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C3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3C959F4-E456-41CD-BF6C-3B42B3D3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函式把運算規則集中管理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15B32D-A7F2-4FAC-935B-981ABC42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第6章 函數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68617C2-F0EC-42C3-A7FD-2E5E3B43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23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321B9-EE10-4FAC-8138-0104379F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3A0EFF4-9AB6-450B-990F-47D0FFD2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C895F26-CDA7-4EA8-8F52-5C765C3E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講授： def calculate(a, op, b):只定義方法，呼叫calculate(7, "+", 3)才執行。定義中的a、op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、b是參數，呼叫時的7、"+"、3是引數。函式內的名稱原則上是區域變數，外面的介面只需拿回傳值，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不必知道內部用了哪個分支。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B0388-2B2A-43C0-8FF1-EA299991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83FF3DC-E483-4044-B0FD-FB95AF03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01E66633-DC0A-4D0D-AAE7-B0F8D4F6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33725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return把答案交回呼叫端，並立刻結束函式；print只負責顯示。若函式只有print而沒有return，取得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的結果會是None。把「計算」和「顯示」拆開，才能重複用於Notebook、網頁按鈕與Tkinter。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73E730-39DA-497A-AA45-59B09158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0525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DE53D33C-CEB4-4F94-9D4C-17A78744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09DBDB39-AC2D-4466-8477-89661007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00525"/>
            <a:ext cx="1314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下面先檢查輸入為有限數值，接著排除除以零，最後選擇運算分支。錯誤以raise ValueError交給上層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處理，不把"Error"混進數值答案。try/except是錯誤處理延伸語法，用來讓單筆錯誤不終止整個示範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65E65F-71CF-4736-8BCE-47E47D07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07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0F87762D-4416-43CE-812C-1369C0AB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02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63E3082C-D49A-44AF-8798-713B0ED7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00700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檢核： calculate(8,"/",2)回傳4.0；calculate(8,"/",0)提出錯誤。試著把呼叫結果再乘以2，體會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return的用途。</a:t>
            </a:r>
          </a:p>
        </p:txBody>
      </p:sp>
    </p:spTree>
    <p:extLst>
      <p:ext uri="{BB962C8B-B14F-4D97-AF65-F5344CB8AC3E}">
        <p14:creationId xmlns:p14="http://schemas.microsoft.com/office/powerpoint/2010/main" val="2017858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0F1861-14D8-4E88-95C1-219649B7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A137079-0AB9-42A3-A1B1-1BB0A9CA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C3  逐行程式解析  1/5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6E1C70E-9AE6-48D9-B64F-02B91DF3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函式把運算規則集中管理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3C8B21C-B34C-45F2-BDAC-1F62D246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第6章 函數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77C369B-21F1-42E5-9F61-D0F36327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24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CE6FC-4844-43BD-BA34-BCB98537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8D16B7E-869D-4323-A4CC-5F11DD2E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10D36B0-C514-4A26-9538-B1C2FFCF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第9個儲存格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E644392-BCDF-4206-9B6F-99EE597E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277F86-A0EB-46F3-AF5C-DA16E49C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48CC885F-A5CD-4ADC-807D-D2DD0480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4203F60B-538E-41BC-BC46-3DF5B673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def calculate(a, op, b):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5403EA8B-8333-4F03-A54D-12F09517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定義calculate；呼叫時才執行函式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內容。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D6D88757-28AC-4AA3-A9CD-649B98F0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AFF492D5-6D3F-4EE5-8D3A-7ED3A293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if type(a) not in (int, float) or type(b) not in (int, float):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4DFA4AB3-C563-40EC-AFC1-854CA4BB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任一運算元不是整數或浮點數就拒絕。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FBA47D-8C54-4424-8984-8616A313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27BEC001-8F99-4CD6-9DCF-CC74C97F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D9A2F54A-A1E9-457E-8D22-449C19E5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raise ValueError("運算元必須是數值")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4C38BBD8-AA2D-4062-9B88-4B21C8A8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提出錯誤，交由呼叫端的except處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理。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E73845DC-C954-4FF1-AEA8-702DA87A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05108BCF-BB1B-46F0-BCDB-01CAEA86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if not math.isfinite(a) or not math.isfinite(b):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5F2FCBBC-94DD-439B-BEC2-E4C0024E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拒絕無限大與NaN數值。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887E02-14E8-4BBE-9C2F-FE986139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CC7DFA8C-B069-4334-AE66-76954552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E143E88A-CB8A-4D0B-888F-87AF3F87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raise ValueError("請輸入有限數值")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DA25D7BC-BB7C-40A6-9947-8D90EA6E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768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提出錯誤，交由呼叫端的except處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理。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7E25EEA6-36C1-4587-86C2-5A9061C2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CDB4206F-DE2C-418F-B403-B8F6A659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if op in ["/", "//", "%"] and b == 0: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1FC6F81C-4599-4243-9A47-83B73003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62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檢查除法類運算是否遇到除數0。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1EFFC8-DE9D-424C-99C3-C60634ED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626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08F8C3FC-CBD9-4195-83F1-4A2EB81F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05C26900-F0EC-442C-B701-E3DBE7D6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817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raise ValueError("除數不可為0")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0176F992-A33A-402A-B5A1-DB038072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817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提出錯誤，交由呼叫端的except處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理。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DBC3AAE8-056B-43FC-B97D-0E8EA1D1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F793FD07-343B-4BD7-90FB-A042E0E9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6675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if op == "+":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4887E683-6CBF-4427-8CC5-30761F62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675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運算子為加號時進入加法分支。</a:t>
            </a:r>
          </a:p>
        </p:txBody>
      </p: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37F709FC-25C1-43D6-9854-88AF4206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85085724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E7C4EA-283C-4DD3-95F3-0ACD703A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1F92881-E2A5-4C92-8022-610621B4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C3  逐行程式解析  2/5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B87A810-CF28-45B0-83CD-26078567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函式把運算規則集中管理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87DF9AF-1A52-4343-89A7-CC57AEFF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第6章 函數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42F9247-8D87-4505-842D-AAFA53F4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25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39DD0-EA22-4705-9423-C437B812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63E15FB-FD0A-4CDF-BE2D-B7390A95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4EA0B00-7B3A-4B66-9ADD-CDC191B3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第9個儲存格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9659647-0AF0-44C7-907B-191F2BC3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F88E1-C724-4A36-A32F-D721D4F7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5FD6D30-159F-48D1-8958-6FF9117E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70666A03-921E-4EEF-A17A-99E7E373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return a + b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557CBE85-67C8-4E85-9AB9-1BEFC841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將a與b的和回傳給呼叫端。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2A8DB472-367B-495D-84D4-0D464F04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444197C4-0BBE-41F7-B4B2-B4BA0E0A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elif op == "-":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CA254EA1-9125-488E-A82E-28559B8E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改檢查是否為減法。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1C063A-F5A3-4584-86F7-9F060FCD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2AEEA6FF-9C29-44F2-B5BF-A917AEEF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2A969586-1FF4-44B4-9D2C-C6672237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return a - b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82E1C34F-2BC8-42F1-8E39-E1D7C65F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回傳a減b的差。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16030E90-601E-4DCA-8251-892555BE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A48B1DB2-8496-433B-BA6C-B4B37736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elif op == "*":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0C7FBA67-0DD9-4FE4-BCA4-86C2F005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改檢查是否為乘法。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DEDF28-8654-48E5-91F4-6544EB14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65E2F250-D201-42BA-8627-F287863D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C68ED803-F391-40D5-A2E6-E224E101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return a * b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5934852E-E149-48DE-BC7E-52C2F3E5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768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回傳a與b的乘積。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DC0B23A8-A7ED-4D7D-9BB1-1C8E47D0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919F900C-2E1A-463D-9242-C7D56922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elif op == "/":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149543A3-58CF-4DA5-ADB0-3855F11E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62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改檢查是否為真除法。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CB976E-4FA6-4F27-98F3-CCA029CA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794117AD-C9E2-436D-8A5B-CE90E72E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D4A87FCA-A2E4-416F-9EF3-7E9DAD69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48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return a / b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FC8E77A5-F80A-4CF3-81B8-6EB16317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回傳a除以b的商。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B5C1022A-CFBF-4A30-93B7-9CFC2E06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159680098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A046D7-703F-4AD6-8DEB-FB80F08F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F3F3D86-8B5C-46F3-A729-050359A1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C3  逐行程式解析  3/5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B7FA6B4-693C-4E01-9B9D-E0B751C3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函式把運算規則集中管理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C16E8BE-3350-4071-B59E-4C3D8A3A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第6章 函數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C05B2A2-3EEE-4439-AE80-E666D58F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26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0C755-790C-476C-A09B-47A1B4DB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9F57E20-B70A-43A0-8381-D4C67FF1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1C157A5-49F4-4D46-ACD2-B7AD3F81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第9個儲存格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91DDE44-1551-4D26-8DBA-AB130B4A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096B4-CB82-43B6-92A1-8E423272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B4D4E336-90CD-4407-9F60-B5DC3BBE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0A9F956D-8081-4EEB-A144-D7F88358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elif op == "//":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D1340328-5E4C-43F9-98B1-E75E787C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改檢查是否為向下取整除法。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13931842-C3BB-4E18-9E95-610972F1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B14F5B8A-E385-4FEC-87EE-EF01A3FA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return a // b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1F4C2048-74E3-4C26-B827-BF543FC4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回傳向下取整後的商。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94573B-7A60-4855-8C4D-20F5D54F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ABEDA356-E8EC-4A6D-8315-29DF067B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6600E63D-8CBB-4870-9EBB-74AF4C90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elif op == "%":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D4E9D8F0-C5FC-4DE9-A2C3-D4340ADC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改檢查是否為取餘數。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C5E4A12C-3F57-463F-8DB1-226A8C5F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D861E798-DFE5-4F3E-A1A6-659FFB15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return a % b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BFACDE43-6DE0-4164-96BD-A34141B3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回傳a除以b的餘數。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9A4885-7DE2-480A-A6E2-F60428E7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59610108-8576-4D8F-94CA-0FCAA59F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B427E679-56CE-42B6-9B7E-F3C6BBED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elif op == "**":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B12B15F2-D4E4-4F27-B070-4EC1880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768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改檢查是否為次方。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06B1C5C7-B388-46F3-9734-81E77849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3DD3CC37-079C-4ECC-84C7-E0C7B6C1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if abs(a) &gt; 1000000 or abs(b) &gt; 10: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B9E0FA6C-5938-4DD1-8678-5F2E8795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62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限制底數與指數，控制運算量。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8AE8D8-D22D-409F-A5BA-95141AB1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52DE4E04-AF71-4DFE-A015-CF383207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FEE3E225-6DEE-4797-8016-F42F294C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48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raise ValueError("本教學版次方限定底數絕對值不超過1000000，指數不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超過10")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F6B7A75C-CF52-48E1-ABA9-D3E09D3F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提出錯誤，交由呼叫端的except處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理。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893448E8-C85E-4FF8-9D4A-9D0337D1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342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85A8279C-D4CB-45A2-8694-6CBCE935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9342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result = a ** b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807187F7-A8BE-4DFC-8DC0-6532991B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9342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求a的b次方。</a:t>
            </a:r>
          </a:p>
        </p:txBody>
      </p: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812E853D-A7C7-40A9-8FF1-EED47FDF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131717536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B9FF1C-7679-4BC8-8694-7AABB752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D112503-F3B3-4677-820C-02484A66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C3  逐行程式解析  4/5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A9EABEE-1E77-4340-80A1-C52F9A00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函式把運算規則集中管理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62A3C52-19B2-494A-B583-F4D15E34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第6章 函數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4419DDD-EBA2-43BA-9BC3-1C3FA74F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27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9B273-716E-40D2-8174-8CB4F343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647C8A9-C912-403F-864C-B2A9FAF7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03031F7-0FC0-46BC-8669-3B56F052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第9個儲存格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2E03240D-66B5-4C21-B86E-4B30BFCF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D460D-8DEF-4006-87BC-FEE1CF89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599E9D6-BD0C-41D7-B807-D3F4CE44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4EA3721E-41E8-4F68-BCBF-9C23AD31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if isinstance(result, complex):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E0E9922F-6C2D-46BD-894B-22DBBFF4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拒絕超出本課範圍的複數結果。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9EF12CB8-CF4E-4DE1-BEE6-F25EF310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5B48E7DB-D4F6-4F3A-BF71-70FBDED6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raise ValueError("本教學版僅處理實數")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DCB3C6B7-E04E-49E3-B884-8C8EC358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提出錯誤，交由呼叫端的except處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E18154-DC3F-4F6B-B683-9B11E77A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A7A2A1F0-5E00-4F02-A360-B3454EFC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19640F7A-CCA7-4AD2-9878-377F7702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return result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770EBA92-9D1A-49EB-8EE0-FDCF0113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回傳通過檢查的次方結果。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86E0841C-0724-4120-A4DE-57D603AC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373520B8-78AF-4776-A8E0-A8B19BF5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raise ValueError("不支援的運算子")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67F51EF4-3704-4896-A190-A2E7E51A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提出錯誤，交由呼叫端的except處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理。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D0F21A-DD3C-4BF3-9B41-6D4AE56F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AC48721B-FC48-43C2-B025-78624697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285ED7AA-FC1C-4D5C-AFC1-F8291B37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print(calculate(8, "/", 2) * 2)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0A1156A8-EBD6-498F-AEFA-892AA7B5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768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回傳值可再運算，結果為8.0。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F611489B-293B-4BC3-8ABC-E9D9A202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959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A801EC29-880A-4611-99B3-A5891014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959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try: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D35CB17E-E0F4-4B24-91CA-94BCD29B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2959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執行可能出錯的操作，準備捕捉例外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F35659-7B27-452A-BB82-4DBD1BE3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626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E368822C-0A9B-4902-9ACA-D3E29D70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C6E83740-F150-4FA2-B923-98E47192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817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calculate(8, "/", 0)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7B1C9565-DF3E-4C13-A043-974A6629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817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故意除以0，示範例外流程。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A93D9A3D-3F44-49A7-9AD6-8738EAA9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5EB42D6E-4C5D-49FF-ADCF-196B1402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6675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except ValueError as error: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F9C287ED-E6D9-4DFB-BD03-29ABE27B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675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捕捉指定錯誤，改走可控制的處理流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程。</a:t>
            </a:r>
          </a:p>
        </p:txBody>
      </p: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D8342FED-4BF6-4FCD-92E3-4C28BA22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96777633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F110FC-A49D-435D-83E5-358C8EB6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F8722C0-5913-40B7-B23E-6102618D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C3  逐行程式解析  5/5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0D871BF-FB09-4F77-956B-C29879A3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函式把運算規則集中管理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880EC9D-68E1-44F3-83AB-4E1AAF1A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第6章 函數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CE4FA48-068A-48FA-A798-D3C937A6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28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93A2F-D24D-4FB5-8E76-1E000483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E8FA924-0ED5-4D9A-99FB-6EE08D58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B13B84A-D597-4652-B028-EF405A57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第9個儲存格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6B5603D-F5CB-429C-B01E-9C10093C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7702E-A71D-42AB-B43A-01557D80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1694B285-D0C4-443F-AA6C-43569CF8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39EDA838-F233-4DEE-A278-A40C6980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print("已處理：", error)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B91E8538-1F65-41E0-A90E-BD2B5876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顯示捕捉到的錯誤訊息。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CC31FA7E-4397-4887-A7AC-038EB670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132497624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157F4-C450-4B95-ADAA-7E08E4F3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9781ED2-C5B4-40A4-B135-2418042C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C3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45818A4-3CBA-4B43-AB5E-8449F41A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函式把運算規則集中管理：執行結果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4B147CC-876E-41BC-B164-C3D460FF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第6章 函數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6701E9A-5743-46AA-8D94-C496FB34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29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E77DB-69F7-4C78-A3BC-F4253BCF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432560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399D8E3-B426-436B-8839-50F805DF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3716000" cy="509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8.0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已處理： 除數不可為0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5ECF880-5CB3-495F-B571-5D34C28F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62850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課堂提問：哪個運算、分支或迴圈決定了這個結果？改動一個輸入後再驗證。</a:t>
            </a:r>
          </a:p>
        </p:txBody>
      </p:sp>
    </p:spTree>
    <p:extLst>
      <p:ext uri="{BB962C8B-B14F-4D97-AF65-F5344CB8AC3E}">
        <p14:creationId xmlns:p14="http://schemas.microsoft.com/office/powerpoint/2010/main" val="78045816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A6FD6C-8325-4320-92D7-A3151528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737B1CE-6EE3-4672-AE51-A26C806C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C4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14D8C8A-D311-4742-8D55-F3A035C9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一維串列與二維按鈕陣列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A4A60AA-9323-4FAC-8693-BCEB390B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第7章 字串與容器型態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86792E7-D106-4F4C-B907-2CFE82CE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30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83334-3AAD-49DE-A4DF-C324B311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DCF8B88-6506-4505-885E-681706C4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717220D-F6FB-4066-A1BB-CADECD23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講授： 串列用方括號建立，第一項索引是0，最後一項可用-1。len取得長度，append加在末尾，切片[0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:2]取前兩項，不包含索引2。空串列[]可作為逐步蒐集資料的容器。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C931C-7776-489E-B55B-5C10BFA4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6DD3970-D165-4E9B-85B2-E26C0813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58DC1C39-E44C-43C9-A981-510D6BCC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00350"/>
            <a:ext cx="1314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原範例buttons_data是一個「列裡面還有列」的二維串列。buttons_data[0][3]表示第一列第四個按鍵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，不是第四列第一個。外層長度是列數，內層長度是該列按鍵數。加入一整列時，畫面建構迴圈就能自動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產生新按鍵。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340A29-ECF9-4DB3-926F-9F915F29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052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CCB05843-8D2F-45EB-848F-5DC8D1A4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F4FB0ADF-412C-40D7-970A-B824F607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00525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串列可以修改，other = buttons_data只共用同一個物件，並未複製。建立二維表格時避免[[0]*4]*4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，因為各列共用；可用推導式[[0]*4 for _ in range(4)]建立獨立列。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F3AE94-9535-4F0E-9A0C-3208AE90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6732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84D02CB1-2E6E-4A3E-BDAC-6A9BF380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99198E0B-44A8-4AC2-AC13-BF292E5B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67325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檢核： 請找出原版等號的索引[3][2]。本教學擴充版加入小數點、括號與三種延伸運算，等號位置改為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[4][3]，因此不能把舊索引寫死。</a:t>
            </a:r>
          </a:p>
        </p:txBody>
      </p:sp>
    </p:spTree>
    <p:extLst>
      <p:ext uri="{BB962C8B-B14F-4D97-AF65-F5344CB8AC3E}">
        <p14:creationId xmlns:p14="http://schemas.microsoft.com/office/powerpoint/2010/main" val="148611851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BD20FE-9921-4BDF-AAB8-0E6182C3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597B08B-A2B2-4C2B-92F0-0EF9F814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C4  逐行程式解析  1/2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C999972-012B-4064-B7FE-C023A8B6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一維串列與二維按鈕陣列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002CD58-14E4-4DBC-A6BB-96FFE9A3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第7章 字串與容器型態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66FC2EE-FC81-4C16-88FF-60BE63C7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31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C8E4E-D49D-4D70-916A-84C6F16B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D1E57BE-F911-4B43-9BC4-832DA695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F9DF329-7470-4F50-9BF0-75C19918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第11個儲存格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167249B-9D53-4A14-A64E-00020F2A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C1129-8AB5-4B13-A6A1-E9BE67A2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DC438489-FA53-4E98-8B71-C6F795AA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6726FFDD-0D79-4DA7-BF03-83E820A3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buttons_data = [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22B5AD1E-AAB1-48CF-8C11-1613570E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buttons_data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EF54BCD7-642A-472C-8058-8B80396F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195EB36F-2DEE-4A27-9650-F220EC12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["7", "8", "9", "+"],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3F8DC0BD-9D53-43B0-9D2B-0CBDCD13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建立一列按鈕，順序就是顯示位置。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9FEB4D-9EEB-4B14-9330-31C7B67C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2FE752D0-04C9-4E66-B14B-2E2836B1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AE3E2D02-5E3F-4BA1-92D7-B333AE65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["4", "5", "6", "-"],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8C4E3DB1-F33C-4EA6-837B-AECFE620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建立一列按鈕，順序就是顯示位置。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CAF35DC4-BB21-4818-ABEE-C8E1449B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6DD9E770-A5CD-4A22-A797-91A25DB3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["1", "2", "3", "x"],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125E49AB-0348-407A-B227-52440B9E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建立一列按鈕，順序就是顯示位置。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233315-CBFE-4645-B84D-7A5F37EE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FFE8B42F-3BD3-496B-A835-8090B38B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460FDC15-E8D9-421B-AEB8-0621383E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["AC", "0", ".", "/"],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2D76B617-6FE0-4DC3-A0A5-F7D1F623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768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建立一列按鈕，順序就是顯示位置。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A4EB0DDD-03E0-4FF1-969C-98C0DFC4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7F4B1B70-460B-4BAB-AD01-9D210545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["(", ")", "**", "="],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61D0A2BA-95C8-4CC2-9D5D-88FC7E64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62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建立一列按鈕，順序就是顯示位置。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21C27A-20BC-4D6A-96CA-EDD66B9E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9827E8C7-2536-45C7-801B-36A5F6E4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F942EA57-7FC1-4B26-97AA-0C8EB875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48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["//", "%", "DEL", "±"],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732E10A3-CC4F-4345-88CC-0065D8F0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建立一列按鈕，順序就是顯示位置。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EE97559C-A0E6-4E5C-804E-4555EAD2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68285561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85266C-E4DF-450C-8BF6-87DA8382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8E98200-BB3E-4067-9DBA-DCF32D0C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C4  逐行程式解析  2/2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8ACD0BA-6A54-4B1C-8AD3-BF817F65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一維串列與二維按鈕陣列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9DEE5AE-0581-4F80-9DE5-B0FA1A95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第7章 字串與容器型態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285B928-66FE-44EB-AC7F-165CD26D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32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C866D-62B8-4A7C-80B6-C4E658EE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4B359A3-A3D8-4472-81BC-05111B1D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BE79080-BA10-4753-B7E0-8A990ADB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第11個儲存格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F9B177C-918E-4FBA-9323-F0DDABF0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81188-F57B-4AE9-B785-AB8E784C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757004DA-2932-44FB-B4F8-A37D7975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FF7008DD-B677-4063-B7B5-1779B4EB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]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2D56D936-C1A4-41C4-A20B-528D541F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結束前面開始的串列、字典或函式引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數。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85EE97F2-E692-4DC1-88C8-23F688CC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29C3031F-717F-4C60-94AD-29FF4B3F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history = []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D3B4287D-1154-4E86-BAFE-13EE8516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建立空串列，準備逐筆加入資料。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7C4EEB-1985-48FB-ADC2-31837AAB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94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45806EE9-F092-4644-A585-035A6959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332A6C29-EC49-4911-A57C-6499A1A4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history.append(calculate(7, "+", 3))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CE1851E1-A672-4ECD-8F32-5A68EC93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將這一筆資料或元件加入串列末尾。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7544A11E-5F7C-45B5-B6EC-BE1C4CB2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57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69A663C2-8DCD-43B6-85C7-BA37A132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history.append(calculate(9, "*", 2))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711621C2-EF03-45A1-81E1-B6FBA8E3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57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將這一筆資料或元件加入串列末尾。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A6FE84-9F1B-4A30-9178-C26C0AB0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576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11DB7E10-B5E2-454B-9482-6AD8B15F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7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238CE474-1258-4F38-9F23-8D2A479B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print("第一列第四鍵：", buttons_data[0][3])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15E961B1-4300-4181-891D-29B1B995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767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索引從0開始，取得加號。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53C78242-CA8F-4560-ADFA-C956F716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A4A614B0-EA26-4117-AE4D-7D8A9AD0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print("列數：", len(buttons_data), "等號：", buttons_data[4][3])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8EECEBF2-495C-4DC1-8C9B-9DB5205A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958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計算列數並定位等號。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A4B7C4-6855-4A1B-85A5-2DC67DB8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958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482DEC9D-99AD-44D1-B7E2-FA555DB6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E4AAA5F4-2A61-41DD-8CD5-C1822253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149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print("歷程：", history, "最後一筆：", history[-1])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171849FA-4630-44E1-91AF-F22CE154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149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負索引-1取得最新一筆。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D197430D-BE6A-42A5-ACC6-30A8E286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B8F47FE1-3664-410F-9B68-0FCC3D1C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print("前兩列：", buttons_data[:2])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0006FC99-1F29-4025-A7E0-039F8391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340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切片取前兩列，不含索引2。</a:t>
            </a:r>
          </a:p>
        </p:txBody>
      </p: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2F91A5FD-019D-4A64-98FE-236C0264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17024664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8C5AC-FF87-4E60-B663-7F74D7A6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D5DC9EF-D428-497F-96C1-54197934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C4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9C04360-C9B0-4438-BCB3-3A8131AA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一維串列與二維按鈕陣列：執行結果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E3D2C78-69A8-4C3B-A7D0-8421C160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第7章 字串與容器型態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B248A6C-9CF5-4225-B3CE-17F3317E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33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6A9CB-A8D4-4736-818E-4EFCE930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432560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D15D3A7-B2BE-422A-8A09-896C12C1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3716000" cy="509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第一列第四鍵： +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列數： 6 等號： =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歷程： [10, 18] 最後一筆： 18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前兩列： [['7', '8', '9', '+'], ['4', '5', '6', '-']]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5367AB1-587C-4879-81FA-4A71B5D3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62850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課堂提問：哪個運算、分支或迴圈決定了這個結果？改動一個輸入後再驗證。</a:t>
            </a:r>
          </a:p>
        </p:txBody>
      </p:sp>
    </p:spTree>
    <p:extLst>
      <p:ext uri="{BB962C8B-B14F-4D97-AF65-F5344CB8AC3E}">
        <p14:creationId xmlns:p14="http://schemas.microsoft.com/office/powerpoint/2010/main" val="1765331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86F339-7C54-45D4-BBD7-C29FDC3A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568A8A8-CD31-4D3B-BC44-6FA409D2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C5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8D4DF9B-3C5B-426E-A5F8-FB50CDD2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for與巢狀迴圈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6F8FBA3-8884-444B-AC0D-5CCF5471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第5章 重複執行程式碼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616755B-E94D-4098-A905-E310A1CB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34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0F5C4-5453-48CA-94C0-DDB63989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29799B7-CBF1-4600-9C27-7A3EB7C6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58853C5-5462-486D-9E87-573B2312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講授： for value in data依序取得每個元素，處理已知的一批資料很方便。range(4)產生0、1、2、3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，不含4；range(1,5)是1至4；range(5,0,-1)是5至1，間隔不能為0。想同時取得索引與值可用enumer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ate。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CA98C-113A-4898-A241-D0F26E66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1A24CE56-7BF4-4898-986C-8D9F0D92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A1CB65E4-0BBB-47FC-9BDA-7AE60C19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33725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按鈕的外層迴圈每次取一列，內層每次取一個字元。原範例在每列開始時重新建立row_widgets=[]，避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免把前面列的按鈕重複放進來。6列、每列4個按鍵，共建立24個按鈕；不是6+4個。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B6CE66-312E-4D79-B780-328DB1FB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052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FB45EDCA-CA39-4AE0-9D1D-BC7D5787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D996EA2A-36A7-4275-A76A-0B912D4A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00525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第二段以for批次處理運算資料。遇錯用continue只略過該次，下一筆仍可執行。迴圈後的else是在未被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break中止時執行，與if的else意義不同。巢狀迴圈中的break只跳出最近的一層。</a:t>
            </a:r>
          </a:p>
        </p:txBody>
      </p:sp>
    </p:spTree>
    <p:extLst>
      <p:ext uri="{BB962C8B-B14F-4D97-AF65-F5344CB8AC3E}">
        <p14:creationId xmlns:p14="http://schemas.microsoft.com/office/powerpoint/2010/main" val="67177299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A46FC-6FFF-4BFB-9D33-15EEF478B6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82f11f42a46a1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C6B66-E9AA-4D89-BE7F-B8E76D26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8FD7B1DC-3419-46D0-8BA5-909625F4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C5  Py02_選擇敘述與迴圈(2).pptx  第14頁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7D4227CF-EFB3-4E80-9E13-8198FF33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教材對應：第5章 重複執行程式碼；原頁保留完整圖文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824ACFC7-C274-48DC-B838-ED38237C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01020178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DB43A-8CA8-4EBE-BB7D-10E5D8BABF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19c6ced204935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7E9FA-1550-462D-AE3A-838FBFEE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C11B3E86-214F-4437-8441-5E4D2352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C5  Py02_選擇敘述與迴圈(2).pptx  第21頁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23A05686-6157-433A-B68B-198CCB6B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教材對應：第5章 重複執行程式碼；原頁保留完整圖文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CBA9E44-21A0-4172-AD99-45EF3DB0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85342653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22F4D-A190-4843-9AA4-C1AD3BCBB0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c331146e7c473b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79089-52F0-4A18-8AD4-4D2B7173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1FA92E95-A42D-4DCD-ADA9-62F4074B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C5  Py02_選擇敘述與迴圈(2).pptx  第38頁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BA9C3C13-B018-44AE-B839-F4FA2D02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教材對應：第5章 重複執行程式碼；原頁保留完整圖文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8D6F2ECB-8459-44AA-B5C7-D96AD3CF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61651826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DB2376-B4C9-4C0A-B048-3D8BBDE7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DCC2575-3BED-4EB5-B452-AC7A34C7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C5  逐行程式解析  1/2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F8089F9-CF4E-4075-A956-920619F8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for與巢狀迴圈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2741078-F7A1-431A-B63C-1311D287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第5章 重複執行程式碼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C60A128-A3B5-41A5-B5D6-5B6D9ED0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38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057A7-602A-4209-847C-0EF56F5A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86BE424-39A9-4C63-836C-F8133EF9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887661E-999F-487E-A126-9B82A66F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第13個儲存格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97FD677-3DAF-4946-9C8A-165728F6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66016-25F9-44F0-97C0-FEB0E621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08251E11-EAE3-4FD4-8E3D-ABEFB881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BE49DF7C-315A-41A5-9A00-9215A0D5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print("range示範：", list(range(4)), list(range(1, 5)), list(range(5, 0, -1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)))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F0FC223F-B197-44FA-A64C-DFDB80E1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比較三種range起點與間距。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E3A62883-C680-4496-BF42-C724FED8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B54C8DF2-716E-48E5-A29B-5A50C9D3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button_count = 0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A9FCBCC6-BA12-43DA-AEA4-3E59D974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設定初始值或清空狀態。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2A8098-28F1-4414-9E7C-0318CCF7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94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278423CD-5B09-4636-92AE-71C4BB50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E7FEAD2B-BB85-4D07-897B-626DBF64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for row_index, row_data in enumerate(buttons_data):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8BD025CF-0706-4810-8209-0488F80C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依序取出資料；每一筆執行一次縮排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區塊。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94F277D3-154B-47D5-B16B-D26F5815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1F3756DF-4859-4F4E-BC77-D7124E44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for column_index, key in enumerate(row_data):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5FB75AC8-BB45-4C2E-8A5C-C06F5B58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243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依序取出資料；每一筆執行一次縮排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區塊。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0A6B2A-5D5F-42C3-9ADF-3159DB69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910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8AEEBAAA-58A3-4FE5-AB55-A54ED1C8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89AB8F3D-19D9-4F0A-A142-AA77F3D4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button_count += 1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D6CEEAC3-4BD5-49DB-91B7-10D03A6A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101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累加目前數值或文字，更新狀態。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DE87BA1A-CB43-43EC-9180-0A3A740E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E325EE62-4D3E-4129-9899-DD97A3AB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print(f"({row_index},{column_index})={key}", end="  ")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1B50E337-A4EB-49DB-8023-93DAAE01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0292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顯示列索引、欄索引與按鍵。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90DA5E-382A-4DF9-AD52-94449E45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41BDC0B8-BE51-4EBA-B119-948051FA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483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0C369CD1-5763-418D-8556-95A8FAE0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483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print()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F9036EFB-A8EA-4AAB-845D-614BDD0A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4483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一列輸出完成後換行。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99E2D497-674C-45BC-BEA5-0C227038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D060AE6D-3FF8-484B-801D-0885BD24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674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print("按鈕總數：", button_count)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891A5D63-8CA3-44FA-ADD9-905E5AE4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8674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總數為6列乘4鍵，共24鍵。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EDB4A0-206E-4237-AD38-E965DA4E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674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B308614A-193A-4C5B-9DD8-2C640706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DF9BFBDF-12B4-447F-AA64-BF489072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jobs = [(7, "+", 3), (9, "/", 0), (8, "%", 3)]</a:t>
            </a:r>
          </a:p>
        </p:txBody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C59E122F-998A-4555-8CC3-BC81752E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建立三筆待運算工作，含除以0案例。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6A17A226-ED64-47AA-A866-FDEEFDB1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05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43" name="text-42">
            <a:extLst xmlns:a="http://schemas.openxmlformats.org/drawingml/2006/main">
              <a:ext uri="{FF2B5EF4-FFF2-40B4-BE49-F238E27FC236}">
                <a16:creationId xmlns:a16="http://schemas.microsoft.com/office/drawing/2014/main" id="{BF3C0E62-1176-467E-970A-939018BA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705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batch_results = []</a:t>
            </a:r>
          </a:p>
        </p:txBody>
      </p:sp>
      <p:sp>
        <p:nvSpPr>
          <p:cNvPr id="44" name="text-43">
            <a:extLst xmlns:a="http://schemas.openxmlformats.org/drawingml/2006/main">
              <a:ext uri="{FF2B5EF4-FFF2-40B4-BE49-F238E27FC236}">
                <a16:creationId xmlns:a16="http://schemas.microsoft.com/office/drawing/2014/main" id="{DD5482C9-1C3C-41B0-9CF7-B17BFAA9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705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建立空串列，準備逐筆加入資料。</a:t>
            </a:r>
          </a:p>
        </p:txBody>
      </p:sp>
      <p:sp>
        <p:nvSpPr>
          <p:cNvPr id="45" name="text-44">
            <a:extLst xmlns:a="http://schemas.openxmlformats.org/drawingml/2006/main">
              <a:ext uri="{FF2B5EF4-FFF2-40B4-BE49-F238E27FC236}">
                <a16:creationId xmlns:a16="http://schemas.microsoft.com/office/drawing/2014/main" id="{D04320C6-2FC0-4C26-9677-9191F64A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98055241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0FB2F4-0D7C-4616-B5E6-C7F1725B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F389B06-4E53-4736-934F-FBE16754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C5  逐行程式解析  2/2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553D7B6-7691-48D2-97BB-252DC720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for與巢狀迴圈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3F10272-16EC-41C7-B078-4A101EC0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第5章 重複執行程式碼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1E8DF21-A62E-4A9B-95DA-B92C3022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39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F7EFE-6C16-4CAA-8EE3-51EA1793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780DD5A-8DCA-4D0F-B119-6017EF1C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4742A1B-D4C3-4CE1-983A-378C758E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第13個儲存格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F769A59-F478-4849-A945-82969DC7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BE210-7C1A-43FE-A7E5-9F15CA86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5A6B824C-29B2-4E72-B0FD-1846E941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3CBF9E88-3B12-4A41-9AAB-4970E071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for a, op, b in jobs: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55705429-CFE7-4D2C-8FE8-E995576C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依序取出資料；每一筆執行一次縮排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區塊。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666CF6DA-95EE-42CA-8581-87DC5F76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9FFCDC9C-98AE-4FDC-95DD-401D795E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try: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527B25A2-8F71-4CF1-AD1A-C6D61811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執行可能出錯的操作，準備捕捉例外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57B115-2B83-46E1-A87F-A221D006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256F3811-C4C0-414E-ABD9-34E510AC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CE0595D0-2C7B-4F35-9E6A-CDCE9E7D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result = calculate(a, op, b)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4E9BCEDC-3E8A-4782-8530-6F633683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result。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E3D32534-14E1-4C8A-ABD2-6CE0B8CB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78E80099-4EEF-4889-9057-8436C677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except ValueError as error: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5E9B4DDD-EBE3-4E65-B51F-976AF8B5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243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捕捉指定錯誤，改走可控制的處理流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362AAF-DB61-4E44-909E-1F465EA0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910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299723CD-4A5B-41BD-8696-B40281DA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BDCF196B-406D-449B-993C-4DC73F41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print("略過：", error)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E01E31DC-3374-4DB1-BA39-B984F848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101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顯示錯誤後略過本筆工作。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82D88E67-669D-43A6-8AC7-A5994329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11496FF9-A697-45FB-85A7-3A0BC8B2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continue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853395B1-7393-405D-A77E-514B0879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0292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略過本輪剩餘內容，進入下一輪。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132962-25EE-4F21-AC4B-B3F65C90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27FEF9FC-90CB-4121-A5B4-6D231B8B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483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9A7BA80A-609A-4202-BADD-82D30525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483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batch_results.append(result)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25BCAB87-9936-4AEA-BA8F-7EC653CD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4483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將這一筆資料或元件加入串列末尾。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08CF1DC7-D26A-4F40-88F8-6EE23E0D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AEB4A9FA-035D-46A2-B5A1-82DB82AA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67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else: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8F98E2AD-3882-4DAB-9558-AAD9E8DB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867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迴圈未遇到break時執行。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F51F66-4E92-4D52-ABA1-A9A59D43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341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64576A16-4103-4C63-9638-D4A6BDA6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4DC393BE-BF50-4768-9416-E48CD718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5532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print("所有工作已走訪完成：", batch_results)</a:t>
            </a:r>
          </a:p>
        </p:txBody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A67B634C-6F90-4EB4-9A85-1CF0B78B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正常走完迴圈後顯示結果。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3EC30FB7-3882-4BC9-A56D-1C616BFA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154144551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F7671-B8E5-4BDA-9033-7F35608F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9D40823-65A6-4D10-A3D2-A785AB07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C5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14211FC-4F9A-4964-B9F7-38A83D56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for與巢狀迴圈：執行結果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1119FC8-EFD7-4BD9-8F09-2CBDFAC5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第5章 重複執行程式碼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C138C29-CA62-4314-9B4E-9F941669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40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52803-43CE-430D-8847-AEF5600A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432560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6497FAF-0023-40A4-89AF-A838BD13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3716000" cy="509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range示範： [0, 1, 2, 3] [1, 2, 3, 4] [5, 4, 3, 2, 1]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(0,0)=7  (0,1)=8  (0,2)=9  (0,3)=+  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(1,0)=4  (1,1)=5  (1,2)=6  (1,3)=-  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(2,0)=1  (2,1)=2  (2,2)=3  (2,3)=x  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(3,0)=AC  (3,1)=0  (3,2)=.  (3,3)=/  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(4,0)=(  (4,1)=)  (4,2)=**  (4,3)==  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(5,0)=//  (5,1)=%  (5,2)=DEL  (5,3)=±  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按鈕總數： 24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略過： 除數不可為0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所有工作已走訪完成： [10, 2]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C2495F4-1439-4A0E-9C06-253AA7B9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62850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課堂提問：哪個運算、分支或迴圈決定了這個結果？改動一個輸入後再驗證。</a:t>
            </a:r>
          </a:p>
        </p:txBody>
      </p:sp>
    </p:spTree>
    <p:extLst>
      <p:ext uri="{BB962C8B-B14F-4D97-AF65-F5344CB8AC3E}">
        <p14:creationId xmlns:p14="http://schemas.microsoft.com/office/powerpoint/2010/main" val="62648436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0AAE0-1017-479B-A37D-19746D9D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90C2723-322C-425E-AD5B-E75973D3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C6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E97512E-3893-40DD-84CF-0732F06F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while、停止條件與互動輸入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AA50100-E670-4B5F-AF38-03EE2297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第5章 重複執行程式碼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8EA79DA-76B7-4FBD-8451-A18E247F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41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EA01B-FB1F-4120-824D-A3E116CC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AC101FF-2DFE-47EB-BD24-2377C1B4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A51F395-D77F-48A2-B960-F6689369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講授： while在每次執行區塊前檢查條件，成立才執行；如果一開始就是False，會執行零次。設計時找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出三件事：初值、持續條件、狀態更新。下例初值index=0，持續條件index&lt;len(commands)，每輪執行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index+=1。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F9816-90D2-4A5B-83F7-0ACFD4AA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04268DA5-378E-416D-A80D-1B851D0D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A329A5DF-B3B5-49C1-9A29-D989981B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33725"/>
            <a:ext cx="1314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我們先以串列模擬使用者操作，讓整份筆記本可自動跑完。空指令用continue略過；quit用break離開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。index必須在continue之前增加，否則可能永遠讀到同一個空字串。真正的命令列輸入通常使用while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 True，讀到q便break；原GUI則由事件迴圈等待點擊，不要在按鍵回呼內再寫阻塞的while True。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F9D5E-A699-4515-9050-F7B2440C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F009AC4D-778D-4D96-8195-D959BCAD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434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B4722E91-7432-4945-B4D6-4DA0779E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33900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檢核： 下例應只記錄7與3；quit之後的9不會被處理。把quit移除後，迴圈仍會在清單結尾停止。</a:t>
            </a:r>
          </a:p>
        </p:txBody>
      </p:sp>
    </p:spTree>
    <p:extLst>
      <p:ext uri="{BB962C8B-B14F-4D97-AF65-F5344CB8AC3E}">
        <p14:creationId xmlns:p14="http://schemas.microsoft.com/office/powerpoint/2010/main" val="28499094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51A85-C996-449C-B1E9-762273915E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128e840bb4057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245D5-1613-4C5A-A934-E4ED07DC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2F04AED2-E62F-423B-8F15-948DC4DA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C6  Py02_選擇敘述與迴圈(2).pptx  第6頁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560EE64B-3A07-4B6B-9898-0C850705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教材對應：第5章 重複執行程式碼；原頁保留完整圖文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12D42DD8-5BC9-42FB-8528-A0EDCF98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74484933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D612E-EB71-46EE-9536-2A7C7F249C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6d4c4c5a9c45e0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BACB7-B3B2-409A-936A-FDA5FAB4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82F65739-E6D1-4E22-9FDA-BF51CFA5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C6  Py02_選擇敘述與迴圈(2).pptx  第27頁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2B4F675-0F43-4A31-8CAA-DBE71FF5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教材對應：第5章 重複執行程式碼；原頁保留完整圖文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570F6AA-4BDC-46F4-819B-CC16FEB3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29335972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A404F-5480-43E5-8BC5-FE2C93D56F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106085747477a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BB3B8-69B5-4F5E-9DBB-73A47D58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0CAC62FA-4273-4A3D-9C97-D5D4ABA7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C6  Py02_選擇敘述與迴圈(2).pptx  第30頁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433FD5F-85A8-44D9-8588-0C30713B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教材對應：第5章 重複執行程式碼；原頁保留完整圖文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1A8CA940-E192-456C-92FD-E61234F3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374829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2207DA-41DF-4F04-8442-BE8D2D24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519006D-6E46-45FC-8387-854FDC3C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C6  逐行程式解析  1/3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E643855-5536-408B-AF30-FCFFA74F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while、停止條件與互動輸入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B933D57-7E59-4417-82DC-4D7B2A0D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第5章 重複執行程式碼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64698AE-505E-4EEE-A7F4-EB996D4B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45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01015-4FFD-4122-B7B4-D4BB124D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9216832-AA55-4231-AB98-D43E3AE8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63ADFCA-AA61-493E-B4F8-2078AB55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第15個儲存格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750117E-D9C9-449E-A5F5-B4BFF601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D2ED9B-B77B-40A8-AADA-EAA9EDA7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5B031809-A828-48B3-BDD9-54392D16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DC764E7-30A3-40CE-8683-C0889EC7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commands = ["7", "", "3", "quit", "9"]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750136E9-21DF-41C3-86E6-9C969A1A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commands。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12637707-079F-48BB-B136-52984648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1060A511-F5BC-42EB-BCB1-0604F8BC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index = 0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97928C36-F9A7-40EA-A622-E76E7384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527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設定初始值或清空狀態。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10BB27-0012-4185-9D8C-E679379B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6A1DFFCA-19BD-466A-BBBB-AC320F62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308D6E76-E11F-4370-A519-600B1A26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718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accepted = []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A13D78AA-0CB6-4C6E-B3E9-69285314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718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建立空串列，準備逐筆加入資料。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D2000286-0368-494E-B818-D8E5EDE3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909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D424D478-4F68-43A4-9B89-3DCE0963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909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while index &lt; len(commands):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5CEF946D-3936-4024-B561-AB37DFD0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909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每輪先檢查條件，成立才繼續重複。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0CCABA-BA3F-40B5-9DEE-7194A97E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909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7D389108-C325-4017-BDBB-7751A158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4F358992-D885-4FAB-A350-5D998638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command = commands[index]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A36CA2B4-BC63-44F7-8ECE-46B83128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command。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21EB6A59-85C6-42BF-9517-8C3B7DCE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291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B808427C-29D9-49E1-AE47-B2266B09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291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index += 1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E91D1FA8-E3DE-47DF-A862-E990D019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291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累加目前數值或文字，更新狀態。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29653E-D596-483E-A041-F6659AD7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291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4DE943AB-EC32-4A6D-85D3-5DD78105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9E76E874-1E4C-4CA1-9AA0-09C83CDF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if command == "":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723B7C88-D3C7-4C9F-8125-2260338A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48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空字串略過，不加入資料。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D288E9BC-08C2-4A3F-B2F1-ACA925FB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D553E398-AE7D-44B8-A9E5-7D81E7D0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continue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C1C4D66A-3737-4CEF-A023-D890A4D0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340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略過本輪剩餘內容，進入下一輪。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2E11C0-4A06-4D94-8211-3CB64A8B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340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0A5939E7-3D28-419C-833E-A62FF1D4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004CA761-4F59-4889-B30B-FABEA3F2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if command == "quit":</a:t>
            </a:r>
          </a:p>
        </p:txBody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4A1492C8-B5B0-4853-871B-7AD95BCD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531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收到quit就結束迴圈。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C96FDB09-3C38-4648-8712-2C8A2895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43" name="text-42">
            <a:extLst xmlns:a="http://schemas.openxmlformats.org/drawingml/2006/main">
              <a:ext uri="{FF2B5EF4-FFF2-40B4-BE49-F238E27FC236}">
                <a16:creationId xmlns:a16="http://schemas.microsoft.com/office/drawing/2014/main" id="{56CF36BB-B2F6-479D-8C5C-649C4584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389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break</a:t>
            </a:r>
          </a:p>
        </p:txBody>
      </p:sp>
      <p:sp>
        <p:nvSpPr>
          <p:cNvPr id="44" name="text-43">
            <a:extLst xmlns:a="http://schemas.openxmlformats.org/drawingml/2006/main">
              <a:ext uri="{FF2B5EF4-FFF2-40B4-BE49-F238E27FC236}">
                <a16:creationId xmlns:a16="http://schemas.microsoft.com/office/drawing/2014/main" id="{1ED0CCCB-EAA6-41BF-ABBB-E408B2EB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立即離開目前這一層迴圈。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56981B-4F16-4248-BE0B-EAE321F5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389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46" name="text-45">
            <a:extLst xmlns:a="http://schemas.openxmlformats.org/drawingml/2006/main">
              <a:ext uri="{FF2B5EF4-FFF2-40B4-BE49-F238E27FC236}">
                <a16:creationId xmlns:a16="http://schemas.microsoft.com/office/drawing/2014/main" id="{EFE9411D-5297-4B2F-B9A1-2EAE04EE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47" name="text-46">
            <a:extLst xmlns:a="http://schemas.openxmlformats.org/drawingml/2006/main">
              <a:ext uri="{FF2B5EF4-FFF2-40B4-BE49-F238E27FC236}">
                <a16:creationId xmlns:a16="http://schemas.microsoft.com/office/drawing/2014/main" id="{5DD9B588-100B-4AA6-BBDC-FFB89687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8580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accepted.append(command)</a:t>
            </a:r>
          </a:p>
        </p:txBody>
      </p:sp>
      <p:sp>
        <p:nvSpPr>
          <p:cNvPr id="48" name="text-47">
            <a:extLst xmlns:a="http://schemas.openxmlformats.org/drawingml/2006/main">
              <a:ext uri="{FF2B5EF4-FFF2-40B4-BE49-F238E27FC236}">
                <a16:creationId xmlns:a16="http://schemas.microsoft.com/office/drawing/2014/main" id="{4EF29C2E-8424-4B72-A21D-C8D1E846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8580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將這一筆資料或元件加入串列末尾。</a:t>
            </a:r>
          </a:p>
        </p:txBody>
      </p:sp>
      <p:sp>
        <p:nvSpPr>
          <p:cNvPr id="49" name="text-48">
            <a:extLst xmlns:a="http://schemas.openxmlformats.org/drawingml/2006/main">
              <a:ext uri="{FF2B5EF4-FFF2-40B4-BE49-F238E27FC236}">
                <a16:creationId xmlns:a16="http://schemas.microsoft.com/office/drawing/2014/main" id="{ACC8C4B7-D495-4BA9-87DD-EAE568D5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214207856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C64D16-2954-4DAE-98D7-5A745B3A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1C4EC46-B7D5-45AD-AA02-FB2AF71C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C6  逐行程式解析  2/3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D151D75-D2C0-4618-89C5-4E6A865C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while、停止條件與互動輸入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97866D0-E6E8-4620-8D62-77DD03D7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第5章 重複執行程式碼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376F2C5-D4FC-49FD-BB99-E7201D2A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46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88C6A-B857-49B8-891C-54274C90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138B898-6A51-4C06-889C-D58A4390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CD22186-3620-4EAD-A6F5-CCDE6FF7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第15個儲存格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FC9C66EE-811D-47E8-9A48-9CBF9FD7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B9146-E4A9-4EE5-9EB9-FBC57314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BD957F5-2D47-4FCE-8C36-86557D5F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F48F93AA-1D61-4F08-89C9-B0F34E45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print("收到的數字：", accepted)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966C7445-F9C6-4179-B024-1DC327DA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輸出目前結果，核對前面的預測。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C44CFC89-03F5-4967-B1AF-E370AACA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5171177F-2F25-43BA-87E7-F0A5CEC1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def run_console_calculator():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026E9145-9531-4926-9720-AE73AEA2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527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定義run_console_calculator；呼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叫時才執行函式內容。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BBBA24-2437-4079-9BA0-C20BE0C8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94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A3623CF8-AC82-49E1-86C7-BD1C5EFC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B6F18913-657F-4AD8-8B0B-D404DC45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while True: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F3C26784-7209-492A-8A62-37916AF3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每輪先檢查條件，成立才繼續重複。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1BBCAD22-1CDE-4F7E-B127-49081BD6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57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20030E48-FD05-4A57-A3C0-50E527B0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raw = input("第一個數（q離開）：").strip()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E49FFE63-A262-4D1B-A553-B8D07650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57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讀取字串輸入，必要時轉為數值。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63637F-3A90-4BDD-8FED-FBE4DCF7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576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0708A75C-5EA5-47D4-88FD-821919E6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7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70E6CD5C-22C5-475B-9258-0A9BBEFD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if raw.lower() == "q":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10922A82-2D7A-4159-A2A1-7E3C5979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767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q或Q都可結束輸入。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B9FF2327-0F82-470C-A95F-EE045AA1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82CFB2B1-989C-4474-8E95-E9D2F806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break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AE28D98F-BF40-451E-A587-89A41D41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立即離開目前這一層迴圈。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86C40C-4F33-4F64-8191-19612FBB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62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9B435F4E-53B7-4E6C-8F63-1FBC7E41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81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DFD43E2B-D9F1-4DDA-B15A-442D5172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81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try: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BD36828A-D676-4065-873E-F811BA0C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81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執行可能出錯的操作，準備捕捉例外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C1A2D106-CEE9-4F61-85C4-CF54F343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54FDFF14-9D46-4DA1-B049-F0F436B7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674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a = float(raw)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D3A6AA78-74E0-4A4A-8098-7D8860FD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8674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a。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9B733C-4DD2-4B39-84CF-6324496D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674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A75C1A35-6E2A-422B-B780-EE6D0620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4BC6CC23-1E8E-4105-959F-5178B417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op = input("運算子：").strip()</a:t>
            </a:r>
          </a:p>
        </p:txBody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2BF6451E-2243-4CD6-9EED-146720FC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讀取字串輸入，必要時轉為數值。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15E78D18-D71D-4F71-A5DE-9D06C3CE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05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43" name="text-42">
            <a:extLst xmlns:a="http://schemas.openxmlformats.org/drawingml/2006/main">
              <a:ext uri="{FF2B5EF4-FFF2-40B4-BE49-F238E27FC236}">
                <a16:creationId xmlns:a16="http://schemas.microsoft.com/office/drawing/2014/main" id="{B0350C75-4053-462E-B614-38048DAE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705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b = float(input("第二個數："))</a:t>
            </a:r>
          </a:p>
        </p:txBody>
      </p:sp>
      <p:sp>
        <p:nvSpPr>
          <p:cNvPr id="44" name="text-43">
            <a:extLst xmlns:a="http://schemas.openxmlformats.org/drawingml/2006/main">
              <a:ext uri="{FF2B5EF4-FFF2-40B4-BE49-F238E27FC236}">
                <a16:creationId xmlns:a16="http://schemas.microsoft.com/office/drawing/2014/main" id="{5E529B35-8648-4D4F-9F69-8AFCDA66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705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讀取字串輸入，必要時轉為數值。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211D66-3F2C-4555-9090-FB1F5D1E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1056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46" name="text-45">
            <a:extLst xmlns:a="http://schemas.openxmlformats.org/drawingml/2006/main">
              <a:ext uri="{FF2B5EF4-FFF2-40B4-BE49-F238E27FC236}">
                <a16:creationId xmlns:a16="http://schemas.microsoft.com/office/drawing/2014/main" id="{EA9B20EA-A531-4F05-B614-F260E0CC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247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47" name="text-46">
            <a:extLst xmlns:a="http://schemas.openxmlformats.org/drawingml/2006/main">
              <a:ext uri="{FF2B5EF4-FFF2-40B4-BE49-F238E27FC236}">
                <a16:creationId xmlns:a16="http://schemas.microsoft.com/office/drawing/2014/main" id="{20C0462F-994F-4790-B346-8625ADD5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1247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print("答案：", calculate(a, op, b))</a:t>
            </a:r>
          </a:p>
        </p:txBody>
      </p:sp>
      <p:sp>
        <p:nvSpPr>
          <p:cNvPr id="48" name="text-47">
            <a:extLst xmlns:a="http://schemas.openxmlformats.org/drawingml/2006/main">
              <a:ext uri="{FF2B5EF4-FFF2-40B4-BE49-F238E27FC236}">
                <a16:creationId xmlns:a16="http://schemas.microsoft.com/office/drawing/2014/main" id="{E515AC0A-D539-4053-B736-19B112D9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1247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呼叫計算函式並顯示答案。</a:t>
            </a:r>
          </a:p>
        </p:txBody>
      </p:sp>
      <p:sp>
        <p:nvSpPr>
          <p:cNvPr id="49" name="text-48">
            <a:extLst xmlns:a="http://schemas.openxmlformats.org/drawingml/2006/main">
              <a:ext uri="{FF2B5EF4-FFF2-40B4-BE49-F238E27FC236}">
                <a16:creationId xmlns:a16="http://schemas.microsoft.com/office/drawing/2014/main" id="{A4FC4B05-7177-48DC-AA6F-06C3B1FA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156725894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DABC72-B76F-4942-9B2C-43E3A03E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D0F9BDC-604C-4FD7-AD68-87C26428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C6  逐行程式解析  3/3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20904D1-9DB9-4080-B0AF-9E10043D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while、停止條件與互動輸入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2B6D61C-BF59-4FB0-9952-E198CEEC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第5章 重複執行程式碼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5FD116F-6EDF-4230-8E8C-645DC17E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47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4A373-1179-4A30-8CAF-8F157BC2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2816EFC-17A0-4CB0-BB3E-2E6C6D86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5AE2E94-1A92-408C-AFD3-330F8CBB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第15個儲存格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A8F4367-95AF-488E-A8FF-6F657377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30DCD-DD37-4634-A0D0-B5F01F91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40280FA8-F7BF-4EAF-B3F3-5A425197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7BD202F8-D9BA-4752-B704-1C7B69BC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except (ValueError, ZeroDivisionError, OverflowError) as error: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0361B69F-7DA8-4CEB-A12A-AE5B00AA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捕捉指定錯誤，改走可控制的處理流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程。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D9C0B0BB-53B9-4630-832E-27DDA7C5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C9F7C0C1-010B-430F-8AFC-B91B44A8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print("請重新輸入：", error)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D579EEF7-5D1D-4AD2-AC8E-ED99666B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輸出目前結果，核對前面的預測。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B8ED95-9744-4420-814C-B003E7D5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94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D42F0193-2D13-4D73-A2C6-83F83CDE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6C768271-BD52-4341-BB95-3796F08A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RUN_INPUT_DEMO = False  # 想體驗input時改成True；輸入q結束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21300BC7-4C97-4C08-9E05-643994FC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RUN_INPUT_DE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MO。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CD3C3723-6ACE-47DD-ABF0-EF30622E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73CD60E3-F6CA-4F8C-BEA8-D4EFEAB5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if RUN_INPUT_DEMO: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EFDEDB70-D821-4CC3-93AE-30AD01F4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243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只有旗標為真才啟動互動輸入。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02835D-117E-4684-9ECB-4556F420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910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2EEC94B6-DE77-4668-9547-5ED90CAD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1B52DCF4-4D94-49FC-AE14-22F2AD86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run_console_calculator()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1B20C9D5-3232-46F3-98C6-38538378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101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啟動命令列計算機。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9919494B-8750-47B5-829A-F04F41CC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55297178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3686B-1CA7-4217-B882-A698DF79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19A2A21-C6F2-4783-AC21-35434B45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C6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A1DBAB3-334E-4061-9568-7298B19E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while、停止條件與互動輸入：執行結果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87F03B6-2E6B-4EC2-835D-80DFF470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第5章 重複執行程式碼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59A6AAD-429A-49A7-8BA3-CE573BDB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48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45C72-EF0C-4514-ACD5-1AE219EA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432560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2D01E01-FE33-4CA8-8DC7-3540699A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3716000" cy="509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收到的數字： ['7', '3']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AF6A63A-0E99-433A-B7C7-EE1CBD37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62850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課堂提問：哪個運算、分支或迴圈決定了這個結果？改動一個輸入後再驗證。</a:t>
            </a:r>
          </a:p>
        </p:txBody>
      </p:sp>
    </p:spTree>
    <p:extLst>
      <p:ext uri="{BB962C8B-B14F-4D97-AF65-F5344CB8AC3E}">
        <p14:creationId xmlns:p14="http://schemas.microsoft.com/office/powerpoint/2010/main" val="166866668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BE164-7DB8-49AF-8ED2-5BA23877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997C772-BEA2-4337-B31B-40F72F32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C7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26FD33C-0022-45F0-934B-C33FA5D9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完整算式與原eval的對照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A930516-AFDF-4C85-8750-FB1B3684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第9章 模組與套件／應用延伸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38663C6-EB42-4D4D-B1B7-3F01A743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49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781D4-3E68-4A2F-90DB-7EA971B9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A4F14E3-8C11-4B16-A10E-8D219AEB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A70CB31-019B-41E2-8BA0-1AB381E8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講授： C3處理一個二元運算，原按鈕計算機卻能累積2+3*4。完整算式需要辨識先後順序，不能一律從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左算到右。原碼使用eval直接求值；投影片Py01(2)第34–37頁正好說明此功能與風險。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A15953-92E9-4A77-9A19-199C981B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6BCF63D1-AFFA-41D3-845A-C570617C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295FF23-04A2-471B-8C02-F64ACA7F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00350"/>
            <a:ext cx="1314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以下是選讀的解析工具：用Python的ast讀取算式結構，只接受數字、正負號及七種算術運算，運算時仍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呼叫C3的calculate。這樣按鈕及輸入欄位都不會呼叫任意名稱或函式。字元長度、節點數及次方範圍也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有限制。初學者本週須理解「輸入字串、回傳數值、錯誤可捕捉」，遞迴解析留作進階閱讀。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FFC2C5-D1A8-4C4A-B0D0-95AD9ACF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052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C6944257-864B-4570-AF1D-58E82772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F6E7FC15-5BF5-4177-9FC5-997A5442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00525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對照： 原current_expression.replace('x','*')仍保留；原eval(eval_expr)改成evaluate_expres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sion。這是實作調整，不是原PPT的程式。</a:t>
            </a:r>
          </a:p>
        </p:txBody>
      </p:sp>
    </p:spTree>
    <p:extLst>
      <p:ext uri="{BB962C8B-B14F-4D97-AF65-F5344CB8AC3E}">
        <p14:creationId xmlns:p14="http://schemas.microsoft.com/office/powerpoint/2010/main" val="103714943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F06A6-500F-45C7-8478-03D7F1EC17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4151b945643b6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1E3E3-0114-425B-AAD6-23DAFDBE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62AE409C-57E5-4AF7-BDBC-86688DA1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C7  Py01_基本認識(2).pptx  第35頁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DB19C1BB-FE6E-4A10-8A7A-EAEF041C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教材對應：第9章 模組與套件／應用延伸；原頁保留完整圖文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757D5E7-A46E-48B3-BCD2-E069A67F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5461982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9D79E-4D21-4D02-AD5F-5886CFC010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d25af867e2428c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82090-441A-4A14-B098-2387483A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1B4F6A3F-A81F-49AD-B442-EB504435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C7  Py01_基本認識(2).pptx  第37頁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328121B1-EF87-4B91-AE2D-D9B3F678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教材對應：第9章 模組與套件／應用延伸；原頁保留完整圖文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EC36810-2000-472B-9E74-F0D136FC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506175317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C61623-8316-42E1-973C-E2B8DB3B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BC1FA25-7D10-4204-ABA0-AADD138F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C7  逐行程式解析  1/4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700A23E-29C9-42F2-8122-E2A0368B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完整算式與原eval的對照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99F72C0-6589-490A-935A-BE8E0DA2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第9章 模組與套件／應用延伸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BE4DF57-ED77-4998-ABDB-7B69A92B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52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29EAA-9725-45E9-B55A-B769C96A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6C8DEB6-BEC7-43AB-BF1B-83CE5D54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B5BD532-5238-469C-A72F-C6323C21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第17個儲存格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4983F6C-BF32-4A94-8F21-71E72E1D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04E7D-8E9D-4961-9526-072F7444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560E3CA1-4F7C-4BD3-A746-FE0A780F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CC358605-98BA-45DF-B61D-DCE349F7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import ast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8435F73A-D932-40C3-8F77-345414A2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匯入本段使用的模組或功能。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A5320A59-F861-4862-A90E-08EDAF19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CA29E0AD-0F71-4055-97EF-477768F6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import html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DEBD45CF-CAF2-47E5-A5AC-581F054B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527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匯入本段使用的模組或功能。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D92315-3316-4C62-B1F1-9E0FD42E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5EADF05F-E9D8-4970-A666-EA0FA61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CA65EA60-1555-46B5-A7E6-60F331F1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718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AST_OPERATORS = {ast.Add: "+", ast.Sub: "-", ast.Mult: "*", ast.Div: "/",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98A581AE-3EB3-413E-BD7F-4E69D674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718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AST_OPERATOR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S。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662C4699-1B4C-43D9-9B72-4785495B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57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0791028F-D888-49B8-B7ED-46036995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     ast.FloorDiv: "//", ast.Mod: "%", ast.Pow: "**"}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7C59FB24-E7D1-44BE-8B72-E0225D87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57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將整除、餘數及次方節點對應至符號。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D6A45C-30CD-46E2-B390-65B67826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243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E161B609-3F0A-47A0-A4A7-296AF81F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7D5C7C8A-B715-46B8-B400-EEA20F60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def evaluate_expression(text):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5629D6F4-B468-4FAA-9704-E40E95A5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43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定義evaluate_expression；呼叫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時才執行函式內容。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A4600CC6-F793-489B-B0C3-286463D6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04AD94E1-012A-4299-A938-34001AE7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expression = text.strip().replace("x", "*")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4182E583-16C0-4742-A83E-B5BA165E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0292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expression。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74ED3F-2DCD-4546-81AC-C24822BC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5965A1B5-51D8-42DB-A660-0F7BCB71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483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E90D9F8D-F61B-4701-A928-C4C90A6B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483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if not expression or len(expression) &gt; 100: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61612899-46A4-4592-9A96-80A53A84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4483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拒絕空算式及超過100字的輸入。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C92DC19E-6D88-416A-A645-F5A090DD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341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261BF01D-37C7-4F35-8B2D-3C29EF80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341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raise ValueError("請輸入1至100字的算式")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1508F24D-EA7C-4999-9448-EF2630F2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341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提出錯誤，交由呼叫端的except處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理。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01B567-8EC2-4231-9D12-BF5B8363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008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8281EDBA-C817-4BC8-83B4-068F6250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199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5DE375E8-41A6-4CD6-81D0-FA0866D4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8199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tree = ast.parse(expression, mode="eval")</a:t>
            </a:r>
          </a:p>
        </p:txBody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423147D4-4FC4-42B9-8935-F0630DDA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8199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解析算式結構，不直接執行任意程式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4955AA5F-CB6B-458A-BEA2-5417BD55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31121690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621FF9-ED86-41CD-8F34-17E08BF5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BA3C9AC-19B0-472B-A7A9-F9824C63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C7  逐行程式解析  2/4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D4F5454-C870-4B67-BA0E-BEA3D4E9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完整算式與原eval的對照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CA5A6D6-A62C-4494-8E9C-3B7F4E5E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第9章 模組與套件／應用延伸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3951B56-EDA8-42C0-AED9-929B3F44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53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4A37B-5C43-4E56-ADDD-2464027C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70753B5-7268-4A93-9E9C-98DD08DF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C77453D-C3BF-460E-96AA-E7A571A2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第17個儲存格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3D0F2F0-9959-4B38-9DEE-3617C852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6030C-33A9-4584-8A01-669629E9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7DBB2799-1F3E-4C4C-A51B-911018E5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CAA4CE78-4DA8-4431-922B-7515CA91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if sum(1 for _ in ast.walk(tree)) &gt; 80: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6891870C-DDCA-4B7F-82F3-2B857FFC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限制語法樹大小，避免過度複雜。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A030F51A-62D4-42B1-B141-3E901084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1142A5CD-8063-4156-84B6-377B167D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raise ValueError("算式過長")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1C1F4680-C00F-4206-A676-D897DF80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提出錯誤，交由呼叫端的except處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5854F-F3BF-434E-A16F-EB713654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5AC07975-E691-40E3-889A-D681BAD2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0C6349FB-CD9A-4924-8467-73272485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def visit(node):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506EC0DB-29B7-4A89-9CC0-5EA5E86B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定義visit；呼叫時才執行函式內容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EFDDC6B6-694C-4284-AFB9-49739E1F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18B8EBD2-ADF6-4AF2-AC04-8BE3034B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if isinstance(node, ast.Constant) and type(node.value) in (int, flo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at):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C54595BC-30F4-4429-9BD8-F30EE079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只接受整數或浮點常數節點。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303161-21A2-438E-8FF5-82507F01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00E69D4F-32D3-413D-A2D1-86F047BF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5408D734-44A4-40B2-AFEA-87732FF0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value = node.value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AA7D89EF-FF80-49E7-8CCA-5943C4E1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768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value。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A3241207-8E41-4E8E-AE9A-9A2D6473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959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59691AE1-9436-41A2-8332-1492230A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959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elif isinstance(node, ast.UnaryOp) and isinstance(node.op, (ast.UAd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d, ast.USub)):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69D3D275-BF59-488F-A205-255BC2DC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2959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僅接受一元正號與負號。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C7DF59-C6D1-443A-AF13-33BC3298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626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28E5AEDC-B1DD-40DC-A9EC-A6F92C6D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DA3C791C-99DE-4D13-9F9E-86A86CFC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817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value = visit(node.operand)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06D043A2-8AC1-4346-96B3-00979FEF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817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value。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FCC11258-CD35-45EA-A5C3-70BF9227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0DAE259D-CC26-48E2-A298-0C914797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008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if isinstance(node.op, ast.USub):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3DAFCE3B-B648-4755-8C9E-662F0A94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若是一元負號，將數值反號。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7FDC6E-3B49-4541-8683-AB52EF5C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0675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6F60EBAC-4ABC-4710-BF06-E674721E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86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76BD2FEB-76F9-41B8-B845-4069758C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086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    value = -value</a:t>
            </a:r>
          </a:p>
        </p:txBody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1520BEBD-5C12-48BC-855A-EC4F55B3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086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value。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19826ACD-4BDA-4907-91F8-0DBDE717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159160075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3AF1B4-2814-4635-AC14-34FF3A0F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6B98812-91CC-4855-9CE5-D0536C4C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C7  逐行程式解析  3/4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7274067-83D5-48DB-9570-21014233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完整算式與原eval的對照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80F94D9-E405-4491-BE88-A34F4440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第9章 模組與套件／應用延伸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E7B2F6E-BF67-4687-9949-0973A7E4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54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9E4373-4EFB-4A2B-AD24-3FAD197E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F037717-39AE-4AA0-A7D1-0B736CD4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85FD6E0-1B7E-4E1C-A17E-E07C7796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第17個儲存格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0AFC5D4-6D55-4237-A0BD-7F5B3DF0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F31E2D-788A-44E6-BBE4-D24D00B3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2EA7BD9-21AA-47B4-8B90-49A62D34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6E460AF8-6655-47B3-BDC3-5DCFE4E6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elif isinstance(node, ast.BinOp) and type(node.op) in AST_OPERATORS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: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F81690A2-24C2-4BF2-AA42-44397518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僅接受白名單內的二元運算。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F5282FF7-7AD5-4A4D-ABF4-66E5A3FB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83F72C48-E185-49C5-8832-7A54BE3C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value = calculate(visit(node.left), AST_OPERATORS[type(node.op)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], visit(node.right))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11604C24-9E38-4C8C-9994-60152373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value。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DD70C2-2477-4026-B5B8-BE002ECD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2AA40420-6BA5-44DA-9954-80BFD778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D8CAAB9C-2BE5-4FE8-BDE1-82A790B4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else: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993D16BB-3E3A-43C7-A361-5601A039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前面的條件均不成立時執行。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D66C81E4-DF91-4A2E-ACC3-978254C0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F4712EB7-99FC-4584-9C85-CB4BA903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raise ValueError("只接受數字與算術運算")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021A6BE7-8B1F-4576-8093-E220F5AC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提出錯誤，交由呼叫端的except處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理。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CEABBA-2327-4837-83FA-5B43C2FD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D97CBF4D-C316-4EF3-BBCB-32071220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DEAD784F-5037-4612-A9A5-511ABAD6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if not math.isfinite(value) or abs(value) &gt; 1e100: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66985E50-17CD-4C64-835E-6CEC75CE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768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拒絕非有限值與過大的結果。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72A44F28-2E37-46F8-9C3C-2ED2F9C7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B38EB54C-80EE-430C-BA79-C8F42F55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raise ValueError("結果超出教學版範圍")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9FA9F453-7E0B-4455-94D1-37DC5068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62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提出錯誤，交由呼叫端的except處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理。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3DF727-C19E-426F-8773-D37B50A6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545726A9-C2F9-4115-BAB1-82EAB1EE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4D8BF4A4-4673-491B-BD27-5C7981C0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48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return value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6FCF7C29-130E-4C04-971D-A4E5C9BC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回傳本節點的計算值。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B3421DE1-FF5C-4FAB-9326-D63A4DA6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199722005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C87568-C12B-420D-BC44-02E1B807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421A8AE-F066-40A3-83EF-9D980D20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C7  逐行程式解析  4/4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5BECA29-5D7C-40F6-AE49-2D67AAF8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完整算式與原eval的對照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20CEDB6-A8AE-4590-9A10-85277101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第9章 模組與套件／應用延伸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1EF17D4-7BFF-45E6-A3C9-4E300880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55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CC71B-7674-4364-9B0E-0CCB9A74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DC14485-0EFD-47BE-9ACF-811ECD65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D2B6B31-B6EA-4DE4-B4DB-A6F67F94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第17個儲存格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2B42C1A8-A59B-4E48-9848-3E5887EE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BB862-23AB-4B7F-A27A-63ECE0B4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4E14699-F274-49E9-9B8E-0E18C641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F5746705-B1AD-4573-B441-39458345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return visit(tree.body)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4793DD1B-4B96-455C-A538-AD664FD5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從算式根節點遞迴求值。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C47500CE-9179-4F9F-BBD2-A68B98B7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5CAE549A-EFE4-4C57-9F0D-D97447BB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for expression in ["2+3*4", "(2+3)*4", "-7//2", "0.5+1.25", "2**3"]: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3CF22CEE-0C69-4787-B785-AC4D5C8E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依序取出資料；每一筆執行一次縮排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區塊。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F43A2A-0936-47CE-9672-0718AC4A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0F6A4E4F-866B-4F94-B574-7DD9401A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EC3CBD7D-76CE-44CB-8231-5965DD3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print(expression, "=", evaluate_expression(expression))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D66C42C9-C420-439E-8E32-310251FE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輸出目前結果，核對前面的預測。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AC89FC25-4C80-4DB2-9D9A-3E85B5F7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288941278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CC156-BB20-46A8-BDDD-6D6E7728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AF52695-BB91-4749-A39D-708A912C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C7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C3114D6-F3B5-4ED3-B851-112B1E7B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完整算式與原eval的對照：執行結果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090DA30-51C6-4B8E-80D5-F491FA89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第9章 模組與套件／應用延伸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8E25CEE-6650-4CC6-83D2-6B543229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56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60A45-91C6-4E8A-A03B-1FD5FB49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432560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6733DE7-89F8-4DF3-990A-186F8384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3716000" cy="509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2+3*4 = 14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(2+3)*4 = 20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-7//2 = -4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0.5+1.25 = 1.75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2**3 = 8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5B8E135-4A43-4739-8282-6C89A867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62850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課堂提問：哪個運算、分支或迴圈決定了這個結果？改動一個輸入後再驗證。</a:t>
            </a:r>
          </a:p>
        </p:txBody>
      </p:sp>
    </p:spTree>
    <p:extLst>
      <p:ext uri="{BB962C8B-B14F-4D97-AF65-F5344CB8AC3E}">
        <p14:creationId xmlns:p14="http://schemas.microsoft.com/office/powerpoint/2010/main" val="2036521021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F32270-7C9E-4C20-B494-8BE5CF06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DBABD12-B289-4A37-8351-F0814CA4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C8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8ECFA3C-6F7F-41BF-AD92-AD4DCD0C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整合網頁按鈕與事件回呼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913B3FF-0E73-4470-B042-60442811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第6章 函數／第7章 容器／應用整合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CB79A70-66AE-435B-A8E7-3B7486D5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57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DD9E1-3BFE-4741-8FA5-4D93CE60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082AB2F-2C57-4BA3-AB6E-348C959F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CF4D3C3-8825-4792-9F2A-6A2117CE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講授： 先追蹤一次按鍵生命週期：建立Button、用on_click(on_button_click)登記處理函式、使用者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點擊、系統將按鈕物件b傳入、讀取b.description、更新算式、更新HTML。登記時不加()，因為此時只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是交出函式，尚未要執行它。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D94BC-B1CA-44C6-A9B5-52CEA97D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2ACC0831-DFB1-46FC-9945-5BD8571E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21CA26ED-B6B1-44CB-B99B-84833998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33725"/>
            <a:ext cx="1314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此處保留原範例的全域字串做入門說明。函式內重新指派current_expression時需宣告global；C3的數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值計算函式沒有改全域狀態，所以較容易測試。新增DEL刪去末字元；±將目前整段算式取負，並非只改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最後一個運算元。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E7C166-04A9-439D-A372-179C0815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CF305EE7-F624-40CA-AE89-AF89BA8F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434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BC9AB4BB-37D2-4BDF-87CF-BF7E33F4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33900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for迴圈只負責建立24個按鈕；互動之後交給Jupyter的事件機制，不必額外使用while。操作測試：AC,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2,+,3,x,4,=應得14；AC,8,/,0,=應顯示Error；之後按7應重新開始。</a:t>
            </a:r>
          </a:p>
        </p:txBody>
      </p:sp>
    </p:spTree>
    <p:extLst>
      <p:ext uri="{BB962C8B-B14F-4D97-AF65-F5344CB8AC3E}">
        <p14:creationId xmlns:p14="http://schemas.microsoft.com/office/powerpoint/2010/main" val="1767392257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CD0FB9-95D9-4B84-8CF0-6B79363A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A6300FB-E074-45E4-B012-9B97239C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C8  逐行程式解析  1/6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586991A-14E9-4A75-BE80-A4E22D9F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整合網頁按鈕與事件回呼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3912984-9534-4CF5-B2FF-62B4EAC2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第6章 函數／第7章 容器／應用整合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AE1D3CE-8056-4932-B7D1-B8317B04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58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589F9-3EE7-40FE-906E-9956786A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C15C1B0-0C2D-41FE-A403-5DCCDD7B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ADA758D-52B5-4329-A8E8-EBD2C068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第19個儲存格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2821199-F8EB-4800-B19E-58CBA631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5A296-F113-40A4-82AA-6179CF88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19674416-4A75-4E13-A96D-0B0AC4F6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05E6E578-EA7C-44E3-82FE-96A74D1A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try: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592FB5FE-6E09-4465-B21D-32AAC09F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執行可能出錯的操作，準備捕捉例外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2C043DCA-70CC-4035-AF05-FC2F3F31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539C490E-3E88-44BE-BCB8-F78C0FA1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import ipywidgets as widgets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063894AA-1F99-4419-AC8C-108C568E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匯入本段使用的模組或功能。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71D257-88EF-48DE-AB0F-7415E418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94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A33CDDDA-6AA6-4361-B5D5-B51F9F6D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71420C19-5C87-4896-872C-84442631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from IPython.display import display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AB251EF1-707C-4EB9-BE63-01407120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匯入本段使用的模組或功能。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C4BDEDD5-A8CB-4316-830B-105FE6FF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57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01286E6B-9706-4C95-A9F0-AB271583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except ImportError: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E54AD103-CF1F-448F-96FD-09F881CE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57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捕捉指定錯誤，改走可控制的處理流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F4F821-8BF6-42F3-878E-24CCB1D0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243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0182D8E7-4CB9-4667-92C4-7F2AA9BB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E3E8865F-83DF-40FE-98CC-21CC7383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widgets = None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BDD8377E-A116-4315-9068-A4F6EF42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434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widgets。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314E747D-F508-4120-B68B-83F60758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C410E54B-63F5-4B3A-BE95-676B6356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print("互動介面需ipywidgets；基本語法與測試仍可執行。安裝指令：%pip instal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l ipywidgets")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2ADB6DF8-40EB-4DBF-BED6-86D8E0E7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輸出目前結果，核對前面的預測。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62A7FF-9884-45A3-A136-472E236D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0CDAE223-D897-4611-A846-1680B6B4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483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5C1B8DFB-BB79-4875-AC3B-6DF8C401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483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current_expression = ""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75EC77B3-DBA1-4CF6-B22C-7559FF7D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4483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設定初始值或清空狀態。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EC82ACDA-3726-4290-8EA7-A024AFE1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FA0AF1DB-F31D-472C-83E4-C6E05B30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67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html_display = widgets.HTML() if widgets is not None else None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3190FC8A-5CA1-439D-B6B5-6F7F99C4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867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html_display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4495FE-2D6A-4DB2-80BB-75088B24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341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80EAF169-FB5D-4321-8465-96EC1DE9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5A5ED55E-0F50-4A3C-82F9-8FBDC68B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553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def update_display(text):</a:t>
            </a:r>
          </a:p>
        </p:txBody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98B462CA-9691-46D6-8F01-097590A6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定義update_display；呼叫時才執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行函式內容。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81CB18DB-DF7F-4CF1-BC73-17F2359F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1075009951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FB5C7B-B4E8-4D6B-825B-164197F7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83AA8BF-1BA2-4D98-99AC-ACBB3B41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C8  逐行程式解析  2/6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45AD3AB-499A-42F8-8438-3F97F305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整合網頁按鈕與事件回呼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4A5EFC6-BA3D-498C-9325-74E0B1DB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第6章 函數／第7章 容器／應用整合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ABCEA54-B062-4CA2-8CA2-9E95EB17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59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E6F3F-FC75-405F-9520-CF4EEFD9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5EE25D7-6F2C-42B8-9706-A376D64F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9BB5186-1B7E-4433-9ECB-343363D1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第19個儲存格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C5B5B4B-C203-42D9-A64F-9659BAE1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F65F53-1782-4DB5-8BC0-AA728EC3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C93A450-2C4E-451F-8883-C0258455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7885D6A9-BAA6-49EB-A4CB-6C374A91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display_text = text if text != "" else "0"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906F154F-21C9-407E-8ED1-D019F7EB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display_text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82339559-F0AF-4FA4-969A-43F2A119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453D2F28-817D-426D-B90B-1404E0F5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if html_display is not None: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FDE8E384-2918-4F6C-861D-33DD67E2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判斷條件；成立才進入下方縮排區塊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464EAE-891E-4168-AC50-DBE56BD9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F7DEA44A-F4A8-490B-B34F-A1CAB0FA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F3A54DFD-FBCE-45F9-AE01-FBDFE1BF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html_display.value = ('&lt;div style="padding:12px;border:1px solid #7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77;'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255503B8-6A04-433C-B3E3-C84D33E5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修改HTML輸出內容，更新計算機螢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幕。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CACBAE41-CB80-4617-973C-4F07BDA3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116D8A3C-8F99-4FAB-9FB5-CD135077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                  'font:24px monospace;text-align:right;overflo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w-wrap:anywhere"&gt;'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FA4BFF5F-57AF-4019-9839-6551D30B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接續上一行的文字、資料欄位或顯示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格式。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741617-AF14-4920-810B-D19E81F0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FAB04986-A390-4322-AAA8-9C3C8419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B4049D76-8167-4148-975A-A5AF50D2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                  + html.escape(display_text) + '&lt;/div&gt;')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FFE00041-12D8-4FE9-A0CF-79C279AA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768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跳脫HTML特殊字元後組合顯示內容。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C5321B9E-E47A-4FAA-AE5D-A0CA9B7E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852D385F-4F1B-4BE5-A060-BE3B1AB7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def on_button_click(b):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010E387E-D7AD-4F5D-B60B-82003C1C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62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定義on_button_click；呼叫時才執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行函式內容。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414EBF-CCA6-4F7E-94A8-5D020717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82050FF5-DE68-48A0-BDB9-4C69A7A7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A65E2FDE-EFA5-4CDB-8576-A9074AFE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484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global current_expression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AD7C9B95-97AE-40B4-BF24-A2396F4C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宣告要重新指派函式外的同名變數。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4C33B298-50B7-40BF-BD94-EB3C5CA0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FFC3E82D-0868-487F-9F0D-EA8D6959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6675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key = b.description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BC133102-AFB8-4E70-858D-F0EFD4C3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675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key。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20BB2D-E732-4A40-87CF-F180EC30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0675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2693F27D-DD19-4BA5-A032-7EFF8734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86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331531E1-6B7C-4867-9041-673F14FB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086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if key == "AC":</a:t>
            </a:r>
          </a:p>
        </p:txBody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7031DF0D-57B0-45FC-814B-E39B3E15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086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辨識目前按鍵，選擇對應動作。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05F552D0-04C3-49A2-8FB8-0DBC1C8C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1728620187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5A059D-2817-4D87-AC6F-79BA329E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9DC47B8-4C7B-4D18-8707-9D53943D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C8  逐行程式解析  3/6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81CD3AD-EB5E-4C45-A48E-DBAA6857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整合網頁按鈕與事件回呼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C63F282-D32C-4DAC-949C-0D740BDA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第6章 函數／第7章 容器／應用整合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3CC9ACB-C785-4579-A64E-21A70FE1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60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F4A17-0C85-4820-BF41-CB71E605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9CE9808-3C3A-4A9F-836C-2DCD315B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3A8856B-5B51-4FF5-9603-B8022BC7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第19個儲存格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F6346C9D-B35B-4355-9B87-6F1B1B34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B4B1A-C498-41E0-AFB8-631BC054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F8118DE-4EF3-4756-8DFD-8CDBC986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AE885B81-B74C-4497-9A3D-4A245308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current_expression = ""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5DC15ABA-67DE-4306-87CA-C0466A53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設定初始值或清空狀態。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0A5F60FE-2E91-49E9-AD50-A651F402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8A831814-541C-4FEB-B011-7DB9196D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elif key == "=":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80F6FF67-479A-433D-81E4-550058B0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527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上一個條件不成立時，再檢查此分支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B414A2-C2A5-4960-B54E-E3A36C22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94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D46659D4-B6C6-4D95-9BDE-1B898793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9B425F75-4813-4582-8ECB-D7E2FCBB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try: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DA6CEFCB-AEF9-4D33-AB68-C7EB2D8B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執行可能出錯的操作，準備捕捉例外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833A9C8C-579B-46E9-9A06-00EEAF0D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A8E449CF-1AE6-439E-9EC9-A945077A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current_expression = str(evaluate_expression(current_expression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))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8529AEAC-238C-4FE6-ABB8-15F3E9D7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243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更新目前算式，供顯示或下一次按鍵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使用。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0AE3DB-056D-4B89-B57D-9F4BF549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910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932565E6-D7AA-4A36-AE62-C0D887D5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DED55726-5CD6-40F6-B0D8-DFF70EA8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except (ValueError, SyntaxError, ZeroDivisionError, OverflowError, 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RecursionError):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D3903960-BBB3-4ECF-8BF0-3BC7D92E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101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捕捉指定錯誤，改走可控制的處理流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程。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4D3184EA-CD01-4961-9C6F-B305FBA2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959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2A741CF9-4CED-489F-82F9-10005867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959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current_expression = "Error"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B4449F4B-4664-44DB-9085-8DC98D98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2959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更新目前算式，供顯示或下一次按鍵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使用。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A425A9-EA1D-41FC-BE5C-9C1382BB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626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F71E3B69-E10E-4E4F-95C0-49FFE30B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C934FF38-B6F4-45D8-B562-E501A9BA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817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elif key == "DEL":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2E802218-E362-4968-A9DC-B7E59260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817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上一個條件不成立時，再檢查此分支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305EE757-1F1C-4CFA-A95C-B394FADA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820F621B-4367-422D-A502-9EF4D145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6675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current_expression = "" if current_expression == "Error" else curre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nt_expression[:-1]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B6978E1D-8F02-4482-BBE1-100EE960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675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更新目前算式，供顯示或下一次按鍵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使用。</a:t>
            </a:r>
          </a:p>
        </p:txBody>
      </p: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7106852F-2FB0-45D1-A1FE-CD9820F1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25010593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668A3A-B8C0-48BE-ADAF-4BF17C8B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94942FE-2614-4ADE-B9BA-7C927416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C8  逐行程式解析  4/6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68B3A18-1E23-43A5-A051-006EA879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整合網頁按鈕與事件回呼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392F29E-D226-4A34-97C6-B12AFE95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第6章 函數／第7章 容器／應用整合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F3A4D1E-CBEF-4552-BD2F-0D719056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61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F6650-17B7-4F8D-8FE6-DAD6F716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34AA4BC-CB89-49E4-BCC0-F5C3A45D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62E7C48-B849-4FB7-A545-43355A67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第19個儲存格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52A4BA0-DD34-4A6D-BE69-F922E651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BADEB-43EF-4FF9-BC98-ED33F610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C6C0B663-04B2-4A65-BED4-2EC24720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36B2ECBD-CD49-4437-A51E-7F7DBC27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elif key == "±":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9725D138-CE54-4506-82AF-D2846D61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上一個條件不成立時，再檢查此分支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3005AFCF-6BFD-4506-A68D-D8A0183E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CFFBFD24-1E21-4868-B531-0C78BF17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if current_expression and current_expression != "Error":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567FC39D-FE63-4590-B215-52225119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判斷條件；成立才進入下方縮排區塊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8F8F0B-8704-4C74-AEDD-81A574E3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FD933077-7263-4C83-8C94-08672E9D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2ADA9288-A99F-4A1D-B8B3-A5719334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current_expression = f"-({current_expression})"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5DEB9579-1087-4ABA-874A-00430B10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更新目前算式，供顯示或下一次按鍵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使用。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2338854C-ADB4-4A27-8B55-8B697738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9B68DC0F-E2E2-4853-ABFF-F1DB36FD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else: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3921E972-0693-4CC0-88D1-F89AF4BB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前面的條件均不成立時執行。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8309FC-4065-4D15-8499-3F9C5BF3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AE1708BA-8F5B-482B-8A17-8C9C4BA7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34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83524A8B-E013-46BC-8195-5DD46977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if current_expression == "Error":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57CD69EA-BF68-429F-AE09-CC2715EC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768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判斷條件；成立才進入下方縮排區塊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9C288C2E-428C-48E2-B565-3A1B0D50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35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77993D08-4D10-4224-B34C-5C2B9504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current_expression = ""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CCDF66D1-0E75-4DF6-A812-31326FCB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62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設定初始值或清空狀態。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842D4B-7D42-474B-ABFE-3DBBDC13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626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821F6E30-403C-4D7D-AB5B-B6CECF30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36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D71FF01B-DB95-4F99-B48B-DE0D662B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817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if len(current_expression) + len(key) &lt;= 100: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FA3E176F-1BD6-482E-99D3-62A2FCFE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817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判斷條件；成立才進入下方縮排區塊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2058610A-7243-4CD8-AA69-ABA56632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37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A8F83FC1-B08A-4E5D-AE23-D6A524D7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6675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current_expression += key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F4E7E91D-21F4-41EE-8C03-BDCF3B50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675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累加目前數值或文字，更新狀態。</a:t>
            </a:r>
          </a:p>
        </p:txBody>
      </p: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9AAC4D00-6AC6-43D6-8FAB-7018EE64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1573737575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4E3D79-84D0-468F-BB5B-FBDF20B7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055EDCE-00B6-4BE1-AE5E-B5A79970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C8  逐行程式解析  5/6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F95F2CF-4579-4956-9F2C-FFA21700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整合網頁按鈕與事件回呼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01104D4-4229-4B33-A6ED-F5B91597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第6章 函數／第7章 容器／應用整合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7D5486D-E186-42CB-8CE6-FB7F26F5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62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DBD6B-7AE1-4486-A4CC-0FF7875D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EC504C3-F261-4BA2-B67E-B8B6E511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A7D181E-1965-4C09-AFE7-98E3B736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第19個儲存格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5CAB99A-8E6D-4B92-B0DF-821296A0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D79C5-E40A-4F32-9AC6-06B64777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1AD72ABD-C41F-4E33-859A-6AFDEBDC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512B5C8E-9ACB-4B14-918A-B07412C5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update_display(current_expression)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6A9CBB5D-5D9A-4F99-8A64-1C374ED5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在Notebook顯示文字、表格或互動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元件。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CAEE5A0A-52C9-41E7-B68C-5AED3AE2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40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C7AB2E7E-A31C-4AFF-93CD-71C13EBA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if widgets is not None: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D44C8E97-220C-4C43-8C03-4EA21126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判斷條件；成立才進入下方縮排區塊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C6607C-8665-4BD5-8E7B-DE0F245B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37318AB3-35C6-44DE-898C-7F400D8F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41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E06E34D5-3D4F-40B2-AEA1-E8E3B9B1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rows = []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34F6F674-8B8D-40A2-BEBE-32931A49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建立空串列，準備逐筆加入資料。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12FDB0C0-72E7-4B40-B750-09468AF0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42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3E5FE588-1242-41D6-87E0-45D6CCD9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for row_data in buttons_data: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DEE33070-85FC-4494-93B1-CF3F0DDA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243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依序取出資料；每一筆執行一次縮排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區塊。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E4B10C-500A-4250-B2A3-FE32D467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910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117D66C4-4664-4E66-B063-D0977CB5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43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578B095C-8FE5-451E-8063-012394A1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row_widgets = []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519C41B9-BD1C-4F04-B0AA-0267F341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101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建立空串列，準備逐筆加入資料。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28FAC72A-EDBB-467D-8155-FFC2829B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44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9C7510CD-1C60-48A9-B586-81F01F34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for key in row_data: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3D456066-BB22-4ADF-B4FB-B7586DB6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029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依序取出資料；每一筆執行一次縮排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區塊。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A5A9CF-A68F-48DF-8BE9-F3928A4B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959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9C18338D-5E9C-4CE6-80C7-B5D0B736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45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A9F83046-4916-420E-A2AA-946CCE5C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button = widgets.Button(description=key, layout=widgets.Layout(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width="60px", height="42px"))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2FEDA8E6-910E-4DC7-BE32-74D2483E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建立具有文字標籤及尺寸的按鈕。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8618ED00-D15D-4AF1-A601-860561B4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46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690043C2-004F-451F-9871-F2925637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008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if key in ["+", "-", "x", "/", "//", "%", "**", "="]: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BAF4D561-8A15-4D1C-8857-0E4FA716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判斷條件；成立才進入下方縮排區塊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066FA65F-02B4-4E2C-8AFC-2535D14B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1447322122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B025E0-9A08-4E38-8DC4-970BF71F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ABC7841-BFCD-4E0A-9A55-9C67097D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C8  逐行程式解析  6/6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AF99D22-F590-456F-AE98-A3D53B3C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整合網頁按鈕與事件回呼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7B88CF5-CBC7-4F13-AD2F-71C193ED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第6章 函數／第7章 容器／應用整合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0884293-804E-4519-99EB-3822AAA5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63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09912-1F61-4DD8-A27E-C40D650A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900252F-F1E1-47BE-A8EC-7F85FF21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6480815-6DCB-49E9-A4A7-B5C28C80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第19個儲存格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256C0834-CB73-47AC-9CFE-E5458769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682FC-49C7-4042-AA44-AC9C65F8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236E9606-AF74-4740-855A-669F2310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47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768D7EF8-1962-4F9B-9668-D10938C8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    button.style.button_color = "#f6c56f"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9B7414A8-381D-4695-9E08-7CA0289B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button.style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.button_color。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CD9BAE17-0D6B-46F8-AF78-C933A5BA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48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22E6BC11-CA30-407B-BD0F-5F631B1E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button.on_click(on_button_click)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EB47B3AB-5A62-4C75-870A-BA2B9B55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登記按鍵回呼；此處不立即執行函式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50A2C8-2C14-4349-8DCB-4C5F0B4E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D39CE060-BF92-4728-BA24-48288796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49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55B35818-AC9D-4D62-95C4-BFD57EF9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row_widgets.append(button)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AF57AF80-A478-4164-ABC5-3D8C6DE2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將這一筆資料或元件加入串列末尾。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FCA606F6-FF32-49A9-99CE-D3A9630A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50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4EED37BB-1554-4FF3-BFAC-E42E845B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rows.append(widgets.HBox(row_widgets))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DADB66DF-A9E2-49AC-90C1-5920A8EF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243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將這一筆資料或元件加入串列末尾。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91E7B3-2FBA-4645-9345-33AFDEEC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243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7BFB1C8E-6584-4BD8-B897-7D2AA781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51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5F6E4D8E-DD01-4F85-9494-D6F40AD1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update_display("")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85245F02-2F48-4FA0-BB19-8C699A6E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43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在Notebook顯示文字、表格或互動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元件。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C2423568-9CDD-4CD8-96D8-9D815030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52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828EC8B5-D874-480A-A259-72136453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calculator_ui = widgets.VBox([html_display] + rows)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3575915A-9953-4CDD-B9C2-5A7E1929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0292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把螢幕與各按鈕列垂直組合。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3855D0-F3BD-4C0F-82F6-A75A1E2A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EB250F09-2127-4223-B670-62E160AA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483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53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00D0655A-71F5-4E18-81EB-96FF83A8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483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display(calculator_ui)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AE431142-C10F-4C8E-AD1A-B6BC30EE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4483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在Notebook顯示文字、表格或互動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元件。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682537AD-99F9-441F-9716-3C556C17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1895713526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242366-3B48-419B-8656-7C52D7A8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EA6D283-9C4B-4F59-A143-D1346FC6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C9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1D5E8AE-CB41-4C00-8B8F-8B090A1E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隨堂練習與參考解答 1/2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CB07BE3-5A03-4FA6-A2C8-68F33724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第3–7章 綜合練習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D31B002-52C9-420D-BF91-E89EAC79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64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BAEE0-F70D-413C-97A3-8AD53C0F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E1ED44E-94AC-45B7-9908-3981B243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0F40373-FAC4-496D-8F90-80836C91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請先在下方作答，再閱讀參考解答。每題都要說明用到哪一個課程觀念。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DB177-051B-4476-BF76-C27F371F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8AFA13A-35B9-4DD1-9BF7-110F1BAD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C0C65580-E435-48B7-8083-14F1C885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33650"/>
            <a:ext cx="13144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1. 運算式：先預測7/2、7//2、7%2、-7//2，再用程式核對。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2. 判斷與函式：新增classify_result(value)，將結果分為正數、零、負數。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3. for與陣列：用迴圈統計按鈕資料中共有幾個數字按鍵；新增一列時不要修改統計程式。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4. while：將命令列計算機改成最多計算3筆有效答案；輸入錯誤不占次數，q可提前結束。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DD1E7-672D-488B-9413-81612922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91FAD987-A516-415F-A478-FF19363D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767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25622B1F-8DE9-48C2-AC25-22433268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67200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5. 整合：新增「平方」功能，說明要調整資料、回呼或核心函式的哪些位置，並測試-3的平方是9。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45BB1D-5A71-49AF-9F3A-DC116842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59BFDB3F-9779-472C-9C17-CC922FDA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B3169CD4-BCA9-4BF9-8C57-C058795E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34000"/>
            <a:ext cx="13144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參考解答與評量： 第一題為3.5、3、1、-4。第二題先比較大於0，再比較等於0，最後負數。第三題走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訪每列及每個key，用key.isdigit()判斷，現有結果為10。第四題把成功計算後才執行的count+=1放在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try成功路徑內，以while count&lt;3控制；錯誤後continue。第五題可在按鈕資料新增平方鍵，回呼時將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字串改成f"({current_expression})**2"再求值，括號不可省略。</a:t>
            </a:r>
          </a:p>
        </p:txBody>
      </p:sp>
    </p:spTree>
    <p:extLst>
      <p:ext uri="{BB962C8B-B14F-4D97-AF65-F5344CB8AC3E}">
        <p14:creationId xmlns:p14="http://schemas.microsoft.com/office/powerpoint/2010/main" val="241535825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79D9A-F3B7-4033-A688-AF27BCFE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1AD5F34-9A86-4731-B6AD-2F8AFFA7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C9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026BA5C-4CE2-401F-AF76-80A18508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隨堂練習與參考解答 2/2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52CA064-AFDF-437C-8927-D861040C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第3–7章 綜合練習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43BB9D6-6E37-4CE0-B3A8-D5DA7A95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65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B9E5C-F108-40F0-825C-770FB883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7715990-1763-405E-BCCB-B121B4F4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AE9B5BA-59A7-4504-9A1A-A3050EFE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建議評分：運算正確30%、分支與邊界25%、函式拆分20%、資料與迴圈15%、能解釋自己的測試10%。</a:t>
            </a:r>
          </a:p>
        </p:txBody>
      </p:sp>
    </p:spTree>
    <p:extLst>
      <p:ext uri="{BB962C8B-B14F-4D97-AF65-F5344CB8AC3E}">
        <p14:creationId xmlns:p14="http://schemas.microsoft.com/office/powerpoint/2010/main" val="1292639334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70F699-5BF7-46EE-93EA-9D1A58CA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2F6B29F-84A5-413F-8314-7FF43ACE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C9  逐行程式解析  1/3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718A15C-F807-4FE6-BCDE-44FEEB22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隨堂練習與參考解答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BF2D6DB-974D-4CA4-8D59-3924BE5E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第3–7章 綜合練習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00056CB-BD90-423A-BE0D-4261F6DA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66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BA770-D4F5-49A4-A8A2-8F2B0963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F59D035-05E2-4637-8BA4-D41CC81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1725506-AE85-4158-8AD7-0E6D60AF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第21個儲存格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57B18AA-27F1-47F9-9868-1E540BB4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3B6DA3-F900-4239-9DFF-63DD024F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9CD056E7-A042-4A80-802D-2A571825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7A7AA011-3763-4A5D-B342-C278EC3B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def classify_result(value):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6C7FF5E6-A1AB-4354-9F83-F17F8AF4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定義classify_result；呼叫時才執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行函式內容。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45E3647B-037B-40A8-9DAC-E7E53F78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AD50E862-EE01-4F22-B71A-73124A2F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if value &gt; 0: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4DF1D96D-17A0-4166-9DE1-F2909FAF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判斷條件；成立才進入下方縮排區塊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1A6A68-FB4C-4F40-BDB4-5A5488A2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6263842E-FCDA-4612-826A-BFA286CD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087244FB-B156-49B3-A91B-C14D7E9A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return "正數"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27554E5D-5FDA-40FA-81F6-0EFB0782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回傳計算或整理結果，並結束本次函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式。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846094A8-E6DB-4FF7-BECB-36755D0C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2C6E0B4D-64A2-4315-B29E-E419C5C6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elif value == 0: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838F13BA-D4C1-4D00-BABB-A5BE842D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上一個條件不成立時，再檢查此分支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7FF476-3034-4E47-AF92-30BB179C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2E09D4D4-FED2-49C8-AAB9-5FFB8ED6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05AD2FFC-0834-44B5-AADE-BB5289F3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return "零"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58EF1112-7432-4D4A-A10D-362A30F1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768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回傳計算或整理結果，並結束本次函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式。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E766B3F8-A2BA-4D4A-92CA-96844F4A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0D31CDDD-0631-43C9-A92C-FD384E38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return "負數"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2CF6BA96-1DDE-42D2-9089-BB084B67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62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回傳計算或整理結果，並結束本次函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式。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B4DEEC-44CD-4978-A20C-973AD361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E94038BA-6E6A-49EB-98EB-EB06ACA7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9A3DD2DD-AD02-48F0-BEDE-43A40FF7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484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digit_count = 0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51B7614C-C5C7-4051-937E-10A7DCC7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設定初始值或清空狀態。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FA39CC21-675A-4D52-B8FF-D4D12AE3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1FC6C758-C2BC-4EDD-8FBA-74F8BE3E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6675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for row in buttons_data: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67B5791E-CB21-421B-9084-B454EFBB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675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依序取出資料；每一筆執行一次縮排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區塊。</a:t>
            </a:r>
          </a:p>
        </p:txBody>
      </p: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3DB5374E-63F8-419A-98B7-5B2ACA9F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1574355772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EA0976-B947-4687-ACC9-DA15E382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CAF95AD-593B-4794-885C-99CDB056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C9  逐行程式解析  2/3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C1CBCFC-A3E5-4547-8E60-32831262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隨堂練習與參考解答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C7895D9-E0E4-4E29-9D07-A85FDA3E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第3–7章 綜合練習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5EE94CB-8302-4AD5-A35D-E1C9DB42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67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54A71-9B93-493C-9AEB-D291DE51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E02EE3C-AC75-4224-AC1F-DD99CD2D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323CBFB-E1B3-4432-A992-F98F21D9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第21個儲存格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5964567-2ADC-42C2-9CC7-A0B03174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C65A3-376F-4E8C-BB63-580FD1D1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A8680088-1645-4FA1-9C12-38BA2290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6C1B56C4-52A3-4715-B84D-B9BBA988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for key in row: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CC758161-587D-4E49-A7FF-968C90D6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依序取出資料；每一筆執行一次縮排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區塊。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F777DEFF-71A4-4565-96EA-F123B5D9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8FC2916B-EA03-4AA3-A66F-20CA1A82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if key.isdigit():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ED2F334A-5FF6-457A-A9AE-359CD66A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判斷條件；成立才進入下方縮排區塊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EB7CE6-43F3-4B2D-B2FE-1E579206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64E2E0F2-99B3-4F37-A8C6-422126A6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609678F0-C212-484A-9E7B-6BC05A32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digit_count += 1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B9705103-05D3-4639-AC0C-FA61B32C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累加目前數值或文字，更新狀態。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42C7FD5B-8FBE-4B61-9D43-A4ACC2D1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876F25D9-A640-4A6D-BED5-0A019124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print("數字按鍵：", digit_count)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298AE3E4-3FAC-4D0E-8F91-360A96DD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243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輸出目前結果，核對前面的預測。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990ACF-3A6F-41C0-8FFA-DA6CE3F7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243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BE8E2531-C537-435E-BB67-DC6E26F8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02A54C33-876D-4528-837D-F7708C2B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print([classify_result(value) for value in [-2, 0, 3]])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F21E8DDA-C2FC-43B6-A44D-1E866890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434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輸出目前結果，核對前面的預測。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5FCAB097-8792-4B14-974D-4840A0FC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31170C5B-B20E-44A0-ACD8-1D0B7DAF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def run_three_calculations():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C9EA9EE3-D9EA-4702-876E-1D77881F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定義run_three_calculations；呼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叫時才執行函式內容。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F25A18-B175-4DCE-8FF1-E0B1152C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6121B29B-176F-4239-B532-DB4882F2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483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FFAABB67-A962-4C2F-A320-02F953C4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483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count = 0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B9649F38-B2FE-45D2-905E-1CC3E4ED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4483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設定初始值或清空狀態。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1411DF78-4C12-48C8-BB1D-3E403F9B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14FA5EFE-9A2F-405E-9A06-FE9B472D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674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while count &lt; 3: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F698D23C-3116-4A64-8148-258C85BF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8674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每輪先檢查條件，成立才繼續重複。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D51B7A-6A84-45D9-9957-8207BE38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674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D796813F-9A7C-4651-A800-22C0DE49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6275B04C-C1D9-42FE-B271-12D9CA7D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raw = input("第一個數（q離開）：").strip()</a:t>
            </a:r>
          </a:p>
        </p:txBody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3AC15692-A065-4484-BF7C-60EC3F36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讀取字串輸入，必要時轉為數值。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A8B1A774-138E-4452-8482-187BF530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05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43" name="text-42">
            <a:extLst xmlns:a="http://schemas.openxmlformats.org/drawingml/2006/main">
              <a:ext uri="{FF2B5EF4-FFF2-40B4-BE49-F238E27FC236}">
                <a16:creationId xmlns:a16="http://schemas.microsoft.com/office/drawing/2014/main" id="{BD0D3A48-C3FD-4B9A-8426-6FEB5BE3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705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if raw.lower() == "q":</a:t>
            </a:r>
          </a:p>
        </p:txBody>
      </p:sp>
      <p:sp>
        <p:nvSpPr>
          <p:cNvPr id="44" name="text-43">
            <a:extLst xmlns:a="http://schemas.openxmlformats.org/drawingml/2006/main">
              <a:ext uri="{FF2B5EF4-FFF2-40B4-BE49-F238E27FC236}">
                <a16:creationId xmlns:a16="http://schemas.microsoft.com/office/drawing/2014/main" id="{0311EA97-91B1-4EAB-86AF-3DC5147D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705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判斷條件；成立才進入下方縮排區塊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45" name="text-44">
            <a:extLst xmlns:a="http://schemas.openxmlformats.org/drawingml/2006/main">
              <a:ext uri="{FF2B5EF4-FFF2-40B4-BE49-F238E27FC236}">
                <a16:creationId xmlns:a16="http://schemas.microsoft.com/office/drawing/2014/main" id="{0FF310B1-65C4-416B-8EC3-24F9427F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737955957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445EC5-C4C4-4323-80F1-F3872804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E7AAAE9-6907-44C7-8B13-206B6719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C9  逐行程式解析  3/3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AA5E02E-01F2-419B-A93E-2A62C747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隨堂練習與參考解答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198412A-E549-46F3-9C67-540FB4A1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第3–7章 綜合練習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B033938-7C41-471F-9568-5904D2B6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68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B9A39-ECA7-4D2E-8002-A62287EF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5502912-E7BC-4860-8F9D-1078652D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9E0B7F8-972F-4C27-85F5-DDF74055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第21個儲存格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3B07888-9F38-4A2C-A2BA-D239AEAF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8EC39-1519-43D5-8F6A-353888C1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D7F0F0D-0A4F-424C-A84A-2713F49A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BCA9CC9-8C3C-4228-AA6E-4FA39293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break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C0D30A0E-D30D-471B-8909-3C7F5F16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立即離開目前這一層迴圈。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B3B39624-4B39-42ED-90AB-303C648F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AA3EFE2D-A0C8-466D-B0EA-23A682E9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try: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6A0EBDAE-25AF-4FA2-B16A-467F0068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527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執行可能出錯的操作，準備捕捉例外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2AE9AD-15D6-408F-BB2D-CC4BB598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94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78E5EA3D-0CA7-450A-9B0C-92BDA895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45D45DDB-1B1D-42F4-BBE5-9B3225DB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result = calculate(float(raw), input("運算子："), float(input("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第二個數：")))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34DB5C4C-02C2-4F8B-A50D-388DA111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讀取字串輸入，必要時轉為數值。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14031C4E-1106-47AB-9EBA-E03120B1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E03A7388-1CE3-4713-88A5-5C6AC900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except (ValueError, ZeroDivisionError, OverflowError) as error: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62698EF5-F83E-4EFD-8DB0-C7369DC8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243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捕捉指定錯誤，改走可控制的處理流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25DDBA-7CE8-4090-A107-116E5430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910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B603286B-6421-499F-B532-10A8B2BA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4F99EC28-B91A-4C1E-A36A-9C0B6247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print(error)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F997255A-A355-4459-8817-7DC8E089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101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輸出目前結果，核對前面的預測。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63B3BDAB-2CE4-41CA-BA92-B0C7F3F9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24ABA502-A6DE-4431-A697-17FE1A61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continue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AB404A49-9CB7-4CE0-9E40-8951524D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0292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略過本輪剩餘內容，進入下一輪。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7EBBFC-B163-4FCF-BE4B-E90AEBFA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2EB7C56D-2361-489E-A86E-FF0DA7CA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483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2AEC2E85-DEBB-46A5-991B-1D95038B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483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count += 1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CDFA73E8-6CCB-46CF-9A8C-734D5642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4483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累加目前數值或文字，更新狀態。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A2352D74-BD17-432D-A94A-039AD10D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1CAFDC93-C7B5-42E3-BDCC-7E856F89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674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print(f"第{count}筆：{result}")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34715A62-F39A-4A92-9F3B-EDAE2BC8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8674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輸出目前結果，核對前面的預測。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F58223-CB88-4DA2-A144-C700EB59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674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52EF13A0-CADD-4D97-A666-F4AE7695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9D5C553A-0CDB-43F7-B8A5-3537BB54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5A7B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5A7B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5A7B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5A7B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5A7B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5A7B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5A7B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5A7B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5A7B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5A7B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A7B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A7B68"/>
                </a:solidFill>
                <a:latin typeface="Microsoft JhengHei"/>
                <a:ea typeface="Microsoft JhengHei"/>
                <a:cs typeface="Microsoft JhengHei"/>
              </a:rPr>
              <a:t># 自行呼叫run_three_calculations()體驗；預設不等待輸入。</a:t>
            </a:r>
          </a:p>
        </p:txBody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135C696B-C480-49AD-8D22-C6A0ADE5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註解：自行呼叫run_three_calcul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ations()體驗；預設不等待輸入。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C4C549FC-7562-4C2B-ABBE-995DA223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891512197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3E0924-B496-473D-A207-0F40989A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C21449E-EBD0-4170-8813-8E721A35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C9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FD5EC6F-BC95-4283-8A6A-3C3F5F12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隨堂練習與參考解答：執行結果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B4F583E-EFBE-4E83-A797-7B9DB81A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第3–7章 綜合練習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D6CC544-AF92-4309-86C5-3BB9D7E8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69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57C1B-B315-4A1F-92EB-5A4EEC81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432560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EF3FD7F-69D7-4C3B-9FBD-1EA1AB8A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3716000" cy="509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數字按鍵： 10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['負數', '零', '正數']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89E9574-8AD9-4F55-9670-53C2A114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62850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課堂提問：哪個運算、分支或迴圈決定了這個結果？改動一個輸入後再驗證。</a:t>
            </a:r>
          </a:p>
        </p:txBody>
      </p:sp>
    </p:spTree>
    <p:extLst>
      <p:ext uri="{BB962C8B-B14F-4D97-AF65-F5344CB8AC3E}">
        <p14:creationId xmlns:p14="http://schemas.microsoft.com/office/powerpoint/2010/main" val="484415491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8ED20E-22ED-4F19-A605-4C812583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0E8B5D6-0536-4D60-A40A-5D1AFB43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C10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42F0B56-342C-43C0-A6B9-7342365F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自我檢查與原程式對照 1/2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65C7F69-AF37-4DCD-B739-76244A14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第3–9章 綜合檢核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4A48DD6-9074-4076-BD74-16BB81A1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70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7FDE5-CCE1-4F80-B080-472B69CD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6147B84-F374-4951-AD2B-75ED6127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6E6ABE7-C448-47EB-9006-3AAFE031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以下測試核對所有運算分支、錯誤輸入與按鍵回呼。測試回呼不需要人工點擊，因此可在沒有網頁元件的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環境驗證邏輯；網頁是否顯示仍取決於Notebook前端。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296C0-99F5-4744-A5BB-EF168E5E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CF81EB8E-62DB-454F-AB05-DEB63DB3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DF4A2C6F-9CD4-4209-BB7B-0A5C7B34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00350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原範例位置  ／  本版完整講授與程式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B2EA36-9874-4B28-85FF-77EAB245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43453398-A522-43BB-ACB2-4E981108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3AB2DFF9-0E9E-4435-9441-26A96004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00450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code格current_expression與字串相加  ／  C1、C2、C8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AC652A-ADFF-4BC6-A4DC-B9DDD867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BBB5C434-74C4-439D-87CB-B3ADD734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0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182BFACB-A836-4823-B36A-30CACD56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00550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on_button_click的AC、=、Error判斷  ／  C2、C8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42B091-1D6D-4F7D-A4EF-CBF102EF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192ACBC9-AFF7-431B-9E15-9762A3CA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E39A0FBD-1C1F-4C75-8AAC-69A1DC16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00650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update_display、回呼函式  ／  C3、C8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DAC1F7-B24E-4334-8DCD-5821803C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B6D6A319-41D6-4503-B448-7A92634D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02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C1EF252C-3C94-497A-B7D0-1E1FD0FA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00750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buttons_data及rows  ／  C4、C5</a:t>
            </a:r>
          </a:p>
        </p:txBody>
      </p:sp>
    </p:spTree>
    <p:extLst>
      <p:ext uri="{BB962C8B-B14F-4D97-AF65-F5344CB8AC3E}">
        <p14:creationId xmlns:p14="http://schemas.microsoft.com/office/powerpoint/2010/main" val="1545866218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3BA782-E428-4183-9358-62E062FE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F1CCECC-49FF-435A-8FB8-1FD64E5F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C10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C101294-7114-4E3A-8597-64B0EEAD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自我檢查與原程式對照 2/2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C6497F9-D9BD-43B8-9E5D-82F1E5A9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第3–9章 綜合檢核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E3765D6-D6D9-40AC-A5EF-1A528DB3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71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1A451-3D75-43BB-A4CA-D4882F0D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E46BCF5-6CE8-4C39-9381-D01B2128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E077FE8-DA1B-4F4D-805C-A8C45A20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雙層for建立HBox與VBox  ／  C5、C8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25AAB-A8AB-48F4-BAA3-42B4AE97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70E7992-FB08-4772-8962-609E383C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164A41F2-07DB-4763-B56C-CC1FBB43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33650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eval(eval_expr)  ／  C7的受限解析與C3核心運算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BADB77-CCEA-4EC8-AAA8-972041C9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7FE0D111-DDDA-4364-AEA5-D65C6564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DA901F76-1FA7-4BD0-B364-1E5493C9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33750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原範例沒有的while練習  ／  C6及C9命令列版本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B9C1E2-8184-4EEB-83B1-3121C3CE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3385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A2F2ADF7-CADF-46D9-9389-374253CE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B8E2D29B-0943-4E90-9574-E112C37A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Tkinter原範例只有省略按鈕的骨架，不能直接當成完整計算機。本版最後提供可另存為.py的完整桌面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版本；本週主要操作仍採上方Notebook版。</a:t>
            </a:r>
          </a:p>
        </p:txBody>
      </p:sp>
    </p:spTree>
    <p:extLst>
      <p:ext uri="{BB962C8B-B14F-4D97-AF65-F5344CB8AC3E}">
        <p14:creationId xmlns:p14="http://schemas.microsoft.com/office/powerpoint/2010/main" val="332239782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C25C74-165D-41FD-93AE-043B0B9B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32A8DA-6ABE-4CE1-BFF1-6ACA93C1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C10  逐行程式解析  1/4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4DA8BEC-2CE6-4029-BEDA-E0FABD04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自我檢查與原程式對照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A0CAD6A-B76B-4491-8E20-2A9B11C9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第3–9章 綜合檢核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BDB669E-C743-4F90-B127-60620D08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72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9E1DC-FE5E-4F85-BF35-24B3A095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D5E7138-ECB0-4750-85D5-D40A68A8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72171D8-ABDF-4A9F-B0FD-8FEAFC68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第23個儲存格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FC008F1-DA6B-4495-A4DA-FA9F9E1A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E54FF-6F7A-4F0A-9E6D-A1B2BE95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2B70BC7D-E372-4E2F-B755-09BC3F11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0C80C93C-AD31-422D-88C4-7991B9D8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assert calculate(7, "+", 3) == 10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F88037FC-E42D-4B38-ADA1-998646BE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驗證實際結果；條件為假時測試失敗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A4144B9D-C18D-4BCF-ACFC-C3B76BDE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989068CD-9939-4F81-96F9-9A20FCAF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assert calculate(7, "-", 3) == 4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41268D28-0C4C-43E7-85D5-515C727D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驗證實際結果；條件為假時測試失敗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D025B0-B557-4062-AA63-A657D9F9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6E3A4032-B26F-4572-B297-3BCD9C82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E4DD7E1A-2A09-4578-9E8B-9EA4A67E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assert calculate(7, "*", 3) == 21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48792C3F-A8DB-4A2B-B8E5-ABE6AE69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驗證實際結果；條件為假時測試失敗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8D8EE84F-B3AF-46FE-B6E7-0C7F0301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EAC94871-6E9D-4ABA-965F-57225D72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assert calculate(7, "/", 2) == 3.5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3ECC32DE-D857-4009-B0F7-7EE168EC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驗證實際結果；條件為假時測試失敗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1CB5EB-CB25-40A6-814D-ECCF94C8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C52AB76D-3757-4E2D-B2DE-F93AD1CB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0AF61A0B-6884-4512-8F8E-06A9B5C9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assert calculate(-7, "//", 2) == -4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C3809496-C2E3-49CC-9D46-F098C3FA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768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驗證實際結果；條件為假時測試失敗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A8404EE9-F673-4EAA-A2DF-66AE701F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069A2861-F6F8-458A-A6E6-096EFDE3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assert calculate(7, "%", 2) == 1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2F6DE348-BF70-4E5A-A936-FD0C28EF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62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驗證實際結果；條件為假時測試失敗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686736-2B92-471F-B119-F6159124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4EE9CD86-46AF-4561-B94F-FDFA2AA9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B4D48247-851B-4EEE-BDD8-CEA4C6D9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48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assert calculate(2, "**", 3) == 8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DFAAD6EC-A24F-4954-8592-2A028E0D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驗證實際結果；條件為假時測試失敗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CF9A7EE9-21FA-4DAE-AD8A-F27DD37E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1285955590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178090-AC95-452B-8281-361DC7B7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1F0ED10-EB62-411A-A331-5937A3CC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C10  逐行程式解析  2/4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6F64761-1D6A-4684-9C42-7F0C72F7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自我檢查與原程式對照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EA250C9-BD06-4412-80E1-ABB00F74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第3–9章 綜合檢核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A70526C-D456-4AB6-B43E-13B0A4A8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73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A26FB-1C20-4225-853B-95C8460D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62E99E6-962C-4213-A684-D3092AF7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E7E6867-87EA-47AD-8EDA-19188C95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第23個儲存格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0890C18-8DAA-4135-B1A0-37B2642A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D29DD-2185-4A62-A9F0-C1D23C2D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66F29C61-370B-4E8D-A0A0-3710A4C8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DF70820B-2486-4D77-8A62-1E79BE10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assert evaluate_expression("2+3*4") == 14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958A909B-1E75-46F1-B743-EF8CC381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驗證實際結果；條件為假時測試失敗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AF489E46-D68E-441D-BEC7-3F0E8E67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6A8CF867-0322-4F96-9743-7E751434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assert evaluate_expression("(-3)**2") == 9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52BBF394-833D-4BFD-AFBD-6598697E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驗證實際結果；條件為假時測試失敗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FF0304-9B05-4FB1-9003-3531783D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84C647E9-7250-459F-8D55-747B6A49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18E420AE-6A75-4043-80DD-C0EABEF9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assert math.isclose(evaluate_expression("0.1+0.2"), 0.3)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74823D72-60C1-471C-B207-14BD0903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驗證實際結果；條件為假時測試失敗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3B593E94-A68F-402C-B66C-1A0A5124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073CAACA-F1C8-484D-A6CA-F568B260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for bad in ["", "8/0", "1+", "sum([1,2])", "True", "2**1000"]: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433B286A-2D61-454C-99E3-90A73BFB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依序取出資料；每一筆執行一次縮排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區塊。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CFA265-7FE8-4AEE-B137-2DF1F645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9302711E-11D8-439A-A204-E12AB3E6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5D8341C5-BCA6-4889-9A4F-E914BF1C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try: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A7016982-C701-4D94-88EB-F89DCDB6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768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執行可能出錯的操作，準備捕捉例外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BAB0BB6E-909D-4EB2-BDEA-17A33370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09AE32F2-9C81-4D9F-81A6-8D8DFF77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evaluate_expression(bad)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1D13E120-3F60-4A6F-B257-D07A0C1A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62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送入無效算式，確認會產生例外。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F3B7E8-9068-4567-9594-76DF3DE2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C8AE33D4-E064-433C-AE80-862A0301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559FD65F-2230-4664-A4E5-AAC8F600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48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except (ValueError, SyntaxError, ZeroDivisionError, OverflowError):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FAE3A41A-BF0B-4CD8-B5A4-027F049C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捕捉指定錯誤，改走可控制的處理流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程。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32E2D7BD-7F57-4125-9EEA-1F81D57B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342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326DB935-F36E-4ABC-BEDF-059C8C35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9342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pass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9F6584DB-C54D-49F5-A916-BCF7445E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9342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刻意不做動作，保留語法區塊。</a:t>
            </a:r>
          </a:p>
        </p:txBody>
      </p: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086F57FE-01C0-4F88-88C3-00FC3095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1386710554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7FC055-5600-41C2-B7AC-12CB42E2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A36EC51-1BF6-40BF-88A2-8EC7FEB3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C10  逐行程式解析  3/4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E340A77-9786-4484-A208-1A1C2EBA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自我檢查與原程式對照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7199EA3-0E5E-428A-A257-777D94AB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第3–9章 綜合檢核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A782FA4-A1BB-4456-8004-2CCC92F0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74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9F154-0D9F-498E-BA26-C7E2CCD9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C0295C9-0DE6-4842-800A-11F4F9DA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AEF1309-6432-4BC9-B540-F88208C5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第23個儲存格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66B35D1-0A8E-42C9-A440-C3337CD9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5533BA-7A97-451D-A0CC-AAFDB26D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A7DA06A5-A22C-4257-8EF8-E4868570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04221D69-0AFC-44CB-8D84-3124BD28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else: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89E63F6E-1642-4052-8A2F-8D9F1CC7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try未產生例外時才執行。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C5028515-03D4-459C-9CDD-D732991B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9B4168E2-B4DE-41E2-8D94-DB90F0E5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raise AssertionError(f"應拒絕此輸入：{bad}")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31C6C1A0-45D3-4EFA-A1B6-F58BDF51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提出錯誤，交由呼叫端的except處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5FB622-1F2F-4947-B76C-C5671FF9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86157EE3-84F1-4E79-9638-352BE58A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D89113B9-1371-411C-8361-85A2F675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from types import SimpleNamespace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E93B3D79-1CD2-4680-8291-69F865A3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匯入本段使用的模組或功能。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6B7FAE1B-8807-40D2-A166-94F8D3AB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EEB4DFED-662D-4622-9074-0DA1A041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def press(keys):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642BA014-6BCB-4F06-AAB1-65A3B329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243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定義press；呼叫時才執行函式內容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B8E605-5C75-4071-A3CB-CEDC84C7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910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F665B29C-26EB-45B8-A979-7396AF74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B6ECFC05-3D33-441D-B9A8-47632566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for key in keys: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918EFBA7-24F3-4A3E-BA9E-D5363433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101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依序取出資料；每一筆執行一次縮排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區塊。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33A8122A-9CE1-4978-B3BB-81D07946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95900"/>
            <a:ext cx="619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3FD042DB-4163-46C8-AEA1-8E7A20EF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95900"/>
            <a:ext cx="923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on_button_click(SimpleNamespace(description=key))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3497EFBF-3A27-45C8-B2EF-FDAFD0E1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295900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建立模擬按鈕物件，傳給回呼函式。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1A3DBA-78B5-425F-B091-EEFE1BCD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21294BEC-0F46-43EC-8100-DF873A90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77DE8EDD-CBDA-4614-9402-DF595409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48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press(["AC", "2", "+", "3", "x", "4", "="])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303EEB97-23F3-4F84-A9CB-864804E3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模擬一串按鍵，依序觸發回呼。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5788D93B-3429-4E3F-84FE-17F93C84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121224754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E17D0A-7B70-4838-B384-DE5517EC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5951291-AF69-470C-9DB0-4E6FC183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C10  逐行程式解析  4/4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B31F6BF-446F-4EF9-A813-FE57319C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自我檢查與原程式對照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B522EE8-1040-4B62-8F13-295C2A65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第3–9章 綜合檢核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746AC00-28C9-43BB-9AB7-3F32A233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75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04B67-69DF-4039-9618-2507C0EE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3C182B0-B532-4C86-B02E-307B2A1F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D4E5970-7E5C-4476-8EDA-E94843F9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第23個儲存格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4EC1223-06E0-4FDC-85B4-29525383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5377C-4DA6-4846-BE94-95E35D55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113144EA-E9B3-4EBF-A83D-78FB2E01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0433A45F-CEF6-4705-B2D2-4513A154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assert float(current_expression) == 14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C3A97F20-CC59-44DD-806F-8E4672C5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驗證實際結果；條件為假時測試失敗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0372C9AE-A754-4213-B6B1-86B3C82E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1C689B46-6A18-4D54-86C6-A67AE78A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press(["AC", "8", "/", "0", "="])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5D98DD73-0062-47B9-9936-E776B835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模擬一串按鍵，依序觸發回呼。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2227E5-E0E5-4B55-BB00-DC34222F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99683EE1-F491-4046-94CA-5B535891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2DF2768F-1129-4659-8910-56717B47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assert current_expression == "Error"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A21D2B7D-CA40-419E-87A1-37078EB4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驗證實際結果；條件為假時測試失敗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D4C2FDF2-DCA5-4AD0-81C1-72A5D4F2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FC69971D-C299-4D55-A65C-F64BF749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press(["7"])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5118E9FB-A644-4738-8C12-0E10AD2D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模擬按鍵序列，驗證回呼處理流程。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71B6E1-7D16-40C0-B88B-8EDFF843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910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46E124D5-8E9A-4D28-9C06-3A3FEABE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ECA74182-2927-4802-8B1F-1B17F45F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assert current_expression == "7"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6BD1A6F5-63C1-4A3B-B530-E0CBD073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101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驗證實際結果；條件為假時測試失敗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04E8416D-08ED-4B9B-8501-06408840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959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10B5D6B9-1A7C-400C-AE3C-3518F21E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959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press(["AC"])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A1E3667F-CB3B-46F0-90BD-F94A227F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2959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模擬按鍵序列，驗證回呼處理流程。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3AD8F7-692A-4FAF-9034-2EABE2B2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959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D843294E-324B-46ED-8977-819D10FC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BF84F26E-743A-4D20-8D6C-833B594A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assert digit_count == 10 and button_count == 24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8CEDBE03-2453-48A0-A3AC-D1695367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驗證實際結果；條件為假時測試失敗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D40EC1C2-02F8-4CE7-B7BE-630764F9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F4FC23A1-0C72-4242-B770-544B7C32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008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print("計算機核心、運算優先順序、錯誤處理與按鍵流程檢查通過。")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761AD9DF-699B-44C0-BA87-516D4CBE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輸出目前結果，核對前面的預測。</a:t>
            </a:r>
          </a:p>
        </p:txBody>
      </p: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AC005258-4F51-4A19-A66F-ED5210CB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864883147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1C5DE-36C1-4805-AB96-824883B0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DAD0D97-C35C-4B24-8A24-5345855D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C10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5BAD067-7563-4D07-ABA0-A55D1613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自我檢查與原程式對照：執行結果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B612B69-D759-4CF0-B946-B42CA38C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第3–9章 綜合檢核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A89F98E-2D50-4D94-8ADA-DB0918F4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76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0FB01-2B2D-4D8D-955C-795E8A38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432560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1AA2541-7E47-4C63-B05A-B1F3CB7A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3716000" cy="509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計算機核心、運算優先順序、錯誤處理與按鍵流程檢查通過。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9A8DB8A-82B4-4DCC-A90A-88B8A283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62850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課堂提問：哪個運算、分支或迴圈決定了這個結果？改動一個輸入後再驗證。</a:t>
            </a:r>
          </a:p>
        </p:txBody>
      </p:sp>
    </p:spTree>
    <p:extLst>
      <p:ext uri="{BB962C8B-B14F-4D97-AF65-F5344CB8AC3E}">
        <p14:creationId xmlns:p14="http://schemas.microsoft.com/office/powerpoint/2010/main" val="1777838521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8BF36-61BA-49AD-A048-AA2AA9D5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DB5735D-7B50-4A1F-8E82-0035DC88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C11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EE92127-2D71-4B5A-A8EA-28B18ECA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本機Tkinter選讀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7371F85-6A03-4735-9CF6-24647FAB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第9章 模組與套件／GUI延伸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34DA2E7-40F1-4007-9B82-BDB6C4E4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77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2C2A3-2BB0-4BC3-AEDF-68154450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D3EBF3C-A815-48B9-9094-9AB65CC3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35BC5C4-E14A-4F58-A9C4-60E66EA6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此完整桌面版採「兩個數值加運算子」介面，讓初學者專注C3核心函式。將C1的import math、C3的cal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culate函式及下列程式一起存為.py，在支援Tkinter的本機Python執行。Colab不適用；程式區塊以文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字呈現，不會隨全部執行啟動視窗。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78301-3BAB-49E8-B803-2F374179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B2ABE5B-2BA3-4BFB-B41D-2712292F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DEDFAC7-2C17-49F8-B3A8-58A495C8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33725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mainloop()由視窗系統處理事件；command=compute登記函式而不是當場呼叫。這與Notebook的on_cli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ck概念相同。</a:t>
            </a:r>
          </a:p>
        </p:txBody>
      </p:sp>
    </p:spTree>
    <p:extLst>
      <p:ext uri="{BB962C8B-B14F-4D97-AF65-F5344CB8AC3E}">
        <p14:creationId xmlns:p14="http://schemas.microsoft.com/office/powerpoint/2010/main" val="1195805497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AACDFCB-3FC7-4928-828B-98401872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7BB23B3-4168-46DC-9E27-6102DF1C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C11  逐行程式解析  1/3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7756AFD-CF72-4378-BA68-5B6C72D6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本機Tkinter選讀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B8AE4EA-4177-4B85-92F4-60128D42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第9章 模組與套件／GUI延伸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2A4F6CB-6C51-4959-9F70-E33E4E25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78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A72BF-9269-44AB-BE1B-0532DCFA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AB882C8-016B-4437-BC46-B62490C2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971A183-52E0-4DA2-AB6D-E04ECBCD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第24個儲存格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5ABC562-0829-4008-9F09-3A9477FC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752D6-8071-4F1D-A130-06FEFCF8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71D7A3B8-0632-4EFF-ACAC-F3B7A6E1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7B25F829-1ED6-40E5-866F-C8EE80C5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import tkinter as tk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444C0C0D-9AE3-4289-8228-C10E76E2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匯入本段使用的模組或功能。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086739C7-34EA-4862-942B-D5A366B5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5D0A9D4E-3809-4DA5-A704-6A4B2F95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from tkinter import ttk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C0E4F8D6-C21B-4B08-BF32-5A0127BE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527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匯入本段使用的模組或功能。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1A24CB-A38C-44F6-81B1-D47216AD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CE8C9A16-BABF-43AB-8000-EF236599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8578C9AD-E747-4477-B0AB-9D57E0F0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718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root = tk.Tk()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2BC88ACA-66C3-47A0-9FFD-6235BA86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718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root。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6E543D9C-BB26-471A-A44A-54BB2E5E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909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8118FC76-4B5B-4A92-8D89-2BA546C7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909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root.title("兩數計算機")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6834E501-EE77-42A0-B8AB-6B7727E4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909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設定桌面視窗的標題。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20825D-6057-455C-A577-052F4216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576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9B4F4298-B6ED-479B-A7D3-3E60B3BD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7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8D407241-CF8A-4DB9-B684-20959CDC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left = ttk.Entry(root)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20427942-7FE2-47B2-BB61-2E1088A3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767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left。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DC1D3AB3-669D-42F6-B8DE-B700D806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EE1F1FC2-A213-410B-98D8-3A746F6B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left.grid(row=0, column=0, padx=8, pady=8)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A71EC296-44E1-4A9C-B379-0FF2814A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958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指定元件的列與欄，排入桌面視窗。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BDE333-AF4A-43EF-8C75-89DF64F7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958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498E8242-398B-4E48-AE36-4BD245C5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0EE99801-EAB0-4EE2-A372-72EE5FEC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149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operator = ttk.Combobox(root, values=["+", "-", "*", "/", "//", "%", "**"],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state="readonly", width=5)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89C8DD1E-EA2E-460C-A6E8-69EBC3C2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149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建立七種運算子的唯讀下拉選單。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69F2E341-8C4A-46A5-AEC7-6B7DAB11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974E9AEC-DA3E-4D36-AC34-C4474015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007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operator.set("+")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A6EBC41C-0E9C-49F4-B9C8-1FF9FD9B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007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設定介面元件顯示的文字或值。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54D0E1-674E-4B1B-A6F0-BF0CB2EC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007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22222B6D-0A29-48D6-B634-46E4DD71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53CF240E-95D1-410F-AC49-DF900D8A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198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operator.grid(row=0, column=1)</a:t>
            </a:r>
          </a:p>
        </p:txBody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F0C39602-8BD5-4A06-AB02-347FB16E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198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指定元件的列與欄，排入桌面視窗。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924E1855-5A0B-45E2-A05D-1654D1F2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43" name="text-42">
            <a:extLst xmlns:a="http://schemas.openxmlformats.org/drawingml/2006/main">
              <a:ext uri="{FF2B5EF4-FFF2-40B4-BE49-F238E27FC236}">
                <a16:creationId xmlns:a16="http://schemas.microsoft.com/office/drawing/2014/main" id="{AAEE8045-01A5-43A1-9A93-2C7A6ABA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389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right = ttk.Entry(root)</a:t>
            </a:r>
          </a:p>
        </p:txBody>
      </p:sp>
      <p:sp>
        <p:nvSpPr>
          <p:cNvPr id="44" name="text-43">
            <a:extLst xmlns:a="http://schemas.openxmlformats.org/drawingml/2006/main">
              <a:ext uri="{FF2B5EF4-FFF2-40B4-BE49-F238E27FC236}">
                <a16:creationId xmlns:a16="http://schemas.microsoft.com/office/drawing/2014/main" id="{46EF423B-9DED-4F47-AFE4-0D3459DF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right。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FF0B60-B14E-4D53-B2FA-02F9FD47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389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46" name="text-45">
            <a:extLst xmlns:a="http://schemas.openxmlformats.org/drawingml/2006/main">
              <a:ext uri="{FF2B5EF4-FFF2-40B4-BE49-F238E27FC236}">
                <a16:creationId xmlns:a16="http://schemas.microsoft.com/office/drawing/2014/main" id="{C1BA476D-6BCB-4EB8-84CE-F040D05B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47" name="text-46">
            <a:extLst xmlns:a="http://schemas.openxmlformats.org/drawingml/2006/main">
              <a:ext uri="{FF2B5EF4-FFF2-40B4-BE49-F238E27FC236}">
                <a16:creationId xmlns:a16="http://schemas.microsoft.com/office/drawing/2014/main" id="{885132EE-9517-40EB-93C9-9E3A8114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8580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right.grid(row=0, column=2, padx=8, pady=8)</a:t>
            </a:r>
          </a:p>
        </p:txBody>
      </p:sp>
      <p:sp>
        <p:nvSpPr>
          <p:cNvPr id="48" name="text-47">
            <a:extLst xmlns:a="http://schemas.openxmlformats.org/drawingml/2006/main">
              <a:ext uri="{FF2B5EF4-FFF2-40B4-BE49-F238E27FC236}">
                <a16:creationId xmlns:a16="http://schemas.microsoft.com/office/drawing/2014/main" id="{C8486AE3-419C-452F-9B03-85BF11CA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8580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指定元件的列與欄，排入桌面視窗。</a:t>
            </a:r>
          </a:p>
        </p:txBody>
      </p:sp>
      <p:sp>
        <p:nvSpPr>
          <p:cNvPr id="49" name="text-48">
            <a:extLst xmlns:a="http://schemas.openxmlformats.org/drawingml/2006/main">
              <a:ext uri="{FF2B5EF4-FFF2-40B4-BE49-F238E27FC236}">
                <a16:creationId xmlns:a16="http://schemas.microsoft.com/office/drawing/2014/main" id="{535CAD8B-5FCA-48C7-B772-03C6023C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1940337849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585181-B433-43D7-B05C-4ED9779B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63F0804-469C-4F95-BDFB-F5ABEF42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C11  逐行程式解析  2/3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DE57A85-DB53-4FF1-B839-662257B9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本機Tkinter選讀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E752680-DF62-48BD-8BE9-6E2623BF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第9章 模組與套件／GUI延伸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6E416D1-73DC-4143-84A7-BE135497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79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A5664-E737-45DB-A0D6-76514A96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6FF456B-3D47-451E-9BFB-8F7296CF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8ECBD06-A3D1-4839-9C77-29107A6E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第24個儲存格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A71145E-AA41-4F0A-A703-1645ABCE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629E86-CAF7-4B4B-BDC3-6C67D894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4F804F52-6970-44AD-8AEB-40061103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9C88BE63-C505-47D6-A71E-854E35B7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answer = tk.StringVar(value="請輸入兩個數值")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0D112C74-37A8-44E3-9D94-38A39B17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answer。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71778859-4532-435C-A2EC-6EE61FC9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DD156601-A02E-4B48-8C69-BC6AD7B2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def compute():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9CEEABB9-2A88-49F2-86D9-D2D7E4BA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527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定義compute；呼叫時才執行函式內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5D1D51-4E0E-405B-A837-596703FA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94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1289F6A0-1135-4FFC-9851-24F91664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25E96019-8D14-45E1-8C22-B545942E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try: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98ACD98C-85EF-4C2E-AB6E-B11FF834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執行可能出錯的操作，準備捕捉例外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DD187828-5FE7-47F8-B6C9-D1F3F081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AEECE873-5B8D-4B76-81B4-390737A3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value = calculate(float(left.get()), operator.get(), float(right.ge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t()))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128C1E9D-FA06-46E7-9648-BF02508B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243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value。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3905E6-6E42-440F-AA1F-FC7B2A81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910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5F27D8D2-9CD4-429A-A510-4FFF006F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561A8CAC-F9E5-4BA0-A8EC-6A411794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answer.set(str(value))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E14D6BBA-4F20-4E30-B4EB-9782644B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101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設定介面元件顯示的文字或值。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E4C5A04C-B3AD-4099-806D-2E3E43A4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43D1D29C-67F9-48D2-97F5-F1664CA2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except (ValueError, ZeroDivisionError, OverflowError) as error: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3883185B-862B-49EB-87D8-7CCE05CF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029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捕捉指定錯誤，改走可控制的處理流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程。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23D0C3-94CB-492F-B7FF-3D9DBF45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959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7096432A-4999-46CC-8F75-018D40A9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EFE77214-FCB2-4A6A-B569-78EB04EE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answer.set(str(error))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249803E3-BF33-495B-B427-AA3A7419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設定介面元件顯示的文字或值。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BC2160D5-CE24-4138-9E32-78DE74CA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341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37F1DE27-DC0F-4CB9-A236-52F7DEDF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341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ttk.Button(root, text="計算", command=compute).grid(row=1, column=0, column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span=3)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99F729F4-5E5E-427D-8E4F-6B1CCA0C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341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指定元件的列與欄，排入桌面視窗。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308410-DEE9-46CD-817D-9B6BA611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008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3DB83D06-4233-435C-A061-2090A01A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199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8A8E28E7-0907-471E-95EA-94D1D85A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8199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ttk.Label(root, textvariable=answer).grid(row=2, column=0, columnspan=3, pa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dy=8)</a:t>
            </a:r>
          </a:p>
        </p:txBody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B8008D14-A139-4742-AFCE-501B15C0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8199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指定元件的列與欄，排入桌面視窗。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D433DA7C-5118-4180-9FC5-14D85D28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145704824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518E8-A514-44AD-BC74-156C67C1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6D62010-4497-4DAB-BE6A-74740CF8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C11  逐行程式解析  3/3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36070BA-A071-4A12-AEFA-DB8FAEA4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本機Tkinter選讀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C41A3A1-9E99-4313-B55A-393363FB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第9章 模組與套件／GUI延伸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C2D0539-311A-4C42-A394-790B45F5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80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6081A-79F3-4EAE-B1E8-4B52E4FA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9600BB1-85DA-41EA-9ABD-148EB7FD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2659C2A-C941-4E97-9C36-56AB5C3C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第24個儲存格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7B063BE-0935-4B05-93F6-57F28278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CB01CE-4F44-4CFD-BF9A-3CE3B708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DE0DC6BB-189B-447A-9E0D-0584CEBE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84EF6105-F9C9-4D35-815E-33B29243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root.mainloop()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594F4211-049D-4169-A8DB-5DE99E0F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啟動Tkinter事件迴圈，等待使用者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操作。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16C8FD58-859B-4139-BB96-903D45C7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2054349984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6C395-90DB-4AA0-869A-B1E0749D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A3F7920-E65D-469A-82B5-BB47A7D0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第二週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EC9FE55-0B0E-49B1-ACD6-EB2BB28E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教材章節與簡報索引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5EF83C9-65A9-41EA-88F5-ED1876B1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教學導航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7B90147-65B1-4F2F-913F-6DA9638A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81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5EAC7-2C24-4C76-8D60-01134491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E617B09-9F88-4B12-8177-D8147576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E6F5617-B088-4AB5-BF7B-2BAEBEEB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C0  作品拆解與使用方式  → 第3頁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C1  運算式與運算子  → 第6頁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C2  判斷式與按鍵流程  → 第17頁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C3  函式把運算規則集中管理  → 第23頁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C4  一維串列與二維按鈕陣列  → 第30頁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C5  for與巢狀迴圈  → 第34頁</a:t>
            </a:r>
          </a:p>
        </p:txBody>
      </p:sp>
    </p:spTree>
    <p:extLst>
      <p:ext uri="{BB962C8B-B14F-4D97-AF65-F5344CB8AC3E}">
        <p14:creationId xmlns:p14="http://schemas.microsoft.com/office/powerpoint/2010/main" val="890368579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046CC-03FE-4611-B280-D0D53122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365C340-CAE3-4393-84CE-621F065A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第二週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0434020-5ABE-4C33-A3AC-F1A86C43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整合應用與複習索引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A53C1E9-91B2-41A6-8C41-7EC580A3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教學導航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045C648-DB34-487B-A9A9-CB842723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82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204E5-7DD0-45C6-9758-F2FDC057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9881505-B67D-423C-8A9D-A257C22F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717AB5E-10B1-4D8A-9A3E-B58202A4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C6  while、停止條件與互動輸入  → 第41頁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C7  完整算式與原eval的對照  → 第49頁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C8  整合網頁按鈕與事件回呼  → 第57頁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C9  隨堂練習與參考解答  → 第64頁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C10  自我檢查與原程式對照  → 第70頁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C11  本機Tkinter選讀  → 第77頁</a:t>
            </a:r>
          </a:p>
        </p:txBody>
      </p:sp>
    </p:spTree>
    <p:extLst>
      <p:ext uri="{BB962C8B-B14F-4D97-AF65-F5344CB8AC3E}">
        <p14:creationId xmlns:p14="http://schemas.microsoft.com/office/powerpoint/2010/main" val="1586696739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207FB-4682-43D3-BFE4-E6EA5444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F46D7CC-A79F-45FA-918D-95C2BD3B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第二週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DD1A92D-588A-40AE-9FAE-AD35109F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來源與延伸界線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550220C-9139-467E-9225-11F2963A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出處說明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DC9E962-E00A-4D6C-BD2E-F55AE6E9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83 /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84144-BF5C-4760-B779-03970A9E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17C6DE8-5D45-4722-A054-21E84884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EDA3513-7F59-4C51-B0F9-D147ECD6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五份TQC+補充投影片提供型別、輸入輸出、運算式、判斷及迴圈。保留所選原頁的完整畫面，頁碼包含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封面與空白頁。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A34AE-780A-457B-A170-F54B8697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C63CD876-6303-4B33-B6E9-0EBAD467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743EDC3F-AC34-4023-B0C4-B8FFA057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00350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函式、串列、GUI事件及城市時區以本次兩份Notebook的完整內容延伸，並對應全華教材第6、7、9章；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原PPT未涵蓋的內容不標為原投影片。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85D0CA-5F4D-4CE7-B6A1-CCEB8C2F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6715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91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213833D5-2636-445E-967B-85942D22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7A9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39C46EBE-2798-4B89-800B-EF3D5734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67150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新編文字、程式碼及逐行解說為可編輯文字。原投影片以完整頁影像保留，以維持原圖表及排版；程式完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整原碼亦存於講者備忘稿。</a:t>
            </a:r>
          </a:p>
        </p:txBody>
      </p:sp>
    </p:spTree>
    <p:extLst>
      <p:ext uri="{BB962C8B-B14F-4D97-AF65-F5344CB8AC3E}">
        <p14:creationId xmlns:p14="http://schemas.microsoft.com/office/powerpoint/2010/main" val="3318177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2026-10-22T16:33:48.9160000Z</dcterms:created>
  <dcterms:modified xsi:type="dcterms:W3CDTF">2026-10-22T16:33:48.9160000Z</dcterms:modified>
</coreProperties>
</file>