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595b80aa554dfb" /><Relationship Type="http://schemas.openxmlformats.org/officeDocument/2006/relationships/extended-properties" Target="/docProps/app.xml" Id="R7b181da7d0314cc4" /><Relationship Type="http://schemas.openxmlformats.org/officeDocument/2006/relationships/officeDocument" Target="/ppt/presentation.xml" Id="R9d87b5630ef84a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0c9c5084284da8"/>
  </p:sldMasterIdLst>
  <p:notesMasterIdLst>
    <p:notesMasterId xmlns:r="http://schemas.openxmlformats.org/officeDocument/2006/relationships" r:id="R5bd1053ff117455b"/>
  </p:notesMasterIdLst>
  <p:sldIdLst>
    <p:sldId xmlns:r="http://schemas.openxmlformats.org/officeDocument/2006/relationships" id="256" r:id="R1d88a3d005844460"/>
    <p:sldId xmlns:r="http://schemas.openxmlformats.org/officeDocument/2006/relationships" id="257" r:id="R37a026a177144b04"/>
    <p:sldId xmlns:r="http://schemas.openxmlformats.org/officeDocument/2006/relationships" id="258" r:id="Rd771e37582244d70"/>
    <p:sldId xmlns:r="http://schemas.openxmlformats.org/officeDocument/2006/relationships" id="259" r:id="R404e8de66ea74e71"/>
    <p:sldId xmlns:r="http://schemas.openxmlformats.org/officeDocument/2006/relationships" id="260" r:id="Rc96ba5e3d8724d38"/>
    <p:sldId xmlns:r="http://schemas.openxmlformats.org/officeDocument/2006/relationships" id="261" r:id="R0ec03d4278594404"/>
    <p:sldId xmlns:r="http://schemas.openxmlformats.org/officeDocument/2006/relationships" id="262" r:id="R85f0153011784828"/>
    <p:sldId xmlns:r="http://schemas.openxmlformats.org/officeDocument/2006/relationships" id="263" r:id="Re4b5d3bd706c4a40"/>
    <p:sldId xmlns:r="http://schemas.openxmlformats.org/officeDocument/2006/relationships" id="264" r:id="R84e75ec56b0c4deb"/>
    <p:sldId xmlns:r="http://schemas.openxmlformats.org/officeDocument/2006/relationships" id="265" r:id="R0254bb323dc34f30"/>
    <p:sldId xmlns:r="http://schemas.openxmlformats.org/officeDocument/2006/relationships" id="266" r:id="R21b54af24fa544a0"/>
    <p:sldId xmlns:r="http://schemas.openxmlformats.org/officeDocument/2006/relationships" id="267" r:id="Red97dd3420a34500"/>
    <p:sldId xmlns:r="http://schemas.openxmlformats.org/officeDocument/2006/relationships" id="268" r:id="Rdaeaf26c3c2c496a"/>
    <p:sldId xmlns:r="http://schemas.openxmlformats.org/officeDocument/2006/relationships" id="269" r:id="Re96e34cb696743e4"/>
    <p:sldId xmlns:r="http://schemas.openxmlformats.org/officeDocument/2006/relationships" id="270" r:id="R41981c780bf644f3"/>
    <p:sldId xmlns:r="http://schemas.openxmlformats.org/officeDocument/2006/relationships" id="271" r:id="R05e7ff6b2aa74a8f"/>
    <p:sldId xmlns:r="http://schemas.openxmlformats.org/officeDocument/2006/relationships" id="272" r:id="R8e894a9802f04fef"/>
    <p:sldId xmlns:r="http://schemas.openxmlformats.org/officeDocument/2006/relationships" id="273" r:id="R3316583281d9405a"/>
    <p:sldId xmlns:r="http://schemas.openxmlformats.org/officeDocument/2006/relationships" id="274" r:id="R8a6779524ece4de0"/>
    <p:sldId xmlns:r="http://schemas.openxmlformats.org/officeDocument/2006/relationships" id="275" r:id="Ra7041386d8b64455"/>
    <p:sldId xmlns:r="http://schemas.openxmlformats.org/officeDocument/2006/relationships" id="276" r:id="R02ff16a7fdfc4652"/>
    <p:sldId xmlns:r="http://schemas.openxmlformats.org/officeDocument/2006/relationships" id="277" r:id="Rd107ad8a96a741fc"/>
    <p:sldId xmlns:r="http://schemas.openxmlformats.org/officeDocument/2006/relationships" id="278" r:id="R58718b507a984cf9"/>
    <p:sldId xmlns:r="http://schemas.openxmlformats.org/officeDocument/2006/relationships" id="279" r:id="R3e80a428f6554ef8"/>
    <p:sldId xmlns:r="http://schemas.openxmlformats.org/officeDocument/2006/relationships" id="280" r:id="R33248b94f1d7464d"/>
    <p:sldId xmlns:r="http://schemas.openxmlformats.org/officeDocument/2006/relationships" id="281" r:id="Ra3045fa43cb14051"/>
    <p:sldId xmlns:r="http://schemas.openxmlformats.org/officeDocument/2006/relationships" id="282" r:id="Re7785719198d47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3b90747bff4516" /><Relationship Type="http://schemas.openxmlformats.org/officeDocument/2006/relationships/slideMaster" Target="/ppt/slideMasters/slideMaster1.xml" Id="Ra20c9c5084284da8" /><Relationship Type="http://schemas.openxmlformats.org/officeDocument/2006/relationships/notesMaster" Target="/ppt/notesMasters/notesMaster1.xml" Id="R5bd1053ff117455b" /><Relationship Type="http://schemas.openxmlformats.org/officeDocument/2006/relationships/presProps" Target="/ppt/presProps.xml" Id="Rfcd9b0b4f0de4dd3" /><Relationship Type="http://schemas.openxmlformats.org/officeDocument/2006/relationships/tableStyles" Target="/ppt/tableStyles.xml" Id="Rf3fa14fdde764faf" /><Relationship Type="http://schemas.openxmlformats.org/officeDocument/2006/relationships/slide" Target="/ppt/slides/slide1.xml" Id="R1d88a3d005844460" /><Relationship Type="http://schemas.openxmlformats.org/officeDocument/2006/relationships/slide" Target="/ppt/slides/slide2.xml" Id="R37a026a177144b04" /><Relationship Type="http://schemas.openxmlformats.org/officeDocument/2006/relationships/slide" Target="/ppt/slides/slide3.xml" Id="Rd771e37582244d70" /><Relationship Type="http://schemas.openxmlformats.org/officeDocument/2006/relationships/slide" Target="/ppt/slides/slide4.xml" Id="R404e8de66ea74e71" /><Relationship Type="http://schemas.openxmlformats.org/officeDocument/2006/relationships/slide" Target="/ppt/slides/slide5.xml" Id="Rc96ba5e3d8724d38" /><Relationship Type="http://schemas.openxmlformats.org/officeDocument/2006/relationships/slide" Target="/ppt/slides/slide6.xml" Id="R0ec03d4278594404" /><Relationship Type="http://schemas.openxmlformats.org/officeDocument/2006/relationships/slide" Target="/ppt/slides/slide7.xml" Id="R85f0153011784828" /><Relationship Type="http://schemas.openxmlformats.org/officeDocument/2006/relationships/slide" Target="/ppt/slides/slide8.xml" Id="Re4b5d3bd706c4a40" /><Relationship Type="http://schemas.openxmlformats.org/officeDocument/2006/relationships/slide" Target="/ppt/slides/slide9.xml" Id="R84e75ec56b0c4deb" /><Relationship Type="http://schemas.openxmlformats.org/officeDocument/2006/relationships/slide" Target="/ppt/slides/slide10.xml" Id="R0254bb323dc34f30" /><Relationship Type="http://schemas.openxmlformats.org/officeDocument/2006/relationships/slide" Target="/ppt/slides/slide11.xml" Id="R21b54af24fa544a0" /><Relationship Type="http://schemas.openxmlformats.org/officeDocument/2006/relationships/slide" Target="/ppt/slides/slide12.xml" Id="Red97dd3420a34500" /><Relationship Type="http://schemas.openxmlformats.org/officeDocument/2006/relationships/slide" Target="/ppt/slides/slide13.xml" Id="Rdaeaf26c3c2c496a" /><Relationship Type="http://schemas.openxmlformats.org/officeDocument/2006/relationships/slide" Target="/ppt/slides/slide14.xml" Id="Re96e34cb696743e4" /><Relationship Type="http://schemas.openxmlformats.org/officeDocument/2006/relationships/slide" Target="/ppt/slides/slide15.xml" Id="R41981c780bf644f3" /><Relationship Type="http://schemas.openxmlformats.org/officeDocument/2006/relationships/slide" Target="/ppt/slides/slide16.xml" Id="R05e7ff6b2aa74a8f" /><Relationship Type="http://schemas.openxmlformats.org/officeDocument/2006/relationships/slide" Target="/ppt/slides/slide17.xml" Id="R8e894a9802f04fef" /><Relationship Type="http://schemas.openxmlformats.org/officeDocument/2006/relationships/slide" Target="/ppt/slides/slide18.xml" Id="R3316583281d9405a" /><Relationship Type="http://schemas.openxmlformats.org/officeDocument/2006/relationships/slide" Target="/ppt/slides/slide19.xml" Id="R8a6779524ece4de0" /><Relationship Type="http://schemas.openxmlformats.org/officeDocument/2006/relationships/slide" Target="/ppt/slides/slide20.xml" Id="Ra7041386d8b64455" /><Relationship Type="http://schemas.openxmlformats.org/officeDocument/2006/relationships/slide" Target="/ppt/slides/slide21.xml" Id="R02ff16a7fdfc4652" /><Relationship Type="http://schemas.openxmlformats.org/officeDocument/2006/relationships/slide" Target="/ppt/slides/slide22.xml" Id="Rd107ad8a96a741fc" /><Relationship Type="http://schemas.openxmlformats.org/officeDocument/2006/relationships/slide" Target="/ppt/slides/slide23.xml" Id="R58718b507a984cf9" /><Relationship Type="http://schemas.openxmlformats.org/officeDocument/2006/relationships/slide" Target="/ppt/slides/slide24.xml" Id="R3e80a428f6554ef8" /><Relationship Type="http://schemas.openxmlformats.org/officeDocument/2006/relationships/slide" Target="/ppt/slides/slide25.xml" Id="R33248b94f1d7464d" /><Relationship Type="http://schemas.openxmlformats.org/officeDocument/2006/relationships/slide" Target="/ppt/slides/slide26.xml" Id="Ra3045fa43cb14051" /><Relationship Type="http://schemas.openxmlformats.org/officeDocument/2006/relationships/slide" Target="/ppt/slides/slide27.xml" Id="Re7785719198d47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d12843d9c046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c864cab0a74cc4" /><Relationship Type="http://schemas.openxmlformats.org/officeDocument/2006/relationships/notesMaster" Target="/ppt/notesMasters/notesMaster1.xml" Id="R3b379706da8f40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fa55e9369a4180" /><Relationship Type="http://schemas.openxmlformats.org/officeDocument/2006/relationships/notesMaster" Target="/ppt/notesMasters/notesMaster1.xml" Id="R34816d511df74f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abd3a334624f04" /><Relationship Type="http://schemas.openxmlformats.org/officeDocument/2006/relationships/notesMaster" Target="/ppt/notesMasters/notesMaster1.xml" Id="Rda326262928c48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8366d8f43d41e3" /><Relationship Type="http://schemas.openxmlformats.org/officeDocument/2006/relationships/notesMaster" Target="/ppt/notesMasters/notesMaster1.xml" Id="R0e492abf895e4c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38bfa1dee94741" /><Relationship Type="http://schemas.openxmlformats.org/officeDocument/2006/relationships/notesMaster" Target="/ppt/notesMasters/notesMaster1.xml" Id="R40bcdeff32324f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cd3a851d8d4a70" /><Relationship Type="http://schemas.openxmlformats.org/officeDocument/2006/relationships/notesMaster" Target="/ppt/notesMasters/notesMaster1.xml" Id="R7bbba3c928234d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487288c2e34b77" /><Relationship Type="http://schemas.openxmlformats.org/officeDocument/2006/relationships/notesMaster" Target="/ppt/notesMasters/notesMaster1.xml" Id="R050b5e86d5c143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6ab88c01af4474" /><Relationship Type="http://schemas.openxmlformats.org/officeDocument/2006/relationships/notesMaster" Target="/ppt/notesMasters/notesMaster1.xml" Id="R8a97c09972094a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ccb2c701c94817" /><Relationship Type="http://schemas.openxmlformats.org/officeDocument/2006/relationships/notesMaster" Target="/ppt/notesMasters/notesMaster1.xml" Id="R7f4e96ce9f8140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7c147b6a2449ab" /><Relationship Type="http://schemas.openxmlformats.org/officeDocument/2006/relationships/notesMaster" Target="/ppt/notesMasters/notesMaster1.xml" Id="Re71d18fc3b124b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1d012a0a7c496e" /><Relationship Type="http://schemas.openxmlformats.org/officeDocument/2006/relationships/notesMaster" Target="/ppt/notesMasters/notesMaster1.xml" Id="Rcf2428c0350f4c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7bab4631e74a61" /><Relationship Type="http://schemas.openxmlformats.org/officeDocument/2006/relationships/notesMaster" Target="/ppt/notesMasters/notesMaster1.xml" Id="Rf2454c1c1a7a41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42c5ab4e464969" /><Relationship Type="http://schemas.openxmlformats.org/officeDocument/2006/relationships/notesMaster" Target="/ppt/notesMasters/notesMaster1.xml" Id="R28afc3fcb6de46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4d63ef67604983" /><Relationship Type="http://schemas.openxmlformats.org/officeDocument/2006/relationships/notesMaster" Target="/ppt/notesMasters/notesMaster1.xml" Id="Refab6c69188943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36cb5c45f947ac" /><Relationship Type="http://schemas.openxmlformats.org/officeDocument/2006/relationships/notesMaster" Target="/ppt/notesMasters/notesMaster1.xml" Id="Rd4509f0d5fb542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0cb53780244468" /><Relationship Type="http://schemas.openxmlformats.org/officeDocument/2006/relationships/notesMaster" Target="/ppt/notesMasters/notesMaster1.xml" Id="R3e6ceb442edc4d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ba763b78284155" /><Relationship Type="http://schemas.openxmlformats.org/officeDocument/2006/relationships/notesMaster" Target="/ppt/notesMasters/notesMaster1.xml" Id="Rd36ee868ffcc4f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c1b970286d4d02" /><Relationship Type="http://schemas.openxmlformats.org/officeDocument/2006/relationships/notesMaster" Target="/ppt/notesMasters/notesMaster1.xml" Id="R5df9a0962ca9461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f74a680ce2415f" /><Relationship Type="http://schemas.openxmlformats.org/officeDocument/2006/relationships/notesMaster" Target="/ppt/notesMasters/notesMaster1.xml" Id="Re0021337c95e4e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16fa03612f4624" /><Relationship Type="http://schemas.openxmlformats.org/officeDocument/2006/relationships/notesMaster" Target="/ppt/notesMasters/notesMaster1.xml" Id="R7cae7776f94e413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4859e362b04888" /><Relationship Type="http://schemas.openxmlformats.org/officeDocument/2006/relationships/notesMaster" Target="/ppt/notesMasters/notesMaster1.xml" Id="R24d4a3efba6949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38ad154dd34750" /><Relationship Type="http://schemas.openxmlformats.org/officeDocument/2006/relationships/notesMaster" Target="/ppt/notesMasters/notesMaster1.xml" Id="Rb06c52abb8d542b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a549b33c9f34eec" /><Relationship Type="http://schemas.openxmlformats.org/officeDocument/2006/relationships/notesMaster" Target="/ppt/notesMasters/notesMaster1.xml" Id="Rb6f9e74cb76b49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31fdbd77e0447cd" /><Relationship Type="http://schemas.openxmlformats.org/officeDocument/2006/relationships/notesMaster" Target="/ppt/notesMasters/notesMaster1.xml" Id="Rcdb74582fd7240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0556b9dc42c42c9" /><Relationship Type="http://schemas.openxmlformats.org/officeDocument/2006/relationships/notesMaster" Target="/ppt/notesMasters/notesMaster1.xml" Id="R3ec9306f35f84ae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d83978e32a4aa6" /><Relationship Type="http://schemas.openxmlformats.org/officeDocument/2006/relationships/notesMaster" Target="/ppt/notesMasters/notesMaster1.xml" Id="R6f3ba633ed4f4cf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c31610037c462d" /><Relationship Type="http://schemas.openxmlformats.org/officeDocument/2006/relationships/notesMaster" Target="/ppt/notesMasters/notesMaster1.xml" Id="R0c9046fbb4bc4b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本週目標：能描述影像的高、寬與通道；能正確轉換BGR與RGB並剪裁；能以函數完成灰階、縮放及存檔</a:t>
            </a:r>
          </a:p>
          <a:p xmlns:a="http://schemas.openxmlformats.org/drawingml/2006/main">
            <a:r>
              <a:t>教材對照：CH09PPT 9-1；CH10PPT 10-1、10-2、10-4；10-3 視訊列延伸</a:t>
            </a:r>
          </a:p>
          <a:p xmlns:a="http://schemas.openxmlformats.org/drawingml/2006/main">
            <a:r>
              <a:t>完整180分鐘流程見逐字講稿。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前面處理分數，今天把同樣的資料思維用在圖片。圖片可以看成許多小格子，每一格叫像素，彩色像素通常用三個通道表示。今天先使用程式產生的紅綠藍色塊，因為知道正確顏色，出錯時更容易判斷。我們先確認套件和顯示功能，再進入剪裁與灰階。今天不需要攝影機，也不需要從網路下載圖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活動：指出圖片的高、寬與顏色，回想串列索引從幾開始。</a:t>
            </a:r>
          </a:p>
          <a:p xmlns:a="http://schemas.openxmlformats.org/drawingml/2006/main">
            <a:r>
              <a:t>參考答案：索引從0開始；影像shape按高、寬、通道排列。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前面處理分數，今天把同樣的資料思維用在圖片。圖片可以看成許多小格子，每一格叫像素，彩色像素通常用三個通道表示。今天先使用程式產生的紅綠藍色塊，因為知道正確顏色，出錯時更容易判斷。我們先確認套件和顯示功能，再進入剪裁與灰階。今天不需要攝影機，也不需要從網路下載圖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活動：指出圖片的高、寬與顏色，回想串列索引從幾開始。</a:t>
            </a:r>
          </a:p>
          <a:p xmlns:a="http://schemas.openxmlformats.org/drawingml/2006/main">
            <a:r>
              <a:t>參考答案：索引從0開始；影像shape按高、寬、通道排列。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import 是把工具拿進來。numpy 慣用別名 np，OpenCV 的匯入名稱是 cv2，安裝套件名稱和匯入名稱不一定一樣。請先執行版本檢查。如果 ModuleNotFoundError 出現，表示目前這個核心找不到套件，先看使用的是哪個 Python，再依課前指南處理。不要把 pip 安裝命令當一般 Python 指令直接貼進程式格。今天教室應在課前安裝完成，上課只做確認。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活動：執行環境格，確認可匯入numpy、cv2及PIL。</a:t>
            </a:r>
          </a:p>
          <a:p xmlns:a="http://schemas.openxmlformats.org/drawingml/2006/main">
            <a:r>
              <a:t>參考答案：印出三個版本，且沒有ModuleNotFoundError。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import 是把工具拿進來。numpy 慣用別名 np，OpenCV 的匯入名稱是 cv2，安裝套件名稱和匯入名稱不一定一樣。請先執行版本檢查。如果 ModuleNotFoundError 出現，表示目前這個核心找不到套件，先看使用的是哪個 Python，再依課前指南處理。不要把 pip 安裝命令當一般 Python 指令直接貼進程式格。今天教室應在課前安裝完成，上課只做確認。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活動：執行環境格，確認可匯入numpy、cv2及PIL。</a:t>
            </a:r>
          </a:p>
          <a:p xmlns:a="http://schemas.openxmlformats.org/drawingml/2006/main">
            <a:r>
              <a:t>參考答案：印出三個版本，且沒有ModuleNotFoundError。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我們建立高一百二十、寬一百八十、三個通道的陣列。uint8 表示每個通道用零到二百五十五的整數。陣列先寫列，再寫欄，也就是 y 在前、x 在後。今天把影像分成三段，分別填紅、綠、藍。請先看 shape，再看一個像素的三個數字。用 uint8 做加法時可能超出範圍而回繞，所以調亮影像前先轉成較大的數值型態，再限制範圍。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活動：印出shape與左上像素，指出為何左上紅色在BGR表示為[0,0,255]。</a:t>
            </a:r>
          </a:p>
          <a:p xmlns:a="http://schemas.openxmlformats.org/drawingml/2006/main">
            <a:r>
              <a:t>參考答案：shape=(120,180,3)，BGR紅色是[0,0,255]。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直接引用 CH10PPT.ppt 第34頁。原教材用二維表格示範列與欄，本課彩色圖再增加第三個通道。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我們建立高一百二十、寬一百八十、三個通道的陣列。uint8 表示每個通道用零到二百五十五的整數。陣列先寫列，再寫欄，也就是 y 在前、x 在後。今天把影像分成三段，分別填紅、綠、藍。請先看 shape，再看一個像素的三個數字。用 uint8 做加法時可能超出範圍而回繞，所以調亮影像前先轉成較大的數值型態，再限制範圍。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活動：印出shape與左上像素，指出為何左上紅色在BGR表示為[0,0,255]。</a:t>
            </a:r>
          </a:p>
          <a:p xmlns:a="http://schemas.openxmlformats.org/drawingml/2006/main">
            <a:r>
              <a:t>參考答案：shape=(120,180,3)，BGR紅色是[0,0,255]。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直接引用 CH10PPT.ppt 第34頁。原教材用二維表格示範列與欄，本課彩色圖再增加第三個通道。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我們建立高一百二十、寬一百八十、三個通道的陣列。uint8 表示每個通道用零到二百五十五的整數。陣列先寫列，再寫欄，也就是 y 在前、x 在後。今天把影像分成三段，分別填紅、綠、藍。請先看 shape，再看一個像素的三個數字。用 uint8 做加法時可能超出範圍而回繞，所以調亮影像前先轉成較大的數值型態，再限制範圍。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活動：印出shape與左上像素，指出為何左上紅色在BGR表示為[0,0,255]。</a:t>
            </a:r>
          </a:p>
          <a:p xmlns:a="http://schemas.openxmlformats.org/drawingml/2006/main">
            <a:r>
              <a:t>參考答案：shape=(120,180,3)，BGR紅色是[0,0,255]。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直接引用 CH10PPT.ppt 第34頁。原教材用二維表格示範列與欄，本課彩色圖再增加第三個通道。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如果把 OpenCV 的三個通道直接交給以 RGB 解讀的顯示工具，紅藍就會交換。資料本身沒有消失，是解讀順序不一致。請用 cvtColor 的 BGR2RGB 轉換，再交給 Image.fromarray 顯示。請以左紅、中綠、右藍作為驗收標準。這不是每張圖看起來漂亮就算成功，要用已知色塊確認通道是否正確。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活動：顯示轉換前與轉換後圖像，指出哪一張符合左紅中綠右藍。</a:t>
            </a:r>
          </a:p>
          <a:p xmlns:a="http://schemas.openxmlformats.org/drawingml/2006/main">
            <a:r>
              <a:t>參考答案：轉成RGB後的圖符合指定顏色；shape維持(120,180,3)。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如果把 OpenCV 的三個通道直接交給以 RGB 解讀的顯示工具，紅藍就會交換。資料本身沒有消失，是解讀順序不一致。請用 cvtColor 的 BGR2RGB 轉換，再交給 Image.fromarray 顯示。請以左紅、中綠、右藍作為驗收標準。這不是每張圖看起來漂亮就算成功，要用已知色塊確認通道是否正確。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活動：顯示轉換前與轉換後圖像，指出哪一張符合左紅中綠右藍。</a:t>
            </a:r>
          </a:p>
          <a:p xmlns:a="http://schemas.openxmlformats.org/drawingml/2006/main">
            <a:r>
              <a:t>參考答案：轉成RGB後的圖符合指定顏色；shape維持(120,180,3)。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休息十分鐘。請把正確色塊畫面留在螢幕，方便我確認大家顏色一致。若紅藍相反，回來後先檢查轉換那一行。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活動：存檔與休息。</a:t>
            </a:r>
          </a:p>
          <a:p xmlns:a="http://schemas.openxmlformats.org/drawingml/2006/main">
            <a:r>
              <a:t>參考答案：保留正確色塊輸出。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剪裁是只保留一部分像素。第一組範圍是列，第二組是欄。要取中間綠色，欄可以從六十到一百二十，最後的一百二十不包含在內。這個概念和 range 的結束值很像。陣列切片有時與原圖共用資料，為了避免改小圖時順便改掉原圖，今天在剪裁後使用 copy。請先預測剪裁尺寸，再印 shape 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活動：剪裁所有列、欄60到120，確認全綠且寬60。</a:t>
            </a:r>
          </a:p>
          <a:p xmlns:a="http://schemas.openxmlformats.org/drawingml/2006/main">
            <a:r>
              <a:t>參考答案：shape=(120,60,3)，RGB像素[0,255,0]。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直接引用 CH10PPT.ppt 第13頁。原教材koala.jpg為示意，本課改用自行產生色塊，不需外部圖檔。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剪裁是只保留一部分像素。第一組範圍是列，第二組是欄。要取中間綠色，欄可以從六十到一百二十，最後的一百二十不包含在內。這個概念和 range 的結束值很像。陣列切片有時與原圖共用資料，為了避免改小圖時順便改掉原圖，今天在剪裁後使用 copy。請先預測剪裁尺寸，再印 shape 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活動：剪裁所有列、欄60到120，確認全綠且寬60。</a:t>
            </a:r>
          </a:p>
          <a:p xmlns:a="http://schemas.openxmlformats.org/drawingml/2006/main">
            <a:r>
              <a:t>參考答案：shape=(120,60,3)，RGB像素[0,255,0]。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直接引用 CH10PPT.ppt 第13頁。原教材koala.jpg為示意，本課改用自行產生色塊，不需外部圖檔。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剪裁是只保留一部分像素。第一組範圍是列，第二組是欄。要取中間綠色，欄可以從六十到一百二十，最後的一百二十不包含在內。這個概念和 range 的結束值很像。陣列切片有時與原圖共用資料，為了避免改小圖時順便改掉原圖，今天在剪裁後使用 copy。請先預測剪裁尺寸，再印 shape 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活動：剪裁所有列、欄60到120，確認全綠且寬60。</a:t>
            </a:r>
          </a:p>
          <a:p xmlns:a="http://schemas.openxmlformats.org/drawingml/2006/main">
            <a:r>
              <a:t>參考答案：shape=(120,60,3)，RGB像素[0,255,0]。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直接引用 CH10PPT.ppt 第13頁。原教材koala.jpg為示意，本課改用自行產生色塊，不需外部圖檔。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這裡有一個容易混淆的地方：shape 是高、寬，resize 的尺寸參數卻是寬、高。請在旁邊寫註解，避免以後忘記。轉灰階是將色彩資訊轉成亮度表示，通常從三維變成二維，並不是單純取紅色通道。紅綠藍色塊轉灰階後亮度也不一定相同。請觀察哪一塊最亮，再印出 shape 確認你真的得到灰階陣列。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活動：縮成寬90高60，再轉灰階，記錄兩個shape。</a:t>
            </a:r>
          </a:p>
          <a:p xmlns:a="http://schemas.openxmlformats.org/drawingml/2006/main">
            <a:r>
              <a:t>參考答案：彩色(60,90,3)，灰階(60,90)。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直接引用 CH10PPT.ppt 第17頁。對照教材BGR2GRAY程式；本課用Notebook內嵌顯示。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這裡有一個容易混淆的地方：shape 是高、寬，resize 的尺寸參數卻是寬、高。請在旁邊寫註解，避免以後忘記。轉灰階是將色彩資訊轉成亮度表示，通常從三維變成二維，並不是單純取紅色通道。紅綠藍色塊轉灰階後亮度也不一定相同。請觀察哪一塊最亮，再印出 shape 確認你真的得到灰階陣列。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活動：縮成寬90高60，再轉灰階，記錄兩個shape。</a:t>
            </a:r>
          </a:p>
          <a:p xmlns:a="http://schemas.openxmlformats.org/drawingml/2006/main">
            <a:r>
              <a:t>參考答案：彩色(60,90,3)，灰階(60,90)。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直接引用 CH10PPT.ppt 第17頁。對照教材BGR2GRAY程式；本課用Notebook內嵌顯示。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這裡有一個容易混淆的地方：shape 是高、寬，resize 的尺寸參數卻是寬、高。請在旁邊寫註解，避免以後忘記。轉灰階是將色彩資訊轉成亮度表示，通常從三維變成二維，並不是單純取紅色通道。紅綠藍色塊轉灰階後亮度也不一定相同。請觀察哪一塊最亮，再印出 shape 確認你真的得到灰階陣列。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活動：縮成寬90高60，再轉灰階，記錄兩個shape。</a:t>
            </a:r>
          </a:p>
          <a:p xmlns:a="http://schemas.openxmlformats.org/drawingml/2006/main">
            <a:r>
              <a:t>參考答案：彩色(60,90,3)，灰階(60,90)。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直接引用 CH10PPT.ppt 第17頁。對照教材BGR2GRAY程式；本課用Notebook內嵌顯示。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圖片處理完通常需要存檔。今天用 PNG 保留色塊資料，並放在 outputs 資料夾。部分環境在中文路徑上直接 imread 可能遇到問題，所以核心範例用 Path 讀位元組，再交給 imdecode。這兩行是提供給大家的工具程式，今天先理解它的輸入是檔案、輸出是影像。讀取後一定檢查是否為 None，否則下一步轉色彩時只會看到較難懂的錯誤。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活動：儲存color_blocks.png再讀回，比對shape與像素。</a:t>
            </a:r>
          </a:p>
          <a:p xmlns:a="http://schemas.openxmlformats.org/drawingml/2006/main">
            <a:r>
              <a:t>參考答案：解碼成功，shape及像素與原bgr相同。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圖片處理完通常需要存檔。今天用 PNG 保留色塊資料，並放在 outputs 資料夾。部分環境在中文路徑上直接 imread 可能遇到問題，所以核心範例用 Path 讀位元組，再交給 imdecode。這兩行是提供給大家的工具程式，今天先理解它的輸入是檔案、輸出是影像。讀取後一定檢查是否為 None，否則下一步轉色彩時只會看到較難懂的錯誤。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活動：儲存color_blocks.png再讀回，比對shape與像素。</a:t>
            </a:r>
          </a:p>
          <a:p xmlns:a="http://schemas.openxmlformats.org/drawingml/2006/main">
            <a:r>
              <a:t>參考答案：解碼成功，shape及像素與原bgr相同。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把灰階圖轉成黑白兩種值。閾值一百二十時，大於門檻的像素變白，其餘變黑。這是一條我們手動指定的規則。請不要因為處理了影像，就把它叫做已經訓練完成的人工智慧。今天閾值是我們自己決定的，下週會看另一種方式，讓參數從帶標籤的資料計算出來。現在先改閾值，觀察哪一塊被保留下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活動：比較門檻50、120、200；用np.unique檢查黑白值。</a:t>
            </a:r>
          </a:p>
          <a:p xmlns:a="http://schemas.openxmlformats.org/drawingml/2006/main">
            <a:r>
              <a:t>參考答案：輸出值只可能0或255；門檻越高，白色像素不會增加。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把灰階圖轉成黑白兩種值。閾值一百二十時，大於門檻的像素變白，其餘變黑。這是一條我們手動指定的規則。請不要因為處理了影像，就把它叫做已經訓練完成的人工智慧。今天閾值是我們自己決定的，下週會看另一種方式，讓參數從帶標籤的資料計算出來。現在先改閾值，觀察哪一塊被保留下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活動：比較門檻50、120、200；用np.unique檢查黑白值。</a:t>
            </a:r>
          </a:p>
          <a:p xmlns:a="http://schemas.openxmlformats.org/drawingml/2006/main">
            <a:r>
              <a:t>參考答案：輸出值只可能0或255；門檻越高，白色像素不會增加。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請把今天學的步驟包成 preprocess 函數。輸入是 BGR 影像，先縮成寬九十高六十，再轉灰階，最後使用可調的閾值。函數回傳黑白陣列，由呼叫端負責顯示與存檔。這樣將來換圖片時，處理方式仍一致。請用兩個不同的門檻測試，並確認輸出shape是六十乘九十。快組可以改成保留彩色縮圖與黑白圖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活動：完成preprocess；保存binary.png，測試門檻120與200。</a:t>
            </a:r>
          </a:p>
          <a:p xmlns:a="http://schemas.openxmlformats.org/drawingml/2006/main">
            <a:r>
              <a:t>參考答案：兩者shape=(60,90)，像素只含0或255；讀回binary.png應成功。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請把今天學的步驟包成 preprocess 函數。輸入是 BGR 影像，先縮成寬九十高六十，再轉灰階，最後使用可調的閾值。函數回傳黑白陣列，由呼叫端負責顯示與存檔。這樣將來換圖片時，處理方式仍一致。請用兩個不同的門檻測試，並確認輸出shape是六十乘九十。快組可以改成保留彩色縮圖與黑白圖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活動：完成preprocess；保存binary.png，測試門檻120與200。</a:t>
            </a:r>
          </a:p>
          <a:p xmlns:a="http://schemas.openxmlformats.org/drawingml/2006/main">
            <a:r>
              <a:t>參考答案：兩者shape=(60,90)，像素只含0或255；讀回binary.png應成功。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把驗收分成三件事：顏色正不正確、尺寸符不符合、檔案存不存在。單看圖很容易忽略高寬交換，單看shape又看不出紅藍交換，所以兩者都要做。若剪裁後沒有內容，先看起點是否小於終點，以及範圍是否超過影像尺寸。若讀檔是 None，先查路徑，暫時不要往下轉灰階。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活動：同桌檢查色塊方向、函數輸出shape與保存檔案。</a:t>
            </a:r>
          </a:p>
          <a:p xmlns:a="http://schemas.openxmlformats.org/drawingml/2006/main">
            <a:r>
              <a:t>參考答案：左紅中綠右藍；黑白圖(60,90)；outputs/binary.png存在。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把驗收分成三件事：顏色正不正確、尺寸符不符合、檔案存不存在。單看圖很容易忽略高寬交換，單看shape又看不出紅藍交換，所以兩者都要做。若剪裁後沒有內容，先看起點是否小於終點，以及範圍是否超過影像尺寸。若讀檔是 None，先查路徑，暫時不要往下轉灰階。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活動：同桌檢查色塊方向、函數輸出shape與保存檔案。</a:t>
            </a:r>
          </a:p>
          <a:p xmlns:a="http://schemas.openxmlformats.org/drawingml/2006/main">
            <a:r>
              <a:t>參考答案：左紅中綠右藍；黑白圖(60,90)；outputs/binary.png存在。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請回答shape一百二十、一百八十、三各代表什麼，再回答 resize 九十、六十各代表什麼。最後說明閾值規則是誰決定的。課後可以用自己畫的色塊 PNG 替換今天圖像，維持同樣流程，記錄一個你遇到的顏色或尺寸問題。下週會用平均顏色作為特徵，建立一個簡單的監督式分類器。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活動：使用自製色塊圖測試流程並記錄shape，避免使用人臉或個資照片。</a:t>
            </a:r>
          </a:p>
          <a:p xmlns:a="http://schemas.openxmlformats.org/drawingml/2006/main">
            <a:r>
              <a:t>參考答案：shape高120寬180通道3；resize寬90高60；閾值由人指定。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請回答shape一百二十、一百八十、三各代表什麼，再回答 resize 九十、六十各代表什麼。最後說明閾值規則是誰決定的。課後可以用自己畫的色塊 PNG 替換今天圖像，維持同樣流程，記錄一個你遇到的顏色或尺寸問題。下週會用平均顏色作為特徵，建立一個簡單的監督式分類器。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活動：使用自製色塊圖測試流程並記錄shape，避免使用人臉或個資照片。</a:t>
            </a:r>
          </a:p>
          <a:p xmlns:a="http://schemas.openxmlformats.org/drawingml/2006/main">
            <a:r>
              <a:t>參考答案：shape高120寬180通道3；resize寬90高60；閾值由人指定。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教材來源：CH09PPT 9-1；CH10PPT 10-1、10-2、10-4；10-3 視訊列延伸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c13c5ce8348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c05368766c4ccf" /><Relationship Type="http://schemas.openxmlformats.org/officeDocument/2006/relationships/slideLayout" Target="/ppt/slideLayouts/slideLayout1.xml" Id="Rc2e6dbde972546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e6dbde972546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b3d68ec824ccf" /><Relationship Type="http://schemas.openxmlformats.org/officeDocument/2006/relationships/notesSlide" Target="/ppt/notesSlides/notesSlide1.xml" Id="R5481976ae0c247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f38fed2b6409d" /><Relationship Type="http://schemas.openxmlformats.org/officeDocument/2006/relationships/notesSlide" Target="/ppt/notesSlides/notesSlide2.xml" Id="R86e3dcc74a684a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e2e0e724944a4" /><Relationship Type="http://schemas.openxmlformats.org/officeDocument/2006/relationships/notesSlide" Target="/ppt/notesSlides/notesSlide3.xml" Id="Re076ac4c47bd41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0be5dc9a84ac6" /><Relationship Type="http://schemas.openxmlformats.org/officeDocument/2006/relationships/notesSlide" Target="/ppt/notesSlides/notesSlide4.xml" Id="R6e9bb5cb405a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73e0207804d4c" /><Relationship Type="http://schemas.openxmlformats.org/officeDocument/2006/relationships/notesSlide" Target="/ppt/notesSlides/notesSlide5.xml" Id="Rb47f9d9c299b4a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0b94de66044f4" /><Relationship Type="http://schemas.openxmlformats.org/officeDocument/2006/relationships/notesSlide" Target="/ppt/notesSlides/notesSlide6.xml" Id="Rf97b6d25a2a340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6472ff9d94753" /><Relationship Type="http://schemas.openxmlformats.org/officeDocument/2006/relationships/notesSlide" Target="/ppt/notesSlides/notesSlide7.xml" Id="R2ee9f08ad30747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80d937c444cca" /><Relationship Type="http://schemas.openxmlformats.org/officeDocument/2006/relationships/image" Target="/ppt/media/image.png" Id="R9bbf9c672aff4b08" /><Relationship Type="http://schemas.openxmlformats.org/officeDocument/2006/relationships/notesSlide" Target="/ppt/notesSlides/notesSlide8.xml" Id="Rb7674df112874b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b04cb9e0e4675" /><Relationship Type="http://schemas.openxmlformats.org/officeDocument/2006/relationships/notesSlide" Target="/ppt/notesSlides/notesSlide9.xml" Id="Re47fa2eeda6940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dd841094d46f9" /><Relationship Type="http://schemas.openxmlformats.org/officeDocument/2006/relationships/notesSlide" Target="/ppt/notesSlides/notesSlide10.xml" Id="R0b1596880f6242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9cb5890954b40" /><Relationship Type="http://schemas.openxmlformats.org/officeDocument/2006/relationships/notesSlide" Target="/ppt/notesSlides/notesSlide11.xml" Id="R373a3916717c4d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5f5d1eeb74ab9" /><Relationship Type="http://schemas.openxmlformats.org/officeDocument/2006/relationships/notesSlide" Target="/ppt/notesSlides/notesSlide12.xml" Id="Rd093b0d70d9042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82e1821184471" /><Relationship Type="http://schemas.openxmlformats.org/officeDocument/2006/relationships/notesSlide" Target="/ppt/notesSlides/notesSlide13.xml" Id="R2946c62a14054f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41b8a399a4239" /><Relationship Type="http://schemas.openxmlformats.org/officeDocument/2006/relationships/image" Target="/ppt/media/image2.png" Id="R464d6e3e81824f8d" /><Relationship Type="http://schemas.openxmlformats.org/officeDocument/2006/relationships/notesSlide" Target="/ppt/notesSlides/notesSlide14.xml" Id="Rb3afd255282f42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8c2c519724621" /><Relationship Type="http://schemas.openxmlformats.org/officeDocument/2006/relationships/notesSlide" Target="/ppt/notesSlides/notesSlide15.xml" Id="Rc6553d911f6b48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26ce038d049e7" /><Relationship Type="http://schemas.openxmlformats.org/officeDocument/2006/relationships/notesSlide" Target="/ppt/notesSlides/notesSlide16.xml" Id="R9d97dabc7d1144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9ec2abcc249e1" /><Relationship Type="http://schemas.openxmlformats.org/officeDocument/2006/relationships/image" Target="/ppt/media/image3.png" Id="Rfe57f51639ac49f0" /><Relationship Type="http://schemas.openxmlformats.org/officeDocument/2006/relationships/notesSlide" Target="/ppt/notesSlides/notesSlide17.xml" Id="R78c45c99682e44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1ae22dcb34a9d" /><Relationship Type="http://schemas.openxmlformats.org/officeDocument/2006/relationships/notesSlide" Target="/ppt/notesSlides/notesSlide18.xml" Id="Rd5ef6e4f1f124a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a0e98bdd443f1" /><Relationship Type="http://schemas.openxmlformats.org/officeDocument/2006/relationships/notesSlide" Target="/ppt/notesSlides/notesSlide19.xml" Id="Racf2a8ef51ed43c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f275f8dcd4221" /><Relationship Type="http://schemas.openxmlformats.org/officeDocument/2006/relationships/notesSlide" Target="/ppt/notesSlides/notesSlide20.xml" Id="Rd961ad2c1d114d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d06a1a5bb416e" /><Relationship Type="http://schemas.openxmlformats.org/officeDocument/2006/relationships/notesSlide" Target="/ppt/notesSlides/notesSlide21.xml" Id="Rc90059f4af8b4f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9332393f843bd" /><Relationship Type="http://schemas.openxmlformats.org/officeDocument/2006/relationships/notesSlide" Target="/ppt/notesSlides/notesSlide22.xml" Id="R34963290d70f410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9b45d50f84608" /><Relationship Type="http://schemas.openxmlformats.org/officeDocument/2006/relationships/notesSlide" Target="/ppt/notesSlides/notesSlide23.xml" Id="R1cb8b83b03aa4b8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92828af224432" /><Relationship Type="http://schemas.openxmlformats.org/officeDocument/2006/relationships/notesSlide" Target="/ppt/notesSlides/notesSlide24.xml" Id="Re1628b586308404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b24a4ace04c90" /><Relationship Type="http://schemas.openxmlformats.org/officeDocument/2006/relationships/notesSlide" Target="/ppt/notesSlides/notesSlide25.xml" Id="R15077e76168b47c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2f7b0a3724ce4" /><Relationship Type="http://schemas.openxmlformats.org/officeDocument/2006/relationships/notesSlide" Target="/ppt/notesSlides/notesSlide26.xml" Id="Ra2916d0eb0144da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42ace58434906" /><Relationship Type="http://schemas.openxmlformats.org/officeDocument/2006/relationships/notesSlide" Target="/ppt/notesSlides/notesSlide27.xml" Id="Reb56fc281f804c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8FA4E-038D-4A00-8E4B-E1149750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8D9D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98D9D4"/>
                </a:solidFill>
                <a:latin typeface="Microsoft JhengHei"/>
                <a:ea typeface="Microsoft JhengHei"/>
                <a:cs typeface="Microsoft JhengHei"/>
              </a:rPr>
              <a:t>第 4 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99BC0-A2AF-499D-A48F-BBC4FCD3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NumPy 與 OpenCV 影像處理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C163E-627B-4884-9181-9B53BEE7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完成一條可重跑的影像處理流程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43983-59C5-42DD-8552-D7DFEEB7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180 分鐘  含 10 分鐘休息</a:t>
            </a:r>
          </a:p>
        </p:txBody>
      </p:sp>
    </p:spTree>
    <p:extLst>
      <p:ext uri="{BB962C8B-B14F-4D97-AF65-F5344CB8AC3E}">
        <p14:creationId xmlns:p14="http://schemas.microsoft.com/office/powerpoint/2010/main" val="1966787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DEF6E-0F48-473D-927D-9847A1B1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W4-01   000–010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F35C9-97CA-4E66-BE40-FC5DFC83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影像也是資料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B653E-80ED-4EC9-845A-6090208C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EF0E6-C870-4BDB-B12E-DB2023C0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一張影像由像素組成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16892-3255-41EF-8785-3388413A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98717-6AEC-4573-BB99-F463122E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每個像素可包含三個通道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C979E-C818-4A4A-8E0E-D2534173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F9370-5BCE-440F-887B-97604D99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今日用內建色塊圖練習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51BCD-2F80-4374-B0FD-3F6787D4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本週作品：完成一條可重跑的影像處理流程</a:t>
            </a:r>
          </a:p>
        </p:txBody>
      </p:sp>
    </p:spTree>
    <p:extLst>
      <p:ext uri="{BB962C8B-B14F-4D97-AF65-F5344CB8AC3E}">
        <p14:creationId xmlns:p14="http://schemas.microsoft.com/office/powerpoint/2010/main" val="1295637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ED0BE-F633-4480-80F1-CE2D4D7D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W4-01   示範與練習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37286-ADB0-42FC-807D-D8049B90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影像也是資料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466FE-ECBE-4C14-A082-A155547B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指出圖片的高、寬與顏色，回想串列索引從幾開始。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0EA44-7929-457E-8A4B-9FD2C19D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34B09-2176-42DE-A202-6254DF6C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索引從0開始；影像shape按高、寬、通道排列。</a:t>
            </a:r>
          </a:p>
        </p:txBody>
      </p:sp>
    </p:spTree>
    <p:extLst>
      <p:ext uri="{BB962C8B-B14F-4D97-AF65-F5344CB8AC3E}">
        <p14:creationId xmlns:p14="http://schemas.microsoft.com/office/powerpoint/2010/main" val="2000110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7F405-4464-4C30-BD66-D562CCB6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W4-02   010–025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E5865-951A-4FE3-84E7-4C8BD351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環境與套件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9981C-CED2-47FC-BC35-063C8FF0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C943B-4713-41DE-994B-D98009E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NumPy 管理陣列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2B94E-BF01-4B27-9894-5C67FE73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CCCD3-0F14-492D-A496-B0AB59CC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OpenCV 處理影像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68F9E-8293-4B73-93F2-C529D417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85EEC-BBA6-45B0-8F2E-EBC63585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Pillow 協助 Notebook 內嵌顯示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232EC-4E76-48E5-BAE3-5D39D975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本週作品：完成一條可重跑的影像處理流程</a:t>
            </a:r>
          </a:p>
        </p:txBody>
      </p:sp>
    </p:spTree>
    <p:extLst>
      <p:ext uri="{BB962C8B-B14F-4D97-AF65-F5344CB8AC3E}">
        <p14:creationId xmlns:p14="http://schemas.microsoft.com/office/powerpoint/2010/main" val="227840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EA680-BF57-4DB4-8BD5-F96D8918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W4-02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995CA-FBE9-4C81-A1BE-74455EAB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環境與套件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BA2E1-7A86-4504-9880-B2948147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import sys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import numpy as np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import cv2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from PIL import Image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from IPython.display import display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from pathlib import Path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print("Python", sys.version.split()[0])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print("NumPy", np.__version__)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# 後續程式請見同單元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FAFB1-5159-442B-92E0-70B10721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執行環境格，確認可匯入numpy、cv2及PIL。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62699-5635-46A4-99A4-8BDCB70A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W4-02</a:t>
            </a:r>
          </a:p>
        </p:txBody>
      </p:sp>
    </p:spTree>
    <p:extLst>
      <p:ext uri="{BB962C8B-B14F-4D97-AF65-F5344CB8AC3E}">
        <p14:creationId xmlns:p14="http://schemas.microsoft.com/office/powerpoint/2010/main" val="340250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6EC66-825E-4FC7-B57B-53A0DF7C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W4-03   025–045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379C6-D50A-43B2-B4FB-31467D74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建立彩色陣列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5F733-DDEA-49A5-A28E-C0339CD2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8BEF9-B925-46BC-97CF-638A0315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shape 是高、寬、通道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32E31-1794-4E10-B9B8-A856A25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AC3FC-4C08-4B7D-8DCA-CEF0353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uint8 像素值範圍0到255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0F240-DF35-4673-A724-64C806BD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22D3B-4615-4825-B977-890EE4AB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列先於欄，y先於x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7CF71-6E21-498A-B75C-653189C8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本週作品：完成一條可重跑的影像處理流程</a:t>
            </a:r>
          </a:p>
        </p:txBody>
      </p:sp>
    </p:spTree>
    <p:extLst>
      <p:ext uri="{BB962C8B-B14F-4D97-AF65-F5344CB8AC3E}">
        <p14:creationId xmlns:p14="http://schemas.microsoft.com/office/powerpoint/2010/main" val="2772375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777F1-EE5B-4C71-B3CB-AD17107B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W4-03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38C48-28B4-4535-B123-BB912732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建立彩色陣列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6DA53-AC98-4C60-80C8-87E7CBB3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bgr = np.zeros((120, 180, 3), dtype=np.uint8)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bgr[:, :60] = [0, 0, 255]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bgr[:, 60:120] = [0, 255, 0]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bgr[:, 120:] = [255, 0, 0]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print(bgr.shape, bgr.dtype, bgr[0, 0])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46B49-A86A-46D7-82B0-C5DCC0CD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印出shape與左上像素，指出為何左上紅色在BGR表示為[0,0,255]。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E760C-4088-47D2-8AF3-2739D397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W4-03</a:t>
            </a:r>
          </a:p>
        </p:txBody>
      </p:sp>
    </p:spTree>
    <p:extLst>
      <p:ext uri="{BB962C8B-B14F-4D97-AF65-F5344CB8AC3E}">
        <p14:creationId xmlns:p14="http://schemas.microsoft.com/office/powerpoint/2010/main" val="12253751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82920-C49C-4D40-9B60-F5CBCF66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57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W4-03   原教材圖文對照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f9c672aff4b08"/>
          <a:stretch xmlns:a="http://schemas.openxmlformats.org/drawingml/2006/main"/>
        </p:blipFill>
        <p:spPr>
          <a:xfrm xmlns:a="http://schemas.openxmlformats.org/drawingml/2006/main">
            <a:off x="2163763" y="590550"/>
            <a:ext cx="787400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21394-2B87-415E-A5FE-7249CE3F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CH10PPT.ppt 第 34 頁</a:t>
            </a:r>
          </a:p>
        </p:txBody>
      </p:sp>
    </p:spTree>
    <p:extLst>
      <p:ext uri="{BB962C8B-B14F-4D97-AF65-F5344CB8AC3E}">
        <p14:creationId xmlns:p14="http://schemas.microsoft.com/office/powerpoint/2010/main" val="484878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BF6F6-1D41-45F4-A672-D3430087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W4-04   045–060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2F721-D486-4C88-A80F-4B5F5D48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BGR 與 RGB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D7253-D321-46F0-B1D7-AF16044A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4B7D7-17CA-4786-A795-1CD741A7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OpenCV 彩色讀檔預設BGR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EF94A-E937-4813-9B1C-FA5DDF4B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10791-2474-4800-AC14-76512569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Pillow 顯示採RGB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9A090-90C1-4588-8DA8-185F90C6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C4B89-9EA1-4E5F-823B-277CDB50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轉換順序不會改變影像尺寸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0E2C2-9030-41FF-AF13-AF5F3161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本週作品：完成一條可重跑的影像處理流程</a:t>
            </a:r>
          </a:p>
        </p:txBody>
      </p:sp>
    </p:spTree>
    <p:extLst>
      <p:ext uri="{BB962C8B-B14F-4D97-AF65-F5344CB8AC3E}">
        <p14:creationId xmlns:p14="http://schemas.microsoft.com/office/powerpoint/2010/main" val="1937460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62E69-E11A-4CB1-976E-7823EE7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W4-04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74AF1-B33D-4227-936A-8A0D8D87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BGR 與 RGB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F22FE-E7AD-49B9-A1FA-91E5903E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print("未轉換，紅藍會交換")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display(Image.fromarray(bgr))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rgb = cv2.cvtColor(bgr, cv2.COLOR_BGR2RGB)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print("正確RGB")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display(Image.fromarray(rgb))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069E9-A2A5-4EA0-830A-6199869E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顯示轉換前與轉換後圖像，指出哪一張符合左紅中綠右藍。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CD9A4-F445-4145-B714-D192AE0A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W4-04</a:t>
            </a:r>
          </a:p>
        </p:txBody>
      </p:sp>
    </p:spTree>
    <p:extLst>
      <p:ext uri="{BB962C8B-B14F-4D97-AF65-F5344CB8AC3E}">
        <p14:creationId xmlns:p14="http://schemas.microsoft.com/office/powerpoint/2010/main" val="10725103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35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21299-0AC9-4627-BBAC-BE3A1BF9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W4-05   060–070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D4F37-CA31-4A24-9162-CA83C63A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休息與畫面確認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70553-DD42-43D0-BD9F-17726FF8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休息 10 分鐘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1722F-2712-441F-86D9-2308BDA7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先儲存，再離開座位</a:t>
            </a:r>
          </a:p>
        </p:txBody>
      </p:sp>
    </p:spTree>
    <p:extLst>
      <p:ext uri="{BB962C8B-B14F-4D97-AF65-F5344CB8AC3E}">
        <p14:creationId xmlns:p14="http://schemas.microsoft.com/office/powerpoint/2010/main" val="186942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87EC8-BE98-4B22-9D67-9E64729A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W4-06   070–090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BA32E-0BE8-46CC-8ADC-1D0B7A03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剪裁與複製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34A9D-F2C8-478B-9E1C-FD92A444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4439A-F502-46C4-85F5-F8E572BB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img[y1:y2, x1:x2]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940BA-8953-4D53-8A33-0E69F82C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D3E41-DA21-4B9E-B4BC-11246C72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切片不含結束位置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00DDC-1F3D-465B-9399-1598506F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06754-7F4C-4FEE-B6B2-02D1B773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copy 避免修改原圖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57F3B-3E04-415B-A2ED-E4495C1A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本週作品：完成一條可重跑的影像處理流程</a:t>
            </a:r>
          </a:p>
        </p:txBody>
      </p:sp>
    </p:spTree>
    <p:extLst>
      <p:ext uri="{BB962C8B-B14F-4D97-AF65-F5344CB8AC3E}">
        <p14:creationId xmlns:p14="http://schemas.microsoft.com/office/powerpoint/2010/main" val="15658513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6735F-1304-4D1F-BE2E-717F1B13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W4-06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71A77-74EC-4679-9241-0A453600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剪裁與複製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8D9E8-D196-4F96-8DE9-36E8078D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crop = rgb[:, 60:120].copy()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print(crop.shape)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display(Image.fromarray(crop))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2CA32-3099-4F60-BD68-61CF4303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剪裁所有列、欄60到120，確認全綠且寬60。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8C7C5-86DE-4DF6-8962-18131E28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W4-06</a:t>
            </a:r>
          </a:p>
        </p:txBody>
      </p:sp>
    </p:spTree>
    <p:extLst>
      <p:ext uri="{BB962C8B-B14F-4D97-AF65-F5344CB8AC3E}">
        <p14:creationId xmlns:p14="http://schemas.microsoft.com/office/powerpoint/2010/main" val="989210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609E2-2295-465A-8E37-1C9A49E1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57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W4-06   原教材圖文對照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d6e3e81824f8d"/>
          <a:stretch xmlns:a="http://schemas.openxmlformats.org/drawingml/2006/main"/>
        </p:blipFill>
        <p:spPr>
          <a:xfrm xmlns:a="http://schemas.openxmlformats.org/drawingml/2006/main">
            <a:off x="2163763" y="590550"/>
            <a:ext cx="787400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E4244-610D-4C89-8387-41354800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CH10PPT.ppt 第 13 頁</a:t>
            </a:r>
          </a:p>
        </p:txBody>
      </p:sp>
    </p:spTree>
    <p:extLst>
      <p:ext uri="{BB962C8B-B14F-4D97-AF65-F5344CB8AC3E}">
        <p14:creationId xmlns:p14="http://schemas.microsoft.com/office/powerpoint/2010/main" val="9995777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A1263-D5CD-43EB-AE2F-B099DAD9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W4-07   090–110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58017-6CFD-4AD0-B2E1-BC0FB6A3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縮放與灰階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918FF-563B-4B80-898F-74CA70D5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5BD88-ED9F-4E62-AC00-32A8C94C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resize 尺寸參數先寬後高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D3680-5B72-4F89-B37D-BE71B643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F5953-3D1C-4714-961D-E3BFAC3C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灰階影像常是二維陣列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9D5FB-3497-4B5B-9D57-FD0D9CC2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02DC2-7E21-4FC9-BB75-3EBD1459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灰階值不是簡單取某一通道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026A0-72E1-49BF-9BE6-846EEC76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本週作品：完成一條可重跑的影像處理流程</a:t>
            </a:r>
          </a:p>
        </p:txBody>
      </p:sp>
    </p:spTree>
    <p:extLst>
      <p:ext uri="{BB962C8B-B14F-4D97-AF65-F5344CB8AC3E}">
        <p14:creationId xmlns:p14="http://schemas.microsoft.com/office/powerpoint/2010/main" val="7046193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7E064-38E0-4BF9-9BAA-A49094F6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W4-07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43067-4428-4CC0-BBBE-E840E9BA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縮放與灰階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65234-7AC8-4D90-BCE4-C4D83724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small_bgr = cv2.resize(bgr, (90, 60))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gray = cv2.cvtColor(small_bgr, cv2.COLOR_BGR2GRAY)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print(small_bgr.shape, gray.shape)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display(Image.fromarray(gray))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015DF-EAEF-48A6-B0C6-2E1DD48D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縮成寬90高60，再轉灰階，記錄兩個shape。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F130F-4F9E-4799-925B-2A38D081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W4-07</a:t>
            </a:r>
          </a:p>
        </p:txBody>
      </p:sp>
    </p:spTree>
    <p:extLst>
      <p:ext uri="{BB962C8B-B14F-4D97-AF65-F5344CB8AC3E}">
        <p14:creationId xmlns:p14="http://schemas.microsoft.com/office/powerpoint/2010/main" val="18315996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0E6F9-3BB1-4CC6-BF7C-BF9FC72E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57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W4-07   原教材圖文對照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7f51639ac49f0"/>
          <a:stretch xmlns:a="http://schemas.openxmlformats.org/drawingml/2006/main"/>
        </p:blipFill>
        <p:spPr>
          <a:xfrm xmlns:a="http://schemas.openxmlformats.org/drawingml/2006/main">
            <a:off x="2163763" y="590550"/>
            <a:ext cx="787400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7F26E-1B49-463D-971E-AAC610C3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CH10PPT.ppt 第 17 頁</a:t>
            </a:r>
          </a:p>
        </p:txBody>
      </p:sp>
    </p:spTree>
    <p:extLst>
      <p:ext uri="{BB962C8B-B14F-4D97-AF65-F5344CB8AC3E}">
        <p14:creationId xmlns:p14="http://schemas.microsoft.com/office/powerpoint/2010/main" val="19532696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F8207-AACF-40EF-B0BA-ED82E051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W4-08   110–125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A4F66-5011-4905-9A32-AF8AE6E4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檔案讀寫與路徑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AD101-2490-44E7-AEEA-C912E38B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A3001-872D-44C0-922C-2131354B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寫檔後確認成功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27AA5-E562-4782-9047-3FE1A6B3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0C44B-B109-4191-87CA-CA665CFD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讀檔失敗會得到None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4A4F2-E532-4F82-98D7-0F3D233C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B5836-CF3D-47BC-86BD-6C5355AA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中文路徑可用位元組解碼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4DD5E-7FFF-4EF3-8915-1BA89513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本週作品：完成一條可重跑的影像處理流程</a:t>
            </a:r>
          </a:p>
        </p:txBody>
      </p:sp>
    </p:spTree>
    <p:extLst>
      <p:ext uri="{BB962C8B-B14F-4D97-AF65-F5344CB8AC3E}">
        <p14:creationId xmlns:p14="http://schemas.microsoft.com/office/powerpoint/2010/main" val="5067801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E4E07-2A86-482B-A126-E3712645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W4-08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F58E1-7B36-4634-9214-F2CEF5AF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檔案讀寫與路徑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1259C-758D-4426-8DF5-B06E024E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output_dir = Path("outputs")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output_dir.mkdir(exist_ok=True)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image_path = output_dir / "color_blocks.png"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ok, encoded = cv2.imencode(".png", bgr)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if not ok: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raise RuntimeError("PNG編碼失敗")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image_path.write_bytes(encoded.tobytes())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loaded = cv2.imdecode(np.frombuffer(image_path.read_bytes(), dtype=np.uint8), cv2.IMREAD_COLOR)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# 後續程式請見同單元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3637B-9FC2-4F94-B7D0-AD640728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儲存color_blocks.png再讀回，比對shape與像素。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FE6E0-BC8C-4D90-9DAF-EEAEC20B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W4-08</a:t>
            </a:r>
          </a:p>
        </p:txBody>
      </p:sp>
    </p:spTree>
    <p:extLst>
      <p:ext uri="{BB962C8B-B14F-4D97-AF65-F5344CB8AC3E}">
        <p14:creationId xmlns:p14="http://schemas.microsoft.com/office/powerpoint/2010/main" val="6261692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71CEB-3324-48A1-B25B-B4EB5452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W4-09   125–140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268AE-4590-4E8F-968F-DB3A7E55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閾值與規則處理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002F5-27A2-44AF-946F-612E7284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49E54-1B8D-4175-A772-02044083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threshold 依亮度切成黑白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B7A37-9B14-40CB-BA06-06328646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BD822-350D-42A1-AC69-DCBE020E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門檻由人指定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0D9F4-D9FD-48B7-9E82-7C4EAFEB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2EF39-6C4A-485F-87DA-18CCE9AC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影像處理不等於已訓練AI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191A7-E0F5-4F72-9F03-14D98516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本週作品：完成一條可重跑的影像處理流程</a:t>
            </a:r>
          </a:p>
        </p:txBody>
      </p:sp>
    </p:spTree>
    <p:extLst>
      <p:ext uri="{BB962C8B-B14F-4D97-AF65-F5344CB8AC3E}">
        <p14:creationId xmlns:p14="http://schemas.microsoft.com/office/powerpoint/2010/main" val="15584859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6DB48-4693-4800-8631-0079FB59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W4-09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A95F0-8195-40A3-846A-F6986B38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閾值與規則處理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BBA62-D009-42CD-A984-6380DEC5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_, binary = cv2.threshold(gray, 120, 255, cv2.THRESH_BINARY)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print(np.unique(binary))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display(Image.fromarray(binary))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E45E6-546D-44B3-870B-FDFE359E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比較門檻50、120、200；用np.unique檢查黑白值。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77E30-001C-45AC-82F7-D2FCA70B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W4-09</a:t>
            </a:r>
          </a:p>
        </p:txBody>
      </p:sp>
    </p:spTree>
    <p:extLst>
      <p:ext uri="{BB962C8B-B14F-4D97-AF65-F5344CB8AC3E}">
        <p14:creationId xmlns:p14="http://schemas.microsoft.com/office/powerpoint/2010/main" val="8392587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625FE-43B6-43AC-9F2F-1FD64B8F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W4-10   140–160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AD2CA-33B5-4F2B-A818-597A5E52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本週實作 影像處理函數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8D748-96CF-4DFA-A7FC-6BC4F911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7B2F7-B9EB-491E-B800-39D7A7A1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函數接收BGR影像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B5FF2-E073-4004-A9E4-E63BAE58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181D1-936E-4DA7-AC36-31098DB5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縮放、灰階、二值化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4F9F2-1DA8-4C21-89FD-761BFDC2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AB99E-85A5-473B-A4E6-AE201336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回傳結果並保存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35EF7-A839-4B1D-89E6-EAF623E1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本週作品：完成一條可重跑的影像處理流程</a:t>
            </a:r>
          </a:p>
        </p:txBody>
      </p:sp>
    </p:spTree>
    <p:extLst>
      <p:ext uri="{BB962C8B-B14F-4D97-AF65-F5344CB8AC3E}">
        <p14:creationId xmlns:p14="http://schemas.microsoft.com/office/powerpoint/2010/main" val="3657474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1C324-A3E8-4E3A-86B1-518408B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W4-10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25E4E-AA10-4721-84AD-F313B42E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本週實作 影像處理函數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B5843-E050-472C-A0F8-F8E5DEDE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print("本週專題：請完成下方函數")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2D728-C3A4-467C-87DE-7AD22B68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完成preprocess；保存binary.png，測試門檻120與200。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5D41F-3949-49CD-A047-54EB3709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W4-10</a:t>
            </a:r>
          </a:p>
        </p:txBody>
      </p:sp>
    </p:spTree>
    <p:extLst>
      <p:ext uri="{BB962C8B-B14F-4D97-AF65-F5344CB8AC3E}">
        <p14:creationId xmlns:p14="http://schemas.microsoft.com/office/powerpoint/2010/main" val="16238521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69FCE-D456-4828-AF45-34F114F3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W4-11   160–170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B080D-A745-4F22-B6F8-8BE5EF57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影像檢核與除錯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5DD8E-A225-4D03-9091-1505D20D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ABEEF-9D17-474A-A286-BB5E66C7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顏色以已知像素驗證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DF578-E383-455D-8553-8C03878C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2EFA1-CB7E-43E0-B8DF-62DF1AB2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尺寸用shape驗證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D0A9A-AEBA-4A0B-80B1-D16F57B3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A3369-546A-4145-BD20-8D8C22CB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裁切空陣列先檢查範圍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5E7C2-E140-4617-9636-9933A46C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本週作品：完成一條可重跑的影像處理流程</a:t>
            </a:r>
          </a:p>
        </p:txBody>
      </p:sp>
    </p:spTree>
    <p:extLst>
      <p:ext uri="{BB962C8B-B14F-4D97-AF65-F5344CB8AC3E}">
        <p14:creationId xmlns:p14="http://schemas.microsoft.com/office/powerpoint/2010/main" val="11048635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85C15-2A76-4381-BE7E-41A7A90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W4-11   示範與練習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08791-6C8A-402D-AF85-3207EA4F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影像檢核與除錯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EB5F9-59B5-4820-A3FA-ECDE9828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同桌檢查色塊方向、函數輸出shape與保存檔案。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6248E-6B45-4EC3-A3CD-D7B1A1B9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706EA-DF02-4351-BFA0-1AC34BB1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左紅中綠右藍；黑白圖(60,90)；outputs/binary.png存在。</a:t>
            </a:r>
          </a:p>
        </p:txBody>
      </p:sp>
    </p:spTree>
    <p:extLst>
      <p:ext uri="{BB962C8B-B14F-4D97-AF65-F5344CB8AC3E}">
        <p14:creationId xmlns:p14="http://schemas.microsoft.com/office/powerpoint/2010/main" val="10090445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23333-519E-4B9C-AA3C-AE40AA1C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W4-12   170–180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E74B0-30AF-49E3-A7BC-9391D222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離堂題與課後練習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F053C-7103-4F80-B85F-C4FB3D1A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96B1A-C23D-4787-9F69-538AFFEA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shape 與 resize 的順序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4655F-FB99-474D-AC08-075203FA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944C4-163C-45FD-8E2E-04ECD988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RGB 與 BGR 的差別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D6EC3-7B84-497D-9CB4-EA0CA70B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94E28-4096-4E4A-A94D-A417F4F8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下週從資料建立分類器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C322B-BBAD-4345-A1F7-4351CE53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本週作品：完成一條可重跑的影像處理流程</a:t>
            </a:r>
          </a:p>
        </p:txBody>
      </p:sp>
    </p:spTree>
    <p:extLst>
      <p:ext uri="{BB962C8B-B14F-4D97-AF65-F5344CB8AC3E}">
        <p14:creationId xmlns:p14="http://schemas.microsoft.com/office/powerpoint/2010/main" val="191467318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B3FE8-220D-4500-BA33-80A20F81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W4-12   示範與練習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A3749-CEDB-4CC9-9035-A3C744F5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離堂題與課後練習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0B676-D4FF-4AE4-A0BC-164A09EF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使用自製色塊圖測試流程並記錄shape，避免使用人臉或個資照片。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B6BC2-A224-44FF-A92E-55C1CEDA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95CAA-99CE-4D10-A872-F56600D7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shape高120寬180通道3；resize寬90高60；閾值由人指定。</a:t>
            </a:r>
          </a:p>
        </p:txBody>
      </p:sp>
    </p:spTree>
    <p:extLst>
      <p:ext uri="{BB962C8B-B14F-4D97-AF65-F5344CB8AC3E}">
        <p14:creationId xmlns:p14="http://schemas.microsoft.com/office/powerpoint/2010/main" val="868801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2026-10-07T23:28:43.2260000Z</dcterms:created>
  <dcterms:modified xsi:type="dcterms:W3CDTF">2026-10-07T23:28:43.2260000Z</dcterms:modified>
</coreProperties>
</file>