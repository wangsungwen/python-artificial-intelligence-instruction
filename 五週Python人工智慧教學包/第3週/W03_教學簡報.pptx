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3c5dd7d164c9f" /><Relationship Type="http://schemas.openxmlformats.org/officeDocument/2006/relationships/extended-properties" Target="/docProps/app.xml" Id="Rc0ac861512c44319" /><Relationship Type="http://schemas.openxmlformats.org/officeDocument/2006/relationships/officeDocument" Target="/ppt/presentation.xml" Id="Rb9468aa16fa2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7e8cc7467492e"/>
  </p:sldMasterIdLst>
  <p:notesMasterIdLst>
    <p:notesMasterId xmlns:r="http://schemas.openxmlformats.org/officeDocument/2006/relationships" r:id="R0dccf0d9bed34fba"/>
  </p:notesMasterIdLst>
  <p:sldIdLst>
    <p:sldId xmlns:r="http://schemas.openxmlformats.org/officeDocument/2006/relationships" id="256" r:id="Rbfc1c18ab8d74412"/>
    <p:sldId xmlns:r="http://schemas.openxmlformats.org/officeDocument/2006/relationships" id="257" r:id="R5a47c61ac85347c0"/>
    <p:sldId xmlns:r="http://schemas.openxmlformats.org/officeDocument/2006/relationships" id="258" r:id="R290df07d535e4b57"/>
    <p:sldId xmlns:r="http://schemas.openxmlformats.org/officeDocument/2006/relationships" id="259" r:id="R3e4a88dadd234bc4"/>
    <p:sldId xmlns:r="http://schemas.openxmlformats.org/officeDocument/2006/relationships" id="260" r:id="Rce98cede60be4475"/>
    <p:sldId xmlns:r="http://schemas.openxmlformats.org/officeDocument/2006/relationships" id="261" r:id="R7e8ab7d876784602"/>
    <p:sldId xmlns:r="http://schemas.openxmlformats.org/officeDocument/2006/relationships" id="262" r:id="R24ae644a295e498d"/>
    <p:sldId xmlns:r="http://schemas.openxmlformats.org/officeDocument/2006/relationships" id="263" r:id="Re02eb1d751d84114"/>
    <p:sldId xmlns:r="http://schemas.openxmlformats.org/officeDocument/2006/relationships" id="264" r:id="R205b65c9524d44be"/>
    <p:sldId xmlns:r="http://schemas.openxmlformats.org/officeDocument/2006/relationships" id="265" r:id="R1f52202f45e04664"/>
    <p:sldId xmlns:r="http://schemas.openxmlformats.org/officeDocument/2006/relationships" id="266" r:id="Ra590817c9f4044fa"/>
    <p:sldId xmlns:r="http://schemas.openxmlformats.org/officeDocument/2006/relationships" id="267" r:id="Rb98acc35e6864666"/>
    <p:sldId xmlns:r="http://schemas.openxmlformats.org/officeDocument/2006/relationships" id="268" r:id="R8ddbad8532504be4"/>
    <p:sldId xmlns:r="http://schemas.openxmlformats.org/officeDocument/2006/relationships" id="269" r:id="R3ecd4e8aabdd4db7"/>
    <p:sldId xmlns:r="http://schemas.openxmlformats.org/officeDocument/2006/relationships" id="270" r:id="Rf0dc51dcf57e4917"/>
    <p:sldId xmlns:r="http://schemas.openxmlformats.org/officeDocument/2006/relationships" id="271" r:id="R94c6c0a9daaa4ffc"/>
    <p:sldId xmlns:r="http://schemas.openxmlformats.org/officeDocument/2006/relationships" id="272" r:id="R6b8ed06d0e524d3b"/>
    <p:sldId xmlns:r="http://schemas.openxmlformats.org/officeDocument/2006/relationships" id="273" r:id="Raf95e93c7e58444c"/>
    <p:sldId xmlns:r="http://schemas.openxmlformats.org/officeDocument/2006/relationships" id="274" r:id="R117896d7d4434d6f"/>
    <p:sldId xmlns:r="http://schemas.openxmlformats.org/officeDocument/2006/relationships" id="275" r:id="R41137737b38d4043"/>
    <p:sldId xmlns:r="http://schemas.openxmlformats.org/officeDocument/2006/relationships" id="276" r:id="R5a017da00a644f86"/>
    <p:sldId xmlns:r="http://schemas.openxmlformats.org/officeDocument/2006/relationships" id="277" r:id="Rde5028f6fc6d412d"/>
    <p:sldId xmlns:r="http://schemas.openxmlformats.org/officeDocument/2006/relationships" id="278" r:id="R7e0ba5de4f0349e7"/>
    <p:sldId xmlns:r="http://schemas.openxmlformats.org/officeDocument/2006/relationships" id="279" r:id="Ra2761da3d985487c"/>
    <p:sldId xmlns:r="http://schemas.openxmlformats.org/officeDocument/2006/relationships" id="280" r:id="R526b39df09e04c8d"/>
    <p:sldId xmlns:r="http://schemas.openxmlformats.org/officeDocument/2006/relationships" id="281" r:id="R2aae4d45b4ed437a"/>
    <p:sldId xmlns:r="http://schemas.openxmlformats.org/officeDocument/2006/relationships" id="282" r:id="Rd343fb3ee500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0eb2349f8492b" /><Relationship Type="http://schemas.openxmlformats.org/officeDocument/2006/relationships/slideMaster" Target="/ppt/slideMasters/slideMaster1.xml" Id="R6b47e8cc7467492e" /><Relationship Type="http://schemas.openxmlformats.org/officeDocument/2006/relationships/notesMaster" Target="/ppt/notesMasters/notesMaster1.xml" Id="R0dccf0d9bed34fba" /><Relationship Type="http://schemas.openxmlformats.org/officeDocument/2006/relationships/presProps" Target="/ppt/presProps.xml" Id="Ra8cabfb8a104485f" /><Relationship Type="http://schemas.openxmlformats.org/officeDocument/2006/relationships/tableStyles" Target="/ppt/tableStyles.xml" Id="Rbb4acfe19f874a8e" /><Relationship Type="http://schemas.openxmlformats.org/officeDocument/2006/relationships/slide" Target="/ppt/slides/slide1.xml" Id="Rbfc1c18ab8d74412" /><Relationship Type="http://schemas.openxmlformats.org/officeDocument/2006/relationships/slide" Target="/ppt/slides/slide2.xml" Id="R5a47c61ac85347c0" /><Relationship Type="http://schemas.openxmlformats.org/officeDocument/2006/relationships/slide" Target="/ppt/slides/slide3.xml" Id="R290df07d535e4b57" /><Relationship Type="http://schemas.openxmlformats.org/officeDocument/2006/relationships/slide" Target="/ppt/slides/slide4.xml" Id="R3e4a88dadd234bc4" /><Relationship Type="http://schemas.openxmlformats.org/officeDocument/2006/relationships/slide" Target="/ppt/slides/slide5.xml" Id="Rce98cede60be4475" /><Relationship Type="http://schemas.openxmlformats.org/officeDocument/2006/relationships/slide" Target="/ppt/slides/slide6.xml" Id="R7e8ab7d876784602" /><Relationship Type="http://schemas.openxmlformats.org/officeDocument/2006/relationships/slide" Target="/ppt/slides/slide7.xml" Id="R24ae644a295e498d" /><Relationship Type="http://schemas.openxmlformats.org/officeDocument/2006/relationships/slide" Target="/ppt/slides/slide8.xml" Id="Re02eb1d751d84114" /><Relationship Type="http://schemas.openxmlformats.org/officeDocument/2006/relationships/slide" Target="/ppt/slides/slide9.xml" Id="R205b65c9524d44be" /><Relationship Type="http://schemas.openxmlformats.org/officeDocument/2006/relationships/slide" Target="/ppt/slides/slide10.xml" Id="R1f52202f45e04664" /><Relationship Type="http://schemas.openxmlformats.org/officeDocument/2006/relationships/slide" Target="/ppt/slides/slide11.xml" Id="Ra590817c9f4044fa" /><Relationship Type="http://schemas.openxmlformats.org/officeDocument/2006/relationships/slide" Target="/ppt/slides/slide12.xml" Id="Rb98acc35e6864666" /><Relationship Type="http://schemas.openxmlformats.org/officeDocument/2006/relationships/slide" Target="/ppt/slides/slide13.xml" Id="R8ddbad8532504be4" /><Relationship Type="http://schemas.openxmlformats.org/officeDocument/2006/relationships/slide" Target="/ppt/slides/slide14.xml" Id="R3ecd4e8aabdd4db7" /><Relationship Type="http://schemas.openxmlformats.org/officeDocument/2006/relationships/slide" Target="/ppt/slides/slide15.xml" Id="Rf0dc51dcf57e4917" /><Relationship Type="http://schemas.openxmlformats.org/officeDocument/2006/relationships/slide" Target="/ppt/slides/slide16.xml" Id="R94c6c0a9daaa4ffc" /><Relationship Type="http://schemas.openxmlformats.org/officeDocument/2006/relationships/slide" Target="/ppt/slides/slide17.xml" Id="R6b8ed06d0e524d3b" /><Relationship Type="http://schemas.openxmlformats.org/officeDocument/2006/relationships/slide" Target="/ppt/slides/slide18.xml" Id="Raf95e93c7e58444c" /><Relationship Type="http://schemas.openxmlformats.org/officeDocument/2006/relationships/slide" Target="/ppt/slides/slide19.xml" Id="R117896d7d4434d6f" /><Relationship Type="http://schemas.openxmlformats.org/officeDocument/2006/relationships/slide" Target="/ppt/slides/slide20.xml" Id="R41137737b38d4043" /><Relationship Type="http://schemas.openxmlformats.org/officeDocument/2006/relationships/slide" Target="/ppt/slides/slide21.xml" Id="R5a017da00a644f86" /><Relationship Type="http://schemas.openxmlformats.org/officeDocument/2006/relationships/slide" Target="/ppt/slides/slide22.xml" Id="Rde5028f6fc6d412d" /><Relationship Type="http://schemas.openxmlformats.org/officeDocument/2006/relationships/slide" Target="/ppt/slides/slide23.xml" Id="R7e0ba5de4f0349e7" /><Relationship Type="http://schemas.openxmlformats.org/officeDocument/2006/relationships/slide" Target="/ppt/slides/slide24.xml" Id="Ra2761da3d985487c" /><Relationship Type="http://schemas.openxmlformats.org/officeDocument/2006/relationships/slide" Target="/ppt/slides/slide25.xml" Id="R526b39df09e04c8d" /><Relationship Type="http://schemas.openxmlformats.org/officeDocument/2006/relationships/slide" Target="/ppt/slides/slide26.xml" Id="R2aae4d45b4ed437a" /><Relationship Type="http://schemas.openxmlformats.org/officeDocument/2006/relationships/slide" Target="/ppt/slides/slide27.xml" Id="Rd343fb3ee500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d2bb21106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bd164c91c434e" /><Relationship Type="http://schemas.openxmlformats.org/officeDocument/2006/relationships/notesMaster" Target="/ppt/notesMasters/notesMaster1.xml" Id="R9660ec98f65e47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44655af034503" /><Relationship Type="http://schemas.openxmlformats.org/officeDocument/2006/relationships/notesMaster" Target="/ppt/notesMasters/notesMaster1.xml" Id="Rea46c2e05b00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0707925f9e45ae" /><Relationship Type="http://schemas.openxmlformats.org/officeDocument/2006/relationships/notesMaster" Target="/ppt/notesMasters/notesMaster1.xml" Id="R7c7f9373a0a4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19ae1174324664" /><Relationship Type="http://schemas.openxmlformats.org/officeDocument/2006/relationships/notesMaster" Target="/ppt/notesMasters/notesMaster1.xml" Id="Re53f2b542cfb40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d9bf5ee1c49db" /><Relationship Type="http://schemas.openxmlformats.org/officeDocument/2006/relationships/notesMaster" Target="/ppt/notesMasters/notesMaster1.xml" Id="Rd8e28683839841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f4dafd13684721" /><Relationship Type="http://schemas.openxmlformats.org/officeDocument/2006/relationships/notesMaster" Target="/ppt/notesMasters/notesMaster1.xml" Id="Re4888dea3a2f43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7247ce75ad41f6" /><Relationship Type="http://schemas.openxmlformats.org/officeDocument/2006/relationships/notesMaster" Target="/ppt/notesMasters/notesMaster1.xml" Id="R2b1c9f1b7d164f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4377de24074ce0" /><Relationship Type="http://schemas.openxmlformats.org/officeDocument/2006/relationships/notesMaster" Target="/ppt/notesMasters/notesMaster1.xml" Id="R0d6de8bbddd946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955f940e547e8" /><Relationship Type="http://schemas.openxmlformats.org/officeDocument/2006/relationships/notesMaster" Target="/ppt/notesMasters/notesMaster1.xml" Id="R47ef4587c6c147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f2932238464716" /><Relationship Type="http://schemas.openxmlformats.org/officeDocument/2006/relationships/notesMaster" Target="/ppt/notesMasters/notesMaster1.xml" Id="R9bca2b94c7fb40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d9d0143f1415f" /><Relationship Type="http://schemas.openxmlformats.org/officeDocument/2006/relationships/notesMaster" Target="/ppt/notesMasters/notesMaster1.xml" Id="Rfc2dfd045c064b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569e6b8cb64559" /><Relationship Type="http://schemas.openxmlformats.org/officeDocument/2006/relationships/notesMaster" Target="/ppt/notesMasters/notesMaster1.xml" Id="R6067f5fab29845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017f18f3214528" /><Relationship Type="http://schemas.openxmlformats.org/officeDocument/2006/relationships/notesMaster" Target="/ppt/notesMasters/notesMaster1.xml" Id="R885aefc6130d44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c7e4ad51d94a66" /><Relationship Type="http://schemas.openxmlformats.org/officeDocument/2006/relationships/notesMaster" Target="/ppt/notesMasters/notesMaster1.xml" Id="Rfe2f664a0ae14f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ac2f95ad074b1a" /><Relationship Type="http://schemas.openxmlformats.org/officeDocument/2006/relationships/notesMaster" Target="/ppt/notesMasters/notesMaster1.xml" Id="R550a35b046c34d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2c5ee76ef5407b" /><Relationship Type="http://schemas.openxmlformats.org/officeDocument/2006/relationships/notesMaster" Target="/ppt/notesMasters/notesMaster1.xml" Id="R898a4732101744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a6e3480bef4bd8" /><Relationship Type="http://schemas.openxmlformats.org/officeDocument/2006/relationships/notesMaster" Target="/ppt/notesMasters/notesMaster1.xml" Id="R8d5b20421a2741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27fb7b9e8d4839" /><Relationship Type="http://schemas.openxmlformats.org/officeDocument/2006/relationships/notesMaster" Target="/ppt/notesMasters/notesMaster1.xml" Id="R63ec627940d74f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bf5badb9914a41" /><Relationship Type="http://schemas.openxmlformats.org/officeDocument/2006/relationships/notesMaster" Target="/ppt/notesMasters/notesMaster1.xml" Id="R624ca1a5850c4c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250d608f554485" /><Relationship Type="http://schemas.openxmlformats.org/officeDocument/2006/relationships/notesMaster" Target="/ppt/notesMasters/notesMaster1.xml" Id="R091fe2e46bb34c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d1bf88a0674449" /><Relationship Type="http://schemas.openxmlformats.org/officeDocument/2006/relationships/notesMaster" Target="/ppt/notesMasters/notesMaster1.xml" Id="Rb518c700f6e349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999660380d4868" /><Relationship Type="http://schemas.openxmlformats.org/officeDocument/2006/relationships/notesMaster" Target="/ppt/notesMasters/notesMaster1.xml" Id="R7f9e5512f7d14a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6d1326ce984640" /><Relationship Type="http://schemas.openxmlformats.org/officeDocument/2006/relationships/notesMaster" Target="/ppt/notesMasters/notesMaster1.xml" Id="Rc1cc73ca9e1145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e577cb75d94823" /><Relationship Type="http://schemas.openxmlformats.org/officeDocument/2006/relationships/notesMaster" Target="/ppt/notesMasters/notesMaster1.xml" Id="R5618982fe75b4b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736fa2f4df4767" /><Relationship Type="http://schemas.openxmlformats.org/officeDocument/2006/relationships/notesMaster" Target="/ppt/notesMasters/notesMaster1.xml" Id="Reb7be8ae62ef4e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731020803b4c72" /><Relationship Type="http://schemas.openxmlformats.org/officeDocument/2006/relationships/notesMaster" Target="/ppt/notesMasters/notesMaster1.xml" Id="Re9b70d5dd4cf4a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600725d4764221" /><Relationship Type="http://schemas.openxmlformats.org/officeDocument/2006/relationships/notesMaster" Target="/ppt/notesMasters/notesMaster1.xml" Id="R28d6a98e912f43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本週目標：能使用參數與回傳值；能以串列與字典整理紀錄；能讀寫UTF-8文字並處理轉型失敗</a:t>
            </a:r>
          </a:p>
          <a:p xmlns:a="http://schemas.openxmlformats.org/drawingml/2006/main">
            <a:r>
              <a:t>教材對照：CH06PPT 第6章；CH07PPT 7-1、7-2、7-4；CH08PPT 8-1、8-4；CH09PPT 9-1</a:t>
            </a:r>
          </a:p>
          <a:p xmlns:a="http://schemas.openxmlformats.org/drawingml/2006/main">
            <a:r>
              <a:t>完整180分鐘流程見逐字講稿。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週每張訂單都需要相同運費規則。如果你在三個地方複製相同程式，以後改門檻就要改三次。函數可以替這段工作取名字，讓需要它的地方呼叫。今天我們改用成績資料，將及格判斷與摘要整理成函數。請先說出及格判斷需要什麼輸入，應該交回什麼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活動：說明is_pass的輸入與輸出。</a:t>
            </a:r>
          </a:p>
          <a:p xmlns:a="http://schemas.openxmlformats.org/drawingml/2006/main">
            <a:r>
              <a:t>參考答案：輸入分數，輸出True或False。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週每張訂單都需要相同運費規則。如果你在三個地方複製相同程式，以後改門檻就要改三次。函數可以替這段工作取名字，讓需要它的地方呼叫。今天我們改用成績資料，將及格判斷與摘要整理成函數。請先說出及格判斷需要什麼輸入，應該交回什麼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活動：說明is_pass的輸入與輸出。</a:t>
            </a:r>
          </a:p>
          <a:p xmlns:a="http://schemas.openxmlformats.org/drawingml/2006/main">
            <a:r>
              <a:t>參考答案：輸入分數，輸出True或False。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請看 def 這個字，它告訴 Python 我們要定義一個函數。括號裡的 score 是參數名稱，不是固定資料。呼叫 is_pass 六十時，這一次的 score 就是六十；下次呼叫五十九，它就是五十九。return 把結果交回呼叫的位置，也會結束這次函數執行。只執行定義不會自動列印答案，必須呼叫它。請先用手指追蹤資料從括號進入，再從 return 出來的過程。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活動：呼叫is_pass檢查59、60、61。</a:t>
            </a:r>
          </a:p>
          <a:p xmlns:a="http://schemas.openxmlformats.org/drawingml/2006/main">
            <a:r>
              <a:t>參考答案：False、True、True。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第7頁。指出參數進入、回傳值離開的位置，再對照is_pass。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請看 def 這個字，它告訴 Python 我們要定義一個函數。括號裡的 score 是參數名稱，不是固定資料。呼叫 is_pass 六十時，這一次的 score 就是六十；下次呼叫五十九，它就是五十九。return 把結果交回呼叫的位置，也會結束這次函數執行。只執行定義不會自動列印答案，必須呼叫它。請先用手指追蹤資料從括號進入，再從 return 出來的過程。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活動：呼叫is_pass檢查59、60、61。</a:t>
            </a:r>
          </a:p>
          <a:p xmlns:a="http://schemas.openxmlformats.org/drawingml/2006/main">
            <a:r>
              <a:t>參考答案：False、True、True。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第7頁。指出參數進入、回傳值離開的位置，再對照is_pass。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請看 def 這個字，它告訴 Python 我們要定義一個函數。括號裡的 score 是參數名稱，不是固定資料。呼叫 is_pass 六十時，這一次的 score 就是六十；下次呼叫五十九，它就是五十九。return 把結果交回呼叫的位置，也會結束這次函數執行。只執行定義不會自動列印答案，必須呼叫它。請先用手指追蹤資料從括號進入，再從 return 出來的過程。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活動：呼叫is_pass檢查59、60、61。</a:t>
            </a:r>
          </a:p>
          <a:p xmlns:a="http://schemas.openxmlformats.org/drawingml/2006/main">
            <a:r>
              <a:t>參考答案：False、True、True。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第7頁。指出參數進入、回傳值離開的位置，再對照is_pass。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和 return 常讓初學者混淆。print 像把答案念出來，return 像把答案寫在紙上交給下一個人。如果一個函數只有 print，畫面雖然看得到結果，呼叫者收到的卻可能是 None。要繼續運算的結果，應使用 return。下面的加總函數回傳數字，所以我們可以再加十分。請把顯示和計算分開，這會讓後面的測試更容易。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活動：建立add_bonus(score, bonus)，回傳加分後分數；用50、10測試。</a:t>
            </a:r>
          </a:p>
          <a:p xmlns:a="http://schemas.openxmlformats.org/drawingml/2006/main">
            <a:r>
              <a:t>參考答案：應回傳60，且可再參與運算。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第32頁。原教材price與數量產生總價，本課改用分數與加分。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和 return 常讓初學者混淆。print 像把答案念出來，return 像把答案寫在紙上交給下一個人。如果一個函數只有 print，畫面雖然看得到結果，呼叫者收到的卻可能是 None。要繼續運算的結果，應使用 return。下面的加總函數回傳數字，所以我們可以再加十分。請把顯示和計算分開，這會讓後面的測試更容易。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活動：建立add_bonus(score, bonus)，回傳加分後分數；用50、10測試。</a:t>
            </a:r>
          </a:p>
          <a:p xmlns:a="http://schemas.openxmlformats.org/drawingml/2006/main">
            <a:r>
              <a:t>參考答案：應回傳60，且可再參與運算。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第32頁。原教材price與數量產生總價，本課改用分數與加分。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和 return 常讓初學者混淆。print 像把答案念出來，return 像把答案寫在紙上交給下一個人。如果一個函數只有 print，畫面雖然看得到結果，呼叫者收到的卻可能是 None。要繼續運算的結果，應使用 return。下面的加總函數回傳數字，所以我們可以再加十分。請把顯示和計算分開，這會讓後面的測試更容易。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活動：建立add_bonus(score, bonus)，回傳加分後分數；用50、10測試。</a:t>
            </a:r>
          </a:p>
          <a:p xmlns:a="http://schemas.openxmlformats.org/drawingml/2006/main">
            <a:r>
              <a:t>參考答案：應回傳60，且可再參與運算。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CH06PPT.ppt 第32頁。原教材price與數量產生總價，本課改用分數與加分。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匯入資料時，姓名可能多了空白，分數可能仍是文字。先整理資料，再計算結果，能減少很多混亂。strip 會去掉兩端空白，中間的空白不會全部消失。串列索引從零開始，所以第一筆是零。當串列有三筆，最後一筆索引是二。請特別注意數量和最大索引不是相同的數字。存取空串列的第一筆會失敗，所以使用前應確認是否有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活動：清理" 小安 "，取scores第一筆並說明len與最後索引的差別。</a:t>
            </a:r>
          </a:p>
          <a:p xmlns:a="http://schemas.openxmlformats.org/drawingml/2006/main">
            <a:r>
              <a:t>參考答案：姓名小安，第一筆59；長度3、最後索引2。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匯入資料時，姓名可能多了空白，分數可能仍是文字。先整理資料，再計算結果，能減少很多混亂。strip 會去掉兩端空白，中間的空白不會全部消失。串列索引從零開始，所以第一筆是零。當串列有三筆，最後一筆索引是二。請特別注意數量和最大索引不是相同的數字。存取空串列的第一筆會失敗，所以使用前應確認是否有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活動：清理" 小安 "，取scores第一筆並說明len與最後索引的差別。</a:t>
            </a:r>
          </a:p>
          <a:p xmlns:a="http://schemas.openxmlformats.org/drawingml/2006/main">
            <a:r>
              <a:t>參考答案：姓名小安，第一筆59；長度3、最後索引2。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請儲存檔案，休息十分鐘。回來後，我們會把姓名和分數放在同一筆紀錄，避免姓名與分數對錯人。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活動：休息並儲存。</a:t>
            </a:r>
          </a:p>
          <a:p xmlns:a="http://schemas.openxmlformats.org/drawingml/2006/main">
            <a:r>
              <a:t>參考答案：各函數已定義，可重新執行。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如果姓名放一個串列，分數放另一個串列，插入或刪除時可能對錯位置。字典可以把同一人的資料放在一起，用 name 和 score 這些鍵取值。外層串列代表一群學生，每次 for 取出一筆字典，再讀姓名與分數。鍵的拼字要一致，score 與scores 是不同的鍵。請先找到大括號與中括號，各自表示什麼，再開始修改資料。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活動：新增一位學生小青，分數75，列印所有姓名與分數。</a:t>
            </a:r>
          </a:p>
          <a:p xmlns:a="http://schemas.openxmlformats.org/drawingml/2006/main">
            <a:r>
              <a:t>參考答案：三筆原紀錄加一筆，共4人；小青75。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CH07PPT.ppt 第41頁。保留原教材字典程式，先看鍵與值；dict建構式只作閱讀。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如果姓名放一個串列，分數放另一個串列，插入或刪除時可能對錯位置。字典可以把同一人的資料放在一起，用 name 和 score 這些鍵取值。外層串列代表一群學生，每次 for 取出一筆字典，再讀姓名與分數。鍵的拼字要一致，score 與scores 是不同的鍵。請先找到大括號與中括號，各自表示什麼，再開始修改資料。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活動：新增一位學生小青，分數75，列印所有姓名與分數。</a:t>
            </a:r>
          </a:p>
          <a:p xmlns:a="http://schemas.openxmlformats.org/drawingml/2006/main">
            <a:r>
              <a:t>參考答案：三筆原紀錄加一筆，共4人；小青75。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CH07PPT.ppt 第41頁。保留原教材字典程式，先看鍵與值；dict建構式只作閱讀。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如果姓名放一個串列，分數放另一個串列，插入或刪除時可能對錯位置。字典可以把同一人的資料放在一起，用 name 和 score 這些鍵取值。外層串列代表一群學生，每次 for 取出一筆字典，再讀姓名與分數。鍵的拼字要一致，score 與scores 是不同的鍵。請先找到大括號與中括號，各自表示什麼，再開始修改資料。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活動：新增一位學生小青，分數75，列印所有姓名與分數。</a:t>
            </a:r>
          </a:p>
          <a:p xmlns:a="http://schemas.openxmlformats.org/drawingml/2006/main">
            <a:r>
              <a:t>參考答案：三筆原紀錄加一筆，共4人；小青75。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直接引用 CH07PPT.ppt 第41頁。保留原教材字典程式，先看鍵與值；dict建構式只作閱讀。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摘要需要人數、平均分數和及格人數。函數先檢查串列是不是空的，因為零人不能拿來當除數。今天約定空資料平均用 None，意思是沒有可計算的平均，不是平均零分。接著用迴圈累加成績與及格人數，最後用字典回傳。這樣呼叫者可以根據名稱取出結果。請你先用三筆資料手算，再比對程式，不要只看程式沒有報錯就當作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活動：測試[59,60,81]與空串列；說明為何空資料平均不是0。</a:t>
            </a:r>
          </a:p>
          <a:p xmlns:a="http://schemas.openxmlformats.org/drawingml/2006/main">
            <a:r>
              <a:t>參考答案：3人、平均200/3、及格2人；空資料count=0、average=None、passed=0。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摘要需要人數、平均分數和及格人數。函數先檢查串列是不是空的，因為零人不能拿來當除數。今天約定空資料平均用 None，意思是沒有可計算的平均，不是平均零分。接著用迴圈累加成績與及格人數，最後用字典回傳。這樣呼叫者可以根據名稱取出結果。請你先用三筆資料手算，再比對程式，不要只看程式沒有報錯就當作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活動：測試[59,60,81]與空串列；說明為何空資料平均不是0。</a:t>
            </a:r>
          </a:p>
          <a:p xmlns:a="http://schemas.openxmlformats.org/drawingml/2006/main">
            <a:r>
              <a:t>參考答案：3人、平均200/3、及格2人；空資料count=0、average=None、passed=0。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資料只放在變數裡，關掉核心就不會保留，所以需要寫入檔案。Path 來自 pathlib 模組，它協助我們組合路徑。with 區塊結束時會關閉檔案，讓我們不必手動記得 close。寫入模式 w 會覆蓋同名檔案，所以本課只寫到 outputs 的練習報告。請指定 UTF-8，讓中文編碼一致。寫完後再讀回來，比對內容，這比只看到存檔訊息更可靠。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活動：寫出含姓名與平均分數的report.txt，讀回確認。</a:t>
            </a:r>
          </a:p>
          <a:p xmlns:a="http://schemas.openxmlformats.org/drawingml/2006/main">
            <a:r>
              <a:t>參考答案：outputs/report.txt存在，讀回中文與原字串相同。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資料只放在變數裡，關掉核心就不會保留，所以需要寫入檔案。Path 來自 pathlib 模組，它協助我們組合路徑。with 區塊結束時會關閉檔案，讓我們不必手動記得 close。寫入模式 w 會覆蓋同名檔案，所以本課只寫到 outputs 的練習報告。請指定 UTF-8，讓中文編碼一致。寫完後再讀回來，比對內容，這比只看到存檔訊息更可靠。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活動：寫出含姓名與平均分數的report.txt，讀回確認。</a:t>
            </a:r>
          </a:p>
          <a:p xmlns:a="http://schemas.openxmlformats.org/drawingml/2006/main">
            <a:r>
              <a:t>參考答案：outputs/report.txt存在，讀回中文與原字串相同。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我們終於可以處理第一週留下的問題：有人把分數輸入成文字。try 裡嘗試轉成整數，轉換失敗時由 except ValueError 接住。轉型成功也不代表分數合理，例如一百二十是整數，但超出本課零到一百的分數範圍。請把格式與範圍分開檢查。今天不合法就回傳 None，呼叫端可以提示重新輸入。不要把所有錯誤都無條件忽略，否則真正的程式問題也會被藏起來。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活動：測試"60"、"abc"、"120"、"-1"。</a:t>
            </a:r>
          </a:p>
          <a:p xmlns:a="http://schemas.openxmlformats.org/drawingml/2006/main">
            <a:r>
              <a:t>參考答案：60、None、None、None。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我們終於可以處理第一週留下的問題：有人把分數輸入成文字。try 裡嘗試轉成整數，轉換失敗時由 except ValueError 接住。轉型成功也不代表分數合理，例如一百二十是整數，但超出本課零到一百的分數範圍。請把格式與範圍分開檢查。今天不合法就回傳 None，呼叫端可以提示重新輸入。不要把所有錯誤都無條件忽略，否則真正的程式問題也會被藏起來。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活動：測試"60"、"abc"、"120"、"-1"。</a:t>
            </a:r>
          </a:p>
          <a:p xmlns:a="http://schemas.openxmlformats.org/drawingml/2006/main">
            <a:r>
              <a:t>參考答案：60、None、None、None。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請把今天的各個小工具接起來，完成一份成績報告。先建立三位學生的紀錄，再取出分數串列，交給 summarize。把結果轉成中文報告，平均顯示兩位小數，存到 outputs 下。請注意資料是空的時候，不可以對 None 使用小數格式，要顯示沒有資料。最後從檔案讀回來給同桌看。快組可以再加上最高分，但請先完成必要功能與空資料測試。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活動：資料小安59、小美60、小宇81；另測空資料。保存final_report.txt。</a:t>
            </a:r>
          </a:p>
          <a:p xmlns:a="http://schemas.openxmlformats.org/drawingml/2006/main">
            <a:r>
              <a:t>參考答案：3人、平均66.67、及格2人；空資料顯示無資料，避免除以零或格式錯誤。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請把今天的各個小工具接起來，完成一份成績報告。先建立三位學生的紀錄，再取出分數串列，交給 summarize。把結果轉成中文報告，平均顯示兩位小數，存到 outputs 下。請注意資料是空的時候，不可以對 None 使用小數格式，要顯示沒有資料。最後從檔案讀回來給同桌看。快組可以再加上最高分，但請先完成必要功能與空資料測試。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活動：資料小安59、小美60、小宇81；另測空資料。保存final_report.txt。</a:t>
            </a:r>
          </a:p>
          <a:p xmlns:a="http://schemas.openxmlformats.org/drawingml/2006/main">
            <a:r>
              <a:t>參考答案：3人、平均66.67、及格2人；空資料顯示無資料，避免除以零或格式錯誤。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assert 的意思是要求這個條件成立。如果條件不成立，會提醒我們測試失敗。它適合在練習時確認函數行為。請至少檢查六十分及格、五十九不及格、空資料沒有平均、文字輸入被拒絕。接著重啟核心全部執行，再打開報告。你的函數不應依賴上週留下的變數，每週檔案都要能獨立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活動：執行四項測試並檢查報告檔。</a:t>
            </a:r>
          </a:p>
          <a:p xmlns:a="http://schemas.openxmlformats.org/drawingml/2006/main">
            <a:r>
              <a:t>參考答案：is_pass(60)為True、is_pass(59)為False；summarize([])平均None；parse_score("abc")為None。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assert 的意思是要求這個條件成立。如果條件不成立，會提醒我們測試失敗。它適合在練習時確認函數行為。請至少檢查六十分及格、五十九不及格、空資料沒有平均、文字輸入被拒絕。接著重啟核心全部執行，再打開報告。你的函數不應依賴上週留下的變數，每週檔案都要能獨立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活動：執行四項測試並檢查報告檔。</a:t>
            </a:r>
          </a:p>
          <a:p xmlns:a="http://schemas.openxmlformats.org/drawingml/2006/main">
            <a:r>
              <a:t>參考答案：is_pass(60)為True、is_pass(59)為False；summarize([])平均None；parse_score("abc")為None。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今天請用自己的話說明參數和回傳值，再回答 print 和 return 有何差別。課後把成績報告加上最高分與最低分，空資料仍要能處理。下週會看到影像也能表示成數字陣列，你今天學的串列、索引和函數，會繼續派上用場。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活動：課後用[50,70,90]增加最高與最低分；空資料回傳None。</a:t>
            </a:r>
          </a:p>
          <a:p xmlns:a="http://schemas.openxmlformats.org/drawingml/2006/main">
            <a:r>
              <a:t>參考答案：最高90、最低50；空資料的兩者為None。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今天請用自己的話說明參數和回傳值，再回答 print 和 return 有何差別。課後把成績報告加上最高分與最低分，空資料仍要能處理。下週會看到影像也能表示成數字陣列，你今天學的串列、索引和函數，會繼續派上用場。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活動：課後用[50,70,90]增加最高與最低分；空資料回傳None。</a:t>
            </a:r>
          </a:p>
          <a:p xmlns:a="http://schemas.openxmlformats.org/drawingml/2006/main">
            <a:r>
              <a:t>參考答案：最高90、最低50；空資料的兩者為None。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教材來源：CH06PPT 第6章；CH07PPT 7-1、7-2、7-4；CH08PPT 8-1、8-4；CH09PPT 9-1</a:t>
            </a:r>
          </a:p>
          <a:p xmlns:a="http://schemas.openxmlformats.org/drawingml/2006/main"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bcea2efbf4e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aa903482024759" /><Relationship Type="http://schemas.openxmlformats.org/officeDocument/2006/relationships/slideLayout" Target="/ppt/slideLayouts/slideLayout1.xml" Id="Rc2b486fa6b01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486fa6b01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848cb44854acd" /><Relationship Type="http://schemas.openxmlformats.org/officeDocument/2006/relationships/notesSlide" Target="/ppt/notesSlides/notesSlide1.xml" Id="R42cfd3ef9b624a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35d71f418498f" /><Relationship Type="http://schemas.openxmlformats.org/officeDocument/2006/relationships/notesSlide" Target="/ppt/notesSlides/notesSlide2.xml" Id="Recf8cb4cbef1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e529101af4935" /><Relationship Type="http://schemas.openxmlformats.org/officeDocument/2006/relationships/notesSlide" Target="/ppt/notesSlides/notesSlide3.xml" Id="R43ea58cfca9b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93397e7e34d12" /><Relationship Type="http://schemas.openxmlformats.org/officeDocument/2006/relationships/notesSlide" Target="/ppt/notesSlides/notesSlide4.xml" Id="Re4bdfe0d0d8a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925117534446" /><Relationship Type="http://schemas.openxmlformats.org/officeDocument/2006/relationships/notesSlide" Target="/ppt/notesSlides/notesSlide5.xml" Id="Ref307300331443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105d19af44c31" /><Relationship Type="http://schemas.openxmlformats.org/officeDocument/2006/relationships/image" Target="/ppt/media/image.png" Id="Ra8486312e5e54201" /><Relationship Type="http://schemas.openxmlformats.org/officeDocument/2006/relationships/notesSlide" Target="/ppt/notesSlides/notesSlide6.xml" Id="Rd0f48c13922c42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7a253d87446d8" /><Relationship Type="http://schemas.openxmlformats.org/officeDocument/2006/relationships/notesSlide" Target="/ppt/notesSlides/notesSlide7.xml" Id="R4d465f20d23a4b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a1b1bb65941d4" /><Relationship Type="http://schemas.openxmlformats.org/officeDocument/2006/relationships/notesSlide" Target="/ppt/notesSlides/notesSlide8.xml" Id="Recea5d93ccbf41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d328be9b648e4" /><Relationship Type="http://schemas.openxmlformats.org/officeDocument/2006/relationships/image" Target="/ppt/media/image2.png" Id="R38a71f5ada2247a4" /><Relationship Type="http://schemas.openxmlformats.org/officeDocument/2006/relationships/notesSlide" Target="/ppt/notesSlides/notesSlide9.xml" Id="Ra1b63e228f10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65f03351c4d19" /><Relationship Type="http://schemas.openxmlformats.org/officeDocument/2006/relationships/notesSlide" Target="/ppt/notesSlides/notesSlide10.xml" Id="R79bd4073e1114a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96b65eb174973" /><Relationship Type="http://schemas.openxmlformats.org/officeDocument/2006/relationships/notesSlide" Target="/ppt/notesSlides/notesSlide11.xml" Id="R4f093f16674d41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2962b2ee4f0c" /><Relationship Type="http://schemas.openxmlformats.org/officeDocument/2006/relationships/notesSlide" Target="/ppt/notesSlides/notesSlide12.xml" Id="R7ff56dc0cf1f48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5052170694029" /><Relationship Type="http://schemas.openxmlformats.org/officeDocument/2006/relationships/notesSlide" Target="/ppt/notesSlides/notesSlide13.xml" Id="R25b9052b3e6949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86a232cb74e49" /><Relationship Type="http://schemas.openxmlformats.org/officeDocument/2006/relationships/notesSlide" Target="/ppt/notesSlides/notesSlide14.xml" Id="Rb1edcc40235e47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6ccfe4e1a409c" /><Relationship Type="http://schemas.openxmlformats.org/officeDocument/2006/relationships/image" Target="/ppt/media/image3.png" Id="R5463d10c054c4f35" /><Relationship Type="http://schemas.openxmlformats.org/officeDocument/2006/relationships/notesSlide" Target="/ppt/notesSlides/notesSlide15.xml" Id="Rbc3769966a1840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e6a08abf942e6" /><Relationship Type="http://schemas.openxmlformats.org/officeDocument/2006/relationships/notesSlide" Target="/ppt/notesSlides/notesSlide16.xml" Id="R38e5fb6e9c4240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57ed4723f4580" /><Relationship Type="http://schemas.openxmlformats.org/officeDocument/2006/relationships/notesSlide" Target="/ppt/notesSlides/notesSlide17.xml" Id="R9d0b7dd3a8a24b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66b9a9b4047d2" /><Relationship Type="http://schemas.openxmlformats.org/officeDocument/2006/relationships/notesSlide" Target="/ppt/notesSlides/notesSlide18.xml" Id="R24f008bf700e4d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f17de11e34f26" /><Relationship Type="http://schemas.openxmlformats.org/officeDocument/2006/relationships/notesSlide" Target="/ppt/notesSlides/notesSlide19.xml" Id="Rf84264510a744a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d140c0df4766" /><Relationship Type="http://schemas.openxmlformats.org/officeDocument/2006/relationships/notesSlide" Target="/ppt/notesSlides/notesSlide20.xml" Id="R4a832421c53c40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93fc2e55f4a47" /><Relationship Type="http://schemas.openxmlformats.org/officeDocument/2006/relationships/notesSlide" Target="/ppt/notesSlides/notesSlide21.xml" Id="Reae1639f62854b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c351aced6477d" /><Relationship Type="http://schemas.openxmlformats.org/officeDocument/2006/relationships/notesSlide" Target="/ppt/notesSlides/notesSlide22.xml" Id="R9359a6bb04e746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f4241be54d5b" /><Relationship Type="http://schemas.openxmlformats.org/officeDocument/2006/relationships/notesSlide" Target="/ppt/notesSlides/notesSlide23.xml" Id="R5d055c43b6cc4b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3e607e7174edb" /><Relationship Type="http://schemas.openxmlformats.org/officeDocument/2006/relationships/notesSlide" Target="/ppt/notesSlides/notesSlide24.xml" Id="Rd77f2f145df648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3993449a454f" /><Relationship Type="http://schemas.openxmlformats.org/officeDocument/2006/relationships/notesSlide" Target="/ppt/notesSlides/notesSlide25.xml" Id="R5595d379854e4d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1260d9d544f8a" /><Relationship Type="http://schemas.openxmlformats.org/officeDocument/2006/relationships/notesSlide" Target="/ppt/notesSlides/notesSlide26.xml" Id="Ra319733b967e41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8853519c24bd5" /><Relationship Type="http://schemas.openxmlformats.org/officeDocument/2006/relationships/notesSlide" Target="/ppt/notesSlides/notesSlide27.xml" Id="R3f971b7c4b04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45CA-F170-4932-86C5-6108488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rPr>
              <a:t>第 3 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9CB1-7D2B-4AB5-B9F5-EFAF2397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函數與資料整理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06F6C-F1A6-4C82-BF04-1280603D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完成成績摘要函數，保存為文字報告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4391-2A00-42F3-B26D-C7986234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180 分鐘  含 10 分鐘休息</a:t>
            </a:r>
          </a:p>
        </p:txBody>
      </p:sp>
    </p:spTree>
    <p:extLst>
      <p:ext uri="{BB962C8B-B14F-4D97-AF65-F5344CB8AC3E}">
        <p14:creationId xmlns:p14="http://schemas.microsoft.com/office/powerpoint/2010/main" val="347133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41B80-536D-4C47-AE8A-D710056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W3-01   000–010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FFFFE-DB2B-4386-9066-4FD78AF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重複規則與函數動機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01F93-7D25-44C2-8574-D6F1BDD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4A4D-9E0C-4A86-BCE1-750040A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同一規則可被多次呼叫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2B6DF-7816-4DFD-8B28-2114CA0D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4478D-163B-442D-B7BF-167B966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輸入以參數傳入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CAA3B-1B4B-4039-80FA-C4B59151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0F247-D542-460B-825E-371D101B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輸出以回傳值交還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FB512-DB2B-4508-A075-7D4E12F7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523412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86698-1394-4328-8761-42978B79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98AD0-CAF4-4ABA-86C7-80AAA6B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重複規則與函數動機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E90D2-3E38-4153-AEB6-C9D5CE46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說明is_pass的輸入與輸出。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B5B4C-130B-48D2-BE82-AAA1D91E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AFDA7-50D0-488F-8857-98C92FE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輸入分數，輸出True或False。</a:t>
            </a:r>
          </a:p>
        </p:txBody>
      </p:sp>
    </p:spTree>
    <p:extLst>
      <p:ext uri="{BB962C8B-B14F-4D97-AF65-F5344CB8AC3E}">
        <p14:creationId xmlns:p14="http://schemas.microsoft.com/office/powerpoint/2010/main" val="1702672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8AA13-A6D4-467E-8B15-431663F5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W3-02   010–025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258F-7C04-4E4B-AEBC-D92ED10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定義與呼叫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EFE80-E85C-4447-A3CA-C08662E7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CA69D-A261-4C05-B187-67780282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def 定義函數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3B75F-0DAB-4855-841D-B9EFB6B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B516-46E0-4FAD-B242-D819E2D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參數是函數內使用的名稱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C6E8B-BD7D-47BD-B3ED-6675A9B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E58E7-82F9-4373-BD6E-7F45C01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定義後要呼叫才執行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CAFF3-43CE-49BE-A642-CCEB822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801534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DECB7-4F8C-46BA-8CF8-D3A20B4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W3-02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5DCB9-AB71-47E9-A7C2-AD29AB9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定義與呼叫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1BAF-3E44-4037-BB6D-F461CA2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is_pass(score):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return score &gt;= 60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print(is_pass(59))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print(is_pass(60))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print(is_pass(61))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DCC9B-CCE9-4FF4-8408-F995DB0A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呼叫is_pass檢查59、60、61。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EF596-0CF9-4A23-BB90-B9E6D8CB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W3-02</a:t>
            </a:r>
          </a:p>
        </p:txBody>
      </p:sp>
    </p:spTree>
    <p:extLst>
      <p:ext uri="{BB962C8B-B14F-4D97-AF65-F5344CB8AC3E}">
        <p14:creationId xmlns:p14="http://schemas.microsoft.com/office/powerpoint/2010/main" val="1105481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EE74-D856-43F5-A361-BCAE94B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W3-02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86312e5e54201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BD18B-1802-4C14-993B-86A6B85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CH06PPT.ppt 第 7 頁</a:t>
            </a:r>
          </a:p>
        </p:txBody>
      </p:sp>
    </p:spTree>
    <p:extLst>
      <p:ext uri="{BB962C8B-B14F-4D97-AF65-F5344CB8AC3E}">
        <p14:creationId xmlns:p14="http://schemas.microsoft.com/office/powerpoint/2010/main" val="1484328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B5C1F-4897-4992-8200-4E8DFAE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W3-03   025–045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F3B07-247E-4CB3-8B60-42358AA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return 與 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2A1B7-76F3-4A43-9AEF-3B4690A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2153A-F4D6-4E5E-B723-9C562752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print 顯示資訊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00DDD-2D20-4BAC-A0B9-8E71FCFB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67B90-2CA4-4159-A49D-50D7944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return 讓別的程式取得結果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34901-B29A-4BAE-8EBD-81CA958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91968-1E69-4975-8BB3-91222186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函數內變數通常只在函數內使用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AE9AE-CE19-497F-92E5-86B2147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979681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E5156-9848-4627-9482-526A24E9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W3-03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A350-A934-4622-9C45-A294BC9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return 與 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83BD5-0376-4EE5-9AF6-7CFF7D0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add_bonus(score, bonus):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adjusted = score + bonus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return adjusted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result = add_bonus(50, 10)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print(result, result + 5)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7BFB6-1584-48DE-95BF-21A169F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建立add_bonus(score, bonus)，回傳加分後分數；用50、10測試。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71E92-A2E3-47D8-8DF3-EEAD8AE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W3-03</a:t>
            </a:r>
          </a:p>
        </p:txBody>
      </p:sp>
    </p:spTree>
    <p:extLst>
      <p:ext uri="{BB962C8B-B14F-4D97-AF65-F5344CB8AC3E}">
        <p14:creationId xmlns:p14="http://schemas.microsoft.com/office/powerpoint/2010/main" val="1760626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AB52B-859F-4747-9881-D1813AC3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W3-03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71f5ada2247a4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6D873-43C5-43DC-A7A2-D713F449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CH06PPT.ppt 第 32 頁</a:t>
            </a:r>
          </a:p>
        </p:txBody>
      </p:sp>
    </p:spTree>
    <p:extLst>
      <p:ext uri="{BB962C8B-B14F-4D97-AF65-F5344CB8AC3E}">
        <p14:creationId xmlns:p14="http://schemas.microsoft.com/office/powerpoint/2010/main" val="92639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7A03E-83DF-4398-A08C-8E1D6CA0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W3-04   045–060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9A021-DD9E-4534-B17A-B665941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字串清理與索引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722AE-64DD-4739-915F-B1A735D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9B031-F73C-44A0-83D6-ADB9EF3B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strip 去掉兩端空白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3C59-EBE4-4D10-9426-BFCB21C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24EF2-B4B4-4DBA-BD09-757965A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串列索引從0開始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D4B6E-1DA1-4754-A91D-15A5C62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A95C9-83AA-4ABE-8BE7-DF029F1C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len 取得項目數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62EF9-4048-465F-864D-BBDB5890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436683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35D6E-0709-4F41-8A3F-83CF6AD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W3-04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E4636-0D35-46DB-93EA-EC800D5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字串清理與索引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2661-B9FB-4081-A0D4-68DE292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name = " 小安 ".strip()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scores = [59, 60, 81]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print(name, scores[0], len(scores))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A3D60-951C-4EBA-8DF3-5BE2331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清理" 小安 "，取scores第一筆並說明len與最後索引的差別。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82D1-0503-4037-9B35-B33D5355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W3-04</a:t>
            </a:r>
          </a:p>
        </p:txBody>
      </p:sp>
    </p:spTree>
    <p:extLst>
      <p:ext uri="{BB962C8B-B14F-4D97-AF65-F5344CB8AC3E}">
        <p14:creationId xmlns:p14="http://schemas.microsoft.com/office/powerpoint/2010/main" val="3299366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5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AE8CD-09A1-431B-B0BF-C0AB91A0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W3-05   060–070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75845-040B-4CC0-8CB2-72AC522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休息與儲存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F6EB8-3726-44EA-B632-9366DB54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B5245-6571-4608-B381-16A74E65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先儲存，再離開座位</a:t>
            </a:r>
          </a:p>
        </p:txBody>
      </p:sp>
    </p:spTree>
    <p:extLst>
      <p:ext uri="{BB962C8B-B14F-4D97-AF65-F5344CB8AC3E}">
        <p14:creationId xmlns:p14="http://schemas.microsoft.com/office/powerpoint/2010/main" val="10698611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3C24-E83C-46BE-9475-182101E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W3-06   070–090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EBF74-0E43-4557-AD5B-473153B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字典與紀錄串列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BFA83-7F01-49D4-9E7E-DFF56F3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9158B-AF6E-4DB8-8A66-D3381F1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字典使用鍵對應值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93851-B155-45DC-91D3-2134B7A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D360B-30DC-4A9A-A6D5-52E6C21E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一筆紀錄包含姓名與分數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7A4F0-47E1-46A1-9120-5FE0394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4512-368C-4A85-9165-B88EF3F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串列保存多筆字典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F3B92-F572-4744-921F-8C3061A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7687544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489D7-7A66-450B-BB61-5DF1FEB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W3-06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20657-DE54-49F8-A1AD-FBD1E1B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字典與紀錄串列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3C53-0793-414D-8AE5-16657A6E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students = [{"name": "小安", "score": 59},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    {"name": "小美", "score": 60},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    {"name": "小宇", "score": 81}]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for student in students: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print(student["name"], student["score"])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FE2E6-5A9D-4414-BF2E-E30374E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新增一位學生小青，分數75，列印所有姓名與分數。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4AF65-09EA-464E-B18C-2AE0195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W3-06</a:t>
            </a:r>
          </a:p>
        </p:txBody>
      </p:sp>
    </p:spTree>
    <p:extLst>
      <p:ext uri="{BB962C8B-B14F-4D97-AF65-F5344CB8AC3E}">
        <p14:creationId xmlns:p14="http://schemas.microsoft.com/office/powerpoint/2010/main" val="1459743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889A7-B5CB-4FA2-A2E8-C595CAC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57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W3-06   原教材圖文對照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3d10c054c4f35"/>
          <a:stretch xmlns:a="http://schemas.openxmlformats.org/drawingml/2006/main"/>
        </p:blipFill>
        <p:spPr>
          <a:xfrm xmlns:a="http://schemas.openxmlformats.org/drawingml/2006/main">
            <a:off x="2163763" y="590550"/>
            <a:ext cx="787400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45AD1-250C-4E0E-B8E6-722ECDE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CH07PPT.ppt 第 41 頁</a:t>
            </a:r>
          </a:p>
        </p:txBody>
      </p:sp>
    </p:spTree>
    <p:extLst>
      <p:ext uri="{BB962C8B-B14F-4D97-AF65-F5344CB8AC3E}">
        <p14:creationId xmlns:p14="http://schemas.microsoft.com/office/powerpoint/2010/main" val="12666673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D0A6-A83C-48FF-B30C-497FA75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W3-07   090–110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EA80C-5CF0-475B-9CD9-9178570E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摘要函數與空資料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BD1E4-C4E0-4AB0-BD5A-AFE02D68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871FE-C5CA-46C1-929C-7D78B114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sum 與 len 求平均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B504-C701-4FCE-AFD2-7757599B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4BCE4-09E5-4684-9445-0318B32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先處理空串列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4D634-9B81-4E03-9BD4-550755D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38271-FE6D-4B76-86B6-F2F2E97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用字典回傳多個結果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64853-2B63-47DB-A3DE-AFDF8DF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7702888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389EF-4EAA-419C-A833-CF72E849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W3-07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86A37-6945-4916-8FCC-75348C2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摘要函數與空資料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1F6B-86FC-497D-A75F-B39005F2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summarize(scores):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if len(scores) == 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return {"count": 0, "average": None, "passed": 0}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total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passed = 0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for score in scores: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total += score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if score &gt;= 60: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569C2-2ADB-4080-B73F-4E04609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測試[59,60,81]與空串列；說明為何空資料平均不是0。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7BB69-22AF-481E-A282-41F1F05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W3-07</a:t>
            </a:r>
          </a:p>
        </p:txBody>
      </p:sp>
    </p:spTree>
    <p:extLst>
      <p:ext uri="{BB962C8B-B14F-4D97-AF65-F5344CB8AC3E}">
        <p14:creationId xmlns:p14="http://schemas.microsoft.com/office/powerpoint/2010/main" val="714412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80CE9-E99D-4F38-80C3-AEB6598A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W3-08   110–125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FE7E2-F5F5-471A-A21D-65FA3AFB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模組與文字檔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90D90-F596-4785-A8D3-4769ACA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8BD9A-FBE0-4623-B4FD-D71D17F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import 匯入功能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C6A41-8382-4888-AC88-3B27E75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A381-77D0-4143-B989-F92AE0F2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with 在區塊結束時關閉檔案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8AF03-A436-49AB-B3E1-E2E7D2F5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0C7F4-C3FA-4210-AA34-5A3348D4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UTF-8 保存中文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41A9A-4E25-4EE0-BFB2-C5C45D8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7131795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7672-C319-49DC-A121-6F0172BA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W3-08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06D4-7581-42AA-AC3A-F1956962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模組與文字檔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69B3E-7D68-4844-98F5-AA79317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from pathlib import Path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 = Path("outputs")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output_dir.mkdir(exist_ok=True)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report_path = output_dir / "report.txt"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with report_path.open("w", encoding="utf-8") as file: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file.write("成績摘要\n平均：70.00\n")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with report_path.open("r", encoding="utf-8") as file: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report_text = file.read()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66A4B-3176-4B9C-9BCB-570E14D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寫出含姓名與平均分數的report.txt，讀回確認。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599C4-86F4-4372-B9F8-C41F83F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W3-08</a:t>
            </a:r>
          </a:p>
        </p:txBody>
      </p:sp>
    </p:spTree>
    <p:extLst>
      <p:ext uri="{BB962C8B-B14F-4D97-AF65-F5344CB8AC3E}">
        <p14:creationId xmlns:p14="http://schemas.microsoft.com/office/powerpoint/2010/main" val="20316750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E433E-84C8-4069-9F4F-963FEA2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W3-09   125–140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08EA1-764E-4E3E-BE98-9746BA7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例外與輸入檢查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2CE74-29C8-40D8-B680-141CD1EF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F31E4-F59B-441F-A779-9A78D69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try 嘗試可能失敗的轉型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A7BDD-5926-420E-A3C1-1F6205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41408-5633-4F5D-ADD1-5D2BE512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except ValueError 處理格式錯誤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D8ADC-0139-4DFE-A116-6E7B497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E34BC-65EF-4CB1-A4B6-5E31245B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範圍不合法也需要拒絕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74350-3225-4BA3-A2E0-AB7CE8E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6278321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ED53-6610-4EDD-80E4-DD59A2BA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W3-09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CF74-4992-4B9B-9CE1-D3E395C7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例外與輸入檢查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900A-F0F4-4573-8C99-959B855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def parse_score(raw):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try: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value = int(raw)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except ValueError: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return None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if value &lt; 0 or value &gt; 100: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    return None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return value</a:t>
            </a:r>
          </a:p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# 後續程式請見同單元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DAEE-0E4B-4344-9418-8EC8852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測試"60"、"abc"、"120"、"-1"。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1CDCD-D9AC-45E7-BEF9-28757D42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W3-09</a:t>
            </a:r>
          </a:p>
        </p:txBody>
      </p:sp>
    </p:spTree>
    <p:extLst>
      <p:ext uri="{BB962C8B-B14F-4D97-AF65-F5344CB8AC3E}">
        <p14:creationId xmlns:p14="http://schemas.microsoft.com/office/powerpoint/2010/main" val="19474964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3423E-FAEB-4ABE-9CBA-26868E4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W3-10   140–160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B2FB3-CF8F-4086-BDF5-ED88EED8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成績報告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BD8F6-BD94-47D9-A50E-451781C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40E6B-129B-4C08-A651-34C7FE97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讀取紀錄中的分數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4B094-66A6-4F07-9499-55474702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B976A-913C-46D9-88B9-97A829FC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呼叫摘要函數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0464A-E5B4-4576-9352-28D6AAA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AADBF-3DA0-4BA7-A88B-01D300E3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保存人數、平均與及格數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A70A7-98ED-43A2-8702-844F89B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4997586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EE5B5-FDD6-4B7A-BE24-07536F4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W3-10   示範與練習  程式節錄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10907-8C7B-4CB1-A494-5B3FB394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成績報告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E44FE-B798-42F5-BC7D-73EBBB1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project_students = [{"name": "小安", "score": 59}, {"name": "小美", "score": 60}, {"name": "小宇", "score": 81}]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ECBF2-CB07-4271-A2ED-23DA408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資料小安59、小美60、小宇81；另測空資料。保存final_report.txt。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E977-C026-4AD7-BC4C-132D806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W3-10</a:t>
            </a:r>
          </a:p>
        </p:txBody>
      </p:sp>
    </p:spTree>
    <p:extLst>
      <p:ext uri="{BB962C8B-B14F-4D97-AF65-F5344CB8AC3E}">
        <p14:creationId xmlns:p14="http://schemas.microsoft.com/office/powerpoint/2010/main" val="439024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604B7-DEAF-4188-A35A-81E2938C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W3-11   160–170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F48AE-37CC-4870-86C7-34A4C432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函數測試與成果檢核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B38D4-0459-4876-9B1A-56B72D6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A9E5-1A9C-4EE3-B55D-D977639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函數結果可用 assert 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865C6-F96D-40CB-8774-D7F1160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49548-6BA0-4698-9617-98C5C17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錯誤輸入與空資料都要測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8D510-3DDB-4148-A9D3-4395C59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12C28-7D38-4A58-9346-3597B127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讀回檔案確認儲存成功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EDC1D-D137-4685-B84E-9F68950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6077233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81D45-9EF8-4E94-8926-28011E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W3-11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F6095-21E6-4DF2-B037-3EBE621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函數測試與成果檢核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AA307-4F6C-47F1-A879-7CD28A7F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執行四項測試並檢查報告檔。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22D1D-10BA-44CA-8AF1-180D518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80097-E3D8-4845-9EA7-3E86C12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is_pass(60)為True、is_pass(59)為False；summarize([])平均None；parse_score("abc")為None。</a:t>
            </a:r>
          </a:p>
        </p:txBody>
      </p:sp>
    </p:spTree>
    <p:extLst>
      <p:ext uri="{BB962C8B-B14F-4D97-AF65-F5344CB8AC3E}">
        <p14:creationId xmlns:p14="http://schemas.microsoft.com/office/powerpoint/2010/main" val="10525980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2389F-DF89-41BB-9321-0CA91124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W3-12   170–180 分鐘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EB9E2-BE85-47E2-84EE-E80DD07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3ECEE-B40C-4AC4-8430-34832B3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E076C-0C15-45B4-8C89-5688C87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參數是輸入，return 是輸出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23970-A931-455D-B1DC-DC408434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C26D6-FAEA-47FF-B059-A98F4A0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28975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字典用鍵取得值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6FE7B-A0EE-4CD5-B427-47A8D30A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E19D6-544E-4A53-BA2E-319D42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962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下週把影像當成資料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99F51-468D-4E00-98E8-573FF59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本週作品：完成成績摘要函數，保存為文字報告</a:t>
            </a:r>
          </a:p>
        </p:txBody>
      </p:sp>
    </p:spTree>
    <p:extLst>
      <p:ext uri="{BB962C8B-B14F-4D97-AF65-F5344CB8AC3E}">
        <p14:creationId xmlns:p14="http://schemas.microsoft.com/office/powerpoint/2010/main" val="17364394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A954-FF5D-4F42-8DF4-A4B57680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W3-12   示範與練習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07C5A-D586-45DB-AAA6-971A9F64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FBBA-E8F5-4FE8-A356-A08E86BB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課後用[50,70,90]增加最高與最低分；空資料回傳None。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51FC8-0F5B-4CF6-AC7E-6DE4A1B1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DD210-D3D7-42E8-BBD2-BBF68A7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最高90、最低50；空資料的兩者為None。</a:t>
            </a:r>
          </a:p>
        </p:txBody>
      </p:sp>
    </p:spTree>
    <p:extLst>
      <p:ext uri="{BB962C8B-B14F-4D97-AF65-F5344CB8AC3E}">
        <p14:creationId xmlns:p14="http://schemas.microsoft.com/office/powerpoint/2010/main" val="1640276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2026-10-07T23:28:40.9810000Z</dcterms:created>
  <dcterms:modified xsi:type="dcterms:W3CDTF">2026-10-07T23:28:40.9810000Z</dcterms:modified>
</coreProperties>
</file>