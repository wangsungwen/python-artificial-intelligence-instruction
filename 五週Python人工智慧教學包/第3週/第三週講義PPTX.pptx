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152"/>
  </p:notesMasterIdLst>
  <p:sldIdLst>
    <p:sldId id="607" r:id="rId2"/>
    <p:sldId id="666" r:id="rId3"/>
    <p:sldId id="617" r:id="rId4"/>
    <p:sldId id="667" r:id="rId5"/>
    <p:sldId id="668" r:id="rId6"/>
    <p:sldId id="624" r:id="rId7"/>
    <p:sldId id="672" r:id="rId8"/>
    <p:sldId id="671" r:id="rId9"/>
    <p:sldId id="665" r:id="rId10"/>
    <p:sldId id="693" r:id="rId11"/>
    <p:sldId id="625" r:id="rId12"/>
    <p:sldId id="652" r:id="rId13"/>
    <p:sldId id="674" r:id="rId14"/>
    <p:sldId id="673" r:id="rId15"/>
    <p:sldId id="678" r:id="rId16"/>
    <p:sldId id="675" r:id="rId17"/>
    <p:sldId id="683" r:id="rId18"/>
    <p:sldId id="679" r:id="rId19"/>
    <p:sldId id="604" r:id="rId20"/>
    <p:sldId id="605" r:id="rId21"/>
    <p:sldId id="606" r:id="rId22"/>
    <p:sldId id="676" r:id="rId23"/>
    <p:sldId id="680" r:id="rId24"/>
    <p:sldId id="681" r:id="rId25"/>
    <p:sldId id="684" r:id="rId26"/>
    <p:sldId id="685" r:id="rId27"/>
    <p:sldId id="677" r:id="rId28"/>
    <p:sldId id="687" r:id="rId29"/>
    <p:sldId id="688" r:id="rId30"/>
    <p:sldId id="689" r:id="rId31"/>
    <p:sldId id="691" r:id="rId32"/>
    <p:sldId id="690" r:id="rId33"/>
    <p:sldId id="694" r:id="rId34"/>
    <p:sldId id="697" r:id="rId35"/>
    <p:sldId id="698" r:id="rId36"/>
    <p:sldId id="618" r:id="rId37"/>
    <p:sldId id="696" r:id="rId38"/>
    <p:sldId id="695" r:id="rId39"/>
    <p:sldId id="699" r:id="rId40"/>
    <p:sldId id="700" r:id="rId41"/>
    <p:sldId id="701" r:id="rId42"/>
    <p:sldId id="658" r:id="rId43"/>
    <p:sldId id="659" r:id="rId44"/>
    <p:sldId id="702" r:id="rId45"/>
    <p:sldId id="654" r:id="rId46"/>
    <p:sldId id="703" r:id="rId47"/>
    <p:sldId id="704" r:id="rId48"/>
    <p:sldId id="705" r:id="rId49"/>
    <p:sldId id="706" r:id="rId50"/>
    <p:sldId id="707" r:id="rId51"/>
    <p:sldId id="708" r:id="rId52"/>
    <p:sldId id="599" r:id="rId53"/>
    <p:sldId id="601" r:id="rId54"/>
    <p:sldId id="655" r:id="rId55"/>
    <p:sldId id="648" r:id="rId56"/>
    <p:sldId id="709" r:id="rId57"/>
    <p:sldId id="710" r:id="rId58"/>
    <p:sldId id="711" r:id="rId59"/>
    <p:sldId id="712" r:id="rId60"/>
    <p:sldId id="631" r:id="rId61"/>
    <p:sldId id="713" r:id="rId62"/>
    <p:sldId id="640" r:id="rId63"/>
    <p:sldId id="651" r:id="rId64"/>
    <p:sldId id="642" r:id="rId65"/>
    <p:sldId id="714" r:id="rId66"/>
    <p:sldId id="653" r:id="rId67"/>
    <p:sldId id="656" r:id="rId68"/>
    <p:sldId id="638" r:id="rId69"/>
    <p:sldId id="657" r:id="rId70"/>
    <p:sldId id="715" r:id="rId71"/>
    <p:sldId id="603" r:id="rId72"/>
    <p:sldId id="716" r:id="rId73"/>
    <p:sldId id="663" r:id="rId74"/>
    <p:sldId id="717" r:id="rId75"/>
    <p:sldId id="718" r:id="rId76"/>
    <p:sldId id="719" r:id="rId77"/>
    <p:sldId id="720" r:id="rId78"/>
    <p:sldId id="721" r:id="rId79"/>
    <p:sldId id="722" r:id="rId80"/>
    <p:sldId id="670" r:id="rId81"/>
    <p:sldId id="723" r:id="rId82"/>
    <p:sldId id="692" r:id="rId83"/>
    <p:sldId id="724" r:id="rId84"/>
    <p:sldId id="725" r:id="rId85"/>
    <p:sldId id="726" r:id="rId86"/>
    <p:sldId id="727" r:id="rId87"/>
    <p:sldId id="728" r:id="rId88"/>
    <p:sldId id="729" r:id="rId89"/>
    <p:sldId id="634" r:id="rId90"/>
    <p:sldId id="730" r:id="rId91"/>
    <p:sldId id="731" r:id="rId92"/>
    <p:sldId id="732" r:id="rId93"/>
    <p:sldId id="733" r:id="rId94"/>
    <p:sldId id="734" r:id="rId95"/>
    <p:sldId id="735" r:id="rId96"/>
    <p:sldId id="736" r:id="rId97"/>
    <p:sldId id="737" r:id="rId98"/>
    <p:sldId id="738" r:id="rId99"/>
    <p:sldId id="739" r:id="rId100"/>
    <p:sldId id="740" r:id="rId101"/>
    <p:sldId id="741" r:id="rId102"/>
    <p:sldId id="742" r:id="rId103"/>
    <p:sldId id="743" r:id="rId104"/>
    <p:sldId id="744" r:id="rId105"/>
    <p:sldId id="745" r:id="rId106"/>
    <p:sldId id="746" r:id="rId107"/>
    <p:sldId id="747" r:id="rId108"/>
    <p:sldId id="748" r:id="rId109"/>
    <p:sldId id="749" r:id="rId110"/>
    <p:sldId id="750" r:id="rId111"/>
    <p:sldId id="751" r:id="rId112"/>
    <p:sldId id="752" r:id="rId113"/>
    <p:sldId id="669" r:id="rId114"/>
    <p:sldId id="753" r:id="rId115"/>
    <p:sldId id="754" r:id="rId116"/>
    <p:sldId id="755" r:id="rId117"/>
    <p:sldId id="598" r:id="rId118"/>
    <p:sldId id="756" r:id="rId119"/>
    <p:sldId id="757" r:id="rId120"/>
    <p:sldId id="758" r:id="rId121"/>
    <p:sldId id="682" r:id="rId122"/>
    <p:sldId id="759" r:id="rId123"/>
    <p:sldId id="760" r:id="rId124"/>
    <p:sldId id="761" r:id="rId125"/>
    <p:sldId id="762" r:id="rId126"/>
    <p:sldId id="763" r:id="rId127"/>
    <p:sldId id="764" r:id="rId128"/>
    <p:sldId id="686" r:id="rId129"/>
    <p:sldId id="609" r:id="rId130"/>
    <p:sldId id="765" r:id="rId131"/>
    <p:sldId id="766" r:id="rId132"/>
    <p:sldId id="767" r:id="rId133"/>
    <p:sldId id="768" r:id="rId134"/>
    <p:sldId id="769" r:id="rId135"/>
    <p:sldId id="770" r:id="rId136"/>
    <p:sldId id="771" r:id="rId137"/>
    <p:sldId id="772" r:id="rId138"/>
    <p:sldId id="773" r:id="rId139"/>
    <p:sldId id="650" r:id="rId140"/>
    <p:sldId id="774" r:id="rId141"/>
    <p:sldId id="775" r:id="rId142"/>
    <p:sldId id="776" r:id="rId143"/>
    <p:sldId id="777" r:id="rId144"/>
    <p:sldId id="778" r:id="rId145"/>
    <p:sldId id="779" r:id="rId146"/>
    <p:sldId id="780" r:id="rId147"/>
    <p:sldId id="781" r:id="rId148"/>
    <p:sldId id="782" r:id="rId149"/>
    <p:sldId id="783" r:id="rId150"/>
    <p:sldId id="784" r:id="rId1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EEF9"/>
    <a:srgbClr val="139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86" autoAdjust="0"/>
    <p:restoredTop sz="91043" autoAdjust="0"/>
  </p:normalViewPr>
  <p:slideViewPr>
    <p:cSldViewPr snapToGrid="0">
      <p:cViewPr varScale="1">
        <p:scale>
          <a:sx n="48" d="100"/>
          <a:sy n="48" d="100"/>
        </p:scale>
        <p:origin x="86" y="63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B0E32-C4C2-4FEF-BBCE-B6CA6E35E463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35712-BB74-4C9D-B9E4-D288F03A6A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32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825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11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27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10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135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35712-BB74-4C9D-B9E4-D288F03A6A8C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363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9D261D7-9079-4E69-A830-E96719A6F4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34414" y="542693"/>
            <a:ext cx="6858000" cy="57763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99587" y="1579857"/>
            <a:ext cx="4752276" cy="283260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6000" b="1" u="none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9586" y="4825716"/>
            <a:ext cx="4752276" cy="993961"/>
          </a:xfrm>
        </p:spPr>
        <p:txBody>
          <a:bodyPr>
            <a:normAutofit/>
          </a:bodyPr>
          <a:lstStyle>
            <a:lvl1pPr marL="0" indent="0" algn="ctr">
              <a:buNone/>
              <a:defRPr sz="3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7477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66750"/>
            <a:ext cx="10515600" cy="933450"/>
          </a:xfrm>
        </p:spPr>
        <p:txBody>
          <a:bodyPr/>
          <a:lstStyle>
            <a:lvl1pPr>
              <a:defRPr b="1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57375"/>
            <a:ext cx="10515600" cy="4400550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lnSpc>
                <a:spcPct val="110000"/>
              </a:lnSpc>
              <a:defRPr sz="2600">
                <a:solidFill>
                  <a:srgbClr val="0070C0"/>
                </a:solidFill>
                <a:latin typeface="+mn-lt"/>
                <a:ea typeface="微軟正黑體" panose="020B0604030504040204" pitchFamily="34" charset="-120"/>
              </a:defRPr>
            </a:lvl2pPr>
            <a:lvl3pPr>
              <a:lnSpc>
                <a:spcPct val="11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軟正黑體" panose="020B0604030504040204" pitchFamily="34" charset="-120"/>
              </a:defRPr>
            </a:lvl3pPr>
            <a:lvl4pPr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lnSpc>
                <a:spcPct val="100000"/>
              </a:lnSpc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724400" y="6480174"/>
            <a:ext cx="27432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139AAF"/>
          </a:solidFill>
          <a:ln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endCxn id="14" idx="0"/>
          </p:cNvCxnSpPr>
          <p:nvPr userDrawn="1"/>
        </p:nvCxnSpPr>
        <p:spPr>
          <a:xfrm>
            <a:off x="542925" y="190500"/>
            <a:ext cx="0" cy="790575"/>
          </a:xfrm>
          <a:prstGeom prst="lin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 userDrawn="1"/>
        </p:nvSpPr>
        <p:spPr>
          <a:xfrm>
            <a:off x="438150" y="981075"/>
            <a:ext cx="209550" cy="2095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149" y="6480175"/>
            <a:ext cx="2833195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220450" y="6470650"/>
            <a:ext cx="647700" cy="365125"/>
          </a:xfrm>
        </p:spPr>
        <p:txBody>
          <a:bodyPr/>
          <a:lstStyle>
            <a:lvl1pPr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473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139AAF"/>
          </a:solidFill>
          <a:ln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/>
          <p:cNvCxnSpPr/>
          <p:nvPr userDrawn="1"/>
        </p:nvCxnSpPr>
        <p:spPr>
          <a:xfrm>
            <a:off x="542925" y="190500"/>
            <a:ext cx="0" cy="790575"/>
          </a:xfrm>
          <a:prstGeom prst="lin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/>
          <p:cNvSpPr/>
          <p:nvPr userDrawn="1"/>
        </p:nvSpPr>
        <p:spPr>
          <a:xfrm>
            <a:off x="438150" y="981075"/>
            <a:ext cx="209550" cy="2095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124950" y="6470650"/>
            <a:ext cx="2743200" cy="365125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9050" y="6480175"/>
            <a:ext cx="283845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97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60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2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51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915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11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手繪多邊形 6"/>
          <p:cNvSpPr/>
          <p:nvPr userDrawn="1"/>
        </p:nvSpPr>
        <p:spPr>
          <a:xfrm>
            <a:off x="7808802" y="1236656"/>
            <a:ext cx="4383198" cy="1199072"/>
          </a:xfrm>
          <a:custGeom>
            <a:avLst/>
            <a:gdLst>
              <a:gd name="connsiteX0" fmla="*/ 0 w 4279785"/>
              <a:gd name="connsiteY0" fmla="*/ 599535 h 1199072"/>
              <a:gd name="connsiteX1" fmla="*/ 0 w 4279785"/>
              <a:gd name="connsiteY1" fmla="*/ 599536 h 1199072"/>
              <a:gd name="connsiteX2" fmla="*/ 0 w 4279785"/>
              <a:gd name="connsiteY2" fmla="*/ 599536 h 1199072"/>
              <a:gd name="connsiteX3" fmla="*/ 599536 w 4279785"/>
              <a:gd name="connsiteY3" fmla="*/ 0 h 1199072"/>
              <a:gd name="connsiteX4" fmla="*/ 4234133 w 4279785"/>
              <a:gd name="connsiteY4" fmla="*/ 0 h 1199072"/>
              <a:gd name="connsiteX5" fmla="*/ 4279785 w 4279785"/>
              <a:gd name="connsiteY5" fmla="*/ 4602 h 1199072"/>
              <a:gd name="connsiteX6" fmla="*/ 4279785 w 4279785"/>
              <a:gd name="connsiteY6" fmla="*/ 1194470 h 1199072"/>
              <a:gd name="connsiteX7" fmla="*/ 4234132 w 4279785"/>
              <a:gd name="connsiteY7" fmla="*/ 1199072 h 1199072"/>
              <a:gd name="connsiteX8" fmla="*/ 599536 w 4279785"/>
              <a:gd name="connsiteY8" fmla="*/ 1199071 h 1199072"/>
              <a:gd name="connsiteX9" fmla="*/ 12181 w 4279785"/>
              <a:gd name="connsiteY9" fmla="*/ 720363 h 1199072"/>
              <a:gd name="connsiteX10" fmla="*/ 0 w 4279785"/>
              <a:gd name="connsiteY10" fmla="*/ 599536 h 1199072"/>
              <a:gd name="connsiteX11" fmla="*/ 12181 w 4279785"/>
              <a:gd name="connsiteY11" fmla="*/ 478709 h 1199072"/>
              <a:gd name="connsiteX12" fmla="*/ 599536 w 4279785"/>
              <a:gd name="connsiteY12" fmla="*/ 0 h 1199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9785" h="1199072">
                <a:moveTo>
                  <a:pt x="0" y="599535"/>
                </a:moveTo>
                <a:lnTo>
                  <a:pt x="0" y="599536"/>
                </a:lnTo>
                <a:lnTo>
                  <a:pt x="0" y="599536"/>
                </a:lnTo>
                <a:close/>
                <a:moveTo>
                  <a:pt x="599536" y="0"/>
                </a:moveTo>
                <a:lnTo>
                  <a:pt x="4234133" y="0"/>
                </a:lnTo>
                <a:lnTo>
                  <a:pt x="4279785" y="4602"/>
                </a:lnTo>
                <a:lnTo>
                  <a:pt x="4279785" y="1194470"/>
                </a:lnTo>
                <a:lnTo>
                  <a:pt x="4234132" y="1199072"/>
                </a:lnTo>
                <a:lnTo>
                  <a:pt x="599536" y="1199071"/>
                </a:lnTo>
                <a:cubicBezTo>
                  <a:pt x="309811" y="1199071"/>
                  <a:pt x="68085" y="993561"/>
                  <a:pt x="12181" y="720363"/>
                </a:cubicBezTo>
                <a:lnTo>
                  <a:pt x="0" y="599536"/>
                </a:lnTo>
                <a:lnTo>
                  <a:pt x="12181" y="478709"/>
                </a:lnTo>
                <a:cubicBezTo>
                  <a:pt x="68085" y="205510"/>
                  <a:pt x="309811" y="0"/>
                  <a:pt x="599536" y="0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TW" altLang="en-US" sz="6000" dirty="0"/>
              <a:t>   本章結束</a:t>
            </a:r>
          </a:p>
        </p:txBody>
      </p:sp>
    </p:spTree>
    <p:extLst>
      <p:ext uri="{BB962C8B-B14F-4D97-AF65-F5344CB8AC3E}">
        <p14:creationId xmlns:p14="http://schemas.microsoft.com/office/powerpoint/2010/main" val="2564090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16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61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83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8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9302-35AD-44E9-AC3C-8D1DAE3511F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tiff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tiff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4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Py_Week3</a:t>
            </a:r>
            <a:br>
              <a:rPr lang="en-US" altLang="zh-TW" dirty="0"/>
            </a:br>
            <a:r>
              <a:rPr lang="zh-TW" altLang="en-US" dirty="0">
                <a:solidFill>
                  <a:schemeClr val="accent2"/>
                </a:solidFill>
              </a:rPr>
              <a:t>迴圈</a:t>
            </a:r>
            <a:br>
              <a:rPr lang="en-US" altLang="zh-TW" dirty="0">
                <a:solidFill>
                  <a:schemeClr val="accent2"/>
                </a:solidFill>
              </a:rPr>
            </a:br>
            <a:r>
              <a:rPr lang="zh-TW" altLang="en-US" dirty="0">
                <a:solidFill>
                  <a:schemeClr val="accent2"/>
                </a:solidFill>
              </a:rPr>
              <a:t>函式與陣列</a:t>
            </a:r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王頌文</a:t>
            </a:r>
          </a:p>
        </p:txBody>
      </p:sp>
    </p:spTree>
    <p:extLst>
      <p:ext uri="{BB962C8B-B14F-4D97-AF65-F5344CB8AC3E}">
        <p14:creationId xmlns:p14="http://schemas.microsoft.com/office/powerpoint/2010/main" val="18702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US" altLang="zh-TW" dirty="0">
                <a:solidFill>
                  <a:schemeClr val="accent2"/>
                </a:solidFill>
              </a:rPr>
              <a:t> </a:t>
            </a:r>
            <a:r>
              <a:rPr lang="zh-TW" altLang="en-US" dirty="0">
                <a:solidFill>
                  <a:schemeClr val="accent2"/>
                </a:solidFill>
              </a:rPr>
              <a:t>迴圈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latin typeface="Consolas" panose="020B0609020204030204" pitchFamily="49" charset="0"/>
              </a:rPr>
              <a:t>巢狀迴圈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054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結構化程式設計</a:t>
            </a:r>
            <a:r>
              <a:rPr lang="en-US" altLang="zh-TW" dirty="0"/>
              <a:t>(structured programming)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977229" y="1997849"/>
            <a:ext cx="2853186" cy="3920643"/>
            <a:chOff x="977229" y="1997849"/>
            <a:chExt cx="2853186" cy="3920643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7229" y="1997849"/>
              <a:ext cx="2853186" cy="3920643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977229" y="2356701"/>
              <a:ext cx="2853186" cy="1774774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5000" b="1" dirty="0">
                  <a:solidFill>
                    <a:schemeClr val="bg2"/>
                  </a:solidFill>
                </a:rPr>
                <a:t>一行一</a:t>
              </a:r>
              <a:endParaRPr lang="en-US" altLang="zh-TW" sz="5000" b="1" dirty="0">
                <a:solidFill>
                  <a:schemeClr val="bg2"/>
                </a:solidFill>
              </a:endParaRPr>
            </a:p>
            <a:p>
              <a:pPr algn="r"/>
              <a:r>
                <a:rPr lang="zh-TW" altLang="en-US" sz="5000" b="1" dirty="0">
                  <a:solidFill>
                    <a:schemeClr val="bg2"/>
                  </a:solidFill>
                </a:rPr>
                <a:t>行執行</a:t>
              </a:r>
            </a:p>
          </p:txBody>
        </p:sp>
        <p:sp>
          <p:nvSpPr>
            <p:cNvPr id="16" name="向下箭號 15"/>
            <p:cNvSpPr/>
            <p:nvPr/>
          </p:nvSpPr>
          <p:spPr>
            <a:xfrm>
              <a:off x="1148498" y="2093899"/>
              <a:ext cx="715248" cy="3719072"/>
            </a:xfrm>
            <a:prstGeom prst="down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4669407" y="1997849"/>
            <a:ext cx="2853186" cy="3920643"/>
            <a:chOff x="4669407" y="1997849"/>
            <a:chExt cx="2853186" cy="3920643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69407" y="1997849"/>
              <a:ext cx="2853186" cy="3920643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69407" y="3188045"/>
              <a:ext cx="2853186" cy="1600771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5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中間一部分不執行</a:t>
              </a:r>
            </a:p>
          </p:txBody>
        </p:sp>
        <p:sp>
          <p:nvSpPr>
            <p:cNvPr id="18" name="向下箭號 17"/>
            <p:cNvSpPr/>
            <p:nvPr/>
          </p:nvSpPr>
          <p:spPr>
            <a:xfrm>
              <a:off x="4840677" y="2093900"/>
              <a:ext cx="715248" cy="998094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向下箭號 19"/>
            <p:cNvSpPr/>
            <p:nvPr/>
          </p:nvSpPr>
          <p:spPr>
            <a:xfrm>
              <a:off x="4840677" y="4866768"/>
              <a:ext cx="715248" cy="943968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7993937" y="1997849"/>
            <a:ext cx="3220835" cy="3920643"/>
            <a:chOff x="7993937" y="1997849"/>
            <a:chExt cx="3220835" cy="3920643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61586" y="1997849"/>
              <a:ext cx="2853186" cy="39206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8361586" y="3284094"/>
              <a:ext cx="2853186" cy="1440324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32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中間部分</a:t>
              </a:r>
              <a:endParaRPr lang="en-US" altLang="zh-TW" sz="3200" b="1" dirty="0">
                <a:solidFill>
                  <a:schemeClr val="accent4">
                    <a:lumMod val="40000"/>
                    <a:lumOff val="60000"/>
                  </a:schemeClr>
                </a:solidFill>
              </a:endParaRPr>
            </a:p>
            <a:p>
              <a:pPr algn="r"/>
              <a:r>
                <a:rPr lang="zh-TW" altLang="en-US" sz="32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重複執行</a:t>
              </a:r>
            </a:p>
          </p:txBody>
        </p:sp>
        <p:sp>
          <p:nvSpPr>
            <p:cNvPr id="21" name="圓形箭號 20"/>
            <p:cNvSpPr/>
            <p:nvPr/>
          </p:nvSpPr>
          <p:spPr>
            <a:xfrm>
              <a:off x="7993937" y="3136573"/>
              <a:ext cx="1715473" cy="1717200"/>
            </a:xfrm>
            <a:prstGeom prst="circularArrow">
              <a:avLst>
                <a:gd name="adj1" fmla="val 16494"/>
                <a:gd name="adj2" fmla="val 1142319"/>
                <a:gd name="adj3" fmla="val 20670252"/>
                <a:gd name="adj4" fmla="val 409148"/>
                <a:gd name="adj5" fmla="val 1785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向下箭號 21"/>
            <p:cNvSpPr/>
            <p:nvPr/>
          </p:nvSpPr>
          <p:spPr>
            <a:xfrm>
              <a:off x="8494050" y="2093899"/>
              <a:ext cx="715248" cy="1094145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向下箭號 22"/>
            <p:cNvSpPr/>
            <p:nvPr/>
          </p:nvSpPr>
          <p:spPr>
            <a:xfrm>
              <a:off x="8494050" y="4788816"/>
              <a:ext cx="715248" cy="1021920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83D73D-0F24-4C08-BD14-D18D52AD6B6C}"/>
              </a:ext>
            </a:extLst>
          </p:cNvPr>
          <p:cNvSpPr txBox="1"/>
          <p:nvPr/>
        </p:nvSpPr>
        <p:spPr>
          <a:xfrm>
            <a:off x="977229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循序</a:t>
            </a:r>
            <a:r>
              <a:rPr lang="en-US" altLang="zh-TW" sz="2400" dirty="0"/>
              <a:t>(sequence)</a:t>
            </a:r>
            <a:endParaRPr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AABCF8C-4C9E-4607-9204-3E6487E742B2}"/>
              </a:ext>
            </a:extLst>
          </p:cNvPr>
          <p:cNvSpPr txBox="1"/>
          <p:nvPr/>
        </p:nvSpPr>
        <p:spPr>
          <a:xfrm>
            <a:off x="4669407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選擇</a:t>
            </a:r>
            <a:r>
              <a:rPr lang="en-US" altLang="zh-TW" sz="2400" dirty="0"/>
              <a:t>(selection)</a:t>
            </a:r>
            <a:endParaRPr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5AD0E72-9F41-45C0-B6BB-BD3E1A7D8E04}"/>
              </a:ext>
            </a:extLst>
          </p:cNvPr>
          <p:cNvSpPr txBox="1"/>
          <p:nvPr/>
        </p:nvSpPr>
        <p:spPr>
          <a:xfrm>
            <a:off x="8361585" y="6066742"/>
            <a:ext cx="285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重複</a:t>
            </a:r>
            <a:r>
              <a:rPr lang="en-US" altLang="zh-TW" sz="2400" dirty="0"/>
              <a:t>(repetition)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33C577-B6D5-405C-8141-0C50C87BF7E3}"/>
              </a:ext>
            </a:extLst>
          </p:cNvPr>
          <p:cNvSpPr/>
          <p:nvPr/>
        </p:nvSpPr>
        <p:spPr>
          <a:xfrm>
            <a:off x="8066567" y="1694121"/>
            <a:ext cx="3423684" cy="4968949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498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843369-388C-4AA2-AC9B-F3D17961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  <a:r>
              <a:rPr lang="en-US" altLang="zh-TW" dirty="0"/>
              <a:t>(loop)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4429FA-9341-45D9-B74F-0DCB3B6E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4"/>
                </a:solidFill>
              </a:rPr>
              <a:t>重複執行同樣動作</a:t>
            </a:r>
            <a:r>
              <a:rPr lang="zh-TW" altLang="en-US" dirty="0"/>
              <a:t>是電腦最擅長的事情，而這個「重複執行」正是迴圈最核心的概念。</a:t>
            </a:r>
            <a:endParaRPr lang="en-US" altLang="zh-TW" dirty="0"/>
          </a:p>
          <a:p>
            <a:pPr lvl="1"/>
            <a:r>
              <a:rPr lang="zh-TW" altLang="en-US" dirty="0"/>
              <a:t>也是結構化程式的基礎流程之一。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日常生活中也到處可見類似不斷重複的行為，比方說我們每天的刷牙、走路、每月固定的小額投資等。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把無聊且重複的動作交給電腦自動執行，不僅能</a:t>
            </a:r>
            <a:r>
              <a:rPr lang="zh-TW" altLang="en-US" dirty="0">
                <a:solidFill>
                  <a:schemeClr val="accent4"/>
                </a:solidFill>
              </a:rPr>
              <a:t>節省人力資源</a:t>
            </a:r>
            <a:r>
              <a:rPr lang="zh-TW" altLang="en-US" dirty="0"/>
              <a:t>並</a:t>
            </a:r>
            <a:r>
              <a:rPr lang="zh-TW" altLang="en-US" dirty="0">
                <a:solidFill>
                  <a:schemeClr val="accent4"/>
                </a:solidFill>
              </a:rPr>
              <a:t>高效率產出</a:t>
            </a:r>
            <a:r>
              <a:rPr lang="zh-TW" altLang="en-US" dirty="0"/>
              <a:t>，也能有一定</a:t>
            </a:r>
            <a:r>
              <a:rPr lang="zh-TW" altLang="en-US" dirty="0">
                <a:solidFill>
                  <a:schemeClr val="accent4"/>
                </a:solidFill>
              </a:rPr>
              <a:t>保證品質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B007F6-00D2-442D-B0A1-56CA5A18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269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0634F-3E3A-4C91-9995-3CB4593E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的迴圈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A87EA9-0CED-4EFD-80D0-216B02E61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在許多程式語言裡常見的迴圈敘述有三種：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for … </a:t>
            </a:r>
          </a:p>
          <a:p>
            <a:pPr lvl="1"/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</a:t>
            </a:r>
          </a:p>
          <a:p>
            <a:pPr lvl="1"/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do … while …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1CFCF-EBCE-4688-97B0-EFFDAD1D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E0325CD8-5C8A-405C-BB7A-2422C3CDF5A4}"/>
              </a:ext>
            </a:extLst>
          </p:cNvPr>
          <p:cNvSpPr/>
          <p:nvPr/>
        </p:nvSpPr>
        <p:spPr>
          <a:xfrm>
            <a:off x="4078503" y="3429000"/>
            <a:ext cx="5623034" cy="956441"/>
          </a:xfrm>
          <a:prstGeom prst="wedgeRoundRectCallout">
            <a:avLst>
              <a:gd name="adj1" fmla="val -59659"/>
              <a:gd name="adj2" fmla="val -3806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Python </a:t>
            </a:r>
            <a:r>
              <a:rPr lang="zh-TW" altLang="en-US" sz="2800" dirty="0"/>
              <a:t>的迴圈只有 </a:t>
            </a:r>
            <a:r>
              <a:rPr lang="en-US" altLang="zh-TW" sz="2800" dirty="0">
                <a:latin typeface="Consolas" panose="020B0609020204030204" pitchFamily="49" charset="0"/>
              </a:rPr>
              <a:t>for</a:t>
            </a:r>
            <a:r>
              <a:rPr lang="en-US" altLang="zh-TW" sz="2800" dirty="0"/>
              <a:t> </a:t>
            </a:r>
            <a:r>
              <a:rPr lang="zh-TW" altLang="en-US" sz="2800" dirty="0"/>
              <a:t>與 </a:t>
            </a:r>
            <a:r>
              <a:rPr lang="en-US" altLang="zh-TW" sz="2800" dirty="0">
                <a:latin typeface="Consolas" panose="020B0609020204030204" pitchFamily="49" charset="0"/>
              </a:rPr>
              <a:t>while</a:t>
            </a:r>
            <a:endParaRPr lang="zh-TW" alt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10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zh-TW" altLang="en-US" dirty="0">
                <a:latin typeface="微軟正黑體" panose="020B0604030504040204" pitchFamily="34" charset="-120"/>
              </a:rPr>
              <a:t> 迴圈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這個敘述用來表達「若某條件成立，則一直重複執行既定動作，直到該條件不再成立為止」的語意</a:t>
            </a:r>
            <a:r>
              <a:rPr lang="zh-TW" altLang="en-US" dirty="0"/>
              <a:t>，運作流程如下：</a:t>
            </a:r>
            <a:endParaRPr lang="en-US" altLang="zh-TW" dirty="0"/>
          </a:p>
          <a:p>
            <a:pPr lvl="2"/>
            <a:endParaRPr lang="en-US" altLang="zh-TW" dirty="0"/>
          </a:p>
          <a:p>
            <a:r>
              <a:rPr lang="zh-TW" altLang="en-US" dirty="0"/>
              <a:t>語法為</a:t>
            </a:r>
          </a:p>
          <a:p>
            <a:pPr marL="457200" lvl="1" indent="0">
              <a:buNone/>
            </a:pPr>
            <a:r>
              <a:rPr lang="en-US" altLang="zh-TW" dirty="0">
                <a:latin typeface="Consolas" panose="020B0609020204030204" pitchFamily="49" charset="0"/>
              </a:rPr>
              <a:t>while </a:t>
            </a:r>
            <a:r>
              <a:rPr lang="zh-TW" altLang="en-US" dirty="0">
                <a:latin typeface="Consolas" panose="020B0609020204030204" pitchFamily="49" charset="0"/>
              </a:rPr>
              <a:t>條件式</a:t>
            </a:r>
            <a:r>
              <a:rPr lang="en-US" altLang="zh-TW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zh-TW" altLang="en-US" dirty="0">
                <a:latin typeface="Consolas" panose="020B0609020204030204" pitchFamily="49" charset="0"/>
              </a:rPr>
              <a:t>    程式區塊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852964-A7AC-4785-8458-7EADF8E0F887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2966992"/>
            <a:ext cx="4754607" cy="36862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CE410318-71E5-4A9F-8C21-283DC7BA5536}"/>
              </a:ext>
            </a:extLst>
          </p:cNvPr>
          <p:cNvSpPr/>
          <p:nvPr/>
        </p:nvSpPr>
        <p:spPr>
          <a:xfrm>
            <a:off x="2753710" y="5328745"/>
            <a:ext cx="2839097" cy="1141905"/>
          </a:xfrm>
          <a:prstGeom prst="wedgeRoundRectCallout">
            <a:avLst>
              <a:gd name="adj1" fmla="val 61722"/>
              <a:gd name="adj2" fmla="val -4795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是否與 </a:t>
            </a:r>
            <a:r>
              <a:rPr lang="en-US" altLang="zh-TW" sz="2400" dirty="0">
                <a:latin typeface="Consolas" panose="020B0609020204030204" pitchFamily="49" charset="0"/>
              </a:rPr>
              <a:t>if</a:t>
            </a:r>
            <a:r>
              <a:rPr lang="en-US" altLang="zh-TW" sz="2400" dirty="0"/>
              <a:t> </a:t>
            </a:r>
            <a:r>
              <a:rPr lang="zh-TW" altLang="en-US" sz="2400" dirty="0"/>
              <a:t>的運作流程很像？</a:t>
            </a:r>
          </a:p>
        </p:txBody>
      </p:sp>
    </p:spTree>
    <p:extLst>
      <p:ext uri="{BB962C8B-B14F-4D97-AF65-F5344CB8AC3E}">
        <p14:creationId xmlns:p14="http://schemas.microsoft.com/office/powerpoint/2010/main" val="304344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6EF94-663D-44D0-89B4-6A7F6DD8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無窮迴圈</a:t>
            </a:r>
            <a:r>
              <a:rPr lang="en-US" altLang="zh-TW" dirty="0"/>
              <a:t>(infinite loop)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1D9924-1AAB-42DE-BD06-25E685FB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6004034" cy="4400550"/>
          </a:xfrm>
        </p:spPr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迴圈的運作流程有時候對初學者來說是個頗大的雷區，只要一不小心沒把</a:t>
            </a:r>
            <a:r>
              <a:rPr lang="zh-TW" altLang="en-US" dirty="0">
                <a:solidFill>
                  <a:schemeClr val="accent4"/>
                </a:solidFill>
              </a:rPr>
              <a:t>條件式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chemeClr val="accent4"/>
                </a:solidFill>
              </a:rPr>
              <a:t>程式區塊</a:t>
            </a:r>
            <a:r>
              <a:rPr lang="zh-TW" altLang="en-US" dirty="0"/>
              <a:t>寫好就可能踩雷。</a:t>
            </a:r>
            <a:endParaRPr lang="en-US" altLang="zh-TW" dirty="0"/>
          </a:p>
          <a:p>
            <a:pPr lvl="1"/>
            <a:r>
              <a:rPr lang="zh-TW" altLang="en-US" dirty="0"/>
              <a:t>可能是沒有設定迴圈的</a:t>
            </a:r>
            <a:r>
              <a:rPr lang="zh-TW" altLang="en-US" dirty="0">
                <a:solidFill>
                  <a:schemeClr val="accent4"/>
                </a:solidFill>
              </a:rPr>
              <a:t>終止條件</a:t>
            </a:r>
            <a:endParaRPr lang="en-US" altLang="zh-TW" dirty="0">
              <a:solidFill>
                <a:schemeClr val="accent4"/>
              </a:solidFill>
            </a:endParaRPr>
          </a:p>
          <a:p>
            <a:pPr lvl="1"/>
            <a:r>
              <a:rPr lang="zh-TW" altLang="en-US" dirty="0"/>
              <a:t>可能是結束迴圈的</a:t>
            </a:r>
            <a:r>
              <a:rPr lang="zh-TW" altLang="en-US" dirty="0">
                <a:solidFill>
                  <a:schemeClr val="accent4"/>
                </a:solidFill>
              </a:rPr>
              <a:t>條件不可能成立</a:t>
            </a:r>
            <a:endParaRPr lang="en-US" altLang="zh-TW" dirty="0">
              <a:solidFill>
                <a:schemeClr val="accent4"/>
              </a:solidFill>
            </a:endParaRPr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這些都會導致迴圈永無止盡地重複執行，即所謂</a:t>
            </a:r>
            <a:r>
              <a:rPr lang="zh-TW" altLang="en-US" dirty="0">
                <a:solidFill>
                  <a:schemeClr val="accent4"/>
                </a:solidFill>
              </a:rPr>
              <a:t>無窮迴圈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5DD759-74C9-44F1-B1CA-DDFE6961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B115F5-23CB-4798-AF05-3A40448882C1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3543" y="2000040"/>
            <a:ext cx="4754607" cy="36862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4488BD30-B5E3-4C9B-B529-A75EB87C0B4C}"/>
              </a:ext>
            </a:extLst>
          </p:cNvPr>
          <p:cNvSpPr/>
          <p:nvPr/>
        </p:nvSpPr>
        <p:spPr>
          <a:xfrm>
            <a:off x="5550194" y="5765283"/>
            <a:ext cx="5803605" cy="985284"/>
          </a:xfrm>
          <a:prstGeom prst="wedgeRoundRectCallout">
            <a:avLst>
              <a:gd name="adj1" fmla="val -54891"/>
              <a:gd name="adj2" fmla="val -38219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無窮迴圈會用掉所有可用的處理器時間，是造成系統「</a:t>
            </a:r>
            <a:r>
              <a:rPr lang="zh-TW" altLang="en-US" sz="2000" dirty="0">
                <a:solidFill>
                  <a:srgbClr val="FFFF00"/>
                </a:solidFill>
              </a:rPr>
              <a:t>假死機</a:t>
            </a:r>
            <a:r>
              <a:rPr lang="zh-TW" altLang="en-US" sz="2000" dirty="0"/>
              <a:t>」（指應用程式沒有回應，一種與當機類似的現象）的原因之一，不可謂不慎。</a:t>
            </a:r>
          </a:p>
        </p:txBody>
      </p:sp>
    </p:spTree>
    <p:extLst>
      <p:ext uri="{BB962C8B-B14F-4D97-AF65-F5344CB8AC3E}">
        <p14:creationId xmlns:p14="http://schemas.microsoft.com/office/powerpoint/2010/main" val="184641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22BB7-42DF-4F9A-A39E-DDF2BA06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FA0103-59E8-43E6-B520-3CC26E80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EC5277F-241F-4A60-ABA4-99A45DDC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227" y="3715447"/>
            <a:ext cx="3512825" cy="182566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E5B8803-F8CC-44D3-AB78-57041642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34" y="2549135"/>
            <a:ext cx="6539523" cy="325769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69FEA61-1277-49EC-B1C4-8D2A44C4657B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5129" y="523256"/>
            <a:ext cx="3747923" cy="29057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246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AFF476-C69B-4291-A488-7612E16F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執行這程式會發生何事？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4513A0-30B8-4539-8098-18A46090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4B74DF-21BD-49F8-853F-2ECF7722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36" y="1962982"/>
            <a:ext cx="7496327" cy="3734434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7873637-2509-4FD3-80C2-923785EDA8B2}"/>
              </a:ext>
            </a:extLst>
          </p:cNvPr>
          <p:cNvCxnSpPr/>
          <p:nvPr/>
        </p:nvCxnSpPr>
        <p:spPr>
          <a:xfrm>
            <a:off x="4861169" y="3712308"/>
            <a:ext cx="38295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1DDB2092-1063-40D4-AC4B-6C15D3C3DFE5}"/>
              </a:ext>
            </a:extLst>
          </p:cNvPr>
          <p:cNvSpPr/>
          <p:nvPr/>
        </p:nvSpPr>
        <p:spPr>
          <a:xfrm>
            <a:off x="9029053" y="3259246"/>
            <a:ext cx="2839097" cy="1141905"/>
          </a:xfrm>
          <a:prstGeom prst="wedgeRoundRectCallout">
            <a:avLst>
              <a:gd name="adj1" fmla="val -68959"/>
              <a:gd name="adj2" fmla="val 3120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《Ctrl + c》</a:t>
            </a:r>
            <a:r>
              <a:rPr lang="zh-TW" altLang="en-US" sz="2400" dirty="0"/>
              <a:t>可中止執行程式</a:t>
            </a:r>
          </a:p>
        </p:txBody>
      </p:sp>
    </p:spTree>
    <p:extLst>
      <p:ext uri="{BB962C8B-B14F-4D97-AF65-F5344CB8AC3E}">
        <p14:creationId xmlns:p14="http://schemas.microsoft.com/office/powerpoint/2010/main" val="249695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0DFA8-08AF-4FD2-9790-1AA78B6F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浮點數的數值誤差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EB34E0-E05A-455C-9191-7E177933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0.01 + 0.02 + … + 0.99 + 1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BA65E6-91CB-42BB-B22A-3E4C8813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28E326-A395-4C52-8548-9D6CC12F5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06" y="2537592"/>
            <a:ext cx="6182044" cy="365365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D29D777-F350-47FE-AE11-A4785789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441" y="4129419"/>
            <a:ext cx="2440989" cy="470004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558C383C-F8DB-4FD3-836E-AD539E5DAD11}"/>
              </a:ext>
            </a:extLst>
          </p:cNvPr>
          <p:cNvSpPr/>
          <p:nvPr/>
        </p:nvSpPr>
        <p:spPr>
          <a:xfrm>
            <a:off x="6510216" y="1322160"/>
            <a:ext cx="2646973" cy="875323"/>
          </a:xfrm>
          <a:prstGeom prst="wedgeRoundRectCallout">
            <a:avLst>
              <a:gd name="adj1" fmla="val -64765"/>
              <a:gd name="adj2" fmla="val 3600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正確答案是 </a:t>
            </a:r>
            <a:r>
              <a:rPr lang="en-US" altLang="zh-TW" sz="2400" dirty="0"/>
              <a:t>50.5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5398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練習：計算成績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請以 </a:t>
            </a:r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迴圈設計一個輸入成績的程式，要求如下：</a:t>
            </a:r>
            <a:endParaRPr lang="en-US" altLang="zh-TW" dirty="0"/>
          </a:p>
          <a:p>
            <a:pPr lvl="1"/>
            <a:r>
              <a:rPr lang="zh-TW" altLang="en-US" dirty="0"/>
              <a:t>輸入：成績或「</a:t>
            </a:r>
            <a:r>
              <a:rPr lang="en-US" altLang="zh-TW" dirty="0"/>
              <a:t>-1</a:t>
            </a:r>
            <a:r>
              <a:rPr lang="zh-TW" altLang="en-US" dirty="0"/>
              <a:t>」</a:t>
            </a:r>
            <a:endParaRPr lang="en-US" altLang="zh-TW" dirty="0"/>
          </a:p>
          <a:p>
            <a:pPr lvl="1"/>
            <a:r>
              <a:rPr lang="zh-TW" altLang="en-US" dirty="0"/>
              <a:t>輸出：</a:t>
            </a:r>
            <a:endParaRPr lang="en-US" altLang="zh-TW" dirty="0"/>
          </a:p>
          <a:p>
            <a:pPr lvl="2"/>
            <a:r>
              <a:rPr lang="zh-TW" altLang="en-US" dirty="0"/>
              <a:t>「</a:t>
            </a:r>
            <a:r>
              <a:rPr lang="en-US" altLang="zh-TW" dirty="0"/>
              <a:t>-1</a:t>
            </a:r>
            <a:r>
              <a:rPr lang="zh-TW" altLang="en-US" dirty="0"/>
              <a:t>」表示成績輸入結束</a:t>
            </a:r>
            <a:endParaRPr lang="en-US" altLang="zh-TW" dirty="0"/>
          </a:p>
          <a:p>
            <a:pPr lvl="2"/>
            <a:r>
              <a:rPr lang="zh-TW" altLang="en-US" dirty="0"/>
              <a:t>結束後顯示班上</a:t>
            </a:r>
            <a:r>
              <a:rPr lang="zh-TW" altLang="en-US" dirty="0">
                <a:solidFill>
                  <a:schemeClr val="accent4"/>
                </a:solidFill>
              </a:rPr>
              <a:t>成績加總</a:t>
            </a:r>
            <a:r>
              <a:rPr lang="zh-TW" altLang="en-US" dirty="0"/>
              <a:t>及</a:t>
            </a:r>
            <a:r>
              <a:rPr lang="zh-TW" altLang="en-US" dirty="0">
                <a:solidFill>
                  <a:schemeClr val="accent4"/>
                </a:solidFill>
              </a:rPr>
              <a:t>平均成績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46A924-BA1E-4FA4-A16C-E66A471D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4046504"/>
            <a:ext cx="4830966" cy="184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70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3A970-6D38-47B8-AAC2-E20DD815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練習：數值計數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01C414-1492-448B-9DF8-FE5D40578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7773106" cy="4400550"/>
          </a:xfrm>
        </p:spPr>
        <p:txBody>
          <a:bodyPr/>
          <a:lstStyle/>
          <a:p>
            <a:r>
              <a:rPr lang="zh-TW" altLang="en-US" dirty="0"/>
              <a:t>請撰寫一程式，讓使用者輸入五個數值，計算並輸出下列數量：</a:t>
            </a:r>
            <a:endParaRPr lang="en-US" altLang="zh-TW" dirty="0"/>
          </a:p>
          <a:p>
            <a:pPr lvl="1"/>
            <a:r>
              <a:rPr lang="zh-TW" altLang="en-US" dirty="0"/>
              <a:t>偶數、奇數、正數、負數、浮點數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提示：</a:t>
            </a:r>
            <a:endParaRPr lang="en-US" altLang="zh-TW" dirty="0"/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0 </a:t>
            </a:r>
            <a:r>
              <a:rPr lang="zh-TW" altLang="en-US" dirty="0"/>
              <a:t>為偶數</a:t>
            </a:r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0</a:t>
            </a:r>
            <a:r>
              <a:rPr lang="zh-TW" altLang="en-US" dirty="0"/>
              <a:t> 既不是正數也不是負數</a:t>
            </a:r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zh-TW" altLang="en-US" dirty="0"/>
              <a:t>奇偶數僅適用於整數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86EA9E-6398-4696-8168-627F4948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E4134711-94C1-4FD9-B9DE-2E6859F4F911}"/>
              </a:ext>
            </a:extLst>
          </p:cNvPr>
          <p:cNvGrpSpPr/>
          <p:nvPr/>
        </p:nvGrpSpPr>
        <p:grpSpPr>
          <a:xfrm>
            <a:off x="8743630" y="1383778"/>
            <a:ext cx="2955920" cy="4983208"/>
            <a:chOff x="8743630" y="1383778"/>
            <a:chExt cx="2955920" cy="498320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6FE10430-A9EB-4817-A196-15A1B6DBB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65308" y="1383778"/>
              <a:ext cx="2034242" cy="498320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CBA46C2-705E-42A7-AE9C-2BCF547CB476}"/>
                </a:ext>
              </a:extLst>
            </p:cNvPr>
            <p:cNvSpPr/>
            <p:nvPr/>
          </p:nvSpPr>
          <p:spPr>
            <a:xfrm>
              <a:off x="9472067" y="1736388"/>
              <a:ext cx="2034242" cy="271528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ADBECE42-7197-41A8-982D-58B0AB94412A}"/>
                </a:ext>
              </a:extLst>
            </p:cNvPr>
            <p:cNvSpPr txBox="1"/>
            <p:nvPr/>
          </p:nvSpPr>
          <p:spPr>
            <a:xfrm>
              <a:off x="8743630" y="2694159"/>
              <a:ext cx="7893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</a:rPr>
                <a:t>輸入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8B9FDD6-5CC4-4518-B034-77CB609E3490}"/>
                </a:ext>
              </a:extLst>
            </p:cNvPr>
            <p:cNvSpPr/>
            <p:nvPr/>
          </p:nvSpPr>
          <p:spPr>
            <a:xfrm>
              <a:off x="9472067" y="4491609"/>
              <a:ext cx="2034242" cy="1773139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DCF3825-1BAA-466F-8900-D3CDD20BFA0C}"/>
                </a:ext>
              </a:extLst>
            </p:cNvPr>
            <p:cNvSpPr txBox="1"/>
            <p:nvPr/>
          </p:nvSpPr>
          <p:spPr>
            <a:xfrm>
              <a:off x="8743630" y="4522870"/>
              <a:ext cx="7893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>
                  <a:solidFill>
                    <a:schemeClr val="accent4"/>
                  </a:solidFill>
                </a:rPr>
                <a:t>輸出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352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dirty="0">
                <a:solidFill>
                  <a:schemeClr val="accent2"/>
                </a:solidFill>
              </a:rPr>
              <a:t> </a:t>
            </a:r>
            <a:r>
              <a:rPr lang="zh-TW" altLang="en-US" dirty="0">
                <a:solidFill>
                  <a:schemeClr val="accent2"/>
                </a:solidFill>
              </a:rPr>
              <a:t>迴圈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latin typeface="Consolas" panose="020B0609020204030204" pitchFamily="49" charset="0"/>
              </a:rPr>
              <a:t>巢狀迴圈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9242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C19574-544A-47E6-B29A-E1D8F521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C8B45C-D84D-4F88-95FB-BAA65766F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用來表達「對目標內的每一筆資料執行既定動作，直到每筆資料都執行完畢為止」的語意。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語法為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>
                <a:latin typeface="+mn-ea"/>
                <a:ea typeface="+mn-ea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</a:rPr>
              <a:t>變數  </a:t>
            </a:r>
            <a:r>
              <a:rPr lang="en-US" altLang="zh-TW" dirty="0">
                <a:latin typeface="Consolas" panose="020B0609020204030204" pitchFamily="49" charset="0"/>
              </a:rPr>
              <a:t>in</a:t>
            </a:r>
            <a:r>
              <a:rPr lang="en-US" altLang="zh-TW" dirty="0">
                <a:latin typeface="微軟正黑體" panose="020B0604030504040204" pitchFamily="34" charset="-120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</a:rPr>
              <a:t>可迭代物件</a:t>
            </a:r>
            <a:r>
              <a:rPr lang="en-US" altLang="zh-TW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zh-TW" altLang="en-US" dirty="0">
                <a:latin typeface="Consolas" panose="020B0609020204030204" pitchFamily="49" charset="0"/>
              </a:rPr>
              <a:t>     程式區塊</a:t>
            </a:r>
            <a:endParaRPr lang="en-US" altLang="zh-TW" dirty="0"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491EB9-3617-4396-8A52-CB0F804E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96A650-550A-4BBD-8805-3F3C04B89492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25662" y="2949455"/>
            <a:ext cx="4872211" cy="370375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E33DE258-853F-4907-984C-46C7C6A116C5}"/>
              </a:ext>
            </a:extLst>
          </p:cNvPr>
          <p:cNvSpPr/>
          <p:nvPr/>
        </p:nvSpPr>
        <p:spPr>
          <a:xfrm>
            <a:off x="2753710" y="5328745"/>
            <a:ext cx="2839097" cy="1141905"/>
          </a:xfrm>
          <a:prstGeom prst="wedgeRoundRectCallout">
            <a:avLst>
              <a:gd name="adj1" fmla="val 61722"/>
              <a:gd name="adj2" fmla="val -4795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是否與 </a:t>
            </a:r>
            <a:r>
              <a:rPr lang="en-US" altLang="zh-TW" sz="2400" dirty="0">
                <a:latin typeface="Consolas" panose="020B0609020204030204" pitchFamily="49" charset="0"/>
              </a:rPr>
              <a:t>while</a:t>
            </a:r>
            <a:r>
              <a:rPr lang="en-US" altLang="zh-TW" sz="2400" dirty="0"/>
              <a:t> </a:t>
            </a:r>
            <a:r>
              <a:rPr lang="zh-TW" altLang="en-US" sz="2400" dirty="0"/>
              <a:t>的運作流程很像？</a:t>
            </a:r>
          </a:p>
        </p:txBody>
      </p:sp>
    </p:spTree>
    <p:extLst>
      <p:ext uri="{BB962C8B-B14F-4D97-AF65-F5344CB8AC3E}">
        <p14:creationId xmlns:p14="http://schemas.microsoft.com/office/powerpoint/2010/main" val="713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BD8E4-4F84-47B6-A921-A950F9C6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66D9BC-F414-4888-A56C-B05AC143E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6930292" cy="4400550"/>
          </a:xfrm>
        </p:spPr>
        <p:txBody>
          <a:bodyPr/>
          <a:lstStyle/>
          <a:p>
            <a:pPr lvl="1"/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>
                <a:latin typeface="+mn-ea"/>
                <a:ea typeface="+mn-ea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</a:rPr>
              <a:t>變數  </a:t>
            </a:r>
            <a:r>
              <a:rPr lang="en-US" altLang="zh-TW" dirty="0">
                <a:latin typeface="Consolas" panose="020B0609020204030204" pitchFamily="49" charset="0"/>
              </a:rPr>
              <a:t>in</a:t>
            </a:r>
            <a:r>
              <a:rPr lang="en-US" altLang="zh-TW" dirty="0">
                <a:latin typeface="微軟正黑體" panose="020B0604030504040204" pitchFamily="34" charset="-120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</a:rPr>
              <a:t>可迭代物件</a:t>
            </a:r>
            <a:r>
              <a:rPr lang="en-US" altLang="zh-TW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zh-TW" altLang="en-US" dirty="0">
                <a:latin typeface="Consolas" panose="020B0609020204030204" pitchFamily="49" charset="0"/>
              </a:rPr>
              <a:t>     程式區塊</a:t>
            </a:r>
            <a:endParaRPr lang="en-US" altLang="zh-TW" dirty="0">
              <a:latin typeface="Consolas" panose="020B0609020204030204" pitchFamily="49" charset="0"/>
            </a:endParaRPr>
          </a:p>
          <a:p>
            <a:endParaRPr lang="en-US" altLang="zh-TW" dirty="0"/>
          </a:p>
          <a:p>
            <a:r>
              <a:rPr lang="zh-TW" altLang="en-US" dirty="0">
                <a:solidFill>
                  <a:schemeClr val="accent4"/>
                </a:solidFill>
              </a:rPr>
              <a:t>可迭代物件</a:t>
            </a:r>
            <a:r>
              <a:rPr lang="en-US" altLang="zh-TW" dirty="0"/>
              <a:t>(</a:t>
            </a:r>
            <a:r>
              <a:rPr lang="en-US" altLang="zh-TW" dirty="0" err="1"/>
              <a:t>iterable</a:t>
            </a:r>
            <a:r>
              <a:rPr lang="en-US" altLang="zh-TW" dirty="0"/>
              <a:t>)</a:t>
            </a:r>
            <a:r>
              <a:rPr lang="zh-TW" altLang="en-US" dirty="0"/>
              <a:t>可簡單理解為「一個裝著很多東西的容器，且裡面的東西能一個個按照順序拿出來。」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串列</a:t>
            </a:r>
            <a:r>
              <a:rPr lang="en-US" altLang="zh-TW" dirty="0"/>
              <a:t>(list)</a:t>
            </a:r>
            <a:r>
              <a:rPr lang="zh-TW" altLang="en-US" dirty="0"/>
              <a:t>、數組</a:t>
            </a:r>
            <a:r>
              <a:rPr lang="en-US" altLang="zh-TW" dirty="0"/>
              <a:t>(tuple)</a:t>
            </a:r>
            <a:r>
              <a:rPr lang="zh-TW" altLang="en-US" dirty="0"/>
              <a:t>、字典</a:t>
            </a:r>
            <a:r>
              <a:rPr lang="en-US" altLang="zh-TW" dirty="0"/>
              <a:t>(dictionary)</a:t>
            </a:r>
            <a:r>
              <a:rPr lang="zh-TW" altLang="en-US" dirty="0"/>
              <a:t>、集合</a:t>
            </a:r>
            <a:r>
              <a:rPr lang="en-US" altLang="zh-TW" dirty="0"/>
              <a:t>(set)</a:t>
            </a:r>
            <a:r>
              <a:rPr lang="zh-TW" altLang="en-US" dirty="0"/>
              <a:t>與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range()</a:t>
            </a:r>
            <a:endParaRPr lang="zh-TW" altLang="en-US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03F164-6124-409F-9620-8D69BA29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FB9FE4-B97D-4BA8-8896-50E152F6F803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8529" y="666750"/>
            <a:ext cx="3395771" cy="258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3576078-5B99-43B9-AF7A-9A86B1EF5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417" y="4478153"/>
            <a:ext cx="4336733" cy="14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1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F06B2D-4204-4EC4-8C30-631E0EF8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Consolas" panose="020B0609020204030204" pitchFamily="49" charset="0"/>
              </a:rPr>
              <a:t>比一比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334B68-C384-43AE-B5FA-F5F5FA55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251F27D-29CB-4F39-9C30-D6ECF60AB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350326"/>
              </p:ext>
            </p:extLst>
          </p:nvPr>
        </p:nvGraphicFramePr>
        <p:xfrm>
          <a:off x="877277" y="2169094"/>
          <a:ext cx="3513970" cy="366003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339011">
                  <a:extLst>
                    <a:ext uri="{9D8B030D-6E8A-4147-A177-3AD203B41FA5}">
                      <a16:colId xmlns:a16="http://schemas.microsoft.com/office/drawing/2014/main" val="160537685"/>
                    </a:ext>
                  </a:extLst>
                </a:gridCol>
                <a:gridCol w="2174959">
                  <a:extLst>
                    <a:ext uri="{9D8B030D-6E8A-4147-A177-3AD203B41FA5}">
                      <a16:colId xmlns:a16="http://schemas.microsoft.com/office/drawing/2014/main" val="1285149797"/>
                    </a:ext>
                  </a:extLst>
                </a:gridCol>
              </a:tblGrid>
              <a:tr h="1179516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相同處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108446"/>
                  </a:ext>
                </a:extLst>
              </a:tr>
              <a:tr h="1240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latin typeface="Consolas" panose="020B0609020204030204" pitchFamily="49" charset="0"/>
                        </a:rPr>
                        <a:t>while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zh-TW" altLang="en-US" sz="2400" dirty="0"/>
                        <a:t>前測試型迴圈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432489"/>
                  </a:ext>
                </a:extLst>
              </a:tr>
              <a:tr h="1240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latin typeface="Consolas" panose="020B0609020204030204" pitchFamily="49" charset="0"/>
                        </a:rPr>
                        <a:t>for</a:t>
                      </a:r>
                      <a:endParaRPr lang="zh-TW" altLang="en-US" sz="28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939051"/>
                  </a:ext>
                </a:extLst>
              </a:tr>
            </a:tbl>
          </a:graphicData>
        </a:graphic>
      </p:graphicFrame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FC8F9AA2-E365-4034-80EE-EF69D132C5C0}"/>
              </a:ext>
            </a:extLst>
          </p:cNvPr>
          <p:cNvSpPr/>
          <p:nvPr/>
        </p:nvSpPr>
        <p:spPr>
          <a:xfrm>
            <a:off x="1959708" y="6007496"/>
            <a:ext cx="3972170" cy="695326"/>
          </a:xfrm>
          <a:prstGeom prst="wedgeRoundRectCallout">
            <a:avLst>
              <a:gd name="adj1" fmla="val -21459"/>
              <a:gd name="adj2" fmla="val -99206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先測試條件式是否成立，倘若成立才會執行迴圈內的程式區塊。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1674F5-5360-4244-BA03-A2BA0C186F94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05718" y="3889253"/>
            <a:ext cx="3395771" cy="258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29FC1B8-E0A1-42BF-BA16-851070B39325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05718" y="666750"/>
            <a:ext cx="3313805" cy="25691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F0EB2D0D-E665-48E1-BB53-9F5634F29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081043"/>
              </p:ext>
            </p:extLst>
          </p:nvPr>
        </p:nvGraphicFramePr>
        <p:xfrm>
          <a:off x="4391248" y="2169095"/>
          <a:ext cx="3189766" cy="366003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3189766">
                  <a:extLst>
                    <a:ext uri="{9D8B030D-6E8A-4147-A177-3AD203B41FA5}">
                      <a16:colId xmlns:a16="http://schemas.microsoft.com/office/drawing/2014/main" val="4081889737"/>
                    </a:ext>
                  </a:extLst>
                </a:gridCol>
              </a:tblGrid>
              <a:tr h="117469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不同處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108446"/>
                  </a:ext>
                </a:extLst>
              </a:tr>
              <a:tr h="1174696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dirty="0"/>
                        <a:t>不需要先指定重複次數</a:t>
                      </a:r>
                      <a:endParaRPr lang="en-US" altLang="zh-TW" sz="2000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dirty="0"/>
                        <a:t>看條件式是否成立</a:t>
                      </a:r>
                      <a:endParaRPr lang="en-US" altLang="zh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432489"/>
                  </a:ext>
                </a:extLst>
              </a:tr>
              <a:tr h="1174696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dirty="0"/>
                        <a:t>通常用於執行固定次數的重複動作</a:t>
                      </a:r>
                      <a:endParaRPr lang="en-US" altLang="zh-TW" sz="2000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dirty="0"/>
                        <a:t>看目標內的所有東西是否都處理完畢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93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7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latin typeface="Consolas" panose="020B0609020204030204" pitchFamily="49" charset="0"/>
              </a:rPr>
              <a:t>巢狀迴圈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3434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為何要這個？</a:t>
            </a:r>
            <a:endParaRPr lang="en-US" altLang="zh-TW" dirty="0"/>
          </a:p>
          <a:p>
            <a:pPr lvl="1"/>
            <a:r>
              <a:rPr lang="en-US" altLang="zh-TW" dirty="0"/>
              <a:t>C </a:t>
            </a:r>
            <a:r>
              <a:rPr lang="zh-TW" altLang="en-US" dirty="0"/>
              <a:t>語言的 </a:t>
            </a:r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zh-TW" altLang="en-US" dirty="0"/>
              <a:t> 迴圈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Python </a:t>
            </a:r>
            <a:r>
              <a:rPr lang="zh-TW" altLang="en-US" dirty="0"/>
              <a:t>的 </a:t>
            </a:r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zh-TW" altLang="en-US" dirty="0"/>
              <a:t> 迴圈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D14585-AC55-49A1-8215-379883CF67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1804" y="3089762"/>
            <a:ext cx="5620596" cy="950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F042A93-76AA-4BE8-B43E-243B2ECF9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288" y="5314348"/>
            <a:ext cx="2117400" cy="4982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EC4C8F3-F419-40DD-89A6-4079EF18C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04" y="5042919"/>
            <a:ext cx="5771470" cy="1047687"/>
          </a:xfrm>
          <a:prstGeom prst="rect">
            <a:avLst/>
          </a:prstGeom>
        </p:spPr>
      </p:pic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94F76315-DCC0-4534-9F14-C2D9AE5D76A8}"/>
              </a:ext>
            </a:extLst>
          </p:cNvPr>
          <p:cNvSpPr/>
          <p:nvPr/>
        </p:nvSpPr>
        <p:spPr>
          <a:xfrm>
            <a:off x="6508003" y="2263154"/>
            <a:ext cx="3667627" cy="762486"/>
          </a:xfrm>
          <a:prstGeom prst="wedgeRoundRectCallout">
            <a:avLst>
              <a:gd name="adj1" fmla="val -77502"/>
              <a:gd name="adj2" fmla="val 5828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變數 </a:t>
            </a:r>
            <a:r>
              <a:rPr lang="en-US" altLang="zh-TW" sz="2800" dirty="0" err="1">
                <a:latin typeface="Consolas" panose="020B0609020204030204" pitchFamily="49" charset="0"/>
              </a:rPr>
              <a:t>i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 0, 1, 2, 3, 4</a:t>
            </a:r>
            <a:r>
              <a:rPr lang="en-US" altLang="zh-TW" sz="2800" dirty="0"/>
              <a:t> </a:t>
            </a:r>
            <a:endParaRPr lang="zh-TW" altLang="en-US" sz="2800" dirty="0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EEC1419F-2EAA-450E-A149-88935903A862}"/>
              </a:ext>
            </a:extLst>
          </p:cNvPr>
          <p:cNvSpPr/>
          <p:nvPr/>
        </p:nvSpPr>
        <p:spPr>
          <a:xfrm>
            <a:off x="7297996" y="3165232"/>
            <a:ext cx="4570154" cy="1089024"/>
          </a:xfrm>
          <a:prstGeom prst="wedgeRoundRectCallout">
            <a:avLst>
              <a:gd name="adj1" fmla="val -30923"/>
              <a:gd name="adj2" fmla="val -73136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迴圈中常需要</a:t>
            </a:r>
            <a:r>
              <a:rPr lang="zh-TW" altLang="en-US" sz="2400" dirty="0">
                <a:solidFill>
                  <a:srgbClr val="FFFF00"/>
                </a:solidFill>
              </a:rPr>
              <a:t>整數的等差數列</a:t>
            </a:r>
            <a:r>
              <a:rPr lang="en-US" altLang="zh-TW" sz="2400" dirty="0"/>
              <a:t>(arithmetic sequence)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53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迴圈中常使用整數數列</a:t>
            </a:r>
            <a:r>
              <a:rPr lang="en-US" altLang="zh-TW" dirty="0"/>
              <a:t>(e.g., 1, 2, 3, …)</a:t>
            </a:r>
            <a:r>
              <a:rPr lang="zh-TW" altLang="en-US" dirty="0"/>
              <a:t>，因此 </a:t>
            </a:r>
            <a:r>
              <a:rPr lang="en-US" altLang="zh-TW" dirty="0"/>
              <a:t>Python</a:t>
            </a:r>
            <a:r>
              <a:rPr lang="zh-TW" altLang="en-US" dirty="0"/>
              <a:t> 有個內建</a:t>
            </a:r>
            <a:r>
              <a:rPr lang="en-US" altLang="zh-TW" dirty="0"/>
              <a:t>(built-in)</a:t>
            </a:r>
            <a:r>
              <a:rPr lang="zh-TW" altLang="en-US" dirty="0"/>
              <a:t>函式</a:t>
            </a:r>
            <a:r>
              <a:rPr lang="zh-TW" altLang="en-US" dirty="0">
                <a:solidFill>
                  <a:schemeClr val="accent4"/>
                </a:solidFill>
              </a:rPr>
              <a:t>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用來建立整數數列。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的語法有三種，以</a:t>
            </a:r>
            <a:r>
              <a:rPr lang="zh-TW" altLang="en-US" dirty="0">
                <a:solidFill>
                  <a:schemeClr val="accent4"/>
                </a:solidFill>
              </a:rPr>
              <a:t>參數的個數</a:t>
            </a:r>
            <a:r>
              <a:rPr lang="zh-TW" altLang="en-US" dirty="0"/>
              <a:t>來區分。</a:t>
            </a:r>
            <a:endParaRPr lang="en-US" altLang="zh-TW" dirty="0"/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1 </a:t>
            </a:r>
            <a:r>
              <a:rPr lang="zh-TW" altLang="en-US" dirty="0"/>
              <a:t>個參數的語法為：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</a:t>
            </a:r>
            <a:r>
              <a:rPr lang="zh-TW" alt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終止值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range(5)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5" name="圓角矩形圖說文字 5">
            <a:extLst>
              <a:ext uri="{FF2B5EF4-FFF2-40B4-BE49-F238E27FC236}">
                <a16:creationId xmlns:a16="http://schemas.microsoft.com/office/drawing/2014/main" id="{468F84BE-CC93-4F6B-9282-D1E92423A7A5}"/>
              </a:ext>
            </a:extLst>
          </p:cNvPr>
          <p:cNvSpPr/>
          <p:nvPr/>
        </p:nvSpPr>
        <p:spPr>
          <a:xfrm>
            <a:off x="3563702" y="5343817"/>
            <a:ext cx="2790206" cy="636418"/>
          </a:xfrm>
          <a:prstGeom prst="wedgeRoundRectCallout">
            <a:avLst>
              <a:gd name="adj1" fmla="val -66124"/>
              <a:gd name="adj2" fmla="val -4058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0, 1, 2, 3, 4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5078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的語法有三種，以</a:t>
            </a:r>
            <a:r>
              <a:rPr lang="zh-TW" altLang="en-US" dirty="0">
                <a:solidFill>
                  <a:schemeClr val="accent4"/>
                </a:solidFill>
              </a:rPr>
              <a:t>參數的個數</a:t>
            </a:r>
            <a:r>
              <a:rPr lang="zh-TW" altLang="en-US" dirty="0"/>
              <a:t>來區分。</a:t>
            </a:r>
            <a:endParaRPr lang="en-US" altLang="zh-TW" dirty="0"/>
          </a:p>
          <a:p>
            <a:pPr marL="514350" indent="-514350">
              <a:buFont typeface="Wingdings" panose="05000000000000000000" pitchFamily="2" charset="2"/>
              <a:buAutoNum type="circleNumWdWhitePlain" startAt="2"/>
            </a:pPr>
            <a:r>
              <a:rPr lang="en-US" altLang="zh-TW" dirty="0"/>
              <a:t>2 </a:t>
            </a:r>
            <a:r>
              <a:rPr lang="zh-TW" altLang="en-US" dirty="0"/>
              <a:t>個參數的語法為：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</a:t>
            </a:r>
            <a:r>
              <a:rPr lang="zh-TW" alt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起始值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zh-TW" altLang="en-US" dirty="0">
                <a:latin typeface="Consolas" panose="020B0609020204030204" pitchFamily="49" charset="0"/>
              </a:rPr>
              <a:t>終止值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range(3, 7)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range(-6, -3)</a:t>
            </a:r>
          </a:p>
          <a:p>
            <a:pPr lvl="1"/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range(-2, -6)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6" name="圓角矩形圖說文字 5"/>
          <p:cNvSpPr/>
          <p:nvPr/>
        </p:nvSpPr>
        <p:spPr>
          <a:xfrm>
            <a:off x="4446841" y="3684999"/>
            <a:ext cx="2417909" cy="613558"/>
          </a:xfrm>
          <a:prstGeom prst="wedgeRoundRectCallout">
            <a:avLst>
              <a:gd name="adj1" fmla="val -78729"/>
              <a:gd name="adj2" fmla="val 4783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3, 4, 5, 6</a:t>
            </a:r>
            <a:endParaRPr lang="zh-TW" altLang="en-US" sz="3200" dirty="0"/>
          </a:p>
        </p:txBody>
      </p:sp>
      <p:sp>
        <p:nvSpPr>
          <p:cNvPr id="7" name="圓角矩形圖說文字 6"/>
          <p:cNvSpPr/>
          <p:nvPr/>
        </p:nvSpPr>
        <p:spPr>
          <a:xfrm>
            <a:off x="4446841" y="4555732"/>
            <a:ext cx="2417909" cy="613558"/>
          </a:xfrm>
          <a:prstGeom prst="wedgeRoundRectCallout">
            <a:avLst>
              <a:gd name="adj1" fmla="val -69079"/>
              <a:gd name="adj2" fmla="val -841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-6, -5, -4</a:t>
            </a:r>
            <a:endParaRPr lang="zh-TW" altLang="en-US" sz="3200" dirty="0"/>
          </a:p>
        </p:txBody>
      </p:sp>
      <p:sp>
        <p:nvSpPr>
          <p:cNvPr id="8" name="圓角矩形圖說文字 6">
            <a:extLst>
              <a:ext uri="{FF2B5EF4-FFF2-40B4-BE49-F238E27FC236}">
                <a16:creationId xmlns:a16="http://schemas.microsoft.com/office/drawing/2014/main" id="{11A60E2B-B14E-4343-8DB2-2DEA5F6E644A}"/>
              </a:ext>
            </a:extLst>
          </p:cNvPr>
          <p:cNvSpPr/>
          <p:nvPr/>
        </p:nvSpPr>
        <p:spPr>
          <a:xfrm>
            <a:off x="4446842" y="5512623"/>
            <a:ext cx="2417908" cy="613558"/>
          </a:xfrm>
          <a:prstGeom prst="wedgeRoundRectCallout">
            <a:avLst>
              <a:gd name="adj1" fmla="val -69079"/>
              <a:gd name="adj2" fmla="val -841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66517E9-8123-42C9-BA9C-46940D95F6D8}"/>
              </a:ext>
            </a:extLst>
          </p:cNvPr>
          <p:cNvSpPr txBox="1"/>
          <p:nvPr/>
        </p:nvSpPr>
        <p:spPr>
          <a:xfrm>
            <a:off x="3019806" y="3280910"/>
            <a:ext cx="6149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0807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的語法有三種，以</a:t>
            </a:r>
            <a:r>
              <a:rPr lang="zh-TW" altLang="en-US" dirty="0">
                <a:solidFill>
                  <a:schemeClr val="accent4"/>
                </a:solidFill>
              </a:rPr>
              <a:t>參數的個數</a:t>
            </a:r>
            <a:r>
              <a:rPr lang="zh-TW" altLang="en-US" dirty="0"/>
              <a:t>來區分。</a:t>
            </a:r>
            <a:endParaRPr lang="en-US" altLang="zh-TW" dirty="0">
              <a:latin typeface="Consolas" panose="020B0609020204030204" pitchFamily="49" charset="0"/>
            </a:endParaRPr>
          </a:p>
          <a:p>
            <a:pPr marL="514350" indent="-514350">
              <a:buFont typeface="Wingdings" panose="05000000000000000000" pitchFamily="2" charset="2"/>
              <a:buAutoNum type="circleNumWdWhitePlain" startAt="3"/>
            </a:pPr>
            <a:r>
              <a:rPr lang="en-US" altLang="zh-TW" dirty="0"/>
              <a:t>3 </a:t>
            </a:r>
            <a:r>
              <a:rPr lang="zh-TW" altLang="en-US" dirty="0"/>
              <a:t>個參數的語法為：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</a:t>
            </a:r>
            <a:r>
              <a:rPr lang="zh-TW" altLang="en-US" dirty="0">
                <a:latin typeface="Consolas" panose="020B0609020204030204" pitchFamily="49" charset="0"/>
              </a:rPr>
              <a:t>起始值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zh-TW" altLang="en-US" dirty="0">
                <a:latin typeface="Consolas" panose="020B0609020204030204" pitchFamily="49" charset="0"/>
              </a:rPr>
              <a:t>終止值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zh-TW" alt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間隔值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</a:p>
          <a:p>
            <a:pPr lvl="1"/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range(3, 8, 1) = range(3, 8)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range(3, 8, 2)</a:t>
            </a:r>
          </a:p>
          <a:p>
            <a:pPr lvl="1"/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range(8, 3, -1)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5" name="圓角矩形圖說文字 4"/>
          <p:cNvSpPr/>
          <p:nvPr/>
        </p:nvSpPr>
        <p:spPr>
          <a:xfrm>
            <a:off x="7298767" y="3961886"/>
            <a:ext cx="2484815" cy="613558"/>
          </a:xfrm>
          <a:prstGeom prst="wedgeRoundRectCallout">
            <a:avLst>
              <a:gd name="adj1" fmla="val -71464"/>
              <a:gd name="adj2" fmla="val -597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3, 4, 5, 6, 7</a:t>
            </a:r>
            <a:endParaRPr lang="zh-TW" altLang="en-US" sz="3200" dirty="0"/>
          </a:p>
        </p:txBody>
      </p:sp>
      <p:sp>
        <p:nvSpPr>
          <p:cNvPr id="6" name="圓角矩形圖說文字 5"/>
          <p:cNvSpPr/>
          <p:nvPr/>
        </p:nvSpPr>
        <p:spPr>
          <a:xfrm>
            <a:off x="5067430" y="4691619"/>
            <a:ext cx="1663903" cy="613558"/>
          </a:xfrm>
          <a:prstGeom prst="wedgeRoundRectCallout">
            <a:avLst>
              <a:gd name="adj1" fmla="val -99407"/>
              <a:gd name="adj2" fmla="val -3349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3, 5, 7</a:t>
            </a:r>
            <a:endParaRPr lang="zh-TW" altLang="en-US" sz="3200" dirty="0"/>
          </a:p>
        </p:txBody>
      </p:sp>
      <p:sp>
        <p:nvSpPr>
          <p:cNvPr id="7" name="圓角矩形圖說文字 6"/>
          <p:cNvSpPr/>
          <p:nvPr/>
        </p:nvSpPr>
        <p:spPr>
          <a:xfrm>
            <a:off x="5067430" y="5813962"/>
            <a:ext cx="2484815" cy="613558"/>
          </a:xfrm>
          <a:prstGeom prst="wedgeRoundRectCallout">
            <a:avLst>
              <a:gd name="adj1" fmla="val -77389"/>
              <a:gd name="adj2" fmla="val -4469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8, 7, 6, 5, 4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7534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095A1-BF85-4252-985C-E1142CA0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62C09C-FC9E-46EA-9E38-183DB3253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想要直接輸出 </a:t>
            </a:r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產生的等差數列有點麻煩，因為其本質畢竟還是一個</a:t>
            </a:r>
            <a:r>
              <a:rPr lang="zh-TW" altLang="en-US" dirty="0">
                <a:solidFill>
                  <a:schemeClr val="accent4"/>
                </a:solidFill>
              </a:rPr>
              <a:t>封裝過的物件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常見作法則是在輸出前就利用內建函式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list()</a:t>
            </a:r>
            <a:r>
              <a:rPr lang="zh-TW" altLang="en-US" dirty="0"/>
              <a:t>，強制將其轉換為串列（之後介紹）。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D74F3C-3525-47DA-85E7-E70EA5AD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21EA31F-4B63-456D-BF62-644034B3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840" y="3853212"/>
            <a:ext cx="4571429" cy="28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48FF5B5-B2C2-410D-9D14-E5094E49E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452" y="4394416"/>
            <a:ext cx="2600578" cy="17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0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練習：計算連加與連乘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讓使用者輸入一個正整數 </a:t>
            </a:r>
            <a:r>
              <a:rPr lang="en-US" altLang="zh-TW" dirty="0"/>
              <a:t>n</a:t>
            </a:r>
            <a:r>
              <a:rPr lang="zh-TW" altLang="en-US" dirty="0"/>
              <a:t>，程式會計算由 </a:t>
            </a:r>
            <a:r>
              <a:rPr lang="en-US" altLang="zh-TW" dirty="0"/>
              <a:t>1 ~ n </a:t>
            </a:r>
            <a:r>
              <a:rPr lang="zh-TW" altLang="en-US" dirty="0"/>
              <a:t>的總和與乘積。</a:t>
            </a:r>
            <a:endParaRPr lang="en-US" altLang="zh-TW" dirty="0"/>
          </a:p>
          <a:p>
            <a:pPr lvl="1"/>
            <a:r>
              <a:rPr lang="zh-TW" altLang="en-US" dirty="0"/>
              <a:t>輸入：一個正整數 </a:t>
            </a:r>
            <a:r>
              <a:rPr lang="en-US" altLang="zh-TW" dirty="0"/>
              <a:t>n</a:t>
            </a:r>
          </a:p>
          <a:p>
            <a:pPr lvl="1"/>
            <a:r>
              <a:rPr lang="zh-TW" altLang="en-US" dirty="0"/>
              <a:t>輸出：</a:t>
            </a:r>
            <a:r>
              <a:rPr lang="en-US" altLang="zh-TW" dirty="0"/>
              <a:t>1 + 2 + … + n</a:t>
            </a:r>
          </a:p>
          <a:p>
            <a:pPr marL="457200" lvl="1" indent="0">
              <a:buNone/>
            </a:pPr>
            <a:r>
              <a:rPr lang="en-US" altLang="zh-TW" dirty="0"/>
              <a:t>	        1 × 2 × … × 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866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練習：判斷質數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使用者輸入一個正整數 </a:t>
            </a:r>
            <a:r>
              <a:rPr lang="en-US" altLang="zh-TW" dirty="0" err="1"/>
              <a:t>num</a:t>
            </a:r>
            <a:r>
              <a:rPr lang="zh-TW" altLang="en-US" dirty="0"/>
              <a:t>，判斷 </a:t>
            </a:r>
            <a:r>
              <a:rPr lang="en-US" altLang="zh-TW" dirty="0" err="1"/>
              <a:t>num</a:t>
            </a:r>
            <a:r>
              <a:rPr lang="en-US" altLang="zh-TW" dirty="0"/>
              <a:t> </a:t>
            </a:r>
            <a:r>
              <a:rPr lang="zh-TW" altLang="en-US" dirty="0"/>
              <a:t>是否為質數。</a:t>
            </a:r>
            <a:endParaRPr lang="en-US" altLang="zh-TW" dirty="0"/>
          </a:p>
          <a:p>
            <a:pPr lvl="1"/>
            <a:r>
              <a:rPr lang="zh-TW" altLang="en-US" dirty="0"/>
              <a:t>輸入：一個正整數 </a:t>
            </a:r>
            <a:r>
              <a:rPr lang="en-US" altLang="zh-TW" dirty="0" err="1"/>
              <a:t>num</a:t>
            </a:r>
            <a:endParaRPr lang="en-US" altLang="zh-TW" dirty="0"/>
          </a:p>
          <a:p>
            <a:pPr lvl="1"/>
            <a:r>
              <a:rPr lang="zh-TW" altLang="en-US" dirty="0"/>
              <a:t>輸出：</a:t>
            </a:r>
            <a:endParaRPr lang="en-US" altLang="zh-TW" dirty="0"/>
          </a:p>
          <a:p>
            <a:pPr lvl="2"/>
            <a:r>
              <a:rPr lang="en-US" altLang="zh-TW" dirty="0" err="1"/>
              <a:t>num</a:t>
            </a:r>
            <a:r>
              <a:rPr lang="en-US" altLang="zh-TW" dirty="0"/>
              <a:t> </a:t>
            </a:r>
            <a:r>
              <a:rPr lang="zh-TW" altLang="en-US" dirty="0"/>
              <a:t>為質數  </a:t>
            </a:r>
            <a:r>
              <a:rPr lang="en-US" altLang="zh-TW" dirty="0">
                <a:sym typeface="Wingdings" panose="05000000000000000000" pitchFamily="2" charset="2"/>
              </a:rPr>
              <a:t>  </a:t>
            </a:r>
            <a:r>
              <a:rPr lang="zh-TW" altLang="en-US" dirty="0">
                <a:sym typeface="Wingdings" panose="05000000000000000000" pitchFamily="2" charset="2"/>
              </a:rPr>
              <a:t>輸出 </a:t>
            </a:r>
            <a:r>
              <a:rPr lang="en-US" altLang="zh-TW" dirty="0">
                <a:sym typeface="Wingdings" panose="05000000000000000000" pitchFamily="2" charset="2"/>
              </a:rPr>
              <a:t>"num </a:t>
            </a:r>
            <a:r>
              <a:rPr lang="zh-TW" altLang="en-US" dirty="0">
                <a:sym typeface="Wingdings" panose="05000000000000000000" pitchFamily="2" charset="2"/>
              </a:rPr>
              <a:t>是質數</a:t>
            </a:r>
            <a:r>
              <a:rPr lang="en-US" altLang="zh-TW" dirty="0">
                <a:sym typeface="Wingdings" panose="05000000000000000000" pitchFamily="2" charset="2"/>
              </a:rPr>
              <a:t>"</a:t>
            </a:r>
          </a:p>
          <a:p>
            <a:pPr lvl="2"/>
            <a:r>
              <a:rPr lang="en-US" altLang="zh-TW" dirty="0" err="1"/>
              <a:t>num</a:t>
            </a:r>
            <a:r>
              <a:rPr lang="en-US" altLang="zh-TW" dirty="0"/>
              <a:t> </a:t>
            </a:r>
            <a:r>
              <a:rPr lang="zh-TW" altLang="en-US" dirty="0"/>
              <a:t>不為質數  </a:t>
            </a:r>
            <a:r>
              <a:rPr lang="en-US" altLang="zh-TW" dirty="0">
                <a:sym typeface="Wingdings" panose="05000000000000000000" pitchFamily="2" charset="2"/>
              </a:rPr>
              <a:t>  </a:t>
            </a:r>
            <a:r>
              <a:rPr lang="zh-TW" altLang="en-US" dirty="0">
                <a:sym typeface="Wingdings" panose="05000000000000000000" pitchFamily="2" charset="2"/>
              </a:rPr>
              <a:t>輸出 </a:t>
            </a:r>
            <a:r>
              <a:rPr lang="en-US" altLang="zh-TW" dirty="0">
                <a:sym typeface="Wingdings" panose="05000000000000000000" pitchFamily="2" charset="2"/>
              </a:rPr>
              <a:t>"num </a:t>
            </a:r>
            <a:r>
              <a:rPr lang="zh-TW" altLang="en-US" dirty="0">
                <a:sym typeface="Wingdings" panose="05000000000000000000" pitchFamily="2" charset="2"/>
              </a:rPr>
              <a:t>不是質數</a:t>
            </a:r>
            <a:r>
              <a:rPr lang="en-US" altLang="zh-TW" dirty="0">
                <a:sym typeface="Wingdings" panose="05000000000000000000" pitchFamily="2" charset="2"/>
              </a:rPr>
              <a:t>"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858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與 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continue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latin typeface="Consolas" panose="020B0609020204030204" pitchFamily="49" charset="0"/>
              </a:rPr>
              <a:t>巢狀迴圈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1076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Consolas" panose="020B0609020204030204" pitchFamily="49" charset="0"/>
              </a:rPr>
              <a:t>進階流程控制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一般來說，迴圈不斷地重複執行既定動作，可是在某些情境下，我們需要在迴圈執行過程中強制</a:t>
            </a:r>
            <a:r>
              <a:rPr lang="zh-TW" altLang="en-US" dirty="0">
                <a:solidFill>
                  <a:schemeClr val="accent4"/>
                </a:solidFill>
              </a:rPr>
              <a:t>改變其執行流程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1F9A34-07C4-444F-994E-8D929E59B711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3601" y="2996808"/>
            <a:ext cx="4817167" cy="36564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624F2627-EE99-4C9C-B5CD-2E754D2A0A0C}"/>
              </a:ext>
            </a:extLst>
          </p:cNvPr>
          <p:cNvSpPr/>
          <p:nvPr/>
        </p:nvSpPr>
        <p:spPr>
          <a:xfrm>
            <a:off x="7977055" y="4673600"/>
            <a:ext cx="2880458" cy="1023815"/>
          </a:xfrm>
          <a:prstGeom prst="wedgeRoundRectCallout">
            <a:avLst>
              <a:gd name="adj1" fmla="val -65330"/>
              <a:gd name="adj2" fmla="val -3750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/>
              <a:t>兩者通常會搭配邏輯判斷一同使用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6096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C93CD-F02D-4A0F-8FC5-5B921349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break</a:t>
            </a:r>
            <a:r>
              <a:rPr lang="en-US" altLang="zh-TW" dirty="0"/>
              <a:t> </a:t>
            </a:r>
            <a:r>
              <a:rPr lang="zh-TW" altLang="en-US" dirty="0"/>
              <a:t>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3B0E4D-5DD8-4800-98A2-0F45D4717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當我們希望迴圈在執行程式區塊的過程中，直接</a:t>
            </a:r>
            <a:r>
              <a:rPr lang="zh-TW" altLang="en-US" dirty="0">
                <a:solidFill>
                  <a:schemeClr val="accent4"/>
                </a:solidFill>
              </a:rPr>
              <a:t>中斷離開這個迴圈</a:t>
            </a:r>
            <a:r>
              <a:rPr lang="zh-TW" altLang="en-US" dirty="0"/>
              <a:t>，並繼續執行迴圈後的下一段程式，就能使用 </a:t>
            </a:r>
            <a:r>
              <a:rPr lang="en-US" altLang="zh-TW" dirty="0">
                <a:latin typeface="Consolas" panose="020B0609020204030204" pitchFamily="49" charset="0"/>
              </a:rPr>
              <a:t>break</a:t>
            </a:r>
            <a:r>
              <a:rPr lang="en-US" altLang="zh-TW" dirty="0"/>
              <a:t> </a:t>
            </a:r>
            <a:r>
              <a:rPr lang="zh-TW" altLang="en-US" dirty="0"/>
              <a:t>敘述。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7F6F2-63A3-4D92-909E-47029F30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C62CF34-B454-4E4D-A0A2-16BBAAAF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796" y="3754741"/>
            <a:ext cx="5866407" cy="148156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A270731-D332-4CB6-B20D-085FCCA5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911" y="3774210"/>
            <a:ext cx="494549" cy="143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2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1A486-E2AC-4340-9AB5-D94E735C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CCB6C6-E6ED-4775-BA6C-44FB0F06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A6C0D90-30FC-4427-B762-8ADBEE10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38" y="2389017"/>
            <a:ext cx="8040724" cy="349596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845285C-0315-492F-A5AC-672E91CB0E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1732" y="1281722"/>
            <a:ext cx="4866418" cy="182524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3661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8BACE-108A-4E99-B9F0-8DC97289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利用 </a:t>
            </a:r>
            <a:r>
              <a:rPr lang="en-US" altLang="zh-TW" dirty="0">
                <a:latin typeface="Consolas" panose="020B0609020204030204" pitchFamily="49" charset="0"/>
              </a:rPr>
              <a:t>break</a:t>
            </a:r>
            <a:r>
              <a:rPr lang="en-US" altLang="zh-TW" dirty="0"/>
              <a:t> </a:t>
            </a:r>
            <a:r>
              <a:rPr lang="zh-TW" altLang="en-US" dirty="0"/>
              <a:t>來除錯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D86588-5A99-46FE-94BB-A22D2FDFC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原本目標是計算連加「</a:t>
            </a:r>
            <a:r>
              <a:rPr lang="en-US" altLang="zh-TW" dirty="0"/>
              <a:t>1 + 0.9 + … + 0.1</a:t>
            </a:r>
            <a:r>
              <a:rPr lang="zh-TW" altLang="en-US" dirty="0"/>
              <a:t>」的值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4853ED-DB6B-46F3-A4A3-E7117C13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FF58D4-344C-4772-A345-B769CF0E5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658892"/>
            <a:ext cx="5268393" cy="37550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AC53CF5-002D-47A6-AC6D-0249A3DA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268" y="2658892"/>
            <a:ext cx="31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2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C40B8-9292-4C5D-80BF-8628E047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continue</a:t>
            </a:r>
            <a:r>
              <a:rPr lang="en-US" altLang="zh-TW" dirty="0"/>
              <a:t> </a:t>
            </a:r>
            <a:r>
              <a:rPr lang="zh-TW" altLang="en-US" dirty="0"/>
              <a:t>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5D746-AADE-4E05-9808-C036D6E8E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當我們想要迴圈執行完部分程式區塊後，即</a:t>
            </a:r>
            <a:r>
              <a:rPr lang="zh-TW" altLang="en-US" dirty="0">
                <a:solidFill>
                  <a:schemeClr val="accent4"/>
                </a:solidFill>
              </a:rPr>
              <a:t>略過剩餘部分直接跳到下一個元素</a:t>
            </a:r>
            <a:r>
              <a:rPr lang="zh-TW" altLang="en-US" dirty="0"/>
              <a:t>時，就可使用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r>
              <a:rPr lang="en-US" altLang="zh-TW" dirty="0"/>
              <a:t> </a:t>
            </a:r>
            <a:r>
              <a:rPr lang="zh-TW" altLang="en-US" dirty="0"/>
              <a:t>敘述。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2BD91A-1323-4CEB-A249-9D6857AC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7FB03BE-A757-415B-9788-36CC11C2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18" y="3848525"/>
            <a:ext cx="6072562" cy="14112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5D4AE26-3E75-4797-AFBC-0F6AAB395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983" y="3767124"/>
            <a:ext cx="553038" cy="15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2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與 </a:t>
            </a:r>
            <a:r>
              <a:rPr lang="en-US" altLang="zh-TW" dirty="0">
                <a:solidFill>
                  <a:schemeClr val="accent2"/>
                </a:solidFill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latin typeface="Consolas" panose="020B0609020204030204" pitchFamily="49" charset="0"/>
              </a:rPr>
              <a:t>巢狀迴圈</a:t>
            </a:r>
            <a:endParaRPr lang="en-US" altLang="zh-TW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3957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E9EF0-EC84-4A1A-B0B0-4D1D29D8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else</a:t>
            </a:r>
            <a:r>
              <a:rPr lang="en-US" altLang="zh-TW" dirty="0"/>
              <a:t> </a:t>
            </a:r>
            <a:r>
              <a:rPr lang="zh-TW" altLang="en-US" dirty="0"/>
              <a:t>敘述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618632-CEAE-42B1-B964-A38FF991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大多數程式語言都有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zh-TW" altLang="en-US" dirty="0"/>
              <a:t> 與 </a:t>
            </a:r>
            <a:r>
              <a:rPr lang="en-US" altLang="zh-TW" dirty="0">
                <a:latin typeface="Consolas" panose="020B0609020204030204" pitchFamily="49" charset="0"/>
              </a:rPr>
              <a:t>else</a:t>
            </a:r>
            <a:r>
              <a:rPr lang="zh-TW" altLang="en-US" dirty="0"/>
              <a:t> 搭配使用，但 </a:t>
            </a:r>
            <a:r>
              <a:rPr lang="en-US" altLang="zh-TW" dirty="0">
                <a:latin typeface="Consolas" panose="020B0609020204030204" pitchFamily="49" charset="0"/>
              </a:rPr>
              <a:t>else</a:t>
            </a:r>
            <a:r>
              <a:rPr lang="zh-TW" altLang="en-US" dirty="0"/>
              <a:t> 在 </a:t>
            </a:r>
            <a:r>
              <a:rPr lang="en-US" altLang="zh-TW" dirty="0"/>
              <a:t>Python</a:t>
            </a:r>
            <a:r>
              <a:rPr lang="zh-TW" altLang="en-US" dirty="0"/>
              <a:t> 中除了能與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zh-TW" altLang="en-US" dirty="0"/>
              <a:t> 配合外，也能與 </a:t>
            </a:r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zh-TW" altLang="en-US" dirty="0"/>
              <a:t> 迴圈配對。</a:t>
            </a:r>
            <a:endParaRPr lang="en-US" altLang="zh-TW" dirty="0"/>
          </a:p>
          <a:p>
            <a:pPr lvl="1"/>
            <a:r>
              <a:rPr lang="zh-TW" altLang="en-US" dirty="0"/>
              <a:t>用來表達「如果迴圈</a:t>
            </a:r>
            <a:r>
              <a:rPr lang="zh-TW" altLang="en-US" dirty="0">
                <a:solidFill>
                  <a:schemeClr val="accent4"/>
                </a:solidFill>
              </a:rPr>
              <a:t>正常結束</a:t>
            </a:r>
            <a:r>
              <a:rPr lang="zh-TW" altLang="en-US" dirty="0"/>
              <a:t>，就執行既定動作」的語意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461F5-17DC-4830-B224-726D655C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32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3A7909B-B902-4AA6-916D-5314D7516364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3608" y="3876786"/>
            <a:ext cx="4682392" cy="2314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A4BC1D4-05A6-4F9C-A777-E46637450A89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8953" y="3604945"/>
            <a:ext cx="4513873" cy="285814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D02B8A5E-D5D2-41CD-81BC-9E0D2D3E3F44}"/>
              </a:ext>
            </a:extLst>
          </p:cNvPr>
          <p:cNvSpPr/>
          <p:nvPr/>
        </p:nvSpPr>
        <p:spPr>
          <a:xfrm>
            <a:off x="4706331" y="4630370"/>
            <a:ext cx="1380388" cy="707539"/>
          </a:xfrm>
          <a:prstGeom prst="ellipse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914CBA9-4F38-4E0E-9DF6-DFBF1D674906}"/>
              </a:ext>
            </a:extLst>
          </p:cNvPr>
          <p:cNvSpPr/>
          <p:nvPr/>
        </p:nvSpPr>
        <p:spPr>
          <a:xfrm>
            <a:off x="9595342" y="4329476"/>
            <a:ext cx="1334964" cy="648677"/>
          </a:xfrm>
          <a:prstGeom prst="ellipse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5391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F72E8-9532-4AEE-99B6-F12654F1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else</a:t>
            </a:r>
            <a:r>
              <a:rPr lang="en-US" altLang="zh-TW" dirty="0"/>
              <a:t> </a:t>
            </a:r>
            <a:r>
              <a:rPr lang="zh-TW" altLang="en-US" dirty="0"/>
              <a:t>敘述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264AA0-1B35-4A82-8864-66243E549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所謂</a:t>
            </a:r>
            <a:r>
              <a:rPr lang="zh-TW" altLang="en-US" dirty="0">
                <a:solidFill>
                  <a:schemeClr val="accent4"/>
                </a:solidFill>
              </a:rPr>
              <a:t>正常結束</a:t>
            </a:r>
            <a:r>
              <a:rPr lang="zh-TW" altLang="en-US" dirty="0"/>
              <a:t>，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當條件式不成立的時候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    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所有元素都被處理完畢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簡言之，當迴圈遇到 </a:t>
            </a:r>
            <a:r>
              <a:rPr lang="en-US" altLang="zh-TW" dirty="0">
                <a:latin typeface="Consolas" panose="020B0609020204030204" pitchFamily="49" charset="0"/>
              </a:rPr>
              <a:t>break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>
                <a:latin typeface="Consolas" panose="020B0609020204030204" pitchFamily="49" charset="0"/>
              </a:rPr>
              <a:t>return</a:t>
            </a:r>
            <a:r>
              <a:rPr lang="en-US" altLang="zh-TW" dirty="0"/>
              <a:t> </a:t>
            </a:r>
            <a:r>
              <a:rPr lang="zh-TW" altLang="en-US" dirty="0"/>
              <a:t>等敘述而</a:t>
            </a:r>
            <a:r>
              <a:rPr lang="zh-TW" altLang="en-US" dirty="0">
                <a:solidFill>
                  <a:schemeClr val="accent4"/>
                </a:solidFill>
              </a:rPr>
              <a:t>中斷執行並離開</a:t>
            </a:r>
            <a:r>
              <a:rPr lang="zh-TW" altLang="en-US" dirty="0"/>
              <a:t>時，就不會執行 </a:t>
            </a:r>
            <a:r>
              <a:rPr lang="en-US" altLang="zh-TW" dirty="0">
                <a:latin typeface="Consolas" panose="020B0609020204030204" pitchFamily="49" charset="0"/>
              </a:rPr>
              <a:t>else</a:t>
            </a:r>
            <a:r>
              <a:rPr lang="en-US" altLang="zh-TW" dirty="0"/>
              <a:t> </a:t>
            </a:r>
            <a:r>
              <a:rPr lang="zh-TW" altLang="en-US" dirty="0"/>
              <a:t>的部分。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C71B1D-2F36-4966-BAA6-55CB89EA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443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C4D3E1-91FF-4650-94D3-8350B700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C37C24-F53A-470E-8D2B-55D887419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找出能</a:t>
            </a:r>
            <a:r>
              <a:rPr lang="zh-TW" altLang="en-US" dirty="0">
                <a:solidFill>
                  <a:schemeClr val="accent4"/>
                </a:solidFill>
              </a:rPr>
              <a:t>被 </a:t>
            </a:r>
            <a:r>
              <a:rPr lang="en-US" altLang="zh-TW" dirty="0">
                <a:solidFill>
                  <a:schemeClr val="accent4"/>
                </a:solidFill>
              </a:rPr>
              <a:t>17 </a:t>
            </a:r>
            <a:r>
              <a:rPr lang="zh-TW" altLang="en-US" dirty="0">
                <a:solidFill>
                  <a:schemeClr val="accent4"/>
                </a:solidFill>
              </a:rPr>
              <a:t>整除</a:t>
            </a:r>
            <a:r>
              <a:rPr lang="zh-TW" altLang="en-US" dirty="0"/>
              <a:t>且</a:t>
            </a:r>
            <a:r>
              <a:rPr lang="zh-TW" altLang="en-US" dirty="0">
                <a:solidFill>
                  <a:schemeClr val="accent4"/>
                </a:solidFill>
              </a:rPr>
              <a:t>小於給定數值</a:t>
            </a:r>
            <a:r>
              <a:rPr lang="zh-TW" altLang="en-US" dirty="0"/>
              <a:t>的最大正整數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DFF470-6EEC-4439-81E8-F08F8427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B5E253-FFBF-4205-B1D8-ECFD38AA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829" y="2618220"/>
            <a:ext cx="6071922" cy="374606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09E14C0-A66C-48B3-B4B5-79F66BD0C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42" y="4086457"/>
            <a:ext cx="3559408" cy="809591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9AD4F3D8-9E88-40F8-831D-47CF8BD95185}"/>
              </a:ext>
            </a:extLst>
          </p:cNvPr>
          <p:cNvSpPr/>
          <p:nvPr/>
        </p:nvSpPr>
        <p:spPr>
          <a:xfrm>
            <a:off x="179753" y="3429000"/>
            <a:ext cx="1946031" cy="633047"/>
          </a:xfrm>
          <a:prstGeom prst="wedgeRoundRectCallout">
            <a:avLst>
              <a:gd name="adj1" fmla="val 90412"/>
              <a:gd name="adj2" fmla="val -38735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旗標</a:t>
            </a:r>
            <a:r>
              <a:rPr lang="en-US" altLang="zh-TW" sz="2000" dirty="0"/>
              <a:t>(flag)</a:t>
            </a:r>
            <a:r>
              <a:rPr lang="zh-TW" altLang="en-US" sz="2000" dirty="0"/>
              <a:t>變數</a:t>
            </a:r>
          </a:p>
        </p:txBody>
      </p:sp>
    </p:spTree>
    <p:extLst>
      <p:ext uri="{BB962C8B-B14F-4D97-AF65-F5344CB8AC3E}">
        <p14:creationId xmlns:p14="http://schemas.microsoft.com/office/powerpoint/2010/main" val="33180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E0A1F-E38E-415A-9104-FE862440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D83B6D-6630-4284-AAD5-54B408E9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9644A9-220A-4ED4-BA92-53082B7385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738" y="2235444"/>
            <a:ext cx="5345413" cy="32978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E4A44E8-6DE3-44CD-8435-8B8A3AD4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03416"/>
            <a:ext cx="5476190" cy="2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61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練習：判斷質數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 </a:t>
            </a:r>
            <a:r>
              <a:rPr lang="en-US" altLang="zh-TW" dirty="0">
                <a:latin typeface="Consolas" panose="020B0609020204030204" pitchFamily="49" charset="0"/>
              </a:rPr>
              <a:t>for … else … </a:t>
            </a:r>
            <a:r>
              <a:rPr lang="zh-TW" altLang="en-US" dirty="0"/>
              <a:t>迴圈來判斷質數</a:t>
            </a:r>
            <a:endParaRPr lang="en-US" altLang="zh-TW" dirty="0"/>
          </a:p>
          <a:p>
            <a:pPr lvl="1"/>
            <a:r>
              <a:rPr lang="zh-TW" altLang="en-US" dirty="0"/>
              <a:t>輸入：一個正整數 </a:t>
            </a:r>
            <a:r>
              <a:rPr lang="en-US" altLang="zh-TW" dirty="0"/>
              <a:t>num</a:t>
            </a:r>
          </a:p>
          <a:p>
            <a:pPr lvl="1"/>
            <a:r>
              <a:rPr lang="zh-TW" altLang="en-US" dirty="0"/>
              <a:t>輸出：</a:t>
            </a:r>
            <a:endParaRPr lang="en-US" altLang="zh-TW" dirty="0"/>
          </a:p>
          <a:p>
            <a:pPr lvl="2"/>
            <a:r>
              <a:rPr lang="en-US" altLang="zh-TW" dirty="0"/>
              <a:t>num </a:t>
            </a:r>
            <a:r>
              <a:rPr lang="zh-TW" altLang="en-US" dirty="0"/>
              <a:t>為質數  </a:t>
            </a:r>
            <a:r>
              <a:rPr lang="en-US" altLang="zh-TW" dirty="0">
                <a:sym typeface="Wingdings" panose="05000000000000000000" pitchFamily="2" charset="2"/>
              </a:rPr>
              <a:t>  </a:t>
            </a:r>
            <a:r>
              <a:rPr lang="zh-TW" altLang="en-US" dirty="0">
                <a:sym typeface="Wingdings" panose="05000000000000000000" pitchFamily="2" charset="2"/>
              </a:rPr>
              <a:t>輸出 </a:t>
            </a:r>
            <a:r>
              <a:rPr lang="en-US" altLang="zh-TW" dirty="0">
                <a:sym typeface="Wingdings" panose="05000000000000000000" pitchFamily="2" charset="2"/>
              </a:rPr>
              <a:t>"num </a:t>
            </a:r>
            <a:r>
              <a:rPr lang="zh-TW" altLang="en-US" dirty="0">
                <a:sym typeface="Wingdings" panose="05000000000000000000" pitchFamily="2" charset="2"/>
              </a:rPr>
              <a:t>是質數</a:t>
            </a:r>
            <a:r>
              <a:rPr lang="en-US" altLang="zh-TW" dirty="0">
                <a:sym typeface="Wingdings" panose="05000000000000000000" pitchFamily="2" charset="2"/>
              </a:rPr>
              <a:t>"</a:t>
            </a:r>
          </a:p>
          <a:p>
            <a:pPr lvl="2"/>
            <a:r>
              <a:rPr lang="en-US" altLang="zh-TW" dirty="0"/>
              <a:t>num </a:t>
            </a:r>
            <a:r>
              <a:rPr lang="zh-TW" altLang="en-US" dirty="0"/>
              <a:t>不為質數  </a:t>
            </a:r>
            <a:r>
              <a:rPr lang="en-US" altLang="zh-TW" dirty="0">
                <a:sym typeface="Wingdings" panose="05000000000000000000" pitchFamily="2" charset="2"/>
              </a:rPr>
              <a:t>  </a:t>
            </a:r>
            <a:r>
              <a:rPr lang="zh-TW" altLang="en-US" dirty="0">
                <a:sym typeface="Wingdings" panose="05000000000000000000" pitchFamily="2" charset="2"/>
              </a:rPr>
              <a:t>輸出 </a:t>
            </a:r>
            <a:r>
              <a:rPr lang="en-US" altLang="zh-TW" dirty="0">
                <a:sym typeface="Wingdings" panose="05000000000000000000" pitchFamily="2" charset="2"/>
              </a:rPr>
              <a:t>"num </a:t>
            </a:r>
            <a:r>
              <a:rPr lang="zh-TW" altLang="en-US" dirty="0">
                <a:sym typeface="Wingdings" panose="05000000000000000000" pitchFamily="2" charset="2"/>
              </a:rPr>
              <a:t>不是質數</a:t>
            </a:r>
            <a:r>
              <a:rPr lang="en-US" altLang="zh-TW" dirty="0">
                <a:sym typeface="Wingdings" panose="05000000000000000000" pitchFamily="2" charset="2"/>
              </a:rPr>
              <a:t>"</a:t>
            </a:r>
            <a:endParaRPr lang="zh-TW" altLang="en-US" dirty="0"/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13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while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迴圈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range()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break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continue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while … else … </a:t>
            </a:r>
            <a:r>
              <a:rPr lang="zh-TW" altLang="en-US" dirty="0">
                <a:latin typeface="Consolas" panose="020B0609020204030204" pitchFamily="49" charset="0"/>
              </a:rPr>
              <a:t>與 </a:t>
            </a:r>
            <a:r>
              <a:rPr lang="en-US" altLang="zh-TW" dirty="0">
                <a:latin typeface="Consolas" panose="020B0609020204030204" pitchFamily="49" charset="0"/>
              </a:rPr>
              <a:t>for … else …</a:t>
            </a:r>
          </a:p>
          <a:p>
            <a:r>
              <a:rPr lang="zh-TW" alt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巢狀迴圈</a:t>
            </a:r>
            <a:endParaRPr lang="en-US" altLang="zh-TW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1921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02FE68-2D99-4B41-B0B2-C87E5D5D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巢狀迴圈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F281CE-4E43-45CA-857A-FD223DBB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在一個迴圈的程式區塊內包含更多層迴圈時，就稱這個結構為</a:t>
            </a:r>
            <a:r>
              <a:rPr lang="zh-TW" altLang="en-US" dirty="0">
                <a:solidFill>
                  <a:schemeClr val="accent4"/>
                </a:solidFill>
              </a:rPr>
              <a:t>巢狀迴圈</a:t>
            </a:r>
            <a:r>
              <a:rPr lang="en-US" altLang="zh-TW" dirty="0"/>
              <a:t>(nested loop)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E5AEC4-4A60-45E7-A549-65496C56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940CC0-A3F7-40C3-AB5F-C90E15B2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51" y="3815603"/>
            <a:ext cx="6837648" cy="149885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9A5FFF6-119C-44BF-A793-26508400B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582" y="3154759"/>
            <a:ext cx="1916725" cy="28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4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828096-461E-46CF-9D95-56AEDF3D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>
                <a:latin typeface="Consolas" panose="020B0609020204030204" pitchFamily="49" charset="0"/>
              </a:rPr>
              <a:t>break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11D8E-157D-450E-8CDB-9A14154A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39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437980-2587-4633-BD44-357BFC02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60" y="4337539"/>
            <a:ext cx="7123996" cy="19225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233606F-D8CD-4002-9316-325F00C5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21" y="1819648"/>
            <a:ext cx="5947835" cy="13038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97F9559-5899-4FB9-90E9-98D8A0494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742" y="1247114"/>
            <a:ext cx="1664151" cy="244887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EAFFF19-D9A5-44F1-B8C0-6F37340E6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742" y="4696942"/>
            <a:ext cx="2252229" cy="120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1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7C95B0-5C6B-42CE-9084-BADE93DD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九九乘法表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93E78-A536-4E0E-A01E-D8838052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40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BD1F51-75C3-4D82-A86F-622E42AAB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43" y="1742737"/>
            <a:ext cx="8885714" cy="2419048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0E2B4102-3C03-49D0-A173-5602651B47EF}"/>
              </a:ext>
            </a:extLst>
          </p:cNvPr>
          <p:cNvGrpSpPr/>
          <p:nvPr/>
        </p:nvGrpSpPr>
        <p:grpSpPr>
          <a:xfrm>
            <a:off x="1653143" y="2717899"/>
            <a:ext cx="9643807" cy="572957"/>
            <a:chOff x="1653143" y="2717899"/>
            <a:chExt cx="9643807" cy="572957"/>
          </a:xfrm>
        </p:grpSpPr>
        <p:sp>
          <p:nvSpPr>
            <p:cNvPr id="6" name="向右箭號 6">
              <a:extLst>
                <a:ext uri="{FF2B5EF4-FFF2-40B4-BE49-F238E27FC236}">
                  <a16:creationId xmlns:a16="http://schemas.microsoft.com/office/drawing/2014/main" id="{B7776613-D45B-45A8-BFB2-524FBBCB10F7}"/>
                </a:ext>
              </a:extLst>
            </p:cNvPr>
            <p:cNvSpPr/>
            <p:nvPr/>
          </p:nvSpPr>
          <p:spPr>
            <a:xfrm>
              <a:off x="1653143" y="2730058"/>
              <a:ext cx="9070850" cy="548640"/>
            </a:xfrm>
            <a:prstGeom prst="rightArrow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F2C421F-DE52-43BF-A809-1E1E9AF30B69}"/>
                </a:ext>
              </a:extLst>
            </p:cNvPr>
            <p:cNvSpPr/>
            <p:nvPr/>
          </p:nvSpPr>
          <p:spPr>
            <a:xfrm>
              <a:off x="10723993" y="2717899"/>
              <a:ext cx="572957" cy="572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/>
                <a:t>1</a:t>
              </a:r>
              <a:endParaRPr lang="zh-TW" altLang="en-US" sz="2800" dirty="0"/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04224069-98FE-4D3E-9978-753ED5C168A4}"/>
              </a:ext>
            </a:extLst>
          </p:cNvPr>
          <p:cNvGrpSpPr/>
          <p:nvPr/>
        </p:nvGrpSpPr>
        <p:grpSpPr>
          <a:xfrm>
            <a:off x="8308551" y="1798828"/>
            <a:ext cx="562708" cy="2891082"/>
            <a:chOff x="8308551" y="1798828"/>
            <a:chExt cx="562708" cy="2891082"/>
          </a:xfrm>
        </p:grpSpPr>
        <p:sp>
          <p:nvSpPr>
            <p:cNvPr id="8" name="向下箭號 7">
              <a:extLst>
                <a:ext uri="{FF2B5EF4-FFF2-40B4-BE49-F238E27FC236}">
                  <a16:creationId xmlns:a16="http://schemas.microsoft.com/office/drawing/2014/main" id="{C4CA8847-70D6-4F06-8C10-E54663714248}"/>
                </a:ext>
              </a:extLst>
            </p:cNvPr>
            <p:cNvSpPr/>
            <p:nvPr/>
          </p:nvSpPr>
          <p:spPr>
            <a:xfrm>
              <a:off x="8308551" y="1798828"/>
              <a:ext cx="562708" cy="2328374"/>
            </a:xfrm>
            <a:prstGeom prst="downArrow">
              <a:avLst/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B3736289-7919-4161-BA42-FEB9791D6400}"/>
                </a:ext>
              </a:extLst>
            </p:cNvPr>
            <p:cNvSpPr/>
            <p:nvPr/>
          </p:nvSpPr>
          <p:spPr>
            <a:xfrm>
              <a:off x="8308551" y="4127202"/>
              <a:ext cx="562708" cy="5627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/>
                <a:t>2</a:t>
              </a:r>
              <a:endParaRPr lang="zh-TW" altLang="en-US" sz="2800" dirty="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21242C1A-3CF6-4C97-94EF-A69D1A0EA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342" y="4836418"/>
            <a:ext cx="8305316" cy="163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B7A6E9-32DD-4E90-82C0-C4FD2F05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等腰三角形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46D7F-595E-4470-A6B5-AE12071FE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輸入一個正整數 </a:t>
            </a:r>
            <a:r>
              <a:rPr lang="en-US" altLang="zh-TW" dirty="0"/>
              <a:t>n</a:t>
            </a:r>
            <a:r>
              <a:rPr lang="zh-TW" altLang="en-US" dirty="0"/>
              <a:t>，輸出以 </a:t>
            </a:r>
            <a:r>
              <a:rPr lang="en-US" altLang="zh-TW" dirty="0"/>
              <a:t>n </a:t>
            </a:r>
            <a:r>
              <a:rPr lang="zh-TW" altLang="en-US" dirty="0"/>
              <a:t>為高的等腰三角形（</a:t>
            </a:r>
            <a:r>
              <a:rPr lang="en-US" altLang="zh-TW" dirty="0"/>
              <a:t>or </a:t>
            </a:r>
            <a:r>
              <a:rPr lang="zh-TW" altLang="en-US" dirty="0"/>
              <a:t>金字塔）。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6B92BD-A897-46D9-8469-5577714F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8FCC34F-98F2-45E7-A243-9403EFE2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70" y="2770224"/>
            <a:ext cx="6612072" cy="31474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8592567-44E9-439E-B8D9-D5A27F36B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589" y="3044705"/>
            <a:ext cx="3067861" cy="259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17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E2C86-D62B-4710-A998-3311E109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產生排列組合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11403D-FE7B-4682-B38C-7E98A47CB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7829062" cy="4400550"/>
          </a:xfrm>
        </p:spPr>
        <p:txBody>
          <a:bodyPr/>
          <a:lstStyle/>
          <a:p>
            <a:r>
              <a:rPr lang="zh-TW" altLang="en-US" dirty="0"/>
              <a:t>用 </a:t>
            </a:r>
            <a:r>
              <a:rPr lang="en-US" altLang="zh-TW" dirty="0"/>
              <a:t>1~4 </a:t>
            </a:r>
            <a:r>
              <a:rPr lang="zh-TW" altLang="en-US" dirty="0"/>
              <a:t>共四個數字組成無重複數字的</a:t>
            </a:r>
            <a:r>
              <a:rPr lang="zh-TW" altLang="en-US" dirty="0">
                <a:solidFill>
                  <a:schemeClr val="accent4"/>
                </a:solidFill>
              </a:rPr>
              <a:t>三位數</a:t>
            </a:r>
            <a:r>
              <a:rPr lang="zh-TW" altLang="en-US" dirty="0"/>
              <a:t>，共有多少種組合？</a:t>
            </a:r>
            <a:endParaRPr lang="en-US" altLang="zh-TW" dirty="0"/>
          </a:p>
          <a:p>
            <a:pPr lvl="3"/>
            <a:endParaRPr lang="en-US" altLang="zh-TW" dirty="0"/>
          </a:p>
          <a:p>
            <a:pPr lvl="1"/>
            <a:r>
              <a:rPr lang="zh-TW" altLang="en-US" dirty="0"/>
              <a:t>可利用</a:t>
            </a:r>
            <a:r>
              <a:rPr lang="zh-TW" altLang="en-US" dirty="0">
                <a:solidFill>
                  <a:schemeClr val="accent4"/>
                </a:solidFill>
              </a:rPr>
              <a:t>巢狀迴圈</a:t>
            </a:r>
            <a:r>
              <a:rPr lang="zh-TW" altLang="en-US" dirty="0"/>
              <a:t>產生排列組合數目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5E88C2-E7B7-4C44-AFB3-0D6929A9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42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2BE5644-D75A-4078-ACCB-4F06D4412D7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1169" y="3747594"/>
            <a:ext cx="6019352" cy="290561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CE41772-5F68-4949-8352-72120D7D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783" y="1805593"/>
            <a:ext cx="1638095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8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56399-2F22-4C7B-91BF-AA3E0EC9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練習：數字的排列組合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18918-7492-46A0-83AB-9DF65E300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假設有 </a:t>
            </a:r>
            <a:r>
              <a:rPr lang="en-US" altLang="zh-TW" dirty="0"/>
              <a:t>1~5 </a:t>
            </a:r>
            <a:r>
              <a:rPr lang="zh-TW" altLang="en-US" dirty="0"/>
              <a:t>個數字，欲組成無重複數字的三位數，且滿足底下條件，共有多少種組合？</a:t>
            </a:r>
            <a:endParaRPr lang="en-US" altLang="zh-TW" dirty="0"/>
          </a:p>
          <a:p>
            <a:pPr lvl="1"/>
            <a:r>
              <a:rPr lang="zh-TW" altLang="en-US" dirty="0"/>
              <a:t>百位數字 </a:t>
            </a:r>
            <a:r>
              <a:rPr lang="en-US" altLang="zh-TW" dirty="0"/>
              <a:t>&lt; </a:t>
            </a:r>
            <a:r>
              <a:rPr lang="zh-TW" altLang="en-US" dirty="0"/>
              <a:t>十位數字 </a:t>
            </a:r>
            <a:r>
              <a:rPr lang="en-US" altLang="zh-TW" dirty="0"/>
              <a:t>&lt; </a:t>
            </a:r>
            <a:r>
              <a:rPr lang="zh-TW" altLang="en-US" dirty="0"/>
              <a:t>個位數字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2598CE-E853-4F7B-8026-7BBE84DE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9581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陣列與串列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一維串列的基礎操作</a:t>
            </a:r>
            <a:endParaRPr lang="en-US" altLang="zh-TW" dirty="0"/>
          </a:p>
          <a:p>
            <a:pPr lvl="1"/>
            <a:r>
              <a:rPr lang="zh-TW" altLang="en-US" dirty="0"/>
              <a:t>一維串列的進階操作</a:t>
            </a:r>
            <a:endParaRPr lang="en-US" altLang="zh-TW" dirty="0"/>
          </a:p>
          <a:p>
            <a:pPr lvl="1"/>
            <a:r>
              <a:rPr lang="zh-TW" altLang="en-US" dirty="0"/>
              <a:t>串列綜合運算</a:t>
            </a:r>
            <a:endParaRPr lang="en-US" altLang="zh-TW" dirty="0"/>
          </a:p>
          <a:p>
            <a:pPr lvl="1"/>
            <a:r>
              <a:rPr lang="zh-TW" altLang="en-US" dirty="0"/>
              <a:t>多維串列的操作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4244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儲存大量資料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程式中的資料以</a:t>
            </a:r>
            <a:r>
              <a:rPr lang="zh-TW" altLang="en-US" dirty="0">
                <a:solidFill>
                  <a:schemeClr val="accent4"/>
                </a:solidFill>
              </a:rPr>
              <a:t>變數</a:t>
            </a:r>
            <a:r>
              <a:rPr lang="zh-TW" altLang="en-US" dirty="0"/>
              <a:t>儲存，如果有大量資料需要儲存，單靠變數來儲存這些資料變得相當繁瑣，使用上也很沒效率。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儲存「寶可夢」的名字、血量、攻擊力、防禦力等各項資料</a:t>
            </a:r>
            <a:endParaRPr lang="en-US" altLang="zh-TW" dirty="0"/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pikachu_name</a:t>
            </a:r>
            <a:r>
              <a:rPr lang="en-US" altLang="zh-TW" dirty="0">
                <a:latin typeface="Consolas" panose="020B0609020204030204" pitchFamily="49" charset="0"/>
              </a:rPr>
              <a:t> = "</a:t>
            </a:r>
            <a:r>
              <a:rPr lang="zh-TW" altLang="en-US" dirty="0">
                <a:latin typeface="Consolas" panose="020B0609020204030204" pitchFamily="49" charset="0"/>
              </a:rPr>
              <a:t>皮卡丘</a:t>
            </a:r>
            <a:r>
              <a:rPr lang="en-US" altLang="zh-TW" dirty="0">
                <a:latin typeface="Consolas" panose="020B0609020204030204" pitchFamily="49" charset="0"/>
              </a:rPr>
              <a:t>"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pikachu_HP</a:t>
            </a:r>
            <a:r>
              <a:rPr lang="en-US" altLang="zh-TW" dirty="0">
                <a:latin typeface="Consolas" panose="020B0609020204030204" pitchFamily="49" charset="0"/>
              </a:rPr>
              <a:t> = 95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pikachu_ATK</a:t>
            </a:r>
            <a:r>
              <a:rPr lang="en-US" altLang="zh-TW" dirty="0">
                <a:latin typeface="Consolas" panose="020B0609020204030204" pitchFamily="49" charset="0"/>
              </a:rPr>
              <a:t> = 90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pikachu_DEF</a:t>
            </a:r>
            <a:r>
              <a:rPr lang="en-US" altLang="zh-TW" dirty="0">
                <a:latin typeface="Consolas" panose="020B0609020204030204" pitchFamily="49" charset="0"/>
              </a:rPr>
              <a:t> = 99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45</a:t>
            </a:fld>
            <a:endParaRPr lang="zh-TW" altLang="en-US" dirty="0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254CECFC-2320-4BE8-A500-75A816CA75D0}"/>
              </a:ext>
            </a:extLst>
          </p:cNvPr>
          <p:cNvSpPr/>
          <p:nvPr/>
        </p:nvSpPr>
        <p:spPr>
          <a:xfrm>
            <a:off x="5388935" y="5195703"/>
            <a:ext cx="5599814" cy="782822"/>
          </a:xfrm>
          <a:prstGeom prst="wedgeRoundRectCallout">
            <a:avLst>
              <a:gd name="adj1" fmla="val -56150"/>
              <a:gd name="adj2" fmla="val -4163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rgbClr val="FFFF00"/>
                </a:solidFill>
              </a:rPr>
              <a:t>陣列</a:t>
            </a:r>
            <a:r>
              <a:rPr lang="en-US" altLang="zh-TW" sz="2400" dirty="0"/>
              <a:t>(array)</a:t>
            </a:r>
            <a:r>
              <a:rPr lang="zh-TW" altLang="en-US" sz="2400" dirty="0"/>
              <a:t>是更有效率的儲存方式</a:t>
            </a:r>
          </a:p>
        </p:txBody>
      </p:sp>
    </p:spTree>
    <p:extLst>
      <p:ext uri="{BB962C8B-B14F-4D97-AF65-F5344CB8AC3E}">
        <p14:creationId xmlns:p14="http://schemas.microsoft.com/office/powerpoint/2010/main" val="200395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356E-208E-4196-8E2E-4C3A369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  <a:r>
              <a:rPr lang="en-US" altLang="zh-TW" dirty="0"/>
              <a:t>(Array)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D5D444-8DEC-4634-B068-40677F84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陣列是一種常見的</a:t>
            </a:r>
            <a:r>
              <a:rPr lang="zh-TW" altLang="en-US" dirty="0">
                <a:solidFill>
                  <a:schemeClr val="accent4"/>
                </a:solidFill>
              </a:rPr>
              <a:t>資料結構</a:t>
            </a:r>
            <a:r>
              <a:rPr lang="en-US" altLang="zh-TW" dirty="0"/>
              <a:t>(data structure)</a:t>
            </a:r>
            <a:r>
              <a:rPr lang="zh-TW" altLang="en-US" dirty="0"/>
              <a:t>，它就像是連續格子一樣，每個格子有編號，一般稱為</a:t>
            </a:r>
            <a:r>
              <a:rPr lang="zh-TW" altLang="en-US" dirty="0">
                <a:solidFill>
                  <a:schemeClr val="accent4"/>
                </a:solidFill>
              </a:rPr>
              <a:t>索引值</a:t>
            </a:r>
            <a:r>
              <a:rPr lang="en-US" altLang="zh-TW" dirty="0"/>
              <a:t>(index)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用於儲存</a:t>
            </a:r>
            <a:r>
              <a:rPr lang="zh-TW" altLang="en-US" dirty="0">
                <a:solidFill>
                  <a:schemeClr val="accent4"/>
                </a:solidFill>
              </a:rPr>
              <a:t>相同類型</a:t>
            </a:r>
            <a:r>
              <a:rPr lang="zh-TW" altLang="en-US" dirty="0"/>
              <a:t>的資料</a:t>
            </a:r>
            <a:endParaRPr lang="en-US" altLang="zh-TW" dirty="0"/>
          </a:p>
          <a:p>
            <a:pPr lvl="1"/>
            <a:r>
              <a:rPr lang="zh-TW" altLang="en-US" dirty="0"/>
              <a:t>可透過</a:t>
            </a:r>
            <a:r>
              <a:rPr lang="zh-TW" altLang="en-US" dirty="0">
                <a:solidFill>
                  <a:schemeClr val="accent4"/>
                </a:solidFill>
              </a:rPr>
              <a:t>索引值</a:t>
            </a:r>
            <a:r>
              <a:rPr lang="zh-TW" altLang="en-US" dirty="0"/>
              <a:t>來存放、取用、修改與刪除資料</a:t>
            </a:r>
            <a:endParaRPr lang="en-US" altLang="zh-TW" dirty="0"/>
          </a:p>
          <a:p>
            <a:pPr lvl="1"/>
            <a:r>
              <a:rPr lang="zh-TW" altLang="en-US" dirty="0"/>
              <a:t>搭配前面介紹的迴圈，能更有效率地計算或處理大量資料。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F64805-2823-43E0-9CE4-7B8E75BC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46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7534535-204A-41AA-AE3C-D32D0B04A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334" y="5054635"/>
            <a:ext cx="6160116" cy="141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2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A891E3-2F53-4945-AA18-254C6338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不同維度的陣列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394537-60EC-41CF-88FB-049F497F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47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E0C238-A34D-412D-A301-0322388BF16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531" y="1990448"/>
            <a:ext cx="8376937" cy="28771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40BCB91-E2CF-44A5-9B3E-07B8085A8BA4}"/>
              </a:ext>
            </a:extLst>
          </p:cNvPr>
          <p:cNvSpPr txBox="1"/>
          <p:nvPr/>
        </p:nvSpPr>
        <p:spPr>
          <a:xfrm>
            <a:off x="2247014" y="5089452"/>
            <a:ext cx="1552354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一維陣列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EAED196-B1B5-4F86-A4CF-074210BFD017}"/>
              </a:ext>
            </a:extLst>
          </p:cNvPr>
          <p:cNvSpPr txBox="1"/>
          <p:nvPr/>
        </p:nvSpPr>
        <p:spPr>
          <a:xfrm>
            <a:off x="5319822" y="5089452"/>
            <a:ext cx="1552354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二維陣列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BD5EE1-0903-4444-A6C1-FD5D41B16BE6}"/>
              </a:ext>
            </a:extLst>
          </p:cNvPr>
          <p:cNvSpPr txBox="1"/>
          <p:nvPr/>
        </p:nvSpPr>
        <p:spPr>
          <a:xfrm>
            <a:off x="8325292" y="5089452"/>
            <a:ext cx="1552354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三維陣列</a:t>
            </a:r>
          </a:p>
        </p:txBody>
      </p:sp>
    </p:spTree>
    <p:extLst>
      <p:ext uri="{BB962C8B-B14F-4D97-AF65-F5344CB8AC3E}">
        <p14:creationId xmlns:p14="http://schemas.microsoft.com/office/powerpoint/2010/main" val="27412942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D8C4B-B02A-4756-9362-8015352B4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</a:t>
            </a:r>
            <a:r>
              <a:rPr lang="en-US" altLang="zh-TW" dirty="0"/>
              <a:t>(List)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F5D2FD-A62F-45CD-AB47-1531A4ADA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事實上，</a:t>
            </a:r>
            <a:r>
              <a:rPr lang="en-US" altLang="zh-TW" dirty="0"/>
              <a:t>Python </a:t>
            </a:r>
            <a:r>
              <a:rPr lang="zh-TW" altLang="en-US" dirty="0"/>
              <a:t>沒有名稱為陣列的結構，而是採用名為</a:t>
            </a:r>
            <a:r>
              <a:rPr lang="zh-TW" altLang="en-US" dirty="0">
                <a:solidFill>
                  <a:schemeClr val="accent4"/>
                </a:solidFill>
              </a:rPr>
              <a:t>串列</a:t>
            </a:r>
            <a:r>
              <a:rPr lang="zh-TW" altLang="en-US" dirty="0"/>
              <a:t>的結構來實現陣列。</a:t>
            </a:r>
            <a:endParaRPr lang="en-US" altLang="zh-TW" dirty="0"/>
          </a:p>
          <a:p>
            <a:pPr lvl="1"/>
            <a:r>
              <a:rPr lang="zh-TW" altLang="en-US" dirty="0"/>
              <a:t>根據翻譯的不同，串列有時也稱為</a:t>
            </a:r>
            <a:r>
              <a:rPr lang="zh-TW" altLang="en-US" dirty="0">
                <a:solidFill>
                  <a:schemeClr val="accent4"/>
                </a:solidFill>
              </a:rPr>
              <a:t>列表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chemeClr val="accent4"/>
                </a:solidFill>
              </a:rPr>
              <a:t>清單</a:t>
            </a:r>
            <a:r>
              <a:rPr lang="zh-TW" altLang="en-US" dirty="0"/>
              <a:t>。</a:t>
            </a:r>
            <a:endParaRPr lang="en-US" altLang="zh-TW" dirty="0"/>
          </a:p>
          <a:p>
            <a:pPr lvl="3"/>
            <a:endParaRPr lang="en-US" altLang="zh-TW" dirty="0"/>
          </a:p>
          <a:p>
            <a:pPr lvl="1"/>
            <a:r>
              <a:rPr lang="zh-TW" altLang="en-US" dirty="0"/>
              <a:t>實際使用時，串列與一般變數類似，都是</a:t>
            </a:r>
            <a:r>
              <a:rPr lang="zh-TW" altLang="en-US" dirty="0">
                <a:solidFill>
                  <a:schemeClr val="accent4"/>
                </a:solidFill>
              </a:rPr>
              <a:t>提供儲存資料的記憶體空間</a:t>
            </a:r>
            <a:r>
              <a:rPr lang="zh-TW" altLang="en-US" dirty="0"/>
              <a:t>，且都有用來識別的</a:t>
            </a:r>
            <a:r>
              <a:rPr lang="zh-TW" altLang="en-US" dirty="0">
                <a:solidFill>
                  <a:schemeClr val="accent4"/>
                </a:solidFill>
              </a:rPr>
              <a:t>名稱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3B87E7-A5A1-4CCD-97E5-7C56E2AD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48</a:t>
            </a:fld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0738BDE-507C-4BC7-8578-24D21BA7A933}"/>
              </a:ext>
            </a:extLst>
          </p:cNvPr>
          <p:cNvGrpSpPr/>
          <p:nvPr/>
        </p:nvGrpSpPr>
        <p:grpSpPr>
          <a:xfrm>
            <a:off x="2454172" y="5100482"/>
            <a:ext cx="7283656" cy="1089660"/>
            <a:chOff x="2454172" y="5101590"/>
            <a:chExt cx="7283656" cy="1089660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3242390B-3D7B-44B8-8635-6F87C4DC6B48}"/>
                </a:ext>
              </a:extLst>
            </p:cNvPr>
            <p:cNvCxnSpPr>
              <a:cxnSpLocks/>
            </p:cNvCxnSpPr>
            <p:nvPr/>
          </p:nvCxnSpPr>
          <p:spPr>
            <a:xfrm>
              <a:off x="4266668" y="5646420"/>
              <a:ext cx="5471160" cy="0"/>
            </a:xfrm>
            <a:prstGeom prst="line">
              <a:avLst/>
            </a:prstGeom>
            <a:ln w="50800" cap="rnd" cmpd="dbl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52A7DB2-D026-4987-8C1D-3D05D064CE62}"/>
                </a:ext>
              </a:extLst>
            </p:cNvPr>
            <p:cNvSpPr/>
            <p:nvPr/>
          </p:nvSpPr>
          <p:spPr>
            <a:xfrm>
              <a:off x="42595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7462620-601D-4AAD-9DF4-38F31CEA4537}"/>
                </a:ext>
              </a:extLst>
            </p:cNvPr>
            <p:cNvSpPr/>
            <p:nvPr/>
          </p:nvSpPr>
          <p:spPr>
            <a:xfrm>
              <a:off x="59359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DE6E197-40A4-420D-8212-A2C3FC66E58E}"/>
                </a:ext>
              </a:extLst>
            </p:cNvPr>
            <p:cNvSpPr/>
            <p:nvPr/>
          </p:nvSpPr>
          <p:spPr>
            <a:xfrm>
              <a:off x="76123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D645851-B68E-4BB0-9056-F3B645A35E25}"/>
                </a:ext>
              </a:extLst>
            </p:cNvPr>
            <p:cNvSpPr txBox="1"/>
            <p:nvPr/>
          </p:nvSpPr>
          <p:spPr>
            <a:xfrm>
              <a:off x="2454172" y="5323254"/>
              <a:ext cx="1470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score</a:t>
              </a:r>
              <a:endParaRPr lang="zh-TW" altLang="en-US" sz="3600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41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41C95-6970-40C9-BB90-6F6CA50E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元素</a:t>
            </a:r>
            <a:r>
              <a:rPr lang="en-US" altLang="zh-TW" dirty="0"/>
              <a:t>(Element)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DD805-4138-480A-B917-FDA40A2A5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串列內存放的資料統稱為</a:t>
            </a:r>
            <a:r>
              <a:rPr lang="zh-TW" altLang="en-US" dirty="0">
                <a:solidFill>
                  <a:schemeClr val="accent4"/>
                </a:solidFill>
              </a:rPr>
              <a:t>元素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chemeClr val="accent4"/>
                </a:solidFill>
              </a:rPr>
              <a:t>項目</a:t>
            </a:r>
            <a:r>
              <a:rPr lang="en-US" altLang="zh-TW" dirty="0"/>
              <a:t>(item)</a:t>
            </a:r>
            <a:r>
              <a:rPr lang="zh-TW" altLang="en-US" dirty="0"/>
              <a:t>，而每個元素相當於一個變數，如此就能輕易地儲存大量不同型別的資料。</a:t>
            </a:r>
            <a:endParaRPr lang="en-US" altLang="zh-TW" dirty="0"/>
          </a:p>
          <a:p>
            <a:pPr lvl="1"/>
            <a:r>
              <a:rPr lang="zh-TW" altLang="en-US" dirty="0"/>
              <a:t>這些元素的存放有順序性，可透過</a:t>
            </a:r>
            <a:r>
              <a:rPr lang="zh-TW" altLang="en-US" dirty="0">
                <a:solidFill>
                  <a:schemeClr val="accent4"/>
                </a:solidFill>
              </a:rPr>
              <a:t>索引值</a:t>
            </a:r>
            <a:r>
              <a:rPr lang="zh-TW" altLang="en-US" dirty="0"/>
              <a:t>存取和改變元素內容。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9AA129-C22C-449D-9E48-A8483A32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49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3A41008-57B2-4A71-B1D6-D88F04F7DE34}"/>
              </a:ext>
            </a:extLst>
          </p:cNvPr>
          <p:cNvGrpSpPr/>
          <p:nvPr/>
        </p:nvGrpSpPr>
        <p:grpSpPr>
          <a:xfrm>
            <a:off x="2454172" y="4057650"/>
            <a:ext cx="7283656" cy="1089660"/>
            <a:chOff x="2454172" y="5101590"/>
            <a:chExt cx="7283656" cy="1089660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FECF13A9-F962-41AF-814A-8DE3B361B699}"/>
                </a:ext>
              </a:extLst>
            </p:cNvPr>
            <p:cNvCxnSpPr>
              <a:cxnSpLocks/>
            </p:cNvCxnSpPr>
            <p:nvPr/>
          </p:nvCxnSpPr>
          <p:spPr>
            <a:xfrm>
              <a:off x="4266668" y="5646420"/>
              <a:ext cx="5471160" cy="0"/>
            </a:xfrm>
            <a:prstGeom prst="line">
              <a:avLst/>
            </a:prstGeom>
            <a:ln w="50800" cap="rnd" cmpd="dbl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DF9CB4-F7B4-44A6-AFF9-C8EA60BD38E8}"/>
                </a:ext>
              </a:extLst>
            </p:cNvPr>
            <p:cNvSpPr/>
            <p:nvPr/>
          </p:nvSpPr>
          <p:spPr>
            <a:xfrm>
              <a:off x="42595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8C11974-F81B-4456-BD3B-AECFFFB014A7}"/>
                </a:ext>
              </a:extLst>
            </p:cNvPr>
            <p:cNvSpPr/>
            <p:nvPr/>
          </p:nvSpPr>
          <p:spPr>
            <a:xfrm>
              <a:off x="59359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C0B878C-83C6-4E3A-BD6D-6FB5708A5D9D}"/>
                </a:ext>
              </a:extLst>
            </p:cNvPr>
            <p:cNvSpPr/>
            <p:nvPr/>
          </p:nvSpPr>
          <p:spPr>
            <a:xfrm>
              <a:off x="76123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57F135C-5B67-4288-95D8-023A72176567}"/>
                </a:ext>
              </a:extLst>
            </p:cNvPr>
            <p:cNvSpPr txBox="1"/>
            <p:nvPr/>
          </p:nvSpPr>
          <p:spPr>
            <a:xfrm>
              <a:off x="2454172" y="5323254"/>
              <a:ext cx="1470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score</a:t>
              </a:r>
              <a:endParaRPr lang="zh-TW" altLang="en-US" sz="3600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6B63FB77-1783-4CF0-A8C8-C92881FC33F9}"/>
              </a:ext>
            </a:extLst>
          </p:cNvPr>
          <p:cNvSpPr/>
          <p:nvPr/>
        </p:nvSpPr>
        <p:spPr>
          <a:xfrm>
            <a:off x="8486465" y="5231220"/>
            <a:ext cx="1251364" cy="531627"/>
          </a:xfrm>
          <a:prstGeom prst="wedgeRoundRectCallout">
            <a:avLst>
              <a:gd name="adj1" fmla="val -66149"/>
              <a:gd name="adj2" fmla="val -5377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元素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93680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A4D18A-742B-4284-8230-8EA71357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使用串列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D8439B-235E-44E7-86B6-3118632E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50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F66566A0-848C-40AD-B48E-643E34C98A5A}"/>
              </a:ext>
            </a:extLst>
          </p:cNvPr>
          <p:cNvGrpSpPr/>
          <p:nvPr/>
        </p:nvGrpSpPr>
        <p:grpSpPr>
          <a:xfrm>
            <a:off x="2454172" y="3086543"/>
            <a:ext cx="7283656" cy="1089660"/>
            <a:chOff x="2454172" y="5101590"/>
            <a:chExt cx="7283656" cy="1089660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BF6AD7CF-B995-43A2-B218-D4BB81FA9F58}"/>
                </a:ext>
              </a:extLst>
            </p:cNvPr>
            <p:cNvCxnSpPr>
              <a:cxnSpLocks/>
            </p:cNvCxnSpPr>
            <p:nvPr/>
          </p:nvCxnSpPr>
          <p:spPr>
            <a:xfrm>
              <a:off x="4266668" y="5646420"/>
              <a:ext cx="5471160" cy="0"/>
            </a:xfrm>
            <a:prstGeom prst="line">
              <a:avLst/>
            </a:prstGeom>
            <a:ln w="50800" cap="rnd" cmpd="dbl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C0C9AE9-7D80-482B-BA72-04519B6A9BA5}"/>
                </a:ext>
              </a:extLst>
            </p:cNvPr>
            <p:cNvSpPr/>
            <p:nvPr/>
          </p:nvSpPr>
          <p:spPr>
            <a:xfrm>
              <a:off x="42595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66</a:t>
              </a:r>
              <a:endParaRPr lang="zh-TW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CDFE697-F8C8-4F32-B05D-6E1E03E6F078}"/>
                </a:ext>
              </a:extLst>
            </p:cNvPr>
            <p:cNvSpPr/>
            <p:nvPr/>
          </p:nvSpPr>
          <p:spPr>
            <a:xfrm>
              <a:off x="59359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88</a:t>
              </a:r>
              <a:endParaRPr lang="zh-TW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3D0E5A5-6829-478C-8131-7A8FBED6D450}"/>
                </a:ext>
              </a:extLst>
            </p:cNvPr>
            <p:cNvSpPr/>
            <p:nvPr/>
          </p:nvSpPr>
          <p:spPr>
            <a:xfrm>
              <a:off x="7612380" y="5101590"/>
              <a:ext cx="1059180" cy="10896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77</a:t>
              </a:r>
              <a:endParaRPr lang="zh-TW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DFA514A-7F29-4FF4-9771-8723B3402034}"/>
                </a:ext>
              </a:extLst>
            </p:cNvPr>
            <p:cNvSpPr txBox="1"/>
            <p:nvPr/>
          </p:nvSpPr>
          <p:spPr>
            <a:xfrm>
              <a:off x="2454172" y="5323254"/>
              <a:ext cx="1470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score</a:t>
              </a:r>
              <a:endParaRPr lang="zh-TW" altLang="en-US" sz="3600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2520254B-126E-41CA-ADB8-9FE1799626A9}"/>
              </a:ext>
            </a:extLst>
          </p:cNvPr>
          <p:cNvSpPr/>
          <p:nvPr/>
        </p:nvSpPr>
        <p:spPr>
          <a:xfrm>
            <a:off x="8486464" y="2275900"/>
            <a:ext cx="2174448" cy="531627"/>
          </a:xfrm>
          <a:prstGeom prst="wedgeRoundRectCallout">
            <a:avLst>
              <a:gd name="adj1" fmla="val -58154"/>
              <a:gd name="adj2" fmla="val 36889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索引值</a:t>
            </a:r>
            <a:r>
              <a:rPr lang="en-US" altLang="zh-TW" sz="2400" dirty="0"/>
              <a:t>(index)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358C61D-2F29-4B6F-87EC-FB05F260203E}"/>
              </a:ext>
            </a:extLst>
          </p:cNvPr>
          <p:cNvSpPr txBox="1"/>
          <p:nvPr/>
        </p:nvSpPr>
        <p:spPr>
          <a:xfrm>
            <a:off x="4259580" y="2563323"/>
            <a:ext cx="1059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0</a:t>
            </a:r>
            <a:endParaRPr lang="zh-TW" altLang="en-US" sz="2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BFE93CC-F6A1-4B42-A7EE-9748537ED87B}"/>
              </a:ext>
            </a:extLst>
          </p:cNvPr>
          <p:cNvSpPr txBox="1"/>
          <p:nvPr/>
        </p:nvSpPr>
        <p:spPr>
          <a:xfrm>
            <a:off x="5935980" y="2563323"/>
            <a:ext cx="1059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1</a:t>
            </a:r>
            <a:endParaRPr lang="zh-TW" altLang="en-US" sz="28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2F8BA6-C59B-44A3-949E-AE2D1DB56614}"/>
              </a:ext>
            </a:extLst>
          </p:cNvPr>
          <p:cNvSpPr txBox="1"/>
          <p:nvPr/>
        </p:nvSpPr>
        <p:spPr>
          <a:xfrm>
            <a:off x="7612380" y="2563323"/>
            <a:ext cx="1059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2</a:t>
            </a:r>
            <a:endParaRPr lang="zh-TW" altLang="en-US" sz="2800" dirty="0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835CD991-EC0E-45A7-B493-1EA23F102F7A}"/>
              </a:ext>
            </a:extLst>
          </p:cNvPr>
          <p:cNvSpPr/>
          <p:nvPr/>
        </p:nvSpPr>
        <p:spPr>
          <a:xfrm>
            <a:off x="2573079" y="4274387"/>
            <a:ext cx="1693589" cy="638109"/>
          </a:xfrm>
          <a:prstGeom prst="wedgeRoundRectCallout">
            <a:avLst>
              <a:gd name="adj1" fmla="val 60762"/>
              <a:gd name="adj2" fmla="val -5377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Consolas" panose="020B0609020204030204" pitchFamily="49" charset="0"/>
              </a:rPr>
              <a:t>score[0]</a:t>
            </a:r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1EB74447-C1DF-49E0-9A2D-65AFA84A511C}"/>
              </a:ext>
            </a:extLst>
          </p:cNvPr>
          <p:cNvSpPr/>
          <p:nvPr/>
        </p:nvSpPr>
        <p:spPr>
          <a:xfrm>
            <a:off x="4586179" y="4274387"/>
            <a:ext cx="1693589" cy="638109"/>
          </a:xfrm>
          <a:prstGeom prst="wedgeRoundRectCallout">
            <a:avLst>
              <a:gd name="adj1" fmla="val 60762"/>
              <a:gd name="adj2" fmla="val -5377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Consolas" panose="020B0609020204030204" pitchFamily="49" charset="0"/>
              </a:rPr>
              <a:t>score[1]</a:t>
            </a:r>
          </a:p>
        </p:txBody>
      </p:sp>
      <p:sp>
        <p:nvSpPr>
          <p:cNvPr id="19" name="語音泡泡: 圓角矩形 18">
            <a:extLst>
              <a:ext uri="{FF2B5EF4-FFF2-40B4-BE49-F238E27FC236}">
                <a16:creationId xmlns:a16="http://schemas.microsoft.com/office/drawing/2014/main" id="{8EB45F0F-C0B8-4D87-8CC9-1A1FC3218DA0}"/>
              </a:ext>
            </a:extLst>
          </p:cNvPr>
          <p:cNvSpPr/>
          <p:nvPr/>
        </p:nvSpPr>
        <p:spPr>
          <a:xfrm>
            <a:off x="6641807" y="4274387"/>
            <a:ext cx="1693589" cy="638109"/>
          </a:xfrm>
          <a:prstGeom prst="wedgeRoundRectCallout">
            <a:avLst>
              <a:gd name="adj1" fmla="val 60762"/>
              <a:gd name="adj2" fmla="val -5377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Consolas" panose="020B0609020204030204" pitchFamily="49" charset="0"/>
              </a:rPr>
              <a:t>score[2]</a:t>
            </a:r>
          </a:p>
        </p:txBody>
      </p:sp>
    </p:spTree>
    <p:extLst>
      <p:ext uri="{BB962C8B-B14F-4D97-AF65-F5344CB8AC3E}">
        <p14:creationId xmlns:p14="http://schemas.microsoft.com/office/powerpoint/2010/main" val="98494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陣列與串列</a:t>
            </a:r>
            <a:endParaRPr lang="en-US" altLang="zh-TW" dirty="0">
              <a:solidFill>
                <a:srgbClr val="0070C0"/>
              </a:solidFill>
            </a:endParaRP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一維串列的基礎操作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一維串列的進階操作</a:t>
            </a:r>
            <a:endParaRPr lang="en-US" altLang="zh-TW" dirty="0"/>
          </a:p>
          <a:p>
            <a:pPr lvl="1"/>
            <a:r>
              <a:rPr lang="zh-TW" altLang="en-US" dirty="0"/>
              <a:t>串列綜合運算</a:t>
            </a:r>
            <a:endParaRPr lang="en-US" altLang="zh-TW" dirty="0"/>
          </a:p>
          <a:p>
            <a:pPr lvl="1"/>
            <a:r>
              <a:rPr lang="zh-TW" altLang="en-US" dirty="0"/>
              <a:t>多維串列的操作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2279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串列的語法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串列的使用方式是將元素置於</a:t>
            </a:r>
            <a:r>
              <a:rPr lang="zh-TW" altLang="en-US" dirty="0">
                <a:solidFill>
                  <a:schemeClr val="accent4"/>
                </a:solidFill>
              </a:rPr>
              <a:t>中括號</a:t>
            </a:r>
            <a:r>
              <a:rPr lang="en-US" altLang="zh-TW" dirty="0">
                <a:solidFill>
                  <a:schemeClr val="accent4"/>
                </a:solidFill>
              </a:rPr>
              <a:t>(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[ ]</a:t>
            </a:r>
            <a:r>
              <a:rPr lang="en-US" altLang="zh-TW" dirty="0">
                <a:solidFill>
                  <a:schemeClr val="accent4"/>
                </a:solidFill>
              </a:rPr>
              <a:t>)</a:t>
            </a:r>
            <a:r>
              <a:rPr lang="zh-TW" altLang="en-US" dirty="0"/>
              <a:t>內，元素間以逗號分隔。語法為：</a:t>
            </a:r>
          </a:p>
          <a:p>
            <a:pPr lvl="1"/>
            <a:r>
              <a:rPr lang="zh-TW" altLang="en-US" dirty="0">
                <a:latin typeface="Consolas" panose="020B0609020204030204" pitchFamily="49" charset="0"/>
              </a:rPr>
              <a:t>串列名稱 </a:t>
            </a:r>
            <a:r>
              <a:rPr lang="en-US" altLang="zh-TW" dirty="0">
                <a:latin typeface="Consolas" panose="020B0609020204030204" pitchFamily="49" charset="0"/>
              </a:rPr>
              <a:t>= [</a:t>
            </a:r>
            <a:r>
              <a:rPr lang="zh-TW" altLang="en-US" dirty="0">
                <a:latin typeface="Consolas" panose="020B0609020204030204" pitchFamily="49" charset="0"/>
              </a:rPr>
              <a:t>元素</a:t>
            </a:r>
            <a:r>
              <a:rPr lang="en-US" altLang="zh-TW" dirty="0">
                <a:latin typeface="Consolas" panose="020B0609020204030204" pitchFamily="49" charset="0"/>
              </a:rPr>
              <a:t>1, </a:t>
            </a:r>
            <a:r>
              <a:rPr lang="zh-TW" altLang="en-US" dirty="0">
                <a:latin typeface="Consolas" panose="020B0609020204030204" pitchFamily="49" charset="0"/>
              </a:rPr>
              <a:t>元素</a:t>
            </a:r>
            <a:r>
              <a:rPr lang="en-US" altLang="zh-TW" dirty="0">
                <a:latin typeface="Consolas" panose="020B0609020204030204" pitchFamily="49" charset="0"/>
              </a:rPr>
              <a:t>2, </a:t>
            </a:r>
            <a:r>
              <a:rPr lang="zh-TW" altLang="en-US" dirty="0">
                <a:latin typeface="Consolas" panose="020B0609020204030204" pitchFamily="49" charset="0"/>
              </a:rPr>
              <a:t>元素</a:t>
            </a:r>
            <a:r>
              <a:rPr lang="en-US" altLang="zh-TW" dirty="0">
                <a:latin typeface="Consolas" panose="020B0609020204030204" pitchFamily="49" charset="0"/>
              </a:rPr>
              <a:t>3, …]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en-US" altLang="zh-TW" dirty="0">
                <a:latin typeface="Consolas" panose="020B0609020204030204" pitchFamily="49" charset="0"/>
              </a:rPr>
              <a:t>score = [66, 88, 77]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52</a:t>
            </a:fld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BD9C21C-97D1-4077-967E-5412230E993E}"/>
              </a:ext>
            </a:extLst>
          </p:cNvPr>
          <p:cNvGrpSpPr/>
          <p:nvPr/>
        </p:nvGrpSpPr>
        <p:grpSpPr>
          <a:xfrm>
            <a:off x="4619801" y="4685722"/>
            <a:ext cx="5764663" cy="1505528"/>
            <a:chOff x="4619801" y="4685722"/>
            <a:chExt cx="5764663" cy="1505528"/>
          </a:xfrm>
        </p:grpSpPr>
        <p:sp>
          <p:nvSpPr>
            <p:cNvPr id="6" name="圓角矩形圖說文字 5"/>
            <p:cNvSpPr/>
            <p:nvPr/>
          </p:nvSpPr>
          <p:spPr>
            <a:xfrm>
              <a:off x="4619801" y="4685722"/>
              <a:ext cx="5764663" cy="1505528"/>
            </a:xfrm>
            <a:prstGeom prst="wedgeRoundRectCallout">
              <a:avLst>
                <a:gd name="adj1" fmla="val -58240"/>
                <a:gd name="adj2" fmla="val -31978"/>
                <a:gd name="adj3" fmla="val 16667"/>
              </a:avLst>
            </a:prstGeom>
            <a:solidFill>
              <a:schemeClr val="bg1"/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1D6462E0-4ED5-41FF-883A-14A293524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9802" y="4742930"/>
              <a:ext cx="5555556" cy="12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253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元素的資料型別</a:t>
            </a:r>
            <a:r>
              <a:rPr lang="zh-TW" altLang="en-US" dirty="0">
                <a:solidFill>
                  <a:schemeClr val="accent4"/>
                </a:solidFill>
              </a:rPr>
              <a:t>可以不同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73E2F25-19D3-46B7-8620-E82D283EE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68" y="5580647"/>
            <a:ext cx="6268864" cy="61060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D052E52-B4AF-4A4E-8673-35647A05D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660" y="2705351"/>
            <a:ext cx="8848680" cy="238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5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16A73-8401-486A-B0EF-2BCD214F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存取串列元素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16A01-8E02-4A79-A031-20D6DB72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54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D66D39C-8AE4-42CA-8E4C-6434753F33F8}"/>
              </a:ext>
            </a:extLst>
          </p:cNvPr>
          <p:cNvGrpSpPr/>
          <p:nvPr/>
        </p:nvGrpSpPr>
        <p:grpSpPr>
          <a:xfrm>
            <a:off x="2233279" y="2271108"/>
            <a:ext cx="7829349" cy="523220"/>
            <a:chOff x="2233279" y="2271108"/>
            <a:chExt cx="7829349" cy="523220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C915B84D-8B94-488D-9D43-C220D43469C0}"/>
                </a:ext>
              </a:extLst>
            </p:cNvPr>
            <p:cNvSpPr txBox="1"/>
            <p:nvPr/>
          </p:nvSpPr>
          <p:spPr>
            <a:xfrm>
              <a:off x="2233279" y="2271108"/>
              <a:ext cx="19368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index </a:t>
              </a:r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 </a:t>
              </a:r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0BB6AE4B-B5FF-47C2-B7B8-C0A01CEBF49D}"/>
                </a:ext>
              </a:extLst>
            </p:cNvPr>
            <p:cNvSpPr txBox="1"/>
            <p:nvPr/>
          </p:nvSpPr>
          <p:spPr>
            <a:xfrm>
              <a:off x="5139812" y="2271108"/>
              <a:ext cx="515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C9FAE7E-A2AC-4B69-847D-65F589BDBA74}"/>
                </a:ext>
              </a:extLst>
            </p:cNvPr>
            <p:cNvSpPr txBox="1"/>
            <p:nvPr/>
          </p:nvSpPr>
          <p:spPr>
            <a:xfrm>
              <a:off x="6519725" y="2271108"/>
              <a:ext cx="515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00B4620-39D9-42E0-92E2-ECAFE6447CFC}"/>
                </a:ext>
              </a:extLst>
            </p:cNvPr>
            <p:cNvSpPr txBox="1"/>
            <p:nvPr/>
          </p:nvSpPr>
          <p:spPr>
            <a:xfrm>
              <a:off x="7994001" y="2271108"/>
              <a:ext cx="515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9520E59-1E34-44EC-B3CC-49F821C34F1F}"/>
                </a:ext>
              </a:extLst>
            </p:cNvPr>
            <p:cNvSpPr txBox="1"/>
            <p:nvPr/>
          </p:nvSpPr>
          <p:spPr>
            <a:xfrm>
              <a:off x="9547239" y="2271108"/>
              <a:ext cx="515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8" name="圖片 17">
            <a:extLst>
              <a:ext uri="{FF2B5EF4-FFF2-40B4-BE49-F238E27FC236}">
                <a16:creationId xmlns:a16="http://schemas.microsoft.com/office/drawing/2014/main" id="{1D6DEFC0-60F7-45EF-8548-A1749F99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982" y="2794327"/>
            <a:ext cx="8899537" cy="2202215"/>
          </a:xfrm>
          <a:prstGeom prst="rect">
            <a:avLst/>
          </a:prstGeom>
        </p:spPr>
      </p:pic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FB25FD9A-8C86-4DB6-A926-B2AB15937BD6}"/>
              </a:ext>
            </a:extLst>
          </p:cNvPr>
          <p:cNvSpPr/>
          <p:nvPr/>
        </p:nvSpPr>
        <p:spPr>
          <a:xfrm>
            <a:off x="4868437" y="5756494"/>
            <a:ext cx="5022569" cy="581787"/>
          </a:xfrm>
          <a:prstGeom prst="wedgeRoundRectCallout">
            <a:avLst>
              <a:gd name="adj1" fmla="val -57019"/>
              <a:gd name="adj2" fmla="val -195350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solidFill>
                  <a:schemeClr val="tx1"/>
                </a:solidFill>
              </a:rPr>
              <a:t>IndexError</a:t>
            </a:r>
            <a:r>
              <a:rPr lang="en-US" altLang="zh-TW" sz="2400" dirty="0"/>
              <a:t>: list index out of range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802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存取串列元素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存取串列元素</a:t>
            </a:r>
            <a:r>
              <a:rPr lang="zh-TW" altLang="en-US" b="1" dirty="0">
                <a:solidFill>
                  <a:schemeClr val="accent4"/>
                </a:solidFill>
              </a:rPr>
              <a:t>可不用透過索引值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55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630291F-DFDC-42DE-94C1-391A21665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359" y="2909503"/>
            <a:ext cx="6462869" cy="308252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5858498-2F80-456D-975B-849611A51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387" y="4042114"/>
            <a:ext cx="3515926" cy="8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0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CDA84E-C8BC-43C0-A49E-160167CF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存取串列元素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C32290-62B1-4BD4-BCDE-7FA583781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除了上述兩種方式能存取串列元素外，</a:t>
            </a:r>
            <a:r>
              <a:rPr lang="en-US" altLang="zh-TW" dirty="0"/>
              <a:t>Python </a:t>
            </a:r>
            <a:r>
              <a:rPr lang="zh-TW" altLang="en-US" dirty="0"/>
              <a:t>還提供一個相當簡便的作法，稱為串列</a:t>
            </a:r>
            <a:r>
              <a:rPr lang="zh-TW" altLang="en-US" dirty="0">
                <a:solidFill>
                  <a:schemeClr val="accent4"/>
                </a:solidFill>
              </a:rPr>
              <a:t>分割</a:t>
            </a:r>
            <a:r>
              <a:rPr lang="en-US" altLang="zh-TW" dirty="0"/>
              <a:t>(slice)</a:t>
            </a:r>
            <a:r>
              <a:rPr lang="zh-TW" altLang="en-US" dirty="0"/>
              <a:t>，可同時取出數個元素，而這些元素</a:t>
            </a:r>
            <a:endParaRPr lang="en-US" altLang="zh-TW" dirty="0"/>
          </a:p>
          <a:p>
            <a:pPr lvl="1"/>
            <a:r>
              <a:rPr lang="zh-TW" altLang="en-US" dirty="0"/>
              <a:t>可以佔據</a:t>
            </a:r>
            <a:r>
              <a:rPr lang="zh-TW" altLang="en-US" dirty="0">
                <a:solidFill>
                  <a:schemeClr val="accent4"/>
                </a:solidFill>
              </a:rPr>
              <a:t>連續位置</a:t>
            </a:r>
            <a:r>
              <a:rPr lang="zh-TW" altLang="en-US" dirty="0"/>
              <a:t>，</a:t>
            </a:r>
            <a:endParaRPr lang="en-US" altLang="zh-TW" dirty="0"/>
          </a:p>
          <a:p>
            <a:pPr lvl="1"/>
            <a:r>
              <a:rPr lang="zh-TW" altLang="en-US" dirty="0"/>
              <a:t>也可以是有</a:t>
            </a:r>
            <a:r>
              <a:rPr lang="zh-TW" altLang="en-US" dirty="0">
                <a:solidFill>
                  <a:schemeClr val="accent4"/>
                </a:solidFill>
              </a:rPr>
              <a:t>一定規律分隔</a:t>
            </a:r>
            <a:r>
              <a:rPr lang="zh-TW" altLang="en-US" dirty="0"/>
              <a:t>開來，</a:t>
            </a:r>
            <a:endParaRPr lang="en-US" altLang="zh-TW" dirty="0"/>
          </a:p>
          <a:p>
            <a:pPr lvl="1"/>
            <a:r>
              <a:rPr lang="zh-TW" altLang="en-US" dirty="0"/>
              <a:t>感覺上就像是將串列分割一段段再取出來。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B9BAA8-75E7-4CA1-92EB-B5042E710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56</a:t>
            </a:fld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88387D9-22B6-4700-9CD2-FA0BD0005B61}"/>
              </a:ext>
            </a:extLst>
          </p:cNvPr>
          <p:cNvGrpSpPr/>
          <p:nvPr/>
        </p:nvGrpSpPr>
        <p:grpSpPr>
          <a:xfrm>
            <a:off x="4259580" y="5372948"/>
            <a:ext cx="6507657" cy="892065"/>
            <a:chOff x="4259580" y="5372948"/>
            <a:chExt cx="6507657" cy="892065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F2A17F80-EABD-4DD3-9CA9-12A26042C4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6668" y="5819459"/>
              <a:ext cx="6500569" cy="0"/>
            </a:xfrm>
            <a:prstGeom prst="line">
              <a:avLst/>
            </a:prstGeom>
            <a:ln w="50800" cap="rnd" cmpd="dbl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52AF3EF-7F62-4C28-B5D4-2D060166FEE6}"/>
                </a:ext>
              </a:extLst>
            </p:cNvPr>
            <p:cNvSpPr/>
            <p:nvPr/>
          </p:nvSpPr>
          <p:spPr>
            <a:xfrm>
              <a:off x="4259580" y="5372948"/>
              <a:ext cx="867112" cy="8920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E9288CB-9A6A-45AE-9375-F69688697975}"/>
                </a:ext>
              </a:extLst>
            </p:cNvPr>
            <p:cNvSpPr/>
            <p:nvPr/>
          </p:nvSpPr>
          <p:spPr>
            <a:xfrm>
              <a:off x="5486932" y="5372948"/>
              <a:ext cx="867112" cy="8920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5AEBBBE-7199-4453-8385-8A853176D7A9}"/>
                </a:ext>
              </a:extLst>
            </p:cNvPr>
            <p:cNvSpPr/>
            <p:nvPr/>
          </p:nvSpPr>
          <p:spPr>
            <a:xfrm>
              <a:off x="6714284" y="5372948"/>
              <a:ext cx="867112" cy="8920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E6B3FA8-D6A3-4165-987C-ED3B0D7110A8}"/>
                </a:ext>
              </a:extLst>
            </p:cNvPr>
            <p:cNvSpPr/>
            <p:nvPr/>
          </p:nvSpPr>
          <p:spPr>
            <a:xfrm>
              <a:off x="7968926" y="5372948"/>
              <a:ext cx="867112" cy="8920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22936DE-C753-4426-9AF7-4930C91ADC80}"/>
                </a:ext>
              </a:extLst>
            </p:cNvPr>
            <p:cNvSpPr/>
            <p:nvPr/>
          </p:nvSpPr>
          <p:spPr>
            <a:xfrm>
              <a:off x="9196278" y="5372948"/>
              <a:ext cx="867112" cy="8920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918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39CB1-C23A-47B2-977E-442949F5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串列分割的語法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84E2BA-A222-4E8B-AD4A-8F158D583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串列分割的使用方式與 </a:t>
            </a:r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類似，都由三個參數來區分。</a:t>
            </a:r>
            <a:endParaRPr lang="en-US" altLang="zh-TW" dirty="0"/>
          </a:p>
          <a:p>
            <a:pPr lvl="1"/>
            <a:r>
              <a:rPr lang="zh-TW" altLang="en-US" dirty="0"/>
              <a:t>變數 </a:t>
            </a:r>
            <a:r>
              <a:rPr lang="en-US" altLang="zh-TW" dirty="0">
                <a:latin typeface="Consolas" panose="020B0609020204030204" pitchFamily="49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/>
              <a:t>[</a:t>
            </a:r>
            <a:r>
              <a:rPr lang="zh-TW" altLang="en-US" dirty="0"/>
              <a:t>起始索引值 </a:t>
            </a:r>
            <a:r>
              <a:rPr lang="en-US" altLang="zh-TW" dirty="0"/>
              <a:t>: </a:t>
            </a:r>
            <a:r>
              <a:rPr lang="zh-TW" altLang="en-US" dirty="0"/>
              <a:t>終止索引值 </a:t>
            </a:r>
            <a:r>
              <a:rPr lang="en-US" altLang="zh-TW" dirty="0"/>
              <a:t>: </a:t>
            </a:r>
            <a:r>
              <a:rPr lang="zh-TW" altLang="en-US" dirty="0"/>
              <a:t>間隔值</a:t>
            </a:r>
            <a:r>
              <a:rPr lang="en-US" altLang="zh-TW" dirty="0"/>
              <a:t>]</a:t>
            </a:r>
          </a:p>
          <a:p>
            <a:pPr lvl="2"/>
            <a:r>
              <a:rPr lang="zh-TW" altLang="en-US" dirty="0"/>
              <a:t>起始索引值</a:t>
            </a:r>
            <a:r>
              <a:rPr lang="en-US" altLang="zh-TW" dirty="0"/>
              <a:t>(start)</a:t>
            </a:r>
            <a:r>
              <a:rPr lang="zh-TW" altLang="en-US" dirty="0"/>
              <a:t>：欲取出元素片段的起始位置，負值代表倒數的位置。若省略不給，則</a:t>
            </a:r>
            <a:r>
              <a:rPr lang="zh-TW" altLang="en-US" dirty="0">
                <a:solidFill>
                  <a:schemeClr val="accent4"/>
                </a:solidFill>
              </a:rPr>
              <a:t>預設值為 </a:t>
            </a:r>
            <a:r>
              <a:rPr lang="en-US" altLang="zh-TW" dirty="0">
                <a:solidFill>
                  <a:schemeClr val="accent4"/>
                </a:solidFill>
              </a:rPr>
              <a:t>0</a:t>
            </a:r>
            <a:r>
              <a:rPr lang="zh-TW" altLang="en-US" dirty="0"/>
              <a:t>。</a:t>
            </a:r>
          </a:p>
          <a:p>
            <a:pPr lvl="2"/>
            <a:r>
              <a:rPr lang="zh-TW" altLang="en-US" dirty="0"/>
              <a:t>終止索引值</a:t>
            </a:r>
            <a:r>
              <a:rPr lang="en-US" altLang="zh-TW" dirty="0"/>
              <a:t>(stop)</a:t>
            </a:r>
            <a:r>
              <a:rPr lang="zh-TW" altLang="en-US" dirty="0"/>
              <a:t>：欲取出元素片段的終止位置，但不包含這個位置，這點與 </a:t>
            </a:r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的用法相同，要特別注意。同樣地，負值代表倒數的位置，而若省略不給，則</a:t>
            </a:r>
            <a:r>
              <a:rPr lang="zh-TW" altLang="en-US" dirty="0">
                <a:solidFill>
                  <a:schemeClr val="accent4"/>
                </a:solidFill>
              </a:rPr>
              <a:t>預設為串列的長度</a:t>
            </a:r>
            <a:r>
              <a:rPr lang="zh-TW" altLang="en-US" dirty="0"/>
              <a:t>。</a:t>
            </a:r>
          </a:p>
          <a:p>
            <a:pPr lvl="2"/>
            <a:r>
              <a:rPr lang="zh-TW" altLang="en-US" dirty="0"/>
              <a:t>間隔值</a:t>
            </a:r>
            <a:r>
              <a:rPr lang="en-US" altLang="zh-TW" dirty="0"/>
              <a:t>(step)</a:t>
            </a:r>
            <a:r>
              <a:rPr lang="zh-TW" altLang="en-US" dirty="0"/>
              <a:t>：欲取出元素之間的間隔，若省略不給，則</a:t>
            </a:r>
            <a:r>
              <a:rPr lang="zh-TW" altLang="en-US" dirty="0">
                <a:solidFill>
                  <a:schemeClr val="accent4"/>
                </a:solidFill>
              </a:rPr>
              <a:t>預設為 </a:t>
            </a:r>
            <a:r>
              <a:rPr lang="en-US" altLang="zh-TW" dirty="0">
                <a:solidFill>
                  <a:schemeClr val="accent4"/>
                </a:solidFill>
              </a:rPr>
              <a:t>1</a:t>
            </a:r>
            <a:r>
              <a:rPr lang="zh-TW" altLang="en-US" dirty="0"/>
              <a:t>，此時為串列的連續片段。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5F4ED7-3892-4F51-80D2-1C545420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133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30458E-66D6-48D4-88CB-2FF39F75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630C23-60F2-4F96-9102-8F1AD32BC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串列分割的使用方式與 </a:t>
            </a:r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en-US" altLang="zh-TW" dirty="0"/>
              <a:t> </a:t>
            </a:r>
            <a:r>
              <a:rPr lang="zh-TW" altLang="en-US" dirty="0"/>
              <a:t>類似，都由三個參數來區分。</a:t>
            </a:r>
            <a:endParaRPr lang="en-US" altLang="zh-TW" dirty="0"/>
          </a:p>
          <a:p>
            <a:pPr lvl="1"/>
            <a:r>
              <a:rPr lang="zh-TW" altLang="en-US" dirty="0"/>
              <a:t>變數 </a:t>
            </a:r>
            <a:r>
              <a:rPr lang="en-US" altLang="zh-TW" dirty="0"/>
              <a:t>= 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/>
              <a:t>[</a:t>
            </a:r>
            <a:r>
              <a:rPr lang="zh-TW" altLang="en-US" dirty="0"/>
              <a:t>起始索引值 </a:t>
            </a:r>
            <a:r>
              <a:rPr lang="en-US" altLang="zh-TW" dirty="0"/>
              <a:t>: </a:t>
            </a:r>
            <a:r>
              <a:rPr lang="zh-TW" altLang="en-US" dirty="0"/>
              <a:t>終止索引值 </a:t>
            </a:r>
            <a:r>
              <a:rPr lang="en-US" altLang="zh-TW" dirty="0"/>
              <a:t>: </a:t>
            </a:r>
            <a:r>
              <a:rPr lang="zh-TW" altLang="en-US" dirty="0"/>
              <a:t>間隔值</a:t>
            </a:r>
            <a:r>
              <a:rPr lang="en-US" altLang="zh-TW" dirty="0"/>
              <a:t>]</a:t>
            </a:r>
          </a:p>
          <a:p>
            <a:pPr lvl="3"/>
            <a:endParaRPr lang="en-US" altLang="zh-TW" dirty="0"/>
          </a:p>
          <a:p>
            <a:pPr lvl="1"/>
            <a:r>
              <a:rPr lang="en-US" altLang="zh-TW" dirty="0"/>
              <a:t>e.g.,</a:t>
            </a:r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</a:t>
            </a:r>
            <a:r>
              <a:rPr lang="en-US" altLang="zh-TW" dirty="0" err="1">
                <a:latin typeface="Consolas" panose="020B0609020204030204" pitchFamily="49" charset="0"/>
              </a:rPr>
              <a:t>m:n</a:t>
            </a:r>
            <a:r>
              <a:rPr lang="en-US" altLang="zh-TW" dirty="0">
                <a:latin typeface="Consolas" panose="020B0609020204030204" pitchFamily="49" charset="0"/>
              </a:rPr>
              <a:t>]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從</a:t>
            </a:r>
            <a:r>
              <a:rPr lang="zh-TW" altLang="en-US" dirty="0">
                <a:solidFill>
                  <a:schemeClr val="accent4"/>
                </a:solidFill>
              </a:rPr>
              <a:t>第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m</a:t>
            </a:r>
            <a:r>
              <a:rPr lang="en-US" altLang="zh-TW" dirty="0">
                <a:solidFill>
                  <a:schemeClr val="accent4"/>
                </a:solidFill>
              </a:rPr>
              <a:t> </a:t>
            </a:r>
            <a:r>
              <a:rPr lang="zh-TW" altLang="en-US" dirty="0">
                <a:solidFill>
                  <a:schemeClr val="accent4"/>
                </a:solidFill>
              </a:rPr>
              <a:t>個</a:t>
            </a:r>
            <a:r>
              <a:rPr lang="zh-TW" altLang="en-US" dirty="0"/>
              <a:t>元素開始取，取到</a:t>
            </a:r>
            <a:r>
              <a:rPr lang="zh-TW" altLang="en-US" dirty="0">
                <a:solidFill>
                  <a:schemeClr val="accent4"/>
                </a:solidFill>
              </a:rPr>
              <a:t>第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n-1</a:t>
            </a:r>
            <a:r>
              <a:rPr lang="en-US" altLang="zh-TW" dirty="0">
                <a:solidFill>
                  <a:schemeClr val="accent4"/>
                </a:solidFill>
              </a:rPr>
              <a:t> </a:t>
            </a:r>
            <a:r>
              <a:rPr lang="zh-TW" altLang="en-US" dirty="0">
                <a:solidFill>
                  <a:schemeClr val="accent4"/>
                </a:solidFill>
              </a:rPr>
              <a:t>個</a:t>
            </a:r>
            <a:r>
              <a:rPr lang="zh-TW" altLang="en-US" dirty="0"/>
              <a:t>元素為止。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[m:] 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從第 </a:t>
            </a:r>
            <a:r>
              <a:rPr lang="en-US" altLang="zh-TW" dirty="0">
                <a:latin typeface="Consolas" panose="020B0609020204030204" pitchFamily="49" charset="0"/>
              </a:rPr>
              <a:t>m</a:t>
            </a:r>
            <a:r>
              <a:rPr lang="en-US" altLang="zh-TW" dirty="0"/>
              <a:t> </a:t>
            </a:r>
            <a:r>
              <a:rPr lang="zh-TW" altLang="en-US" dirty="0"/>
              <a:t>個元素開始取到最後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[:n] 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從開頭取到第 </a:t>
            </a:r>
            <a:r>
              <a:rPr lang="en-US" altLang="zh-TW" dirty="0">
                <a:latin typeface="Consolas" panose="020B0609020204030204" pitchFamily="49" charset="0"/>
              </a:rPr>
              <a:t>n-1</a:t>
            </a:r>
            <a:r>
              <a:rPr lang="en-US" altLang="zh-TW" dirty="0"/>
              <a:t> </a:t>
            </a:r>
            <a:r>
              <a:rPr lang="zh-TW" altLang="en-US" dirty="0"/>
              <a:t>個元素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[:]  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全取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 err="1">
                <a:latin typeface="Consolas" panose="020B0609020204030204" pitchFamily="49" charset="0"/>
                <a:sym typeface="Wingdings" panose="05000000000000000000" pitchFamily="2" charset="2"/>
              </a:rPr>
              <a:t>lst</a:t>
            </a:r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en-US" altLang="zh-TW" dirty="0" err="1">
                <a:latin typeface="Consolas" panose="020B0609020204030204" pitchFamily="49" charset="0"/>
                <a:sym typeface="Wingdings" panose="05000000000000000000" pitchFamily="2" charset="2"/>
              </a:rPr>
              <a:t>m:n:t</a:t>
            </a:r>
            <a:r>
              <a:rPr lang="en-US" altLang="zh-TW" dirty="0">
                <a:latin typeface="Consolas" panose="020B0609020204030204" pitchFamily="49" charset="0"/>
                <a:sym typeface="Wingdings" panose="05000000000000000000" pitchFamily="2" charset="2"/>
              </a:rPr>
              <a:t>]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從第 </a:t>
            </a:r>
            <a:r>
              <a:rPr lang="en-US" altLang="zh-TW" dirty="0">
                <a:latin typeface="Consolas" panose="020B0609020204030204" pitchFamily="49" charset="0"/>
              </a:rPr>
              <a:t>m</a:t>
            </a:r>
            <a:r>
              <a:rPr lang="en-US" altLang="zh-TW" dirty="0"/>
              <a:t> </a:t>
            </a:r>
            <a:r>
              <a:rPr lang="zh-TW" altLang="en-US" dirty="0"/>
              <a:t>個到第 </a:t>
            </a:r>
            <a:r>
              <a:rPr lang="en-US" altLang="zh-TW" dirty="0">
                <a:latin typeface="Consolas" panose="020B0609020204030204" pitchFamily="49" charset="0"/>
              </a:rPr>
              <a:t>n-1</a:t>
            </a:r>
            <a:r>
              <a:rPr lang="en-US" altLang="zh-TW" dirty="0"/>
              <a:t> </a:t>
            </a:r>
            <a:r>
              <a:rPr lang="zh-TW" altLang="en-US" dirty="0"/>
              <a:t>個元素，</a:t>
            </a:r>
            <a:r>
              <a:rPr lang="zh-TW" altLang="en-US" dirty="0">
                <a:solidFill>
                  <a:schemeClr val="accent4"/>
                </a:solidFill>
              </a:rPr>
              <a:t>每隔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t</a:t>
            </a:r>
            <a:r>
              <a:rPr lang="en-US" altLang="zh-TW" dirty="0">
                <a:solidFill>
                  <a:schemeClr val="accent4"/>
                </a:solidFill>
              </a:rPr>
              <a:t> </a:t>
            </a:r>
            <a:r>
              <a:rPr lang="zh-TW" altLang="en-US" dirty="0">
                <a:solidFill>
                  <a:schemeClr val="accent4"/>
                </a:solidFill>
              </a:rPr>
              <a:t>個</a:t>
            </a:r>
            <a:r>
              <a:rPr lang="zh-TW" altLang="en-US" dirty="0"/>
              <a:t>取一次。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51EACA-06A0-4B9E-AA10-EC25D279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302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540651-CE41-4338-BE41-E1288225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0CC44-CAD5-424E-A2EF-6C14EE74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59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289B88B-CFCA-41EA-9F15-63ECC3287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07" y="2380765"/>
            <a:ext cx="7771428" cy="28761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28ACE1F-B594-4915-AD60-B837699E5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500" y="3179661"/>
            <a:ext cx="4888814" cy="127839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45016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想想看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如何將串列以反轉的順序輸出？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=["</a:t>
            </a:r>
            <a:r>
              <a:rPr lang="zh-TW" altLang="en-US" dirty="0">
                <a:latin typeface="Consolas" panose="020B0609020204030204" pitchFamily="49" charset="0"/>
              </a:rPr>
              <a:t>皮卡丘</a:t>
            </a:r>
            <a:r>
              <a:rPr lang="en-US" altLang="zh-TW" dirty="0">
                <a:latin typeface="Consolas" panose="020B0609020204030204" pitchFamily="49" charset="0"/>
              </a:rPr>
              <a:t>", "</a:t>
            </a:r>
            <a:r>
              <a:rPr lang="zh-TW" altLang="en-US" dirty="0">
                <a:latin typeface="Consolas" panose="020B0609020204030204" pitchFamily="49" charset="0"/>
              </a:rPr>
              <a:t>小火龍</a:t>
            </a:r>
            <a:r>
              <a:rPr lang="en-US" altLang="zh-TW" dirty="0">
                <a:latin typeface="Consolas" panose="020B0609020204030204" pitchFamily="49" charset="0"/>
              </a:rPr>
              <a:t>", "</a:t>
            </a:r>
            <a:r>
              <a:rPr lang="zh-TW" altLang="en-US" dirty="0">
                <a:latin typeface="Consolas" panose="020B0609020204030204" pitchFamily="49" charset="0"/>
              </a:rPr>
              <a:t>傑尼龜</a:t>
            </a:r>
            <a:r>
              <a:rPr lang="en-US" altLang="zh-TW" dirty="0">
                <a:latin typeface="Consolas" panose="020B0609020204030204" pitchFamily="49" charset="0"/>
              </a:rPr>
              <a:t>", "</a:t>
            </a:r>
            <a:r>
              <a:rPr lang="zh-TW" altLang="en-US" dirty="0">
                <a:latin typeface="Consolas" panose="020B0609020204030204" pitchFamily="49" charset="0"/>
              </a:rPr>
              <a:t>妙蛙種子</a:t>
            </a:r>
            <a:r>
              <a:rPr lang="en-US" altLang="zh-TW" dirty="0">
                <a:latin typeface="Consolas" panose="020B0609020204030204" pitchFamily="49" charset="0"/>
              </a:rPr>
              <a:t>", "</a:t>
            </a:r>
            <a:r>
              <a:rPr lang="zh-TW" altLang="en-US" dirty="0">
                <a:latin typeface="Consolas" panose="020B0609020204030204" pitchFamily="49" charset="0"/>
              </a:rPr>
              <a:t>請假王</a:t>
            </a:r>
            <a:r>
              <a:rPr lang="en-US" altLang="zh-TW" dirty="0">
                <a:latin typeface="Consolas" panose="020B0609020204030204" pitchFamily="49" charset="0"/>
              </a:rPr>
              <a:t>"]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如何將使用者輸入的字串以反轉的順序輸出？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60</a:t>
            </a:fld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50FBB622-8D0D-42F9-B812-FC5D7C9E17A4}"/>
              </a:ext>
            </a:extLst>
          </p:cNvPr>
          <p:cNvSpPr/>
          <p:nvPr/>
        </p:nvSpPr>
        <p:spPr>
          <a:xfrm>
            <a:off x="8097520" y="2956560"/>
            <a:ext cx="2550160" cy="802640"/>
          </a:xfrm>
          <a:prstGeom prst="wedgeRoundRectCallout">
            <a:avLst>
              <a:gd name="adj1" fmla="val -63064"/>
              <a:gd name="adj2" fmla="val -3750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>
                <a:latin typeface="Consolas" panose="020B0609020204030204" pitchFamily="49" charset="0"/>
              </a:rPr>
              <a:t>lst</a:t>
            </a:r>
            <a:r>
              <a:rPr lang="en-US" altLang="zh-TW" sz="2800" dirty="0">
                <a:latin typeface="Consolas" panose="020B0609020204030204" pitchFamily="49" charset="0"/>
              </a:rPr>
              <a:t>[::-1]</a:t>
            </a:r>
            <a:endParaRPr lang="zh-TW" altLang="en-US" sz="2800" dirty="0">
              <a:latin typeface="Consolas" panose="020B06090202040302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A94DB2C-37E4-4FDE-ABEC-237274028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38" y="5092733"/>
            <a:ext cx="5543050" cy="98231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43D88D2-EF56-47F8-A3FB-1CB8BBA9A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131" y="5182569"/>
            <a:ext cx="2622914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7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38151-579B-4B4D-B498-D378FA1A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C0675A-1997-42F4-8BEC-3C954C61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E46B60-F60C-420E-B0B3-0D86ED103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6100"/>
            <a:ext cx="4672476" cy="49786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5C02B87-77F5-42AE-9092-DAA55C795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048" y="2533391"/>
            <a:ext cx="6999165" cy="1001356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48E9DF75-7E8B-4501-B0C6-868ABD1C72E9}"/>
              </a:ext>
            </a:extLst>
          </p:cNvPr>
          <p:cNvSpPr/>
          <p:nvPr/>
        </p:nvSpPr>
        <p:spPr>
          <a:xfrm>
            <a:off x="4440326" y="2807298"/>
            <a:ext cx="609722" cy="453542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0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輸出串列內容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想輸出底下串列的內容，該怎麼做？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62</a:t>
            </a:fld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DA58D1B-CF8C-45D7-BCD7-31D4809265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6232" y="5188080"/>
            <a:ext cx="8899537" cy="474785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20E27060-B37A-422F-875A-AAB6ACF9A74B}"/>
              </a:ext>
            </a:extLst>
          </p:cNvPr>
          <p:cNvGrpSpPr/>
          <p:nvPr/>
        </p:nvGrpSpPr>
        <p:grpSpPr>
          <a:xfrm>
            <a:off x="3510146" y="2877589"/>
            <a:ext cx="8124806" cy="1147873"/>
            <a:chOff x="3510146" y="2877589"/>
            <a:chExt cx="8124806" cy="1147873"/>
          </a:xfrm>
        </p:grpSpPr>
        <p:sp>
          <p:nvSpPr>
            <p:cNvPr id="14" name="圓角矩形圖說文字 13"/>
            <p:cNvSpPr/>
            <p:nvPr/>
          </p:nvSpPr>
          <p:spPr>
            <a:xfrm>
              <a:off x="3510146" y="2877589"/>
              <a:ext cx="8124806" cy="1147873"/>
            </a:xfrm>
            <a:prstGeom prst="wedgeRoundRectCallout">
              <a:avLst>
                <a:gd name="adj1" fmla="val -55528"/>
                <a:gd name="adj2" fmla="val -43894"/>
                <a:gd name="adj3" fmla="val 16667"/>
              </a:avLst>
            </a:prstGeom>
            <a:solidFill>
              <a:schemeClr val="bg1"/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EB4CAB1B-874C-4BA5-91F3-F0A45AD17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465" y="3191607"/>
              <a:ext cx="7206985" cy="474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23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輸出串列內容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想輸出底下串列的內容，該怎麼做？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[0], end=',')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[1], end=',')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[2], end=',')</a:t>
            </a:r>
            <a:endParaRPr lang="en-US" altLang="zh-TW" dirty="0"/>
          </a:p>
          <a:p>
            <a:pPr lvl="1"/>
            <a:r>
              <a:rPr lang="en-US" altLang="zh-TW" dirty="0"/>
              <a:t>…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63</a:t>
            </a:fld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E9F3A5F-C1AF-4D02-8EF9-B1C6BEB3C7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6232" y="5188080"/>
            <a:ext cx="8899537" cy="474785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040D660-FFA2-46F4-AAE0-38C122AFC8BD}"/>
              </a:ext>
            </a:extLst>
          </p:cNvPr>
          <p:cNvGrpSpPr/>
          <p:nvPr/>
        </p:nvGrpSpPr>
        <p:grpSpPr>
          <a:xfrm>
            <a:off x="6096000" y="3237698"/>
            <a:ext cx="5216597" cy="1092565"/>
            <a:chOff x="6481416" y="2838304"/>
            <a:chExt cx="5216597" cy="1092565"/>
          </a:xfrm>
        </p:grpSpPr>
        <p:sp>
          <p:nvSpPr>
            <p:cNvPr id="15" name="圓角矩形圖說文字 14"/>
            <p:cNvSpPr/>
            <p:nvPr/>
          </p:nvSpPr>
          <p:spPr>
            <a:xfrm>
              <a:off x="6481416" y="2838304"/>
              <a:ext cx="5216597" cy="1092565"/>
            </a:xfrm>
            <a:prstGeom prst="wedgeRoundRectCallout">
              <a:avLst>
                <a:gd name="adj1" fmla="val -59363"/>
                <a:gd name="adj2" fmla="val -39082"/>
                <a:gd name="adj3" fmla="val 16667"/>
              </a:avLst>
            </a:prstGeom>
            <a:solidFill>
              <a:schemeClr val="bg1"/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DD133B08-EBF8-46F6-BDD2-54749D14D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2763" y="3158247"/>
              <a:ext cx="4673901" cy="4526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660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輸出串列內容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想輸出底下串列的內容，該怎麼做？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for x in 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print(x, end=',')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64</a:t>
            </a:fld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3C27BD8-82E0-46E4-A8C5-B787341C1F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6232" y="5188080"/>
            <a:ext cx="8899537" cy="474785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07368055-C17A-4DD3-AF19-AFC7A2703150}"/>
              </a:ext>
            </a:extLst>
          </p:cNvPr>
          <p:cNvGrpSpPr/>
          <p:nvPr/>
        </p:nvGrpSpPr>
        <p:grpSpPr>
          <a:xfrm>
            <a:off x="4456386" y="3481551"/>
            <a:ext cx="6764064" cy="1285850"/>
            <a:chOff x="4456386" y="3128496"/>
            <a:chExt cx="6764064" cy="1285850"/>
          </a:xfrm>
        </p:grpSpPr>
        <p:sp>
          <p:nvSpPr>
            <p:cNvPr id="15" name="圓角矩形圖說文字 14"/>
            <p:cNvSpPr/>
            <p:nvPr/>
          </p:nvSpPr>
          <p:spPr>
            <a:xfrm>
              <a:off x="4456386" y="3128496"/>
              <a:ext cx="6764064" cy="1285850"/>
            </a:xfrm>
            <a:prstGeom prst="wedgeRoundRectCallout">
              <a:avLst>
                <a:gd name="adj1" fmla="val -57697"/>
                <a:gd name="adj2" fmla="val -39698"/>
                <a:gd name="adj3" fmla="val 16667"/>
              </a:avLst>
            </a:prstGeom>
            <a:solidFill>
              <a:schemeClr val="bg1"/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7509F65F-D8DB-417F-A267-E39A26701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9654" y="3513080"/>
              <a:ext cx="6096278" cy="548953"/>
            </a:xfrm>
            <a:prstGeom prst="rect">
              <a:avLst/>
            </a:prstGeom>
          </p:spPr>
        </p:pic>
      </p:grpSp>
      <p:sp>
        <p:nvSpPr>
          <p:cNvPr id="20" name="語音泡泡: 圓角矩形 19">
            <a:extLst>
              <a:ext uri="{FF2B5EF4-FFF2-40B4-BE49-F238E27FC236}">
                <a16:creationId xmlns:a16="http://schemas.microsoft.com/office/drawing/2014/main" id="{B1FB0C80-D9D1-490A-99A6-FE4355695537}"/>
              </a:ext>
            </a:extLst>
          </p:cNvPr>
          <p:cNvSpPr/>
          <p:nvPr/>
        </p:nvSpPr>
        <p:spPr>
          <a:xfrm>
            <a:off x="10834219" y="4767401"/>
            <a:ext cx="1039162" cy="933450"/>
          </a:xfrm>
          <a:prstGeom prst="wedgeRoundRectCallout">
            <a:avLst>
              <a:gd name="adj1" fmla="val -50577"/>
              <a:gd name="adj2" fmla="val -8726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注意逗點</a:t>
            </a:r>
          </a:p>
        </p:txBody>
      </p:sp>
    </p:spTree>
    <p:extLst>
      <p:ext uri="{BB962C8B-B14F-4D97-AF65-F5344CB8AC3E}">
        <p14:creationId xmlns:p14="http://schemas.microsoft.com/office/powerpoint/2010/main" val="100564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輸出串列內容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想輸出底下串列的內容，該怎麼做？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for </a:t>
            </a:r>
            <a:r>
              <a:rPr lang="en-US" altLang="zh-TW" dirty="0" err="1">
                <a:latin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</a:rPr>
              <a:t> in range(4):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</a:t>
            </a:r>
            <a:r>
              <a:rPr lang="en-US" altLang="zh-TW" dirty="0" err="1">
                <a:latin typeface="Consolas" panose="020B0609020204030204" pitchFamily="49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</a:rPr>
              <a:t>], end=',’)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print(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[i+1])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65</a:t>
            </a:fld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E6A74261-8AFC-4E39-B8BE-63C3F8D570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6232" y="5188080"/>
            <a:ext cx="8899537" cy="474785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EA055E94-FEC3-4C97-BEF2-5FA358D1EEA9}"/>
              </a:ext>
            </a:extLst>
          </p:cNvPr>
          <p:cNvGrpSpPr/>
          <p:nvPr/>
        </p:nvGrpSpPr>
        <p:grpSpPr>
          <a:xfrm>
            <a:off x="6096000" y="3592117"/>
            <a:ext cx="5216597" cy="1092565"/>
            <a:chOff x="6481416" y="2838304"/>
            <a:chExt cx="5216597" cy="1092565"/>
          </a:xfrm>
        </p:grpSpPr>
        <p:sp>
          <p:nvSpPr>
            <p:cNvPr id="20" name="圓角矩形圖說文字 14">
              <a:extLst>
                <a:ext uri="{FF2B5EF4-FFF2-40B4-BE49-F238E27FC236}">
                  <a16:creationId xmlns:a16="http://schemas.microsoft.com/office/drawing/2014/main" id="{A791AFC5-D2E6-45F6-A811-291396B4E41D}"/>
                </a:ext>
              </a:extLst>
            </p:cNvPr>
            <p:cNvSpPr/>
            <p:nvPr/>
          </p:nvSpPr>
          <p:spPr>
            <a:xfrm>
              <a:off x="6481416" y="2838304"/>
              <a:ext cx="5216597" cy="1092565"/>
            </a:xfrm>
            <a:prstGeom prst="wedgeRoundRectCallout">
              <a:avLst>
                <a:gd name="adj1" fmla="val -59363"/>
                <a:gd name="adj2" fmla="val -39082"/>
                <a:gd name="adj3" fmla="val 16667"/>
              </a:avLst>
            </a:prstGeom>
            <a:solidFill>
              <a:schemeClr val="bg1"/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2F7F95F5-F7D3-47FF-AB27-97CFA08CA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2763" y="3158247"/>
              <a:ext cx="4673901" cy="4526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962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29B29-63BA-42E4-B4D1-203A95CB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加入元素到串列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F92A2E-18D1-41F9-B56F-F9158AFA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我們知道如何存取串列元素，也知道在一開始使用串列時可以一次性指派大量元素，但</a:t>
            </a:r>
            <a:r>
              <a:rPr lang="zh-TW" altLang="en-US" dirty="0">
                <a:solidFill>
                  <a:schemeClr val="accent4"/>
                </a:solidFill>
              </a:rPr>
              <a:t>如何在程式執行過程中把元素逐一放到串列內</a:t>
            </a:r>
            <a:r>
              <a:rPr lang="zh-TW" altLang="en-US" dirty="0"/>
              <a:t>呢？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127508-05F9-4842-B94C-8B3F9112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E0D14B-AC2F-4067-A612-9E62EA004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644" y="3783126"/>
            <a:ext cx="5634711" cy="2687524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58E26F62-2DFD-47C4-83B1-FAA358DFF338}"/>
              </a:ext>
            </a:extLst>
          </p:cNvPr>
          <p:cNvSpPr/>
          <p:nvPr/>
        </p:nvSpPr>
        <p:spPr>
          <a:xfrm>
            <a:off x="8261132" y="2897793"/>
            <a:ext cx="3092668" cy="756745"/>
          </a:xfrm>
          <a:prstGeom prst="wedgeRoundRectCallout">
            <a:avLst>
              <a:gd name="adj1" fmla="val -62974"/>
              <a:gd name="adj2" fmla="val -4402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使用 </a:t>
            </a:r>
            <a:r>
              <a:rPr lang="en-US" altLang="zh-TW" sz="2800" dirty="0">
                <a:latin typeface="Consolas" panose="020B0609020204030204" pitchFamily="49" charset="0"/>
              </a:rPr>
              <a:t>append()</a:t>
            </a:r>
            <a:endParaRPr lang="zh-TW" alt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52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D0960E-1754-4DB8-BCAF-347EE218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加入元素到串列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8BAC8D-971E-4A35-905F-22653EE5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E8857E0-BEE7-4270-9F57-365F9E5AA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15" y="2332596"/>
            <a:ext cx="6139446" cy="306972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303D8C6-5FEE-4AE1-9044-D5D7C3D86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495" y="2424058"/>
            <a:ext cx="2929990" cy="933449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5CED46CB-30AD-4B76-A790-095317EB5FE4}"/>
              </a:ext>
            </a:extLst>
          </p:cNvPr>
          <p:cNvSpPr/>
          <p:nvPr/>
        </p:nvSpPr>
        <p:spPr>
          <a:xfrm>
            <a:off x="7573361" y="3720860"/>
            <a:ext cx="4183116" cy="1092682"/>
          </a:xfrm>
          <a:prstGeom prst="wedgeRoundRectCallout">
            <a:avLst>
              <a:gd name="adj1" fmla="val -88853"/>
              <a:gd name="adj2" fmla="val -1805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猜猜看 </a:t>
            </a:r>
            <a:r>
              <a:rPr lang="en-US" altLang="zh-TW" sz="2800" dirty="0">
                <a:latin typeface="Consolas" panose="020B0609020204030204" pitchFamily="49" charset="0"/>
              </a:rPr>
              <a:t>append()</a:t>
            </a:r>
            <a:r>
              <a:rPr lang="en-US" altLang="zh-TW" sz="2800" dirty="0"/>
              <a:t> </a:t>
            </a:r>
            <a:r>
              <a:rPr lang="zh-TW" altLang="en-US" sz="2800" dirty="0"/>
              <a:t>如何把資料放到串列內？</a:t>
            </a:r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99828953-6C2D-4A57-9515-EB6D89EC0080}"/>
              </a:ext>
            </a:extLst>
          </p:cNvPr>
          <p:cNvSpPr/>
          <p:nvPr/>
        </p:nvSpPr>
        <p:spPr>
          <a:xfrm>
            <a:off x="4673163" y="5499746"/>
            <a:ext cx="7083314" cy="1092682"/>
          </a:xfrm>
          <a:prstGeom prst="wedgeRoundRectCallout">
            <a:avLst>
              <a:gd name="adj1" fmla="val -32344"/>
              <a:gd name="adj2" fmla="val -8538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姑且將 </a:t>
            </a:r>
            <a:r>
              <a:rPr lang="en-US" altLang="zh-TW" sz="2800" dirty="0">
                <a:latin typeface="Consolas" panose="020B0609020204030204" pitchFamily="49" charset="0"/>
              </a:rPr>
              <a:t>append()</a:t>
            </a:r>
            <a:r>
              <a:rPr lang="zh-TW" altLang="en-US" sz="2800" dirty="0"/>
              <a:t> 當成是串列的特有方法，但與內建函式不同，不能單獨使用。</a:t>
            </a:r>
          </a:p>
        </p:txBody>
      </p:sp>
    </p:spTree>
    <p:extLst>
      <p:ext uri="{BB962C8B-B14F-4D97-AF65-F5344CB8AC3E}">
        <p14:creationId xmlns:p14="http://schemas.microsoft.com/office/powerpoint/2010/main" val="126279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串列的宣告</a:t>
            </a:r>
            <a:r>
              <a:rPr lang="en-US" altLang="zh-TW" dirty="0"/>
              <a:t>(declaration)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857375"/>
            <a:ext cx="5919952" cy="4400550"/>
          </a:xfrm>
        </p:spPr>
        <p:txBody>
          <a:bodyPr/>
          <a:lstStyle/>
          <a:p>
            <a:r>
              <a:rPr lang="zh-TW" altLang="en-US" dirty="0"/>
              <a:t>串列在使用時要指派儲存的資料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[66, 88, 77]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否則就得先</a:t>
            </a:r>
            <a:r>
              <a:rPr lang="zh-TW" altLang="en-US" dirty="0">
                <a:solidFill>
                  <a:schemeClr val="accent4"/>
                </a:solidFill>
              </a:rPr>
              <a:t>宣告</a:t>
            </a:r>
            <a:r>
              <a:rPr lang="zh-TW" altLang="en-US" dirty="0"/>
              <a:t>，後續才能直接使用，否則會發生「</a:t>
            </a:r>
            <a:r>
              <a:rPr lang="en-US" altLang="zh-TW" dirty="0" err="1"/>
              <a:t>NameError</a:t>
            </a:r>
            <a:r>
              <a:rPr lang="zh-TW" altLang="en-US" dirty="0"/>
              <a:t>」。</a:t>
            </a:r>
            <a:endParaRPr lang="en-US" altLang="zh-TW" dirty="0"/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[]</a:t>
            </a:r>
            <a:endParaRPr lang="zh-TW" altLang="en-US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list()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F0F53E-57E0-4B61-BF8A-DE85F2C45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729" y="2466766"/>
            <a:ext cx="5177421" cy="2588710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310A925A-954E-4442-AA99-7880AC501A28}"/>
              </a:ext>
            </a:extLst>
          </p:cNvPr>
          <p:cNvSpPr/>
          <p:nvPr/>
        </p:nvSpPr>
        <p:spPr>
          <a:xfrm>
            <a:off x="3798177" y="5482809"/>
            <a:ext cx="3680056" cy="634456"/>
          </a:xfrm>
          <a:prstGeom prst="wedgeRoundRectCallout">
            <a:avLst>
              <a:gd name="adj1" fmla="val -62599"/>
              <a:gd name="adj2" fmla="val -57407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內建函式，可單獨使用。</a:t>
            </a:r>
          </a:p>
        </p:txBody>
      </p:sp>
    </p:spTree>
    <p:extLst>
      <p:ext uri="{BB962C8B-B14F-4D97-AF65-F5344CB8AC3E}">
        <p14:creationId xmlns:p14="http://schemas.microsoft.com/office/powerpoint/2010/main" val="11687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147BF-02C3-43DA-B784-06E3B1EC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+</a:t>
            </a:r>
            <a:r>
              <a:rPr lang="en-US" altLang="zh-TW" dirty="0"/>
              <a:t> </a:t>
            </a:r>
            <a:r>
              <a:rPr lang="zh-TW" altLang="en-US" dirty="0"/>
              <a:t>與</a:t>
            </a:r>
            <a:r>
              <a:rPr lang="en-US" altLang="zh-TW" dirty="0"/>
              <a:t> </a:t>
            </a:r>
            <a:r>
              <a:rPr lang="en-US" altLang="zh-TW" dirty="0">
                <a:latin typeface="Consolas" panose="020B0609020204030204" pitchFamily="49" charset="0"/>
              </a:rPr>
              <a:t>*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466A56-11FD-472D-A7C5-9E1C26CC8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之前看過的算術運算子 </a:t>
            </a:r>
            <a:r>
              <a:rPr lang="en-US" altLang="zh-TW" dirty="0">
                <a:latin typeface="Consolas" panose="020B0609020204030204" pitchFamily="49" charset="0"/>
              </a:rPr>
              <a:t>+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zh-TW" altLang="en-US" dirty="0">
                <a:latin typeface="Consolas" panose="020B0609020204030204" pitchFamily="49" charset="0"/>
              </a:rPr>
              <a:t>*</a:t>
            </a:r>
            <a:r>
              <a:rPr lang="zh-TW" altLang="en-US" dirty="0"/>
              <a:t>，也可用在串列。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12289B-3D49-45A2-8F9E-310D2540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69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DD2761C-7875-47D1-B91B-E9068E80C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917" y="2711531"/>
            <a:ext cx="5622674" cy="25331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C88CC1A-D166-46A9-8D2E-5A1A6FB03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71" y="3021828"/>
            <a:ext cx="4189928" cy="814343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D367DB9F-569C-4E1A-87BF-42CAC7D581CE}"/>
              </a:ext>
            </a:extLst>
          </p:cNvPr>
          <p:cNvSpPr/>
          <p:nvPr/>
        </p:nvSpPr>
        <p:spPr>
          <a:xfrm>
            <a:off x="7468971" y="4339067"/>
            <a:ext cx="3620156" cy="814343"/>
          </a:xfrm>
          <a:prstGeom prst="wedgeRoundRectCallout">
            <a:avLst>
              <a:gd name="adj1" fmla="val -73756"/>
              <a:gd name="adj2" fmla="val -4902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猜猜看它們的用途</a:t>
            </a:r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BB701F58-C3FA-4E87-BCC2-702964D3A563}"/>
              </a:ext>
            </a:extLst>
          </p:cNvPr>
          <p:cNvSpPr/>
          <p:nvPr/>
        </p:nvSpPr>
        <p:spPr>
          <a:xfrm>
            <a:off x="1681655" y="5499746"/>
            <a:ext cx="10074822" cy="1092682"/>
          </a:xfrm>
          <a:prstGeom prst="wedgeRoundRectCallout">
            <a:avLst>
              <a:gd name="adj1" fmla="val -11584"/>
              <a:gd name="adj2" fmla="val -8538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將算術運算子運用到串列上的做法，是 </a:t>
            </a:r>
            <a:r>
              <a:rPr lang="en-US" altLang="zh-TW" sz="2400" dirty="0"/>
              <a:t>OOP</a:t>
            </a:r>
            <a:r>
              <a:rPr lang="zh-TW" altLang="en-US" sz="2400" dirty="0"/>
              <a:t> 三大特性之一的多型</a:t>
            </a:r>
            <a:r>
              <a:rPr lang="en-US" altLang="zh-TW" sz="2400" dirty="0"/>
              <a:t>(polymorphism)</a:t>
            </a:r>
            <a:r>
              <a:rPr lang="zh-TW" altLang="en-US" sz="2400" dirty="0"/>
              <a:t>，其概念白話一點說就是「一樣的事情，有不同做法」。</a:t>
            </a:r>
          </a:p>
        </p:txBody>
      </p:sp>
    </p:spTree>
    <p:extLst>
      <p:ext uri="{BB962C8B-B14F-4D97-AF65-F5344CB8AC3E}">
        <p14:creationId xmlns:p14="http://schemas.microsoft.com/office/powerpoint/2010/main" val="409534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D86A77-D154-42D3-A677-5235C83A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成員運算子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0BA485-C103-42B5-8725-2EB8D28E2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is / not in </a:t>
            </a:r>
            <a:r>
              <a:rPr lang="zh-TW" altLang="en-US" dirty="0"/>
              <a:t>可檢查某元素</a:t>
            </a:r>
            <a:r>
              <a:rPr lang="zh-TW" altLang="en-US" dirty="0">
                <a:solidFill>
                  <a:schemeClr val="accent4"/>
                </a:solidFill>
              </a:rPr>
              <a:t>是否</a:t>
            </a:r>
            <a:r>
              <a:rPr lang="zh-TW" altLang="en-US" dirty="0"/>
              <a:t>在串列中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9916A9-1465-434A-98E1-D8DDA8AF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99616C-CF36-43F3-87D2-CB937E686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69" y="2703652"/>
            <a:ext cx="8356262" cy="20890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1820AF6-3667-45B1-B9EA-6D531DB51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286" y="5107889"/>
            <a:ext cx="3855428" cy="106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5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練習：計算成績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請設計一個輸入成績的程式，要求如下：</a:t>
            </a:r>
            <a:endParaRPr lang="en-US" altLang="zh-TW" dirty="0"/>
          </a:p>
          <a:p>
            <a:pPr lvl="1"/>
            <a:r>
              <a:rPr lang="zh-TW" altLang="en-US" dirty="0"/>
              <a:t>輸入：成績或「</a:t>
            </a:r>
            <a:r>
              <a:rPr lang="en-US" altLang="zh-TW" dirty="0"/>
              <a:t>-1</a:t>
            </a:r>
            <a:r>
              <a:rPr lang="zh-TW" altLang="en-US" dirty="0"/>
              <a:t>」</a:t>
            </a:r>
            <a:endParaRPr lang="en-US" altLang="zh-TW" dirty="0"/>
          </a:p>
          <a:p>
            <a:pPr lvl="1"/>
            <a:r>
              <a:rPr lang="zh-TW" altLang="en-US" dirty="0"/>
              <a:t>輸出：</a:t>
            </a:r>
            <a:endParaRPr lang="en-US" altLang="zh-TW" dirty="0"/>
          </a:p>
          <a:p>
            <a:pPr lvl="2"/>
            <a:r>
              <a:rPr lang="zh-TW" altLang="en-US" dirty="0"/>
              <a:t>「</a:t>
            </a:r>
            <a:r>
              <a:rPr lang="en-US" altLang="zh-TW" dirty="0"/>
              <a:t>-1</a:t>
            </a:r>
            <a:r>
              <a:rPr lang="zh-TW" altLang="en-US" dirty="0"/>
              <a:t>」表示成績輸入結束</a:t>
            </a:r>
            <a:endParaRPr lang="en-US" altLang="zh-TW" dirty="0"/>
          </a:p>
          <a:p>
            <a:pPr lvl="2"/>
            <a:r>
              <a:rPr lang="zh-TW" altLang="en-US" dirty="0"/>
              <a:t>結束後顯示 </a:t>
            </a:r>
            <a:r>
              <a:rPr lang="en-US" altLang="zh-TW" dirty="0"/>
              <a:t>(1).</a:t>
            </a:r>
            <a:r>
              <a:rPr lang="zh-TW" altLang="en-US" dirty="0"/>
              <a:t>所有成績 </a:t>
            </a:r>
            <a:r>
              <a:rPr lang="en-US" altLang="zh-TW" dirty="0"/>
              <a:t>(2).</a:t>
            </a:r>
            <a:r>
              <a:rPr lang="zh-TW" altLang="en-US" dirty="0"/>
              <a:t>總成績 </a:t>
            </a:r>
            <a:r>
              <a:rPr lang="en-US" altLang="zh-TW" dirty="0"/>
              <a:t>(3).</a:t>
            </a:r>
            <a:r>
              <a:rPr lang="zh-TW" altLang="en-US" dirty="0"/>
              <a:t>平均成績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29202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pPr lvl="1"/>
            <a:r>
              <a:rPr lang="zh-TW" altLang="en-US" dirty="0"/>
              <a:t>一維串列的基礎操作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一維串列的進階操作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串列綜合運算</a:t>
            </a:r>
            <a:endParaRPr lang="en-US" altLang="zh-TW" dirty="0"/>
          </a:p>
          <a:p>
            <a:pPr lvl="1"/>
            <a:r>
              <a:rPr lang="zh-TW" altLang="en-US" dirty="0"/>
              <a:t>多維串列的操作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017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串列進階操作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[66, 88, 77]</a:t>
            </a:r>
            <a:endParaRPr lang="zh-TW" altLang="en-US" dirty="0"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73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BC52429-BC5E-4883-9F0E-60751A97A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22" y="2595704"/>
            <a:ext cx="8705955" cy="3138345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9F4372FA-2439-42E3-9291-B18FF7D624B0}"/>
              </a:ext>
            </a:extLst>
          </p:cNvPr>
          <p:cNvSpPr/>
          <p:nvPr/>
        </p:nvSpPr>
        <p:spPr>
          <a:xfrm>
            <a:off x="2706567" y="5741092"/>
            <a:ext cx="1851256" cy="450158"/>
          </a:xfrm>
          <a:prstGeom prst="wedgeRoundRectCallout">
            <a:avLst>
              <a:gd name="adj1" fmla="val -62599"/>
              <a:gd name="adj2" fmla="val -57407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內建函式</a:t>
            </a:r>
          </a:p>
        </p:txBody>
      </p:sp>
    </p:spTree>
    <p:extLst>
      <p:ext uri="{BB962C8B-B14F-4D97-AF65-F5344CB8AC3E}">
        <p14:creationId xmlns:p14="http://schemas.microsoft.com/office/powerpoint/2010/main" val="384015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E06E43-578E-4230-AFCC-F3E5655C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346DAC-C8D1-431C-92FF-C387EBB1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74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4AF30C3-EB18-4CE6-B147-8605BD807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641" y="2513218"/>
            <a:ext cx="6937501" cy="280976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B2EB601-673E-44F3-9F7E-1D5FCFE31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103" y="2712357"/>
            <a:ext cx="4659135" cy="112139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803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串列進階操作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[66, 88, 77]</a:t>
            </a:r>
            <a:endParaRPr lang="zh-TW" altLang="en-US" dirty="0"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75</a:t>
            </a:fld>
            <a:endParaRPr lang="zh-TW" altLang="en-US" dirty="0"/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3494280D-0E0A-4208-A942-D643D892FB97}"/>
              </a:ext>
            </a:extLst>
          </p:cNvPr>
          <p:cNvSpPr/>
          <p:nvPr/>
        </p:nvSpPr>
        <p:spPr>
          <a:xfrm>
            <a:off x="2833687" y="5572410"/>
            <a:ext cx="8924925" cy="933451"/>
          </a:xfrm>
          <a:prstGeom prst="wedgeRoundRectCallout">
            <a:avLst>
              <a:gd name="adj1" fmla="val -54557"/>
              <a:gd name="adj2" fmla="val -4271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index() </a:t>
            </a:r>
            <a:r>
              <a:rPr lang="zh-TW" altLang="en-US" sz="2000" dirty="0"/>
              <a:t>只取出指定元素第一次出現的索引值，當串列裡沒有指定元素時，會</a:t>
            </a:r>
            <a:r>
              <a:rPr lang="zh-TW" altLang="en-US" sz="2000" dirty="0">
                <a:solidFill>
                  <a:schemeClr val="tx1"/>
                </a:solidFill>
              </a:rPr>
              <a:t>引發「</a:t>
            </a:r>
            <a:r>
              <a:rPr lang="en-US" altLang="zh-TW" sz="2000" dirty="0" err="1">
                <a:solidFill>
                  <a:schemeClr val="tx1"/>
                </a:solidFill>
              </a:rPr>
              <a:t>ValueError</a:t>
            </a:r>
            <a:r>
              <a:rPr lang="zh-TW" altLang="en-US" sz="2000" dirty="0">
                <a:solidFill>
                  <a:schemeClr val="tx1"/>
                </a:solidFill>
              </a:rPr>
              <a:t>」的錯誤</a:t>
            </a:r>
            <a:r>
              <a:rPr lang="zh-TW" altLang="en-US" sz="2000" dirty="0"/>
              <a:t>，所以經常與前面提過的 </a:t>
            </a:r>
            <a:r>
              <a:rPr lang="en-US" altLang="zh-TW" sz="2000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zh-TW" altLang="en-US" sz="2000" dirty="0"/>
              <a:t> 運算子搭配使用。</a:t>
            </a:r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B109235F-0D82-429E-9615-8A4D5A5D286B}"/>
              </a:ext>
            </a:extLst>
          </p:cNvPr>
          <p:cNvSpPr/>
          <p:nvPr/>
        </p:nvSpPr>
        <p:spPr>
          <a:xfrm>
            <a:off x="6514214" y="1690828"/>
            <a:ext cx="5353936" cy="933451"/>
          </a:xfrm>
          <a:prstGeom prst="wedgeRoundRectCallout">
            <a:avLst>
              <a:gd name="adj1" fmla="val -55936"/>
              <a:gd name="adj2" fmla="val 40857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這些方法類似前面提到的 </a:t>
            </a:r>
            <a:r>
              <a:rPr lang="en-US" altLang="zh-TW" sz="2000" dirty="0">
                <a:latin typeface="Consolas" panose="020B0609020204030204" pitchFamily="49" charset="0"/>
              </a:rPr>
              <a:t>append()</a:t>
            </a:r>
            <a:r>
              <a:rPr lang="zh-TW" altLang="en-US" sz="2000" dirty="0"/>
              <a:t>，要接在一個串列的後面，完成後會回傳處理結果。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44DFD97-F67B-457A-BF1C-7E11C2790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21" y="2624279"/>
            <a:ext cx="8705958" cy="2735406"/>
          </a:xfrm>
          <a:prstGeom prst="rect">
            <a:avLst/>
          </a:prstGeom>
        </p:spPr>
      </p:pic>
      <p:sp>
        <p:nvSpPr>
          <p:cNvPr id="8" name="星形: 五角 7">
            <a:extLst>
              <a:ext uri="{FF2B5EF4-FFF2-40B4-BE49-F238E27FC236}">
                <a16:creationId xmlns:a16="http://schemas.microsoft.com/office/drawing/2014/main" id="{E17B9020-7D80-4670-BFA5-827C3C22B5D4}"/>
              </a:ext>
            </a:extLst>
          </p:cNvPr>
          <p:cNvSpPr/>
          <p:nvPr/>
        </p:nvSpPr>
        <p:spPr>
          <a:xfrm>
            <a:off x="1467580" y="3291279"/>
            <a:ext cx="275441" cy="275441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D84FC598-E7A5-49C1-8AFD-609BA06DE36F}"/>
              </a:ext>
            </a:extLst>
          </p:cNvPr>
          <p:cNvSpPr/>
          <p:nvPr/>
        </p:nvSpPr>
        <p:spPr>
          <a:xfrm>
            <a:off x="1467580" y="3715706"/>
            <a:ext cx="275441" cy="275441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1875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CE00FE-D7E5-49DC-8BF9-1713B2C1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58A379-A8CB-4A94-9B71-7B398C1A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52C70C-80F9-4968-A10E-139909868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531" y="1600200"/>
            <a:ext cx="5751447" cy="46432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4B97576-7DE7-48F8-AED8-2DAAD8543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065" y="2509794"/>
            <a:ext cx="3635385" cy="282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3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DE40F-07D6-418D-AAF4-7EC7D76C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複製串列？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ABBD38-0109-4F5C-A6EF-762FF617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9A1E71-7DBB-4A5A-B9C1-5354A960F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48" y="2290895"/>
            <a:ext cx="6097574" cy="335743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37EF542-EC7E-4609-8079-0C97501FC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690" y="3240979"/>
            <a:ext cx="3821875" cy="1457262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C492FE03-CF39-4EC8-9913-6BC4DA74CF00}"/>
              </a:ext>
            </a:extLst>
          </p:cNvPr>
          <p:cNvSpPr/>
          <p:nvPr/>
        </p:nvSpPr>
        <p:spPr>
          <a:xfrm>
            <a:off x="5610225" y="874333"/>
            <a:ext cx="6097574" cy="1192346"/>
          </a:xfrm>
          <a:prstGeom prst="wedgeRoundRectCallout">
            <a:avLst>
              <a:gd name="adj1" fmla="val -55482"/>
              <a:gd name="adj2" fmla="val 42978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內建函式 </a:t>
            </a:r>
            <a:r>
              <a:rPr lang="en-US" altLang="zh-TW" sz="2400" dirty="0">
                <a:latin typeface="Consolas" panose="020B0609020204030204" pitchFamily="49" charset="0"/>
              </a:rPr>
              <a:t>id()</a:t>
            </a:r>
            <a:r>
              <a:rPr lang="zh-TW" altLang="en-US" sz="2400" dirty="0"/>
              <a:t> 是取得物件的識別碼，這是一個整數，代表該物件在記憶體中的位置。</a:t>
            </a:r>
          </a:p>
        </p:txBody>
      </p:sp>
    </p:spTree>
    <p:extLst>
      <p:ext uri="{BB962C8B-B14F-4D97-AF65-F5344CB8AC3E}">
        <p14:creationId xmlns:p14="http://schemas.microsoft.com/office/powerpoint/2010/main" val="272746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DE40F-07D6-418D-AAF4-7EC7D76C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複製串列？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ABBD38-0109-4F5C-A6EF-762FF617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78</a:t>
            </a:fld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57395AE-6453-4950-A96C-0FC11B60D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48" y="2290894"/>
            <a:ext cx="6314689" cy="362080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CADF140-445C-4727-A3E6-8998E3026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529" y="3366909"/>
            <a:ext cx="5342789" cy="141774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150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633129-ED92-4E28-AD4F-679835B6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en-US" altLang="zh-TW" dirty="0">
                <a:latin typeface="Consolas" panose="020B0609020204030204" pitchFamily="49" charset="0"/>
              </a:rPr>
              <a:t>==</a:t>
            </a:r>
            <a:r>
              <a:rPr lang="zh-TW" altLang="en-US" dirty="0"/>
              <a:t>」 </a:t>
            </a:r>
            <a:r>
              <a:rPr lang="en-US" altLang="zh-TW" dirty="0"/>
              <a:t>vs </a:t>
            </a:r>
            <a:r>
              <a:rPr lang="zh-TW" altLang="en-US" dirty="0"/>
              <a:t>「</a:t>
            </a:r>
            <a:r>
              <a:rPr lang="en-US" altLang="zh-TW" dirty="0">
                <a:latin typeface="Consolas" panose="020B0609020204030204" pitchFamily="49" charset="0"/>
              </a:rPr>
              <a:t>is</a:t>
            </a:r>
            <a:r>
              <a:rPr lang="zh-TW" altLang="en-US" dirty="0"/>
              <a:t>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D8FA8C-642A-48E1-913F-2A3B240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79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D0505D-EC5A-4FD3-8F02-9B574BE3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1862302"/>
            <a:ext cx="4909945" cy="421069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0B7E35C-3036-4BE0-964C-F13520A17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149" y="2683589"/>
            <a:ext cx="1498259" cy="266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星形: 五角 9">
            <a:extLst>
              <a:ext uri="{FF2B5EF4-FFF2-40B4-BE49-F238E27FC236}">
                <a16:creationId xmlns:a16="http://schemas.microsoft.com/office/drawing/2014/main" id="{9BC87491-0CA8-4BB0-9936-850EC59481AB}"/>
              </a:ext>
            </a:extLst>
          </p:cNvPr>
          <p:cNvSpPr/>
          <p:nvPr/>
        </p:nvSpPr>
        <p:spPr>
          <a:xfrm>
            <a:off x="1467580" y="4908626"/>
            <a:ext cx="275441" cy="275441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串列進階操作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[66, 88, 77]</a:t>
            </a:r>
            <a:endParaRPr lang="zh-TW" altLang="en-US" dirty="0"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80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A00ED0D-2968-449F-9C5F-9502F8096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22" y="2595704"/>
            <a:ext cx="8705954" cy="381378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AE36BF5-87FF-4AB9-BA31-6CD69083803A}"/>
              </a:ext>
            </a:extLst>
          </p:cNvPr>
          <p:cNvSpPr/>
          <p:nvPr/>
        </p:nvSpPr>
        <p:spPr>
          <a:xfrm>
            <a:off x="1263535" y="4857750"/>
            <a:ext cx="9385415" cy="158031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88AF2E38-69A3-434E-BD36-7B5FA0FCD404}"/>
              </a:ext>
            </a:extLst>
          </p:cNvPr>
          <p:cNvSpPr/>
          <p:nvPr/>
        </p:nvSpPr>
        <p:spPr>
          <a:xfrm>
            <a:off x="1467580" y="4480479"/>
            <a:ext cx="275441" cy="275441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76309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24563-59D5-4749-9D65-65106A61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4F57A4-93D8-4B1F-A8D5-72CAAA68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81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24180D-CD2E-47F4-B4C4-C1D6B631E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63" y="1914089"/>
            <a:ext cx="6781891" cy="436222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EBCAF5-5F4D-4FDB-8AD3-92335577A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294" y="3264175"/>
            <a:ext cx="3696893" cy="16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9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增加串列元素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Consolas" panose="020B0609020204030204" pitchFamily="49" charset="0"/>
              </a:rPr>
              <a:t>lst</a:t>
            </a:r>
            <a:r>
              <a:rPr lang="en-US" altLang="zh-TW" dirty="0">
                <a:latin typeface="Consolas" panose="020B0609020204030204" pitchFamily="49" charset="0"/>
              </a:rPr>
              <a:t> = [66, 88, 77]</a:t>
            </a:r>
            <a:endParaRPr lang="zh-TW" altLang="en-US" dirty="0"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82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A00ED0D-2968-449F-9C5F-9502F8096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22" y="2595704"/>
            <a:ext cx="8705954" cy="381378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BB4ED6E-3A0D-4CEF-9639-F3A0D8974692}"/>
              </a:ext>
            </a:extLst>
          </p:cNvPr>
          <p:cNvSpPr/>
          <p:nvPr/>
        </p:nvSpPr>
        <p:spPr>
          <a:xfrm>
            <a:off x="1447800" y="4791075"/>
            <a:ext cx="9296400" cy="1618416"/>
          </a:xfrm>
          <a:prstGeom prst="rect">
            <a:avLst/>
          </a:prstGeom>
          <a:noFill/>
          <a:ln w="317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2CB31E0B-160F-40B1-AB47-4DC029283AD2}"/>
              </a:ext>
            </a:extLst>
          </p:cNvPr>
          <p:cNvSpPr/>
          <p:nvPr/>
        </p:nvSpPr>
        <p:spPr>
          <a:xfrm>
            <a:off x="1467580" y="4908626"/>
            <a:ext cx="275441" cy="275441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896199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append()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vs</a:t>
            </a:r>
            <a:r>
              <a:rPr lang="en-US" altLang="zh-TW" dirty="0"/>
              <a:t> </a:t>
            </a:r>
            <a:r>
              <a:rPr lang="en-US" altLang="zh-TW" dirty="0">
                <a:latin typeface="Consolas" panose="020B0609020204030204" pitchFamily="49" charset="0"/>
              </a:rPr>
              <a:t>insert()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insert() </a:t>
            </a:r>
            <a:r>
              <a:rPr lang="zh-TW" altLang="en-US" dirty="0"/>
              <a:t>方法是將元素加在串列的</a:t>
            </a:r>
            <a:r>
              <a:rPr lang="zh-TW" altLang="en-US" dirty="0">
                <a:solidFill>
                  <a:schemeClr val="accent4"/>
                </a:solidFill>
              </a:rPr>
              <a:t>指定位置</a:t>
            </a:r>
            <a:endParaRPr lang="en-US" altLang="zh-TW" dirty="0">
              <a:solidFill>
                <a:schemeClr val="accent4"/>
              </a:solidFill>
            </a:endParaRPr>
          </a:p>
          <a:p>
            <a:pPr lvl="1"/>
            <a:r>
              <a:rPr lang="zh-TW" altLang="en-US" dirty="0"/>
              <a:t>位置透過索引值來指定</a:t>
            </a:r>
            <a:endParaRPr lang="en-US" altLang="zh-TW" dirty="0"/>
          </a:p>
          <a:p>
            <a:pPr lvl="1"/>
            <a:r>
              <a:rPr lang="zh-TW" altLang="en-US" dirty="0"/>
              <a:t>若索引值超過串列範圍，會直接將元素新增在串列尾端。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>
                <a:latin typeface="Consolas" panose="020B0609020204030204" pitchFamily="49" charset="0"/>
              </a:rPr>
              <a:t>append() </a:t>
            </a:r>
            <a:r>
              <a:rPr lang="zh-TW" altLang="en-US" dirty="0"/>
              <a:t>方法是將元素加在串列</a:t>
            </a:r>
            <a:r>
              <a:rPr lang="zh-TW" altLang="en-US" dirty="0">
                <a:solidFill>
                  <a:schemeClr val="accent4"/>
                </a:solidFill>
              </a:rPr>
              <a:t>最後面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854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append()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vs</a:t>
            </a:r>
            <a:r>
              <a:rPr lang="en-US" altLang="zh-TW" dirty="0"/>
              <a:t> </a:t>
            </a:r>
            <a:r>
              <a:rPr lang="en-US" altLang="zh-TW" dirty="0">
                <a:latin typeface="Consolas" panose="020B0609020204030204" pitchFamily="49" charset="0"/>
              </a:rPr>
              <a:t>extend()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Consolas" panose="020B0609020204030204" pitchFamily="49" charset="0"/>
              </a:rPr>
              <a:t>這兩個方法</a:t>
            </a:r>
            <a:r>
              <a:rPr lang="zh-TW" altLang="en-US" dirty="0"/>
              <a:t>都是將資料加在串列尾端，不同處在於 </a:t>
            </a:r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append()</a:t>
            </a:r>
            <a:r>
              <a:rPr lang="zh-TW" altLang="en-US" dirty="0">
                <a:latin typeface="Consolas" panose="020B0609020204030204" pitchFamily="49" charset="0"/>
              </a:rPr>
              <a:t>可以</a:t>
            </a:r>
            <a:r>
              <a:rPr lang="zh-TW" altLang="en-US" dirty="0"/>
              <a:t>新增的</a:t>
            </a:r>
            <a:r>
              <a:rPr lang="zh-TW" altLang="en-US" dirty="0">
                <a:solidFill>
                  <a:schemeClr val="accent4"/>
                </a:solidFill>
              </a:rPr>
              <a:t>元素</a:t>
            </a:r>
            <a:r>
              <a:rPr lang="zh-TW" altLang="en-US" dirty="0"/>
              <a:t>，也能新增</a:t>
            </a:r>
            <a:r>
              <a:rPr lang="zh-TW" altLang="en-US" dirty="0">
                <a:solidFill>
                  <a:schemeClr val="accent4"/>
                </a:solidFill>
              </a:rPr>
              <a:t>串列。</a:t>
            </a:r>
            <a:endParaRPr lang="en-US" altLang="zh-TW" dirty="0">
              <a:solidFill>
                <a:schemeClr val="accent4"/>
              </a:solidFill>
            </a:endParaRPr>
          </a:p>
          <a:p>
            <a:pPr lvl="2"/>
            <a:r>
              <a:rPr lang="zh-TW" altLang="en-US" dirty="0"/>
              <a:t>如果是串列，會將整個串列當成一個元素加入。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extend()</a:t>
            </a:r>
            <a:r>
              <a:rPr lang="zh-TW" altLang="en-US" dirty="0">
                <a:latin typeface="Consolas" panose="020B0609020204030204" pitchFamily="49" charset="0"/>
              </a:rPr>
              <a:t>只能新增如</a:t>
            </a:r>
            <a:r>
              <a:rPr lang="zh-TW" altLang="en-US" dirty="0">
                <a:solidFill>
                  <a:schemeClr val="accent4"/>
                </a:solidFill>
              </a:rPr>
              <a:t>串列、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solidFill>
                  <a:schemeClr val="accent4"/>
                </a:solidFill>
              </a:rPr>
              <a:t> </a:t>
            </a:r>
            <a:r>
              <a:rPr lang="zh-TW" altLang="en-US" dirty="0"/>
              <a:t>般的可迭代物件。</a:t>
            </a:r>
            <a:endParaRPr lang="en-US" altLang="zh-TW" dirty="0"/>
          </a:p>
          <a:p>
            <a:pPr lvl="2"/>
            <a:r>
              <a:rPr lang="zh-TW" altLang="en-US" dirty="0"/>
              <a:t>將串列中的元素做為個別元素逐一加入串列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45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49CA9-A419-4834-9C57-79B3A28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B679C-EBD6-4E6B-8416-CCA3C82E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55570A-1F40-4E16-9945-E18A0A270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25" y="1600200"/>
            <a:ext cx="6518545" cy="464319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ABE8AB9-340F-4F59-841C-56D97986B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077" y="2489403"/>
            <a:ext cx="4792667" cy="154602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24534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5AC9BC-A539-42CC-A385-31033EF2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BCC9EA-E056-4AC9-928D-0ECEFBBA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底下以功能為主，整理前面提到的各個串列操作方法：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宣告</a:t>
            </a:r>
            <a:r>
              <a:rPr lang="zh-TW" altLang="en-US" dirty="0"/>
              <a:t>串列：中括號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[]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list()</a:t>
            </a:r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存取</a:t>
            </a:r>
            <a:r>
              <a:rPr lang="zh-TW" altLang="en-US" dirty="0"/>
              <a:t>元素：中括號、分割運算子</a:t>
            </a:r>
            <a:r>
              <a:rPr lang="en-US" altLang="zh-TW" dirty="0"/>
              <a:t>(</a:t>
            </a:r>
            <a:r>
              <a:rPr lang="en-US" altLang="zh-TW" dirty="0">
                <a:latin typeface="Consolas" panose="020B0609020204030204" pitchFamily="49" charset="0"/>
              </a:rPr>
              <a:t>[:]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基本操作：</a:t>
            </a:r>
            <a:r>
              <a:rPr lang="en-US" altLang="zh-TW" dirty="0">
                <a:latin typeface="Consolas" panose="020B0609020204030204" pitchFamily="49" charset="0"/>
              </a:rPr>
              <a:t>in</a:t>
            </a:r>
            <a:r>
              <a:rPr lang="en-US" altLang="zh-TW" dirty="0"/>
              <a:t>/</a:t>
            </a:r>
            <a:r>
              <a:rPr lang="en-US" altLang="zh-TW" dirty="0">
                <a:latin typeface="Consolas" panose="020B0609020204030204" pitchFamily="49" charset="0"/>
              </a:rPr>
              <a:t>not in</a:t>
            </a:r>
            <a:r>
              <a:rPr lang="zh-TW" altLang="en-US" dirty="0"/>
              <a:t>運算子、</a:t>
            </a:r>
            <a:r>
              <a:rPr lang="en-US" altLang="zh-TW" dirty="0" err="1">
                <a:latin typeface="Consolas" panose="020B0609020204030204" pitchFamily="49" charset="0"/>
              </a:rPr>
              <a:t>len</a:t>
            </a:r>
            <a:r>
              <a:rPr lang="en-US" altLang="zh-TW" dirty="0">
                <a:latin typeface="Consolas" panose="020B0609020204030204" pitchFamily="49" charset="0"/>
              </a:rPr>
              <a:t>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min()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max()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sum()</a:t>
            </a:r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增加</a:t>
            </a:r>
            <a:r>
              <a:rPr lang="zh-TW" altLang="en-US" dirty="0"/>
              <a:t>元素：</a:t>
            </a:r>
            <a:r>
              <a:rPr lang="en-US" altLang="zh-TW" dirty="0">
                <a:latin typeface="Consolas" panose="020B0609020204030204" pitchFamily="49" charset="0"/>
              </a:rPr>
              <a:t>+</a:t>
            </a:r>
            <a:r>
              <a:rPr lang="en-US" altLang="zh-TW" dirty="0"/>
              <a:t>/</a:t>
            </a:r>
            <a:r>
              <a:rPr lang="zh-TW" altLang="en-US" dirty="0">
                <a:latin typeface="Consolas" panose="020B0609020204030204" pitchFamily="49" charset="0"/>
              </a:rPr>
              <a:t>*</a:t>
            </a:r>
            <a:r>
              <a:rPr lang="zh-TW" altLang="en-US" dirty="0"/>
              <a:t>運算子、</a:t>
            </a:r>
            <a:r>
              <a:rPr lang="en-US" altLang="zh-TW" dirty="0">
                <a:latin typeface="Consolas" panose="020B0609020204030204" pitchFamily="49" charset="0"/>
              </a:rPr>
              <a:t>append()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insert()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extend()</a:t>
            </a:r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刪除</a:t>
            </a:r>
            <a:r>
              <a:rPr lang="zh-TW" altLang="en-US" dirty="0"/>
              <a:t>元素：</a:t>
            </a:r>
            <a:r>
              <a:rPr lang="en-US" altLang="zh-TW" dirty="0">
                <a:latin typeface="Consolas" panose="020B0609020204030204" pitchFamily="49" charset="0"/>
              </a:rPr>
              <a:t>del</a:t>
            </a:r>
            <a:r>
              <a:rPr lang="zh-TW" altLang="en-US" dirty="0"/>
              <a:t>敘述、</a:t>
            </a:r>
            <a:r>
              <a:rPr lang="en-US" altLang="zh-TW" dirty="0">
                <a:latin typeface="Consolas" panose="020B0609020204030204" pitchFamily="49" charset="0"/>
              </a:rPr>
              <a:t>pop()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remove()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clear()</a:t>
            </a:r>
          </a:p>
          <a:p>
            <a:pPr lvl="1"/>
            <a:r>
              <a:rPr lang="zh-TW" altLang="en-US" dirty="0"/>
              <a:t>改變</a:t>
            </a:r>
            <a:r>
              <a:rPr lang="zh-TW" altLang="en-US" dirty="0">
                <a:solidFill>
                  <a:schemeClr val="accent4"/>
                </a:solidFill>
              </a:rPr>
              <a:t>順序</a:t>
            </a:r>
            <a:r>
              <a:rPr lang="zh-TW" altLang="en-US" dirty="0"/>
              <a:t>：</a:t>
            </a:r>
            <a:r>
              <a:rPr lang="en-US" altLang="zh-TW" dirty="0">
                <a:latin typeface="Consolas" panose="020B0609020204030204" pitchFamily="49" charset="0"/>
              </a:rPr>
              <a:t>sorted()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sort()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reverse()</a:t>
            </a:r>
          </a:p>
          <a:p>
            <a:pPr lvl="1"/>
            <a:r>
              <a:rPr lang="zh-TW" altLang="en-US" dirty="0">
                <a:solidFill>
                  <a:schemeClr val="accent4"/>
                </a:solidFill>
              </a:rPr>
              <a:t>複製</a:t>
            </a:r>
            <a:r>
              <a:rPr lang="zh-TW" altLang="en-US" dirty="0"/>
              <a:t>元素：分割運算子、</a:t>
            </a:r>
            <a:r>
              <a:rPr lang="en-US" altLang="zh-TW" dirty="0">
                <a:latin typeface="Consolas" panose="020B0609020204030204" pitchFamily="49" charset="0"/>
              </a:rPr>
              <a:t>copy()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2A60C5-4925-4003-BC97-1B569EAA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616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8C675D-4F45-4AC7-82A3-0231F284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練習：尋找完全數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58D5A-B86A-4A84-8B4A-852E1E76A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一個</a:t>
            </a:r>
            <a:r>
              <a:rPr lang="zh-TW" altLang="en-US" dirty="0"/>
              <a:t>大於 </a:t>
            </a:r>
            <a:r>
              <a:rPr lang="en-US" altLang="zh-TW" dirty="0"/>
              <a:t>1 </a:t>
            </a:r>
            <a:r>
              <a:rPr lang="zh-TW" altLang="en-US" dirty="0"/>
              <a:t>的</a:t>
            </a:r>
            <a:r>
              <a:rPr lang="zh-CN" altLang="en-US" dirty="0"/>
              <a:t>數如果恰好等於它的因數</a:t>
            </a:r>
            <a:r>
              <a:rPr lang="zh-TW" altLang="en-US" dirty="0"/>
              <a:t>（自己除外）總</a:t>
            </a:r>
            <a:r>
              <a:rPr lang="zh-CN" altLang="en-US" dirty="0"/>
              <a:t>和，這個數就稱為</a:t>
            </a:r>
            <a:r>
              <a:rPr lang="zh-CN" altLang="en-US" dirty="0">
                <a:solidFill>
                  <a:schemeClr val="accent4"/>
                </a:solidFill>
              </a:rPr>
              <a:t>完</a:t>
            </a:r>
            <a:r>
              <a:rPr lang="zh-TW" altLang="en-US" dirty="0">
                <a:solidFill>
                  <a:schemeClr val="accent4"/>
                </a:solidFill>
              </a:rPr>
              <a:t>全</a:t>
            </a:r>
            <a:r>
              <a:rPr lang="zh-CN" altLang="en-US" dirty="0">
                <a:solidFill>
                  <a:schemeClr val="accent4"/>
                </a:solidFill>
              </a:rPr>
              <a:t>數</a:t>
            </a:r>
            <a:r>
              <a:rPr lang="en-US" altLang="zh-TW" dirty="0">
                <a:solidFill>
                  <a:schemeClr val="accent4"/>
                </a:solidFill>
              </a:rPr>
              <a:t>(perfect number)</a:t>
            </a:r>
            <a:r>
              <a:rPr lang="zh-TW" altLang="en-US" dirty="0"/>
              <a:t>，例如：</a:t>
            </a:r>
            <a:endParaRPr lang="en-US" altLang="zh-TW" dirty="0"/>
          </a:p>
          <a:p>
            <a:pPr lvl="1"/>
            <a:r>
              <a:rPr lang="en-US" altLang="zh-CN" dirty="0"/>
              <a:t>6 = 1 + 2 + 3 </a:t>
            </a:r>
            <a:r>
              <a:rPr lang="en-US" altLang="zh-CN" dirty="0">
                <a:sym typeface="Wingdings" panose="05000000000000000000" pitchFamily="2" charset="2"/>
              </a:rPr>
              <a:t> 6</a:t>
            </a:r>
            <a:r>
              <a:rPr lang="zh-TW" altLang="en-US" dirty="0">
                <a:sym typeface="Wingdings" panose="05000000000000000000" pitchFamily="2" charset="2"/>
              </a:rPr>
              <a:t> 是完全數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CN" dirty="0"/>
              <a:t>8 != 1 + 2 + 4 </a:t>
            </a:r>
            <a:r>
              <a:rPr lang="en-US" altLang="zh-CN" dirty="0">
                <a:sym typeface="Wingdings" panose="05000000000000000000" pitchFamily="2" charset="2"/>
              </a:rPr>
              <a:t> 8 </a:t>
            </a:r>
            <a:r>
              <a:rPr lang="zh-TW" altLang="en-US" dirty="0">
                <a:sym typeface="Wingdings" panose="05000000000000000000" pitchFamily="2" charset="2"/>
              </a:rPr>
              <a:t>不是完全數</a:t>
            </a:r>
            <a:endParaRPr lang="en-US" altLang="zh-CN" dirty="0"/>
          </a:p>
          <a:p>
            <a:endParaRPr lang="en-US" altLang="zh-TW" dirty="0"/>
          </a:p>
          <a:p>
            <a:r>
              <a:rPr lang="zh-TW" altLang="en-US" dirty="0"/>
              <a:t>請撰寫一程式，讓使用者輸入一個正整數 </a:t>
            </a:r>
            <a:r>
              <a:rPr lang="en-US" altLang="zh-TW" dirty="0"/>
              <a:t>num</a:t>
            </a:r>
            <a:r>
              <a:rPr lang="zh-TW" altLang="en-US" dirty="0"/>
              <a:t>，計算並輸出所有小於 </a:t>
            </a:r>
            <a:r>
              <a:rPr lang="en-US" altLang="zh-TW" dirty="0"/>
              <a:t>num</a:t>
            </a:r>
            <a:r>
              <a:rPr lang="zh-TW" altLang="en-US" dirty="0"/>
              <a:t> 的完全數。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33CCC4-E839-4649-8E20-507ED525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830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pPr lvl="1"/>
            <a:r>
              <a:rPr lang="zh-TW" altLang="en-US" dirty="0"/>
              <a:t>一維串列的基礎操作</a:t>
            </a:r>
            <a:endParaRPr lang="en-US" altLang="zh-TW" dirty="0"/>
          </a:p>
          <a:p>
            <a:pPr lvl="1"/>
            <a:r>
              <a:rPr lang="zh-TW" altLang="en-US" dirty="0"/>
              <a:t>一維串列的進階操作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串列綜合運算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多維串列的操作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02239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串列綜合運算</a:t>
            </a:r>
            <a:r>
              <a:rPr lang="en-US" altLang="zh-TW" dirty="0"/>
              <a:t>(List Comprehension)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串列綜合運算提供一個簡潔方法建立</a:t>
            </a:r>
            <a:r>
              <a:rPr lang="zh-TW" altLang="en-US" dirty="0">
                <a:solidFill>
                  <a:schemeClr val="accent4"/>
                </a:solidFill>
              </a:rPr>
              <a:t>串列</a:t>
            </a:r>
            <a:endParaRPr lang="en-US" altLang="zh-TW" dirty="0">
              <a:solidFill>
                <a:schemeClr val="accent4"/>
              </a:solidFill>
            </a:endParaRPr>
          </a:p>
          <a:p>
            <a:pPr lvl="1"/>
            <a:r>
              <a:rPr lang="zh-TW" altLang="en-US" dirty="0"/>
              <a:t>由</a:t>
            </a:r>
            <a:r>
              <a:rPr lang="zh-TW" altLang="en-US" dirty="0">
                <a:solidFill>
                  <a:schemeClr val="accent4"/>
                </a:solidFill>
              </a:rPr>
              <a:t>中括號</a:t>
            </a:r>
            <a:r>
              <a:rPr lang="zh-TW" altLang="en-US" dirty="0"/>
              <a:t>裡面包含運算式、</a:t>
            </a:r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en-US" altLang="zh-TW" dirty="0"/>
              <a:t> </a:t>
            </a:r>
            <a:r>
              <a:rPr lang="zh-TW" altLang="en-US" dirty="0"/>
              <a:t>與零個或多個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en-US" altLang="zh-TW" dirty="0"/>
              <a:t> </a:t>
            </a:r>
            <a:r>
              <a:rPr lang="zh-TW" altLang="en-US" dirty="0"/>
              <a:t>敘述所組成</a:t>
            </a:r>
            <a:endParaRPr lang="en-US" altLang="zh-TW" dirty="0"/>
          </a:p>
          <a:p>
            <a:pPr lvl="1"/>
            <a:r>
              <a:rPr lang="zh-TW" altLang="en-US" dirty="0"/>
              <a:t>串列綜合運算後將產生一個</a:t>
            </a:r>
            <a:r>
              <a:rPr lang="zh-TW" altLang="en-US" dirty="0">
                <a:solidFill>
                  <a:schemeClr val="accent4"/>
                </a:solidFill>
              </a:rPr>
              <a:t>新串列</a:t>
            </a:r>
            <a:endParaRPr lang="en-US" altLang="zh-TW" dirty="0">
              <a:solidFill>
                <a:schemeClr val="accent4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89</a:t>
            </a:fld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5D1F5A-3DE8-4634-914F-82E11B1C0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789" y="3579927"/>
            <a:ext cx="5670436" cy="303239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0F26642-87DE-41FB-9504-CB845B1F1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585" y="4354550"/>
            <a:ext cx="5053204" cy="7952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4633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55DA1F-6F1D-487B-8EC7-180BEA21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8E5A8B-688F-4970-9427-ECF693564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串列綜合運算的運算式也能使用內建函式：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6C2DA4-9712-4664-90C4-90702BB4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90</a:t>
            </a:fld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3770BDF-39A3-4232-9407-DF53A490F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84" y="2919543"/>
            <a:ext cx="6012256" cy="328422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D83041A-09D0-44F4-9994-58777C143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092" y="3728725"/>
            <a:ext cx="5416317" cy="10467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4059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D0BCE2-7D9D-4416-B4CD-6448D0A9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8EBF70-8579-4C29-8FF9-FA46988E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透過巢狀迴圈產生的串列，同樣也能用串列綜合運算輕鬆產生。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29BBA2-0CB7-4FE2-91C4-14E78E61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91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CF6F3B8-4D7D-4F2E-826B-57B4F7A2B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78" y="3143397"/>
            <a:ext cx="7823156" cy="285735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8614D8A-166C-4D43-92B7-B786D1308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966" y="2886222"/>
            <a:ext cx="6115412" cy="85075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4589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2E473-F693-4D1D-B316-1DF4616C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CA0BB-093A-4FDF-95E5-86657DF9A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串列綜合運算不僅能用 </a:t>
            </a:r>
            <a:r>
              <a:rPr lang="en-US" altLang="zh-TW" dirty="0">
                <a:latin typeface="Consolas" panose="020B0609020204030204" pitchFamily="49" charset="0"/>
              </a:rPr>
              <a:t>for</a:t>
            </a:r>
            <a:r>
              <a:rPr lang="zh-TW" altLang="en-US" dirty="0"/>
              <a:t> 迴圈，也能搭配 </a:t>
            </a:r>
            <a:r>
              <a:rPr lang="en-US" altLang="zh-TW" dirty="0">
                <a:latin typeface="Consolas" panose="020B0609020204030204" pitchFamily="49" charset="0"/>
              </a:rPr>
              <a:t>if</a:t>
            </a:r>
            <a:r>
              <a:rPr lang="zh-TW" altLang="en-US" dirty="0"/>
              <a:t> 條件式篩選串列內容。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AB27E-706D-4F99-B005-9FCB1AF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92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6C8EE2-E5E1-4A05-A3E3-8549970E14C0}"/>
              </a:ext>
            </a:extLst>
          </p:cNvPr>
          <p:cNvSpPr/>
          <p:nvPr/>
        </p:nvSpPr>
        <p:spPr>
          <a:xfrm>
            <a:off x="2374710" y="3328411"/>
            <a:ext cx="8318909" cy="11114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err="1">
                <a:latin typeface="Consolas" panose="020B0609020204030204" pitchFamily="49" charset="0"/>
              </a:rPr>
              <a:t>lst</a:t>
            </a:r>
            <a:r>
              <a:rPr lang="en-US" altLang="zh-TW" sz="4000" dirty="0">
                <a:latin typeface="Consolas" panose="020B0609020204030204" pitchFamily="49" charset="0"/>
              </a:rPr>
              <a:t> = [x for x in range(5)]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1E6FBA-C8A4-43EC-A79F-06FB637A0DDB}"/>
              </a:ext>
            </a:extLst>
          </p:cNvPr>
          <p:cNvSpPr/>
          <p:nvPr/>
        </p:nvSpPr>
        <p:spPr>
          <a:xfrm>
            <a:off x="2374710" y="4558121"/>
            <a:ext cx="8311026" cy="11114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new = [a for a in </a:t>
            </a:r>
            <a:r>
              <a:rPr lang="en-US" altLang="zh-TW" sz="4000" dirty="0" err="1">
                <a:latin typeface="Consolas" panose="020B0609020204030204" pitchFamily="49" charset="0"/>
              </a:rPr>
              <a:t>lst</a:t>
            </a:r>
            <a:r>
              <a:rPr lang="en-US" altLang="zh-TW" sz="4000" dirty="0">
                <a:latin typeface="Consolas" panose="020B0609020204030204" pitchFamily="49" charset="0"/>
              </a:rPr>
              <a:t> if a%2]</a:t>
            </a:r>
          </a:p>
        </p:txBody>
      </p:sp>
    </p:spTree>
    <p:extLst>
      <p:ext uri="{BB962C8B-B14F-4D97-AF65-F5344CB8AC3E}">
        <p14:creationId xmlns:p14="http://schemas.microsoft.com/office/powerpoint/2010/main" val="209621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9FED0-6197-4253-BBD4-46C70C0E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803B0-7662-41F0-9D61-FF612F007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以前學過的三元運算子，也可以與串列綜合運算結合。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96D1A-2E1A-47EB-AA96-3ECAB1BD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972D986-806F-42E7-8E86-1DA84B0D0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07" y="2819581"/>
            <a:ext cx="7206057" cy="36510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3027141-9B98-4252-B979-8ED020D81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498" y="3289005"/>
            <a:ext cx="5284804" cy="112101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3347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練習：計算出現次數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找出文句內出現次數最多的中文字，並輸出該字與其出現次數</a:t>
            </a:r>
            <a:endParaRPr lang="en-US" altLang="zh-TW" dirty="0"/>
          </a:p>
          <a:p>
            <a:pPr lvl="1"/>
            <a:r>
              <a:rPr lang="zh-TW" altLang="en-US" dirty="0"/>
              <a:t>輸入：底下的中文字句</a:t>
            </a:r>
            <a:endParaRPr lang="en-US" altLang="zh-TW" dirty="0"/>
          </a:p>
          <a:p>
            <a:pPr lvl="1"/>
            <a:r>
              <a:rPr lang="zh-TW" altLang="en-US" dirty="0"/>
              <a:t>輸出：出現次數最多的中文字、出現次數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94</a:t>
            </a:fld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85148" y="3669599"/>
            <a:ext cx="9421703" cy="20741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/>
              <a:t>text = \</a:t>
            </a:r>
          </a:p>
          <a:p>
            <a:r>
              <a:rPr lang="en-US" altLang="zh-TW" sz="2400" dirty="0"/>
              <a:t>"</a:t>
            </a:r>
            <a:r>
              <a:rPr lang="zh-TW" altLang="en-US" sz="2400" dirty="0"/>
              <a:t>昔汝雖拒吾於千里之外，傷吾心，然吾怪之罪何有於汝乎？</a:t>
            </a:r>
            <a:r>
              <a:rPr lang="en-US" altLang="zh-TW" sz="2400" dirty="0"/>
              <a:t>\</a:t>
            </a:r>
          </a:p>
          <a:p>
            <a:r>
              <a:rPr lang="zh-TW" altLang="en-US" sz="2400" dirty="0"/>
              <a:t>反，吾思與日俱增，吾情與時俱進。於汝，情痴一片，思濃于海，</a:t>
            </a:r>
            <a:r>
              <a:rPr lang="en-US" altLang="zh-TW" sz="2400" dirty="0"/>
              <a:t>\</a:t>
            </a:r>
          </a:p>
          <a:p>
            <a:r>
              <a:rPr lang="zh-TW" altLang="en-US" sz="2400" dirty="0"/>
              <a:t>山不可動，海不可淹，火不可滅。愛慕之情，時時加之，</a:t>
            </a:r>
            <a:r>
              <a:rPr lang="en-US" altLang="zh-TW" sz="2400" dirty="0"/>
              <a:t>\</a:t>
            </a:r>
          </a:p>
          <a:p>
            <a:r>
              <a:rPr lang="zh-TW" altLang="en-US" sz="2400" dirty="0"/>
              <a:t>豈有他人可吾及乎？</a:t>
            </a:r>
            <a:r>
              <a:rPr lang="en-US" altLang="zh-TW" sz="2400" dirty="0"/>
              <a:t>"</a:t>
            </a:r>
            <a:endParaRPr lang="zh-TW" altLang="en-US" sz="2400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3D8DA40E-AADD-4891-BE0F-777FBF779E56}"/>
              </a:ext>
            </a:extLst>
          </p:cNvPr>
          <p:cNvSpPr/>
          <p:nvPr/>
        </p:nvSpPr>
        <p:spPr>
          <a:xfrm>
            <a:off x="971550" y="5981452"/>
            <a:ext cx="3609975" cy="592648"/>
          </a:xfrm>
          <a:prstGeom prst="wedgeRoundRectCallout">
            <a:avLst>
              <a:gd name="adj1" fmla="val -24263"/>
              <a:gd name="adj2" fmla="val -103041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直接複製這個字串到程式碼裡</a:t>
            </a: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6B81E7BD-F45F-466F-AFF4-82A19FD77174}"/>
              </a:ext>
            </a:extLst>
          </p:cNvPr>
          <p:cNvSpPr/>
          <p:nvPr/>
        </p:nvSpPr>
        <p:spPr>
          <a:xfrm>
            <a:off x="6638924" y="5981452"/>
            <a:ext cx="4581525" cy="744282"/>
          </a:xfrm>
          <a:prstGeom prst="wedgeRoundRectCallout">
            <a:avLst>
              <a:gd name="adj1" fmla="val -56981"/>
              <a:gd name="adj2" fmla="val -43575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HINT: </a:t>
            </a:r>
            <a:r>
              <a:rPr lang="zh-TW" altLang="en-US" sz="2000" dirty="0"/>
              <a:t>利用 </a:t>
            </a:r>
            <a:r>
              <a:rPr lang="en-US" altLang="zh-TW" sz="2000" dirty="0">
                <a:solidFill>
                  <a:srgbClr val="FFFF00"/>
                </a:solidFill>
                <a:latin typeface="Consolas" panose="020B0609020204030204" pitchFamily="49" charset="0"/>
              </a:rPr>
              <a:t>list</a:t>
            </a:r>
            <a:r>
              <a:rPr lang="en-US" altLang="zh-TW" sz="2000" dirty="0">
                <a:solidFill>
                  <a:srgbClr val="FFFF00"/>
                </a:solidFill>
              </a:rPr>
              <a:t>(</a:t>
            </a:r>
            <a:r>
              <a:rPr lang="zh-TW" altLang="en-US" sz="2000" dirty="0">
                <a:solidFill>
                  <a:srgbClr val="FFFF00"/>
                </a:solidFill>
              </a:rPr>
              <a:t>字串變數</a:t>
            </a:r>
            <a:r>
              <a:rPr lang="en-US" altLang="zh-TW" sz="2000" dirty="0">
                <a:solidFill>
                  <a:srgbClr val="FFFF00"/>
                </a:solidFill>
              </a:rPr>
              <a:t>)</a:t>
            </a:r>
            <a:r>
              <a:rPr lang="zh-TW" altLang="en-US" sz="2000" dirty="0"/>
              <a:t> 可分離出每個中文字，並回傳一個字元的串列。</a:t>
            </a:r>
          </a:p>
        </p:txBody>
      </p:sp>
    </p:spTree>
    <p:extLst>
      <p:ext uri="{BB962C8B-B14F-4D97-AF65-F5344CB8AC3E}">
        <p14:creationId xmlns:p14="http://schemas.microsoft.com/office/powerpoint/2010/main" val="118102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pPr lvl="1"/>
            <a:r>
              <a:rPr lang="zh-TW" altLang="en-US" dirty="0"/>
              <a:t>一維串列的基礎操作</a:t>
            </a:r>
            <a:endParaRPr lang="en-US" altLang="zh-TW" dirty="0"/>
          </a:p>
          <a:p>
            <a:pPr lvl="1"/>
            <a:r>
              <a:rPr lang="zh-TW" altLang="en-US" dirty="0"/>
              <a:t>一維串列的進階操作</a:t>
            </a:r>
            <a:endParaRPr lang="en-US" altLang="zh-TW" dirty="0"/>
          </a:p>
          <a:p>
            <a:pPr lvl="1"/>
            <a:r>
              <a:rPr lang="zh-TW" altLang="en-US" dirty="0"/>
              <a:t>串列綜合運算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多維串列的操作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zh-TW" altLang="en-US" dirty="0"/>
              <a:t>函式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89971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22FC-60AE-496F-A58F-9A6238B9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多維串列</a:t>
            </a:r>
            <a:r>
              <a:rPr lang="en-US" altLang="zh-TW" dirty="0"/>
              <a:t>(multi-dimensional list)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FD62A4-824D-4AF7-837C-97C6ECC9A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前一節在介紹新增元素到串列的用法時，若藉由 </a:t>
            </a:r>
            <a:r>
              <a:rPr lang="en-US" altLang="zh-TW" dirty="0">
                <a:latin typeface="Consolas" panose="020B0609020204030204" pitchFamily="49" charset="0"/>
              </a:rPr>
              <a:t>append()</a:t>
            </a:r>
            <a:r>
              <a:rPr lang="zh-TW" altLang="en-US" dirty="0"/>
              <a:t> 新增一個串列 </a:t>
            </a:r>
            <a:r>
              <a:rPr lang="en-US" altLang="zh-TW" dirty="0">
                <a:latin typeface="Consolas" panose="020B0609020204030204" pitchFamily="49" charset="0"/>
              </a:rPr>
              <a:t>L</a:t>
            </a:r>
            <a:r>
              <a:rPr lang="zh-TW" altLang="en-US" dirty="0"/>
              <a:t> 到另一個串列內，則 </a:t>
            </a:r>
            <a:r>
              <a:rPr lang="en-US" altLang="zh-TW" dirty="0">
                <a:latin typeface="Consolas" panose="020B0609020204030204" pitchFamily="49" charset="0"/>
              </a:rPr>
              <a:t>L</a:t>
            </a:r>
            <a:r>
              <a:rPr lang="zh-TW" altLang="en-US" dirty="0"/>
              <a:t> 會被視為一個元素添加到串列的尾端。</a:t>
            </a:r>
            <a:endParaRPr lang="en-US" altLang="zh-TW" dirty="0"/>
          </a:p>
          <a:p>
            <a:pPr lvl="1"/>
            <a:r>
              <a:rPr lang="zh-TW" altLang="en-US" dirty="0"/>
              <a:t>此時，因為串列裡還有串列，所以也可稱為</a:t>
            </a:r>
            <a:r>
              <a:rPr lang="zh-TW" altLang="en-US" dirty="0">
                <a:solidFill>
                  <a:schemeClr val="accent4"/>
                </a:solidFill>
              </a:rPr>
              <a:t>巢狀串列</a:t>
            </a:r>
            <a:r>
              <a:rPr lang="en-US" altLang="zh-TW" dirty="0"/>
              <a:t>(nested list)</a:t>
            </a:r>
            <a:r>
              <a:rPr lang="zh-TW" altLang="en-US" dirty="0"/>
              <a:t>，不過一個更常見的名稱是</a:t>
            </a:r>
            <a:r>
              <a:rPr lang="zh-TW" altLang="en-US" dirty="0">
                <a:solidFill>
                  <a:schemeClr val="accent4"/>
                </a:solidFill>
              </a:rPr>
              <a:t>多維串列</a:t>
            </a:r>
            <a:r>
              <a:rPr lang="en-US" altLang="zh-TW" dirty="0"/>
              <a:t>(multi-dimensional list)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B726A-62C6-4933-931E-66942598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D9B828-3CD5-4A8B-8E80-DF8054F46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939" y="4736757"/>
            <a:ext cx="6647442" cy="13262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4C67E76-F39A-4438-8691-0CC301786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219" y="5834706"/>
            <a:ext cx="4338500" cy="456685"/>
          </a:xfrm>
          <a:prstGeom prst="rect">
            <a:avLst/>
          </a:prstGeom>
          <a:ln w="952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8544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3488B5-0B9E-4D0C-BE13-0C05293B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二維串列</a:t>
            </a:r>
            <a:r>
              <a:rPr lang="en-US" altLang="zh-TW" dirty="0"/>
              <a:t>(two-dimensional list)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25D822-C6D8-42AD-B924-75A0FB985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二維串列經常用來儲存矩陣或表格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儲存寶可夢四項數值的表格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135BA8-2A02-4662-A093-DAC668BC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97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4B9EA12-B0CB-48C7-B282-B4A277C84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71" y="3090983"/>
            <a:ext cx="7142857" cy="193333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B7CD1C8-0FA5-40B2-BC97-634073D4A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475" y="5297644"/>
            <a:ext cx="4019048" cy="1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305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923986-5AEE-4AAF-8056-7F250B72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存取二維串列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5D4C5-E22D-422E-9F2B-88CDB8BAA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存取二維串列的元素仍然要依靠索引值，只是因為有兩個維度，所以又分為</a:t>
            </a:r>
            <a:r>
              <a:rPr lang="zh-TW" altLang="en-US" dirty="0">
                <a:solidFill>
                  <a:schemeClr val="accent4"/>
                </a:solidFill>
              </a:rPr>
              <a:t>列索引值</a:t>
            </a:r>
            <a:r>
              <a:rPr lang="en-US" altLang="zh-TW" dirty="0"/>
              <a:t>(raw index)</a:t>
            </a:r>
            <a:r>
              <a:rPr lang="zh-TW" altLang="en-US" dirty="0"/>
              <a:t>與</a:t>
            </a:r>
            <a:r>
              <a:rPr lang="zh-TW" altLang="en-US" dirty="0">
                <a:solidFill>
                  <a:schemeClr val="accent4"/>
                </a:solidFill>
              </a:rPr>
              <a:t>行索引值</a:t>
            </a:r>
            <a:r>
              <a:rPr lang="en-US" altLang="zh-TW" dirty="0"/>
              <a:t>(column index)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AE832C-E6B6-45A8-A40F-71DDDD55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589187-D5A6-4388-9198-B76E7424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095" y="3293966"/>
            <a:ext cx="6923809" cy="26666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51D9E38-1020-46E5-844F-705B1CB3C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396" y="666750"/>
            <a:ext cx="3455404" cy="933450"/>
          </a:xfrm>
          <a:prstGeom prst="rect">
            <a:avLst/>
          </a:prstGeom>
        </p:spPr>
      </p:pic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A2D338E2-5310-4061-9035-CDDEB52CCCEC}"/>
              </a:ext>
            </a:extLst>
          </p:cNvPr>
          <p:cNvSpPr/>
          <p:nvPr/>
        </p:nvSpPr>
        <p:spPr>
          <a:xfrm>
            <a:off x="5717060" y="5960633"/>
            <a:ext cx="3303373" cy="560173"/>
          </a:xfrm>
          <a:prstGeom prst="wedgeRoundRectCallout">
            <a:avLst>
              <a:gd name="adj1" fmla="val -61232"/>
              <a:gd name="adj2" fmla="val -49264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r>
              <a:rPr lang="zh-TW" altLang="en-US" sz="2400" dirty="0"/>
              <a:t>列</a:t>
            </a:r>
            <a:r>
              <a:rPr lang="en-US" altLang="zh-TW" sz="2400" dirty="0"/>
              <a:t>4</a:t>
            </a:r>
            <a:r>
              <a:rPr lang="zh-TW" altLang="en-US" sz="2400" dirty="0"/>
              <a:t>行 </a:t>
            </a:r>
            <a:r>
              <a:rPr lang="en-US" altLang="zh-TW" sz="2400" dirty="0"/>
              <a:t>/ 3*4 / 3-by-4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2617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4CE8BD-85BA-40D9-8803-589F8E43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宣告二維串列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3A629-9152-403E-A79D-B68C1733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宣告時可以沒有儲存值，也可以先存放空字串或是 </a:t>
            </a:r>
            <a:r>
              <a:rPr lang="en-US" altLang="zh-TW" dirty="0"/>
              <a:t>None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369B3-B30B-4DDA-90CD-E446143B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99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391F04-3CE2-43B0-9F11-EA56CF294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626" y="2537254"/>
            <a:ext cx="5061583" cy="413376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4448C7A-0759-4222-BB76-45DB9C00A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727" y="3842180"/>
            <a:ext cx="4670510" cy="15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846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AB194-7715-4B85-B6FE-A8769EE1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加總每一列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BC75AD-3D33-4FBD-8E70-5FF6DEF2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</a:t>
            </a:r>
            <a:r>
              <a:rPr lang="zh-TW" altLang="en-US" dirty="0">
                <a:solidFill>
                  <a:schemeClr val="accent4"/>
                </a:solidFill>
              </a:rPr>
              <a:t>輸出二維串列</a:t>
            </a:r>
            <a:r>
              <a:rPr lang="zh-TW" altLang="en-US" dirty="0"/>
              <a:t>的內容一般會透過</a:t>
            </a:r>
            <a:r>
              <a:rPr lang="zh-TW" altLang="en-US" dirty="0">
                <a:solidFill>
                  <a:schemeClr val="accent4"/>
                </a:solidFill>
              </a:rPr>
              <a:t>兩層巢狀迴圈</a:t>
            </a:r>
            <a:r>
              <a:rPr lang="zh-TW" altLang="en-US" dirty="0"/>
              <a:t>來達成，而要計算一些基本性質也是類似的作法，但要注意迴圈針對的操作對象。</a:t>
            </a:r>
            <a:endParaRPr lang="en-US" altLang="zh-TW" dirty="0"/>
          </a:p>
          <a:p>
            <a:pPr lvl="1"/>
            <a:r>
              <a:rPr lang="en-US" altLang="zh-TW" dirty="0"/>
              <a:t>e.g., </a:t>
            </a:r>
            <a:r>
              <a:rPr lang="zh-TW" altLang="en-US" dirty="0"/>
              <a:t>加總二維串列每一列以及所有元素的總和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B8212-2757-4949-8FEA-76D74379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C74686A-BF11-41D7-92BF-60102A0E7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54" y="3775371"/>
            <a:ext cx="5834358" cy="26952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1B51306-19BD-4FF1-A1FE-95142A96C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009" y="5047261"/>
            <a:ext cx="3006409" cy="1423389"/>
          </a:xfrm>
          <a:prstGeom prst="rect">
            <a:avLst/>
          </a:prstGeom>
        </p:spPr>
      </p:pic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EF603071-28F6-4F89-899F-A39B1396A953}"/>
              </a:ext>
            </a:extLst>
          </p:cNvPr>
          <p:cNvGraphicFramePr>
            <a:graphicFrameLocks noGrp="1"/>
          </p:cNvGraphicFramePr>
          <p:nvPr/>
        </p:nvGraphicFramePr>
        <p:xfrm>
          <a:off x="8498721" y="3547074"/>
          <a:ext cx="1534983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1661">
                  <a:extLst>
                    <a:ext uri="{9D8B030D-6E8A-4147-A177-3AD203B41FA5}">
                      <a16:colId xmlns:a16="http://schemas.microsoft.com/office/drawing/2014/main" val="2188488240"/>
                    </a:ext>
                  </a:extLst>
                </a:gridCol>
                <a:gridCol w="511661">
                  <a:extLst>
                    <a:ext uri="{9D8B030D-6E8A-4147-A177-3AD203B41FA5}">
                      <a16:colId xmlns:a16="http://schemas.microsoft.com/office/drawing/2014/main" val="2509618953"/>
                    </a:ext>
                  </a:extLst>
                </a:gridCol>
                <a:gridCol w="511661">
                  <a:extLst>
                    <a:ext uri="{9D8B030D-6E8A-4147-A177-3AD203B41FA5}">
                      <a16:colId xmlns:a16="http://schemas.microsoft.com/office/drawing/2014/main" val="1535952003"/>
                    </a:ext>
                  </a:extLst>
                </a:gridCol>
              </a:tblGrid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64079"/>
                  </a:ext>
                </a:extLst>
              </a:tr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440805"/>
                  </a:ext>
                </a:extLst>
              </a:tr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06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21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6E08FA-D639-4D63-8F3A-BCF3FB87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加總每一行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5A7068-5184-4A2C-BAEA-B933CD1E3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若是要計算二維串列</a:t>
            </a:r>
            <a:r>
              <a:rPr lang="zh-TW" altLang="en-US" dirty="0">
                <a:solidFill>
                  <a:schemeClr val="accent4"/>
                </a:solidFill>
              </a:rPr>
              <a:t>每一行</a:t>
            </a:r>
            <a:r>
              <a:rPr lang="zh-TW" altLang="en-US" dirty="0"/>
              <a:t>的元素加總，得注意迴圈變數要針對的對象。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02D80-2148-4470-89D5-63D3A7CC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101</a:t>
            </a:fld>
            <a:endParaRPr lang="zh-TW" altLang="en-US" dirty="0"/>
          </a:p>
        </p:txBody>
      </p:sp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83C9E9B5-E6C1-430A-BB72-71A372D07744}"/>
              </a:ext>
            </a:extLst>
          </p:cNvPr>
          <p:cNvGraphicFramePr>
            <a:graphicFrameLocks noGrp="1"/>
          </p:cNvGraphicFramePr>
          <p:nvPr/>
        </p:nvGraphicFramePr>
        <p:xfrm>
          <a:off x="8711402" y="3150720"/>
          <a:ext cx="1534983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1661">
                  <a:extLst>
                    <a:ext uri="{9D8B030D-6E8A-4147-A177-3AD203B41FA5}">
                      <a16:colId xmlns:a16="http://schemas.microsoft.com/office/drawing/2014/main" val="2188488240"/>
                    </a:ext>
                  </a:extLst>
                </a:gridCol>
                <a:gridCol w="511661">
                  <a:extLst>
                    <a:ext uri="{9D8B030D-6E8A-4147-A177-3AD203B41FA5}">
                      <a16:colId xmlns:a16="http://schemas.microsoft.com/office/drawing/2014/main" val="2509618953"/>
                    </a:ext>
                  </a:extLst>
                </a:gridCol>
                <a:gridCol w="511661">
                  <a:extLst>
                    <a:ext uri="{9D8B030D-6E8A-4147-A177-3AD203B41FA5}">
                      <a16:colId xmlns:a16="http://schemas.microsoft.com/office/drawing/2014/main" val="1535952003"/>
                    </a:ext>
                  </a:extLst>
                </a:gridCol>
              </a:tblGrid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64079"/>
                  </a:ext>
                </a:extLst>
              </a:tr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440805"/>
                  </a:ext>
                </a:extLst>
              </a:tr>
              <a:tr h="3584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06134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A24B0DE6-F2C3-4710-B4EB-2D1D931B7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679" y="3342331"/>
            <a:ext cx="6280308" cy="255990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3B7B4C0-A6A8-4A66-92D7-E03DE1A2C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693" y="4650907"/>
            <a:ext cx="3262401" cy="125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2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2D137-FB72-4E97-956A-FC0D0886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串列比大小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03F877-95F2-48B5-BA67-B580E9153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兩個串列比大小的方式與數學上的向量比大小相仿，都是</a:t>
            </a:r>
            <a:r>
              <a:rPr lang="zh-TW" altLang="en-US" dirty="0">
                <a:solidFill>
                  <a:schemeClr val="accent4"/>
                </a:solidFill>
              </a:rPr>
              <a:t>先比第一個元素</a:t>
            </a:r>
            <a:r>
              <a:rPr lang="zh-TW" altLang="en-US" dirty="0"/>
              <a:t>，若相同再比第二個元素，依此類推。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79821A-0EC1-4121-9C5E-3F80B2E9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102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D2E486-4B70-450E-A6DA-8C4CD0989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226" y="3665887"/>
            <a:ext cx="9105548" cy="114500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157559B-84CE-4C95-A497-B2D8970DA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20" y="5413312"/>
            <a:ext cx="7630959" cy="56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5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A5D9B1-3B52-4904-ABE6-5804BEBC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練習：尋找列的最大總和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34BF0-24A2-482E-AAC8-A2E37271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請撰寫程式讓使用者輸入三列資料，每列由兩個數值且數值間以逗點隔開，計算並輸出</a:t>
            </a:r>
            <a:r>
              <a:rPr lang="zh-TW" altLang="en-US" dirty="0">
                <a:solidFill>
                  <a:schemeClr val="accent4"/>
                </a:solidFill>
              </a:rPr>
              <a:t>列總和最大值</a:t>
            </a:r>
            <a:r>
              <a:rPr lang="zh-TW" altLang="en-US" dirty="0"/>
              <a:t>及其</a:t>
            </a:r>
            <a:r>
              <a:rPr lang="zh-TW" altLang="en-US" dirty="0">
                <a:solidFill>
                  <a:schemeClr val="accent4"/>
                </a:solidFill>
              </a:rPr>
              <a:t>列索引值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輸入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輸出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87E142-BAB0-4174-B304-0E0D3F01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103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D4634A-EED2-4FCD-92CC-0BF5DB99A75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829" y="3504767"/>
            <a:ext cx="5710746" cy="110576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8A5CBEB-E6CB-47F8-A3B2-9C0BB595673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829" y="5604047"/>
            <a:ext cx="5638207" cy="42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0351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練習：找出最近的兩點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撰寫程式讓使用者輸入二維平面的點座標</a:t>
            </a:r>
            <a:endParaRPr lang="en-US" altLang="zh-TW" dirty="0"/>
          </a:p>
          <a:p>
            <a:pPr lvl="1"/>
            <a:r>
              <a:rPr lang="zh-TW" altLang="en-US" dirty="0"/>
              <a:t>每個點座標輸入時有兩個數值，並以逗點隔開</a:t>
            </a:r>
            <a:endParaRPr lang="en-US" altLang="zh-TW" dirty="0"/>
          </a:p>
          <a:p>
            <a:pPr lvl="1"/>
            <a:r>
              <a:rPr lang="zh-TW" altLang="en-US" dirty="0"/>
              <a:t>輸入</a:t>
            </a:r>
            <a:r>
              <a:rPr lang="en-US" altLang="zh-TW" dirty="0"/>
              <a:t>0,0</a:t>
            </a:r>
            <a:r>
              <a:rPr lang="zh-TW" altLang="en-US" dirty="0"/>
              <a:t>則結束</a:t>
            </a:r>
            <a:endParaRPr lang="en-US" altLang="zh-TW" dirty="0"/>
          </a:p>
          <a:p>
            <a:r>
              <a:rPr lang="zh-TW" altLang="en-US" dirty="0"/>
              <a:t>計算這些輸入的點集合中，彼此歐式距離最接近的兩點，並輸出點座標與距離值。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104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E74761-D518-465E-9A81-712F46C84F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301" y="4626684"/>
            <a:ext cx="5004568" cy="124425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F45FDE0-B0DD-4FC5-B55C-E9352186AF3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301" y="5999523"/>
            <a:ext cx="5014296" cy="7295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189F03F-B5C9-44A8-96D1-164F81EB5B7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589" y="4191888"/>
            <a:ext cx="3920490" cy="18484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B89CDAC-C7D4-4CC9-8D25-035497AA573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589" y="6158822"/>
            <a:ext cx="3928110" cy="5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6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r>
              <a:rPr lang="zh-TW" altLang="en-US" dirty="0">
                <a:solidFill>
                  <a:schemeClr val="accent2"/>
                </a:solidFill>
              </a:rPr>
              <a:t>函式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自訂函式</a:t>
            </a:r>
          </a:p>
          <a:p>
            <a:pPr lvl="1"/>
            <a:r>
              <a:rPr lang="zh-TW" altLang="en-US" dirty="0"/>
              <a:t>傳遞參數與回傳值</a:t>
            </a:r>
          </a:p>
          <a:p>
            <a:pPr lvl="1"/>
            <a:r>
              <a:rPr lang="zh-TW" altLang="en-US" dirty="0"/>
              <a:t>變數的有效範圍</a:t>
            </a:r>
            <a:endParaRPr lang="en-US" altLang="zh-TW" dirty="0"/>
          </a:p>
          <a:p>
            <a:pPr lvl="1"/>
            <a:r>
              <a:rPr lang="zh-TW" altLang="en-US" dirty="0"/>
              <a:t>常見的內建函式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926510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B36E3E-D7FF-4788-BEF5-FAFABE36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函式</a:t>
            </a:r>
            <a:r>
              <a:rPr lang="en-US" altLang="zh-TW" dirty="0"/>
              <a:t>(Function)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E60790-C147-4521-A946-FBB293138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經過前面的介紹與練習，我們已經能夠寫出架構完整的 </a:t>
            </a:r>
            <a:r>
              <a:rPr lang="en-US" altLang="zh-TW" dirty="0"/>
              <a:t>Python </a:t>
            </a:r>
            <a:r>
              <a:rPr lang="zh-TW" altLang="en-US" dirty="0"/>
              <a:t>程式，而隨著程式越寫越長，也越趨複雜，這時我們會發現</a:t>
            </a:r>
            <a:r>
              <a:rPr lang="zh-TW" altLang="en-US" dirty="0">
                <a:solidFill>
                  <a:schemeClr val="accent4"/>
                </a:solidFill>
              </a:rPr>
              <a:t>部分程式碼經常被重複撰寫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將這些重複或有特別定義的程式，拆分成容易管理的小程式，即為函式。</a:t>
            </a:r>
            <a:endParaRPr lang="en-US" altLang="zh-TW" dirty="0"/>
          </a:p>
          <a:p>
            <a:pPr lvl="1"/>
            <a:r>
              <a:rPr lang="zh-TW" altLang="en-US" dirty="0"/>
              <a:t>換言之，函式是一種</a:t>
            </a:r>
            <a:r>
              <a:rPr lang="zh-TW" altLang="en-US" dirty="0">
                <a:solidFill>
                  <a:schemeClr val="accent4"/>
                </a:solidFill>
              </a:rPr>
              <a:t>有名稱且獨立的程式片段</a:t>
            </a:r>
            <a:r>
              <a:rPr lang="zh-TW" altLang="en-US" dirty="0"/>
              <a:t>，可以接收參數，且執行完成後也可以回傳計算結果。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A66409-6430-43D8-B4FD-85A59513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375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F1BCBF-661B-4688-9F3E-2F9DF5D9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模組化</a:t>
            </a:r>
            <a:r>
              <a:rPr lang="en-US" altLang="zh-TW" dirty="0"/>
              <a:t>(Modular)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891595-66AA-4FC8-998D-8F56AB631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模組化開發的精神，就是把大而冗長的程式碼拆解成不同區塊的小程式來個別運作，讓</a:t>
            </a:r>
            <a:r>
              <a:rPr lang="zh-TW" altLang="en-US" dirty="0">
                <a:solidFill>
                  <a:schemeClr val="accent4"/>
                </a:solidFill>
              </a:rPr>
              <a:t>大功能變成個別的小模組</a:t>
            </a:r>
            <a:r>
              <a:rPr lang="zh-TW" altLang="en-US" dirty="0"/>
              <a:t>，並確保拆解完的模組可以各自獨立運作。</a:t>
            </a:r>
            <a:endParaRPr lang="en-US" altLang="zh-TW" dirty="0"/>
          </a:p>
          <a:p>
            <a:pPr lvl="1"/>
            <a:r>
              <a:rPr lang="zh-TW" altLang="en-US" dirty="0"/>
              <a:t>所以模組化的特性就是「獨立性」與「重複使用性」。</a:t>
            </a:r>
            <a:endParaRPr lang="en-US" altLang="zh-TW" dirty="0"/>
          </a:p>
          <a:p>
            <a:pPr lvl="3"/>
            <a:endParaRPr lang="en-US" altLang="zh-TW" dirty="0"/>
          </a:p>
          <a:p>
            <a:r>
              <a:rPr lang="zh-TW" altLang="en-US" dirty="0"/>
              <a:t>同時，這個概念也是</a:t>
            </a:r>
            <a:r>
              <a:rPr lang="zh-TW" altLang="en-US" dirty="0">
                <a:solidFill>
                  <a:schemeClr val="accent4"/>
                </a:solidFill>
              </a:rPr>
              <a:t>由上而下</a:t>
            </a:r>
            <a:r>
              <a:rPr lang="en-US" altLang="zh-TW" dirty="0"/>
              <a:t>(top-down)</a:t>
            </a:r>
            <a:r>
              <a:rPr lang="zh-TW" altLang="en-US" dirty="0"/>
              <a:t>的方式來拆解問題，將大問題逐步分解為能處理的小問題。</a:t>
            </a:r>
            <a:endParaRPr lang="en-US" altLang="zh-TW" dirty="0"/>
          </a:p>
          <a:p>
            <a:pPr lvl="1"/>
            <a:r>
              <a:rPr lang="zh-TW" altLang="en-US" dirty="0"/>
              <a:t>函式將程式碼組織為一個較小且獨立的運作單元，並可在程式內重複多次執行，所以</a:t>
            </a:r>
            <a:r>
              <a:rPr lang="zh-TW" altLang="en-US" dirty="0">
                <a:solidFill>
                  <a:schemeClr val="accent4"/>
                </a:solidFill>
              </a:rPr>
              <a:t>函式是實現模組化開發的方式之一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390C05-0E25-465A-A749-8A467766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891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E2C082-2EF8-4FA6-B3D3-C52EA452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使用函式的優點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1B6B4E-DC3B-4528-ADAE-EBE68D4F5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一般來說，使用函式的程式設計方式有以下優點：</a:t>
            </a:r>
            <a:endParaRPr lang="en-US" altLang="zh-TW" dirty="0"/>
          </a:p>
          <a:p>
            <a:pPr lvl="1"/>
            <a:r>
              <a:rPr lang="zh-TW" altLang="en-US" dirty="0"/>
              <a:t>程式可讀性高，容易除錯及維護。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可縮短程式長度，程式碼也可重複使用。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將程式分割後由多人撰寫，有利於團隊分工及縮短開發時間。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8E17C0-D811-4CBA-992C-7194A618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926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AC4FD2-2B77-4CC4-B1A2-B11C2CEE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使用函式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6119B2-3535-4AD3-A6DD-7C19A68B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對程式設計師來說，</a:t>
            </a:r>
            <a:r>
              <a:rPr lang="zh-TW" altLang="en-US" dirty="0">
                <a:solidFill>
                  <a:schemeClr val="accent4"/>
                </a:solidFill>
              </a:rPr>
              <a:t>函式是由程式片段組成</a:t>
            </a:r>
            <a:r>
              <a:rPr lang="zh-TW" altLang="en-US" dirty="0"/>
              <a:t>，一旦明確定義後即可隨時呼叫來執行。</a:t>
            </a:r>
            <a:endParaRPr lang="en-US" altLang="zh-TW" dirty="0"/>
          </a:p>
          <a:p>
            <a:pPr lvl="3"/>
            <a:endParaRPr lang="en-US" altLang="zh-TW" dirty="0"/>
          </a:p>
          <a:p>
            <a:r>
              <a:rPr lang="zh-TW" altLang="en-US" dirty="0"/>
              <a:t>如果把函式比喻為動畫中的召喚獸，整個函式的運作過程就像是法師的召喚程序。</a:t>
            </a:r>
            <a:endParaRPr lang="en-US" altLang="zh-TW" dirty="0"/>
          </a:p>
          <a:p>
            <a:pPr lvl="1"/>
            <a:r>
              <a:rPr lang="zh-TW" altLang="en-US" dirty="0"/>
              <a:t>首先，法師要先與召喚獸訂定契約（</a:t>
            </a:r>
            <a:r>
              <a:rPr lang="zh-TW" altLang="en-US" dirty="0">
                <a:solidFill>
                  <a:schemeClr val="accent4"/>
                </a:solidFill>
              </a:rPr>
              <a:t>定義函式</a:t>
            </a:r>
            <a:r>
              <a:rPr lang="zh-TW" altLang="en-US" dirty="0"/>
              <a:t>），</a:t>
            </a:r>
            <a:endParaRPr lang="en-US" altLang="zh-TW" dirty="0"/>
          </a:p>
          <a:p>
            <a:pPr lvl="1"/>
            <a:r>
              <a:rPr lang="zh-TW" altLang="en-US" dirty="0"/>
              <a:t>接著視當下條件及需求繪製法陣或結手印進行召喚（</a:t>
            </a:r>
            <a:r>
              <a:rPr lang="zh-TW" altLang="en-US" dirty="0">
                <a:solidFill>
                  <a:schemeClr val="accent4"/>
                </a:solidFill>
              </a:rPr>
              <a:t>呼叫函式</a:t>
            </a:r>
            <a:r>
              <a:rPr lang="zh-TW" altLang="en-US" dirty="0"/>
              <a:t>），</a:t>
            </a:r>
            <a:endParaRPr lang="en-US" altLang="zh-TW" dirty="0"/>
          </a:p>
          <a:p>
            <a:pPr lvl="1"/>
            <a:r>
              <a:rPr lang="zh-TW" altLang="en-US" dirty="0"/>
              <a:t>召喚獸出現後會執行既定任務（</a:t>
            </a:r>
            <a:r>
              <a:rPr lang="zh-TW" altLang="en-US" dirty="0">
                <a:solidFill>
                  <a:schemeClr val="accent4"/>
                </a:solidFill>
              </a:rPr>
              <a:t>執行函式</a:t>
            </a:r>
            <a:r>
              <a:rPr lang="zh-TW" altLang="en-US" dirty="0"/>
              <a:t>），</a:t>
            </a:r>
            <a:endParaRPr lang="en-US" altLang="zh-TW" dirty="0"/>
          </a:p>
          <a:p>
            <a:pPr lvl="1"/>
            <a:r>
              <a:rPr lang="zh-TW" altLang="en-US" dirty="0"/>
              <a:t>而任務結束後也可能會回傳執行結果（</a:t>
            </a:r>
            <a:r>
              <a:rPr lang="zh-TW" altLang="en-US" dirty="0">
                <a:solidFill>
                  <a:schemeClr val="accent4"/>
                </a:solidFill>
              </a:rPr>
              <a:t>函式回傳</a:t>
            </a:r>
            <a:r>
              <a:rPr lang="zh-TW" altLang="en-US" dirty="0"/>
              <a:t>）。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75E18-5389-4763-B381-BEB53777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109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739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6F583-D68A-440C-ADC9-BF725F13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函式如何執行任務？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E8FEE2-6909-4252-AC2D-98EF4AA80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至於函式如何執行任務，可視為如</a:t>
            </a:r>
            <a:r>
              <a:rPr lang="zh-TW" altLang="en-US" dirty="0">
                <a:solidFill>
                  <a:schemeClr val="accent4"/>
                </a:solidFill>
              </a:rPr>
              <a:t>黑盒子</a:t>
            </a:r>
            <a:r>
              <a:rPr lang="zh-TW" altLang="en-US" dirty="0"/>
              <a:t>般隱藏起來。</a:t>
            </a:r>
            <a:endParaRPr lang="en-US" altLang="zh-TW" dirty="0"/>
          </a:p>
          <a:p>
            <a:pPr lvl="1"/>
            <a:r>
              <a:rPr lang="zh-TW" altLang="en-US" dirty="0"/>
              <a:t>試想我們之前使用內建函式（如 </a:t>
            </a:r>
            <a:r>
              <a:rPr lang="en-US" altLang="zh-TW" dirty="0">
                <a:latin typeface="Consolas" panose="020B0609020204030204" pitchFamily="49" charset="0"/>
              </a:rPr>
              <a:t>print()</a:t>
            </a:r>
            <a:r>
              <a:rPr lang="zh-TW" altLang="en-US" dirty="0"/>
              <a:t>、</a:t>
            </a:r>
            <a:r>
              <a:rPr lang="en-US" altLang="zh-TW" dirty="0">
                <a:latin typeface="Consolas" panose="020B0609020204030204" pitchFamily="49" charset="0"/>
              </a:rPr>
              <a:t>eval()</a:t>
            </a:r>
            <a:r>
              <a:rPr lang="zh-TW" altLang="en-US" dirty="0"/>
              <a:t> 等）時，也不清楚函式內的程式碼為何。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只要熟悉其</a:t>
            </a:r>
            <a:r>
              <a:rPr lang="zh-TW" altLang="en-US" dirty="0">
                <a:solidFill>
                  <a:schemeClr val="accent4"/>
                </a:solidFill>
              </a:rPr>
              <a:t>語法</a:t>
            </a:r>
            <a:r>
              <a:rPr lang="zh-TW" altLang="en-US" dirty="0"/>
              <a:t>與一些</a:t>
            </a:r>
            <a:r>
              <a:rPr lang="zh-TW" altLang="en-US" dirty="0">
                <a:solidFill>
                  <a:schemeClr val="accent4"/>
                </a:solidFill>
              </a:rPr>
              <a:t>注意事項</a:t>
            </a:r>
            <a:r>
              <a:rPr lang="zh-TW" altLang="en-US" dirty="0"/>
              <a:t>就能運用自如，讓我們的程式能具備更多功能。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71107A-5E46-47CC-A1CE-606827F2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0819BD-204D-4B85-8E16-65FFAA57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8" y="4902124"/>
            <a:ext cx="7598735" cy="1462164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999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4C1A4-1344-4B86-9698-CC4692E0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 的函式類型大致有三種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C2D09-4C79-4913-A85A-2F82247B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accent4"/>
                </a:solidFill>
              </a:rPr>
              <a:t>內建函式</a:t>
            </a:r>
            <a:r>
              <a:rPr lang="en-US" altLang="zh-TW" dirty="0"/>
              <a:t>(built-in function)</a:t>
            </a:r>
            <a:r>
              <a:rPr lang="zh-TW" altLang="en-US" dirty="0"/>
              <a:t>：</a:t>
            </a:r>
            <a:r>
              <a:rPr lang="en-US" altLang="zh-TW" dirty="0"/>
              <a:t>Python </a:t>
            </a:r>
            <a:r>
              <a:rPr lang="zh-TW" altLang="en-US" dirty="0"/>
              <a:t>本身已內建許多函式，如之前看過的 </a:t>
            </a:r>
            <a:r>
              <a:rPr lang="en-US" altLang="zh-TW" dirty="0" err="1">
                <a:latin typeface="Consolas" panose="020B0609020204030204" pitchFamily="49" charset="0"/>
              </a:rPr>
              <a:t>len</a:t>
            </a:r>
            <a:r>
              <a:rPr lang="en-US" altLang="zh-TW" dirty="0">
                <a:latin typeface="Consolas" panose="020B0609020204030204" pitchFamily="49" charset="0"/>
              </a:rPr>
              <a:t>()</a:t>
            </a:r>
            <a:r>
              <a:rPr lang="zh-TW" altLang="en-US" dirty="0">
                <a:latin typeface="Consolas" panose="020B0609020204030204" pitchFamily="49" charset="0"/>
              </a:rPr>
              <a:t>、</a:t>
            </a:r>
            <a:r>
              <a:rPr lang="en-US" altLang="zh-TW" dirty="0">
                <a:latin typeface="Consolas" panose="020B0609020204030204" pitchFamily="49" charset="0"/>
              </a:rPr>
              <a:t>range()</a:t>
            </a:r>
            <a:r>
              <a:rPr lang="zh-TW" altLang="en-US" dirty="0">
                <a:latin typeface="Consolas" panose="020B0609020204030204" pitchFamily="49" charset="0"/>
              </a:rPr>
              <a:t>、</a:t>
            </a:r>
            <a:r>
              <a:rPr lang="en-US" altLang="zh-TW" dirty="0">
                <a:latin typeface="Consolas" panose="020B0609020204030204" pitchFamily="49" charset="0"/>
              </a:rPr>
              <a:t>type()</a:t>
            </a:r>
            <a:r>
              <a:rPr lang="en-US" altLang="zh-TW" dirty="0"/>
              <a:t> </a:t>
            </a:r>
            <a:r>
              <a:rPr lang="zh-TW" altLang="en-US" dirty="0"/>
              <a:t>等，皆可直接呼叫使用。</a:t>
            </a:r>
            <a:endParaRPr lang="en-US" altLang="zh-TW" dirty="0"/>
          </a:p>
          <a:p>
            <a:pPr lvl="3"/>
            <a:endParaRPr lang="zh-TW" altLang="en-US" dirty="0"/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accent4"/>
                </a:solidFill>
              </a:rPr>
              <a:t>標準函式庫</a:t>
            </a:r>
            <a:r>
              <a:rPr lang="en-US" altLang="zh-TW" dirty="0"/>
              <a:t>(standard library)</a:t>
            </a:r>
            <a:r>
              <a:rPr lang="zh-TW" altLang="en-US" dirty="0"/>
              <a:t>：亦可稱為</a:t>
            </a:r>
            <a:r>
              <a:rPr lang="zh-TW" altLang="en-US" dirty="0">
                <a:solidFill>
                  <a:schemeClr val="accent4"/>
                </a:solidFill>
              </a:rPr>
              <a:t>第三方套件</a:t>
            </a:r>
            <a:r>
              <a:rPr lang="en-US" altLang="zh-TW" dirty="0"/>
              <a:t>(third-party packages)</a:t>
            </a:r>
            <a:r>
              <a:rPr lang="zh-TW" altLang="en-US" dirty="0"/>
              <a:t>，所謂套件可簡單想成是特定功能函式的組合，豐富的第三方套件是 </a:t>
            </a:r>
            <a:r>
              <a:rPr lang="en-US" altLang="zh-TW" dirty="0"/>
              <a:t>Python </a:t>
            </a:r>
            <a:r>
              <a:rPr lang="zh-TW" altLang="en-US" dirty="0"/>
              <a:t>為人津津樂道的特色之一。</a:t>
            </a:r>
            <a:endParaRPr lang="en-US" altLang="zh-TW" dirty="0"/>
          </a:p>
          <a:p>
            <a:pPr lvl="1"/>
            <a:r>
              <a:rPr lang="zh-TW" altLang="en-US" dirty="0"/>
              <a:t>在 </a:t>
            </a:r>
            <a:r>
              <a:rPr lang="en-US" altLang="zh-TW" dirty="0" err="1">
                <a:solidFill>
                  <a:schemeClr val="accent4"/>
                </a:solidFill>
              </a:rPr>
              <a:t>PyPI</a:t>
            </a:r>
            <a:r>
              <a:rPr lang="en-US" altLang="zh-TW" dirty="0">
                <a:solidFill>
                  <a:schemeClr val="accent4"/>
                </a:solidFill>
              </a:rPr>
              <a:t> </a:t>
            </a:r>
            <a:r>
              <a:rPr lang="zh-TW" altLang="en-US" dirty="0">
                <a:solidFill>
                  <a:schemeClr val="accent4"/>
                </a:solidFill>
              </a:rPr>
              <a:t>網站</a:t>
            </a:r>
            <a:r>
              <a:rPr lang="en-US" altLang="zh-TW" dirty="0"/>
              <a:t>(https://pypi.org/)</a:t>
            </a:r>
            <a:r>
              <a:rPr lang="zh-TW" altLang="en-US" dirty="0"/>
              <a:t>上有許多高手上傳的第三方套件，供人免費下載使用，已累積有近五十萬個專案。</a:t>
            </a:r>
            <a:endParaRPr lang="en-US" altLang="zh-TW" dirty="0"/>
          </a:p>
          <a:p>
            <a:pPr lvl="1"/>
            <a:r>
              <a:rPr lang="zh-TW" altLang="en-US" dirty="0"/>
              <a:t>使用這類函式，必須先</a:t>
            </a:r>
            <a:r>
              <a:rPr lang="zh-TW" altLang="en-US" dirty="0">
                <a:solidFill>
                  <a:schemeClr val="accent4"/>
                </a:solidFill>
              </a:rPr>
              <a:t>匯入該函式所屬套件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2CFCFC-A669-41ED-9D9E-2D8380B1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608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4C1A4-1344-4B86-9698-CC4692E0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 的函式類型大致有三種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C2D09-4C79-4913-A85A-2F82247B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3"/>
            </a:pPr>
            <a:r>
              <a:rPr lang="zh-TW" altLang="en-US" dirty="0">
                <a:solidFill>
                  <a:schemeClr val="accent4"/>
                </a:solidFill>
              </a:rPr>
              <a:t>自訂函式</a:t>
            </a:r>
            <a:r>
              <a:rPr lang="en-US" altLang="zh-TW" dirty="0"/>
              <a:t>(user-defined function)</a:t>
            </a:r>
            <a:r>
              <a:rPr lang="zh-TW" altLang="en-US" dirty="0"/>
              <a:t>：要先具體定義好函式，然後才能呼叫使用。</a:t>
            </a:r>
            <a:endParaRPr lang="en-US" altLang="zh-TW" dirty="0"/>
          </a:p>
          <a:p>
            <a:pPr lvl="1"/>
            <a:r>
              <a:rPr lang="zh-TW" altLang="en-US" dirty="0"/>
              <a:t>這種函式是</a:t>
            </a:r>
            <a:r>
              <a:rPr lang="zh-TW" altLang="en-US" dirty="0">
                <a:solidFill>
                  <a:schemeClr val="accent4"/>
                </a:solidFill>
              </a:rPr>
              <a:t>依自已需求量身訂製</a:t>
            </a:r>
            <a:r>
              <a:rPr lang="zh-TW" altLang="en-US" dirty="0"/>
              <a:t>，除了自己使用外，當然也能給他人使用，甚至是晉升成第三方套件共享給全球開發人員。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我們從這個開始介紹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2CFCFC-A669-41ED-9D9E-2D8380B1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56211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81A84-0593-4C1A-9CB7-E651AC94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數學上的函數</a:t>
            </a:r>
            <a:r>
              <a:rPr lang="en-US" altLang="zh-TW" dirty="0"/>
              <a:t>(Function)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075EEA-21F6-4CF5-B8C4-4FED0E6436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要注意的是，數學上的函數用來描述兩個集合的對應關係，通常是將定義域</a:t>
                </a:r>
                <a:r>
                  <a:rPr lang="en-US" altLang="zh-TW" dirty="0"/>
                  <a:t>(domain)</a:t>
                </a:r>
                <a:r>
                  <a:rPr lang="zh-TW" altLang="en-US" dirty="0"/>
                  <a:t>裡的每個元素對應到值域</a:t>
                </a:r>
                <a:r>
                  <a:rPr lang="en-US" altLang="zh-TW" dirty="0"/>
                  <a:t>(codomain)</a:t>
                </a:r>
                <a:r>
                  <a:rPr lang="zh-TW" altLang="en-US" dirty="0"/>
                  <a:t>裡的一個元素。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e.g., </a:t>
                </a:r>
                <a:r>
                  <a:rPr lang="zh-TW" altLang="en-US" dirty="0"/>
                  <a:t>函數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/>
                  <a:t>，其定義域與值域皆為實數。</a:t>
                </a:r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r>
                  <a:rPr lang="zh-TW" altLang="en-US" dirty="0"/>
                  <a:t>雖然英文同樣都是 </a:t>
                </a:r>
                <a:r>
                  <a:rPr lang="en-US" altLang="zh-TW" dirty="0"/>
                  <a:t>function</a:t>
                </a:r>
                <a:r>
                  <a:rPr lang="zh-TW" altLang="en-US" dirty="0"/>
                  <a:t>，但數學的</a:t>
                </a:r>
                <a:r>
                  <a:rPr lang="zh-TW" altLang="en-US" dirty="0">
                    <a:solidFill>
                      <a:schemeClr val="accent4"/>
                    </a:solidFill>
                  </a:rPr>
                  <a:t>函數</a:t>
                </a:r>
                <a:r>
                  <a:rPr lang="zh-TW" altLang="en-US" dirty="0"/>
                  <a:t>與程式語言的</a:t>
                </a:r>
                <a:r>
                  <a:rPr lang="zh-TW" altLang="en-US" dirty="0">
                    <a:solidFill>
                      <a:schemeClr val="accent4"/>
                    </a:solidFill>
                  </a:rPr>
                  <a:t>函式是完全不同的東西</a:t>
                </a:r>
                <a:r>
                  <a:rPr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075EEA-21F6-4CF5-B8C4-4FED0E643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ED218A-8003-407C-86DA-2075D8A8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244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自訂函式</a:t>
            </a:r>
          </a:p>
          <a:p>
            <a:pPr lvl="1"/>
            <a:r>
              <a:rPr lang="zh-TW" altLang="en-US" dirty="0"/>
              <a:t>傳遞參數與回傳值</a:t>
            </a:r>
          </a:p>
          <a:p>
            <a:pPr lvl="1"/>
            <a:r>
              <a:rPr lang="zh-TW" altLang="en-US" dirty="0"/>
              <a:t>變數的有效範圍</a:t>
            </a:r>
            <a:endParaRPr lang="en-US" altLang="zh-TW" dirty="0"/>
          </a:p>
          <a:p>
            <a:pPr lvl="1"/>
            <a:r>
              <a:rPr lang="zh-TW" altLang="en-US" dirty="0"/>
              <a:t>常見的內建函式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437575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354F2-A968-4646-95A7-B081EC0C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自訂函式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AC0875-DDE8-40E4-9DA9-AB8D7843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建立函式的語法為：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def </a:t>
            </a:r>
            <a:r>
              <a:rPr lang="zh-TW" altLang="en-US" dirty="0">
                <a:latin typeface="Consolas" panose="020B0609020204030204" pitchFamily="49" charset="0"/>
              </a:rPr>
              <a:t>函式名稱</a:t>
            </a:r>
            <a:r>
              <a:rPr lang="en-US" altLang="zh-TW" dirty="0">
                <a:latin typeface="Consolas" panose="020B0609020204030204" pitchFamily="49" charset="0"/>
              </a:rPr>
              <a:t>([</a:t>
            </a:r>
            <a:r>
              <a:rPr lang="zh-TW" altLang="en-US" dirty="0">
                <a:latin typeface="Consolas" panose="020B0609020204030204" pitchFamily="49" charset="0"/>
              </a:rPr>
              <a:t>參數序列</a:t>
            </a:r>
            <a:r>
              <a:rPr lang="en-US" altLang="zh-TW" dirty="0">
                <a:latin typeface="Consolas" panose="020B0609020204030204" pitchFamily="49" charset="0"/>
              </a:rPr>
              <a:t>]):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</a:t>
            </a:r>
            <a:r>
              <a:rPr lang="zh-TW" altLang="en-US" dirty="0">
                <a:latin typeface="Consolas" panose="020B0609020204030204" pitchFamily="49" charset="0"/>
              </a:rPr>
              <a:t>程式區塊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[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zh-TW" altLang="en-US" dirty="0">
                <a:latin typeface="Consolas" panose="020B0609020204030204" pitchFamily="49" charset="0"/>
              </a:rPr>
              <a:t>回傳值序列</a:t>
            </a:r>
            <a:r>
              <a:rPr lang="en-US" altLang="zh-TW" dirty="0">
                <a:latin typeface="Consolas" panose="020B0609020204030204" pitchFamily="49" charset="0"/>
              </a:rPr>
              <a:t>]</a:t>
            </a:r>
          </a:p>
          <a:p>
            <a:pPr lvl="2"/>
            <a:r>
              <a:rPr lang="zh-TW" altLang="en-US" dirty="0">
                <a:cs typeface="Times New Roman" panose="02020603050405020304" pitchFamily="18" charset="0"/>
              </a:rPr>
              <a:t>關鍵字 </a:t>
            </a:r>
            <a:r>
              <a:rPr lang="en-US" altLang="zh-TW" dirty="0">
                <a:latin typeface="Consolas" panose="020B0609020204030204" pitchFamily="49" charset="0"/>
                <a:cs typeface="Times New Roman" panose="02020603050405020304" pitchFamily="18" charset="0"/>
              </a:rPr>
              <a:t>def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zh-TW" altLang="en-US" dirty="0">
                <a:cs typeface="Times New Roman" panose="02020603050405020304" pitchFamily="18" charset="0"/>
              </a:rPr>
              <a:t>用來定義函式，其後空一格接自行命名的函式名稱，此命名仍需遵守 </a:t>
            </a:r>
            <a:r>
              <a:rPr lang="en-US" altLang="zh-TW" dirty="0">
                <a:cs typeface="Times New Roman" panose="02020603050405020304" pitchFamily="18" charset="0"/>
              </a:rPr>
              <a:t>Python </a:t>
            </a:r>
            <a:r>
              <a:rPr lang="zh-TW" altLang="en-US" dirty="0">
                <a:cs typeface="Times New Roman" panose="02020603050405020304" pitchFamily="18" charset="0"/>
              </a:rPr>
              <a:t>的規範。</a:t>
            </a:r>
          </a:p>
          <a:p>
            <a:pPr lvl="2"/>
            <a:r>
              <a:rPr lang="zh-TW" altLang="en-US" dirty="0">
                <a:solidFill>
                  <a:schemeClr val="accent4"/>
                </a:solidFill>
                <a:cs typeface="Times New Roman" panose="02020603050405020304" pitchFamily="18" charset="0"/>
              </a:rPr>
              <a:t>參數</a:t>
            </a:r>
            <a:r>
              <a:rPr lang="en-US" altLang="zh-TW" dirty="0">
                <a:solidFill>
                  <a:schemeClr val="accent4"/>
                </a:solidFill>
                <a:cs typeface="Times New Roman" panose="02020603050405020304" pitchFamily="18" charset="0"/>
              </a:rPr>
              <a:t>(parameter)</a:t>
            </a:r>
            <a:r>
              <a:rPr lang="zh-TW" altLang="en-US" dirty="0">
                <a:solidFill>
                  <a:schemeClr val="accent4"/>
                </a:solidFill>
                <a:cs typeface="Times New Roman" panose="02020603050405020304" pitchFamily="18" charset="0"/>
              </a:rPr>
              <a:t>序列</a:t>
            </a:r>
            <a:r>
              <a:rPr lang="zh-TW" altLang="en-US" dirty="0">
                <a:cs typeface="Times New Roman" panose="02020603050405020304" pitchFamily="18" charset="0"/>
              </a:rPr>
              <a:t>：可省略也可包含多個參數，且參數間以逗點</a:t>
            </a:r>
            <a:r>
              <a:rPr lang="en-US" altLang="zh-TW" dirty="0"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cs typeface="Times New Roman" panose="02020603050405020304" pitchFamily="18" charset="0"/>
              </a:rPr>
              <a:t>)</a:t>
            </a:r>
            <a:r>
              <a:rPr lang="zh-TW" altLang="en-US" dirty="0">
                <a:cs typeface="Times New Roman" panose="02020603050405020304" pitchFamily="18" charset="0"/>
              </a:rPr>
              <a:t>隔開，也稱為</a:t>
            </a:r>
            <a:r>
              <a:rPr lang="zh-TW" altLang="en-US" dirty="0">
                <a:solidFill>
                  <a:schemeClr val="accent4"/>
                </a:solidFill>
                <a:cs typeface="Times New Roman" panose="02020603050405020304" pitchFamily="18" charset="0"/>
              </a:rPr>
              <a:t>形式參數</a:t>
            </a:r>
            <a:r>
              <a:rPr lang="en-US" altLang="zh-TW" dirty="0">
                <a:cs typeface="Times New Roman" panose="02020603050405020304" pitchFamily="18" charset="0"/>
              </a:rPr>
              <a:t>(formal parameter)</a:t>
            </a:r>
            <a:r>
              <a:rPr lang="zh-TW" altLang="en-US" dirty="0"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074F31-DEB4-4F14-882B-9F686DCB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1C027D-C4C1-4A0E-B8EB-80C650CD3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97" y="650526"/>
            <a:ext cx="5472025" cy="1893165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18109BBC-6551-4275-B4DE-45E7D4743C30}"/>
              </a:ext>
            </a:extLst>
          </p:cNvPr>
          <p:cNvSpPr/>
          <p:nvPr/>
        </p:nvSpPr>
        <p:spPr>
          <a:xfrm>
            <a:off x="2913321" y="5665269"/>
            <a:ext cx="6181060" cy="592656"/>
          </a:xfrm>
          <a:prstGeom prst="wedgeRoundRectCallout">
            <a:avLst>
              <a:gd name="adj1" fmla="val -55534"/>
              <a:gd name="adj2" fmla="val -47840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當函式被呼叫時，透過參數傳遞值給函式。</a:t>
            </a:r>
          </a:p>
        </p:txBody>
      </p:sp>
    </p:spTree>
    <p:extLst>
      <p:ext uri="{BB962C8B-B14F-4D97-AF65-F5344CB8AC3E}">
        <p14:creationId xmlns:p14="http://schemas.microsoft.com/office/powerpoint/2010/main" val="405099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354F2-A968-4646-95A7-B081EC0C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自訂函式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AC0875-DDE8-40E4-9DA9-AB8D7843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建立函式的語法為：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def </a:t>
            </a:r>
            <a:r>
              <a:rPr lang="zh-TW" altLang="en-US" dirty="0">
                <a:latin typeface="Consolas" panose="020B0609020204030204" pitchFamily="49" charset="0"/>
              </a:rPr>
              <a:t>函式名稱</a:t>
            </a:r>
            <a:r>
              <a:rPr lang="en-US" altLang="zh-TW" dirty="0">
                <a:latin typeface="Consolas" panose="020B0609020204030204" pitchFamily="49" charset="0"/>
              </a:rPr>
              <a:t>([</a:t>
            </a:r>
            <a:r>
              <a:rPr lang="zh-TW" altLang="en-US" dirty="0">
                <a:latin typeface="Consolas" panose="020B0609020204030204" pitchFamily="49" charset="0"/>
              </a:rPr>
              <a:t>參數序列</a:t>
            </a:r>
            <a:r>
              <a:rPr lang="en-US" altLang="zh-TW" dirty="0">
                <a:latin typeface="Consolas" panose="020B0609020204030204" pitchFamily="49" charset="0"/>
              </a:rPr>
              <a:t>]):</a:t>
            </a: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</a:t>
            </a:r>
            <a:r>
              <a:rPr lang="zh-TW" altLang="en-US" dirty="0">
                <a:latin typeface="Consolas" panose="020B0609020204030204" pitchFamily="49" charset="0"/>
              </a:rPr>
              <a:t>程式區塊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    [ </a:t>
            </a:r>
            <a:r>
              <a:rPr lang="en-US" altLang="zh-TW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zh-TW" altLang="en-US" dirty="0">
                <a:latin typeface="Consolas" panose="020B0609020204030204" pitchFamily="49" charset="0"/>
              </a:rPr>
              <a:t>回傳值序列</a:t>
            </a:r>
            <a:r>
              <a:rPr lang="en-US" altLang="zh-TW" dirty="0">
                <a:latin typeface="Consolas" panose="020B0609020204030204" pitchFamily="49" charset="0"/>
              </a:rPr>
              <a:t>]</a:t>
            </a:r>
          </a:p>
          <a:p>
            <a:pPr lvl="2"/>
            <a:r>
              <a:rPr lang="zh-TW" altLang="en-US" dirty="0">
                <a:solidFill>
                  <a:schemeClr val="accent4"/>
                </a:solidFill>
                <a:cs typeface="Times New Roman" panose="02020603050405020304" pitchFamily="18" charset="0"/>
              </a:rPr>
              <a:t>回傳值</a:t>
            </a:r>
            <a:r>
              <a:rPr lang="en-US" altLang="zh-TW" dirty="0">
                <a:solidFill>
                  <a:schemeClr val="accent4"/>
                </a:solidFill>
                <a:cs typeface="Times New Roman" panose="02020603050405020304" pitchFamily="18" charset="0"/>
              </a:rPr>
              <a:t>(return value)</a:t>
            </a:r>
            <a:r>
              <a:rPr lang="zh-TW" altLang="en-US" dirty="0">
                <a:solidFill>
                  <a:schemeClr val="accent4"/>
                </a:solidFill>
                <a:cs typeface="Times New Roman" panose="02020603050405020304" pitchFamily="18" charset="0"/>
              </a:rPr>
              <a:t>序列</a:t>
            </a:r>
            <a:r>
              <a:rPr lang="zh-TW" altLang="en-US" dirty="0">
                <a:cs typeface="Times New Roman" panose="02020603050405020304" pitchFamily="18" charset="0"/>
              </a:rPr>
              <a:t>：一樣可省略也可有多個回傳值，且回傳值間也用逗點</a:t>
            </a:r>
            <a:r>
              <a:rPr lang="en-US" altLang="zh-TW" dirty="0"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Consolas" panose="020B0609020204030204" pitchFamily="49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cs typeface="Times New Roman" panose="02020603050405020304" pitchFamily="18" charset="0"/>
              </a:rPr>
              <a:t>)</a:t>
            </a:r>
            <a:r>
              <a:rPr lang="zh-TW" altLang="en-US" dirty="0">
                <a:cs typeface="Times New Roman" panose="02020603050405020304" pitchFamily="18" charset="0"/>
              </a:rPr>
              <a:t>隔開。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074F31-DEB4-4F14-882B-9F686DCB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1C027D-C4C1-4A0E-B8EB-80C650CD3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97" y="650526"/>
            <a:ext cx="5472025" cy="1893165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C51B3E8E-1478-4E3C-AEF7-C08B72A1C893}"/>
              </a:ext>
            </a:extLst>
          </p:cNvPr>
          <p:cNvSpPr/>
          <p:nvPr/>
        </p:nvSpPr>
        <p:spPr>
          <a:xfrm>
            <a:off x="3554819" y="4872610"/>
            <a:ext cx="6978502" cy="564172"/>
          </a:xfrm>
          <a:prstGeom prst="wedgeRoundRectCallout">
            <a:avLst>
              <a:gd name="adj1" fmla="val -53417"/>
              <a:gd name="adj2" fmla="val -40572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當函式執行完畢後，可透過回傳值反饋執行結果。</a:t>
            </a:r>
          </a:p>
        </p:txBody>
      </p:sp>
    </p:spTree>
    <p:extLst>
      <p:ext uri="{BB962C8B-B14F-4D97-AF65-F5344CB8AC3E}">
        <p14:creationId xmlns:p14="http://schemas.microsoft.com/office/powerpoint/2010/main" val="324999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呼叫函式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函式建立後並不會執行，必須在主程式中</a:t>
            </a:r>
            <a:r>
              <a:rPr lang="zh-TW" altLang="en-US" dirty="0">
                <a:solidFill>
                  <a:schemeClr val="accent4"/>
                </a:solidFill>
              </a:rPr>
              <a:t>呼叫函式</a:t>
            </a:r>
            <a:r>
              <a:rPr lang="en-US" altLang="zh-TW" dirty="0"/>
              <a:t>(call / invoke)</a:t>
            </a:r>
            <a:r>
              <a:rPr lang="zh-TW" altLang="en-US" dirty="0"/>
              <a:t>，才會執行函式，呼叫函式的語法為：</a:t>
            </a:r>
            <a:endParaRPr lang="en-US" altLang="zh-TW" dirty="0"/>
          </a:p>
          <a:p>
            <a:pPr lvl="1"/>
            <a:r>
              <a:rPr lang="en-US" altLang="zh-TW" dirty="0"/>
              <a:t>[ </a:t>
            </a:r>
            <a:r>
              <a:rPr lang="zh-TW" altLang="en-US" dirty="0"/>
              <a:t>變數</a:t>
            </a:r>
            <a:r>
              <a:rPr lang="en-US" altLang="zh-TW" dirty="0"/>
              <a:t>= ] </a:t>
            </a:r>
            <a:r>
              <a:rPr lang="zh-TW" altLang="en-US" dirty="0"/>
              <a:t>函式名稱</a:t>
            </a:r>
            <a:r>
              <a:rPr lang="en-US" altLang="zh-TW" dirty="0"/>
              <a:t>([ </a:t>
            </a:r>
            <a:r>
              <a:rPr lang="zh-TW" altLang="en-US" dirty="0"/>
              <a:t>參數串列 </a:t>
            </a:r>
            <a:r>
              <a:rPr lang="en-US" altLang="zh-TW" dirty="0"/>
              <a:t>])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16BDD3B-743E-431B-8A89-CCE708BF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481" y="3840293"/>
            <a:ext cx="6315037" cy="218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ED22BE-A5BE-4F0A-B229-551C7CEDF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54DBD7-B999-4A90-9921-506439D2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</a:t>
            </a:r>
            <a:r>
              <a:rPr lang="zh-TW" altLang="en-US" dirty="0">
                <a:solidFill>
                  <a:schemeClr val="accent4"/>
                </a:solidFill>
              </a:rPr>
              <a:t>定義函式後才能呼叫</a:t>
            </a:r>
            <a:r>
              <a:rPr lang="zh-TW" altLang="en-US" dirty="0"/>
              <a:t>該函式來執行，若在定義函式之前就進行呼叫，執行時會引發「</a:t>
            </a:r>
            <a:r>
              <a:rPr lang="en-US" altLang="zh-TW" dirty="0"/>
              <a:t>not defined</a:t>
            </a:r>
            <a:r>
              <a:rPr lang="zh-TW" altLang="en-US" dirty="0"/>
              <a:t>」的錯誤。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E3538A-EF5C-456B-9DEF-2C9278BE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118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D9B7D22-D0CD-444E-98D3-25F6ACCD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10" y="3582475"/>
            <a:ext cx="5103071" cy="134664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797C66A-9860-47DA-B4F3-2B527C8E0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694" y="5186294"/>
            <a:ext cx="3296301" cy="55129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300605C-5FE0-4414-9A8B-4688828F1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33" y="3603416"/>
            <a:ext cx="5266667" cy="130476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F1B62E0-2764-4B77-825B-C648BAC92F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6413"/>
          <a:stretch/>
        </p:blipFill>
        <p:spPr>
          <a:xfrm>
            <a:off x="6449237" y="5285752"/>
            <a:ext cx="4923457" cy="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  <a:p>
            <a:pPr lvl="1"/>
            <a:r>
              <a:rPr lang="zh-TW" altLang="en-US" dirty="0"/>
              <a:t>自訂函式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傳遞參數與回傳值</a:t>
            </a:r>
          </a:p>
          <a:p>
            <a:pPr lvl="1"/>
            <a:r>
              <a:rPr lang="zh-TW" altLang="en-US" dirty="0"/>
              <a:t>變數的有效範圍</a:t>
            </a:r>
            <a:endParaRPr lang="en-US" altLang="zh-TW" dirty="0"/>
          </a:p>
          <a:p>
            <a:pPr lvl="1"/>
            <a:r>
              <a:rPr lang="zh-TW" altLang="en-US" dirty="0"/>
              <a:t>常見的內建函式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609129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7ACDA5-F662-43F3-A7F8-09B3AABB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傳遞參數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3A7762-2BA4-45A3-85AB-BD1B21CFE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如果函式所執行的工作需要特定資料才能運作，可以在呼叫時將資料傳遞到函式的參數，而這些資料又被稱為</a:t>
            </a:r>
            <a:r>
              <a:rPr lang="zh-TW" altLang="en-US" dirty="0">
                <a:solidFill>
                  <a:schemeClr val="accent4"/>
                </a:solidFill>
              </a:rPr>
              <a:t>引數</a:t>
            </a:r>
            <a:r>
              <a:rPr lang="en-US" altLang="zh-TW" dirty="0"/>
              <a:t>(argument)</a:t>
            </a:r>
            <a:r>
              <a:rPr lang="zh-TW" altLang="en-US" dirty="0"/>
              <a:t>或</a:t>
            </a:r>
            <a:r>
              <a:rPr lang="zh-TW" altLang="en-US" dirty="0">
                <a:solidFill>
                  <a:schemeClr val="accent4"/>
                </a:solidFill>
              </a:rPr>
              <a:t>實際參數</a:t>
            </a:r>
            <a:r>
              <a:rPr lang="en-US" altLang="zh-TW" dirty="0"/>
              <a:t>(actual parameter)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與函式的形式參數相對應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同時，若函式執行完畢後要反饋訊息，可以用關鍵字 </a:t>
            </a:r>
            <a:r>
              <a:rPr lang="en-US" altLang="zh-TW" dirty="0">
                <a:latin typeface="Consolas" panose="020B0609020204030204" pitchFamily="49" charset="0"/>
              </a:rPr>
              <a:t>return</a:t>
            </a:r>
            <a:r>
              <a:rPr lang="zh-TW" altLang="en-US" dirty="0"/>
              <a:t> 回傳給呼叫它的地方。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AFA09D-559F-4358-8767-CD80F1BA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906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758C8-6A5F-4757-9068-D125A6E2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77CECD-4311-4580-AE79-EFCAD8BB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F8168D-8A84-4F3E-A6E8-ADDD07E7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20" y="3429000"/>
            <a:ext cx="6276611" cy="286180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B7C01F6-6EFA-408F-A06F-85AD6029C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39" y="4522299"/>
            <a:ext cx="1444625" cy="6752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822ED9B-AB96-42BA-8A32-A06D1F5153C3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56386" y="837389"/>
            <a:ext cx="9811764" cy="2166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9387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92FBF-01D4-4D3E-8613-02E4403A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參數的數量太多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05769F-8124-4BBB-BE39-4B104486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雖然我們能傳遞參數給函式，可是如果</a:t>
            </a:r>
            <a:r>
              <a:rPr lang="zh-TW" altLang="en-US" dirty="0">
                <a:solidFill>
                  <a:schemeClr val="accent4"/>
                </a:solidFill>
              </a:rPr>
              <a:t>參數的數量太多</a:t>
            </a:r>
            <a:r>
              <a:rPr lang="zh-TW" altLang="en-US" dirty="0"/>
              <a:t>，不僅在設定上有些繁瑣，也容易因為弄錯參數順序而出包。</a:t>
            </a:r>
            <a:endParaRPr lang="en-US" altLang="zh-TW" dirty="0"/>
          </a:p>
          <a:p>
            <a:pPr lvl="1"/>
            <a:r>
              <a:rPr lang="zh-TW" altLang="en-US" dirty="0"/>
              <a:t>因此，在呼叫參數時可以</a:t>
            </a:r>
            <a:r>
              <a:rPr lang="zh-TW" altLang="en-US" dirty="0">
                <a:solidFill>
                  <a:schemeClr val="accent4"/>
                </a:solidFill>
              </a:rPr>
              <a:t>直接指定參數名稱</a:t>
            </a:r>
            <a:r>
              <a:rPr lang="zh-TW" altLang="en-US" dirty="0"/>
              <a:t>，這個作法不用考慮參數的順序，可減少犯錯的機會。</a:t>
            </a:r>
            <a:endParaRPr lang="en-US" altLang="zh-TW" dirty="0"/>
          </a:p>
          <a:p>
            <a:pPr lvl="1"/>
            <a:r>
              <a:rPr lang="zh-TW" altLang="en-US" dirty="0"/>
              <a:t>例如底下三種呼叫函式方式會有相同的結果：</a:t>
            </a:r>
            <a:endParaRPr lang="en-US" altLang="zh-TW" dirty="0"/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compute_bmi</a:t>
            </a:r>
            <a:r>
              <a:rPr lang="en-US" altLang="zh-TW" dirty="0">
                <a:latin typeface="Consolas" panose="020B0609020204030204" pitchFamily="49" charset="0"/>
              </a:rPr>
              <a:t>(1.76, 75)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compute_bmi</a:t>
            </a:r>
            <a:r>
              <a:rPr lang="en-US" altLang="zh-TW" dirty="0">
                <a:latin typeface="Consolas" panose="020B0609020204030204" pitchFamily="49" charset="0"/>
              </a:rPr>
              <a:t>(H=1.76, W=75)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</a:rPr>
              <a:t>compute_bmi</a:t>
            </a:r>
            <a:r>
              <a:rPr lang="en-US" altLang="zh-TW" dirty="0">
                <a:latin typeface="Consolas" panose="020B0609020204030204" pitchFamily="49" charset="0"/>
              </a:rPr>
              <a:t>(W=75, H=1.76)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12B311-24AE-4484-BB79-222D8A25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122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85B762-1005-4389-9E29-0E1461B49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434" y="4419331"/>
            <a:ext cx="4899428" cy="223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8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參數預設值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57375"/>
            <a:ext cx="5364113" cy="4400550"/>
          </a:xfrm>
        </p:spPr>
        <p:txBody>
          <a:bodyPr/>
          <a:lstStyle/>
          <a:p>
            <a:r>
              <a:rPr lang="zh-TW" altLang="en-US" dirty="0"/>
              <a:t>建立函式時可以為</a:t>
            </a:r>
            <a:r>
              <a:rPr lang="zh-TW" altLang="en-US" dirty="0">
                <a:solidFill>
                  <a:schemeClr val="accent4"/>
                </a:solidFill>
              </a:rPr>
              <a:t>參數設定預設值</a:t>
            </a:r>
            <a:r>
              <a:rPr lang="zh-TW" altLang="en-US" dirty="0"/>
              <a:t>，呼叫函式時，如果沒有傳入該參數時，就會使用預設值。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123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91A45C-D8FC-4F20-A274-8D9A18EA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233" y="1064282"/>
            <a:ext cx="5787813" cy="469577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38BE27-16A6-421D-88B8-278F60910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431" y="3306255"/>
            <a:ext cx="1594037" cy="112911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8884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A71FE-55C9-4E20-AAE1-03F9E6DC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Consolas" panose="020B0609020204030204" pitchFamily="49" charset="0"/>
              </a:rPr>
              <a:t>關鍵字 </a:t>
            </a:r>
            <a:r>
              <a:rPr lang="en-US" altLang="zh-TW" dirty="0">
                <a:latin typeface="Consolas" panose="020B0609020204030204" pitchFamily="49" charset="0"/>
              </a:rPr>
              <a:t>return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5B4172-10F0-4EFD-8E95-9DE3D7A33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5814848" cy="4400550"/>
          </a:xfrm>
        </p:spPr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return</a:t>
            </a:r>
            <a:r>
              <a:rPr lang="zh-TW" altLang="en-US" dirty="0"/>
              <a:t> 可讓函式回傳程式運算後的結果</a:t>
            </a:r>
            <a:endParaRPr lang="en-US" altLang="zh-TW" dirty="0"/>
          </a:p>
          <a:p>
            <a:pPr lvl="1"/>
            <a:r>
              <a:rPr lang="zh-TW" altLang="en-US" dirty="0"/>
              <a:t>反過來說，函式一遇到 </a:t>
            </a:r>
            <a:r>
              <a:rPr lang="en-US" altLang="zh-TW" dirty="0">
                <a:latin typeface="Consolas" panose="020B0609020204030204" pitchFamily="49" charset="0"/>
              </a:rPr>
              <a:t>return</a:t>
            </a:r>
            <a:r>
              <a:rPr lang="en-US" altLang="zh-TW" dirty="0"/>
              <a:t> </a:t>
            </a:r>
            <a:r>
              <a:rPr lang="zh-TW" altLang="en-US" dirty="0"/>
              <a:t>敘述就會中止執行，並依設定回傳，所以也常用來</a:t>
            </a:r>
            <a:r>
              <a:rPr lang="zh-TW" altLang="en-US" dirty="0">
                <a:solidFill>
                  <a:schemeClr val="accent4"/>
                </a:solidFill>
              </a:rPr>
              <a:t>控制函式的執行流程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786BBB-0313-4D55-8777-FBDDA9E1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124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0A4094A-B81D-450D-909B-110446DB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084" y="1644650"/>
            <a:ext cx="5080066" cy="36830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ECEE87A-E07D-4183-9542-E10A55025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477" y="5632032"/>
            <a:ext cx="1469279" cy="53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8B785-4228-40E5-88FC-F1D4B3D3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回傳多個值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D06DFD-E05D-4D6B-AE7F-CFF81CE1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798977-E66F-4B7E-B8A9-163E747F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56" y="1684283"/>
            <a:ext cx="4933148" cy="465310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1E861B3-E3ED-4155-B8CC-1302589E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89" y="3544108"/>
            <a:ext cx="5482161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練習：華氏</a:t>
            </a:r>
            <a:r>
              <a:rPr lang="en-US" altLang="zh-TW" dirty="0"/>
              <a:t>/</a:t>
            </a:r>
            <a:r>
              <a:rPr lang="zh-TW" altLang="en-US" dirty="0"/>
              <a:t>攝氏溫度轉換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輸入華氏</a:t>
            </a:r>
            <a:r>
              <a:rPr lang="en-US" altLang="zh-TW" dirty="0"/>
              <a:t>/</a:t>
            </a:r>
            <a:r>
              <a:rPr lang="zh-TW" altLang="en-US" dirty="0"/>
              <a:t>攝氏溫度 </a:t>
            </a:r>
            <a:r>
              <a:rPr lang="en-US" altLang="zh-TW" dirty="0"/>
              <a:t>temp</a:t>
            </a:r>
            <a:r>
              <a:rPr lang="zh-TW" altLang="en-US" dirty="0"/>
              <a:t>，利用</a:t>
            </a:r>
            <a:r>
              <a:rPr lang="zh-TW" altLang="en-US" dirty="0">
                <a:solidFill>
                  <a:schemeClr val="accent4"/>
                </a:solidFill>
              </a:rPr>
              <a:t>函式呼叫傳遞兩個參數</a:t>
            </a:r>
            <a:r>
              <a:rPr lang="zh-TW" altLang="en-US" dirty="0"/>
              <a:t>並進行轉換，最後輸出溫度轉換結果。</a:t>
            </a:r>
            <a:endParaRPr lang="en-US" altLang="zh-TW" dirty="0"/>
          </a:p>
          <a:p>
            <a:pPr lvl="2"/>
            <a:endParaRPr lang="en-US" altLang="zh-TW" dirty="0"/>
          </a:p>
          <a:p>
            <a:r>
              <a:rPr lang="zh-TW" altLang="en-US" dirty="0"/>
              <a:t>撰寫底下函式：</a:t>
            </a:r>
            <a:endParaRPr lang="en-US" altLang="zh-TW" dirty="0"/>
          </a:p>
          <a:p>
            <a:pPr lvl="1"/>
            <a:r>
              <a:rPr lang="zh-TW" altLang="en-US" dirty="0"/>
              <a:t>溫度轉換</a:t>
            </a:r>
            <a:r>
              <a:rPr lang="en-US" altLang="zh-TW" dirty="0"/>
              <a:t>(unit, temp)</a:t>
            </a:r>
          </a:p>
          <a:p>
            <a:pPr lvl="2"/>
            <a:r>
              <a:rPr lang="en-US" altLang="zh-TW" dirty="0"/>
              <a:t>unit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/>
              <a:t>華氏；</a:t>
            </a:r>
            <a:r>
              <a:rPr lang="en-US" altLang="zh-TW" dirty="0"/>
              <a:t>2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/>
              <a:t>攝氏</a:t>
            </a:r>
            <a:endParaRPr lang="en-US" altLang="zh-TW" dirty="0"/>
          </a:p>
          <a:p>
            <a:pPr lvl="2"/>
            <a:r>
              <a:rPr lang="en-US" altLang="zh-TW" dirty="0"/>
              <a:t>temp</a:t>
            </a:r>
            <a:r>
              <a:rPr lang="zh-TW" altLang="en-US" dirty="0"/>
              <a:t>：溫度數值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576" y="2830285"/>
            <a:ext cx="2590476" cy="105714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76" y="4057650"/>
            <a:ext cx="2571429" cy="113333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576" y="5361205"/>
            <a:ext cx="2619048" cy="1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0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  <a:p>
            <a:pPr lvl="1"/>
            <a:r>
              <a:rPr lang="zh-TW" altLang="en-US" dirty="0"/>
              <a:t>自訂函式</a:t>
            </a:r>
          </a:p>
          <a:p>
            <a:pPr lvl="1"/>
            <a:r>
              <a:rPr lang="zh-TW" altLang="en-US" dirty="0"/>
              <a:t>傳遞參數與回傳值</a:t>
            </a:r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變數的有效範圍</a:t>
            </a:r>
            <a:endParaRPr lang="en-US" altLang="zh-TW" dirty="0">
              <a:solidFill>
                <a:schemeClr val="accent2"/>
              </a:solidFill>
            </a:endParaRPr>
          </a:p>
          <a:p>
            <a:pPr lvl="1"/>
            <a:r>
              <a:rPr lang="zh-TW" altLang="en-US" dirty="0"/>
              <a:t>常見的內建函式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767494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F4B97-8E04-4A81-A2E7-69517589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變數的有效範圍</a:t>
            </a:r>
            <a:r>
              <a:rPr lang="en-US" altLang="zh-TW" dirty="0"/>
              <a:t>(Scope)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AC1C3-2E36-43DF-94BC-A0BD09BED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變數的有效範圍指的是</a:t>
            </a:r>
            <a:r>
              <a:rPr lang="zh-TW" altLang="en-US" dirty="0">
                <a:solidFill>
                  <a:schemeClr val="accent4"/>
                </a:solidFill>
              </a:rPr>
              <a:t>變數在程式中可被參考的範圍</a:t>
            </a:r>
            <a:r>
              <a:rPr lang="zh-TW" altLang="en-US" dirty="0"/>
              <a:t>，白話一點講就是在程式中哪些地方能合法地存取這個變數。</a:t>
            </a:r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altLang="zh-TW" dirty="0"/>
              <a:t>Python </a:t>
            </a:r>
            <a:r>
              <a:rPr lang="zh-TW" altLang="en-US" dirty="0"/>
              <a:t>的變數有效範圍分為兩種：</a:t>
            </a:r>
          </a:p>
          <a:p>
            <a:pPr lvl="1"/>
            <a:r>
              <a:rPr lang="zh-TW" altLang="en-US" dirty="0"/>
              <a:t>全域變數</a:t>
            </a:r>
            <a:r>
              <a:rPr lang="en-US" altLang="zh-TW" dirty="0"/>
              <a:t>(global variable)</a:t>
            </a:r>
            <a:endParaRPr lang="zh-TW" altLang="en-US" dirty="0"/>
          </a:p>
          <a:p>
            <a:pPr lvl="1"/>
            <a:r>
              <a:rPr lang="zh-TW" altLang="en-US" dirty="0"/>
              <a:t>區域變數</a:t>
            </a:r>
            <a:r>
              <a:rPr lang="en-US" altLang="zh-TW" dirty="0"/>
              <a:t>(local variable)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AA40DC-C4A1-4F5E-85C9-B18E180A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887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4597400" y="619286"/>
            <a:ext cx="29125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變數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473376" y="2880300"/>
            <a:ext cx="2397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7200" b="1" dirty="0">
                <a:solidFill>
                  <a:srgbClr val="0070C0"/>
                </a:solidFill>
              </a:rPr>
              <a:t>全域</a:t>
            </a:r>
          </a:p>
        </p:txBody>
      </p:sp>
      <p:grpSp>
        <p:nvGrpSpPr>
          <p:cNvPr id="19" name="群組 18"/>
          <p:cNvGrpSpPr/>
          <p:nvPr/>
        </p:nvGrpSpPr>
        <p:grpSpPr>
          <a:xfrm>
            <a:off x="1778104" y="4083526"/>
            <a:ext cx="3776031" cy="1540901"/>
            <a:chOff x="1778104" y="4083526"/>
            <a:chExt cx="3776031" cy="1540901"/>
          </a:xfrm>
        </p:grpSpPr>
        <p:sp>
          <p:nvSpPr>
            <p:cNvPr id="8" name="矩形 7"/>
            <p:cNvSpPr/>
            <p:nvPr/>
          </p:nvSpPr>
          <p:spPr>
            <a:xfrm>
              <a:off x="1995055" y="4239432"/>
              <a:ext cx="3341716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定義在函式外的變數，其有效範圍是</a:t>
              </a:r>
              <a:r>
                <a:rPr lang="zh-TW" altLang="en-US" sz="2800" dirty="0">
                  <a:solidFill>
                    <a:schemeClr val="accent4"/>
                  </a:solidFill>
                </a:rPr>
                <a:t>整個 </a:t>
              </a:r>
              <a:r>
                <a:rPr lang="en-US" altLang="zh-TW" sz="2800" dirty="0">
                  <a:solidFill>
                    <a:schemeClr val="accent4"/>
                  </a:solidFill>
                </a:rPr>
                <a:t>Python </a:t>
              </a:r>
              <a:r>
                <a:rPr lang="zh-TW" altLang="en-US" sz="2800" dirty="0">
                  <a:solidFill>
                    <a:schemeClr val="accent4"/>
                  </a:solidFill>
                </a:rPr>
                <a:t>檔案</a:t>
              </a: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1778104" y="4083526"/>
              <a:ext cx="3776031" cy="0"/>
            </a:xfrm>
            <a:prstGeom prst="line">
              <a:avLst/>
            </a:prstGeom>
            <a:ln w="25400" cap="rnd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字方塊 11"/>
          <p:cNvSpPr txBox="1"/>
          <p:nvPr/>
        </p:nvSpPr>
        <p:spPr>
          <a:xfrm>
            <a:off x="7321446" y="2880300"/>
            <a:ext cx="2397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7200" b="1" dirty="0">
                <a:solidFill>
                  <a:srgbClr val="0070C0"/>
                </a:solidFill>
              </a:rPr>
              <a:t>區域</a:t>
            </a:r>
          </a:p>
        </p:txBody>
      </p:sp>
      <p:grpSp>
        <p:nvGrpSpPr>
          <p:cNvPr id="20" name="群組 19"/>
          <p:cNvGrpSpPr/>
          <p:nvPr/>
        </p:nvGrpSpPr>
        <p:grpSpPr>
          <a:xfrm>
            <a:off x="6638369" y="4080629"/>
            <a:ext cx="3776031" cy="1543798"/>
            <a:chOff x="6638369" y="4080629"/>
            <a:chExt cx="3776031" cy="1543798"/>
          </a:xfrm>
        </p:grpSpPr>
        <p:sp>
          <p:nvSpPr>
            <p:cNvPr id="13" name="矩形 12"/>
            <p:cNvSpPr/>
            <p:nvPr/>
          </p:nvSpPr>
          <p:spPr>
            <a:xfrm>
              <a:off x="6991005" y="4239432"/>
              <a:ext cx="3067396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定義在一個函式中的變數，有效範圍是在</a:t>
              </a:r>
              <a:r>
                <a:rPr lang="zh-TW" altLang="en-US" sz="2800" dirty="0">
                  <a:solidFill>
                    <a:schemeClr val="accent4"/>
                  </a:solidFill>
                </a:rPr>
                <a:t>該函式內</a:t>
              </a:r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6638369" y="4080629"/>
              <a:ext cx="3776031" cy="0"/>
            </a:xfrm>
            <a:prstGeom prst="line">
              <a:avLst/>
            </a:prstGeom>
            <a:ln w="25400" cap="rnd"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肘形接點 15"/>
          <p:cNvCxnSpPr>
            <a:stCxn id="7" idx="0"/>
            <a:endCxn id="12" idx="0"/>
          </p:cNvCxnSpPr>
          <p:nvPr/>
        </p:nvCxnSpPr>
        <p:spPr>
          <a:xfrm rot="5400000" flipH="1" flipV="1">
            <a:off x="6096000" y="456265"/>
            <a:ext cx="12700" cy="4848070"/>
          </a:xfrm>
          <a:prstGeom prst="bentConnector3">
            <a:avLst>
              <a:gd name="adj1" fmla="val 180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6" idx="2"/>
          </p:cNvCxnSpPr>
          <p:nvPr/>
        </p:nvCxnSpPr>
        <p:spPr>
          <a:xfrm>
            <a:off x="6053667" y="2250502"/>
            <a:ext cx="0" cy="40803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78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066E3-C20C-43BF-9F61-F3F6D00F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全域 </a:t>
            </a:r>
            <a:r>
              <a:rPr lang="en-US" altLang="zh-TW" dirty="0"/>
              <a:t>vs </a:t>
            </a:r>
            <a:r>
              <a:rPr lang="zh-TW" altLang="en-US" dirty="0"/>
              <a:t>區域變數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61CC7-DF11-436A-8C6B-C790D034B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若把函式比喻為寶可夢訓練家，野外和許多訓練家身邊可能都有皮卡丘：</a:t>
            </a:r>
            <a:endParaRPr lang="en-US" altLang="zh-TW" dirty="0"/>
          </a:p>
          <a:p>
            <a:pPr lvl="1"/>
            <a:r>
              <a:rPr lang="zh-TW" altLang="en-US" dirty="0"/>
              <a:t>訓練家小智只能驅使自己的皮卡丘，相當於函式只能存取自己的區域變數。</a:t>
            </a:r>
            <a:endParaRPr lang="en-US" altLang="zh-TW" dirty="0"/>
          </a:p>
          <a:p>
            <a:pPr lvl="1"/>
            <a:r>
              <a:rPr lang="zh-TW" altLang="en-US" dirty="0"/>
              <a:t>所有訓練家皆能捕捉野外的皮卡丘，相當於存取全域變數。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若全域與區域變數</a:t>
            </a:r>
            <a:r>
              <a:rPr lang="zh-TW" altLang="en-US" dirty="0">
                <a:solidFill>
                  <a:schemeClr val="accent4"/>
                </a:solidFill>
              </a:rPr>
              <a:t>撞名</a:t>
            </a:r>
            <a:r>
              <a:rPr lang="zh-TW" altLang="en-US" dirty="0"/>
              <a:t>，則在函式內以區域變數優先，可是在函式外看不到區域變數，因此只能使用全域變數。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631277-1990-45C9-8D67-C6713ED2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5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79AB5-8AA7-4B9B-A3F8-3E242354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6CA547-7AA4-4D7D-8607-18D0673B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131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3F4A4C-5947-44CE-9CF2-3A3F0D204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722" y="1739900"/>
            <a:ext cx="5201052" cy="45910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A976C51-449B-4E04-B078-D0242DB25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482" y="5075393"/>
            <a:ext cx="1883334" cy="125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0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1DAA-ED56-4A01-B6D8-502322A8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0992E1-A541-4628-83A1-7A8ACF35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6319345" cy="4400550"/>
          </a:xfrm>
        </p:spPr>
        <p:txBody>
          <a:bodyPr>
            <a:normAutofit/>
          </a:bodyPr>
          <a:lstStyle/>
          <a:p>
            <a:r>
              <a:rPr lang="zh-TW" altLang="en-US" dirty="0"/>
              <a:t>在函式內可存取全域變數，但不能變更其值。</a:t>
            </a:r>
            <a:endParaRPr lang="en-US" altLang="zh-TW" dirty="0"/>
          </a:p>
          <a:p>
            <a:pPr lvl="1"/>
            <a:r>
              <a:rPr lang="zh-TW" altLang="en-US" dirty="0"/>
              <a:t>比方說在 </a:t>
            </a:r>
            <a:r>
              <a:rPr lang="en-US" altLang="zh-TW" dirty="0">
                <a:latin typeface="Consolas" panose="020B0609020204030204" pitchFamily="49" charset="0"/>
              </a:rPr>
              <a:t>scope()</a:t>
            </a:r>
            <a:r>
              <a:rPr lang="zh-TW" altLang="en-US" dirty="0"/>
              <a:t> 內可以存取全域變數 </a:t>
            </a:r>
            <a:r>
              <a:rPr lang="en-US" altLang="zh-TW" dirty="0">
                <a:latin typeface="Consolas" panose="020B0609020204030204" pitchFamily="49" charset="0"/>
              </a:rPr>
              <a:t>var2</a:t>
            </a:r>
            <a:r>
              <a:rPr lang="zh-TW" altLang="en-US" dirty="0"/>
              <a:t> 的值，但如果想要直接變更其值（例如直接寫「</a:t>
            </a:r>
            <a:r>
              <a:rPr lang="en-US" altLang="zh-TW" dirty="0">
                <a:latin typeface="Consolas" panose="020B0609020204030204" pitchFamily="49" charset="0"/>
              </a:rPr>
              <a:t>var2 += 50</a:t>
            </a:r>
            <a:r>
              <a:rPr lang="zh-TW" altLang="en-US" dirty="0"/>
              <a:t>」）會引發「</a:t>
            </a:r>
            <a:r>
              <a:rPr lang="en-US" altLang="zh-TW" dirty="0" err="1">
                <a:latin typeface="Consolas" panose="020B0609020204030204" pitchFamily="49" charset="0"/>
              </a:rPr>
              <a:t>UnboundLocalError</a:t>
            </a:r>
            <a:r>
              <a:rPr lang="zh-TW" altLang="en-US" dirty="0"/>
              <a:t>」的錯誤訊息。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3403D7-E8BD-4F79-BF01-3C4F1EEE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132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C031DB-0681-4476-B23E-F930A271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47" y="1857375"/>
            <a:ext cx="4287203" cy="37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1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1DAA-ED56-4A01-B6D8-502322A8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0992E1-A541-4628-83A1-7A8ACF35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6424448" cy="4400550"/>
          </a:xfrm>
        </p:spPr>
        <p:txBody>
          <a:bodyPr>
            <a:normAutofit/>
          </a:bodyPr>
          <a:lstStyle/>
          <a:p>
            <a:r>
              <a:rPr lang="zh-TW" altLang="en-US" dirty="0"/>
              <a:t>在函式外看不到區域變數</a:t>
            </a:r>
            <a:endParaRPr lang="en-US" altLang="zh-TW" dirty="0"/>
          </a:p>
          <a:p>
            <a:pPr lvl="1"/>
            <a:r>
              <a:rPr lang="zh-TW" altLang="en-US" dirty="0"/>
              <a:t>譬如在 </a:t>
            </a:r>
            <a:r>
              <a:rPr lang="en-US" altLang="zh-TW" dirty="0">
                <a:latin typeface="Consolas" panose="020B0609020204030204" pitchFamily="49" charset="0"/>
              </a:rPr>
              <a:t>scope()</a:t>
            </a:r>
            <a:r>
              <a:rPr lang="zh-TW" altLang="en-US" dirty="0"/>
              <a:t> 之外（即第</a:t>
            </a:r>
            <a:r>
              <a:rPr lang="en-US" altLang="zh-TW" dirty="0"/>
              <a:t>6</a:t>
            </a:r>
            <a:r>
              <a:rPr lang="zh-TW" altLang="en-US" dirty="0"/>
              <a:t>行之後）存取不到區域變數 </a:t>
            </a:r>
            <a:r>
              <a:rPr lang="en-US" altLang="zh-TW" dirty="0">
                <a:latin typeface="Consolas" panose="020B0609020204030204" pitchFamily="49" charset="0"/>
              </a:rPr>
              <a:t>var3</a:t>
            </a:r>
            <a:r>
              <a:rPr lang="zh-TW" altLang="en-US" dirty="0"/>
              <a:t>，</a:t>
            </a:r>
            <a:endParaRPr lang="en-US" altLang="zh-TW" dirty="0"/>
          </a:p>
          <a:p>
            <a:pPr lvl="1"/>
            <a:r>
              <a:rPr lang="zh-TW" altLang="en-US" dirty="0"/>
              <a:t>若直接存取會產生錯誤訊息「</a:t>
            </a:r>
            <a:r>
              <a:rPr lang="en-US" altLang="zh-TW" dirty="0" err="1">
                <a:latin typeface="Consolas" panose="020B0609020204030204" pitchFamily="49" charset="0"/>
              </a:rPr>
              <a:t>NameError</a:t>
            </a:r>
            <a:r>
              <a:rPr lang="zh-TW" altLang="en-US" dirty="0">
                <a:latin typeface="Consolas" panose="020B0609020204030204" pitchFamily="49" charset="0"/>
              </a:rPr>
              <a:t>」</a:t>
            </a:r>
            <a:endParaRPr lang="en-US" altLang="zh-TW" dirty="0">
              <a:latin typeface="Consolas" panose="020B0609020204030204" pitchFamily="49" charset="0"/>
            </a:endParaRPr>
          </a:p>
          <a:p>
            <a:pPr lvl="3"/>
            <a:endParaRPr lang="en-US" altLang="zh-TW" dirty="0"/>
          </a:p>
          <a:p>
            <a:r>
              <a:rPr lang="zh-TW" altLang="en-US" dirty="0"/>
              <a:t>函式名稱也屬於變數名稱，若與其它</a:t>
            </a:r>
            <a:r>
              <a:rPr lang="zh-TW" altLang="en-US" dirty="0">
                <a:solidFill>
                  <a:schemeClr val="accent4"/>
                </a:solidFill>
              </a:rPr>
              <a:t>變數重名</a:t>
            </a:r>
            <a:r>
              <a:rPr lang="zh-TW" altLang="en-US" dirty="0"/>
              <a:t>，可能會覆蓋變數內容，產生意料之外的錯誤。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3403D7-E8BD-4F79-BF01-3C4F1EEE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133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2CAC59-E93C-4DF5-9AB7-74B23536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47" y="1857375"/>
            <a:ext cx="4287203" cy="37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15EC30-5E39-467A-9E64-3665B248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名稱空間</a:t>
            </a:r>
            <a:r>
              <a:rPr lang="en-US" altLang="zh-TW" dirty="0"/>
              <a:t>(Name Space)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5E15B-0FF6-4BDB-9D95-635128E4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其實在 </a:t>
            </a:r>
            <a:r>
              <a:rPr lang="en-US" altLang="zh-TW" dirty="0"/>
              <a:t>Python </a:t>
            </a:r>
            <a:r>
              <a:rPr lang="zh-TW" altLang="en-US" dirty="0"/>
              <a:t>的主程式與每個函式，都有各自的名稱空間</a:t>
            </a:r>
            <a:r>
              <a:rPr lang="en-US" altLang="zh-TW" dirty="0"/>
              <a:t>(namespace)</a:t>
            </a:r>
            <a:r>
              <a:rPr lang="zh-TW" altLang="en-US" dirty="0"/>
              <a:t>，其中主程式定義「全域」而各別函式定義「區域」的名稱空間。</a:t>
            </a:r>
            <a:endParaRPr lang="en-US" altLang="zh-TW" dirty="0"/>
          </a:p>
          <a:p>
            <a:pPr lvl="1"/>
            <a:r>
              <a:rPr lang="zh-TW" altLang="en-US" dirty="0"/>
              <a:t>每個名稱空間內的變數名稱都是唯一，而不同名稱空間內的變數名稱則可以相同。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136710-2C84-415A-85C0-5FD44C57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134</a:t>
            </a:fld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1839D067-8CD0-4135-AF28-689686718425}"/>
              </a:ext>
            </a:extLst>
          </p:cNvPr>
          <p:cNvSpPr/>
          <p:nvPr/>
        </p:nvSpPr>
        <p:spPr>
          <a:xfrm>
            <a:off x="6339709" y="4681374"/>
            <a:ext cx="5528441" cy="1576551"/>
          </a:xfrm>
          <a:prstGeom prst="wedgeRoundRectCallout">
            <a:avLst>
              <a:gd name="adj1" fmla="val -54864"/>
              <a:gd name="adj2" fmla="val -2883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Python </a:t>
            </a:r>
            <a:r>
              <a:rPr lang="zh-TW" altLang="en-US" sz="2400" dirty="0"/>
              <a:t>提供三個名稱空間，當使用變數時，會</a:t>
            </a:r>
            <a:r>
              <a:rPr lang="zh-TW" altLang="en-US" sz="2400" dirty="0">
                <a:solidFill>
                  <a:srgbClr val="FFFF00"/>
                </a:solidFill>
              </a:rPr>
              <a:t>由最內層</a:t>
            </a:r>
            <a:r>
              <a:rPr lang="zh-TW" altLang="en-US" sz="2400" dirty="0"/>
              <a:t>（區域名稱空間）</a:t>
            </a:r>
            <a:r>
              <a:rPr lang="zh-TW" altLang="en-US" sz="2400" dirty="0">
                <a:solidFill>
                  <a:srgbClr val="FFFF00"/>
                </a:solidFill>
              </a:rPr>
              <a:t>逐步往外層搜尋</a:t>
            </a:r>
            <a:r>
              <a:rPr lang="zh-TW" altLang="en-US" sz="2400" dirty="0"/>
              <a:t>，直到找到對應的名稱為止，若找不到就會引發錯誤。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74F76B-8859-4DF5-B35A-35A91840EE6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24768"/>
            <a:ext cx="5169127" cy="1839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169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E8C5D-C6EC-4095-A319-52EF542B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關鍵字 </a:t>
            </a:r>
            <a:r>
              <a:rPr lang="en-US" altLang="zh-TW" dirty="0">
                <a:latin typeface="Consolas" panose="020B0609020204030204" pitchFamily="49" charset="0"/>
              </a:rPr>
              <a:t>global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CE26CB-7A78-4B77-AD55-4617AA320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如果要在函式內變更全域變數的值，可以在函式內使用關鍵字</a:t>
            </a:r>
            <a:r>
              <a:rPr lang="en-US" altLang="zh-TW" dirty="0">
                <a:latin typeface="Consolas" panose="020B0609020204030204" pitchFamily="49" charset="0"/>
              </a:rPr>
              <a:t>global</a:t>
            </a:r>
            <a:r>
              <a:rPr lang="en-US" altLang="zh-TW" dirty="0"/>
              <a:t> </a:t>
            </a:r>
            <a:r>
              <a:rPr lang="zh-TW" altLang="en-US" dirty="0"/>
              <a:t>宣告該變數。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587B5A-92FF-4A35-9E44-2F83311B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CCDD85A-FAF7-450C-BB91-0D1B738C6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25" y="3016019"/>
            <a:ext cx="3758209" cy="36534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4D2D294-F386-44A4-8E24-7563B726B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577" y="5636604"/>
            <a:ext cx="1616573" cy="10338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5DD07E0-07D2-4335-8921-C0A0725B1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25" y="3321983"/>
            <a:ext cx="3773842" cy="333122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39F9E75-AE57-47BE-A62C-3CCCD7AC5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61" y="5653853"/>
            <a:ext cx="1499037" cy="9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7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插播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給定平面上兩點 </a:t>
            </a:r>
            <a:r>
              <a:rPr lang="en-US" altLang="zh-TW" dirty="0"/>
              <a:t>p0, p1</a:t>
            </a:r>
            <a:r>
              <a:rPr lang="zh-TW" altLang="en-US" dirty="0"/>
              <a:t>，如何計算通過兩點的直線 </a:t>
            </a:r>
            <a:r>
              <a:rPr lang="en-US" altLang="zh-TW" dirty="0"/>
              <a:t>L</a:t>
            </a:r>
            <a:r>
              <a:rPr lang="zh-TW" altLang="en-US" dirty="0"/>
              <a:t>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136</a:t>
            </a:fld>
            <a:endParaRPr lang="zh-TW" altLang="en-US" dirty="0"/>
          </a:p>
        </p:txBody>
      </p:sp>
      <p:cxnSp>
        <p:nvCxnSpPr>
          <p:cNvPr id="18" name="直線接點 17"/>
          <p:cNvCxnSpPr/>
          <p:nvPr/>
        </p:nvCxnSpPr>
        <p:spPr>
          <a:xfrm flipV="1">
            <a:off x="3967946" y="3233490"/>
            <a:ext cx="2981494" cy="260096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/>
          <p:cNvGrpSpPr/>
          <p:nvPr/>
        </p:nvGrpSpPr>
        <p:grpSpPr>
          <a:xfrm>
            <a:off x="3202310" y="3101410"/>
            <a:ext cx="4530428" cy="3081930"/>
            <a:chOff x="3202310" y="3101410"/>
            <a:chExt cx="4530428" cy="3081930"/>
          </a:xfrm>
        </p:grpSpPr>
        <p:cxnSp>
          <p:nvCxnSpPr>
            <p:cNvPr id="6" name="直線單箭頭接點 5"/>
            <p:cNvCxnSpPr/>
            <p:nvPr/>
          </p:nvCxnSpPr>
          <p:spPr>
            <a:xfrm>
              <a:off x="3202310" y="5685499"/>
              <a:ext cx="453042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flipH="1" flipV="1">
              <a:off x="4572000" y="3101410"/>
              <a:ext cx="11092" cy="308193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5139981" y="4842077"/>
              <a:ext cx="794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0070C0"/>
                  </a:solidFill>
                </a:rPr>
                <a:t>(1, 5)</a:t>
              </a:r>
              <a:endParaRPr lang="zh-TW" altLang="en-US" sz="2400" dirty="0">
                <a:solidFill>
                  <a:srgbClr val="0070C0"/>
                </a:solidFill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380480" y="3700957"/>
              <a:ext cx="794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0070C0"/>
                  </a:solidFill>
                </a:rPr>
                <a:t>(3, 9)</a:t>
              </a:r>
              <a:endParaRPr lang="zh-TW" altLang="en-US" sz="2400" dirty="0">
                <a:solidFill>
                  <a:srgbClr val="0070C0"/>
                </a:solidFill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4915948" y="4815280"/>
              <a:ext cx="213904" cy="21390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6050963" y="3824837"/>
              <a:ext cx="213904" cy="21390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7000605" y="3063381"/>
                <a:ext cx="26325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>
                    <a:solidFill>
                      <a:schemeClr val="accent4"/>
                    </a:solidFill>
                  </a:rPr>
                  <a:t>L: </a:t>
                </a:r>
                <a14:m>
                  <m:oMath xmlns:m="http://schemas.openxmlformats.org/officeDocument/2006/math">
                    <m:r>
                      <a:rPr lang="en-US" altLang="zh-TW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320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2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TW" altLang="en-US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605" y="3063381"/>
                <a:ext cx="2632574" cy="584775"/>
              </a:xfrm>
              <a:prstGeom prst="rect">
                <a:avLst/>
              </a:prstGeom>
              <a:blipFill>
                <a:blip r:embed="rId2"/>
                <a:stretch>
                  <a:fillRect l="-5787" t="-13684" b="-3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圖說文字 24"/>
              <p:cNvSpPr/>
              <p:nvPr/>
            </p:nvSpPr>
            <p:spPr>
              <a:xfrm>
                <a:off x="8500914" y="3921532"/>
                <a:ext cx="1833880" cy="919015"/>
              </a:xfrm>
              <a:prstGeom prst="wedgeRoundRectCallout">
                <a:avLst>
                  <a:gd name="adj1" fmla="val -45076"/>
                  <a:gd name="adj2" fmla="val -76104"/>
                  <a:gd name="adj3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8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sz="2800" b="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8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圓角矩形圖說文字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914" y="3921532"/>
                <a:ext cx="1833880" cy="919015"/>
              </a:xfrm>
              <a:prstGeom prst="wedgeRoundRectCallout">
                <a:avLst>
                  <a:gd name="adj1" fmla="val -45076"/>
                  <a:gd name="adj2" fmla="val -76104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45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插播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給定平面上三點 </a:t>
            </a:r>
            <a:r>
              <a:rPr lang="en-US" altLang="zh-TW" dirty="0"/>
              <a:t>p0, p1, q</a:t>
            </a:r>
            <a:r>
              <a:rPr lang="zh-TW" altLang="en-US" dirty="0"/>
              <a:t>，直線 </a:t>
            </a:r>
            <a:r>
              <a:rPr lang="en-US" altLang="zh-TW" dirty="0"/>
              <a:t>L </a:t>
            </a:r>
            <a:r>
              <a:rPr lang="zh-TW" altLang="en-US" dirty="0"/>
              <a:t>通過 </a:t>
            </a:r>
            <a:r>
              <a:rPr lang="en-US" altLang="zh-TW" dirty="0"/>
              <a:t>p0, p1 </a:t>
            </a:r>
            <a:r>
              <a:rPr lang="zh-TW" altLang="en-US" dirty="0"/>
              <a:t>兩點，如何知道 </a:t>
            </a:r>
            <a:r>
              <a:rPr lang="en-US" altLang="zh-TW" dirty="0"/>
              <a:t>q</a:t>
            </a:r>
            <a:r>
              <a:rPr lang="zh-TW" altLang="en-US" dirty="0"/>
              <a:t> 點位於 </a:t>
            </a:r>
            <a:r>
              <a:rPr lang="en-US" altLang="zh-TW" dirty="0"/>
              <a:t>L</a:t>
            </a:r>
            <a:r>
              <a:rPr lang="zh-TW" altLang="en-US" dirty="0"/>
              <a:t> 的上面、下面或線上？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137</a:t>
            </a:fld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3202310" y="3063381"/>
            <a:ext cx="6430869" cy="3119959"/>
            <a:chOff x="3202310" y="3063381"/>
            <a:chExt cx="6430869" cy="3119959"/>
          </a:xfrm>
        </p:grpSpPr>
        <p:cxnSp>
          <p:nvCxnSpPr>
            <p:cNvPr id="6" name="直線單箭頭接點 5"/>
            <p:cNvCxnSpPr/>
            <p:nvPr/>
          </p:nvCxnSpPr>
          <p:spPr>
            <a:xfrm>
              <a:off x="3202310" y="5685499"/>
              <a:ext cx="453042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flipH="1" flipV="1">
              <a:off x="4572000" y="3101410"/>
              <a:ext cx="11092" cy="308193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5139981" y="4842077"/>
              <a:ext cx="794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0070C0"/>
                  </a:solidFill>
                </a:rPr>
                <a:t>(1, 5)</a:t>
              </a:r>
              <a:endParaRPr lang="zh-TW" altLang="en-US" sz="2400" dirty="0">
                <a:solidFill>
                  <a:srgbClr val="0070C0"/>
                </a:solidFill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380480" y="3700957"/>
              <a:ext cx="794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0070C0"/>
                  </a:solidFill>
                </a:rPr>
                <a:t>(3, 9)</a:t>
              </a:r>
              <a:endParaRPr lang="zh-TW" altLang="en-US" sz="2400" dirty="0">
                <a:solidFill>
                  <a:srgbClr val="0070C0"/>
                </a:solidFill>
              </a:endParaRPr>
            </a:p>
          </p:txBody>
        </p:sp>
        <p:cxnSp>
          <p:nvCxnSpPr>
            <p:cNvPr id="18" name="直線接點 17"/>
            <p:cNvCxnSpPr/>
            <p:nvPr/>
          </p:nvCxnSpPr>
          <p:spPr>
            <a:xfrm flipV="1">
              <a:off x="3967946" y="3233490"/>
              <a:ext cx="2981494" cy="260096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/>
            <p:cNvSpPr/>
            <p:nvPr/>
          </p:nvSpPr>
          <p:spPr>
            <a:xfrm>
              <a:off x="4915948" y="4815280"/>
              <a:ext cx="213904" cy="21390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6050963" y="3824837"/>
              <a:ext cx="213904" cy="21390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7000605" y="3063381"/>
                  <a:ext cx="263257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3200" dirty="0">
                      <a:solidFill>
                        <a:schemeClr val="accent4"/>
                      </a:solidFill>
                    </a:rPr>
                    <a:t>L: </a:t>
                  </a:r>
                  <a14:m>
                    <m:oMath xmlns:m="http://schemas.openxmlformats.org/officeDocument/2006/math">
                      <m:r>
                        <a:rPr lang="en-US" altLang="zh-TW" sz="32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32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TW" sz="32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20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</m:oMath>
                  </a14:m>
                  <a:endParaRPr lang="zh-TW" altLang="en-US" sz="32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605" y="3063381"/>
                  <a:ext cx="263257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5787" t="-13684" b="-3473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五角星形 4"/>
          <p:cNvSpPr/>
          <p:nvPr/>
        </p:nvSpPr>
        <p:spPr>
          <a:xfrm>
            <a:off x="6493094" y="5189801"/>
            <a:ext cx="270157" cy="293615"/>
          </a:xfrm>
          <a:prstGeom prst="star5">
            <a:avLst/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6835459" y="5113074"/>
            <a:ext cx="1008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70C0"/>
                </a:solidFill>
              </a:rPr>
              <a:t>(4, 2)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8247661" y="3830512"/>
            <a:ext cx="3474888" cy="2565124"/>
            <a:chOff x="8053245" y="3750273"/>
            <a:chExt cx="3474888" cy="2565124"/>
          </a:xfrm>
        </p:grpSpPr>
        <p:sp>
          <p:nvSpPr>
            <p:cNvPr id="10" name="圓角矩形圖說文字 9"/>
            <p:cNvSpPr/>
            <p:nvPr/>
          </p:nvSpPr>
          <p:spPr>
            <a:xfrm>
              <a:off x="8053245" y="3750273"/>
              <a:ext cx="3345091" cy="2507652"/>
            </a:xfrm>
            <a:prstGeom prst="wedgeRoundRectCallout">
              <a:avLst>
                <a:gd name="adj1" fmla="val -69125"/>
                <a:gd name="adj2" fmla="val -3541"/>
                <a:gd name="adj3" fmla="val 16667"/>
              </a:avLst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內容版面配置區 2"/>
                <p:cNvSpPr txBox="1">
                  <a:spLocks/>
                </p:cNvSpPr>
                <p:nvPr/>
              </p:nvSpPr>
              <p:spPr>
                <a:xfrm>
                  <a:off x="8248690" y="3943814"/>
                  <a:ext cx="3279443" cy="2371583"/>
                </a:xfrm>
                <a:prstGeom prst="rect">
                  <a:avLst/>
                </a:prstGeom>
                <a:ln w="22225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1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微軟正黑體" panose="020B0604030504040204" pitchFamily="34" charset="-120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600" kern="1200">
                      <a:solidFill>
                        <a:srgbClr val="0070C0"/>
                      </a:solidFill>
                      <a:latin typeface="+mn-lt"/>
                      <a:ea typeface="微軟正黑體" panose="020B0604030504040204" pitchFamily="34" charset="-120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微軟正黑體" panose="020B0604030504040204" pitchFamily="34" charset="-120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0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0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TW" alt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=4 </m:t>
                      </m:r>
                    </m:oMath>
                  </a14:m>
                  <a:r>
                    <a:rPr lang="zh-TW" altLang="en-US" dirty="0"/>
                    <a:t>代入 </a:t>
                  </a:r>
                  <a:r>
                    <a:rPr lang="en-US" altLang="zh-TW" dirty="0"/>
                    <a:t>L </a:t>
                  </a:r>
                </a:p>
                <a:p>
                  <a:pPr lvl="1"/>
                  <a14:m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4+3=11</m:t>
                      </m:r>
                    </m:oMath>
                  </a14:m>
                  <a:endParaRPr lang="en-US" altLang="zh-TW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TW" dirty="0"/>
                </a:p>
                <a:p>
                  <a:pPr lvl="1"/>
                  <a:r>
                    <a:rPr lang="zh-TW" altLang="en-US" dirty="0"/>
                    <a:t>位於 </a:t>
                  </a:r>
                  <a:r>
                    <a:rPr lang="en-US" altLang="zh-TW" dirty="0"/>
                    <a:t>L</a:t>
                  </a:r>
                  <a:r>
                    <a:rPr lang="zh-TW" altLang="en-US" dirty="0"/>
                    <a:t> 下面</a:t>
                  </a:r>
                </a:p>
              </p:txBody>
            </p:sp>
          </mc:Choice>
          <mc:Fallback xmlns="">
            <p:sp>
              <p:nvSpPr>
                <p:cNvPr id="19" name="內容版面配置區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8690" y="3943814"/>
                  <a:ext cx="3279443" cy="2371583"/>
                </a:xfrm>
                <a:prstGeom prst="rect">
                  <a:avLst/>
                </a:prstGeom>
                <a:blipFill>
                  <a:blip r:embed="rId3"/>
                  <a:stretch>
                    <a:fillRect t="-2314"/>
                  </a:stretch>
                </a:blipFill>
                <a:ln w="22225"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392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撰寫程式讓使用者輸入三個點座標 </a:t>
            </a:r>
            <a:r>
              <a:rPr lang="en-US" altLang="zh-TW" dirty="0"/>
              <a:t>p0, p1, q</a:t>
            </a:r>
            <a:r>
              <a:rPr lang="zh-TW" altLang="en-US" dirty="0"/>
              <a:t>，判斷 </a:t>
            </a:r>
            <a:r>
              <a:rPr lang="en-US" altLang="zh-TW" dirty="0"/>
              <a:t>q</a:t>
            </a:r>
            <a:r>
              <a:rPr lang="zh-TW" altLang="en-US" dirty="0"/>
              <a:t> 點位於 </a:t>
            </a:r>
            <a:r>
              <a:rPr lang="en-US" altLang="zh-TW" dirty="0"/>
              <a:t>p0 </a:t>
            </a:r>
            <a:r>
              <a:rPr lang="zh-TW" altLang="en-US" dirty="0"/>
              <a:t>與 </a:t>
            </a:r>
            <a:r>
              <a:rPr lang="en-US" altLang="zh-TW" dirty="0"/>
              <a:t>p1</a:t>
            </a:r>
            <a:r>
              <a:rPr lang="zh-TW" altLang="en-US" dirty="0"/>
              <a:t> 所成直線 </a:t>
            </a:r>
            <a:r>
              <a:rPr lang="en-US" altLang="zh-TW" dirty="0"/>
              <a:t>L </a:t>
            </a:r>
            <a:r>
              <a:rPr lang="zh-TW" altLang="en-US" dirty="0"/>
              <a:t>的上面、下面或線上。</a:t>
            </a:r>
            <a:endParaRPr lang="en-US" altLang="zh-TW" dirty="0"/>
          </a:p>
          <a:p>
            <a:r>
              <a:rPr lang="zh-TW" altLang="en-US" dirty="0"/>
              <a:t>撰寫下列函式：</a:t>
            </a:r>
            <a:endParaRPr lang="en-US" altLang="zh-TW" dirty="0"/>
          </a:p>
          <a:p>
            <a:pPr lvl="1"/>
            <a:r>
              <a:rPr lang="en-US" altLang="zh-TW" dirty="0" err="1"/>
              <a:t>lineEquation</a:t>
            </a:r>
            <a:r>
              <a:rPr lang="en-US" altLang="zh-TW" dirty="0"/>
              <a:t>(x0, y0, x1, y1)</a:t>
            </a:r>
          </a:p>
          <a:p>
            <a:pPr lvl="2"/>
            <a:r>
              <a:rPr lang="en-US" altLang="zh-TW" dirty="0"/>
              <a:t>p0:(x0, y0), p1:(x1, y1)</a:t>
            </a:r>
            <a:r>
              <a:rPr lang="zh-TW" altLang="en-US" dirty="0"/>
              <a:t> 為平面上的點座標</a:t>
            </a:r>
            <a:endParaRPr lang="en-US" altLang="zh-TW" dirty="0"/>
          </a:p>
          <a:p>
            <a:pPr lvl="5"/>
            <a:endParaRPr lang="en-US" altLang="zh-TW" dirty="0"/>
          </a:p>
          <a:p>
            <a:pPr lvl="1"/>
            <a:r>
              <a:rPr lang="zh-TW" altLang="en-US" dirty="0"/>
              <a:t>回傳一個係數串列 </a:t>
            </a:r>
            <a:r>
              <a:rPr lang="en-US" altLang="zh-TW" dirty="0" err="1"/>
              <a:t>coef_lst</a:t>
            </a:r>
            <a:r>
              <a:rPr lang="zh-TW" altLang="en-US" dirty="0"/>
              <a:t> 代表 </a:t>
            </a:r>
            <a:r>
              <a:rPr lang="en-US" altLang="zh-TW" dirty="0"/>
              <a:t>L </a:t>
            </a:r>
            <a:r>
              <a:rPr lang="zh-TW" altLang="en-US" dirty="0"/>
              <a:t>的係數，其中</a:t>
            </a:r>
            <a:endParaRPr lang="en-US" altLang="zh-TW" dirty="0"/>
          </a:p>
          <a:p>
            <a:pPr lvl="2"/>
            <a:r>
              <a:rPr lang="en-US" altLang="zh-TW" sz="2600" dirty="0"/>
              <a:t>y = </a:t>
            </a:r>
            <a:r>
              <a:rPr lang="en-US" altLang="zh-TW" sz="2600" dirty="0" err="1"/>
              <a:t>coef_lst</a:t>
            </a:r>
            <a:r>
              <a:rPr lang="en-US" altLang="zh-TW" sz="2600" dirty="0"/>
              <a:t>[1] * x + </a:t>
            </a:r>
            <a:r>
              <a:rPr lang="en-US" altLang="zh-TW" sz="2600" dirty="0" err="1"/>
              <a:t>coef_lst</a:t>
            </a:r>
            <a:r>
              <a:rPr lang="en-US" altLang="zh-TW" sz="2600" dirty="0"/>
              <a:t>[0] </a:t>
            </a:r>
          </a:p>
          <a:p>
            <a:pPr lvl="2"/>
            <a:r>
              <a:rPr lang="en-US" altLang="zh-TW" sz="2600" dirty="0"/>
              <a:t>y =              a*x    +     b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21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撰寫下列函式：</a:t>
            </a:r>
            <a:endParaRPr lang="en-US" altLang="zh-TW" dirty="0"/>
          </a:p>
          <a:p>
            <a:pPr lvl="1"/>
            <a:r>
              <a:rPr lang="en-US" altLang="zh-TW" dirty="0"/>
              <a:t>position(</a:t>
            </a:r>
            <a:r>
              <a:rPr lang="en-US" altLang="zh-TW" dirty="0" err="1"/>
              <a:t>lst</a:t>
            </a:r>
            <a:r>
              <a:rPr lang="en-US" altLang="zh-TW" dirty="0"/>
              <a:t>, </a:t>
            </a:r>
            <a:r>
              <a:rPr lang="en-US" altLang="zh-TW" dirty="0" err="1"/>
              <a:t>q_x</a:t>
            </a:r>
            <a:r>
              <a:rPr lang="en-US" altLang="zh-TW" dirty="0"/>
              <a:t>, </a:t>
            </a:r>
            <a:r>
              <a:rPr lang="en-US" altLang="zh-TW" dirty="0" err="1"/>
              <a:t>q_y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 err="1"/>
              <a:t>lst</a:t>
            </a:r>
            <a:r>
              <a:rPr lang="zh-TW" altLang="en-US" dirty="0"/>
              <a:t>：直線方程式 </a:t>
            </a:r>
            <a:r>
              <a:rPr lang="en-US" altLang="zh-TW" dirty="0"/>
              <a:t>L</a:t>
            </a:r>
            <a:r>
              <a:rPr lang="zh-TW" altLang="en-US" dirty="0"/>
              <a:t> 的係數串列</a:t>
            </a:r>
            <a:endParaRPr lang="en-US" altLang="zh-TW" dirty="0"/>
          </a:p>
          <a:p>
            <a:pPr lvl="2"/>
            <a:r>
              <a:rPr lang="en-US" altLang="zh-TW" dirty="0"/>
              <a:t>q:(q_x, </a:t>
            </a:r>
            <a:r>
              <a:rPr lang="en-US" altLang="zh-TW" dirty="0" err="1"/>
              <a:t>q_y</a:t>
            </a:r>
            <a:r>
              <a:rPr lang="en-US" altLang="zh-TW" dirty="0"/>
              <a:t>)</a:t>
            </a:r>
            <a:r>
              <a:rPr lang="zh-TW" altLang="en-US" dirty="0"/>
              <a:t> 為平面上的點座標</a:t>
            </a:r>
            <a:endParaRPr lang="en-US" altLang="zh-TW" dirty="0"/>
          </a:p>
          <a:p>
            <a:pPr lvl="5"/>
            <a:endParaRPr lang="en-US" altLang="zh-TW" dirty="0"/>
          </a:p>
          <a:p>
            <a:pPr lvl="1"/>
            <a:r>
              <a:rPr lang="zh-TW" altLang="en-US" dirty="0"/>
              <a:t>判斷點 </a:t>
            </a:r>
            <a:r>
              <a:rPr lang="en-US" altLang="zh-TW" dirty="0"/>
              <a:t>q</a:t>
            </a:r>
            <a:r>
              <a:rPr lang="zh-TW" altLang="en-US" dirty="0"/>
              <a:t> 與直線 </a:t>
            </a:r>
            <a:r>
              <a:rPr lang="en-US" altLang="zh-TW" dirty="0"/>
              <a:t>L</a:t>
            </a:r>
            <a:r>
              <a:rPr lang="zh-TW" altLang="en-US" dirty="0"/>
              <a:t> 的相對位置，並輸出</a:t>
            </a:r>
            <a:endParaRPr lang="en-US" altLang="zh-TW" dirty="0"/>
          </a:p>
          <a:p>
            <a:pPr lvl="2"/>
            <a:r>
              <a:rPr lang="en-US" altLang="zh-TW" sz="2600" dirty="0"/>
              <a:t>“</a:t>
            </a:r>
            <a:r>
              <a:rPr lang="zh-TW" altLang="en-US" sz="2600" dirty="0"/>
              <a:t>點 </a:t>
            </a:r>
            <a:r>
              <a:rPr lang="en-US" altLang="zh-TW" sz="2600" dirty="0"/>
              <a:t>q(</a:t>
            </a:r>
            <a:r>
              <a:rPr lang="en-US" altLang="zh-TW" sz="2600" dirty="0" err="1"/>
              <a:t>q_x</a:t>
            </a:r>
            <a:r>
              <a:rPr lang="en-US" altLang="zh-TW" sz="2600" dirty="0"/>
              <a:t>, </a:t>
            </a:r>
            <a:r>
              <a:rPr lang="en-US" altLang="zh-TW" sz="2600" dirty="0" err="1"/>
              <a:t>q_y</a:t>
            </a:r>
            <a:r>
              <a:rPr lang="en-US" altLang="zh-TW" sz="2600" dirty="0"/>
              <a:t>) </a:t>
            </a:r>
            <a:r>
              <a:rPr lang="zh-TW" altLang="en-US" sz="2600" dirty="0"/>
              <a:t>在直線 </a:t>
            </a:r>
            <a:r>
              <a:rPr lang="en-US" altLang="zh-TW" sz="2600" dirty="0"/>
              <a:t>L:y=lst[1]x+lst[0]</a:t>
            </a:r>
            <a:r>
              <a:rPr lang="zh-TW" altLang="en-US" sz="2600" dirty="0"/>
              <a:t> 的上面</a:t>
            </a:r>
            <a:r>
              <a:rPr lang="en-US" altLang="zh-TW" sz="2600" dirty="0"/>
              <a:t>”</a:t>
            </a:r>
          </a:p>
          <a:p>
            <a:pPr lvl="2"/>
            <a:r>
              <a:rPr lang="en-US" altLang="zh-TW" sz="2600" dirty="0"/>
              <a:t>“</a:t>
            </a:r>
            <a:r>
              <a:rPr lang="zh-TW" altLang="en-US" sz="2600" dirty="0"/>
              <a:t>點 </a:t>
            </a:r>
            <a:r>
              <a:rPr lang="en-US" altLang="zh-TW" sz="2600" dirty="0"/>
              <a:t>q(</a:t>
            </a:r>
            <a:r>
              <a:rPr lang="en-US" altLang="zh-TW" sz="2600" dirty="0" err="1"/>
              <a:t>q_x</a:t>
            </a:r>
            <a:r>
              <a:rPr lang="en-US" altLang="zh-TW" sz="2600" dirty="0"/>
              <a:t>, </a:t>
            </a:r>
            <a:r>
              <a:rPr lang="en-US" altLang="zh-TW" sz="2600" dirty="0" err="1"/>
              <a:t>q_y</a:t>
            </a:r>
            <a:r>
              <a:rPr lang="en-US" altLang="zh-TW" sz="2600" dirty="0"/>
              <a:t>) </a:t>
            </a:r>
            <a:r>
              <a:rPr lang="zh-TW" altLang="en-US" sz="2600" dirty="0"/>
              <a:t>在直線 </a:t>
            </a:r>
            <a:r>
              <a:rPr lang="en-US" altLang="zh-TW" sz="2600" dirty="0"/>
              <a:t>L:y=lst[1]x+lst[0]</a:t>
            </a:r>
            <a:r>
              <a:rPr lang="zh-TW" altLang="en-US" sz="2600" dirty="0"/>
              <a:t> 的下面</a:t>
            </a:r>
            <a:r>
              <a:rPr lang="en-US" altLang="zh-TW" sz="2600" dirty="0"/>
              <a:t>”</a:t>
            </a:r>
          </a:p>
          <a:p>
            <a:pPr lvl="2"/>
            <a:r>
              <a:rPr lang="en-US" altLang="zh-TW" sz="2600" dirty="0"/>
              <a:t>“</a:t>
            </a:r>
            <a:r>
              <a:rPr lang="zh-TW" altLang="en-US" sz="2600" dirty="0"/>
              <a:t>點 </a:t>
            </a:r>
            <a:r>
              <a:rPr lang="en-US" altLang="zh-TW" sz="2600" dirty="0"/>
              <a:t>q(</a:t>
            </a:r>
            <a:r>
              <a:rPr lang="en-US" altLang="zh-TW" sz="2600" dirty="0" err="1"/>
              <a:t>q_x</a:t>
            </a:r>
            <a:r>
              <a:rPr lang="en-US" altLang="zh-TW" sz="2600" dirty="0"/>
              <a:t>, </a:t>
            </a:r>
            <a:r>
              <a:rPr lang="en-US" altLang="zh-TW" sz="2600" dirty="0" err="1"/>
              <a:t>q_y</a:t>
            </a:r>
            <a:r>
              <a:rPr lang="en-US" altLang="zh-TW" sz="2600" dirty="0"/>
              <a:t>) </a:t>
            </a:r>
            <a:r>
              <a:rPr lang="zh-TW" altLang="en-US" sz="2600" dirty="0"/>
              <a:t>在直線 </a:t>
            </a:r>
            <a:r>
              <a:rPr lang="en-US" altLang="zh-TW" sz="2600" dirty="0"/>
              <a:t>L:y=lst[1]x+lst[0]</a:t>
            </a:r>
            <a:r>
              <a:rPr lang="zh-TW" altLang="en-US" sz="2600" dirty="0"/>
              <a:t> 的線上</a:t>
            </a:r>
            <a:r>
              <a:rPr lang="en-US" altLang="zh-TW" sz="2600" dirty="0"/>
              <a:t>”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139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855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輸出結果參考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140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431" y="1133475"/>
            <a:ext cx="6107019" cy="534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6794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Consolas" panose="020B0609020204030204" pitchFamily="49" charset="0"/>
              </a:rPr>
              <a:t>陣列與串列</a:t>
            </a:r>
            <a:endParaRPr lang="en-US" altLang="zh-TW" dirty="0"/>
          </a:p>
          <a:p>
            <a:r>
              <a:rPr lang="zh-TW" altLang="en-US" dirty="0"/>
              <a:t>函式</a:t>
            </a:r>
            <a:endParaRPr lang="en-US" altLang="zh-TW" dirty="0"/>
          </a:p>
          <a:p>
            <a:pPr lvl="1"/>
            <a:r>
              <a:rPr lang="zh-TW" altLang="en-US" dirty="0"/>
              <a:t>自訂函式</a:t>
            </a:r>
          </a:p>
          <a:p>
            <a:pPr lvl="1"/>
            <a:r>
              <a:rPr lang="zh-TW" altLang="en-US" dirty="0"/>
              <a:t>傳遞參數與回傳值</a:t>
            </a:r>
          </a:p>
          <a:p>
            <a:pPr lvl="1"/>
            <a:r>
              <a:rPr lang="zh-TW" altLang="en-US" dirty="0"/>
              <a:t>變數的有效範圍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chemeClr val="accent2"/>
                </a:solidFill>
              </a:rPr>
              <a:t>常見的內建函式</a:t>
            </a:r>
          </a:p>
          <a:p>
            <a:pPr lvl="1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853355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6E8146-8862-403F-A800-CC1C15CD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內建函式</a:t>
            </a:r>
            <a:r>
              <a:rPr lang="en-US" altLang="zh-TW" dirty="0"/>
              <a:t>(Built-in Function)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A6D223-EFB8-4E52-AC9F-09097A99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將經常需要用到或特定功能的程式寫成函式，需要時只要呼叫來執行即可，既方便又容易維護。</a:t>
            </a:r>
            <a:endParaRPr lang="en-US" altLang="zh-TW" dirty="0"/>
          </a:p>
          <a:p>
            <a:pPr lvl="1"/>
            <a:r>
              <a:rPr lang="zh-TW" altLang="en-US" dirty="0"/>
              <a:t>但如果每一項功能都要由開發者自行撰寫，不僅工程浩大且艱鉅，需要注意的大大小小細節也容易讓一般人望而卻步。</a:t>
            </a:r>
            <a:endParaRPr lang="en-US" altLang="zh-TW" dirty="0"/>
          </a:p>
          <a:p>
            <a:pPr lvl="2"/>
            <a:endParaRPr lang="en-US" altLang="zh-TW" dirty="0"/>
          </a:p>
          <a:p>
            <a:r>
              <a:rPr lang="en-US" altLang="zh-TW" dirty="0"/>
              <a:t>Python </a:t>
            </a:r>
            <a:r>
              <a:rPr lang="zh-TW" altLang="en-US" dirty="0"/>
              <a:t>擁有許多能直接使用的內建函式，如同軍火庫內擺滿各式各樣的槍械般，能依個人喜好與實務條件來使用，輕易設計出符合需求的應用程式。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F4643E-5B5D-42E7-9AEC-A469A5FA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965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5F4F9-E34D-492F-ACCF-61AD9CAE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內建函式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430B9-720F-44D9-99F0-1FF5C800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143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767A0D-3F0F-4241-B0AD-12B393F9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13" y="1906897"/>
            <a:ext cx="8424174" cy="42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4350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5F4F9-E34D-492F-ACCF-61AD9CAE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內建函式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430B9-720F-44D9-99F0-1FF5C800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767A0D-3F0F-4241-B0AD-12B393F9A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582"/>
          <a:stretch/>
        </p:blipFill>
        <p:spPr>
          <a:xfrm>
            <a:off x="1883913" y="1906898"/>
            <a:ext cx="8424174" cy="48917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6338E60-FA53-4CD1-94C3-77388877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913" y="2387601"/>
            <a:ext cx="8424174" cy="352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9867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CD6D4-ACB9-4507-803F-FFA0D2FB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pow()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43768-3AAC-4AB6-99E0-387154E9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49E403-F3C0-4CD9-9E95-40EA27FCA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37" y="2246848"/>
            <a:ext cx="6348897" cy="236430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A08E257-588F-4F73-8F8D-3AEE4550D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408" y="2429143"/>
            <a:ext cx="3584103" cy="1999713"/>
          </a:xfrm>
          <a:prstGeom prst="rect">
            <a:avLst/>
          </a:prstGeom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32FB37EB-E379-4367-98CE-F1BB36E8705C}"/>
              </a:ext>
            </a:extLst>
          </p:cNvPr>
          <p:cNvSpPr/>
          <p:nvPr/>
        </p:nvSpPr>
        <p:spPr>
          <a:xfrm>
            <a:off x="5108028" y="4814394"/>
            <a:ext cx="6112422" cy="1376856"/>
          </a:xfrm>
          <a:prstGeom prst="wedgeRoundRectCallout">
            <a:avLst>
              <a:gd name="adj1" fmla="val -57458"/>
              <a:gd name="adj2" fmla="val -52767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pow()</a:t>
            </a:r>
            <a:r>
              <a:rPr lang="zh-TW" altLang="en-US" sz="2400" dirty="0"/>
              <a:t> 的作用可透過次方與取餘數運算子的結合來達成，但 </a:t>
            </a:r>
            <a:r>
              <a:rPr lang="en-US" altLang="zh-TW" sz="2400" dirty="0">
                <a:latin typeface="Consolas" panose="020B0609020204030204" pitchFamily="49" charset="0"/>
              </a:rPr>
              <a:t>pow()</a:t>
            </a:r>
            <a:r>
              <a:rPr lang="zh-TW" altLang="en-US" sz="2400" dirty="0"/>
              <a:t> 有進行優化過，對於較大數字的運算能節省執行時間。</a:t>
            </a:r>
          </a:p>
        </p:txBody>
      </p:sp>
    </p:spTree>
    <p:extLst>
      <p:ext uri="{BB962C8B-B14F-4D97-AF65-F5344CB8AC3E}">
        <p14:creationId xmlns:p14="http://schemas.microsoft.com/office/powerpoint/2010/main" val="284572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A4FCB-0464-4F2F-A341-5776B778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round()</a:t>
            </a:r>
            <a:r>
              <a:rPr lang="en-US" altLang="zh-TW" dirty="0"/>
              <a:t> 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48CFB7-E5F5-4D5C-AC2B-9E6BA3D59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round()</a:t>
            </a:r>
            <a:r>
              <a:rPr lang="en-US" altLang="zh-TW" dirty="0"/>
              <a:t> </a:t>
            </a:r>
            <a:r>
              <a:rPr lang="zh-TW" altLang="en-US" dirty="0"/>
              <a:t>也相當直覺，將給定數值四捨五入到指定位數，但仍要小心浮點數精確度問題，時不時有出人意表的錯誤。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D45713-408E-4B69-86FD-6BDA721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0E3FF3-E699-4121-97CE-94B7F4DB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90" y="3207159"/>
            <a:ext cx="5323890" cy="29840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96704F0-08C5-40DA-88E5-08B6A8B3D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674" y="3697154"/>
            <a:ext cx="1342195" cy="200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7166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5F4F9-E34D-492F-ACCF-61AD9CAE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內建函式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430B9-720F-44D9-99F0-1FF5C800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767A0D-3F0F-4241-B0AD-12B393F9A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582"/>
          <a:stretch/>
        </p:blipFill>
        <p:spPr>
          <a:xfrm>
            <a:off x="1883913" y="1906898"/>
            <a:ext cx="8424174" cy="48917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4ACA8FF-1AFC-484D-8129-F5337C02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912" y="2387601"/>
            <a:ext cx="8427241" cy="306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1648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50A13A-8FF8-4C5E-B9AA-492CF9D6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map()</a:t>
            </a:r>
            <a:r>
              <a:rPr lang="en-US" altLang="zh-TW" dirty="0"/>
              <a:t> vs </a:t>
            </a:r>
            <a:r>
              <a:rPr lang="en-US" altLang="zh-TW" dirty="0">
                <a:latin typeface="Consolas" panose="020B0609020204030204" pitchFamily="49" charset="0"/>
              </a:rPr>
              <a:t>filter()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BAA7B6-45DA-44B3-8E6B-BFC3B7CC1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map()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>
                <a:latin typeface="Consolas" panose="020B0609020204030204" pitchFamily="49" charset="0"/>
              </a:rPr>
              <a:t>filter()</a:t>
            </a:r>
            <a:r>
              <a:rPr lang="en-US" altLang="zh-TW" dirty="0"/>
              <a:t> </a:t>
            </a:r>
            <a:r>
              <a:rPr lang="zh-TW" altLang="en-US" dirty="0"/>
              <a:t>兩個內建函式是將</a:t>
            </a:r>
            <a:r>
              <a:rPr lang="zh-TW" altLang="en-US" dirty="0">
                <a:solidFill>
                  <a:schemeClr val="accent4"/>
                </a:solidFill>
              </a:rPr>
              <a:t>指定函式逐一套用</a:t>
            </a:r>
            <a:r>
              <a:rPr lang="zh-TW" altLang="en-US" dirty="0"/>
              <a:t>到可迭代物件內的每個元素。</a:t>
            </a:r>
            <a:endParaRPr lang="en-US" altLang="zh-TW" dirty="0"/>
          </a:p>
          <a:p>
            <a:pPr lvl="1"/>
            <a:r>
              <a:rPr lang="zh-TW" altLang="en-US" dirty="0"/>
              <a:t>都需要兩個參數，一個是</a:t>
            </a:r>
            <a:r>
              <a:rPr lang="zh-TW" altLang="en-US" dirty="0">
                <a:solidFill>
                  <a:schemeClr val="accent4"/>
                </a:solidFill>
              </a:rPr>
              <a:t>指定函式</a:t>
            </a:r>
            <a:r>
              <a:rPr lang="zh-TW" altLang="en-US" dirty="0"/>
              <a:t>，另一個是</a:t>
            </a:r>
            <a:r>
              <a:rPr lang="zh-TW" altLang="en-US" dirty="0">
                <a:solidFill>
                  <a:schemeClr val="accent4"/>
                </a:solidFill>
              </a:rPr>
              <a:t>可迭代物件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map()</a:t>
            </a:r>
            <a:r>
              <a:rPr lang="zh-TW" altLang="en-US" dirty="0"/>
              <a:t> 的指定函式要能接受至少一個參數，並回傳一個運算式。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latin typeface="Consolas" panose="020B0609020204030204" pitchFamily="49" charset="0"/>
              </a:rPr>
              <a:t>filter()</a:t>
            </a:r>
            <a:r>
              <a:rPr lang="zh-TW" altLang="en-US" dirty="0"/>
              <a:t> 的指定函式也是至少一個參數，並回傳能產生布林值的條件式。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B994DB-2646-4F5F-B6FB-E5824CB5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461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2F6ED-444B-42FC-8472-780E7F77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8F0B27-EF64-43E9-9C90-304ADD67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149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6A4A54F-B911-48C8-BB66-E0344AB90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428" y="1766985"/>
            <a:ext cx="6902656" cy="39907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9A8C487-6A4F-469A-BE61-96B0AC847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2200"/>
            <a:ext cx="5891110" cy="93345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C7ABE53E-2534-4491-B48D-766D1C65C819}"/>
              </a:ext>
            </a:extLst>
          </p:cNvPr>
          <p:cNvSpPr/>
          <p:nvPr/>
        </p:nvSpPr>
        <p:spPr>
          <a:xfrm>
            <a:off x="5341226" y="5878019"/>
            <a:ext cx="6526924" cy="933450"/>
          </a:xfrm>
          <a:prstGeom prst="wedgeRoundRectCallout">
            <a:avLst>
              <a:gd name="adj1" fmla="val -57458"/>
              <a:gd name="adj2" fmla="val -52767"/>
              <a:gd name="adj3" fmla="val 1666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map()</a:t>
            </a:r>
            <a:r>
              <a:rPr lang="zh-TW" altLang="en-US" sz="2400" dirty="0"/>
              <a:t> 與 </a:t>
            </a:r>
            <a:r>
              <a:rPr lang="en-US" altLang="zh-TW" sz="2400" dirty="0">
                <a:latin typeface="Consolas" panose="020B0609020204030204" pitchFamily="49" charset="0"/>
              </a:rPr>
              <a:t>filter()</a:t>
            </a:r>
            <a:r>
              <a:rPr lang="en-US" altLang="zh-TW" sz="2400" dirty="0"/>
              <a:t> </a:t>
            </a:r>
            <a:r>
              <a:rPr lang="zh-TW" altLang="en-US" sz="2400" dirty="0"/>
              <a:t>的套用結果無法直接看到，要以 </a:t>
            </a:r>
            <a:r>
              <a:rPr lang="en-US" altLang="zh-TW" sz="2400" dirty="0">
                <a:latin typeface="Consolas" panose="020B0609020204030204" pitchFamily="49" charset="0"/>
              </a:rPr>
              <a:t>list()</a:t>
            </a:r>
            <a:r>
              <a:rPr lang="en-US" altLang="zh-TW" sz="2400" dirty="0"/>
              <a:t> </a:t>
            </a:r>
            <a:r>
              <a:rPr lang="zh-TW" altLang="en-US" sz="2400" dirty="0"/>
              <a:t>轉換成串列型態才能看到結果。</a:t>
            </a:r>
          </a:p>
        </p:txBody>
      </p:sp>
    </p:spTree>
    <p:extLst>
      <p:ext uri="{BB962C8B-B14F-4D97-AF65-F5344CB8AC3E}">
        <p14:creationId xmlns:p14="http://schemas.microsoft.com/office/powerpoint/2010/main" val="81851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6FE912-57D8-4699-8725-768DC15D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更多用法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EA8A0F-0012-4D56-80AC-693D9882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375"/>
            <a:ext cx="4669221" cy="4400550"/>
          </a:xfrm>
        </p:spPr>
        <p:txBody>
          <a:bodyPr/>
          <a:lstStyle/>
          <a:p>
            <a:r>
              <a:rPr lang="zh-TW" altLang="en-US" dirty="0"/>
              <a:t>更多內建函式及其用法，可參考 </a:t>
            </a:r>
            <a:r>
              <a:rPr lang="en-US" altLang="zh-TW" dirty="0"/>
              <a:t>Python</a:t>
            </a:r>
            <a:r>
              <a:rPr lang="zh-TW" altLang="en-US" dirty="0"/>
              <a:t> 官網的說明</a:t>
            </a:r>
            <a:r>
              <a:rPr lang="en-US" altLang="zh-TW" dirty="0"/>
              <a:t>(https://docs.python.org/zh-tw/3/library/functions.html)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7C95D2-CD08-4863-A26D-002DC84D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9302-35AD-44E9-AC3C-8D1DAE3511F1}" type="slidenum">
              <a:rPr lang="zh-TW" altLang="en-US" smtClean="0"/>
              <a:pPr/>
              <a:t>150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8FE204-FF9E-432D-91CB-1A28E207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647" y="848710"/>
            <a:ext cx="5615153" cy="559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44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Metro配色">
      <a:dk1>
        <a:sysClr val="windowText" lastClr="000000"/>
      </a:dk1>
      <a:lt1>
        <a:sysClr val="window" lastClr="FFFFFF"/>
      </a:lt1>
      <a:dk2>
        <a:srgbClr val="2A7EA3"/>
      </a:dk2>
      <a:lt2>
        <a:srgbClr val="FFE26A"/>
      </a:lt2>
      <a:accent1>
        <a:srgbClr val="5B9BD5"/>
      </a:accent1>
      <a:accent2>
        <a:srgbClr val="ED7D31"/>
      </a:accent2>
      <a:accent3>
        <a:srgbClr val="75C3B5"/>
      </a:accent3>
      <a:accent4>
        <a:srgbClr val="F2635F"/>
      </a:accent4>
      <a:accent5>
        <a:srgbClr val="139AAF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>
          <a:noFill/>
        </a:ln>
      </a:spPr>
      <a:bodyPr rtlCol="0" anchor="ctr"/>
      <a:lstStyle>
        <a:defPPr algn="ctr">
          <a:defRPr sz="2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7147</Words>
  <Application>Microsoft Office PowerPoint</Application>
  <PresentationFormat>寬螢幕</PresentationFormat>
  <Paragraphs>888</Paragraphs>
  <Slides>150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150</vt:i4>
      </vt:variant>
    </vt:vector>
  </HeadingPairs>
  <TitlesOfParts>
    <vt:vector size="158" baseType="lpstr">
      <vt:lpstr>微軟正黑體</vt:lpstr>
      <vt:lpstr>Arial</vt:lpstr>
      <vt:lpstr>Calibri</vt:lpstr>
      <vt:lpstr>Cambria Math</vt:lpstr>
      <vt:lpstr>Consolas</vt:lpstr>
      <vt:lpstr>Times New Roman</vt:lpstr>
      <vt:lpstr>Wingdings</vt:lpstr>
      <vt:lpstr>Office 佈景主題</vt:lpstr>
      <vt:lpstr>Py_Week3 迴圈 函式與陣列</vt:lpstr>
      <vt:lpstr>主題</vt:lpstr>
      <vt:lpstr>結構化程式設計(structured programming)</vt:lpstr>
      <vt:lpstr>迴圈(loop)</vt:lpstr>
      <vt:lpstr>Python 的迴圈</vt:lpstr>
      <vt:lpstr>while 迴圈</vt:lpstr>
      <vt:lpstr>無窮迴圈(infinite loop)</vt:lpstr>
      <vt:lpstr>範例</vt:lpstr>
      <vt:lpstr>執行這程式會發生何事？</vt:lpstr>
      <vt:lpstr>浮點數的數值誤差</vt:lpstr>
      <vt:lpstr>練習：計算成績</vt:lpstr>
      <vt:lpstr>練習：數值計數</vt:lpstr>
      <vt:lpstr>主題</vt:lpstr>
      <vt:lpstr>for 迴圈(1/2)</vt:lpstr>
      <vt:lpstr>for 迴圈(2/2)</vt:lpstr>
      <vt:lpstr>比一比</vt:lpstr>
      <vt:lpstr>主題</vt:lpstr>
      <vt:lpstr>range() (1/5)</vt:lpstr>
      <vt:lpstr>range() (2/5)</vt:lpstr>
      <vt:lpstr>range() (3/5)</vt:lpstr>
      <vt:lpstr>range() (4/5)</vt:lpstr>
      <vt:lpstr>range() (5/5)</vt:lpstr>
      <vt:lpstr>練習：計算連加與連乘</vt:lpstr>
      <vt:lpstr>練習：判斷質數</vt:lpstr>
      <vt:lpstr>主題</vt:lpstr>
      <vt:lpstr>進階流程控制</vt:lpstr>
      <vt:lpstr>break 敘述</vt:lpstr>
      <vt:lpstr>範例</vt:lpstr>
      <vt:lpstr>利用 break 來除錯</vt:lpstr>
      <vt:lpstr>continue 敘述</vt:lpstr>
      <vt:lpstr>主題</vt:lpstr>
      <vt:lpstr>else 敘述(1/2)</vt:lpstr>
      <vt:lpstr>else 敘述(2/2)</vt:lpstr>
      <vt:lpstr>範例(1/2)</vt:lpstr>
      <vt:lpstr>範例(2/2)</vt:lpstr>
      <vt:lpstr>練習：判斷質數</vt:lpstr>
      <vt:lpstr>主題</vt:lpstr>
      <vt:lpstr>巢狀迴圈</vt:lpstr>
      <vt:lpstr>添加 break</vt:lpstr>
      <vt:lpstr>九九乘法表</vt:lpstr>
      <vt:lpstr>等腰三角形</vt:lpstr>
      <vt:lpstr>產生排列組合</vt:lpstr>
      <vt:lpstr>練習：數字的排列組合</vt:lpstr>
      <vt:lpstr>主題</vt:lpstr>
      <vt:lpstr>儲存大量資料</vt:lpstr>
      <vt:lpstr>陣列(Array)</vt:lpstr>
      <vt:lpstr>不同維度的陣列</vt:lpstr>
      <vt:lpstr>串列(List)</vt:lpstr>
      <vt:lpstr>元素(Element)</vt:lpstr>
      <vt:lpstr>使用串列</vt:lpstr>
      <vt:lpstr>主題</vt:lpstr>
      <vt:lpstr>串列的語法</vt:lpstr>
      <vt:lpstr>範例</vt:lpstr>
      <vt:lpstr>存取串列元素(1/3)</vt:lpstr>
      <vt:lpstr>存取串列元素(2/3)</vt:lpstr>
      <vt:lpstr>存取串列元素(3/3)</vt:lpstr>
      <vt:lpstr>串列分割的語法</vt:lpstr>
      <vt:lpstr>範例(1/2)</vt:lpstr>
      <vt:lpstr>範例(2/2)</vt:lpstr>
      <vt:lpstr>想想看</vt:lpstr>
      <vt:lpstr>簡化</vt:lpstr>
      <vt:lpstr>輸出串列內容(1/4)</vt:lpstr>
      <vt:lpstr>輸出串列內容(2/4)</vt:lpstr>
      <vt:lpstr>輸出串列內容(3/4)</vt:lpstr>
      <vt:lpstr>輸出串列內容(4/4)</vt:lpstr>
      <vt:lpstr>加入元素到串列(1/2)</vt:lpstr>
      <vt:lpstr>加入元素到串列(2/2)</vt:lpstr>
      <vt:lpstr>串列的宣告(declaration)</vt:lpstr>
      <vt:lpstr>+ 與 *</vt:lpstr>
      <vt:lpstr>成員運算子</vt:lpstr>
      <vt:lpstr>練習：計算成績</vt:lpstr>
      <vt:lpstr>主題</vt:lpstr>
      <vt:lpstr>串列進階操作(1/3)</vt:lpstr>
      <vt:lpstr>範例</vt:lpstr>
      <vt:lpstr>串列進階操作(2/3)</vt:lpstr>
      <vt:lpstr>範例</vt:lpstr>
      <vt:lpstr>複製串列？</vt:lpstr>
      <vt:lpstr>複製串列？</vt:lpstr>
      <vt:lpstr>「==」 vs 「is」</vt:lpstr>
      <vt:lpstr>串列進階操作(3/3)</vt:lpstr>
      <vt:lpstr>範例</vt:lpstr>
      <vt:lpstr>增加串列元素</vt:lpstr>
      <vt:lpstr>append() vs insert()</vt:lpstr>
      <vt:lpstr>append() vs extend()</vt:lpstr>
      <vt:lpstr>範例</vt:lpstr>
      <vt:lpstr>整理</vt:lpstr>
      <vt:lpstr>練習：尋找完全數</vt:lpstr>
      <vt:lpstr>主題</vt:lpstr>
      <vt:lpstr>串列綜合運算(List Comprehension)</vt:lpstr>
      <vt:lpstr>範例</vt:lpstr>
      <vt:lpstr>範例</vt:lpstr>
      <vt:lpstr>範例</vt:lpstr>
      <vt:lpstr>範例</vt:lpstr>
      <vt:lpstr>練習：計算出現次數</vt:lpstr>
      <vt:lpstr>主題</vt:lpstr>
      <vt:lpstr>多維串列(multi-dimensional list)</vt:lpstr>
      <vt:lpstr>二維串列(two-dimensional list)</vt:lpstr>
      <vt:lpstr>存取二維串列</vt:lpstr>
      <vt:lpstr>宣告二維串列</vt:lpstr>
      <vt:lpstr>加總每一列</vt:lpstr>
      <vt:lpstr>加總每一行</vt:lpstr>
      <vt:lpstr>串列比大小</vt:lpstr>
      <vt:lpstr>練習：尋找列的最大總和</vt:lpstr>
      <vt:lpstr>練習：找出最近的兩點</vt:lpstr>
      <vt:lpstr>主題</vt:lpstr>
      <vt:lpstr>函式(Function)</vt:lpstr>
      <vt:lpstr>模組化(Modular)</vt:lpstr>
      <vt:lpstr>使用函式的優點</vt:lpstr>
      <vt:lpstr>使用函式</vt:lpstr>
      <vt:lpstr>函式如何執行任務？</vt:lpstr>
      <vt:lpstr>Python 的函式類型大致有三種(1/2)</vt:lpstr>
      <vt:lpstr>Python 的函式類型大致有三種(2/2)</vt:lpstr>
      <vt:lpstr>數學上的函數(Function)</vt:lpstr>
      <vt:lpstr>主題</vt:lpstr>
      <vt:lpstr>自訂函式(1/2)</vt:lpstr>
      <vt:lpstr>自訂函式(2/2)</vt:lpstr>
      <vt:lpstr>呼叫函式</vt:lpstr>
      <vt:lpstr>注意</vt:lpstr>
      <vt:lpstr>主題</vt:lpstr>
      <vt:lpstr>傳遞參數</vt:lpstr>
      <vt:lpstr>範例</vt:lpstr>
      <vt:lpstr>參數的數量太多</vt:lpstr>
      <vt:lpstr>參數預設值</vt:lpstr>
      <vt:lpstr>關鍵字 return</vt:lpstr>
      <vt:lpstr>回傳多個值</vt:lpstr>
      <vt:lpstr>練習：華氏/攝氏溫度轉換</vt:lpstr>
      <vt:lpstr>主題</vt:lpstr>
      <vt:lpstr>變數的有效範圍(Scope)</vt:lpstr>
      <vt:lpstr>PowerPoint 簡報</vt:lpstr>
      <vt:lpstr>全域 vs 區域變數</vt:lpstr>
      <vt:lpstr>範例</vt:lpstr>
      <vt:lpstr>注意(1/2)</vt:lpstr>
      <vt:lpstr>注意(2/2)</vt:lpstr>
      <vt:lpstr>名稱空間(Name Space)</vt:lpstr>
      <vt:lpstr>關鍵字 global</vt:lpstr>
      <vt:lpstr>插播(1/2)</vt:lpstr>
      <vt:lpstr>插播(2/2)</vt:lpstr>
      <vt:lpstr>練習(1/2)</vt:lpstr>
      <vt:lpstr>練習(2/2)</vt:lpstr>
      <vt:lpstr>輸出結果參考</vt:lpstr>
      <vt:lpstr>主題</vt:lpstr>
      <vt:lpstr>內建函式(Built-in Function)</vt:lpstr>
      <vt:lpstr>內建函式(1/3)</vt:lpstr>
      <vt:lpstr>內建函式(2/3)</vt:lpstr>
      <vt:lpstr>pow() 範例</vt:lpstr>
      <vt:lpstr>round() 範例</vt:lpstr>
      <vt:lpstr>內建函式(3/3)</vt:lpstr>
      <vt:lpstr>map() vs filter()</vt:lpstr>
      <vt:lpstr>範例</vt:lpstr>
      <vt:lpstr>更多用法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2023-12-30T06:03:56Z</dcterms:created>
  <dcterms:modified xsi:type="dcterms:W3CDTF">2026-10-24T22:51:05Z</dcterms:modified>
</cp:coreProperties>
</file>