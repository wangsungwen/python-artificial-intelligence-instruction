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3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本週目標：能區分規則、訓練與推論；能分開訓練資料及保留測試資料；能完成分類、評估並解釋限制</a:t>
            </a:r>
          </a:p>
          <a:p>
            <a:r>
              <a:t>教材對照：CH11PPT 11-1至11-3；CH15PPT 15-2概念；CH16PPT 16-1流程。色彩最近中心分類器為本課新增簡化實作</a:t>
            </a:r>
          </a:p>
          <a:p>
            <a:r>
              <a:t>完整180分鐘流程見逐字講稿。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四週我們把每一步規則寫出來。今天要試著從範例資料估計分類所需的參數。人工智慧是廣泛領域，機器學習是其中一種方法，深度學習又是機器學習的一支。今天做的是很小的監督式分類示範，使用平均顏色，不使用深度神經網路。教材後面的人臉、手勢與物體識別有更複雜的模型，我們先掌握共同流程：資料、訓練、預測和檢查結果。</a:t>
            </a:r>
          </a:p>
          <a:p>
            <a:endParaRPr/>
          </a:p>
          <a:p>
            <a:r>
              <a:t>活動：說明手寫閾值與從樣本估計平均中心的差別。</a:t>
            </a:r>
          </a:p>
          <a:p>
            <a:r>
              <a:t>參考答案：前者參數由人設定，後者中心由帶標籤訓練資料計算。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CH11PPT.ppt 第11頁。用原教材資料、訓練、模型的流程對照本週中心計算。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四週我們把每一步規則寫出來。今天要試著從範例資料估計分類所需的參數。人工智慧是廣泛領域，機器學習是其中一種方法，深度學習又是機器學習的一支。今天做的是很小的監督式分類示範，使用平均顏色，不使用深度神經網路。教材後面的人臉、手勢與物體識別有更複雜的模型，我們先掌握共同流程：資料、訓練、預測和檢查結果。</a:t>
            </a:r>
          </a:p>
          <a:p>
            <a:endParaRPr/>
          </a:p>
          <a:p>
            <a:r>
              <a:t>活動：說明手寫閾值與從樣本估計平均中心的差別。</a:t>
            </a:r>
          </a:p>
          <a:p>
            <a:r>
              <a:t>參考答案：前者參數由人設定，後者中心由帶標籤訓練資料計算。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CH11PPT.ppt 第11頁。用原教材資料、訓練、模型的流程對照本週中心計算。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四週我們把每一步規則寫出來。今天要試著從範例資料估計分類所需的參數。人工智慧是廣泛領域，機器學習是其中一種方法，深度學習又是機器學習的一支。今天做的是很小的監督式分類示範，使用平均顏色，不使用深度神經網路。教材後面的人臉、手勢與物體識別有更複雜的模型，我們先掌握共同流程：資料、訓練、預測和檢查結果。</a:t>
            </a:r>
          </a:p>
          <a:p>
            <a:endParaRPr/>
          </a:p>
          <a:p>
            <a:r>
              <a:t>活動：說明手寫閾值與從樣本估計平均中心的差別。</a:t>
            </a:r>
          </a:p>
          <a:p>
            <a:r>
              <a:t>參考答案：前者參數由人設定，後者中心由帶標籤訓練資料計算。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CH11PPT.ppt 第11頁。用原教材資料、訓練、模型的流程對照本週中心計算。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一張圖片有很多像素，我們先把它壓縮成三個數字：紅、綠、藍通道的平均值，這三個數字就是特徵。標籤是我們已知的答案，例如 red。平均色會丟掉形狀與位置，所以這個方法適合今天的純色卡，不能拿來宣稱辨識任意物體。請先觀察同一類別是否有不同亮度，這樣訓練資料才不只有一個完全相同的例子。</a:t>
            </a:r>
          </a:p>
          <a:p>
            <a:endParaRPr/>
          </a:p>
          <a:p>
            <a:r>
              <a:t>活動：執行資料準備，印出第一張色卡與特徵，分辨影像、特徵、標籤。</a:t>
            </a:r>
          </a:p>
          <a:p>
            <a:r>
              <a:t>參考答案：影像(24,24,3)；特徵(3,)；標籤為red等類別文字。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一張圖片有很多像素，我們先把它壓縮成三個數字：紅、綠、藍通道的平均值，這三個數字就是特徵。標籤是我們已知的答案，例如 red。平均色會丟掉形狀與位置，所以這個方法適合今天的純色卡，不能拿來宣稱辨識任意物體。請先觀察同一類別是否有不同亮度，這樣訓練資料才不只有一個完全相同的例子。</a:t>
            </a:r>
          </a:p>
          <a:p>
            <a:endParaRPr/>
          </a:p>
          <a:p>
            <a:r>
              <a:t>活動：執行資料準備，印出第一張色卡與特徵，分辨影像、特徵、標籤。</a:t>
            </a:r>
          </a:p>
          <a:p>
            <a:r>
              <a:t>參考答案：影像(24,24,3)；特徵(3,)；標籤為red等類別文字。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考試題目就是練習時看過的原題，很難知道你是否學會。同理，訓練與測試資料必須分開。今天提供九張訓練色卡與六張保留測試色卡，數值彼此不同。先固定方法，再查看測試結果。若根據測試結果一直調整，就要另外準備新的最終測試資料，不能把同一份反覆使用的分數當成客觀成績。今天資料很簡單，目的是學會流程，而不是證明模型能處理真實世界所有顏色。</a:t>
            </a:r>
          </a:p>
          <a:p>
            <a:endParaRPr/>
          </a:p>
          <a:p>
            <a:r>
              <a:t>活動：數出各類訓練與測試筆數，確認沒有相同色卡同時出現在兩側。</a:t>
            </a:r>
          </a:p>
          <a:p>
            <a:r>
              <a:t>參考答案：每類訓練3筆、測試2筆，共9與6筆。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CH11PPT.ppt 第19頁。強調標籤只在訓練時提供給模型，評估時保留真實答案做比較。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考試題目就是練習時看過的原題，很難知道你是否學會。同理，訓練與測試資料必須分開。今天提供九張訓練色卡與六張保留測試色卡，數值彼此不同。先固定方法，再查看測試結果。若根據測試結果一直調整，就要另外準備新的最終測試資料，不能把同一份反覆使用的分數當成客觀成績。今天資料很簡單，目的是學會流程，而不是證明模型能處理真實世界所有顏色。</a:t>
            </a:r>
          </a:p>
          <a:p>
            <a:endParaRPr/>
          </a:p>
          <a:p>
            <a:r>
              <a:t>活動：數出各類訓練與測試筆數，確認沒有相同色卡同時出現在兩側。</a:t>
            </a:r>
          </a:p>
          <a:p>
            <a:r>
              <a:t>參考答案：每類訓練3筆、測試2筆，共9與6筆。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CH11PPT.ppt 第19頁。強調標籤只在訓練時提供給模型，評估時保留真實答案做比較。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考試題目就是練習時看過的原題，很難知道你是否學會。同理，訓練與測試資料必須分開。今天提供九張訓練色卡與六張保留測試色卡，數值彼此不同。先固定方法，再查看測試結果。若根據測試結果一直調整，就要另外準備新的最終測試資料，不能把同一份反覆使用的分數當成客觀成績。今天資料很簡單，目的是學會流程，而不是證明模型能處理真實世界所有顏色。</a:t>
            </a:r>
          </a:p>
          <a:p>
            <a:endParaRPr/>
          </a:p>
          <a:p>
            <a:r>
              <a:t>活動：數出各類訓練與測試筆數，確認沒有相同色卡同時出現在兩側。</a:t>
            </a:r>
          </a:p>
          <a:p>
            <a:r>
              <a:t>參考答案：每類訓練3筆、測試2筆，共9與6筆。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CH11PPT.ppt 第19頁。強調標籤只在訓練時提供給模型，評估時保留真實答案做比較。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今天的模型非常簡單：每一種顏色找一個代表中心。先取出紅色類別的三組特徵，再分別對三個通道取平均。這個中心由資料決定，所以更換訓練資料會改變中心。classes 保存類別順序，centroids 保存相同順序的中心，之後預測時要一一對應。布林索引那一行的意思是只選出標籤等於這個類別的列。你可以先把它想成篩選表格，不需要一次背下全部陣列語法。</a:t>
            </a:r>
          </a:p>
          <a:p>
            <a:endParaRPr/>
          </a:p>
          <a:p>
            <a:r>
              <a:t>活動：計算三個中心，手算紅色中心第一個通道與程式核對。</a:t>
            </a:r>
          </a:p>
          <a:p>
            <a:r>
              <a:t>參考答案：紅色中心約[213.33,33.33,33.33]，共3個中心。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今天的模型非常簡單：每一種顏色找一個代表中心。先取出紅色類別的三組特徵，再分別對三個通道取平均。這個中心由資料決定，所以更換訓練資料會改變中心。classes 保存類別順序，centroids 保存相同順序的中心，之後預測時要一一對應。布林索引那一行的意思是只選出標籤等於這個類別的列。你可以先把它想成篩選表格，不需要一次背下全部陣列語法。</a:t>
            </a:r>
          </a:p>
          <a:p>
            <a:endParaRPr/>
          </a:p>
          <a:p>
            <a:r>
              <a:t>活動：計算三個中心，手算紅色中心第一個通道與程式核對。</a:t>
            </a:r>
          </a:p>
          <a:p>
            <a:r>
              <a:t>參考答案：紅色中心約[213.33,33.33,33.33]，共3個中心。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請休息十分鐘，存下目前的中心數值。回來後會用同一組中心去預測保留資料，請不要把測試集加入訓練。</a:t>
            </a:r>
          </a:p>
          <a:p>
            <a:endParaRPr/>
          </a:p>
          <a:p>
            <a:r>
              <a:t>活動：存檔與休息。</a:t>
            </a:r>
          </a:p>
          <a:p>
            <a:r>
              <a:t>參考答案：中心只由X_train與y_train計算。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了一張新色卡，我們計算它和每個中心有多遠。每個通道相減、平方，再加起來，就是今天的平方距離。距離越小，代表平均顏色越接近。找出最小距離的索引，再用相同索引取類別。這裡不需要開根號，因為平方距離的大小順序相同。請注意我們沒有計算機率，距離十並不代表百分之九十有信心，也不能把結果包裝成可靠度百分比。</a:t>
            </a:r>
          </a:p>
          <a:p>
            <a:endParaRPr/>
          </a:p>
          <a:p>
            <a:r>
              <a:t>活動：預測[200,25,25]，查看三個距離與最小值索引。</a:t>
            </a:r>
          </a:p>
          <a:p>
            <a:r>
              <a:t>參考答案：預測red；最小距離所對應的類別是red。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了一張新色卡，我們計算它和每個中心有多遠。每個通道相減、平方，再加起來，就是今天的平方距離。距離越小，代表平均顏色越接近。找出最小距離的索引，再用相同索引取類別。這裡不需要開根號，因為平方距離的大小順序相同。請注意我們沒有計算機率，距離十並不代表百分之九十有信心，也不能把結果包裝成可靠度百分比。</a:t>
            </a:r>
          </a:p>
          <a:p>
            <a:endParaRPr/>
          </a:p>
          <a:p>
            <a:r>
              <a:t>活動：預測[200,25,25]，查看三個距離與最小值索引。</a:t>
            </a:r>
          </a:p>
          <a:p>
            <a:r>
              <a:t>參考答案：預測red；最小距離所對應的類別是red。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才拿出保留的六筆測試資料。每筆都要留下真實標籤與預測，不能只顯示最後的百分比。正確率就是答對幾筆除以總共幾筆。本範例色卡很單純，可能全部答對，這只表示對這六張色卡表現好。換到低光源、背景混色或真實物體，平均色特徵可能失效。報告一定同時說明資料數量與範圍，讓別人知道這個數字代表什麼。</a:t>
            </a:r>
          </a:p>
          <a:p>
            <a:endParaRPr/>
          </a:p>
          <a:p>
            <a:r>
              <a:t>活動：列出六筆結果，計算correct、total與accuracy。</a:t>
            </a:r>
          </a:p>
          <a:p>
            <a:r>
              <a:t>參考答案：六筆預期皆正確；6/6=1.0，此結果僅適用這組色卡。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才拿出保留的六筆測試資料。每筆都要留下真實標籤與預測，不能只顯示最後的百分比。正確率就是答對幾筆除以總共幾筆。本範例色卡很單純，可能全部答對，這只表示對這六張色卡表現好。換到低光源、背景混色或真實物體，平均色特徵可能失效。報告一定同時說明資料數量與範圍，讓別人知道這個數字代表什麼。</a:t>
            </a:r>
          </a:p>
          <a:p>
            <a:endParaRPr/>
          </a:p>
          <a:p>
            <a:r>
              <a:t>活動：列出六筆結果，計算correct、total與accuracy。</a:t>
            </a:r>
          </a:p>
          <a:p>
            <a:r>
              <a:t>參考答案：六筆預期皆正確；6/6=1.0，此結果僅適用這組色卡。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現在故意給它灰色。訓練時沒有灰色這一類，它還是會從紅、綠、藍中選一個。這就是封閉類別分類器的限制。對我們這組對稱中心，灰色到三個中心的距離相同；argmin 會選第一個，所以標籤順序也可能影響平手結果。這不表示灰色真的屬於那一種顏色。請將距離列出來，並在報告裡寫明模型無法拒絕陌生類別，這比只挑成功範例更有價值。</a:t>
            </a:r>
          </a:p>
          <a:p>
            <a:endParaRPr/>
          </a:p>
          <a:p>
            <a:r>
              <a:t>活動：預測[128,128,128]並觀察距離；記錄它應屬未學過的灰色。</a:t>
            </a:r>
          </a:p>
          <a:p>
            <a:r>
              <a:t>參考答案：距離相同，classes排序第一個為blue；這是平手規則，不是灰色理解。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現在故意給它灰色。訓練時沒有灰色這一類，它還是會從紅、綠、藍中選一個。這就是封閉類別分類器的限制。對我們這組對稱中心，灰色到三個中心的距離相同；argmin 會選第一個，所以標籤順序也可能影響平手結果。這不表示灰色真的屬於那一種顏色。請將距離列出來，並在報告裡寫明模型無法拒絕陌生類別，這比只挑成功範例更有價值。</a:t>
            </a:r>
          </a:p>
          <a:p>
            <a:endParaRPr/>
          </a:p>
          <a:p>
            <a:r>
              <a:t>活動：預測[128,128,128]並觀察距離；記錄它應屬未學過的灰色。</a:t>
            </a:r>
          </a:p>
          <a:p>
            <a:r>
              <a:t>參考答案：距離相同，classes排序第一個為blue；這是平手規則，不是灰色理解。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教材，人臉偵測是在影像裡找人臉位置，人臉識別則嘗試判斷是誰，兩者不相同。教材手勢範例先由模型找關鍵點，再用手指伸出的狀態判斷剪刀石頭布，這裡包含學習模型和人工規則兩部分。物體偵測還要輸出位置，和今天只輸出一個類別也不同。Teachable Machine 的建立類別、收集樣本、訓練、測試流程，則和今天概念相通。進階課會再處理實際攝影機、模型格式與部署環境。</a:t>
            </a:r>
          </a:p>
          <a:p>
            <a:endParaRPr/>
          </a:p>
          <a:p>
            <a:r>
              <a:t>活動：將「找出臉框」「認出小安」「紅色卡分類」配對成偵測、識別、分類。</a:t>
            </a:r>
          </a:p>
          <a:p>
            <a:r>
              <a:t>參考答案：找臉框是偵測，認出小安是身分識別，紅色卡是分類。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CH16PPT.ppt 第4頁。對照Teachable Machine流程；本課不操作網站或匯出TFLite，改用簡化分類器完整體驗流程。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教材，人臉偵測是在影像裡找人臉位置，人臉識別則嘗試判斷是誰，兩者不相同。教材手勢範例先由模型找關鍵點，再用手指伸出的狀態判斷剪刀石頭布，這裡包含學習模型和人工規則兩部分。物體偵測還要輸出位置，和今天只輸出一個類別也不同。Teachable Machine 的建立類別、收集樣本、訓練、測試流程，則和今天概念相通。進階課會再處理實際攝影機、模型格式與部署環境。</a:t>
            </a:r>
          </a:p>
          <a:p>
            <a:endParaRPr/>
          </a:p>
          <a:p>
            <a:r>
              <a:t>活動：將「找出臉框」「認出小安」「紅色卡分類」配對成偵測、識別、分類。</a:t>
            </a:r>
          </a:p>
          <a:p>
            <a:r>
              <a:t>參考答案：找臉框是偵測，認出小安是身分識別，紅色卡是分類。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CH16PPT.ppt 第4頁。對照Teachable Machine流程；本課不操作網站或匯出TFLite，改用簡化分類器完整體驗流程。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教材，人臉偵測是在影像裡找人臉位置，人臉識別則嘗試判斷是誰，兩者不相同。教材手勢範例先由模型找關鍵點，再用手指伸出的狀態判斷剪刀石頭布，這裡包含學習模型和人工規則兩部分。物體偵測還要輸出位置，和今天只輸出一個類別也不同。Teachable Machine 的建立類別、收集樣本、訓練、測試流程，則和今天概念相通。進階課會再處理實際攝影機、模型格式與部署環境。</a:t>
            </a:r>
          </a:p>
          <a:p>
            <a:endParaRPr/>
          </a:p>
          <a:p>
            <a:r>
              <a:t>活動：將「找出臉框」「認出小安」「紅色卡分類」配對成偵測、識別、分類。</a:t>
            </a:r>
          </a:p>
          <a:p>
            <a:r>
              <a:t>參考答案：找臉框是偵測，認出小安是身分識別，紅色卡是分類。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CH16PPT.ppt 第4頁。對照Teachable Machine流程；本課不操作網站或匯出TFLite，改用簡化分類器完整體驗流程。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A64D-8A09-B7FC-4996-0EA73DDF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05EF5-F71B-7596-C496-44A8C842B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7C30B-F76B-24AE-37E5-05571695C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教材，人臉偵測是在影像裡找人臉位置，人臉識別則嘗試判斷是誰，兩者不相同。教材手勢範例先由模型找關鍵點，再用手指伸出的狀態判斷剪刀石頭布，這裡包含學習模型和人工規則兩部分。物體偵測還要輸出位置，和今天只輸出一個類別也不同。Teachable Machine 的建立類別、收集樣本、訓練、測試流程，則和今天概念相通。進階課會再處理實際攝影機、模型格式與部署環境。</a:t>
            </a:r>
          </a:p>
          <a:p>
            <a:endParaRPr/>
          </a:p>
          <a:p>
            <a:r>
              <a:t>活動：將「找出臉框」「認出小安」「紅色卡分類」配對成偵測、識別、分類。</a:t>
            </a:r>
          </a:p>
          <a:p>
            <a:r>
              <a:t>參考答案：找臉框是偵測，認出小安是身分識別，紅色卡是分類。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直接引用 CH16PPT.ppt 第4頁。對照Teachable Machine流程；本課不操作網站或匯出TFLite，改用簡化分類器完整體驗流程。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719E6-8B09-9D48-50D5-124B0E2627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6584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最後請整理一份可以重跑的色卡分類作品。請保留訓練與測試分開的程式，輸出每筆真實答案與預測到 CSV，再加上一段文字說明資料有多簡單、模型有哪些限制。每組九十秒發表，依序說輸入與特徵、如何訓練、測試結果，以及灰色案例告訴我們什麼。如果班級超過八組，改成兩組互講，我再抽兩組全班分享。發表重點是解釋證據，不是追求一個漂亮的百分比。</a:t>
            </a:r>
          </a:p>
          <a:p>
            <a:endParaRPr/>
          </a:p>
          <a:p>
            <a:r>
              <a:t>活動：保存predictions.csv及模型中心；完成3句結論，兩組互講或每組90秒發表。</a:t>
            </a:r>
          </a:p>
          <a:p>
            <a:r>
              <a:t>參考答案：CSV有6筆結果；中心以npz保存；結論包含6/6、人工色卡限制、灰色被迫分類。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最後請整理一份可以重跑的色卡分類作品。請保留訓練與測試分開的程式，輸出每筆真實答案與預測到 CSV，再加上一段文字說明資料有多簡單、模型有哪些限制。每組九十秒發表，依序說輸入與特徵、如何訓練、測試結果，以及灰色案例告訴我們什麼。如果班級超過八組，改成兩組互講，我再抽兩組全班分享。發表重點是解釋證據，不是追求一個漂亮的百分比。</a:t>
            </a:r>
          </a:p>
          <a:p>
            <a:endParaRPr/>
          </a:p>
          <a:p>
            <a:r>
              <a:t>活動：保存predictions.csv及模型中心；完成3句結論，兩組互講或每組90秒發表。</a:t>
            </a:r>
          </a:p>
          <a:p>
            <a:r>
              <a:t>參考答案：CSV有6筆結果；中心以npz保存；結論包含6/6、人工色卡限制、灰色被迫分類。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請重新啟動核心，完整執行一次，再檢查輸出資料夾。評分會看程式能否重跑、是否說清楚特徵和中心、是否分開訓練與測試，以及是否解釋灰色案例。即使測試不是全對，只要你能找到原因並如實記錄，仍然是有價值的學習成果。請同桌用評量表給一個具體建議，例如補上測試筆數，而不是只說做得很好。</a:t>
            </a:r>
          </a:p>
          <a:p>
            <a:endParaRPr/>
          </a:p>
          <a:p>
            <a:r>
              <a:t>活動：依總覽評量表互評，提交Notebook、CSV與結論。</a:t>
            </a:r>
          </a:p>
          <a:p>
            <a:r>
              <a:t>參考答案：可重跑且輸出完整；結論沒有將距離稱為機率，也沒有宣稱通用物體辨識。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請重新啟動核心，完整執行一次，再檢查輸出資料夾。評分會看程式能否重跑、是否說清楚特徵和中心、是否分開訓練與測試，以及是否解釋灰色案例。即使測試不是全對，只要你能找到原因並如實記錄，仍然是有價值的學習成果。請同桌用評量表給一個具體建議，例如補上測試筆數，而不是只說做得很好。</a:t>
            </a:r>
          </a:p>
          <a:p>
            <a:endParaRPr/>
          </a:p>
          <a:p>
            <a:r>
              <a:t>活動：依總覽評量表互評，提交Notebook、CSV與結論。</a:t>
            </a:r>
          </a:p>
          <a:p>
            <a:r>
              <a:t>參考答案：可重跑且輸出完整；結論沒有將距離稱為機率，也沒有宣稱通用物體辨識。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週前，我們從一行問候語開始，現在你已經能將資料整理成特徵，建立簡單模型並檢查結果。請回想每個基礎概念在專題裡的位置：變數保存資料，迴圈逐筆預測，函數封裝處理，陣列保存影像。下一步可以沿教材學人臉偵測、手部關鍵點或 OCR，但每次增加新工具都要保留可重跑的範例與測試。最後請寫下你現在能獨立完成的一件事，以及仍需要練習的一件事。</a:t>
            </a:r>
          </a:p>
          <a:p>
            <a:endParaRPr/>
          </a:p>
          <a:p>
            <a:r>
              <a:t>活動：離堂回答：訓練與推論差別、為何分開測試、灰色案例的限制。</a:t>
            </a:r>
          </a:p>
          <a:p>
            <a:r>
              <a:t>參考答案：訓練估計中心，推論使用固定中心；保留測試檢查未用來訓練的資料；模型不能自動拒絕未知類別。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週前，我們從一行問候語開始，現在你已經能將資料整理成特徵，建立簡單模型並檢查結果。請回想每個基礎概念在專題裡的位置：變數保存資料，迴圈逐筆預測，函數封裝處理，陣列保存影像。下一步可以沿教材學人臉偵測、手部關鍵點或 OCR，但每次增加新工具都要保留可重跑的範例與測試。最後請寫下你現在能獨立完成的一件事，以及仍需要練習的一件事。</a:t>
            </a:r>
          </a:p>
          <a:p>
            <a:endParaRPr/>
          </a:p>
          <a:p>
            <a:r>
              <a:t>活動：離堂回答：訓練與推論差別、為何分開測試、灰色案例的限制。</a:t>
            </a:r>
          </a:p>
          <a:p>
            <a:r>
              <a:t>參考答案：訓練估計中心，推論使用固定中心；保留測試檢查未用來訓練的資料；模型不能自動拒絕未知類別。</a:t>
            </a:r>
          </a:p>
          <a:p>
            <a:endParaRPr/>
          </a:p>
          <a:p>
            <a:r>
              <a:t>教材來源：CH11PPT 11-1至11-3；CH15PPT 15-2概念；CH16PPT 16-1流程。色彩最近中心分類器為本課新增簡化實作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simplelearn.tw/ai-literacy-activation-functions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ai.codinglab.tw/aiplayground" TargetMode="External"/><Relationship Id="rId4" Type="http://schemas.openxmlformats.org/officeDocument/2006/relationships/hyperlink" Target="https://ml-cheatsheet.readthedocs.io/en/latest/activation_functions.htm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90993E9-B10A-4E4C-A415-2F69BE8A5D4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rPr>
              <a:t>第 5 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758FE2-67FD-44AC-88B4-21081FC33CB7}"/>
              </a:ext>
            </a:extLst>
          </p:cNvPr>
          <p:cNvSpPr>
            <a:spLocks noGrp="1"/>
          </p:cNvSpPr>
          <p:nvPr/>
        </p:nvSpPr>
        <p:spPr>
          <a:xfrm>
            <a:off x="685800" y="1876425"/>
            <a:ext cx="10763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分類入門與成果發表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4BBC52-534D-421E-A5BA-868EA4C35F35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10382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以平均RGB特徵建立紅綠藍色卡分類器，評估保留資料與陌生灰色樣本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108AE-6DF5-4AD0-AA7F-2E8D5A0DAF4A}"/>
              </a:ext>
            </a:extLst>
          </p:cNvPr>
          <p:cNvSpPr>
            <a:spLocks noGrp="1"/>
          </p:cNvSpPr>
          <p:nvPr/>
        </p:nvSpPr>
        <p:spPr>
          <a:xfrm>
            <a:off x="723900" y="59626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180 分鐘  含 10 分鐘休息</a:t>
            </a:r>
          </a:p>
        </p:txBody>
      </p:sp>
    </p:spTree>
    <p:extLst>
      <p:ext uri="{BB962C8B-B14F-4D97-AF65-F5344CB8AC3E}">
        <p14:creationId xmlns:p14="http://schemas.microsoft.com/office/powerpoint/2010/main" val="580139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951F1AD-2FE4-4966-88CB-F391189E73A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W5-01   000–010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A19284-2326-4C8D-BDEF-9B29370D47C3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AI 概念與本週成果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0343C9-D01C-48D6-8803-6EA730F145DC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50DC98-AB8F-428E-9F9A-4DFD55126883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AI 是廣泛領域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232F61-0049-40D1-9DDE-45314BFDE470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14A6F2-FE23-476D-BE13-4802D36BE0D5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機器學習從資料估計參數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9B4084-07F4-41BE-AB69-2CF6A0E3CF43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A236F9-BC3D-4078-8C70-B147AEAAF104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深度學習是機器學習的一支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E7C41-0E56-4C50-9C4F-F61D9871D62C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46459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A7F3DB9-580E-444C-B098-5A1E9D7EBAD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W5-01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70FF40-6D6E-4CCE-A748-76089DF25034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AI 概念與本週成果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64AF03-B4B3-4F6E-97BF-7093E6F9F3F2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說明手寫閾值與從樣本估計平均中心的差別。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1847E-1573-4174-A2BA-3E5C4B665E07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BA42DF-F1D5-44A0-96CD-C2A7AC133E03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前者參數由人設定，後者中心由帶標籤訓練資料計算。</a:t>
            </a:r>
          </a:p>
        </p:txBody>
      </p:sp>
    </p:spTree>
    <p:extLst>
      <p:ext uri="{BB962C8B-B14F-4D97-AF65-F5344CB8AC3E}">
        <p14:creationId xmlns:p14="http://schemas.microsoft.com/office/powerpoint/2010/main" val="124028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189EE81-608B-4845-821F-77419845DDAB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W5-01   原教材圖文對照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3763" y="590550"/>
            <a:ext cx="7874000" cy="5905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D5257F6-7F5A-4D98-BC48-36031AC0BEC5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CH11PPT.ppt 第 11 頁</a:t>
            </a:r>
          </a:p>
        </p:txBody>
      </p:sp>
    </p:spTree>
    <p:extLst>
      <p:ext uri="{BB962C8B-B14F-4D97-AF65-F5344CB8AC3E}">
        <p14:creationId xmlns:p14="http://schemas.microsoft.com/office/powerpoint/2010/main" val="106108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856E23F-9388-4DD1-BC05-9E83304B3B0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W5-02   010–025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AE7AE2-4586-4A1B-8816-5948051EF816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特徵與標籤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C622EC-3E08-47CE-B477-33A3060FA682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6E8300-C6C1-4251-B106-B13E8BCC992D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特徵描述輸入資料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BC323F-BE3E-42BB-BFAD-1771D4479A0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E4BED3-285F-4E11-87CB-C458F245677E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標籤是已知類別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F292A5-FD57-46E6-8ABA-E6995FD00B5E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C51CA2-B072-4E61-A21D-49928B026341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今日特徵為平均R、G、B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161BD9-1802-4056-A440-B3E70FFB2A7D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196848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18AED6B-A78F-49A1-A929-43B13B55494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W5-02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97AB23-30AE-4EEA-B972-3D0AEA6114C2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特徵與標籤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B5ADC-E29B-4B56-86A1-EE3056EE2682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import numpy as np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PIL import Image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IPython.display import display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pathlib import Path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import csv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def make_card(rgb_values):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image = np.zeros((24, 24, 3), dtype=np.uint8)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image[:] = rgb_values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6DB3A5-C6AA-4D81-B7F9-285C0B485C58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執行資料準備，印出第一張色卡與特徵，分辨影像、特徵、標籤。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12D594-2FB9-4D21-B369-D0E49E02787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W5-02</a:t>
            </a:r>
          </a:p>
        </p:txBody>
      </p:sp>
    </p:spTree>
    <p:extLst>
      <p:ext uri="{BB962C8B-B14F-4D97-AF65-F5344CB8AC3E}">
        <p14:creationId xmlns:p14="http://schemas.microsoft.com/office/powerpoint/2010/main" val="135416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EC67435-3D36-4329-AFEE-FFD188A9A89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W5-03   025–045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13B625-2633-4DBB-88E0-13AD7E73FB77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訓練集與保留測試集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6142B0-4D1F-4C49-AC8E-1AB438BB7AD0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2BD752-A97D-4F6C-B7BB-78A072460538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訓練集用來計算中心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DCD745-FB11-42C5-B350-34005F6710E2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EFD7F7-508B-498F-A50E-8E533F18390F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測試集保留到模型固定後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40DB11-C9EE-4E63-A1FF-74741DA353DC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EE335E-30DE-42AB-B4E6-F920E0C40E71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同張圖片重複放兩邊會洩漏答案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5B7E3F-7BA8-422D-A55D-C2F6DA2FC7EA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174194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200B422-2B89-4C02-A36F-DE90FC0B534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W5-03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5D3D40-BC2F-49B1-AC0D-1DDE1F78B405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訓練集與保留測試集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91D8F0-A353-4D4B-90EC-1F88E3450FA9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train_values = [[220,30,30], [180,20,20], [240,50,50],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        [30,220,30], [20,180,20], [50,240,50],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        [30,30,220], [20,20,180], [50,50,240]]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y_train = np.array(["red"] * 3 + ["green"] * 3 + ["blue"] * 3)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test_values = [[200,25,25], [230,40,40], [25,200,25],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       [40,230,40], [25,25,200], [40,40,230]]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y_test = np.array(["red", "red", "green", "green", "blue", "blue"])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X_train = np.array([features(make_card(v)) for v in train_values])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DBCB62-1D36-4F0B-BD13-A069952A6ACE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數出各類訓練與測試筆數，確認沒有相同色卡同時出現在兩側。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68691F-7A4F-489D-9D6A-A141780B5F6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W5-03</a:t>
            </a:r>
          </a:p>
        </p:txBody>
      </p:sp>
    </p:spTree>
    <p:extLst>
      <p:ext uri="{BB962C8B-B14F-4D97-AF65-F5344CB8AC3E}">
        <p14:creationId xmlns:p14="http://schemas.microsoft.com/office/powerpoint/2010/main" val="50880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6862907-6C06-4D8D-9BF9-1D22CE53A7FB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W5-03   原教材圖文對照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3763" y="590550"/>
            <a:ext cx="7874000" cy="5905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5219F93-F631-468A-A338-22AF9482ED88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CH11PPT.ppt 第 19 頁</a:t>
            </a:r>
          </a:p>
        </p:txBody>
      </p:sp>
    </p:spTree>
    <p:extLst>
      <p:ext uri="{BB962C8B-B14F-4D97-AF65-F5344CB8AC3E}">
        <p14:creationId xmlns:p14="http://schemas.microsoft.com/office/powerpoint/2010/main" val="1573208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9EF0DC4-89A5-4E8F-9C98-340FDA74869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W5-04   045–060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04E48C-1FD1-4B87-8D7F-4F089202BDB7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訓練最近中心分類器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1E92F0-8674-4C41-BBE7-18C921A947FF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8B480B-EFF9-4156-9522-B9E5E4053A32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同類特徵取平均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5F384F-D476-4021-BE1C-7878F01697E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4F2285-BE48-46B5-B17E-7A56002B124C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中心是從訓練資料算出的參數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D92F1-D39D-418D-8601-40CFAA3CA0B3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D338A1-5DE8-49A7-865F-B448DBC46592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三個類別各有一個中心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1E432C-91A3-4DEE-9CBD-A39F7C589E11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1130557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E704F45-8F4B-4F99-9260-53DB81B1929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W5-04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9BA531-FB5E-48C6-ADB7-7F2518C21CDE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訓練最近中心分類器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DE9219-B3FC-4773-AEC8-14D6594982F1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classes = np.unique(y_train)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centroids = []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label in classes: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class_rows = X_train[y_train == label]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centroids.append(class_rows.mean(axis=0))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centroids = np.array(centroids)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label, center in zip(classes, centroids):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print(label, np.round(center, 2))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8F7D1C-7043-43B6-8020-86FD71311302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計算三個中心，手算紅色中心第一個通道與程式核對。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91187-73F0-46EC-A084-5E6B91D593A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W5-04</a:t>
            </a:r>
          </a:p>
        </p:txBody>
      </p:sp>
    </p:spTree>
    <p:extLst>
      <p:ext uri="{BB962C8B-B14F-4D97-AF65-F5344CB8AC3E}">
        <p14:creationId xmlns:p14="http://schemas.microsoft.com/office/powerpoint/2010/main" val="1777808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3C9CE97-A56F-4907-919C-242E8382E33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W5-05   060–070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C7C2E9-7745-4D80-A5D5-18B0917331D4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休息與模型保存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8505A8-AA0E-4562-994A-BD4C32A1C802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5F8C30-A00A-4012-A047-25137DBC9AA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先儲存，再離開座位</a:t>
            </a:r>
          </a:p>
        </p:txBody>
      </p:sp>
    </p:spTree>
    <p:extLst>
      <p:ext uri="{BB962C8B-B14F-4D97-AF65-F5344CB8AC3E}">
        <p14:creationId xmlns:p14="http://schemas.microsoft.com/office/powerpoint/2010/main" val="1074810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0631F43-A66E-48D8-9E59-2F340513F6A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W5-06   070–090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7C2491-0B1C-46D7-A5FA-6FD48614C3C7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推論與距離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C10D23-3760-428D-B612-35BC83A1087B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CCB927-8369-4BEE-B10B-A89ADB979C6A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新特徵與各中心比較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832E25-BD63-47A5-A0F7-3A82B2B4AB3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3F7115-5E85-43FE-8FB0-9FE0CA4F482E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平方差總和最小者勝出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5ED631-9903-4A03-88DF-2288E18C4777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BCEACF-402E-475D-8705-3E65596245F1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距離不是機率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160E0B-D9DE-4A67-84CC-FCEECB1E014B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1286080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3E60052-9E66-4920-AACB-355FBF54591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W5-06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14170C-1A5B-452A-97E7-CFF5451968D6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推論與距離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6DC9B8-FEEE-44DC-89AA-8AADA58C820B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def predict_one(feature):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distances = []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for center in centroids: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distances.append(float(np.sum((feature - center) ** 2)))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index = int(np.argmin(distances))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return str(classes[index]), distances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prediction, distances = predict_one(X_test[0])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print(prediction, np.round(distances, 2))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0E74A1-7DA8-407C-9E49-33F0F56C940A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預測[200,25,25]，查看三個距離與最小值索引。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555644-2D92-4B25-8F3A-EBDECF10214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W5-06</a:t>
            </a:r>
          </a:p>
        </p:txBody>
      </p:sp>
    </p:spTree>
    <p:extLst>
      <p:ext uri="{BB962C8B-B14F-4D97-AF65-F5344CB8AC3E}">
        <p14:creationId xmlns:p14="http://schemas.microsoft.com/office/powerpoint/2010/main" val="2002604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5F62625-2FF3-4B2B-93AB-D97D17A66F8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W5-07   090–110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FA7630-FB76-4EA1-A43F-392B652A37B2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測試與正確率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C9D3D2-B9D0-447F-9ADD-2F39935722E7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13A4B9-70D8-4F5D-8930-4B13AB6CE020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每筆預測對照已知標籤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DC58EC-CD82-47FA-8B8B-1E1B080D9E3B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D587B6-8251-41E9-AABD-BF6F7FB09C2E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正確率是答對筆數除以總筆數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E88749-EB72-40AB-933F-AD3957A721EC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1A7279-EA04-47A7-A51D-46628C279546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小而簡單的測試無法代表所有情況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426650-5CEE-414C-8D60-615FF1B1A1D7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1202381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704E633-B3D1-4D05-A0C2-82962447DB1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W5-07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A37549-1E57-4D8C-A9C5-7CDC473F6A3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測試與正確率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D4B881-7B90-4AE5-8594-9385B7C38FD8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predictions = []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feature in X_test: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label, _ = predict_one(feature)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predictions.append(label)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predictions = np.array(predictions)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correct = int(np.sum(predictions == y_test))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accuracy = correct / len(y_test)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truth, pred in zip(y_test, predictions):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C8050A-D689-44BF-8921-CF96F9822049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列出六筆結果，計算correct、total與accuracy。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A68B42-A4E2-41BF-9E31-C6AFB614C92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W5-07</a:t>
            </a:r>
          </a:p>
        </p:txBody>
      </p:sp>
    </p:spTree>
    <p:extLst>
      <p:ext uri="{BB962C8B-B14F-4D97-AF65-F5344CB8AC3E}">
        <p14:creationId xmlns:p14="http://schemas.microsoft.com/office/powerpoint/2010/main" val="1984985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471ECAD-2A7D-42FE-B6E6-FB3EBA58061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W5-08   110–125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19E998-8BD8-4048-94F4-997DE05148BF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陌生樣本與失敗案例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02A483-38E2-434D-B5D0-F5C597528688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FA7C-0FC5-4EFB-B5C4-013E490C24CB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模型只認得既定三類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1BC833-3CFC-4162-A3BB-CCF82EDE611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0B2A95-39CC-425B-B58B-2C694B33A8E6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灰色也會被迫選一類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A54EE9-7548-4CAA-AC20-5D67335EBDB6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A0500B-2B36-43F0-9BA5-15B17F1DF3B2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同距離時argmin選第一個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179EE5-7F7A-493C-9120-7935D913C58B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307687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BFC0CEF-CD55-445A-9005-94B8D58E8DE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W5-08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43FFAC-31EE-4220-9F59-21558EF01AF5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陌生樣本與失敗案例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81A0C8-2EAD-4E41-BDD9-A2C044FF838E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unknown = make_card([128, 128, 128])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display(Image.fromarray(unknown))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unknown_label, unknown_distances = predict_one(features(unknown))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print("灰色被分為", unknown_label)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print(np.round(unknown_distances, 2))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F6A11B-44C7-43A5-B9F2-52A02C18DCE5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預測[128,128,128]並觀察距離；記錄它應屬未學過的灰色。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F565C-935C-44BC-9476-655765CBD09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W5-08</a:t>
            </a:r>
          </a:p>
        </p:txBody>
      </p:sp>
    </p:spTree>
    <p:extLst>
      <p:ext uri="{BB962C8B-B14F-4D97-AF65-F5344CB8AC3E}">
        <p14:creationId xmlns:p14="http://schemas.microsoft.com/office/powerpoint/2010/main" val="811840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CC54E60-71CF-4A59-A08B-8D57B58B8A4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W5-09   125–140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C55FF5-9E77-4AB9-9A14-EC98310C4959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教材 AI 應用對照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823901-F51F-44BF-82E2-ECEEE27ABB2F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A5E661-051A-4B4A-A52F-D440C012D563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人臉偵測找位置，識別判身分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D4C02C-B83C-417E-9600-261D9D14A28D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8378E7-B392-4DD2-9626-F84BD8816A37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手勢可先估關鍵點再套規則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E71576-0F9F-41B9-A5D7-44190543C890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BB82C2-C0E1-4C56-A0DF-F0181B329CCA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預訓練模型仍需要檢查結果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9F7E5D-DB4D-4B74-AC28-CA633993CC7A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2072044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26FFBC2-748D-4A2B-83F0-8BA29320D8C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W5-09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C1A084-196D-464D-B2C8-8CB6616B44C4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教材 AI 應用對照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6FF2A6-BF54-4F59-B43B-7A907D4002F7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將「找出臉框」「認出小安」「紅色卡分類」配對成偵測、識別、分類。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86218E-5495-4B42-94BC-2F212D98C6B6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82BF1-979D-4DD9-99C8-7CE9643C4B42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找臉框是偵測，認出小安是身分識別，紅色卡是分類。</a:t>
            </a:r>
          </a:p>
        </p:txBody>
      </p:sp>
    </p:spTree>
    <p:extLst>
      <p:ext uri="{BB962C8B-B14F-4D97-AF65-F5344CB8AC3E}">
        <p14:creationId xmlns:p14="http://schemas.microsoft.com/office/powerpoint/2010/main" val="34637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1272A5-D60D-4A5A-BA1D-4CDF88594023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W5-09   原教材圖文對照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3763" y="590550"/>
            <a:ext cx="7874000" cy="5905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8845A75-6E20-4D6C-95DF-C0266427B5DE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CH16PPT.ppt 第 4 頁</a:t>
            </a:r>
          </a:p>
        </p:txBody>
      </p:sp>
    </p:spTree>
    <p:extLst>
      <p:ext uri="{BB962C8B-B14F-4D97-AF65-F5344CB8AC3E}">
        <p14:creationId xmlns:p14="http://schemas.microsoft.com/office/powerpoint/2010/main" val="377254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88682-CDA3-D8C7-AF66-DFE70AB1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2DDC6C22-A755-2116-5BD4-C8F130ABF16E}"/>
              </a:ext>
            </a:extLst>
          </p:cNvPr>
          <p:cNvSpPr txBox="1"/>
          <p:nvPr/>
        </p:nvSpPr>
        <p:spPr>
          <a:xfrm>
            <a:off x="531557" y="508011"/>
            <a:ext cx="395256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zh-TW" altLang="zh-TW" sz="2600" b="0" i="0" spc="38" dirty="0">
                <a:solidFill>
                  <a:schemeClr val="tx1"/>
                </a:solidFill>
                <a:effectLst/>
                <a:latin typeface="+mn-lt"/>
              </a:rPr>
              <a:t>講解：</a:t>
            </a:r>
            <a:r>
              <a:rPr lang="zh-TW" altLang="zh-TW" sz="2600" b="0" i="0" u="none" strike="noStrike" spc="38" dirty="0">
                <a:solidFill>
                  <a:schemeClr val="tx1"/>
                </a:solidFill>
                <a:effectLst/>
                <a:latin typeface="+mn-lt"/>
                <a:hlinkClick r:id="rId3"/>
              </a:rPr>
              <a:t>神經網路核心概念</a:t>
            </a:r>
            <a:endParaRPr lang="zh-TW" altLang="zh-TW" sz="2600" b="0" i="0" spc="38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zh-TW" altLang="zh-TW" sz="2600" b="0" i="0" spc="38" dirty="0">
                <a:solidFill>
                  <a:schemeClr val="tx1"/>
                </a:solidFill>
                <a:effectLst/>
                <a:latin typeface="+mn-lt"/>
              </a:rPr>
              <a:t>講解：</a:t>
            </a:r>
            <a:r>
              <a:rPr lang="zh-TW" altLang="zh-TW" sz="2600" b="0" i="0" u="none" strike="noStrike" spc="38" dirty="0">
                <a:solidFill>
                  <a:schemeClr val="tx1"/>
                </a:solidFill>
                <a:effectLst/>
                <a:latin typeface="+mn-lt"/>
                <a:hlinkClick r:id="rId4"/>
              </a:rPr>
              <a:t>激活函數介紹</a:t>
            </a:r>
            <a:br>
              <a:rPr lang="zh-TW" altLang="zh-TW" sz="2600" b="0" i="0" spc="38" dirty="0">
                <a:solidFill>
                  <a:schemeClr val="tx1"/>
                </a:solidFill>
                <a:effectLst/>
                <a:latin typeface="+mn-lt"/>
              </a:rPr>
            </a:br>
            <a:endParaRPr lang="zh-TW" altLang="zh-TW" sz="2600" b="0" i="0" spc="38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zh-TW" altLang="zh-TW" sz="2600" b="0" i="0" spc="38" dirty="0">
                <a:solidFill>
                  <a:schemeClr val="tx1"/>
                </a:solidFill>
                <a:effectLst/>
                <a:latin typeface="+mn-lt"/>
              </a:rPr>
              <a:t>活動：</a:t>
            </a:r>
            <a:r>
              <a:rPr lang="zh-TW" altLang="zh-TW" sz="2600" b="0" i="0" u="none" strike="noStrike" spc="38" dirty="0">
                <a:solidFill>
                  <a:schemeClr val="tx1"/>
                </a:solidFill>
                <a:effectLst/>
                <a:latin typeface="+mn-lt"/>
                <a:hlinkClick r:id="rId5"/>
              </a:rPr>
              <a:t>神經元工作方式</a:t>
            </a:r>
            <a:endParaRPr lang="zh-TW" altLang="zh-TW" sz="2600" b="0" i="0" spc="38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A23CDF-2152-894D-5F46-C9E75FDFD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5143" y="396419"/>
            <a:ext cx="2521218" cy="595357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6BD126C-C0D6-88E9-330A-80986248B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654" y="2334204"/>
            <a:ext cx="8641165" cy="4015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圖片 10" descr="手指箭头图片素材_免费手指箭头PNG设计图片大全_图精灵">
            <a:extLst>
              <a:ext uri="{FF2B5EF4-FFF2-40B4-BE49-F238E27FC236}">
                <a16:creationId xmlns:a16="http://schemas.microsoft.com/office/drawing/2014/main" id="{08E1816B-C437-EEB4-915F-A56103543DB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079441" y="1946787"/>
            <a:ext cx="809367" cy="9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84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3FEF749-412D-4723-BD87-4B1C771C83B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W5-10   140–160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503034-11B8-4178-B1FB-C5B22A788D37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期末專題與成果發表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93F09D-A4F7-4F98-87C3-CCDD771192B0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BC7AAC-D40D-4F05-915E-B2BFEDE9C3BC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保存每筆真實標籤與預測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BB4D16-2203-4D0A-97F6-8BD3DAF5771D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EEBF59-A39F-4282-ADF9-7803AA4A78E6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報告6筆保留測試結果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D59378-DF01-4133-9F7A-50A1B94185F5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03A328-32FD-4442-BF8D-A68EA0050755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展示至少1個失敗或陌生案例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13F8D1-745C-4F59-94D1-3D06FE059FE3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1697447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3421482-D16F-4097-B6B3-BAFBE304178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W5-10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9AB54F-F5BF-4550-8880-EA8417980D7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期末專題與成果發表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1A1E2-B153-4F38-9063-BB3CB7E51251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output_dir = Path("outputs")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output_dir.mkdir(exist_ok=True)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print("請整理本週成果")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72E59C-B983-43F6-8F90-9ABB603C0F60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保存predictions.csv及模型中心；完成3句結論，兩組互講或每組90秒發表。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8214D8-D0B4-4A62-AA65-E1D3D138EA5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W5-10</a:t>
            </a:r>
          </a:p>
        </p:txBody>
      </p:sp>
    </p:spTree>
    <p:extLst>
      <p:ext uri="{BB962C8B-B14F-4D97-AF65-F5344CB8AC3E}">
        <p14:creationId xmlns:p14="http://schemas.microsoft.com/office/powerpoint/2010/main" val="387473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E64D07D-C2C6-4D63-8838-241862BA5C3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W5-11   160–170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FAC185-E68E-4816-ADE9-FB8F4F15062F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專題評量與重跑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C5FDCC-9DD2-4342-B458-7119F2F586F4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9031E4-BEE5-49A7-8D7D-863ED3BAEDCE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程式可從乾淨核心重跑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D8E274-0CB5-40BA-84DD-688F0166D9A0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18F82-8EEF-4F63-A6CB-27887E135E53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資料與方法說明完整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33C704-7C43-431E-B7E9-21FAF8DC26ED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2F3B5D-8ADA-47F9-BD4B-76ADD343EAD8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限制說明與分數同樣重要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B17157-C280-47C6-B8F1-5F5B3467A077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674847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7976356-9842-44BA-9D66-1B8FE56B911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W5-11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9246B-68A9-470F-8FD2-30BF280DB915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專題評量與重跑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0A4E28-0C36-416C-A3D7-F24A10D1A1BF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依總覽評量表互評，提交Notebook、CSV與結論。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35FAE8-0B8B-4A53-BA9B-9461404D5A21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19CA46-DA76-4EE3-B24B-3A1ADE2BFAD2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可重跑且輸出完整；結論沒有將距離稱為機率，也沒有宣稱通用物體辨識。</a:t>
            </a:r>
          </a:p>
        </p:txBody>
      </p:sp>
    </p:spTree>
    <p:extLst>
      <p:ext uri="{BB962C8B-B14F-4D97-AF65-F5344CB8AC3E}">
        <p14:creationId xmlns:p14="http://schemas.microsoft.com/office/powerpoint/2010/main" val="661044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0D4451B-386F-4815-9F12-5687B65CC6F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W5-12   170–180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99F35B-0F8A-4722-BE70-FDF36A317241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五週回顧與下一步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521D91-1069-41C1-81E5-0FF4268FBA55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25046-85E0-457E-A18B-5CD99A2BB25A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變數、控制、函數、資料、影像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A194CB-B638-40EC-B6B8-8C5C79962D19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F88B7D-987A-4EF3-A724-4624B53CFBC0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模型品質需要資料與評估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DCC574-EE2A-4C62-9543-2C409BE20A99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658736-3C89-49B9-8ABA-02B116E02562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延伸閱讀教材12至16章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82C458-811E-4EDD-9CD4-7B283212B088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本週作品：以平均RGB特徵建立紅綠藍色卡分類器，評估保留資料與陌生灰色樣本</a:t>
            </a:r>
          </a:p>
        </p:txBody>
      </p:sp>
    </p:spTree>
    <p:extLst>
      <p:ext uri="{BB962C8B-B14F-4D97-AF65-F5344CB8AC3E}">
        <p14:creationId xmlns:p14="http://schemas.microsoft.com/office/powerpoint/2010/main" val="826555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B17BE02-DB13-4256-BFCA-CFF18CAE518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W5-12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720959-AF9A-4797-8714-740577339DF4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五週回顧與下一步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267AF-8962-4D41-94B1-F70F5242FB96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離堂回答：訓練與推論差別、為何分開測試、灰色案例的限制。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21002A-1F97-4D89-9892-7A7CEAC6ADEF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578575-8C67-41CA-B535-777ADB7B8024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訓練估計中心，推論使用固定中心；保留測試檢查未用來訓練的資料；模型不能自動拒絕未知類別。</a:t>
            </a:r>
          </a:p>
        </p:txBody>
      </p:sp>
    </p:spTree>
    <p:extLst>
      <p:ext uri="{BB962C8B-B14F-4D97-AF65-F5344CB8AC3E}">
        <p14:creationId xmlns:p14="http://schemas.microsoft.com/office/powerpoint/2010/main" val="4149729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2976</Words>
  <Application>Microsoft Office PowerPoint</Application>
  <DocSecurity>0</DocSecurity>
  <PresentationFormat>寬螢幕</PresentationFormat>
  <Paragraphs>417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2" baseType="lpstr">
      <vt:lpstr>Microsoft JhengHei</vt:lpstr>
      <vt:lpstr>Calibri</vt:lpstr>
      <vt:lpstr>Helvetica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王頌文</cp:lastModifiedBy>
  <cp:revision>1</cp:revision>
  <dcterms:created xsi:type="dcterms:W3CDTF">2026-10-07T23:28:45Z</dcterms:created>
  <dcterms:modified xsi:type="dcterms:W3CDTF">2026-10-15T22:07:55Z</dcterms:modified>
</cp:coreProperties>
</file>