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1"/>
  </p:sldMasterIdLst>
  <p:notesMasterIdLst>
    <p:notesMasterId r:id="rId133"/>
  </p:notesMasterIdLst>
  <p:sldIdLst>
    <p:sldId id="607" r:id="rId2"/>
    <p:sldId id="464" r:id="rId3"/>
    <p:sldId id="685" r:id="rId4"/>
    <p:sldId id="686" r:id="rId5"/>
    <p:sldId id="687" r:id="rId6"/>
    <p:sldId id="690" r:id="rId7"/>
    <p:sldId id="688" r:id="rId8"/>
    <p:sldId id="693" r:id="rId9"/>
    <p:sldId id="694" r:id="rId10"/>
    <p:sldId id="612" r:id="rId11"/>
    <p:sldId id="660" r:id="rId12"/>
    <p:sldId id="661" r:id="rId13"/>
    <p:sldId id="614" r:id="rId14"/>
    <p:sldId id="662" r:id="rId15"/>
    <p:sldId id="678" r:id="rId16"/>
    <p:sldId id="679" r:id="rId17"/>
    <p:sldId id="680" r:id="rId18"/>
    <p:sldId id="681" r:id="rId19"/>
    <p:sldId id="697" r:id="rId20"/>
    <p:sldId id="692" r:id="rId21"/>
    <p:sldId id="695" r:id="rId22"/>
    <p:sldId id="557" r:id="rId23"/>
    <p:sldId id="696" r:id="rId24"/>
    <p:sldId id="700" r:id="rId25"/>
    <p:sldId id="701" r:id="rId26"/>
    <p:sldId id="702" r:id="rId27"/>
    <p:sldId id="703" r:id="rId28"/>
    <p:sldId id="683" r:id="rId29"/>
    <p:sldId id="698" r:id="rId30"/>
    <p:sldId id="706" r:id="rId31"/>
    <p:sldId id="707" r:id="rId32"/>
    <p:sldId id="704" r:id="rId33"/>
    <p:sldId id="708" r:id="rId34"/>
    <p:sldId id="709" r:id="rId35"/>
    <p:sldId id="705" r:id="rId36"/>
    <p:sldId id="710" r:id="rId37"/>
    <p:sldId id="711" r:id="rId38"/>
    <p:sldId id="699" r:id="rId39"/>
    <p:sldId id="712" r:id="rId40"/>
    <p:sldId id="714" r:id="rId41"/>
    <p:sldId id="717" r:id="rId42"/>
    <p:sldId id="623" r:id="rId43"/>
    <p:sldId id="713" r:id="rId44"/>
    <p:sldId id="718" r:id="rId45"/>
    <p:sldId id="715" r:id="rId46"/>
    <p:sldId id="665" r:id="rId47"/>
    <p:sldId id="667" r:id="rId48"/>
    <p:sldId id="668" r:id="rId49"/>
    <p:sldId id="669" r:id="rId50"/>
    <p:sldId id="670" r:id="rId51"/>
    <p:sldId id="671" r:id="rId52"/>
    <p:sldId id="673" r:id="rId53"/>
    <p:sldId id="716" r:id="rId54"/>
    <p:sldId id="719" r:id="rId55"/>
    <p:sldId id="763" r:id="rId56"/>
    <p:sldId id="764" r:id="rId57"/>
    <p:sldId id="720" r:id="rId58"/>
    <p:sldId id="721" r:id="rId59"/>
    <p:sldId id="722" r:id="rId60"/>
    <p:sldId id="723" r:id="rId61"/>
    <p:sldId id="724" r:id="rId62"/>
    <p:sldId id="725" r:id="rId63"/>
    <p:sldId id="727" r:id="rId64"/>
    <p:sldId id="730" r:id="rId65"/>
    <p:sldId id="728" r:id="rId66"/>
    <p:sldId id="731" r:id="rId67"/>
    <p:sldId id="732" r:id="rId68"/>
    <p:sldId id="733" r:id="rId69"/>
    <p:sldId id="729" r:id="rId70"/>
    <p:sldId id="726" r:id="rId71"/>
    <p:sldId id="734" r:id="rId72"/>
    <p:sldId id="735" r:id="rId73"/>
    <p:sldId id="738" r:id="rId74"/>
    <p:sldId id="736" r:id="rId75"/>
    <p:sldId id="739" r:id="rId76"/>
    <p:sldId id="740" r:id="rId77"/>
    <p:sldId id="741" r:id="rId78"/>
    <p:sldId id="737" r:id="rId79"/>
    <p:sldId id="743" r:id="rId80"/>
    <p:sldId id="744" r:id="rId81"/>
    <p:sldId id="745" r:id="rId82"/>
    <p:sldId id="746" r:id="rId83"/>
    <p:sldId id="628" r:id="rId84"/>
    <p:sldId id="588" r:id="rId85"/>
    <p:sldId id="570" r:id="rId86"/>
    <p:sldId id="747" r:id="rId87"/>
    <p:sldId id="689" r:id="rId88"/>
    <p:sldId id="586" r:id="rId89"/>
    <p:sldId id="631" r:id="rId90"/>
    <p:sldId id="632" r:id="rId91"/>
    <p:sldId id="596" r:id="rId92"/>
    <p:sldId id="618" r:id="rId93"/>
    <p:sldId id="748" r:id="rId94"/>
    <p:sldId id="634" r:id="rId95"/>
    <p:sldId id="633" r:id="rId96"/>
    <p:sldId id="626" r:id="rId97"/>
    <p:sldId id="635" r:id="rId98"/>
    <p:sldId id="749" r:id="rId99"/>
    <p:sldId id="750" r:id="rId100"/>
    <p:sldId id="638" r:id="rId101"/>
    <p:sldId id="584" r:id="rId102"/>
    <p:sldId id="751" r:id="rId103"/>
    <p:sldId id="752" r:id="rId104"/>
    <p:sldId id="753" r:id="rId105"/>
    <p:sldId id="672" r:id="rId106"/>
    <p:sldId id="754" r:id="rId107"/>
    <p:sldId id="674" r:id="rId108"/>
    <p:sldId id="675" r:id="rId109"/>
    <p:sldId id="624" r:id="rId110"/>
    <p:sldId id="597" r:id="rId111"/>
    <p:sldId id="676" r:id="rId112"/>
    <p:sldId id="576" r:id="rId113"/>
    <p:sldId id="630" r:id="rId114"/>
    <p:sldId id="677" r:id="rId115"/>
    <p:sldId id="755" r:id="rId116"/>
    <p:sldId id="756" r:id="rId117"/>
    <p:sldId id="637" r:id="rId118"/>
    <p:sldId id="757" r:id="rId119"/>
    <p:sldId id="682" r:id="rId120"/>
    <p:sldId id="591" r:id="rId121"/>
    <p:sldId id="691" r:id="rId122"/>
    <p:sldId id="611" r:id="rId123"/>
    <p:sldId id="758" r:id="rId124"/>
    <p:sldId id="759" r:id="rId125"/>
    <p:sldId id="613" r:id="rId126"/>
    <p:sldId id="684" r:id="rId127"/>
    <p:sldId id="760" r:id="rId128"/>
    <p:sldId id="761" r:id="rId129"/>
    <p:sldId id="762" r:id="rId130"/>
    <p:sldId id="600" r:id="rId131"/>
    <p:sldId id="625" r:id="rId1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139AAF"/>
    <a:srgbClr val="0000FF"/>
    <a:srgbClr val="F0EE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3795" autoAdjust="0"/>
  </p:normalViewPr>
  <p:slideViewPr>
    <p:cSldViewPr snapToGrid="0">
      <p:cViewPr varScale="1">
        <p:scale>
          <a:sx n="77" d="100"/>
          <a:sy n="77" d="100"/>
        </p:scale>
        <p:origin x="946" y="53"/>
      </p:cViewPr>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B0E32-C4C2-4FEF-BBCE-B6CA6E35E463}" type="datetimeFigureOut">
              <a:rPr lang="zh-TW" altLang="en-US" smtClean="0"/>
              <a:t>2026/10/25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35712-BB74-4C9D-B9E4-D288F03A6A8C}" type="slidenum">
              <a:rPr lang="zh-TW" altLang="en-US" smtClean="0"/>
              <a:t>‹#›</a:t>
            </a:fld>
            <a:endParaRPr lang="zh-TW" altLang="en-US"/>
          </a:p>
        </p:txBody>
      </p:sp>
    </p:spTree>
    <p:extLst>
      <p:ext uri="{BB962C8B-B14F-4D97-AF65-F5344CB8AC3E}">
        <p14:creationId xmlns:p14="http://schemas.microsoft.com/office/powerpoint/2010/main" val="3727323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10</a:t>
            </a:fld>
            <a:endParaRPr lang="zh-TW" altLang="en-US"/>
          </a:p>
        </p:txBody>
      </p:sp>
    </p:spTree>
    <p:extLst>
      <p:ext uri="{BB962C8B-B14F-4D97-AF65-F5344CB8AC3E}">
        <p14:creationId xmlns:p14="http://schemas.microsoft.com/office/powerpoint/2010/main" val="2933802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5B35712-BB74-4C9D-B9E4-D288F03A6A8C}" type="slidenum">
              <a:rPr lang="zh-TW" altLang="en-US" smtClean="0"/>
              <a:t>13</a:t>
            </a:fld>
            <a:endParaRPr lang="zh-TW" altLang="en-US"/>
          </a:p>
        </p:txBody>
      </p:sp>
    </p:spTree>
    <p:extLst>
      <p:ext uri="{BB962C8B-B14F-4D97-AF65-F5344CB8AC3E}">
        <p14:creationId xmlns:p14="http://schemas.microsoft.com/office/powerpoint/2010/main" val="142924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14</a:t>
            </a:fld>
            <a:endParaRPr lang="zh-TW" altLang="en-US"/>
          </a:p>
        </p:txBody>
      </p:sp>
    </p:spTree>
    <p:extLst>
      <p:ext uri="{BB962C8B-B14F-4D97-AF65-F5344CB8AC3E}">
        <p14:creationId xmlns:p14="http://schemas.microsoft.com/office/powerpoint/2010/main" val="2600981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15</a:t>
            </a:fld>
            <a:endParaRPr lang="zh-TW" altLang="en-US"/>
          </a:p>
        </p:txBody>
      </p:sp>
    </p:spTree>
    <p:extLst>
      <p:ext uri="{BB962C8B-B14F-4D97-AF65-F5344CB8AC3E}">
        <p14:creationId xmlns:p14="http://schemas.microsoft.com/office/powerpoint/2010/main" val="1288414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5B35712-BB74-4C9D-B9E4-D288F03A6A8C}" type="slidenum">
              <a:rPr lang="zh-TW" altLang="en-US" smtClean="0"/>
              <a:t>42</a:t>
            </a:fld>
            <a:endParaRPr lang="zh-TW" altLang="en-US"/>
          </a:p>
        </p:txBody>
      </p:sp>
    </p:spTree>
    <p:extLst>
      <p:ext uri="{BB962C8B-B14F-4D97-AF65-F5344CB8AC3E}">
        <p14:creationId xmlns:p14="http://schemas.microsoft.com/office/powerpoint/2010/main" val="536518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46</a:t>
            </a:fld>
            <a:endParaRPr lang="zh-TW" altLang="en-US"/>
          </a:p>
        </p:txBody>
      </p:sp>
    </p:spTree>
    <p:extLst>
      <p:ext uri="{BB962C8B-B14F-4D97-AF65-F5344CB8AC3E}">
        <p14:creationId xmlns:p14="http://schemas.microsoft.com/office/powerpoint/2010/main" val="3882637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47</a:t>
            </a:fld>
            <a:endParaRPr lang="zh-TW" altLang="en-US"/>
          </a:p>
        </p:txBody>
      </p:sp>
    </p:spTree>
    <p:extLst>
      <p:ext uri="{BB962C8B-B14F-4D97-AF65-F5344CB8AC3E}">
        <p14:creationId xmlns:p14="http://schemas.microsoft.com/office/powerpoint/2010/main" val="3168952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5B35712-BB74-4C9D-B9E4-D288F03A6A8C}" type="slidenum">
              <a:rPr lang="zh-TW" altLang="en-US" smtClean="0"/>
              <a:t>68</a:t>
            </a:fld>
            <a:endParaRPr lang="zh-TW" altLang="en-US"/>
          </a:p>
        </p:txBody>
      </p:sp>
    </p:spTree>
    <p:extLst>
      <p:ext uri="{BB962C8B-B14F-4D97-AF65-F5344CB8AC3E}">
        <p14:creationId xmlns:p14="http://schemas.microsoft.com/office/powerpoint/2010/main" val="531517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B35712-BB74-4C9D-B9E4-D288F03A6A8C}"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469169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B35712-BB74-4C9D-B9E4-D288F03A6A8C}"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6205894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標題投影片">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69D261D7-9079-4E69-A830-E96719A6F4A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934414" y="542693"/>
            <a:ext cx="6858000" cy="5776332"/>
          </a:xfrm>
          <a:prstGeom prst="rect">
            <a:avLst/>
          </a:prstGeom>
        </p:spPr>
      </p:pic>
      <p:sp>
        <p:nvSpPr>
          <p:cNvPr id="2" name="標題 1"/>
          <p:cNvSpPr>
            <a:spLocks noGrp="1"/>
          </p:cNvSpPr>
          <p:nvPr>
            <p:ph type="ctrTitle"/>
          </p:nvPr>
        </p:nvSpPr>
        <p:spPr>
          <a:xfrm>
            <a:off x="399587" y="1579857"/>
            <a:ext cx="4752276" cy="2832605"/>
          </a:xfrm>
        </p:spPr>
        <p:txBody>
          <a:bodyPr anchor="ctr">
            <a:noAutofit/>
          </a:bodyPr>
          <a:lstStyle>
            <a:lvl1pPr algn="ctr">
              <a:lnSpc>
                <a:spcPct val="110000"/>
              </a:lnSpc>
              <a:defRPr sz="6000" b="1" u="none">
                <a:solidFill>
                  <a:schemeClr val="bg1"/>
                </a:solidFill>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defRPr>
            </a:lvl1pPr>
          </a:lstStyle>
          <a:p>
            <a:r>
              <a:rPr lang="zh-TW" altLang="en-US" dirty="0"/>
              <a:t>按一下以編輯母片標題樣</a:t>
            </a:r>
          </a:p>
        </p:txBody>
      </p:sp>
      <p:sp>
        <p:nvSpPr>
          <p:cNvPr id="3" name="副標題 2"/>
          <p:cNvSpPr>
            <a:spLocks noGrp="1"/>
          </p:cNvSpPr>
          <p:nvPr>
            <p:ph type="subTitle" idx="1"/>
          </p:nvPr>
        </p:nvSpPr>
        <p:spPr>
          <a:xfrm>
            <a:off x="399586" y="4825716"/>
            <a:ext cx="4752276" cy="993961"/>
          </a:xfrm>
        </p:spPr>
        <p:txBody>
          <a:bodyPr>
            <a:normAutofit/>
          </a:bodyPr>
          <a:lstStyle>
            <a:lvl1pPr marL="0" indent="0" algn="ctr">
              <a:buNone/>
              <a:defRPr sz="3200" b="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按一下以編輯母片副標題樣式</a:t>
            </a:r>
          </a:p>
        </p:txBody>
      </p:sp>
    </p:spTree>
    <p:extLst>
      <p:ext uri="{BB962C8B-B14F-4D97-AF65-F5344CB8AC3E}">
        <p14:creationId xmlns:p14="http://schemas.microsoft.com/office/powerpoint/2010/main" val="374775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666750"/>
            <a:ext cx="10515600" cy="933450"/>
          </a:xfrm>
        </p:spPr>
        <p:txBody>
          <a:bodyPr/>
          <a:lstStyle>
            <a:lvl1pPr>
              <a:defRPr b="1" u="none">
                <a:solidFill>
                  <a:schemeClr val="tx1">
                    <a:lumMod val="65000"/>
                    <a:lumOff val="35000"/>
                  </a:schemeClr>
                </a:solidFill>
                <a:latin typeface="+mn-lt"/>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838200" y="1857375"/>
            <a:ext cx="10515600" cy="4400550"/>
          </a:xfrm>
        </p:spPr>
        <p:txBody>
          <a:bodyPr/>
          <a:lstStyle>
            <a:lvl1pPr>
              <a:lnSpc>
                <a:spcPct val="110000"/>
              </a:lnSpc>
              <a:defRPr>
                <a:solidFill>
                  <a:schemeClr val="tx1">
                    <a:lumMod val="65000"/>
                    <a:lumOff val="35000"/>
                  </a:schemeClr>
                </a:solidFill>
                <a:latin typeface="+mn-lt"/>
                <a:ea typeface="微軟正黑體" panose="020B0604030504040204" pitchFamily="34" charset="-120"/>
              </a:defRPr>
            </a:lvl1pPr>
            <a:lvl2pPr>
              <a:lnSpc>
                <a:spcPct val="110000"/>
              </a:lnSpc>
              <a:defRPr sz="2600">
                <a:solidFill>
                  <a:srgbClr val="0070C0"/>
                </a:solidFill>
                <a:latin typeface="+mn-lt"/>
                <a:ea typeface="微軟正黑體" panose="020B0604030504040204" pitchFamily="34" charset="-120"/>
              </a:defRPr>
            </a:lvl2pPr>
            <a:lvl3pPr>
              <a:lnSpc>
                <a:spcPct val="110000"/>
              </a:lnSpc>
              <a:defRPr sz="2400">
                <a:solidFill>
                  <a:schemeClr val="tx1">
                    <a:lumMod val="65000"/>
                    <a:lumOff val="35000"/>
                  </a:schemeClr>
                </a:solidFill>
                <a:latin typeface="+mn-lt"/>
                <a:ea typeface="微軟正黑體" panose="020B0604030504040204" pitchFamily="34" charset="-120"/>
              </a:defRPr>
            </a:lvl3pPr>
            <a:lvl4pPr>
              <a:lnSpc>
                <a:spcPct val="100000"/>
              </a:lnSpc>
              <a:defRPr>
                <a:latin typeface="微軟正黑體" panose="020B0604030504040204" pitchFamily="34" charset="-120"/>
                <a:ea typeface="微軟正黑體" panose="020B0604030504040204" pitchFamily="34" charset="-120"/>
              </a:defRPr>
            </a:lvl4pPr>
            <a:lvl5pPr>
              <a:lnSpc>
                <a:spcPct val="1000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p:txBody>
      </p:sp>
      <p:sp>
        <p:nvSpPr>
          <p:cNvPr id="4" name="日期版面配置區 3"/>
          <p:cNvSpPr>
            <a:spLocks noGrp="1"/>
          </p:cNvSpPr>
          <p:nvPr>
            <p:ph type="dt" sz="half" idx="10"/>
          </p:nvPr>
        </p:nvSpPr>
        <p:spPr>
          <a:xfrm>
            <a:off x="4724400" y="6480174"/>
            <a:ext cx="2743200" cy="365125"/>
          </a:xfrm>
        </p:spPr>
        <p:txBody>
          <a:bodyPr/>
          <a:lstStyle/>
          <a:p>
            <a:endParaRPr lang="zh-TW" altLang="en-US"/>
          </a:p>
        </p:txBody>
      </p:sp>
      <p:sp>
        <p:nvSpPr>
          <p:cNvPr id="7" name="矩形 6"/>
          <p:cNvSpPr/>
          <p:nvPr userDrawn="1"/>
        </p:nvSpPr>
        <p:spPr>
          <a:xfrm>
            <a:off x="0" y="0"/>
            <a:ext cx="12192000" cy="295275"/>
          </a:xfrm>
          <a:prstGeom prst="rect">
            <a:avLst/>
          </a:prstGeom>
          <a:solidFill>
            <a:srgbClr val="139AAF"/>
          </a:solidFill>
          <a:ln>
            <a:noFill/>
          </a:ln>
          <a:effectLst>
            <a:outerShdw blurRad="50800" dist="508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cxnSp>
        <p:nvCxnSpPr>
          <p:cNvPr id="12" name="直線接點 11"/>
          <p:cNvCxnSpPr>
            <a:endCxn id="14" idx="0"/>
          </p:cNvCxnSpPr>
          <p:nvPr userDrawn="1"/>
        </p:nvCxnSpPr>
        <p:spPr>
          <a:xfrm>
            <a:off x="542925" y="190500"/>
            <a:ext cx="0" cy="790575"/>
          </a:xfrm>
          <a:prstGeom prst="line">
            <a:avLst/>
          </a:prstGeom>
          <a:ln w="3492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橢圓 13"/>
          <p:cNvSpPr/>
          <p:nvPr userDrawn="1"/>
        </p:nvSpPr>
        <p:spPr>
          <a:xfrm>
            <a:off x="438150" y="981075"/>
            <a:ext cx="209550" cy="20955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頁尾版面配置區 4"/>
          <p:cNvSpPr>
            <a:spLocks noGrp="1"/>
          </p:cNvSpPr>
          <p:nvPr>
            <p:ph type="ftr" sz="quarter" idx="11"/>
          </p:nvPr>
        </p:nvSpPr>
        <p:spPr>
          <a:xfrm>
            <a:off x="438149" y="6480175"/>
            <a:ext cx="2833195" cy="365125"/>
          </a:xfrm>
        </p:spPr>
        <p:txBody>
          <a:bodyPr/>
          <a:lstStyle>
            <a:lvl1pPr>
              <a:defRPr sz="1600">
                <a:solidFill>
                  <a:schemeClr val="bg1"/>
                </a:solidFill>
                <a:latin typeface="微軟正黑體" panose="020B0604030504040204" pitchFamily="34" charset="-120"/>
                <a:ea typeface="微軟正黑體" panose="020B0604030504040204" pitchFamily="34" charset="-120"/>
              </a:defRPr>
            </a:lvl1pPr>
          </a:lstStyle>
          <a:p>
            <a:endParaRPr lang="zh-TW" altLang="en-US" dirty="0"/>
          </a:p>
        </p:txBody>
      </p:sp>
      <p:sp>
        <p:nvSpPr>
          <p:cNvPr id="15" name="投影片編號版面配置區 5"/>
          <p:cNvSpPr>
            <a:spLocks noGrp="1"/>
          </p:cNvSpPr>
          <p:nvPr>
            <p:ph type="sldNum" sz="quarter" idx="12"/>
          </p:nvPr>
        </p:nvSpPr>
        <p:spPr>
          <a:xfrm>
            <a:off x="11220450" y="6470650"/>
            <a:ext cx="647700" cy="365125"/>
          </a:xfrm>
        </p:spPr>
        <p:txBody>
          <a:bodyPr/>
          <a:lstStyle>
            <a:lvl1pPr>
              <a:defRPr sz="1800" b="0">
                <a:solidFill>
                  <a:schemeClr val="tx1">
                    <a:lumMod val="75000"/>
                    <a:lumOff val="25000"/>
                  </a:schemeClr>
                </a:solidFill>
              </a:defRPr>
            </a:lvl1pPr>
          </a:lstStyle>
          <a:p>
            <a:fld id="{A0B59302-35AD-44E9-AC3C-8D1DAE3511F1}" type="slidenum">
              <a:rPr lang="zh-TW" altLang="en-US" smtClean="0"/>
              <a:pPr/>
              <a:t>‹#›</a:t>
            </a:fld>
            <a:endParaRPr lang="zh-TW" altLang="en-US" dirty="0"/>
          </a:p>
        </p:txBody>
      </p:sp>
    </p:spTree>
    <p:extLst>
      <p:ext uri="{BB962C8B-B14F-4D97-AF65-F5344CB8AC3E}">
        <p14:creationId xmlns:p14="http://schemas.microsoft.com/office/powerpoint/2010/main" val="2734735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p:cNvSpPr/>
          <p:nvPr userDrawn="1"/>
        </p:nvSpPr>
        <p:spPr>
          <a:xfrm>
            <a:off x="0" y="0"/>
            <a:ext cx="12192000" cy="295275"/>
          </a:xfrm>
          <a:prstGeom prst="rect">
            <a:avLst/>
          </a:prstGeom>
          <a:solidFill>
            <a:srgbClr val="139AAF"/>
          </a:solidFill>
          <a:ln>
            <a:noFill/>
          </a:ln>
          <a:effectLst>
            <a:outerShdw blurRad="50800" dist="508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zh-TW" altLang="en-US"/>
          </a:p>
        </p:txBody>
      </p:sp>
      <p:cxnSp>
        <p:nvCxnSpPr>
          <p:cNvPr id="3" name="直線接點 2"/>
          <p:cNvCxnSpPr/>
          <p:nvPr userDrawn="1"/>
        </p:nvCxnSpPr>
        <p:spPr>
          <a:xfrm>
            <a:off x="542925" y="190500"/>
            <a:ext cx="0" cy="790575"/>
          </a:xfrm>
          <a:prstGeom prst="line">
            <a:avLst/>
          </a:prstGeom>
          <a:ln w="34925">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橢圓 4"/>
          <p:cNvSpPr/>
          <p:nvPr userDrawn="1"/>
        </p:nvSpPr>
        <p:spPr>
          <a:xfrm>
            <a:off x="438150" y="981075"/>
            <a:ext cx="209550" cy="20955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p:cNvSpPr>
            <a:spLocks noGrp="1"/>
          </p:cNvSpPr>
          <p:nvPr>
            <p:ph type="sldNum" sz="quarter" idx="12"/>
          </p:nvPr>
        </p:nvSpPr>
        <p:spPr>
          <a:xfrm>
            <a:off x="9124950" y="6470650"/>
            <a:ext cx="2743200" cy="365125"/>
          </a:xfrm>
        </p:spPr>
        <p:txBody>
          <a:bodyPr/>
          <a:lstStyle>
            <a:lvl1pPr>
              <a:defRPr sz="1800" b="0">
                <a:solidFill>
                  <a:schemeClr val="bg1"/>
                </a:solidFill>
              </a:defRPr>
            </a:lvl1pPr>
          </a:lstStyle>
          <a:p>
            <a:fld id="{A0B59302-35AD-44E9-AC3C-8D1DAE3511F1}" type="slidenum">
              <a:rPr lang="zh-TW" altLang="en-US" smtClean="0"/>
              <a:pPr/>
              <a:t>‹#›</a:t>
            </a:fld>
            <a:endParaRPr lang="zh-TW" altLang="en-US" dirty="0"/>
          </a:p>
        </p:txBody>
      </p:sp>
      <p:sp>
        <p:nvSpPr>
          <p:cNvPr id="7" name="頁尾版面配置區 4"/>
          <p:cNvSpPr>
            <a:spLocks noGrp="1"/>
          </p:cNvSpPr>
          <p:nvPr>
            <p:ph type="ftr" sz="quarter" idx="11"/>
          </p:nvPr>
        </p:nvSpPr>
        <p:spPr>
          <a:xfrm>
            <a:off x="19050" y="6480175"/>
            <a:ext cx="2838450" cy="365125"/>
          </a:xfrm>
        </p:spPr>
        <p:txBody>
          <a:bodyPr/>
          <a:lstStyle>
            <a:lvl1pPr>
              <a:defRPr sz="1600">
                <a:solidFill>
                  <a:schemeClr val="bg1"/>
                </a:solidFill>
                <a:latin typeface="微軟正黑體" panose="020B0604030504040204" pitchFamily="34" charset="-120"/>
                <a:ea typeface="微軟正黑體" panose="020B0604030504040204" pitchFamily="34" charset="-120"/>
              </a:defRPr>
            </a:lvl1pPr>
          </a:lstStyle>
          <a:p>
            <a:endParaRPr lang="zh-TW" altLang="en-US" dirty="0"/>
          </a:p>
        </p:txBody>
      </p:sp>
    </p:spTree>
    <p:extLst>
      <p:ext uri="{BB962C8B-B14F-4D97-AF65-F5344CB8AC3E}">
        <p14:creationId xmlns:p14="http://schemas.microsoft.com/office/powerpoint/2010/main" val="2721978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197260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80922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3957514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3039159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0114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訂版面配置">
    <p:spTree>
      <p:nvGrpSpPr>
        <p:cNvPr id="1" name=""/>
        <p:cNvGrpSpPr/>
        <p:nvPr/>
      </p:nvGrpSpPr>
      <p:grpSpPr>
        <a:xfrm>
          <a:off x="0" y="0"/>
          <a:ext cx="0" cy="0"/>
          <a:chOff x="0" y="0"/>
          <a:chExt cx="0" cy="0"/>
        </a:xfrm>
      </p:grpSpPr>
      <p:pic>
        <p:nvPicPr>
          <p:cNvPr id="6" name="圖片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手繪多邊形 6"/>
          <p:cNvSpPr/>
          <p:nvPr userDrawn="1"/>
        </p:nvSpPr>
        <p:spPr>
          <a:xfrm>
            <a:off x="7808802" y="1236656"/>
            <a:ext cx="4383198" cy="1199072"/>
          </a:xfrm>
          <a:custGeom>
            <a:avLst/>
            <a:gdLst>
              <a:gd name="connsiteX0" fmla="*/ 0 w 4279785"/>
              <a:gd name="connsiteY0" fmla="*/ 599535 h 1199072"/>
              <a:gd name="connsiteX1" fmla="*/ 0 w 4279785"/>
              <a:gd name="connsiteY1" fmla="*/ 599536 h 1199072"/>
              <a:gd name="connsiteX2" fmla="*/ 0 w 4279785"/>
              <a:gd name="connsiteY2" fmla="*/ 599536 h 1199072"/>
              <a:gd name="connsiteX3" fmla="*/ 599536 w 4279785"/>
              <a:gd name="connsiteY3" fmla="*/ 0 h 1199072"/>
              <a:gd name="connsiteX4" fmla="*/ 4234133 w 4279785"/>
              <a:gd name="connsiteY4" fmla="*/ 0 h 1199072"/>
              <a:gd name="connsiteX5" fmla="*/ 4279785 w 4279785"/>
              <a:gd name="connsiteY5" fmla="*/ 4602 h 1199072"/>
              <a:gd name="connsiteX6" fmla="*/ 4279785 w 4279785"/>
              <a:gd name="connsiteY6" fmla="*/ 1194470 h 1199072"/>
              <a:gd name="connsiteX7" fmla="*/ 4234132 w 4279785"/>
              <a:gd name="connsiteY7" fmla="*/ 1199072 h 1199072"/>
              <a:gd name="connsiteX8" fmla="*/ 599536 w 4279785"/>
              <a:gd name="connsiteY8" fmla="*/ 1199071 h 1199072"/>
              <a:gd name="connsiteX9" fmla="*/ 12181 w 4279785"/>
              <a:gd name="connsiteY9" fmla="*/ 720363 h 1199072"/>
              <a:gd name="connsiteX10" fmla="*/ 0 w 4279785"/>
              <a:gd name="connsiteY10" fmla="*/ 599536 h 1199072"/>
              <a:gd name="connsiteX11" fmla="*/ 12181 w 4279785"/>
              <a:gd name="connsiteY11" fmla="*/ 478709 h 1199072"/>
              <a:gd name="connsiteX12" fmla="*/ 599536 w 4279785"/>
              <a:gd name="connsiteY12" fmla="*/ 0 h 119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9785" h="1199072">
                <a:moveTo>
                  <a:pt x="0" y="599535"/>
                </a:moveTo>
                <a:lnTo>
                  <a:pt x="0" y="599536"/>
                </a:lnTo>
                <a:lnTo>
                  <a:pt x="0" y="599536"/>
                </a:lnTo>
                <a:close/>
                <a:moveTo>
                  <a:pt x="599536" y="0"/>
                </a:moveTo>
                <a:lnTo>
                  <a:pt x="4234133" y="0"/>
                </a:lnTo>
                <a:lnTo>
                  <a:pt x="4279785" y="4602"/>
                </a:lnTo>
                <a:lnTo>
                  <a:pt x="4279785" y="1194470"/>
                </a:lnTo>
                <a:lnTo>
                  <a:pt x="4234132" y="1199072"/>
                </a:lnTo>
                <a:lnTo>
                  <a:pt x="599536" y="1199071"/>
                </a:lnTo>
                <a:cubicBezTo>
                  <a:pt x="309811" y="1199071"/>
                  <a:pt x="68085" y="993561"/>
                  <a:pt x="12181" y="720363"/>
                </a:cubicBezTo>
                <a:lnTo>
                  <a:pt x="0" y="599536"/>
                </a:lnTo>
                <a:lnTo>
                  <a:pt x="12181" y="478709"/>
                </a:lnTo>
                <a:cubicBezTo>
                  <a:pt x="68085" y="205510"/>
                  <a:pt x="309811" y="0"/>
                  <a:pt x="599536" y="0"/>
                </a:cubicBezTo>
                <a:close/>
              </a:path>
            </a:pathLst>
          </a:cu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zh-TW" altLang="en-US" sz="6000" dirty="0"/>
              <a:t>   本章結束</a:t>
            </a:r>
          </a:p>
        </p:txBody>
      </p:sp>
    </p:spTree>
    <p:extLst>
      <p:ext uri="{BB962C8B-B14F-4D97-AF65-F5344CB8AC3E}">
        <p14:creationId xmlns:p14="http://schemas.microsoft.com/office/powerpoint/2010/main" val="2564090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400316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2208619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2470832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0B59302-35AD-44E9-AC3C-8D1DAE3511F1}" type="slidenum">
              <a:rPr lang="zh-TW" altLang="en-US" smtClean="0"/>
              <a:t>‹#›</a:t>
            </a:fld>
            <a:endParaRPr lang="zh-TW" altLang="en-US"/>
          </a:p>
        </p:txBody>
      </p:sp>
    </p:spTree>
    <p:extLst>
      <p:ext uri="{BB962C8B-B14F-4D97-AF65-F5344CB8AC3E}">
        <p14:creationId xmlns:p14="http://schemas.microsoft.com/office/powerpoint/2010/main" val="275168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A0B59302-35AD-44E9-AC3C-8D1DAE3511F1}" type="slidenum">
              <a:rPr lang="zh-TW" altLang="en-US" smtClean="0"/>
              <a:pPr/>
              <a:t>‹#›</a:t>
            </a:fld>
            <a:endParaRPr lang="zh-TW" altLang="en-US" dirty="0"/>
          </a:p>
        </p:txBody>
      </p:sp>
    </p:spTree>
    <p:extLst>
      <p:ext uri="{BB962C8B-B14F-4D97-AF65-F5344CB8AC3E}">
        <p14:creationId xmlns:p14="http://schemas.microsoft.com/office/powerpoint/2010/main" val="3689136"/>
      </p:ext>
    </p:extLst>
  </p:cSld>
  <p:clrMap bg1="lt1" tx1="dk1" bg2="lt2" tx2="dk2" accent1="accent1" accent2="accent2" accent3="accent3" accent4="accent4" accent5="accent5" accent6="accent6" hlink="hlink" folHlink="folHlink"/>
  <p:sldLayoutIdLst>
    <p:sldLayoutId id="2147483663" r:id="rId1"/>
    <p:sldLayoutId id="2147483650" r:id="rId2"/>
    <p:sldLayoutId id="214748366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微軟正黑體" panose="020B0604030504040204" pitchFamily="34" charset="-120"/>
          <a:ea typeface="微軟正黑體" panose="020B0604030504040204" pitchFamily="34"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cnblogs.com/chenghuan/p/5860759.html"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nblogs.com/chenghuan/p/5860759.html"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pypi.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tiobe.com/tiobe-inde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pypl.github.io/PYPL.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s://www.ithome.com.tw/news/158524"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survey.stackoverflow.co/2023/#programming-scripting-and-markup-languages" TargetMode="Externa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iki.python.org/moin/FrontPag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hyperlink" Target="http://noeticforce.com/best-python-ide-for-programmers-windows-and-mac" TargetMode="External"/><Relationship Id="rId7" Type="http://schemas.openxmlformats.org/officeDocument/2006/relationships/hyperlink" Target="http://www.vim.org/" TargetMode="External"/><Relationship Id="rId2" Type="http://schemas.openxmlformats.org/officeDocument/2006/relationships/hyperlink" Target="http://wiki.python.org.tw/Python/IDE%E6%88%96%E7%B7%A8%E8%BC%AF%E5%99%A8" TargetMode="External"/><Relationship Id="rId1" Type="http://schemas.openxmlformats.org/officeDocument/2006/relationships/slideLayout" Target="../slideLayouts/slideLayout2.xml"/><Relationship Id="rId6" Type="http://schemas.openxmlformats.org/officeDocument/2006/relationships/hyperlink" Target="http://damnwidget.github.io/anaconda/" TargetMode="External"/><Relationship Id="rId5" Type="http://schemas.openxmlformats.org/officeDocument/2006/relationships/hyperlink" Target="https://notepad-plus-plus.org/" TargetMode="External"/><Relationship Id="rId4" Type="http://schemas.openxmlformats.org/officeDocument/2006/relationships/hyperlink" Target="https://repl.it/languag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1.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tiff"/><Relationship Id="rId2" Type="http://schemas.openxmlformats.org/officeDocument/2006/relationships/image" Target="../media/image31.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1.tif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vscode.dev/"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3.tif"/><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hyperlink" Target="https://csfrd.gitbook.io/csfextension-tao-jian-jie-shao/vscode"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learnpython.org/" TargetMode="External"/><Relationship Id="rId7" Type="http://schemas.openxmlformats.org/officeDocument/2006/relationships/hyperlink" Target="https://colab.research.google.com/?hl=zh-tw" TargetMode="External"/><Relationship Id="rId2" Type="http://schemas.openxmlformats.org/officeDocument/2006/relationships/hyperlink" Target="https://docs.python.org/zh-tw/3.10/index.html" TargetMode="External"/><Relationship Id="rId1" Type="http://schemas.openxmlformats.org/officeDocument/2006/relationships/slideLayout" Target="../slideLayouts/slideLayout2.xml"/><Relationship Id="rId6" Type="http://schemas.openxmlformats.org/officeDocument/2006/relationships/hyperlink" Target="https://code.visualstudio.com/" TargetMode="External"/><Relationship Id="rId5" Type="http://schemas.openxmlformats.org/officeDocument/2006/relationships/hyperlink" Target="https://thonny.org/" TargetMode="External"/><Relationship Id="rId4" Type="http://schemas.openxmlformats.org/officeDocument/2006/relationships/hyperlink" Target="https://pythontutor.com/" TargetMode="External"/></Relationships>
</file>

<file path=ppt/slides/_rels/slide56.xml.rels><?xml version="1.0" encoding="UTF-8" standalone="yes"?>
<Relationships xmlns="http://schemas.openxmlformats.org/package/2006/relationships"><Relationship Id="rId13" Type="http://schemas.openxmlformats.org/officeDocument/2006/relationships/hyperlink" Target="https://steam.oxxostudio.tw/category/python/example/guess-number.html" TargetMode="External"/><Relationship Id="rId18" Type="http://schemas.openxmlformats.org/officeDocument/2006/relationships/hyperlink" Target="https://steam.oxxostudio.tw/category/python/example/id-number.html" TargetMode="External"/><Relationship Id="rId26" Type="http://schemas.openxmlformats.org/officeDocument/2006/relationships/hyperlink" Target="https://steam.oxxostudio.tw/category/python/example/prime-factor.html" TargetMode="External"/><Relationship Id="rId39" Type="http://schemas.openxmlformats.org/officeDocument/2006/relationships/hyperlink" Target="https://steam.oxxostudio.tw/category/python/example/files-rename.html" TargetMode="External"/><Relationship Id="rId21" Type="http://schemas.openxmlformats.org/officeDocument/2006/relationships/hyperlink" Target="https://steam.oxxostudio.tw/category/python/example/roman.html" TargetMode="External"/><Relationship Id="rId34" Type="http://schemas.openxmlformats.org/officeDocument/2006/relationships/hyperlink" Target="https://steam.oxxostudio.tw/category/python/example/matplotlib-index.html" TargetMode="External"/><Relationship Id="rId42" Type="http://schemas.openxmlformats.org/officeDocument/2006/relationships/hyperlink" Target="https://steam.oxxostudio.tw/category/python/example/excel-read.html" TargetMode="External"/><Relationship Id="rId47" Type="http://schemas.openxmlformats.org/officeDocument/2006/relationships/hyperlink" Target="https://steam.oxxostudio.tw/category/python/example/psutil.html" TargetMode="External"/><Relationship Id="rId50" Type="http://schemas.openxmlformats.org/officeDocument/2006/relationships/hyperlink" Target="https://steam.oxxostudio.tw/category/python/example/ping-ip.html" TargetMode="External"/><Relationship Id="rId7" Type="http://schemas.openxmlformats.org/officeDocument/2006/relationships/hyperlink" Target="https://steam.oxxostudio.tw/category/python/example/find-center.html" TargetMode="External"/><Relationship Id="rId2" Type="http://schemas.openxmlformats.org/officeDocument/2006/relationships/hyperlink" Target="https://steam.oxxostudio.tw/category/python/example/electricity-bill.html" TargetMode="External"/><Relationship Id="rId16" Type="http://schemas.openxmlformats.org/officeDocument/2006/relationships/hyperlink" Target="https://steam.oxxostudio.tw/category/python/example/bmi.html" TargetMode="External"/><Relationship Id="rId29" Type="http://schemas.openxmlformats.org/officeDocument/2006/relationships/hyperlink" Target="https://steam.oxxostudio.tw/category/python/example/hcf.html" TargetMode="External"/><Relationship Id="rId11" Type="http://schemas.openxmlformats.org/officeDocument/2006/relationships/hyperlink" Target="https://steam.oxxostudio.tw/category/python/example/star-pyramid.html" TargetMode="External"/><Relationship Id="rId24" Type="http://schemas.openxmlformats.org/officeDocument/2006/relationships/hyperlink" Target="https://steam.oxxostudio.tw/category/python/example/fibonacci.html" TargetMode="External"/><Relationship Id="rId32" Type="http://schemas.openxmlformats.org/officeDocument/2006/relationships/hyperlink" Target="https://steam.oxxostudio.tw/category/python/ai/opencv-index.html" TargetMode="External"/><Relationship Id="rId37" Type="http://schemas.openxmlformats.org/officeDocument/2006/relationships/hyperlink" Target="https://steam.oxxostudio.tw/category/python/example/screenshot.html" TargetMode="External"/><Relationship Id="rId40" Type="http://schemas.openxmlformats.org/officeDocument/2006/relationships/hyperlink" Target="https://steam.oxxostudio.tw/category/python/example/pdfplumber.html" TargetMode="External"/><Relationship Id="rId45" Type="http://schemas.openxmlformats.org/officeDocument/2006/relationships/hyperlink" Target="https://steam.oxxostudio.tw/category/python/example/qrcode.html" TargetMode="External"/><Relationship Id="rId5" Type="http://schemas.openxmlformats.org/officeDocument/2006/relationships/hyperlink" Target="https://steam.oxxostudio.tw/category/python/example/check-year.html" TargetMode="External"/><Relationship Id="rId15" Type="http://schemas.openxmlformats.org/officeDocument/2006/relationships/hyperlink" Target="https://steam.oxxostudio.tw/category/python/example/clock.html" TargetMode="External"/><Relationship Id="rId23" Type="http://schemas.openxmlformats.org/officeDocument/2006/relationships/hyperlink" Target="https://steam.oxxostudio.tw/category/python/example/sum.html" TargetMode="External"/><Relationship Id="rId28" Type="http://schemas.openxmlformats.org/officeDocument/2006/relationships/hyperlink" Target="https://steam.oxxostudio.tw/category/python/example/lcm.html" TargetMode="External"/><Relationship Id="rId36" Type="http://schemas.openxmlformats.org/officeDocument/2006/relationships/hyperlink" Target="https://steam.oxxostudio.tw/category/python/tkinter/index.html" TargetMode="External"/><Relationship Id="rId49" Type="http://schemas.openxmlformats.org/officeDocument/2006/relationships/hyperlink" Target="https://steam.oxxostudio.tw/category/python/example/ip.html" TargetMode="External"/><Relationship Id="rId10" Type="http://schemas.openxmlformats.org/officeDocument/2006/relationships/hyperlink" Target="https://steam.oxxostudio.tw/category/python/example/progress-bar.html" TargetMode="External"/><Relationship Id="rId19" Type="http://schemas.openxmlformats.org/officeDocument/2006/relationships/hyperlink" Target="https://steam.oxxostudio.tw/category/python/example/id-number-check.html" TargetMode="External"/><Relationship Id="rId31" Type="http://schemas.openxmlformats.org/officeDocument/2006/relationships/hyperlink" Target="https://steam.oxxostudio.tw/category/python/example/line-bot.html" TargetMode="External"/><Relationship Id="rId44" Type="http://schemas.openxmlformats.org/officeDocument/2006/relationships/hyperlink" Target="https://steam.oxxostudio.tw/category/python/example/excel-csv.html" TargetMode="External"/><Relationship Id="rId4" Type="http://schemas.openxmlformats.org/officeDocument/2006/relationships/hyperlink" Target="https://steam.oxxostudio.tw/category/python/example/inch-cm.html" TargetMode="External"/><Relationship Id="rId9" Type="http://schemas.openxmlformats.org/officeDocument/2006/relationships/hyperlink" Target="https://steam.oxxostudio.tw/category/python/example/lots-numbers.html" TargetMode="External"/><Relationship Id="rId14" Type="http://schemas.openxmlformats.org/officeDocument/2006/relationships/hyperlink" Target="https://steam.oxxostudio.tw/category/python/example/guess-number-ab.html" TargetMode="External"/><Relationship Id="rId22" Type="http://schemas.openxmlformats.org/officeDocument/2006/relationships/hyperlink" Target="https://steam.oxxostudio.tw/category/python/example/arithmetics.html" TargetMode="External"/><Relationship Id="rId27" Type="http://schemas.openxmlformats.org/officeDocument/2006/relationships/hyperlink" Target="https://steam.oxxostudio.tw/category/python/example/find-prime.html" TargetMode="External"/><Relationship Id="rId30" Type="http://schemas.openxmlformats.org/officeDocument/2006/relationships/hyperlink" Target="https://steam.oxxostudio.tw/category/python/spider/spider.html" TargetMode="External"/><Relationship Id="rId35" Type="http://schemas.openxmlformats.org/officeDocument/2006/relationships/hyperlink" Target="https://steam.oxxostudio.tw/category/python/numpy/numpy.html" TargetMode="External"/><Relationship Id="rId43" Type="http://schemas.openxmlformats.org/officeDocument/2006/relationships/hyperlink" Target="https://steam.oxxostudio.tw/category/python/example/excel-write.html" TargetMode="External"/><Relationship Id="rId48" Type="http://schemas.openxmlformats.org/officeDocument/2006/relationships/hyperlink" Target="https://steam.oxxostudio.tw/category/python/example/screen-size.html" TargetMode="External"/><Relationship Id="rId8" Type="http://schemas.openxmlformats.org/officeDocument/2006/relationships/hyperlink" Target="https://steam.oxxostudio.tw/category/python/example/remove-blank.html" TargetMode="External"/><Relationship Id="rId3" Type="http://schemas.openxmlformats.org/officeDocument/2006/relationships/hyperlink" Target="https://steam.oxxostudio.tw/category/python/example/c-f.html" TargetMode="External"/><Relationship Id="rId12" Type="http://schemas.openxmlformats.org/officeDocument/2006/relationships/hyperlink" Target="https://steam.oxxostudio.tw/category/python/example/numbers-pyramid.html" TargetMode="External"/><Relationship Id="rId17" Type="http://schemas.openxmlformats.org/officeDocument/2006/relationships/hyperlink" Target="https://steam.oxxostudio.tw/category/python/example/count-age.html" TargetMode="External"/><Relationship Id="rId25" Type="http://schemas.openxmlformats.org/officeDocument/2006/relationships/hyperlink" Target="https://steam.oxxostudio.tw/category/python/example/9x9-table.html" TargetMode="External"/><Relationship Id="rId33" Type="http://schemas.openxmlformats.org/officeDocument/2006/relationships/hyperlink" Target="https://steam.oxxostudio.tw/category/python/ai/ai-index.html" TargetMode="External"/><Relationship Id="rId38" Type="http://schemas.openxmlformats.org/officeDocument/2006/relationships/hyperlink" Target="https://steam.oxxostudio.tw/category/python/example/send-screenshot.html" TargetMode="External"/><Relationship Id="rId46" Type="http://schemas.openxmlformats.org/officeDocument/2006/relationships/hyperlink" Target="https://steam.oxxostudio.tw/category/python/example/barcode.html" TargetMode="External"/><Relationship Id="rId20" Type="http://schemas.openxmlformats.org/officeDocument/2006/relationships/hyperlink" Target="https://steam.oxxostudio.tw/category/python/example/invoice.html" TargetMode="External"/><Relationship Id="rId41" Type="http://schemas.openxmlformats.org/officeDocument/2006/relationships/hyperlink" Target="https://steam.oxxostudio.tw/category/python/example/pdf-merge-split.html" TargetMode="External"/><Relationship Id="rId1" Type="http://schemas.openxmlformats.org/officeDocument/2006/relationships/slideLayout" Target="../slideLayouts/slideLayout2.xml"/><Relationship Id="rId6" Type="http://schemas.openxmlformats.org/officeDocument/2006/relationships/hyperlink" Target="https://steam.oxxostudio.tw/category/python/example/find-no-repeat.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bbc.co.uk/bitesize/guides/zp92mp3/revision/1"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bnext.com.tw/article/71991/apple-tim-cook-coding-education" TargetMode="External"/><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6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7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tiff"/><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6.tif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9.png"/></Relationships>
</file>

<file path=ppt/slides/_rels/slide1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p:txBody>
          <a:bodyPr/>
          <a:lstStyle/>
          <a:p>
            <a:pPr marL="228600" indent="-228600">
              <a:buFont typeface="Arial" panose="020B0604020202020204" pitchFamily="34" charset="0"/>
              <a:buChar char="•"/>
            </a:pPr>
            <a:r>
              <a:rPr lang="en-US" altLang="zh-TW" sz="4400" b="0" dirty="0">
                <a:solidFill>
                  <a:schemeClr val="tx1">
                    <a:lumMod val="65000"/>
                    <a:lumOff val="35000"/>
                  </a:schemeClr>
                </a:solidFill>
                <a:effectLst/>
                <a:latin typeface="+mn-lt"/>
              </a:rPr>
              <a:t>Py_Week01</a:t>
            </a:r>
            <a:br>
              <a:rPr lang="en-US" altLang="zh-TW" dirty="0"/>
            </a:br>
            <a:r>
              <a:rPr lang="en-US" altLang="zh-TW" sz="4400" dirty="0">
                <a:solidFill>
                  <a:schemeClr val="accent2"/>
                </a:solidFill>
                <a:latin typeface="+mn-lt"/>
                <a:cs typeface="+mn-cs"/>
              </a:rPr>
              <a:t>Python </a:t>
            </a:r>
            <a:r>
              <a:rPr lang="zh-TW" altLang="en-US" sz="4400" dirty="0">
                <a:solidFill>
                  <a:schemeClr val="accent2"/>
                </a:solidFill>
                <a:latin typeface="+mn-lt"/>
                <a:cs typeface="+mn-cs"/>
              </a:rPr>
              <a:t>程式設計</a:t>
            </a:r>
            <a:br>
              <a:rPr lang="en-US" altLang="zh-TW" sz="4400" dirty="0">
                <a:solidFill>
                  <a:schemeClr val="accent2"/>
                </a:solidFill>
                <a:latin typeface="+mn-lt"/>
                <a:cs typeface="+mn-cs"/>
              </a:rPr>
            </a:br>
            <a:r>
              <a:rPr lang="zh-TW" altLang="en-US" sz="4400" dirty="0">
                <a:solidFill>
                  <a:schemeClr val="accent2"/>
                </a:solidFill>
              </a:rPr>
              <a:t>變數與資料型別</a:t>
            </a:r>
            <a:endParaRPr lang="zh-TW" altLang="en-US" sz="4400" dirty="0">
              <a:solidFill>
                <a:schemeClr val="accent2"/>
              </a:solidFill>
              <a:latin typeface="+mn-lt"/>
              <a:cs typeface="+mn-cs"/>
            </a:endParaRPr>
          </a:p>
        </p:txBody>
      </p:sp>
      <p:sp>
        <p:nvSpPr>
          <p:cNvPr id="6" name="副標題 5"/>
          <p:cNvSpPr>
            <a:spLocks noGrp="1"/>
          </p:cNvSpPr>
          <p:nvPr>
            <p:ph type="subTitle" idx="1"/>
          </p:nvPr>
        </p:nvSpPr>
        <p:spPr/>
        <p:txBody>
          <a:bodyPr/>
          <a:lstStyle/>
          <a:p>
            <a:r>
              <a:rPr lang="zh-TW" altLang="en-US" dirty="0"/>
              <a:t>王頌文</a:t>
            </a:r>
          </a:p>
        </p:txBody>
      </p:sp>
    </p:spTree>
    <p:extLst>
      <p:ext uri="{BB962C8B-B14F-4D97-AF65-F5344CB8AC3E}">
        <p14:creationId xmlns:p14="http://schemas.microsoft.com/office/powerpoint/2010/main" val="187021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solidFill>
                  <a:schemeClr val="accent2"/>
                </a:solidFill>
              </a:rPr>
              <a:t>Python </a:t>
            </a:r>
            <a:r>
              <a:rPr lang="zh-TW" altLang="en-US" dirty="0">
                <a:solidFill>
                  <a:schemeClr val="accent2"/>
                </a:solidFill>
              </a:rPr>
              <a:t>簡介</a:t>
            </a:r>
            <a:endParaRPr lang="en-US" altLang="zh-TW" dirty="0">
              <a:solidFill>
                <a:schemeClr val="accent2"/>
              </a:solidFill>
            </a:endParaRPr>
          </a:p>
          <a:p>
            <a:r>
              <a:rPr lang="zh-TW" altLang="en-US" dirty="0"/>
              <a:t>建置 </a:t>
            </a:r>
            <a:r>
              <a:rPr lang="en-US" altLang="zh-TW" dirty="0"/>
              <a:t>Anaconda </a:t>
            </a:r>
            <a:r>
              <a:rPr lang="zh-TW" altLang="en-US" dirty="0"/>
              <a:t>開發環境</a:t>
            </a:r>
            <a:endParaRPr lang="en-US" altLang="zh-TW" dirty="0"/>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2</a:t>
            </a:fld>
            <a:endParaRPr lang="zh-TW" altLang="en-US" dirty="0"/>
          </a:p>
        </p:txBody>
      </p:sp>
    </p:spTree>
    <p:extLst>
      <p:ext uri="{BB962C8B-B14F-4D97-AF65-F5344CB8AC3E}">
        <p14:creationId xmlns:p14="http://schemas.microsoft.com/office/powerpoint/2010/main" val="377171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91A5E2-4C9C-416E-A487-2763BF7509EA}"/>
              </a:ext>
            </a:extLst>
          </p:cNvPr>
          <p:cNvSpPr>
            <a:spLocks noGrp="1"/>
          </p:cNvSpPr>
          <p:nvPr>
            <p:ph type="title"/>
          </p:nvPr>
        </p:nvSpPr>
        <p:spPr/>
        <p:txBody>
          <a:bodyPr/>
          <a:lstStyle/>
          <a:p>
            <a:r>
              <a:rPr lang="zh-TW" altLang="en-US" dirty="0"/>
              <a:t>程式語言</a:t>
            </a:r>
            <a:r>
              <a:rPr lang="en-US" altLang="zh-TW" dirty="0"/>
              <a:t>(1/2)</a:t>
            </a:r>
            <a:endParaRPr lang="zh-TW" altLang="en-US" dirty="0"/>
          </a:p>
        </p:txBody>
      </p:sp>
      <p:sp>
        <p:nvSpPr>
          <p:cNvPr id="3" name="內容版面配置區 2">
            <a:extLst>
              <a:ext uri="{FF2B5EF4-FFF2-40B4-BE49-F238E27FC236}">
                <a16:creationId xmlns:a16="http://schemas.microsoft.com/office/drawing/2014/main" id="{F3251EBD-BA58-4235-9DA8-8DD406E98BDB}"/>
              </a:ext>
            </a:extLst>
          </p:cNvPr>
          <p:cNvSpPr>
            <a:spLocks noGrp="1"/>
          </p:cNvSpPr>
          <p:nvPr>
            <p:ph idx="1"/>
          </p:nvPr>
        </p:nvSpPr>
        <p:spPr/>
        <p:txBody>
          <a:bodyPr>
            <a:normAutofit/>
          </a:bodyPr>
          <a:lstStyle/>
          <a:p>
            <a:r>
              <a:rPr lang="zh-TW" altLang="en-US" dirty="0"/>
              <a:t>如同英文有詞彙與文法規則，用以溝通及解決問題一般。</a:t>
            </a:r>
            <a:endParaRPr lang="en-US" altLang="zh-TW" dirty="0"/>
          </a:p>
          <a:p>
            <a:r>
              <a:rPr lang="zh-TW" altLang="en-US" dirty="0">
                <a:solidFill>
                  <a:schemeClr val="accent4"/>
                </a:solidFill>
              </a:rPr>
              <a:t>程式語言</a:t>
            </a:r>
            <a:r>
              <a:rPr lang="en-US" altLang="zh-TW" dirty="0">
                <a:solidFill>
                  <a:schemeClr val="accent4"/>
                </a:solidFill>
              </a:rPr>
              <a:t>(programming language)</a:t>
            </a:r>
            <a:r>
              <a:rPr lang="zh-TW" altLang="en-US" dirty="0"/>
              <a:t>則是用來與電腦溝通，透過人們為其設計的專屬語法，指揮電腦進行特定工作並解決問題。</a:t>
            </a:r>
            <a:endParaRPr lang="en-US" altLang="zh-TW" dirty="0"/>
          </a:p>
          <a:p>
            <a:pPr lvl="1"/>
            <a:r>
              <a:rPr lang="zh-TW" altLang="en-US" dirty="0"/>
              <a:t>隨著人工智慧、加密貨幣、元宇宙等新興科技如火如荼發展，</a:t>
            </a:r>
            <a:r>
              <a:rPr lang="zh-TW" altLang="en-US" dirty="0">
                <a:solidFill>
                  <a:schemeClr val="accent4"/>
                </a:solidFill>
              </a:rPr>
              <a:t>如何與電腦對話</a:t>
            </a:r>
            <a:r>
              <a:rPr lang="zh-TW" altLang="en-US" dirty="0"/>
              <a:t>逐漸成為現代人必備的技能之一。</a:t>
            </a:r>
            <a:endParaRPr lang="en-US" altLang="zh-TW" dirty="0"/>
          </a:p>
          <a:p>
            <a:pPr lvl="3"/>
            <a:endParaRPr lang="en-US" altLang="zh-TW" dirty="0"/>
          </a:p>
          <a:p>
            <a:pPr lvl="1"/>
            <a:r>
              <a:rPr lang="zh-TW" altLang="en-US" dirty="0"/>
              <a:t>許多國家將「</a:t>
            </a:r>
            <a:r>
              <a:rPr lang="zh-TW" altLang="en-US" dirty="0">
                <a:solidFill>
                  <a:schemeClr val="accent4"/>
                </a:solidFill>
              </a:rPr>
              <a:t>與電腦對話的能力</a:t>
            </a:r>
            <a:r>
              <a:rPr lang="zh-TW" altLang="en-US" dirty="0"/>
              <a:t>」視為重要競爭力，積極向下紮根。</a:t>
            </a:r>
            <a:endParaRPr lang="en-US" altLang="zh-TW" dirty="0"/>
          </a:p>
          <a:p>
            <a:pPr lvl="1"/>
            <a:r>
              <a:rPr lang="zh-TW" altLang="en-US" dirty="0"/>
              <a:t>對於白領工作者而言，透過程式語言工具</a:t>
            </a:r>
            <a:r>
              <a:rPr lang="zh-TW" altLang="en-US" dirty="0">
                <a:solidFill>
                  <a:schemeClr val="accent4"/>
                </a:solidFill>
              </a:rPr>
              <a:t>為自己加值或是斜槓</a:t>
            </a:r>
            <a:r>
              <a:rPr lang="zh-TW" altLang="en-US" dirty="0"/>
              <a:t>，更是近幾年的趨勢。</a:t>
            </a:r>
          </a:p>
          <a:p>
            <a:endParaRPr lang="zh-TW" altLang="en-US" dirty="0"/>
          </a:p>
        </p:txBody>
      </p:sp>
      <p:sp>
        <p:nvSpPr>
          <p:cNvPr id="4" name="投影片編號版面配置區 3">
            <a:extLst>
              <a:ext uri="{FF2B5EF4-FFF2-40B4-BE49-F238E27FC236}">
                <a16:creationId xmlns:a16="http://schemas.microsoft.com/office/drawing/2014/main" id="{AD057BEA-BDF2-48A1-B605-59900558C3BD}"/>
              </a:ext>
            </a:extLst>
          </p:cNvPr>
          <p:cNvSpPr>
            <a:spLocks noGrp="1"/>
          </p:cNvSpPr>
          <p:nvPr>
            <p:ph type="sldNum" sz="quarter" idx="12"/>
          </p:nvPr>
        </p:nvSpPr>
        <p:spPr/>
        <p:txBody>
          <a:bodyPr/>
          <a:lstStyle/>
          <a:p>
            <a:fld id="{A0B59302-35AD-44E9-AC3C-8D1DAE3511F1}" type="slidenum">
              <a:rPr lang="zh-TW" altLang="en-US" smtClean="0"/>
              <a:pPr/>
              <a:t>3</a:t>
            </a:fld>
            <a:endParaRPr lang="zh-TW" altLang="en-US" dirty="0"/>
          </a:p>
        </p:txBody>
      </p:sp>
    </p:spTree>
    <p:extLst>
      <p:ext uri="{BB962C8B-B14F-4D97-AF65-F5344CB8AC3E}">
        <p14:creationId xmlns:p14="http://schemas.microsoft.com/office/powerpoint/2010/main" val="2348744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2E1658-335D-4981-9AA2-39303A615A1A}"/>
              </a:ext>
            </a:extLst>
          </p:cNvPr>
          <p:cNvSpPr>
            <a:spLocks noGrp="1"/>
          </p:cNvSpPr>
          <p:nvPr>
            <p:ph type="title"/>
          </p:nvPr>
        </p:nvSpPr>
        <p:spPr/>
        <p:txBody>
          <a:bodyPr/>
          <a:lstStyle/>
          <a:p>
            <a:r>
              <a:rPr lang="zh-TW" altLang="en-US" dirty="0"/>
              <a:t>程式語言</a:t>
            </a:r>
            <a:r>
              <a:rPr lang="en-US" altLang="zh-TW" dirty="0"/>
              <a:t>(2/2)</a:t>
            </a:r>
            <a:endParaRPr lang="zh-TW" altLang="en-US" dirty="0"/>
          </a:p>
        </p:txBody>
      </p:sp>
      <p:sp>
        <p:nvSpPr>
          <p:cNvPr id="3" name="內容版面配置區 2">
            <a:extLst>
              <a:ext uri="{FF2B5EF4-FFF2-40B4-BE49-F238E27FC236}">
                <a16:creationId xmlns:a16="http://schemas.microsoft.com/office/drawing/2014/main" id="{2D8EF850-17B3-4032-B536-C221F8BA4127}"/>
              </a:ext>
            </a:extLst>
          </p:cNvPr>
          <p:cNvSpPr>
            <a:spLocks noGrp="1"/>
          </p:cNvSpPr>
          <p:nvPr>
            <p:ph idx="1"/>
          </p:nvPr>
        </p:nvSpPr>
        <p:spPr/>
        <p:txBody>
          <a:bodyPr>
            <a:normAutofit lnSpcReduction="10000"/>
          </a:bodyPr>
          <a:lstStyle/>
          <a:p>
            <a:r>
              <a:rPr lang="zh-TW" altLang="en-US" dirty="0"/>
              <a:t>維基百科</a:t>
            </a:r>
            <a:r>
              <a:rPr lang="en-US" altLang="zh-TW" dirty="0"/>
              <a:t>(Wikipedia)</a:t>
            </a:r>
            <a:r>
              <a:rPr lang="zh-TW" altLang="en-US" dirty="0"/>
              <a:t>列出高達七百多種知名的程式語言（包括當前使用與以前使用過），著實讓人眼花撩亂。</a:t>
            </a:r>
            <a:endParaRPr lang="en-US" altLang="zh-TW" dirty="0"/>
          </a:p>
          <a:p>
            <a:r>
              <a:rPr lang="zh-TW" altLang="en-US" dirty="0"/>
              <a:t>由於程式語言的基本概念大同小異，融會貫通一種後，要上手其他程式語言就會輕鬆許多。</a:t>
            </a:r>
            <a:endParaRPr lang="en-US" altLang="zh-TW" dirty="0"/>
          </a:p>
          <a:p>
            <a:pPr lvl="1"/>
            <a:r>
              <a:rPr lang="zh-TW" altLang="en-US" dirty="0"/>
              <a:t>若還沒有頭緒，</a:t>
            </a:r>
            <a:r>
              <a:rPr lang="en-US" altLang="zh-TW" dirty="0"/>
              <a:t>Python </a:t>
            </a:r>
            <a:r>
              <a:rPr lang="zh-TW" altLang="en-US" dirty="0"/>
              <a:t>這個通用型</a:t>
            </a:r>
            <a:r>
              <a:rPr lang="en-US" altLang="zh-TW" dirty="0"/>
              <a:t>(general-purpose)</a:t>
            </a:r>
            <a:r>
              <a:rPr lang="zh-TW" altLang="en-US" dirty="0"/>
              <a:t>程式語言是個不錯的選項。</a:t>
            </a:r>
            <a:endParaRPr lang="en-US" altLang="zh-TW" dirty="0"/>
          </a:p>
          <a:p>
            <a:pPr lvl="1"/>
            <a:r>
              <a:rPr lang="zh-TW" altLang="en-US" dirty="0"/>
              <a:t>由於免費、開源、語法簡潔、有許多官方與協力廠商開發的套件等優勢，</a:t>
            </a:r>
            <a:r>
              <a:rPr lang="en-US" altLang="zh-TW" dirty="0"/>
              <a:t>Python </a:t>
            </a:r>
            <a:r>
              <a:rPr lang="zh-TW" altLang="en-US" dirty="0"/>
              <a:t>在近幾年飛速成長且逐漸攻佔各領域的應用，更是受到全球教育以及開發人員的青睞。</a:t>
            </a:r>
          </a:p>
          <a:p>
            <a:endParaRPr lang="zh-TW" altLang="en-US" dirty="0"/>
          </a:p>
        </p:txBody>
      </p:sp>
      <p:sp>
        <p:nvSpPr>
          <p:cNvPr id="4" name="投影片編號版面配置區 3">
            <a:extLst>
              <a:ext uri="{FF2B5EF4-FFF2-40B4-BE49-F238E27FC236}">
                <a16:creationId xmlns:a16="http://schemas.microsoft.com/office/drawing/2014/main" id="{04C6DA2E-2922-4676-8B41-5107EAF5493D}"/>
              </a:ext>
            </a:extLst>
          </p:cNvPr>
          <p:cNvSpPr>
            <a:spLocks noGrp="1"/>
          </p:cNvSpPr>
          <p:nvPr>
            <p:ph type="sldNum" sz="quarter" idx="12"/>
          </p:nvPr>
        </p:nvSpPr>
        <p:spPr/>
        <p:txBody>
          <a:bodyPr/>
          <a:lstStyle/>
          <a:p>
            <a:fld id="{A0B59302-35AD-44E9-AC3C-8D1DAE3511F1}" type="slidenum">
              <a:rPr lang="zh-TW" altLang="en-US" smtClean="0"/>
              <a:pPr/>
              <a:t>4</a:t>
            </a:fld>
            <a:endParaRPr lang="zh-TW" altLang="en-US" dirty="0"/>
          </a:p>
        </p:txBody>
      </p:sp>
    </p:spTree>
    <p:extLst>
      <p:ext uri="{BB962C8B-B14F-4D97-AF65-F5344CB8AC3E}">
        <p14:creationId xmlns:p14="http://schemas.microsoft.com/office/powerpoint/2010/main" val="427393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349534-0AD0-4CC2-A9E2-07D1A2AC3023}"/>
              </a:ext>
            </a:extLst>
          </p:cNvPr>
          <p:cNvSpPr>
            <a:spLocks noGrp="1"/>
          </p:cNvSpPr>
          <p:nvPr>
            <p:ph type="title"/>
          </p:nvPr>
        </p:nvSpPr>
        <p:spPr/>
        <p:txBody>
          <a:bodyPr/>
          <a:lstStyle/>
          <a:p>
            <a:r>
              <a:rPr lang="en-US" altLang="zh-TW" dirty="0"/>
              <a:t>Python </a:t>
            </a:r>
            <a:r>
              <a:rPr lang="zh-TW" altLang="en-US" dirty="0"/>
              <a:t>簡介</a:t>
            </a:r>
            <a:r>
              <a:rPr lang="en-US" altLang="zh-TW" dirty="0"/>
              <a:t>(1/3)</a:t>
            </a:r>
            <a:endParaRPr lang="zh-TW" altLang="en-US" dirty="0"/>
          </a:p>
        </p:txBody>
      </p:sp>
      <p:sp>
        <p:nvSpPr>
          <p:cNvPr id="3" name="內容版面配置區 2">
            <a:extLst>
              <a:ext uri="{FF2B5EF4-FFF2-40B4-BE49-F238E27FC236}">
                <a16:creationId xmlns:a16="http://schemas.microsoft.com/office/drawing/2014/main" id="{A844AF6C-6816-41F4-8C68-12741F58B63B}"/>
              </a:ext>
            </a:extLst>
          </p:cNvPr>
          <p:cNvSpPr>
            <a:spLocks noGrp="1"/>
          </p:cNvSpPr>
          <p:nvPr>
            <p:ph idx="1"/>
          </p:nvPr>
        </p:nvSpPr>
        <p:spPr>
          <a:xfrm>
            <a:off x="838200" y="1857375"/>
            <a:ext cx="7875671" cy="4400550"/>
          </a:xfrm>
        </p:spPr>
        <p:txBody>
          <a:bodyPr>
            <a:normAutofit/>
          </a:bodyPr>
          <a:lstStyle/>
          <a:p>
            <a:r>
              <a:rPr lang="en-US" altLang="zh-TW" dirty="0"/>
              <a:t>1989.12 </a:t>
            </a:r>
            <a:r>
              <a:rPr lang="zh-TW" altLang="en-US" dirty="0"/>
              <a:t>吉多</a:t>
            </a:r>
            <a:r>
              <a:rPr lang="en-US" altLang="zh-TW" dirty="0"/>
              <a:t>·</a:t>
            </a:r>
            <a:r>
              <a:rPr lang="zh-TW" altLang="en-US" dirty="0"/>
              <a:t>范羅蘇姆</a:t>
            </a:r>
            <a:r>
              <a:rPr lang="en-US" altLang="zh-TW" dirty="0"/>
              <a:t>(Guido van Rossum)</a:t>
            </a:r>
            <a:r>
              <a:rPr lang="zh-TW" altLang="en-US" dirty="0"/>
              <a:t>創建 </a:t>
            </a:r>
            <a:r>
              <a:rPr lang="en-US" altLang="zh-TW" dirty="0"/>
              <a:t>Python</a:t>
            </a:r>
            <a:r>
              <a:rPr lang="zh-TW" altLang="en-US" dirty="0"/>
              <a:t>，這是一種直譯式、通用型且支援物件導向的程式語言。</a:t>
            </a:r>
            <a:endParaRPr lang="en-US" altLang="zh-TW" dirty="0"/>
          </a:p>
          <a:p>
            <a:pPr lvl="1"/>
            <a:r>
              <a:rPr lang="zh-TW" altLang="en-US" dirty="0"/>
              <a:t>范羅蘇姆在荷蘭出生，</a:t>
            </a:r>
            <a:r>
              <a:rPr lang="en-US" altLang="zh-TW" dirty="0"/>
              <a:t>1982 </a:t>
            </a:r>
            <a:r>
              <a:rPr lang="zh-TW" altLang="en-US" dirty="0"/>
              <a:t>年從阿姆斯特丹大學取得</a:t>
            </a:r>
            <a:r>
              <a:rPr lang="zh-TW" altLang="en-US" dirty="0">
                <a:solidFill>
                  <a:schemeClr val="accent4"/>
                </a:solidFill>
              </a:rPr>
              <a:t>數學</a:t>
            </a:r>
            <a:r>
              <a:rPr lang="zh-TW" altLang="en-US" dirty="0"/>
              <a:t>和</a:t>
            </a:r>
            <a:r>
              <a:rPr lang="zh-TW" altLang="en-US" dirty="0">
                <a:solidFill>
                  <a:schemeClr val="accent4"/>
                </a:solidFill>
              </a:rPr>
              <a:t>計算機科學碩士學位</a:t>
            </a:r>
            <a:r>
              <a:rPr lang="zh-TW" altLang="en-US" dirty="0"/>
              <a:t>。</a:t>
            </a:r>
            <a:endParaRPr lang="en-US" altLang="zh-TW" dirty="0"/>
          </a:p>
          <a:p>
            <a:pPr lvl="1"/>
            <a:r>
              <a:rPr lang="zh-TW" altLang="en-US" dirty="0"/>
              <a:t>據說當初是為了打發聖誕節的空閒時間而編寫一個以 </a:t>
            </a:r>
            <a:r>
              <a:rPr lang="en-US" altLang="zh-TW" dirty="0"/>
              <a:t>ABC </a:t>
            </a:r>
            <a:r>
              <a:rPr lang="zh-TW" altLang="en-US" dirty="0"/>
              <a:t>語言作基礎的腳本語言，並以電視劇</a:t>
            </a:r>
            <a:r>
              <a:rPr lang="en-US" altLang="zh-TW" dirty="0"/>
              <a:t>《</a:t>
            </a:r>
            <a:r>
              <a:rPr lang="zh-TW" altLang="en-US" dirty="0"/>
              <a:t>蒙提</a:t>
            </a:r>
            <a:r>
              <a:rPr lang="en-US" altLang="zh-TW" dirty="0"/>
              <a:t>·</a:t>
            </a:r>
            <a:r>
              <a:rPr lang="zh-TW" altLang="en-US" dirty="0"/>
              <a:t>派森的飛行馬戲團</a:t>
            </a:r>
            <a:r>
              <a:rPr lang="en-US" altLang="zh-TW" dirty="0"/>
              <a:t>》</a:t>
            </a:r>
            <a:r>
              <a:rPr lang="zh-TW" altLang="en-US" dirty="0"/>
              <a:t>（</a:t>
            </a:r>
            <a:r>
              <a:rPr lang="en-US" altLang="zh-TW" dirty="0"/>
              <a:t>Monty Python’s Flying Circus</a:t>
            </a:r>
            <a:r>
              <a:rPr lang="zh-TW" altLang="en-US" dirty="0"/>
              <a:t>）為該語言命名。</a:t>
            </a:r>
          </a:p>
        </p:txBody>
      </p:sp>
      <p:sp>
        <p:nvSpPr>
          <p:cNvPr id="4" name="投影片編號版面配置區 3">
            <a:extLst>
              <a:ext uri="{FF2B5EF4-FFF2-40B4-BE49-F238E27FC236}">
                <a16:creationId xmlns:a16="http://schemas.microsoft.com/office/drawing/2014/main" id="{134A78AA-67FB-4F8D-86C8-1017E24837A4}"/>
              </a:ext>
            </a:extLst>
          </p:cNvPr>
          <p:cNvSpPr>
            <a:spLocks noGrp="1"/>
          </p:cNvSpPr>
          <p:nvPr>
            <p:ph type="sldNum" sz="quarter" idx="12"/>
          </p:nvPr>
        </p:nvSpPr>
        <p:spPr/>
        <p:txBody>
          <a:bodyPr/>
          <a:lstStyle/>
          <a:p>
            <a:fld id="{A0B59302-35AD-44E9-AC3C-8D1DAE3511F1}" type="slidenum">
              <a:rPr lang="zh-TW" altLang="en-US" smtClean="0"/>
              <a:pPr/>
              <a:t>5</a:t>
            </a:fld>
            <a:endParaRPr lang="zh-TW" altLang="en-US" dirty="0"/>
          </a:p>
        </p:txBody>
      </p:sp>
      <p:pic>
        <p:nvPicPr>
          <p:cNvPr id="5" name="Picture 2" descr="相關圖片">
            <a:extLst>
              <a:ext uri="{FF2B5EF4-FFF2-40B4-BE49-F238E27FC236}">
                <a16:creationId xmlns:a16="http://schemas.microsoft.com/office/drawing/2014/main" id="{4AD35074-FDA2-4376-BA18-DC11276B23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1991" y="1925059"/>
            <a:ext cx="2830429" cy="4014062"/>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0562F10-B70E-4D29-942C-16EB024CB4D8}"/>
              </a:ext>
            </a:extLst>
          </p:cNvPr>
          <p:cNvSpPr txBox="1"/>
          <p:nvPr/>
        </p:nvSpPr>
        <p:spPr>
          <a:xfrm>
            <a:off x="9666370" y="6011704"/>
            <a:ext cx="1321669" cy="246221"/>
          </a:xfrm>
          <a:prstGeom prst="rect">
            <a:avLst/>
          </a:prstGeom>
          <a:noFill/>
        </p:spPr>
        <p:txBody>
          <a:bodyPr wrap="square">
            <a:spAutoFit/>
          </a:bodyPr>
          <a:lstStyle/>
          <a:p>
            <a:pPr algn="ctr"/>
            <a:r>
              <a:rPr lang="en-US" altLang="zh-TW" sz="1000" dirty="0">
                <a:hlinkClick r:id="rId3"/>
              </a:rPr>
              <a:t>Guido van Rossum</a:t>
            </a:r>
            <a:endParaRPr lang="zh-TW" altLang="en-US" sz="1000" dirty="0"/>
          </a:p>
        </p:txBody>
      </p:sp>
    </p:spTree>
    <p:extLst>
      <p:ext uri="{BB962C8B-B14F-4D97-AF65-F5344CB8AC3E}">
        <p14:creationId xmlns:p14="http://schemas.microsoft.com/office/powerpoint/2010/main" val="167218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349534-0AD0-4CC2-A9E2-07D1A2AC3023}"/>
              </a:ext>
            </a:extLst>
          </p:cNvPr>
          <p:cNvSpPr>
            <a:spLocks noGrp="1"/>
          </p:cNvSpPr>
          <p:nvPr>
            <p:ph type="title"/>
          </p:nvPr>
        </p:nvSpPr>
        <p:spPr/>
        <p:txBody>
          <a:bodyPr/>
          <a:lstStyle/>
          <a:p>
            <a:r>
              <a:rPr lang="en-US" altLang="zh-TW" dirty="0"/>
              <a:t>Python </a:t>
            </a:r>
            <a:r>
              <a:rPr lang="zh-TW" altLang="en-US" dirty="0"/>
              <a:t>簡介</a:t>
            </a:r>
            <a:r>
              <a:rPr lang="en-US" altLang="zh-TW" dirty="0"/>
              <a:t>(2/3)</a:t>
            </a:r>
            <a:endParaRPr lang="zh-TW" altLang="en-US" dirty="0"/>
          </a:p>
        </p:txBody>
      </p:sp>
      <p:sp>
        <p:nvSpPr>
          <p:cNvPr id="3" name="內容版面配置區 2">
            <a:extLst>
              <a:ext uri="{FF2B5EF4-FFF2-40B4-BE49-F238E27FC236}">
                <a16:creationId xmlns:a16="http://schemas.microsoft.com/office/drawing/2014/main" id="{A844AF6C-6816-41F4-8C68-12741F58B63B}"/>
              </a:ext>
            </a:extLst>
          </p:cNvPr>
          <p:cNvSpPr>
            <a:spLocks noGrp="1"/>
          </p:cNvSpPr>
          <p:nvPr>
            <p:ph idx="1"/>
          </p:nvPr>
        </p:nvSpPr>
        <p:spPr>
          <a:xfrm>
            <a:off x="838200" y="1857375"/>
            <a:ext cx="7875671" cy="4400550"/>
          </a:xfrm>
        </p:spPr>
        <p:txBody>
          <a:bodyPr>
            <a:normAutofit/>
          </a:bodyPr>
          <a:lstStyle/>
          <a:p>
            <a:r>
              <a:rPr lang="en-US" altLang="zh-TW" dirty="0"/>
              <a:t>1989.12 </a:t>
            </a:r>
            <a:r>
              <a:rPr lang="zh-TW" altLang="en-US" dirty="0"/>
              <a:t>吉多</a:t>
            </a:r>
            <a:r>
              <a:rPr lang="en-US" altLang="zh-TW" dirty="0"/>
              <a:t>·</a:t>
            </a:r>
            <a:r>
              <a:rPr lang="zh-TW" altLang="en-US" dirty="0"/>
              <a:t>范羅蘇姆</a:t>
            </a:r>
            <a:r>
              <a:rPr lang="en-US" altLang="zh-TW" dirty="0"/>
              <a:t>(Guido van Rossum)</a:t>
            </a:r>
            <a:r>
              <a:rPr lang="zh-TW" altLang="en-US" dirty="0"/>
              <a:t>創建 </a:t>
            </a:r>
            <a:r>
              <a:rPr lang="en-US" altLang="zh-TW" dirty="0"/>
              <a:t>Python</a:t>
            </a:r>
            <a:r>
              <a:rPr lang="zh-TW" altLang="en-US" dirty="0"/>
              <a:t>，這是一種直譯式、通用型且支援物件導向的程式語言。</a:t>
            </a:r>
            <a:endParaRPr lang="en-US" altLang="zh-TW" dirty="0"/>
          </a:p>
          <a:p>
            <a:pPr lvl="1"/>
            <a:r>
              <a:rPr lang="zh-TW" altLang="en-US" dirty="0"/>
              <a:t>隨後更開放讓世界各地的開發者都可以參與</a:t>
            </a:r>
            <a:r>
              <a:rPr lang="en-US" altLang="zh-TW" dirty="0"/>
              <a:t>Python </a:t>
            </a:r>
            <a:r>
              <a:rPr lang="zh-TW" altLang="en-US" dirty="0"/>
              <a:t>的設計，並於 </a:t>
            </a:r>
            <a:r>
              <a:rPr lang="en-US" altLang="zh-TW" dirty="0"/>
              <a:t>1991 </a:t>
            </a:r>
            <a:r>
              <a:rPr lang="zh-TW" altLang="en-US" dirty="0"/>
              <a:t>年推出第一個</a:t>
            </a:r>
            <a:r>
              <a:rPr lang="en-US" altLang="zh-TW" dirty="0"/>
              <a:t>Python </a:t>
            </a:r>
            <a:r>
              <a:rPr lang="zh-TW" altLang="en-US" dirty="0"/>
              <a:t>編譯器後，越來越受到全球開發人員的關注與喜愛，在學術及教育領域也掀起風潮。</a:t>
            </a:r>
          </a:p>
        </p:txBody>
      </p:sp>
      <p:sp>
        <p:nvSpPr>
          <p:cNvPr id="4" name="投影片編號版面配置區 3">
            <a:extLst>
              <a:ext uri="{FF2B5EF4-FFF2-40B4-BE49-F238E27FC236}">
                <a16:creationId xmlns:a16="http://schemas.microsoft.com/office/drawing/2014/main" id="{134A78AA-67FB-4F8D-86C8-1017E24837A4}"/>
              </a:ext>
            </a:extLst>
          </p:cNvPr>
          <p:cNvSpPr>
            <a:spLocks noGrp="1"/>
          </p:cNvSpPr>
          <p:nvPr>
            <p:ph type="sldNum" sz="quarter" idx="12"/>
          </p:nvPr>
        </p:nvSpPr>
        <p:spPr/>
        <p:txBody>
          <a:bodyPr/>
          <a:lstStyle/>
          <a:p>
            <a:fld id="{A0B59302-35AD-44E9-AC3C-8D1DAE3511F1}" type="slidenum">
              <a:rPr lang="zh-TW" altLang="en-US" smtClean="0"/>
              <a:pPr/>
              <a:t>6</a:t>
            </a:fld>
            <a:endParaRPr lang="zh-TW" altLang="en-US" dirty="0"/>
          </a:p>
        </p:txBody>
      </p:sp>
      <p:pic>
        <p:nvPicPr>
          <p:cNvPr id="5" name="Picture 2" descr="相關圖片">
            <a:extLst>
              <a:ext uri="{FF2B5EF4-FFF2-40B4-BE49-F238E27FC236}">
                <a16:creationId xmlns:a16="http://schemas.microsoft.com/office/drawing/2014/main" id="{4AD35074-FDA2-4376-BA18-DC11276B23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1991" y="1925059"/>
            <a:ext cx="2830429" cy="4014062"/>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0562F10-B70E-4D29-942C-16EB024CB4D8}"/>
              </a:ext>
            </a:extLst>
          </p:cNvPr>
          <p:cNvSpPr txBox="1"/>
          <p:nvPr/>
        </p:nvSpPr>
        <p:spPr>
          <a:xfrm>
            <a:off x="9666370" y="6011704"/>
            <a:ext cx="1321669" cy="246221"/>
          </a:xfrm>
          <a:prstGeom prst="rect">
            <a:avLst/>
          </a:prstGeom>
          <a:noFill/>
        </p:spPr>
        <p:txBody>
          <a:bodyPr wrap="square">
            <a:spAutoFit/>
          </a:bodyPr>
          <a:lstStyle/>
          <a:p>
            <a:pPr algn="ctr"/>
            <a:r>
              <a:rPr lang="en-US" altLang="zh-TW" sz="1000" dirty="0">
                <a:hlinkClick r:id="rId3"/>
              </a:rPr>
              <a:t>Guido van Rossum</a:t>
            </a:r>
            <a:endParaRPr lang="zh-TW" altLang="en-US" sz="1000" dirty="0"/>
          </a:p>
        </p:txBody>
      </p:sp>
    </p:spTree>
    <p:extLst>
      <p:ext uri="{BB962C8B-B14F-4D97-AF65-F5344CB8AC3E}">
        <p14:creationId xmlns:p14="http://schemas.microsoft.com/office/powerpoint/2010/main" val="48566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452881-2619-4292-925D-C6E9F5D9215C}"/>
              </a:ext>
            </a:extLst>
          </p:cNvPr>
          <p:cNvSpPr>
            <a:spLocks noGrp="1"/>
          </p:cNvSpPr>
          <p:nvPr>
            <p:ph type="title"/>
          </p:nvPr>
        </p:nvSpPr>
        <p:spPr/>
        <p:txBody>
          <a:bodyPr/>
          <a:lstStyle/>
          <a:p>
            <a:r>
              <a:rPr lang="en-US" altLang="zh-TW" dirty="0"/>
              <a:t>Python </a:t>
            </a:r>
            <a:r>
              <a:rPr lang="zh-TW" altLang="en-US" dirty="0"/>
              <a:t>簡介</a:t>
            </a:r>
            <a:r>
              <a:rPr lang="en-US" altLang="zh-TW" dirty="0"/>
              <a:t>(3/3)</a:t>
            </a:r>
            <a:endParaRPr lang="zh-TW" altLang="en-US" dirty="0"/>
          </a:p>
        </p:txBody>
      </p:sp>
      <p:sp>
        <p:nvSpPr>
          <p:cNvPr id="3" name="內容版面配置區 2">
            <a:extLst>
              <a:ext uri="{FF2B5EF4-FFF2-40B4-BE49-F238E27FC236}">
                <a16:creationId xmlns:a16="http://schemas.microsoft.com/office/drawing/2014/main" id="{FB1A6F9E-404C-45AA-8DC9-C2BAD926DC2C}"/>
              </a:ext>
            </a:extLst>
          </p:cNvPr>
          <p:cNvSpPr>
            <a:spLocks noGrp="1"/>
          </p:cNvSpPr>
          <p:nvPr>
            <p:ph idx="1"/>
          </p:nvPr>
        </p:nvSpPr>
        <p:spPr/>
        <p:txBody>
          <a:bodyPr>
            <a:normAutofit/>
          </a:bodyPr>
          <a:lstStyle/>
          <a:p>
            <a:r>
              <a:rPr lang="en-US" altLang="zh-TW" dirty="0"/>
              <a:t>Python 2.0 </a:t>
            </a:r>
            <a:r>
              <a:rPr lang="zh-TW" altLang="en-US" dirty="0"/>
              <a:t>於 </a:t>
            </a:r>
            <a:r>
              <a:rPr lang="en-US" altLang="zh-TW" dirty="0"/>
              <a:t>2000.10 </a:t>
            </a:r>
            <a:r>
              <a:rPr lang="zh-TW" altLang="en-US" dirty="0"/>
              <a:t>月發布，而另一個分支 </a:t>
            </a:r>
            <a:r>
              <a:rPr lang="en-US" altLang="zh-TW" dirty="0"/>
              <a:t>Python 3.0 </a:t>
            </a:r>
            <a:r>
              <a:rPr lang="zh-TW" altLang="en-US" dirty="0"/>
              <a:t>於</a:t>
            </a:r>
            <a:r>
              <a:rPr lang="en-US" altLang="zh-TW" dirty="0"/>
              <a:t>2008.12 </a:t>
            </a:r>
            <a:r>
              <a:rPr lang="zh-TW" altLang="en-US" dirty="0"/>
              <a:t>月發布，有趣的是 </a:t>
            </a:r>
            <a:r>
              <a:rPr lang="en-US" altLang="zh-TW" dirty="0">
                <a:solidFill>
                  <a:schemeClr val="accent4"/>
                </a:solidFill>
              </a:rPr>
              <a:t>3.0 </a:t>
            </a:r>
            <a:r>
              <a:rPr lang="zh-TW" altLang="en-US" dirty="0">
                <a:solidFill>
                  <a:schemeClr val="accent4"/>
                </a:solidFill>
              </a:rPr>
              <a:t>在設計時沒有考慮向下相容</a:t>
            </a:r>
            <a:r>
              <a:rPr lang="zh-TW" altLang="en-US" dirty="0"/>
              <a:t>，除了當時不可避免地引發許多論戰外，也造成開發者在挑選上的各種糾結。</a:t>
            </a:r>
            <a:endParaRPr lang="en-US" altLang="zh-TW" dirty="0"/>
          </a:p>
          <a:p>
            <a:pPr lvl="1"/>
            <a:r>
              <a:rPr lang="zh-TW" altLang="en-US" dirty="0"/>
              <a:t>然而，隨著 </a:t>
            </a:r>
            <a:r>
              <a:rPr lang="en-US" altLang="zh-TW" dirty="0"/>
              <a:t>Python </a:t>
            </a:r>
            <a:r>
              <a:rPr lang="zh-TW" altLang="en-US" dirty="0"/>
              <a:t>軟體基金會於 </a:t>
            </a:r>
            <a:r>
              <a:rPr lang="en-US" altLang="zh-TW" dirty="0"/>
              <a:t>2020.1 </a:t>
            </a:r>
            <a:r>
              <a:rPr lang="zh-TW" altLang="en-US" dirty="0"/>
              <a:t>月正式終止對 </a:t>
            </a:r>
            <a:r>
              <a:rPr lang="en-US" altLang="zh-TW" dirty="0"/>
              <a:t>2.7 </a:t>
            </a:r>
            <a:r>
              <a:rPr lang="zh-TW" altLang="en-US" dirty="0"/>
              <a:t>版本的支援，也就是說往後將不再對 </a:t>
            </a:r>
            <a:r>
              <a:rPr lang="en-US" altLang="zh-TW" dirty="0"/>
              <a:t>Python 2.7 </a:t>
            </a:r>
            <a:r>
              <a:rPr lang="zh-TW" altLang="en-US" dirty="0"/>
              <a:t>進行安全更新、修補臭蟲</a:t>
            </a:r>
            <a:r>
              <a:rPr lang="en-US" altLang="zh-TW" dirty="0"/>
              <a:t>(bug)</a:t>
            </a:r>
            <a:r>
              <a:rPr lang="zh-TW" altLang="en-US" dirty="0"/>
              <a:t>或執行其它改善，</a:t>
            </a:r>
            <a:r>
              <a:rPr lang="en-US" altLang="zh-TW" dirty="0">
                <a:solidFill>
                  <a:schemeClr val="accent4"/>
                </a:solidFill>
              </a:rPr>
              <a:t>Python </a:t>
            </a:r>
            <a:r>
              <a:rPr lang="zh-TW" altLang="en-US" dirty="0">
                <a:solidFill>
                  <a:schemeClr val="accent4"/>
                </a:solidFill>
              </a:rPr>
              <a:t>用戶得以專注在 </a:t>
            </a:r>
            <a:r>
              <a:rPr lang="en-US" altLang="zh-TW" dirty="0">
                <a:solidFill>
                  <a:schemeClr val="accent4"/>
                </a:solidFill>
              </a:rPr>
              <a:t>3.x </a:t>
            </a:r>
            <a:r>
              <a:rPr lang="zh-TW" altLang="en-US" dirty="0">
                <a:solidFill>
                  <a:schemeClr val="accent4"/>
                </a:solidFill>
              </a:rPr>
              <a:t>版本的開發及應用</a:t>
            </a:r>
            <a:r>
              <a:rPr lang="zh-TW" altLang="en-US" dirty="0"/>
              <a:t>。</a:t>
            </a:r>
          </a:p>
        </p:txBody>
      </p:sp>
      <p:sp>
        <p:nvSpPr>
          <p:cNvPr id="4" name="投影片編號版面配置區 3">
            <a:extLst>
              <a:ext uri="{FF2B5EF4-FFF2-40B4-BE49-F238E27FC236}">
                <a16:creationId xmlns:a16="http://schemas.microsoft.com/office/drawing/2014/main" id="{03DFA440-DFED-42FC-80B3-EA71A06C7B3F}"/>
              </a:ext>
            </a:extLst>
          </p:cNvPr>
          <p:cNvSpPr>
            <a:spLocks noGrp="1"/>
          </p:cNvSpPr>
          <p:nvPr>
            <p:ph type="sldNum" sz="quarter" idx="12"/>
          </p:nvPr>
        </p:nvSpPr>
        <p:spPr/>
        <p:txBody>
          <a:bodyPr/>
          <a:lstStyle/>
          <a:p>
            <a:fld id="{A0B59302-35AD-44E9-AC3C-8D1DAE3511F1}" type="slidenum">
              <a:rPr lang="zh-TW" altLang="en-US" smtClean="0"/>
              <a:pPr/>
              <a:t>7</a:t>
            </a:fld>
            <a:endParaRPr lang="zh-TW" altLang="en-US" dirty="0"/>
          </a:p>
        </p:txBody>
      </p:sp>
      <p:pic>
        <p:nvPicPr>
          <p:cNvPr id="5" name="Picture 2" descr="ãpythonãçåçæå°çµæ">
            <a:extLst>
              <a:ext uri="{FF2B5EF4-FFF2-40B4-BE49-F238E27FC236}">
                <a16:creationId xmlns:a16="http://schemas.microsoft.com/office/drawing/2014/main" id="{3C357502-F54D-43BB-A1C3-CCE0DB6FC08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784164" y="5445908"/>
            <a:ext cx="4048295" cy="1285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261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D5BB5-1FA7-4992-AC1C-DCBEEC18A98C}"/>
              </a:ext>
            </a:extLst>
          </p:cNvPr>
          <p:cNvSpPr>
            <a:spLocks noGrp="1"/>
          </p:cNvSpPr>
          <p:nvPr>
            <p:ph type="title"/>
          </p:nvPr>
        </p:nvSpPr>
        <p:spPr/>
        <p:txBody>
          <a:bodyPr/>
          <a:lstStyle/>
          <a:p>
            <a:r>
              <a:rPr lang="en-US" altLang="zh-TW" dirty="0"/>
              <a:t>Python </a:t>
            </a:r>
            <a:r>
              <a:rPr lang="zh-TW" altLang="en-US" dirty="0"/>
              <a:t>特色</a:t>
            </a:r>
            <a:r>
              <a:rPr lang="en-US" altLang="zh-TW" dirty="0"/>
              <a:t>(1/2)</a:t>
            </a:r>
            <a:endParaRPr lang="zh-TW" altLang="en-US" dirty="0"/>
          </a:p>
        </p:txBody>
      </p:sp>
      <p:sp>
        <p:nvSpPr>
          <p:cNvPr id="3" name="內容版面配置區 2">
            <a:extLst>
              <a:ext uri="{FF2B5EF4-FFF2-40B4-BE49-F238E27FC236}">
                <a16:creationId xmlns:a16="http://schemas.microsoft.com/office/drawing/2014/main" id="{1DB890AB-75DC-4467-BA0B-2FBBFF8D5983}"/>
              </a:ext>
            </a:extLst>
          </p:cNvPr>
          <p:cNvSpPr>
            <a:spLocks noGrp="1"/>
          </p:cNvSpPr>
          <p:nvPr>
            <p:ph idx="1"/>
          </p:nvPr>
        </p:nvSpPr>
        <p:spPr/>
        <p:txBody>
          <a:bodyPr>
            <a:normAutofit/>
          </a:bodyPr>
          <a:lstStyle/>
          <a:p>
            <a:r>
              <a:rPr lang="en-US" altLang="zh-TW" dirty="0"/>
              <a:t>Python </a:t>
            </a:r>
            <a:r>
              <a:rPr lang="zh-TW" altLang="en-US" dirty="0"/>
              <a:t>之所以受到許多程式設計師的喜愛，當然有其獨到之處：</a:t>
            </a:r>
          </a:p>
          <a:p>
            <a:pPr lvl="1"/>
            <a:r>
              <a:rPr lang="zh-TW" altLang="en-US" dirty="0">
                <a:solidFill>
                  <a:schemeClr val="accent4"/>
                </a:solidFill>
              </a:rPr>
              <a:t>簡單易學</a:t>
            </a:r>
            <a:r>
              <a:rPr lang="zh-TW" altLang="en-US" dirty="0"/>
              <a:t>：</a:t>
            </a:r>
            <a:r>
              <a:rPr lang="en-US" altLang="zh-TW" dirty="0"/>
              <a:t>Python </a:t>
            </a:r>
            <a:r>
              <a:rPr lang="zh-TW" altLang="en-US" dirty="0"/>
              <a:t>的設計哲學是優雅、明確及簡單，其語法簡化而不複雜的並強調自然語言，更貼近使用者的習慣，對新手來說相當友善。</a:t>
            </a:r>
          </a:p>
          <a:p>
            <a:pPr lvl="1"/>
            <a:r>
              <a:rPr lang="zh-TW" altLang="en-US" dirty="0"/>
              <a:t>免費、開源且跨平台。</a:t>
            </a:r>
          </a:p>
          <a:p>
            <a:pPr lvl="1"/>
            <a:r>
              <a:rPr lang="zh-TW" altLang="en-US" dirty="0">
                <a:solidFill>
                  <a:schemeClr val="accent4"/>
                </a:solidFill>
              </a:rPr>
              <a:t>成熟且具支持性的社群</a:t>
            </a:r>
            <a:r>
              <a:rPr lang="zh-TW" altLang="en-US" dirty="0"/>
              <a:t>：經過三十數年的養成，</a:t>
            </a:r>
            <a:r>
              <a:rPr lang="en-US" altLang="zh-TW" dirty="0"/>
              <a:t>Python </a:t>
            </a:r>
            <a:r>
              <a:rPr lang="zh-TW" altLang="en-US" dirty="0"/>
              <a:t>的社群已經成長茁壯，能支援橫跨初階入門到專家級別的開發人員，而活躍的社群也意味著來自不同地方的開發人員能獲得即時性的支持。</a:t>
            </a:r>
          </a:p>
        </p:txBody>
      </p:sp>
      <p:sp>
        <p:nvSpPr>
          <p:cNvPr id="4" name="投影片編號版面配置區 3">
            <a:extLst>
              <a:ext uri="{FF2B5EF4-FFF2-40B4-BE49-F238E27FC236}">
                <a16:creationId xmlns:a16="http://schemas.microsoft.com/office/drawing/2014/main" id="{3504B328-87C6-430D-A17F-95E62A495E81}"/>
              </a:ext>
            </a:extLst>
          </p:cNvPr>
          <p:cNvSpPr>
            <a:spLocks noGrp="1"/>
          </p:cNvSpPr>
          <p:nvPr>
            <p:ph type="sldNum" sz="quarter" idx="12"/>
          </p:nvPr>
        </p:nvSpPr>
        <p:spPr/>
        <p:txBody>
          <a:bodyPr/>
          <a:lstStyle/>
          <a:p>
            <a:fld id="{A0B59302-35AD-44E9-AC3C-8D1DAE3511F1}" type="slidenum">
              <a:rPr lang="zh-TW" altLang="en-US" smtClean="0"/>
              <a:pPr/>
              <a:t>8</a:t>
            </a:fld>
            <a:endParaRPr lang="zh-TW" altLang="en-US" dirty="0"/>
          </a:p>
        </p:txBody>
      </p:sp>
    </p:spTree>
    <p:extLst>
      <p:ext uri="{BB962C8B-B14F-4D97-AF65-F5344CB8AC3E}">
        <p14:creationId xmlns:p14="http://schemas.microsoft.com/office/powerpoint/2010/main" val="42804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D5BB5-1FA7-4992-AC1C-DCBEEC18A98C}"/>
              </a:ext>
            </a:extLst>
          </p:cNvPr>
          <p:cNvSpPr>
            <a:spLocks noGrp="1"/>
          </p:cNvSpPr>
          <p:nvPr>
            <p:ph type="title"/>
          </p:nvPr>
        </p:nvSpPr>
        <p:spPr/>
        <p:txBody>
          <a:bodyPr/>
          <a:lstStyle/>
          <a:p>
            <a:r>
              <a:rPr lang="en-US" altLang="zh-TW" dirty="0"/>
              <a:t>Python </a:t>
            </a:r>
            <a:r>
              <a:rPr lang="zh-TW" altLang="en-US" dirty="0"/>
              <a:t>特色</a:t>
            </a:r>
            <a:r>
              <a:rPr lang="en-US" altLang="zh-TW" dirty="0"/>
              <a:t>(2/2)</a:t>
            </a:r>
            <a:endParaRPr lang="zh-TW" altLang="en-US" dirty="0"/>
          </a:p>
        </p:txBody>
      </p:sp>
      <p:sp>
        <p:nvSpPr>
          <p:cNvPr id="3" name="內容版面配置區 2">
            <a:extLst>
              <a:ext uri="{FF2B5EF4-FFF2-40B4-BE49-F238E27FC236}">
                <a16:creationId xmlns:a16="http://schemas.microsoft.com/office/drawing/2014/main" id="{1DB890AB-75DC-4467-BA0B-2FBBFF8D5983}"/>
              </a:ext>
            </a:extLst>
          </p:cNvPr>
          <p:cNvSpPr>
            <a:spLocks noGrp="1"/>
          </p:cNvSpPr>
          <p:nvPr>
            <p:ph idx="1"/>
          </p:nvPr>
        </p:nvSpPr>
        <p:spPr/>
        <p:txBody>
          <a:bodyPr>
            <a:normAutofit/>
          </a:bodyPr>
          <a:lstStyle/>
          <a:p>
            <a:r>
              <a:rPr lang="en-US" altLang="zh-TW" dirty="0"/>
              <a:t>Python </a:t>
            </a:r>
            <a:r>
              <a:rPr lang="zh-TW" altLang="en-US" dirty="0"/>
              <a:t>之所以受到許多程式設計師的喜愛，當然有其獨到之處：</a:t>
            </a:r>
          </a:p>
          <a:p>
            <a:pPr lvl="1"/>
            <a:r>
              <a:rPr lang="zh-TW" altLang="en-US" dirty="0">
                <a:solidFill>
                  <a:schemeClr val="accent4"/>
                </a:solidFill>
              </a:rPr>
              <a:t>豐富函式庫與套件</a:t>
            </a:r>
            <a:r>
              <a:rPr lang="zh-TW" altLang="en-US" dirty="0"/>
              <a:t>：</a:t>
            </a:r>
            <a:r>
              <a:rPr lang="en-US" altLang="zh-TW" dirty="0"/>
              <a:t>Python </a:t>
            </a:r>
            <a:r>
              <a:rPr lang="zh-TW" altLang="en-US" dirty="0"/>
              <a:t>有個應用領域的函式庫與套件，可大幅節省開發初期耗費的時間與精力，其豐富的套件可到 </a:t>
            </a:r>
            <a:r>
              <a:rPr lang="en-US" altLang="zh-TW" dirty="0" err="1">
                <a:hlinkClick r:id="rId2"/>
              </a:rPr>
              <a:t>PyPI</a:t>
            </a:r>
            <a:r>
              <a:rPr lang="en-US" altLang="zh-TW" dirty="0">
                <a:hlinkClick r:id="rId2"/>
              </a:rPr>
              <a:t> </a:t>
            </a:r>
            <a:r>
              <a:rPr lang="en-US" altLang="zh-TW" dirty="0"/>
              <a:t>(Python Package Index)</a:t>
            </a:r>
            <a:r>
              <a:rPr lang="zh-TW" altLang="en-US" dirty="0"/>
              <a:t>搜尋並下載安裝。</a:t>
            </a:r>
            <a:endParaRPr lang="en-US" altLang="zh-TW" dirty="0"/>
          </a:p>
          <a:p>
            <a:pPr lvl="2"/>
            <a:endParaRPr lang="zh-TW" altLang="en-US" dirty="0"/>
          </a:p>
          <a:p>
            <a:pPr lvl="1"/>
            <a:r>
              <a:rPr lang="zh-TW" altLang="en-US" dirty="0">
                <a:solidFill>
                  <a:schemeClr val="accent4"/>
                </a:solidFill>
              </a:rPr>
              <a:t>數據分析、機器學習與深度學習</a:t>
            </a:r>
            <a:r>
              <a:rPr lang="zh-TW" altLang="en-US" dirty="0"/>
              <a:t>：針對時下相當火紅的應用領域，</a:t>
            </a:r>
            <a:r>
              <a:rPr lang="en-US" altLang="zh-TW" dirty="0"/>
              <a:t>Python </a:t>
            </a:r>
            <a:r>
              <a:rPr lang="zh-TW" altLang="en-US" dirty="0"/>
              <a:t>都是最受歡迎的工具之一，每天有著成千上百的相關專案以 </a:t>
            </a:r>
            <a:r>
              <a:rPr lang="en-US" altLang="zh-TW" dirty="0"/>
              <a:t>Python </a:t>
            </a:r>
            <a:r>
              <a:rPr lang="zh-TW" altLang="en-US" dirty="0"/>
              <a:t>函式庫為基礎開發出來，在學術界與企業都受到青睞。</a:t>
            </a:r>
          </a:p>
          <a:p>
            <a:endParaRPr lang="zh-TW" altLang="en-US" dirty="0"/>
          </a:p>
        </p:txBody>
      </p:sp>
      <p:sp>
        <p:nvSpPr>
          <p:cNvPr id="4" name="投影片編號版面配置區 3">
            <a:extLst>
              <a:ext uri="{FF2B5EF4-FFF2-40B4-BE49-F238E27FC236}">
                <a16:creationId xmlns:a16="http://schemas.microsoft.com/office/drawing/2014/main" id="{3504B328-87C6-430D-A17F-95E62A495E81}"/>
              </a:ext>
            </a:extLst>
          </p:cNvPr>
          <p:cNvSpPr>
            <a:spLocks noGrp="1"/>
          </p:cNvSpPr>
          <p:nvPr>
            <p:ph type="sldNum" sz="quarter" idx="12"/>
          </p:nvPr>
        </p:nvSpPr>
        <p:spPr/>
        <p:txBody>
          <a:bodyPr/>
          <a:lstStyle/>
          <a:p>
            <a:fld id="{A0B59302-35AD-44E9-AC3C-8D1DAE3511F1}" type="slidenum">
              <a:rPr lang="zh-TW" altLang="en-US" smtClean="0"/>
              <a:pPr/>
              <a:t>9</a:t>
            </a:fld>
            <a:endParaRPr lang="zh-TW" altLang="en-US" dirty="0"/>
          </a:p>
        </p:txBody>
      </p:sp>
    </p:spTree>
    <p:extLst>
      <p:ext uri="{BB962C8B-B14F-4D97-AF65-F5344CB8AC3E}">
        <p14:creationId xmlns:p14="http://schemas.microsoft.com/office/powerpoint/2010/main" val="7510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hlinkClick r:id="rId3"/>
              </a:rPr>
              <a:t>TIOBE Index</a:t>
            </a:r>
            <a:endParaRPr lang="zh-TW" altLang="en-US" dirty="0"/>
          </a:p>
        </p:txBody>
      </p:sp>
      <p:sp>
        <p:nvSpPr>
          <p:cNvPr id="3" name="內容版面配置區 2"/>
          <p:cNvSpPr>
            <a:spLocks noGrp="1"/>
          </p:cNvSpPr>
          <p:nvPr>
            <p:ph idx="1"/>
          </p:nvPr>
        </p:nvSpPr>
        <p:spPr/>
        <p:txBody>
          <a:bodyPr/>
          <a:lstStyle/>
          <a:p>
            <a:r>
              <a:rPr lang="en-US" altLang="zh-TW" dirty="0"/>
              <a:t>TIOBE </a:t>
            </a:r>
            <a:r>
              <a:rPr lang="zh-TW" altLang="en-US" dirty="0"/>
              <a:t>排行是根據網路上的程式開發人員、課程和第三方廠商的數量，並利用 </a:t>
            </a:r>
            <a:r>
              <a:rPr lang="en-US" altLang="zh-TW" dirty="0"/>
              <a:t>Google</a:t>
            </a:r>
            <a:r>
              <a:rPr lang="zh-TW" altLang="en-US" dirty="0"/>
              <a:t>、</a:t>
            </a:r>
            <a:r>
              <a:rPr lang="en-US" altLang="zh-TW" dirty="0"/>
              <a:t>Bing </a:t>
            </a:r>
            <a:r>
              <a:rPr lang="zh-TW" altLang="en-US" dirty="0"/>
              <a:t>等搜尋引擎及 </a:t>
            </a:r>
            <a:r>
              <a:rPr lang="en-US" altLang="zh-TW" dirty="0"/>
              <a:t>Wikipedia</a:t>
            </a:r>
            <a:r>
              <a:rPr lang="zh-TW" altLang="en-US" dirty="0"/>
              <a:t>、</a:t>
            </a:r>
            <a:r>
              <a:rPr lang="en-US" altLang="zh-TW" dirty="0"/>
              <a:t>Amazon</a:t>
            </a:r>
            <a:r>
              <a:rPr lang="zh-TW" altLang="en-US" dirty="0"/>
              <a:t>、</a:t>
            </a:r>
            <a:r>
              <a:rPr lang="en-US" altLang="zh-TW" dirty="0"/>
              <a:t>YouTube </a:t>
            </a:r>
            <a:r>
              <a:rPr lang="zh-TW" altLang="en-US" dirty="0"/>
              <a:t>統計資料所得的排名。</a:t>
            </a:r>
          </a:p>
          <a:p>
            <a:pPr lvl="1"/>
            <a:r>
              <a:rPr lang="zh-TW" altLang="en-US" dirty="0"/>
              <a:t>主要是反映程式語言的</a:t>
            </a:r>
            <a:r>
              <a:rPr lang="zh-TW" altLang="en-US" dirty="0">
                <a:solidFill>
                  <a:schemeClr val="accent4"/>
                </a:solidFill>
              </a:rPr>
              <a:t>受歡迎程度</a:t>
            </a:r>
            <a:r>
              <a:rPr lang="zh-TW" altLang="en-US" dirty="0"/>
              <a:t>，而非開發難易度或好壞。</a:t>
            </a:r>
            <a:endParaRPr lang="en-US" altLang="zh-TW" dirty="0"/>
          </a:p>
          <a:p>
            <a:pPr lvl="1"/>
            <a:endParaRPr lang="en-US" altLang="zh-TW" dirty="0"/>
          </a:p>
          <a:p>
            <a:pPr lvl="1"/>
            <a:r>
              <a:rPr lang="zh-TW" altLang="en-US" dirty="0"/>
              <a:t>每月更新</a:t>
            </a:r>
          </a:p>
          <a:p>
            <a:endParaRPr lang="zh-TW" altLang="en-US" dirty="0"/>
          </a:p>
        </p:txBody>
      </p:sp>
      <p:sp>
        <p:nvSpPr>
          <p:cNvPr id="4" name="投影片編號版面配置區 3"/>
          <p:cNvSpPr>
            <a:spLocks noGrp="1"/>
          </p:cNvSpPr>
          <p:nvPr>
            <p:ph type="sldNum" sz="quarter" idx="12"/>
          </p:nvPr>
        </p:nvSpPr>
        <p:spPr/>
        <p:txBody>
          <a:bodyPr/>
          <a:lstStyle/>
          <a:p>
            <a:fld id="{A0B59302-35AD-44E9-AC3C-8D1DAE3511F1}" type="slidenum">
              <a:rPr lang="zh-TW" altLang="en-US" smtClean="0"/>
              <a:pPr/>
              <a:t>10</a:t>
            </a:fld>
            <a:endParaRPr lang="zh-TW" altLang="en-US" dirty="0"/>
          </a:p>
        </p:txBody>
      </p:sp>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2585" y="4781102"/>
            <a:ext cx="2763573" cy="1286272"/>
          </a:xfrm>
          <a:prstGeom prst="rect">
            <a:avLst/>
          </a:prstGeom>
        </p:spPr>
      </p:pic>
    </p:spTree>
    <p:extLst>
      <p:ext uri="{BB962C8B-B14F-4D97-AF65-F5344CB8AC3E}">
        <p14:creationId xmlns:p14="http://schemas.microsoft.com/office/powerpoint/2010/main" val="37174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88F87EC-8A78-479A-B713-867614FEC938}"/>
              </a:ext>
            </a:extLst>
          </p:cNvPr>
          <p:cNvPicPr>
            <a:picLocks noChangeAspect="1"/>
          </p:cNvPicPr>
          <p:nvPr/>
        </p:nvPicPr>
        <p:blipFill>
          <a:blip r:embed="rId2"/>
          <a:stretch>
            <a:fillRect/>
          </a:stretch>
        </p:blipFill>
        <p:spPr>
          <a:xfrm>
            <a:off x="953645" y="805954"/>
            <a:ext cx="10284710" cy="5246091"/>
          </a:xfrm>
          <a:prstGeom prst="rect">
            <a:avLst/>
          </a:prstGeom>
        </p:spPr>
      </p:pic>
    </p:spTree>
    <p:extLst>
      <p:ext uri="{BB962C8B-B14F-4D97-AF65-F5344CB8AC3E}">
        <p14:creationId xmlns:p14="http://schemas.microsoft.com/office/powerpoint/2010/main" val="415725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C96A054-6E92-4033-89CA-65EF000CB315}"/>
              </a:ext>
            </a:extLst>
          </p:cNvPr>
          <p:cNvPicPr>
            <a:picLocks noChangeAspect="1"/>
          </p:cNvPicPr>
          <p:nvPr/>
        </p:nvPicPr>
        <p:blipFill>
          <a:blip r:embed="rId2"/>
          <a:stretch>
            <a:fillRect/>
          </a:stretch>
        </p:blipFill>
        <p:spPr>
          <a:xfrm>
            <a:off x="313681" y="1487614"/>
            <a:ext cx="11564637" cy="3882772"/>
          </a:xfrm>
          <a:prstGeom prst="rect">
            <a:avLst/>
          </a:prstGeom>
        </p:spPr>
      </p:pic>
    </p:spTree>
    <p:extLst>
      <p:ext uri="{BB962C8B-B14F-4D97-AF65-F5344CB8AC3E}">
        <p14:creationId xmlns:p14="http://schemas.microsoft.com/office/powerpoint/2010/main" val="4187396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838200" y="1857375"/>
            <a:ext cx="5625662" cy="4400550"/>
          </a:xfrm>
        </p:spPr>
        <p:txBody>
          <a:bodyPr/>
          <a:lstStyle/>
          <a:p>
            <a:r>
              <a:rPr lang="en-US" altLang="zh-TW" sz="3200" dirty="0">
                <a:hlinkClick r:id="rId3"/>
              </a:rPr>
              <a:t>PYPL</a:t>
            </a:r>
            <a:r>
              <a:rPr lang="en-US" altLang="zh-TW" sz="3200" dirty="0"/>
              <a:t>: </a:t>
            </a:r>
            <a:r>
              <a:rPr lang="en-US" altLang="zh-TW" sz="3200" dirty="0" err="1"/>
              <a:t>PopularitY</a:t>
            </a:r>
            <a:r>
              <a:rPr lang="en-US" altLang="zh-TW" sz="3200" dirty="0"/>
              <a:t> of </a:t>
            </a:r>
            <a:br>
              <a:rPr lang="en-US" altLang="zh-TW" sz="3200" dirty="0"/>
            </a:br>
            <a:r>
              <a:rPr lang="en-US" altLang="zh-TW" sz="3200" dirty="0"/>
              <a:t>Programming Language</a:t>
            </a:r>
          </a:p>
          <a:p>
            <a:pPr lvl="1"/>
            <a:r>
              <a:rPr lang="zh-TW" altLang="en-US" sz="2800" dirty="0"/>
              <a:t>反映近一年透過 </a:t>
            </a:r>
            <a:r>
              <a:rPr lang="en-US" altLang="zh-TW" sz="2800" dirty="0"/>
              <a:t>Google</a:t>
            </a:r>
            <a:r>
              <a:rPr lang="zh-TW" altLang="en-US" sz="2800" dirty="0"/>
              <a:t> 搜尋該語言教學的頻率，同樣是每月更新一次。</a:t>
            </a:r>
          </a:p>
        </p:txBody>
      </p:sp>
      <p:sp>
        <p:nvSpPr>
          <p:cNvPr id="4" name="投影片編號版面配置區 3"/>
          <p:cNvSpPr>
            <a:spLocks noGrp="1"/>
          </p:cNvSpPr>
          <p:nvPr>
            <p:ph type="sldNum" sz="quarter" idx="12"/>
          </p:nvPr>
        </p:nvSpPr>
        <p:spPr/>
        <p:txBody>
          <a:bodyPr/>
          <a:lstStyle/>
          <a:p>
            <a:fld id="{A0B59302-35AD-44E9-AC3C-8D1DAE3511F1}" type="slidenum">
              <a:rPr lang="zh-TW" altLang="en-US" smtClean="0"/>
              <a:pPr/>
              <a:t>13</a:t>
            </a:fld>
            <a:endParaRPr lang="zh-TW" altLang="en-US" dirty="0"/>
          </a:p>
        </p:txBody>
      </p:sp>
      <p:pic>
        <p:nvPicPr>
          <p:cNvPr id="6" name="圖片 5">
            <a:extLst>
              <a:ext uri="{FF2B5EF4-FFF2-40B4-BE49-F238E27FC236}">
                <a16:creationId xmlns:a16="http://schemas.microsoft.com/office/drawing/2014/main" id="{4C62015B-B807-40C5-BCD3-429E6DD62BB9}"/>
              </a:ext>
            </a:extLst>
          </p:cNvPr>
          <p:cNvPicPr>
            <a:picLocks noChangeAspect="1"/>
          </p:cNvPicPr>
          <p:nvPr/>
        </p:nvPicPr>
        <p:blipFill>
          <a:blip r:embed="rId4"/>
          <a:stretch>
            <a:fillRect/>
          </a:stretch>
        </p:blipFill>
        <p:spPr>
          <a:xfrm>
            <a:off x="6611007" y="454362"/>
            <a:ext cx="5341883" cy="6352510"/>
          </a:xfrm>
          <a:prstGeom prst="rect">
            <a:avLst/>
          </a:prstGeom>
        </p:spPr>
      </p:pic>
    </p:spTree>
    <p:extLst>
      <p:ext uri="{BB962C8B-B14F-4D97-AF65-F5344CB8AC3E}">
        <p14:creationId xmlns:p14="http://schemas.microsoft.com/office/powerpoint/2010/main" val="3462714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D17C92A-529E-472C-828A-A5540447FEA2}"/>
              </a:ext>
            </a:extLst>
          </p:cNvPr>
          <p:cNvSpPr/>
          <p:nvPr/>
        </p:nvSpPr>
        <p:spPr>
          <a:xfrm>
            <a:off x="722968" y="535770"/>
            <a:ext cx="2753034" cy="2123658"/>
          </a:xfrm>
          <a:prstGeom prst="rect">
            <a:avLst/>
          </a:prstGeom>
        </p:spPr>
        <p:txBody>
          <a:bodyPr wrap="square">
            <a:spAutoFit/>
          </a:bodyPr>
          <a:lstStyle/>
          <a:p>
            <a:r>
              <a:rPr lang="en-US" altLang="zh-TW" sz="4400" dirty="0">
                <a:hlinkClick r:id="rId3"/>
              </a:rPr>
              <a:t>IEEE Spectrum ranking</a:t>
            </a:r>
            <a:endParaRPr lang="zh-TW" altLang="en-US" sz="4400" dirty="0"/>
          </a:p>
        </p:txBody>
      </p:sp>
      <p:pic>
        <p:nvPicPr>
          <p:cNvPr id="5" name="圖片 4">
            <a:extLst>
              <a:ext uri="{FF2B5EF4-FFF2-40B4-BE49-F238E27FC236}">
                <a16:creationId xmlns:a16="http://schemas.microsoft.com/office/drawing/2014/main" id="{1897AF40-D8CC-4E94-8EC1-835753C5FEA2}"/>
              </a:ext>
            </a:extLst>
          </p:cNvPr>
          <p:cNvPicPr>
            <a:picLocks noChangeAspect="1"/>
          </p:cNvPicPr>
          <p:nvPr/>
        </p:nvPicPr>
        <p:blipFill>
          <a:blip r:embed="rId4"/>
          <a:stretch>
            <a:fillRect/>
          </a:stretch>
        </p:blipFill>
        <p:spPr>
          <a:xfrm>
            <a:off x="3476002" y="0"/>
            <a:ext cx="6155162" cy="6858000"/>
          </a:xfrm>
          <a:prstGeom prst="rect">
            <a:avLst/>
          </a:prstGeom>
        </p:spPr>
      </p:pic>
      <p:pic>
        <p:nvPicPr>
          <p:cNvPr id="4" name="圖片 3">
            <a:extLst>
              <a:ext uri="{FF2B5EF4-FFF2-40B4-BE49-F238E27FC236}">
                <a16:creationId xmlns:a16="http://schemas.microsoft.com/office/drawing/2014/main" id="{0F7D8433-36DC-4AAE-9E7D-21B906BC7111}"/>
              </a:ext>
            </a:extLst>
          </p:cNvPr>
          <p:cNvPicPr>
            <a:picLocks noChangeAspect="1"/>
          </p:cNvPicPr>
          <p:nvPr/>
        </p:nvPicPr>
        <p:blipFill>
          <a:blip r:embed="rId5"/>
          <a:stretch>
            <a:fillRect/>
          </a:stretch>
        </p:blipFill>
        <p:spPr>
          <a:xfrm>
            <a:off x="7200455" y="1912883"/>
            <a:ext cx="4634699" cy="2329258"/>
          </a:xfrm>
          <a:prstGeom prst="rect">
            <a:avLst/>
          </a:prstGeom>
          <a:ln w="12700">
            <a:solidFill>
              <a:schemeClr val="tx1">
                <a:lumMod val="65000"/>
                <a:lumOff val="35000"/>
              </a:schemeClr>
            </a:solidFill>
          </a:ln>
        </p:spPr>
      </p:pic>
      <p:pic>
        <p:nvPicPr>
          <p:cNvPr id="7" name="圖片 6">
            <a:extLst>
              <a:ext uri="{FF2B5EF4-FFF2-40B4-BE49-F238E27FC236}">
                <a16:creationId xmlns:a16="http://schemas.microsoft.com/office/drawing/2014/main" id="{7272BEDF-289C-4354-9D50-1D9518D94FE3}"/>
              </a:ext>
            </a:extLst>
          </p:cNvPr>
          <p:cNvPicPr>
            <a:picLocks noChangeAspect="1"/>
          </p:cNvPicPr>
          <p:nvPr/>
        </p:nvPicPr>
        <p:blipFill>
          <a:blip r:embed="rId6"/>
          <a:stretch>
            <a:fillRect/>
          </a:stretch>
        </p:blipFill>
        <p:spPr>
          <a:xfrm>
            <a:off x="7200455" y="4437328"/>
            <a:ext cx="4634699" cy="2353074"/>
          </a:xfrm>
          <a:prstGeom prst="rect">
            <a:avLst/>
          </a:prstGeom>
          <a:ln w="12700">
            <a:solidFill>
              <a:schemeClr val="tx1">
                <a:lumMod val="65000"/>
                <a:lumOff val="35000"/>
              </a:schemeClr>
            </a:solidFill>
          </a:ln>
        </p:spPr>
      </p:pic>
    </p:spTree>
    <p:extLst>
      <p:ext uri="{BB962C8B-B14F-4D97-AF65-F5344CB8AC3E}">
        <p14:creationId xmlns:p14="http://schemas.microsoft.com/office/powerpoint/2010/main" val="179558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D4999B9F-F3FA-4B15-B151-29DF9A24D0D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48342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3FBAA7C7-490F-4052-B9CF-CD1799FBFECD}"/>
              </a:ext>
            </a:extLst>
          </p:cNvPr>
          <p:cNvSpPr txBox="1"/>
          <p:nvPr/>
        </p:nvSpPr>
        <p:spPr>
          <a:xfrm>
            <a:off x="380114" y="256586"/>
            <a:ext cx="4245049" cy="1003544"/>
          </a:xfrm>
          <a:prstGeom prst="rect">
            <a:avLst/>
          </a:prstGeom>
          <a:noFill/>
        </p:spPr>
        <p:txBody>
          <a:bodyPr wrap="square">
            <a:spAutoFit/>
          </a:bodyPr>
          <a:lstStyle/>
          <a:p>
            <a:pPr algn="l">
              <a:lnSpc>
                <a:spcPct val="110000"/>
              </a:lnSpc>
            </a:pPr>
            <a:r>
              <a:rPr lang="en-US" altLang="zh-TW" sz="2800" b="0" i="0" u="none" strike="noStrike" dirty="0">
                <a:solidFill>
                  <a:srgbClr val="E7E9EB"/>
                </a:solidFill>
                <a:effectLst/>
                <a:hlinkClick r:id="rId2"/>
              </a:rPr>
              <a:t>Programming, scripting, and markup languages</a:t>
            </a:r>
            <a:endParaRPr lang="en-US" altLang="zh-TW" sz="2800" b="0" i="0" dirty="0">
              <a:solidFill>
                <a:srgbClr val="E7E9EB"/>
              </a:solidFill>
              <a:effectLst/>
            </a:endParaRPr>
          </a:p>
        </p:txBody>
      </p:sp>
      <p:pic>
        <p:nvPicPr>
          <p:cNvPr id="5" name="圖片 4">
            <a:extLst>
              <a:ext uri="{FF2B5EF4-FFF2-40B4-BE49-F238E27FC236}">
                <a16:creationId xmlns:a16="http://schemas.microsoft.com/office/drawing/2014/main" id="{E8183C3B-E173-4EDF-A117-95D92D05F65F}"/>
              </a:ext>
            </a:extLst>
          </p:cNvPr>
          <p:cNvPicPr>
            <a:picLocks noChangeAspect="1"/>
          </p:cNvPicPr>
          <p:nvPr/>
        </p:nvPicPr>
        <p:blipFill>
          <a:blip r:embed="rId3"/>
          <a:stretch>
            <a:fillRect/>
          </a:stretch>
        </p:blipFill>
        <p:spPr>
          <a:xfrm>
            <a:off x="809046" y="1349694"/>
            <a:ext cx="8128418" cy="5251720"/>
          </a:xfrm>
          <a:prstGeom prst="rect">
            <a:avLst/>
          </a:prstGeom>
        </p:spPr>
      </p:pic>
      <p:pic>
        <p:nvPicPr>
          <p:cNvPr id="7" name="圖片 6">
            <a:extLst>
              <a:ext uri="{FF2B5EF4-FFF2-40B4-BE49-F238E27FC236}">
                <a16:creationId xmlns:a16="http://schemas.microsoft.com/office/drawing/2014/main" id="{E5C00C10-E7CA-44AF-AA5A-5C048772FE01}"/>
              </a:ext>
            </a:extLst>
          </p:cNvPr>
          <p:cNvPicPr>
            <a:picLocks noChangeAspect="1"/>
          </p:cNvPicPr>
          <p:nvPr/>
        </p:nvPicPr>
        <p:blipFill>
          <a:blip r:embed="rId4"/>
          <a:stretch>
            <a:fillRect/>
          </a:stretch>
        </p:blipFill>
        <p:spPr>
          <a:xfrm>
            <a:off x="9297460" y="1610057"/>
            <a:ext cx="1847945" cy="4991357"/>
          </a:xfrm>
          <a:prstGeom prst="rect">
            <a:avLst/>
          </a:prstGeom>
        </p:spPr>
      </p:pic>
    </p:spTree>
    <p:extLst>
      <p:ext uri="{BB962C8B-B14F-4D97-AF65-F5344CB8AC3E}">
        <p14:creationId xmlns:p14="http://schemas.microsoft.com/office/powerpoint/2010/main" val="352845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06E1025-8045-44BD-BE06-5AB6FD50E84A}"/>
              </a:ext>
            </a:extLst>
          </p:cNvPr>
          <p:cNvPicPr>
            <a:picLocks noChangeAspect="1"/>
          </p:cNvPicPr>
          <p:nvPr/>
        </p:nvPicPr>
        <p:blipFill>
          <a:blip r:embed="rId2"/>
          <a:stretch>
            <a:fillRect/>
          </a:stretch>
        </p:blipFill>
        <p:spPr>
          <a:xfrm>
            <a:off x="604870" y="0"/>
            <a:ext cx="10982259" cy="6858000"/>
          </a:xfrm>
          <a:prstGeom prst="rect">
            <a:avLst/>
          </a:prstGeom>
        </p:spPr>
      </p:pic>
      <p:pic>
        <p:nvPicPr>
          <p:cNvPr id="5" name="圖片 4">
            <a:extLst>
              <a:ext uri="{FF2B5EF4-FFF2-40B4-BE49-F238E27FC236}">
                <a16:creationId xmlns:a16="http://schemas.microsoft.com/office/drawing/2014/main" id="{86B7C533-3381-4BEE-8311-E94EEDE471C6}"/>
              </a:ext>
            </a:extLst>
          </p:cNvPr>
          <p:cNvPicPr>
            <a:picLocks noChangeAspect="1"/>
          </p:cNvPicPr>
          <p:nvPr/>
        </p:nvPicPr>
        <p:blipFill>
          <a:blip r:embed="rId3"/>
          <a:stretch>
            <a:fillRect/>
          </a:stretch>
        </p:blipFill>
        <p:spPr>
          <a:xfrm>
            <a:off x="7711335" y="3485662"/>
            <a:ext cx="4355619" cy="2965938"/>
          </a:xfrm>
          <a:prstGeom prst="rect">
            <a:avLst/>
          </a:prstGeom>
          <a:ln w="12700">
            <a:solidFill>
              <a:schemeClr val="bg1"/>
            </a:solidFill>
          </a:ln>
        </p:spPr>
      </p:pic>
      <p:cxnSp>
        <p:nvCxnSpPr>
          <p:cNvPr id="7" name="直線接點 6">
            <a:extLst>
              <a:ext uri="{FF2B5EF4-FFF2-40B4-BE49-F238E27FC236}">
                <a16:creationId xmlns:a16="http://schemas.microsoft.com/office/drawing/2014/main" id="{920C4FFA-7FD1-45CF-B99C-FD502A90C146}"/>
              </a:ext>
            </a:extLst>
          </p:cNvPr>
          <p:cNvCxnSpPr/>
          <p:nvPr/>
        </p:nvCxnSpPr>
        <p:spPr>
          <a:xfrm>
            <a:off x="695569" y="1694962"/>
            <a:ext cx="98473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19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3699A87-B19E-45AB-B639-B5830F1578B2}"/>
              </a:ext>
            </a:extLst>
          </p:cNvPr>
          <p:cNvPicPr>
            <a:picLocks noChangeAspect="1"/>
          </p:cNvPicPr>
          <p:nvPr/>
        </p:nvPicPr>
        <p:blipFill>
          <a:blip r:embed="rId2"/>
          <a:stretch>
            <a:fillRect/>
          </a:stretch>
        </p:blipFill>
        <p:spPr>
          <a:xfrm>
            <a:off x="1043882" y="0"/>
            <a:ext cx="10104236" cy="6858000"/>
          </a:xfrm>
          <a:prstGeom prst="rect">
            <a:avLst/>
          </a:prstGeom>
        </p:spPr>
      </p:pic>
    </p:spTree>
    <p:extLst>
      <p:ext uri="{BB962C8B-B14F-4D97-AF65-F5344CB8AC3E}">
        <p14:creationId xmlns:p14="http://schemas.microsoft.com/office/powerpoint/2010/main" val="3476220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solidFill>
                  <a:schemeClr val="accent2"/>
                </a:solidFill>
              </a:rPr>
              <a:t>建置 </a:t>
            </a:r>
            <a:r>
              <a:rPr lang="en-US" altLang="zh-TW" dirty="0">
                <a:solidFill>
                  <a:schemeClr val="accent2"/>
                </a:solidFill>
              </a:rPr>
              <a:t>Anaconda </a:t>
            </a:r>
            <a:r>
              <a:rPr lang="zh-TW" altLang="en-US" dirty="0">
                <a:solidFill>
                  <a:schemeClr val="accent2"/>
                </a:solidFill>
              </a:rPr>
              <a:t>開發環境</a:t>
            </a:r>
            <a:endParaRPr lang="en-US" altLang="zh-TW" dirty="0">
              <a:solidFill>
                <a:schemeClr val="accent2"/>
              </a:solidFill>
            </a:endParaRPr>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19</a:t>
            </a:fld>
            <a:endParaRPr lang="zh-TW" altLang="en-US" dirty="0"/>
          </a:p>
        </p:txBody>
      </p:sp>
    </p:spTree>
    <p:extLst>
      <p:ext uri="{BB962C8B-B14F-4D97-AF65-F5344CB8AC3E}">
        <p14:creationId xmlns:p14="http://schemas.microsoft.com/office/powerpoint/2010/main" val="1432869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5CEA1D-7547-42B5-861D-0C5DB8B2676F}"/>
              </a:ext>
            </a:extLst>
          </p:cNvPr>
          <p:cNvSpPr>
            <a:spLocks noGrp="1"/>
          </p:cNvSpPr>
          <p:nvPr>
            <p:ph type="title"/>
          </p:nvPr>
        </p:nvSpPr>
        <p:spPr/>
        <p:txBody>
          <a:bodyPr/>
          <a:lstStyle/>
          <a:p>
            <a:r>
              <a:rPr lang="zh-TW" altLang="en-US" dirty="0"/>
              <a:t>整合式開發環境</a:t>
            </a:r>
            <a:r>
              <a:rPr lang="en-US" altLang="zh-TW" dirty="0"/>
              <a:t>(IDE)</a:t>
            </a:r>
            <a:endParaRPr lang="zh-TW" altLang="en-US" dirty="0"/>
          </a:p>
        </p:txBody>
      </p:sp>
      <p:sp>
        <p:nvSpPr>
          <p:cNvPr id="3" name="內容版面配置區 2">
            <a:extLst>
              <a:ext uri="{FF2B5EF4-FFF2-40B4-BE49-F238E27FC236}">
                <a16:creationId xmlns:a16="http://schemas.microsoft.com/office/drawing/2014/main" id="{AD435F16-4384-41A4-8816-B2A064E8B8D5}"/>
              </a:ext>
            </a:extLst>
          </p:cNvPr>
          <p:cNvSpPr>
            <a:spLocks noGrp="1"/>
          </p:cNvSpPr>
          <p:nvPr>
            <p:ph idx="1"/>
          </p:nvPr>
        </p:nvSpPr>
        <p:spPr/>
        <p:txBody>
          <a:bodyPr>
            <a:normAutofit/>
          </a:bodyPr>
          <a:lstStyle/>
          <a:p>
            <a:r>
              <a:rPr lang="zh-TW" altLang="en-US" dirty="0"/>
              <a:t>編寫程式需透過撰寫、編譯／直譯、除錯、執行等過程，早期負責這幾個過程的軟體都各自獨立，操作上並不方便，因此目前多數的高階程式語言採用整合式開發環境進行統整。</a:t>
            </a:r>
            <a:endParaRPr lang="en-US" altLang="zh-TW" dirty="0"/>
          </a:p>
          <a:p>
            <a:pPr lvl="1"/>
            <a:r>
              <a:rPr lang="zh-TW" altLang="en-US" dirty="0"/>
              <a:t>所謂整合式開發環境</a:t>
            </a:r>
            <a:r>
              <a:rPr lang="en-US" altLang="zh-TW" dirty="0"/>
              <a:t>(Integrated Develop Environment, IDE)</a:t>
            </a:r>
            <a:r>
              <a:rPr lang="zh-TW" altLang="en-US" dirty="0"/>
              <a:t>是輔助程式設計人員開發軟體的工具軟體，通常會統整程式碼編輯器、編譯／直譯器、除錯輔助、圖形化介面等功能在一起。</a:t>
            </a:r>
          </a:p>
        </p:txBody>
      </p:sp>
      <p:sp>
        <p:nvSpPr>
          <p:cNvPr id="4" name="投影片編號版面配置區 3">
            <a:extLst>
              <a:ext uri="{FF2B5EF4-FFF2-40B4-BE49-F238E27FC236}">
                <a16:creationId xmlns:a16="http://schemas.microsoft.com/office/drawing/2014/main" id="{63145C38-FF2C-4E0C-9CEE-2026B16D015D}"/>
              </a:ext>
            </a:extLst>
          </p:cNvPr>
          <p:cNvSpPr>
            <a:spLocks noGrp="1"/>
          </p:cNvSpPr>
          <p:nvPr>
            <p:ph type="sldNum" sz="quarter" idx="12"/>
          </p:nvPr>
        </p:nvSpPr>
        <p:spPr/>
        <p:txBody>
          <a:bodyPr/>
          <a:lstStyle/>
          <a:p>
            <a:fld id="{A0B59302-35AD-44E9-AC3C-8D1DAE3511F1}" type="slidenum">
              <a:rPr lang="zh-TW" altLang="en-US" smtClean="0"/>
              <a:pPr/>
              <a:t>20</a:t>
            </a:fld>
            <a:endParaRPr lang="zh-TW" altLang="en-US" dirty="0"/>
          </a:p>
        </p:txBody>
      </p:sp>
    </p:spTree>
    <p:extLst>
      <p:ext uri="{BB962C8B-B14F-4D97-AF65-F5344CB8AC3E}">
        <p14:creationId xmlns:p14="http://schemas.microsoft.com/office/powerpoint/2010/main" val="1201755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307F39-1BC1-4674-A0FF-D730FF6B5B8D}"/>
              </a:ext>
            </a:extLst>
          </p:cNvPr>
          <p:cNvSpPr>
            <a:spLocks noGrp="1"/>
          </p:cNvSpPr>
          <p:nvPr>
            <p:ph type="title"/>
          </p:nvPr>
        </p:nvSpPr>
        <p:spPr/>
        <p:txBody>
          <a:bodyPr/>
          <a:lstStyle/>
          <a:p>
            <a:r>
              <a:rPr lang="en-US" altLang="zh-TW" dirty="0"/>
              <a:t>Python IDE</a:t>
            </a:r>
            <a:r>
              <a:rPr lang="zh-TW" altLang="en-US" dirty="0"/>
              <a:t> </a:t>
            </a:r>
            <a:r>
              <a:rPr lang="en-US" altLang="zh-TW" dirty="0"/>
              <a:t>(1/2)</a:t>
            </a:r>
            <a:endParaRPr lang="zh-TW" altLang="en-US" dirty="0"/>
          </a:p>
        </p:txBody>
      </p:sp>
      <p:sp>
        <p:nvSpPr>
          <p:cNvPr id="3" name="內容版面配置區 2">
            <a:extLst>
              <a:ext uri="{FF2B5EF4-FFF2-40B4-BE49-F238E27FC236}">
                <a16:creationId xmlns:a16="http://schemas.microsoft.com/office/drawing/2014/main" id="{865A03FE-53D4-4516-98B0-B3D25E6BC49F}"/>
              </a:ext>
            </a:extLst>
          </p:cNvPr>
          <p:cNvSpPr>
            <a:spLocks noGrp="1"/>
          </p:cNvSpPr>
          <p:nvPr>
            <p:ph idx="1"/>
          </p:nvPr>
        </p:nvSpPr>
        <p:spPr/>
        <p:txBody>
          <a:bodyPr/>
          <a:lstStyle/>
          <a:p>
            <a:r>
              <a:rPr lang="en-US" altLang="zh-TW" dirty="0">
                <a:hlinkClick r:id="rId2"/>
              </a:rPr>
              <a:t>The Python Wiki</a:t>
            </a:r>
            <a:r>
              <a:rPr lang="en-US" altLang="zh-TW" dirty="0"/>
              <a:t> </a:t>
            </a:r>
            <a:r>
              <a:rPr lang="zh-TW" altLang="en-US" dirty="0"/>
              <a:t>網站列舉三十餘種 </a:t>
            </a:r>
            <a:r>
              <a:rPr lang="en-US" altLang="zh-TW" dirty="0"/>
              <a:t>Python IDE</a:t>
            </a:r>
            <a:r>
              <a:rPr lang="zh-TW" altLang="en-US" dirty="0"/>
              <a:t>，大多是開源且免費使用，同時也能滿足各種開發平臺。</a:t>
            </a:r>
            <a:endParaRPr lang="en-US" altLang="zh-TW" dirty="0"/>
          </a:p>
          <a:p>
            <a:pPr lvl="1"/>
            <a:r>
              <a:rPr lang="zh-TW" altLang="en-US" dirty="0"/>
              <a:t>事實上，</a:t>
            </a:r>
            <a:r>
              <a:rPr lang="en-US" altLang="zh-TW" dirty="0"/>
              <a:t>Python </a:t>
            </a:r>
            <a:r>
              <a:rPr lang="zh-TW" altLang="en-US" dirty="0"/>
              <a:t>官網有一個相當陽春的 </a:t>
            </a:r>
            <a:r>
              <a:rPr lang="en-US" altLang="zh-TW" dirty="0"/>
              <a:t>IDLE </a:t>
            </a:r>
            <a:r>
              <a:rPr lang="zh-TW" altLang="en-US" dirty="0"/>
              <a:t>編輯器可撰寫及執行</a:t>
            </a:r>
            <a:r>
              <a:rPr lang="en-US" altLang="zh-TW" dirty="0"/>
              <a:t>Python </a:t>
            </a:r>
            <a:r>
              <a:rPr lang="zh-TW" altLang="en-US" dirty="0"/>
              <a:t>程式，可是難以滿足程式設計者的需求。</a:t>
            </a:r>
          </a:p>
        </p:txBody>
      </p:sp>
      <p:sp>
        <p:nvSpPr>
          <p:cNvPr id="4" name="投影片編號版面配置區 3">
            <a:extLst>
              <a:ext uri="{FF2B5EF4-FFF2-40B4-BE49-F238E27FC236}">
                <a16:creationId xmlns:a16="http://schemas.microsoft.com/office/drawing/2014/main" id="{21A1247B-F781-4AE8-ABE6-5F37AB620B88}"/>
              </a:ext>
            </a:extLst>
          </p:cNvPr>
          <p:cNvSpPr>
            <a:spLocks noGrp="1"/>
          </p:cNvSpPr>
          <p:nvPr>
            <p:ph type="sldNum" sz="quarter" idx="12"/>
          </p:nvPr>
        </p:nvSpPr>
        <p:spPr/>
        <p:txBody>
          <a:bodyPr/>
          <a:lstStyle/>
          <a:p>
            <a:fld id="{A0B59302-35AD-44E9-AC3C-8D1DAE3511F1}" type="slidenum">
              <a:rPr lang="zh-TW" altLang="en-US" smtClean="0"/>
              <a:pPr/>
              <a:t>21</a:t>
            </a:fld>
            <a:endParaRPr lang="zh-TW" altLang="en-US" dirty="0"/>
          </a:p>
        </p:txBody>
      </p:sp>
      <p:pic>
        <p:nvPicPr>
          <p:cNvPr id="6" name="圖片 5">
            <a:extLst>
              <a:ext uri="{FF2B5EF4-FFF2-40B4-BE49-F238E27FC236}">
                <a16:creationId xmlns:a16="http://schemas.microsoft.com/office/drawing/2014/main" id="{99C4611D-4C08-44AF-858D-3E03D58AED7C}"/>
              </a:ext>
            </a:extLst>
          </p:cNvPr>
          <p:cNvPicPr>
            <a:picLocks noChangeAspect="1"/>
          </p:cNvPicPr>
          <p:nvPr/>
        </p:nvPicPr>
        <p:blipFill>
          <a:blip r:embed="rId3"/>
          <a:stretch>
            <a:fillRect/>
          </a:stretch>
        </p:blipFill>
        <p:spPr>
          <a:xfrm>
            <a:off x="2608374" y="4379161"/>
            <a:ext cx="8745426" cy="2091489"/>
          </a:xfrm>
          <a:prstGeom prst="rect">
            <a:avLst/>
          </a:prstGeom>
        </p:spPr>
      </p:pic>
    </p:spTree>
    <p:extLst>
      <p:ext uri="{BB962C8B-B14F-4D97-AF65-F5344CB8AC3E}">
        <p14:creationId xmlns:p14="http://schemas.microsoft.com/office/powerpoint/2010/main" val="1519278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Python IDE</a:t>
            </a:r>
            <a:r>
              <a:rPr lang="zh-TW" altLang="en-US" dirty="0"/>
              <a:t> </a:t>
            </a:r>
            <a:r>
              <a:rPr lang="en-US" altLang="zh-TW" dirty="0"/>
              <a:t>(2/2)</a:t>
            </a:r>
            <a:endParaRPr lang="zh-TW" altLang="en-US" dirty="0"/>
          </a:p>
        </p:txBody>
      </p:sp>
      <p:sp>
        <p:nvSpPr>
          <p:cNvPr id="3" name="內容版面配置區 2"/>
          <p:cNvSpPr>
            <a:spLocks noGrp="1"/>
          </p:cNvSpPr>
          <p:nvPr>
            <p:ph idx="1"/>
          </p:nvPr>
        </p:nvSpPr>
        <p:spPr/>
        <p:txBody>
          <a:bodyPr>
            <a:normAutofit fontScale="92500" lnSpcReduction="10000"/>
          </a:bodyPr>
          <a:lstStyle/>
          <a:p>
            <a:pPr>
              <a:lnSpc>
                <a:spcPct val="120000"/>
              </a:lnSpc>
            </a:pPr>
            <a:r>
              <a:rPr lang="zh-TW" altLang="en-US" dirty="0"/>
              <a:t>常見的 </a:t>
            </a:r>
            <a:r>
              <a:rPr lang="en-US" altLang="zh-TW" dirty="0"/>
              <a:t>Python IDE</a:t>
            </a:r>
          </a:p>
          <a:p>
            <a:pPr lvl="1">
              <a:lnSpc>
                <a:spcPct val="120000"/>
              </a:lnSpc>
            </a:pPr>
            <a:r>
              <a:rPr lang="en-US" altLang="zh-TW" dirty="0">
                <a:hlinkClick r:id="rId2"/>
              </a:rPr>
              <a:t>Python </a:t>
            </a:r>
            <a:r>
              <a:rPr lang="zh-TW" altLang="en-US" dirty="0">
                <a:hlinkClick r:id="rId2"/>
              </a:rPr>
              <a:t>台灣使用者群組</a:t>
            </a:r>
            <a:endParaRPr lang="en-US" altLang="zh-TW" dirty="0"/>
          </a:p>
          <a:p>
            <a:pPr lvl="1">
              <a:lnSpc>
                <a:spcPct val="120000"/>
              </a:lnSpc>
            </a:pPr>
            <a:r>
              <a:rPr lang="en-US" altLang="zh-TW" dirty="0">
                <a:hlinkClick r:id="rId3"/>
              </a:rPr>
              <a:t>The10 Best IDEs for Python Programmers</a:t>
            </a:r>
            <a:endParaRPr lang="en-US" altLang="zh-TW" dirty="0"/>
          </a:p>
          <a:p>
            <a:pPr lvl="3">
              <a:lnSpc>
                <a:spcPct val="120000"/>
              </a:lnSpc>
            </a:pPr>
            <a:endParaRPr lang="en-US" altLang="zh-TW" dirty="0"/>
          </a:p>
          <a:p>
            <a:pPr>
              <a:lnSpc>
                <a:spcPct val="120000"/>
              </a:lnSpc>
            </a:pPr>
            <a:r>
              <a:rPr lang="zh-TW" altLang="en-US" dirty="0"/>
              <a:t>線上執行 </a:t>
            </a:r>
            <a:r>
              <a:rPr lang="en-US" altLang="zh-TW" dirty="0"/>
              <a:t>Python</a:t>
            </a:r>
          </a:p>
          <a:p>
            <a:pPr lvl="1">
              <a:lnSpc>
                <a:spcPct val="120000"/>
              </a:lnSpc>
            </a:pPr>
            <a:r>
              <a:rPr lang="en-US" altLang="zh-TW" dirty="0">
                <a:hlinkClick r:id="rId4"/>
              </a:rPr>
              <a:t>repl.it</a:t>
            </a:r>
            <a:r>
              <a:rPr lang="en-US" altLang="zh-TW" dirty="0"/>
              <a:t> - Online REPL, Compiler &amp; IDE</a:t>
            </a:r>
          </a:p>
          <a:p>
            <a:pPr lvl="3">
              <a:lnSpc>
                <a:spcPct val="120000"/>
              </a:lnSpc>
            </a:pPr>
            <a:endParaRPr lang="en-US" altLang="zh-TW" dirty="0"/>
          </a:p>
          <a:p>
            <a:pPr>
              <a:lnSpc>
                <a:spcPct val="120000"/>
              </a:lnSpc>
            </a:pPr>
            <a:r>
              <a:rPr lang="zh-TW" altLang="en-US" dirty="0"/>
              <a:t>純文字 </a:t>
            </a:r>
            <a:r>
              <a:rPr lang="en-US" altLang="zh-TW" dirty="0"/>
              <a:t>IDE</a:t>
            </a:r>
          </a:p>
          <a:p>
            <a:pPr lvl="1">
              <a:lnSpc>
                <a:spcPct val="120000"/>
              </a:lnSpc>
            </a:pPr>
            <a:r>
              <a:rPr lang="en-US" altLang="zh-TW" dirty="0">
                <a:hlinkClick r:id="rId5"/>
              </a:rPr>
              <a:t>Notepad++</a:t>
            </a:r>
            <a:r>
              <a:rPr lang="en-US" altLang="zh-TW" dirty="0"/>
              <a:t>, </a:t>
            </a:r>
            <a:r>
              <a:rPr lang="en-US" altLang="zh-TW" dirty="0">
                <a:hlinkClick r:id="rId6"/>
              </a:rPr>
              <a:t>Sublime Text 3</a:t>
            </a:r>
            <a:r>
              <a:rPr lang="en-US" altLang="zh-TW" dirty="0"/>
              <a:t>, </a:t>
            </a:r>
            <a:r>
              <a:rPr lang="en-US" altLang="zh-TW" dirty="0">
                <a:hlinkClick r:id="rId7"/>
              </a:rPr>
              <a:t>VIM</a:t>
            </a:r>
            <a:r>
              <a:rPr lang="en-US" altLang="zh-TW" dirty="0"/>
              <a:t>, …</a:t>
            </a:r>
            <a:endParaRPr lang="zh-TW" altLang="en-US" dirty="0"/>
          </a:p>
          <a:p>
            <a:pPr>
              <a:lnSpc>
                <a:spcPct val="120000"/>
              </a:lnSpc>
            </a:pPr>
            <a:endParaRPr lang="zh-TW" altLang="en-US"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22</a:t>
            </a:fld>
            <a:endParaRPr lang="zh-TW" altLang="en-US" dirty="0"/>
          </a:p>
        </p:txBody>
      </p:sp>
      <p:pic>
        <p:nvPicPr>
          <p:cNvPr id="1026" name="Picture 2" descr="「工欲善其事 必先利其器」的圖片搜尋結果"/>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7493649" y="1857375"/>
            <a:ext cx="4084853" cy="2771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332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8C09CA-981F-4762-BDA0-6CDD2EEB2AF5}"/>
              </a:ext>
            </a:extLst>
          </p:cNvPr>
          <p:cNvSpPr>
            <a:spLocks noGrp="1"/>
          </p:cNvSpPr>
          <p:nvPr>
            <p:ph type="title"/>
          </p:nvPr>
        </p:nvSpPr>
        <p:spPr/>
        <p:txBody>
          <a:bodyPr/>
          <a:lstStyle/>
          <a:p>
            <a:r>
              <a:rPr lang="en-US" altLang="zh-TW" dirty="0"/>
              <a:t>Python IDE: Anaconda</a:t>
            </a:r>
            <a:endParaRPr lang="zh-TW" altLang="en-US" dirty="0"/>
          </a:p>
        </p:txBody>
      </p:sp>
      <p:sp>
        <p:nvSpPr>
          <p:cNvPr id="3" name="內容版面配置區 2">
            <a:extLst>
              <a:ext uri="{FF2B5EF4-FFF2-40B4-BE49-F238E27FC236}">
                <a16:creationId xmlns:a16="http://schemas.microsoft.com/office/drawing/2014/main" id="{5682B4CB-259F-4ACB-8122-3CE6DFDFBE7C}"/>
              </a:ext>
            </a:extLst>
          </p:cNvPr>
          <p:cNvSpPr>
            <a:spLocks noGrp="1"/>
          </p:cNvSpPr>
          <p:nvPr>
            <p:ph idx="1"/>
          </p:nvPr>
        </p:nvSpPr>
        <p:spPr/>
        <p:txBody>
          <a:bodyPr/>
          <a:lstStyle/>
          <a:p>
            <a:r>
              <a:rPr lang="zh-TW" altLang="en-US" dirty="0"/>
              <a:t>在眾多圖形介面的 </a:t>
            </a:r>
            <a:r>
              <a:rPr lang="en-US" altLang="zh-TW" dirty="0"/>
              <a:t>Python IDE </a:t>
            </a:r>
            <a:r>
              <a:rPr lang="zh-TW" altLang="en-US" dirty="0"/>
              <a:t>中，可採用 </a:t>
            </a:r>
            <a:r>
              <a:rPr lang="en-US" altLang="zh-TW" dirty="0"/>
              <a:t>Anaconda </a:t>
            </a:r>
            <a:r>
              <a:rPr lang="zh-TW" altLang="en-US" dirty="0"/>
              <a:t>為第一個學習環境，雖然這並非全球最多開發者使用的 </a:t>
            </a:r>
            <a:r>
              <a:rPr lang="en-US" altLang="zh-TW" dirty="0"/>
              <a:t>IDE</a:t>
            </a:r>
            <a:r>
              <a:rPr lang="zh-TW" altLang="en-US" dirty="0"/>
              <a:t>，但卻是一個讓初學者最容易搭建的 </a:t>
            </a:r>
            <a:r>
              <a:rPr lang="en-US" altLang="zh-TW" dirty="0"/>
              <a:t>Python</a:t>
            </a:r>
            <a:r>
              <a:rPr lang="zh-TW" altLang="en-US" dirty="0"/>
              <a:t> 學習環境。</a:t>
            </a:r>
            <a:endParaRPr lang="en-US" altLang="zh-TW" dirty="0"/>
          </a:p>
          <a:p>
            <a:r>
              <a:rPr lang="zh-TW" altLang="en-US" dirty="0"/>
              <a:t>特點：</a:t>
            </a:r>
            <a:endParaRPr lang="en-US" altLang="zh-TW" dirty="0"/>
          </a:p>
          <a:p>
            <a:pPr lvl="1"/>
            <a:r>
              <a:rPr lang="zh-TW" altLang="en-US" dirty="0"/>
              <a:t>免費、開源且跨平台。</a:t>
            </a:r>
          </a:p>
          <a:p>
            <a:pPr lvl="1"/>
            <a:r>
              <a:rPr lang="zh-TW" altLang="en-US" dirty="0"/>
              <a:t>內含 </a:t>
            </a:r>
            <a:r>
              <a:rPr lang="en-US" altLang="zh-TW" dirty="0"/>
              <a:t>Spyder </a:t>
            </a:r>
            <a:r>
              <a:rPr lang="zh-TW" altLang="en-US" dirty="0"/>
              <a:t>單機與 </a:t>
            </a:r>
            <a:r>
              <a:rPr lang="en-US" altLang="zh-TW" dirty="0" err="1"/>
              <a:t>Jupyter</a:t>
            </a:r>
            <a:r>
              <a:rPr lang="en-US" altLang="zh-TW" dirty="0"/>
              <a:t> Notebook </a:t>
            </a:r>
            <a:r>
              <a:rPr lang="zh-TW" altLang="en-US" dirty="0"/>
              <a:t>網頁式編寫環境。</a:t>
            </a:r>
          </a:p>
          <a:p>
            <a:pPr lvl="1"/>
            <a:r>
              <a:rPr lang="zh-TW" altLang="en-US" dirty="0"/>
              <a:t>內建眾多流行的科學、工程、數據分析套件，但也使其安裝檔超過</a:t>
            </a:r>
            <a:r>
              <a:rPr lang="en-US" altLang="zh-TW" dirty="0"/>
              <a:t>1GB</a:t>
            </a:r>
            <a:r>
              <a:rPr lang="zh-TW" altLang="en-US" dirty="0"/>
              <a:t>。</a:t>
            </a:r>
          </a:p>
          <a:p>
            <a:endParaRPr lang="zh-TW" altLang="en-US" dirty="0"/>
          </a:p>
        </p:txBody>
      </p:sp>
      <p:sp>
        <p:nvSpPr>
          <p:cNvPr id="4" name="投影片編號版面配置區 3">
            <a:extLst>
              <a:ext uri="{FF2B5EF4-FFF2-40B4-BE49-F238E27FC236}">
                <a16:creationId xmlns:a16="http://schemas.microsoft.com/office/drawing/2014/main" id="{F556DBB4-623C-4747-A28A-1FA2C12CE2BA}"/>
              </a:ext>
            </a:extLst>
          </p:cNvPr>
          <p:cNvSpPr>
            <a:spLocks noGrp="1"/>
          </p:cNvSpPr>
          <p:nvPr>
            <p:ph type="sldNum" sz="quarter" idx="12"/>
          </p:nvPr>
        </p:nvSpPr>
        <p:spPr/>
        <p:txBody>
          <a:bodyPr/>
          <a:lstStyle/>
          <a:p>
            <a:fld id="{A0B59302-35AD-44E9-AC3C-8D1DAE3511F1}" type="slidenum">
              <a:rPr lang="zh-TW" altLang="en-US" smtClean="0"/>
              <a:pPr/>
              <a:t>23</a:t>
            </a:fld>
            <a:endParaRPr lang="zh-TW" altLang="en-US" dirty="0"/>
          </a:p>
        </p:txBody>
      </p:sp>
    </p:spTree>
    <p:extLst>
      <p:ext uri="{BB962C8B-B14F-4D97-AF65-F5344CB8AC3E}">
        <p14:creationId xmlns:p14="http://schemas.microsoft.com/office/powerpoint/2010/main" val="126416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pPr lvl="1"/>
            <a:r>
              <a:rPr lang="zh-TW" altLang="en-US" dirty="0">
                <a:solidFill>
                  <a:schemeClr val="accent2"/>
                </a:solidFill>
              </a:rPr>
              <a:t>安裝與使用 </a:t>
            </a:r>
            <a:r>
              <a:rPr lang="en-US" altLang="zh-TW" dirty="0">
                <a:solidFill>
                  <a:schemeClr val="accent2"/>
                </a:solidFill>
              </a:rPr>
              <a:t>Anaconda</a:t>
            </a:r>
          </a:p>
          <a:p>
            <a:pPr lvl="1"/>
            <a:r>
              <a:rPr lang="en-US" altLang="zh-TW" dirty="0"/>
              <a:t>Spyder</a:t>
            </a:r>
            <a:r>
              <a:rPr lang="zh-TW" altLang="en-US" dirty="0"/>
              <a:t> 編輯器</a:t>
            </a:r>
            <a:endParaRPr lang="en-US" altLang="zh-TW" dirty="0"/>
          </a:p>
          <a:p>
            <a:pPr lvl="1"/>
            <a:r>
              <a:rPr lang="en-US" altLang="zh-TW" dirty="0" err="1"/>
              <a:t>Jupyter</a:t>
            </a:r>
            <a:r>
              <a:rPr lang="en-US" altLang="zh-TW" dirty="0"/>
              <a:t> </a:t>
            </a:r>
            <a:r>
              <a:rPr lang="zh-TW" altLang="en-US" dirty="0"/>
              <a:t>網頁式編輯器</a:t>
            </a:r>
            <a:endParaRPr lang="en-US" altLang="zh-TW" dirty="0"/>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24</a:t>
            </a:fld>
            <a:endParaRPr lang="zh-TW" altLang="en-US" dirty="0"/>
          </a:p>
        </p:txBody>
      </p:sp>
    </p:spTree>
    <p:extLst>
      <p:ext uri="{BB962C8B-B14F-4D97-AF65-F5344CB8AC3E}">
        <p14:creationId xmlns:p14="http://schemas.microsoft.com/office/powerpoint/2010/main" val="168492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31EEC4-98F3-4628-B12F-7F807F5037DA}"/>
              </a:ext>
            </a:extLst>
          </p:cNvPr>
          <p:cNvSpPr>
            <a:spLocks noGrp="1"/>
          </p:cNvSpPr>
          <p:nvPr>
            <p:ph type="title"/>
          </p:nvPr>
        </p:nvSpPr>
        <p:spPr/>
        <p:txBody>
          <a:bodyPr/>
          <a:lstStyle/>
          <a:p>
            <a:r>
              <a:rPr lang="zh-TW" altLang="en-US" dirty="0"/>
              <a:t>下載最新版 </a:t>
            </a:r>
            <a:r>
              <a:rPr lang="en-US" altLang="zh-TW" dirty="0"/>
              <a:t>Anaconda</a:t>
            </a:r>
            <a:endParaRPr lang="zh-TW" altLang="en-US" dirty="0"/>
          </a:p>
        </p:txBody>
      </p:sp>
      <p:sp>
        <p:nvSpPr>
          <p:cNvPr id="3" name="內容版面配置區 2">
            <a:extLst>
              <a:ext uri="{FF2B5EF4-FFF2-40B4-BE49-F238E27FC236}">
                <a16:creationId xmlns:a16="http://schemas.microsoft.com/office/drawing/2014/main" id="{88CB9EBA-A16E-4A1A-8E57-C1F1A8F86ABF}"/>
              </a:ext>
            </a:extLst>
          </p:cNvPr>
          <p:cNvSpPr>
            <a:spLocks noGrp="1"/>
          </p:cNvSpPr>
          <p:nvPr>
            <p:ph idx="1"/>
          </p:nvPr>
        </p:nvSpPr>
        <p:spPr/>
        <p:txBody>
          <a:bodyPr/>
          <a:lstStyle/>
          <a:p>
            <a:r>
              <a:rPr lang="en-US" altLang="zh-TW" dirty="0"/>
              <a:t>https://www.anaconda.com/download</a:t>
            </a:r>
          </a:p>
          <a:p>
            <a:endParaRPr lang="zh-TW" altLang="en-US" dirty="0"/>
          </a:p>
        </p:txBody>
      </p:sp>
      <p:sp>
        <p:nvSpPr>
          <p:cNvPr id="4" name="投影片編號版面配置區 3">
            <a:extLst>
              <a:ext uri="{FF2B5EF4-FFF2-40B4-BE49-F238E27FC236}">
                <a16:creationId xmlns:a16="http://schemas.microsoft.com/office/drawing/2014/main" id="{1383BE34-C31A-455B-A86F-CFC7A0161A73}"/>
              </a:ext>
            </a:extLst>
          </p:cNvPr>
          <p:cNvSpPr>
            <a:spLocks noGrp="1"/>
          </p:cNvSpPr>
          <p:nvPr>
            <p:ph type="sldNum" sz="quarter" idx="12"/>
          </p:nvPr>
        </p:nvSpPr>
        <p:spPr/>
        <p:txBody>
          <a:bodyPr/>
          <a:lstStyle/>
          <a:p>
            <a:fld id="{A0B59302-35AD-44E9-AC3C-8D1DAE3511F1}" type="slidenum">
              <a:rPr lang="zh-TW" altLang="en-US" smtClean="0"/>
              <a:pPr/>
              <a:t>25</a:t>
            </a:fld>
            <a:endParaRPr lang="zh-TW" altLang="en-US" dirty="0"/>
          </a:p>
        </p:txBody>
      </p:sp>
      <p:pic>
        <p:nvPicPr>
          <p:cNvPr id="5" name="圖片 4">
            <a:extLst>
              <a:ext uri="{FF2B5EF4-FFF2-40B4-BE49-F238E27FC236}">
                <a16:creationId xmlns:a16="http://schemas.microsoft.com/office/drawing/2014/main" id="{1D05507B-94A8-48EA-8083-9F64B00FBE7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1454" y="2495867"/>
            <a:ext cx="6749091" cy="3974783"/>
          </a:xfrm>
          <a:prstGeom prst="rect">
            <a:avLst/>
          </a:prstGeom>
          <a:noFill/>
          <a:ln>
            <a:noFill/>
          </a:ln>
        </p:spPr>
      </p:pic>
    </p:spTree>
    <p:extLst>
      <p:ext uri="{BB962C8B-B14F-4D97-AF65-F5344CB8AC3E}">
        <p14:creationId xmlns:p14="http://schemas.microsoft.com/office/powerpoint/2010/main" val="2768449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AA55E-3C67-4ED2-9D0B-39FC2CA7A724}"/>
              </a:ext>
            </a:extLst>
          </p:cNvPr>
          <p:cNvSpPr>
            <a:spLocks noGrp="1"/>
          </p:cNvSpPr>
          <p:nvPr>
            <p:ph type="title"/>
          </p:nvPr>
        </p:nvSpPr>
        <p:spPr/>
        <p:txBody>
          <a:bodyPr/>
          <a:lstStyle/>
          <a:p>
            <a:r>
              <a:rPr lang="zh-TW" altLang="en-US" dirty="0"/>
              <a:t>下載較舊的 </a:t>
            </a:r>
            <a:r>
              <a:rPr lang="en-US" altLang="zh-TW" dirty="0"/>
              <a:t>Anaconda (1/2)</a:t>
            </a:r>
            <a:endParaRPr lang="zh-TW" altLang="en-US" dirty="0"/>
          </a:p>
        </p:txBody>
      </p:sp>
      <p:sp>
        <p:nvSpPr>
          <p:cNvPr id="3" name="內容版面配置區 2">
            <a:extLst>
              <a:ext uri="{FF2B5EF4-FFF2-40B4-BE49-F238E27FC236}">
                <a16:creationId xmlns:a16="http://schemas.microsoft.com/office/drawing/2014/main" id="{D134778F-CFE5-4B68-BA97-B1B5E7C69969}"/>
              </a:ext>
            </a:extLst>
          </p:cNvPr>
          <p:cNvSpPr>
            <a:spLocks noGrp="1"/>
          </p:cNvSpPr>
          <p:nvPr>
            <p:ph idx="1"/>
          </p:nvPr>
        </p:nvSpPr>
        <p:spPr/>
        <p:txBody>
          <a:bodyPr/>
          <a:lstStyle/>
          <a:p>
            <a:r>
              <a:rPr lang="zh-TW" altLang="en-US" dirty="0"/>
              <a:t>倘若考慮到穩定性、與其它套件的相容性（譬如知名的深度學習框架 </a:t>
            </a:r>
            <a:r>
              <a:rPr lang="en-US" altLang="zh-TW" dirty="0"/>
              <a:t>TensorFlow 2 </a:t>
            </a:r>
            <a:r>
              <a:rPr lang="zh-TW" altLang="en-US" dirty="0"/>
              <a:t>與 </a:t>
            </a:r>
            <a:r>
              <a:rPr lang="en-US" altLang="zh-TW" dirty="0" err="1"/>
              <a:t>PyTorch</a:t>
            </a:r>
            <a:r>
              <a:rPr lang="en-US" altLang="zh-TW" dirty="0"/>
              <a:t> </a:t>
            </a:r>
            <a:r>
              <a:rPr lang="zh-TW" altLang="en-US" dirty="0"/>
              <a:t>目前可支援 </a:t>
            </a:r>
            <a:r>
              <a:rPr lang="en-US" altLang="zh-TW" dirty="0"/>
              <a:t>Python 3.8-3.11</a:t>
            </a:r>
            <a:r>
              <a:rPr lang="zh-TW" altLang="en-US" dirty="0"/>
              <a:t>）等，可安裝較舊一點的 </a:t>
            </a:r>
            <a:r>
              <a:rPr lang="en-US" altLang="zh-TW" dirty="0"/>
              <a:t>Python </a:t>
            </a:r>
            <a:r>
              <a:rPr lang="zh-TW" altLang="en-US" dirty="0"/>
              <a:t>版本。</a:t>
            </a:r>
          </a:p>
        </p:txBody>
      </p:sp>
      <p:sp>
        <p:nvSpPr>
          <p:cNvPr id="4" name="投影片編號版面配置區 3">
            <a:extLst>
              <a:ext uri="{FF2B5EF4-FFF2-40B4-BE49-F238E27FC236}">
                <a16:creationId xmlns:a16="http://schemas.microsoft.com/office/drawing/2014/main" id="{B5D1E6AA-3DD5-45CC-AB24-4C92F563C757}"/>
              </a:ext>
            </a:extLst>
          </p:cNvPr>
          <p:cNvSpPr>
            <a:spLocks noGrp="1"/>
          </p:cNvSpPr>
          <p:nvPr>
            <p:ph type="sldNum" sz="quarter" idx="12"/>
          </p:nvPr>
        </p:nvSpPr>
        <p:spPr/>
        <p:txBody>
          <a:bodyPr/>
          <a:lstStyle/>
          <a:p>
            <a:fld id="{A0B59302-35AD-44E9-AC3C-8D1DAE3511F1}" type="slidenum">
              <a:rPr lang="zh-TW" altLang="en-US" smtClean="0"/>
              <a:pPr/>
              <a:t>26</a:t>
            </a:fld>
            <a:endParaRPr lang="zh-TW" altLang="en-US" dirty="0"/>
          </a:p>
        </p:txBody>
      </p:sp>
      <p:graphicFrame>
        <p:nvGraphicFramePr>
          <p:cNvPr id="5" name="表格 4">
            <a:extLst>
              <a:ext uri="{FF2B5EF4-FFF2-40B4-BE49-F238E27FC236}">
                <a16:creationId xmlns:a16="http://schemas.microsoft.com/office/drawing/2014/main" id="{DB6D3755-0A34-4B13-8393-767BAADD8473}"/>
              </a:ext>
            </a:extLst>
          </p:cNvPr>
          <p:cNvGraphicFramePr>
            <a:graphicFrameLocks noGrp="1"/>
          </p:cNvGraphicFramePr>
          <p:nvPr>
            <p:extLst>
              <p:ext uri="{D42A27DB-BD31-4B8C-83A1-F6EECF244321}">
                <p14:modId xmlns:p14="http://schemas.microsoft.com/office/powerpoint/2010/main" val="4180264616"/>
              </p:ext>
            </p:extLst>
          </p:nvPr>
        </p:nvGraphicFramePr>
        <p:xfrm>
          <a:off x="1413641" y="3648718"/>
          <a:ext cx="9364718" cy="2715570"/>
        </p:xfrm>
        <a:graphic>
          <a:graphicData uri="http://schemas.openxmlformats.org/drawingml/2006/table">
            <a:tbl>
              <a:tblPr firstRow="1" firstCol="1" bandRow="1">
                <a:tableStyleId>{69012ECD-51FC-41F1-AA8D-1B2483CD663E}</a:tableStyleId>
              </a:tblPr>
              <a:tblGrid>
                <a:gridCol w="2340290">
                  <a:extLst>
                    <a:ext uri="{9D8B030D-6E8A-4147-A177-3AD203B41FA5}">
                      <a16:colId xmlns:a16="http://schemas.microsoft.com/office/drawing/2014/main" val="4061976516"/>
                    </a:ext>
                  </a:extLst>
                </a:gridCol>
                <a:gridCol w="2341476">
                  <a:extLst>
                    <a:ext uri="{9D8B030D-6E8A-4147-A177-3AD203B41FA5}">
                      <a16:colId xmlns:a16="http://schemas.microsoft.com/office/drawing/2014/main" val="2393723026"/>
                    </a:ext>
                  </a:extLst>
                </a:gridCol>
                <a:gridCol w="2341476">
                  <a:extLst>
                    <a:ext uri="{9D8B030D-6E8A-4147-A177-3AD203B41FA5}">
                      <a16:colId xmlns:a16="http://schemas.microsoft.com/office/drawing/2014/main" val="3528351301"/>
                    </a:ext>
                  </a:extLst>
                </a:gridCol>
                <a:gridCol w="2341476">
                  <a:extLst>
                    <a:ext uri="{9D8B030D-6E8A-4147-A177-3AD203B41FA5}">
                      <a16:colId xmlns:a16="http://schemas.microsoft.com/office/drawing/2014/main" val="841177095"/>
                    </a:ext>
                  </a:extLst>
                </a:gridCol>
              </a:tblGrid>
              <a:tr h="908114">
                <a:tc>
                  <a:txBody>
                    <a:bodyPr/>
                    <a:lstStyle/>
                    <a:p>
                      <a:pPr marL="36195" marR="36195" algn="ctr">
                        <a:lnSpc>
                          <a:spcPct val="100000"/>
                        </a:lnSpc>
                        <a:spcBef>
                          <a:spcPts val="400"/>
                        </a:spcBef>
                        <a:spcAft>
                          <a:spcPts val="300"/>
                        </a:spcAft>
                      </a:pPr>
                      <a:r>
                        <a:rPr lang="en-US" sz="2400" kern="100" spc="30" dirty="0">
                          <a:effectLst/>
                        </a:rPr>
                        <a:t>Anaconda3 </a:t>
                      </a:r>
                    </a:p>
                    <a:p>
                      <a:pPr marL="36195" marR="36195" algn="ctr">
                        <a:lnSpc>
                          <a:spcPct val="100000"/>
                        </a:lnSpc>
                        <a:spcBef>
                          <a:spcPts val="400"/>
                        </a:spcBef>
                        <a:spcAft>
                          <a:spcPts val="300"/>
                        </a:spcAft>
                      </a:pPr>
                      <a:r>
                        <a:rPr lang="zh-TW" sz="2400" kern="100" spc="30" dirty="0">
                          <a:effectLst/>
                        </a:rPr>
                        <a:t>版本</a:t>
                      </a:r>
                      <a:endParaRPr lang="zh-TW" sz="2400" kern="100" spc="30" dirty="0">
                        <a:solidFill>
                          <a:srgbClr val="000000"/>
                        </a:solidFill>
                        <a:effectLst/>
                        <a:latin typeface="Swis721 Lt BT"/>
                        <a:ea typeface="華康中圓體" panose="020F0509000000000000" pitchFamily="49" charset="-120"/>
                        <a:cs typeface="Arial" panose="020B0604020202020204" pitchFamily="34" charset="0"/>
                      </a:endParaRPr>
                    </a:p>
                  </a:txBody>
                  <a:tcPr marL="0" marR="0" marT="0" marB="0" anchor="ctr"/>
                </a:tc>
                <a:tc>
                  <a:txBody>
                    <a:bodyPr/>
                    <a:lstStyle/>
                    <a:p>
                      <a:pPr marL="36195" marR="36195" algn="ctr">
                        <a:lnSpc>
                          <a:spcPct val="100000"/>
                        </a:lnSpc>
                        <a:spcBef>
                          <a:spcPts val="400"/>
                        </a:spcBef>
                        <a:spcAft>
                          <a:spcPts val="400"/>
                        </a:spcAft>
                      </a:pPr>
                      <a:r>
                        <a:rPr lang="zh-TW" sz="2400" kern="100" spc="30" dirty="0">
                          <a:effectLst/>
                        </a:rPr>
                        <a:t>基礎</a:t>
                      </a:r>
                      <a:r>
                        <a:rPr lang="en-US" altLang="zh-TW" sz="2400" kern="100" spc="30" dirty="0">
                          <a:effectLst/>
                        </a:rPr>
                        <a:t> </a:t>
                      </a:r>
                      <a:r>
                        <a:rPr lang="en-US" sz="2400" kern="100" spc="30" dirty="0">
                          <a:effectLst/>
                        </a:rPr>
                        <a:t>Python </a:t>
                      </a:r>
                    </a:p>
                    <a:p>
                      <a:pPr marL="36195" marR="36195" algn="ctr">
                        <a:lnSpc>
                          <a:spcPct val="100000"/>
                        </a:lnSpc>
                        <a:spcBef>
                          <a:spcPts val="400"/>
                        </a:spcBef>
                        <a:spcAft>
                          <a:spcPts val="400"/>
                        </a:spcAft>
                      </a:pPr>
                      <a:r>
                        <a:rPr lang="zh-TW" sz="2400" kern="100" spc="30" dirty="0">
                          <a:effectLst/>
                        </a:rPr>
                        <a:t>版本</a:t>
                      </a:r>
                      <a:endParaRPr lang="zh-TW" sz="2400" kern="100" spc="30" dirty="0">
                        <a:solidFill>
                          <a:srgbClr val="000000"/>
                        </a:solidFill>
                        <a:effectLst/>
                        <a:latin typeface="Swis721 Lt BT"/>
                        <a:ea typeface="華康中圓體" panose="020F0509000000000000" pitchFamily="49" charset="-120"/>
                        <a:cs typeface="Arial" panose="020B0604020202020204" pitchFamily="34" charset="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36195" marR="36195" algn="ctr">
                        <a:lnSpc>
                          <a:spcPct val="100000"/>
                        </a:lnSpc>
                        <a:spcBef>
                          <a:spcPts val="400"/>
                        </a:spcBef>
                        <a:spcAft>
                          <a:spcPts val="400"/>
                        </a:spcAft>
                      </a:pPr>
                      <a:r>
                        <a:rPr lang="en-US" sz="2400" kern="100" spc="30" dirty="0">
                          <a:effectLst/>
                        </a:rPr>
                        <a:t>Anaconda3 </a:t>
                      </a:r>
                    </a:p>
                    <a:p>
                      <a:pPr marL="36195" marR="36195" algn="ctr">
                        <a:lnSpc>
                          <a:spcPct val="100000"/>
                        </a:lnSpc>
                        <a:spcBef>
                          <a:spcPts val="400"/>
                        </a:spcBef>
                        <a:spcAft>
                          <a:spcPts val="400"/>
                        </a:spcAft>
                      </a:pPr>
                      <a:r>
                        <a:rPr lang="zh-TW" sz="2400" kern="100" spc="30" dirty="0">
                          <a:effectLst/>
                        </a:rPr>
                        <a:t>版本</a:t>
                      </a:r>
                      <a:endParaRPr lang="zh-TW" sz="2400" kern="100" spc="30" dirty="0">
                        <a:solidFill>
                          <a:srgbClr val="000000"/>
                        </a:solidFill>
                        <a:effectLst/>
                        <a:latin typeface="Swis721 Lt BT"/>
                        <a:ea typeface="華康中圓體" panose="020F0509000000000000" pitchFamily="49" charset="-12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36195" marR="36195" algn="ctr">
                        <a:lnSpc>
                          <a:spcPct val="100000"/>
                        </a:lnSpc>
                        <a:spcBef>
                          <a:spcPts val="400"/>
                        </a:spcBef>
                        <a:spcAft>
                          <a:spcPts val="400"/>
                        </a:spcAft>
                      </a:pPr>
                      <a:r>
                        <a:rPr lang="zh-TW" sz="2400" kern="100" spc="30" dirty="0">
                          <a:effectLst/>
                        </a:rPr>
                        <a:t>基礎</a:t>
                      </a:r>
                      <a:r>
                        <a:rPr lang="en-US" altLang="zh-TW" sz="2400" kern="100" spc="30" dirty="0">
                          <a:effectLst/>
                        </a:rPr>
                        <a:t> </a:t>
                      </a:r>
                      <a:r>
                        <a:rPr lang="en-US" sz="2400" kern="100" spc="30" dirty="0">
                          <a:effectLst/>
                        </a:rPr>
                        <a:t>Python </a:t>
                      </a:r>
                    </a:p>
                    <a:p>
                      <a:pPr marL="36195" marR="36195" algn="ctr">
                        <a:lnSpc>
                          <a:spcPct val="100000"/>
                        </a:lnSpc>
                        <a:spcBef>
                          <a:spcPts val="400"/>
                        </a:spcBef>
                        <a:spcAft>
                          <a:spcPts val="400"/>
                        </a:spcAft>
                      </a:pPr>
                      <a:r>
                        <a:rPr lang="zh-TW" sz="2400" kern="100" spc="30" dirty="0">
                          <a:effectLst/>
                        </a:rPr>
                        <a:t>版本</a:t>
                      </a:r>
                      <a:endParaRPr lang="zh-TW" sz="2400" kern="100" spc="30" dirty="0">
                        <a:solidFill>
                          <a:srgbClr val="000000"/>
                        </a:solidFill>
                        <a:effectLst/>
                        <a:latin typeface="Swis721 Lt BT"/>
                        <a:ea typeface="華康中圓體" panose="020F0509000000000000" pitchFamily="49" charset="-120"/>
                        <a:cs typeface="Arial" panose="020B0604020202020204" pitchFamily="34" charset="0"/>
                      </a:endParaRPr>
                    </a:p>
                  </a:txBody>
                  <a:tcPr marL="0" marR="0" marT="0" marB="0" anchor="ctr"/>
                </a:tc>
                <a:extLst>
                  <a:ext uri="{0D108BD9-81ED-4DB2-BD59-A6C34878D82A}">
                    <a16:rowId xmlns:a16="http://schemas.microsoft.com/office/drawing/2014/main" val="2412030211"/>
                  </a:ext>
                </a:extLst>
              </a:tr>
              <a:tr h="611951">
                <a:tc>
                  <a:txBody>
                    <a:bodyPr/>
                    <a:lstStyle/>
                    <a:p>
                      <a:pPr marL="36195" marR="36195" algn="ctr">
                        <a:lnSpc>
                          <a:spcPct val="100000"/>
                        </a:lnSpc>
                        <a:spcBef>
                          <a:spcPts val="200"/>
                        </a:spcBef>
                        <a:spcAft>
                          <a:spcPts val="200"/>
                        </a:spcAft>
                      </a:pPr>
                      <a:r>
                        <a:rPr lang="en-US" sz="2400" kern="100" spc="50" dirty="0">
                          <a:effectLst/>
                        </a:rPr>
                        <a:t>2023.09-0</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tc>
                <a:tc>
                  <a:txBody>
                    <a:bodyPr/>
                    <a:lstStyle/>
                    <a:p>
                      <a:pPr marL="36195" marR="36195" algn="ctr">
                        <a:lnSpc>
                          <a:spcPct val="100000"/>
                        </a:lnSpc>
                        <a:spcBef>
                          <a:spcPts val="200"/>
                        </a:spcBef>
                        <a:spcAft>
                          <a:spcPts val="200"/>
                        </a:spcAft>
                      </a:pPr>
                      <a:r>
                        <a:rPr lang="en-US" sz="2400" kern="100" spc="50" dirty="0">
                          <a:effectLst/>
                        </a:rPr>
                        <a:t>3.11</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36195" marR="36195" algn="ctr">
                        <a:lnSpc>
                          <a:spcPct val="100000"/>
                        </a:lnSpc>
                        <a:spcBef>
                          <a:spcPts val="200"/>
                        </a:spcBef>
                        <a:spcAft>
                          <a:spcPts val="200"/>
                        </a:spcAft>
                      </a:pPr>
                      <a:r>
                        <a:rPr lang="en-US" sz="2400" b="1" kern="100" spc="50" dirty="0">
                          <a:effectLst/>
                        </a:rPr>
                        <a:t>2021.05</a:t>
                      </a:r>
                      <a:endParaRPr lang="zh-TW" sz="2400" b="1" kern="100" spc="50" dirty="0">
                        <a:effectLst/>
                        <a:latin typeface="Times New Roman" panose="02020603050405020304" pitchFamily="18" charset="0"/>
                        <a:ea typeface="華康細圓體" panose="020F0309000000000000" pitchFamily="49" charset="-120"/>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36195" marR="36195" algn="ctr">
                        <a:lnSpc>
                          <a:spcPct val="100000"/>
                        </a:lnSpc>
                        <a:spcBef>
                          <a:spcPts val="200"/>
                        </a:spcBef>
                        <a:spcAft>
                          <a:spcPts val="200"/>
                        </a:spcAft>
                      </a:pPr>
                      <a:r>
                        <a:rPr lang="en-US" sz="2400" kern="100" spc="50" dirty="0">
                          <a:effectLst/>
                        </a:rPr>
                        <a:t>3.8</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tc>
                <a:extLst>
                  <a:ext uri="{0D108BD9-81ED-4DB2-BD59-A6C34878D82A}">
                    <a16:rowId xmlns:a16="http://schemas.microsoft.com/office/drawing/2014/main" val="1220712602"/>
                  </a:ext>
                </a:extLst>
              </a:tr>
              <a:tr h="611951">
                <a:tc>
                  <a:txBody>
                    <a:bodyPr/>
                    <a:lstStyle/>
                    <a:p>
                      <a:pPr marL="36195" marR="36195" algn="ctr">
                        <a:lnSpc>
                          <a:spcPct val="100000"/>
                        </a:lnSpc>
                        <a:spcBef>
                          <a:spcPts val="200"/>
                        </a:spcBef>
                        <a:spcAft>
                          <a:spcPts val="200"/>
                        </a:spcAft>
                      </a:pPr>
                      <a:r>
                        <a:rPr lang="en-US" sz="2400" kern="100" spc="50">
                          <a:effectLst/>
                        </a:rPr>
                        <a:t>2023.03-1</a:t>
                      </a:r>
                      <a:endParaRPr lang="zh-TW" sz="2400" kern="100" spc="50">
                        <a:effectLst/>
                        <a:latin typeface="Times New Roman" panose="02020603050405020304" pitchFamily="18" charset="0"/>
                        <a:ea typeface="華康細圓體" panose="020F0309000000000000" pitchFamily="49" charset="-120"/>
                      </a:endParaRPr>
                    </a:p>
                  </a:txBody>
                  <a:tcPr marL="0" marR="0" marT="0" marB="0" anchor="ctr"/>
                </a:tc>
                <a:tc>
                  <a:txBody>
                    <a:bodyPr/>
                    <a:lstStyle/>
                    <a:p>
                      <a:pPr marL="36195" marR="36195" algn="ctr">
                        <a:lnSpc>
                          <a:spcPct val="100000"/>
                        </a:lnSpc>
                        <a:spcBef>
                          <a:spcPts val="200"/>
                        </a:spcBef>
                        <a:spcAft>
                          <a:spcPts val="200"/>
                        </a:spcAft>
                      </a:pPr>
                      <a:r>
                        <a:rPr lang="en-US" sz="2400" kern="100" spc="50" dirty="0">
                          <a:effectLst/>
                        </a:rPr>
                        <a:t>3.10</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36195" marR="36195" algn="ctr">
                        <a:lnSpc>
                          <a:spcPct val="100000"/>
                        </a:lnSpc>
                        <a:spcBef>
                          <a:spcPts val="200"/>
                        </a:spcBef>
                        <a:spcAft>
                          <a:spcPts val="200"/>
                        </a:spcAft>
                      </a:pPr>
                      <a:r>
                        <a:rPr lang="en-US" sz="2400" b="1" kern="100" spc="50" dirty="0">
                          <a:effectLst/>
                        </a:rPr>
                        <a:t>2020.02</a:t>
                      </a:r>
                      <a:endParaRPr lang="zh-TW" sz="2400" b="1" kern="100" spc="50" dirty="0">
                        <a:effectLst/>
                        <a:latin typeface="Times New Roman" panose="02020603050405020304" pitchFamily="18" charset="0"/>
                        <a:ea typeface="華康細圓體" panose="020F0309000000000000" pitchFamily="49" charset="-120"/>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36195" marR="36195" algn="ctr">
                        <a:lnSpc>
                          <a:spcPct val="100000"/>
                        </a:lnSpc>
                        <a:spcBef>
                          <a:spcPts val="200"/>
                        </a:spcBef>
                        <a:spcAft>
                          <a:spcPts val="200"/>
                        </a:spcAft>
                      </a:pPr>
                      <a:r>
                        <a:rPr lang="en-US" sz="2400" kern="100" spc="50" dirty="0">
                          <a:effectLst/>
                        </a:rPr>
                        <a:t>3.7</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tc>
                <a:extLst>
                  <a:ext uri="{0D108BD9-81ED-4DB2-BD59-A6C34878D82A}">
                    <a16:rowId xmlns:a16="http://schemas.microsoft.com/office/drawing/2014/main" val="837412281"/>
                  </a:ext>
                </a:extLst>
              </a:tr>
              <a:tr h="583554">
                <a:tc>
                  <a:txBody>
                    <a:bodyPr/>
                    <a:lstStyle/>
                    <a:p>
                      <a:pPr marL="36195" marR="36195" algn="ctr">
                        <a:lnSpc>
                          <a:spcPct val="100000"/>
                        </a:lnSpc>
                        <a:spcBef>
                          <a:spcPts val="200"/>
                        </a:spcBef>
                        <a:spcAft>
                          <a:spcPts val="200"/>
                        </a:spcAft>
                      </a:pPr>
                      <a:r>
                        <a:rPr lang="en-US" sz="2400" kern="100" spc="50">
                          <a:effectLst/>
                        </a:rPr>
                        <a:t>2022.10</a:t>
                      </a:r>
                      <a:endParaRPr lang="zh-TW" sz="2400" kern="100" spc="50">
                        <a:effectLst/>
                        <a:latin typeface="Times New Roman" panose="02020603050405020304" pitchFamily="18" charset="0"/>
                        <a:ea typeface="華康細圓體" panose="020F0309000000000000" pitchFamily="49" charset="-120"/>
                      </a:endParaRPr>
                    </a:p>
                  </a:txBody>
                  <a:tcPr marL="0" marR="0" marT="0" marB="0" anchor="ctr"/>
                </a:tc>
                <a:tc>
                  <a:txBody>
                    <a:bodyPr/>
                    <a:lstStyle/>
                    <a:p>
                      <a:pPr marL="36195" marR="36195" algn="ctr">
                        <a:lnSpc>
                          <a:spcPct val="100000"/>
                        </a:lnSpc>
                        <a:spcBef>
                          <a:spcPts val="200"/>
                        </a:spcBef>
                        <a:spcAft>
                          <a:spcPts val="200"/>
                        </a:spcAft>
                      </a:pPr>
                      <a:r>
                        <a:rPr lang="en-US" sz="2400" kern="100" spc="50">
                          <a:effectLst/>
                        </a:rPr>
                        <a:t>3.9</a:t>
                      </a:r>
                      <a:endParaRPr lang="zh-TW" sz="2400" kern="100" spc="50">
                        <a:effectLst/>
                        <a:latin typeface="Times New Roman" panose="02020603050405020304" pitchFamily="18" charset="0"/>
                        <a:ea typeface="華康細圓體" panose="020F0309000000000000" pitchFamily="49" charset="-120"/>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36195" marR="36195" algn="ctr">
                        <a:lnSpc>
                          <a:spcPct val="100000"/>
                        </a:lnSpc>
                        <a:spcBef>
                          <a:spcPts val="200"/>
                        </a:spcBef>
                        <a:spcAft>
                          <a:spcPts val="200"/>
                        </a:spcAft>
                      </a:pPr>
                      <a:r>
                        <a:rPr lang="en-US" sz="2400" b="1" kern="100" spc="50" dirty="0">
                          <a:effectLst/>
                        </a:rPr>
                        <a:t>5.2.0</a:t>
                      </a:r>
                      <a:endParaRPr lang="zh-TW" sz="2400" b="1" kern="100" spc="50" dirty="0">
                        <a:effectLst/>
                        <a:latin typeface="Times New Roman" panose="02020603050405020304" pitchFamily="18" charset="0"/>
                        <a:ea typeface="華康細圓體" panose="020F0309000000000000" pitchFamily="49" charset="-120"/>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36195" marR="36195" algn="ctr">
                        <a:lnSpc>
                          <a:spcPct val="100000"/>
                        </a:lnSpc>
                        <a:spcBef>
                          <a:spcPts val="200"/>
                        </a:spcBef>
                        <a:spcAft>
                          <a:spcPts val="200"/>
                        </a:spcAft>
                      </a:pPr>
                      <a:r>
                        <a:rPr lang="en-US" sz="2400" kern="100" spc="50" dirty="0">
                          <a:effectLst/>
                        </a:rPr>
                        <a:t>3.6</a:t>
                      </a:r>
                      <a:endParaRPr lang="zh-TW" sz="2400" kern="100" spc="50" dirty="0">
                        <a:effectLst/>
                        <a:latin typeface="Times New Roman" panose="02020603050405020304" pitchFamily="18" charset="0"/>
                        <a:ea typeface="華康細圓體" panose="020F0309000000000000" pitchFamily="49" charset="-120"/>
                      </a:endParaRPr>
                    </a:p>
                  </a:txBody>
                  <a:tcPr marL="0" marR="0" marT="0" marB="0" anchor="ctr"/>
                </a:tc>
                <a:extLst>
                  <a:ext uri="{0D108BD9-81ED-4DB2-BD59-A6C34878D82A}">
                    <a16:rowId xmlns:a16="http://schemas.microsoft.com/office/drawing/2014/main" val="3385943786"/>
                  </a:ext>
                </a:extLst>
              </a:tr>
            </a:tbl>
          </a:graphicData>
        </a:graphic>
      </p:graphicFrame>
    </p:spTree>
    <p:extLst>
      <p:ext uri="{BB962C8B-B14F-4D97-AF65-F5344CB8AC3E}">
        <p14:creationId xmlns:p14="http://schemas.microsoft.com/office/powerpoint/2010/main" val="276526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7929B3-353E-4D20-8948-6251F130B047}"/>
              </a:ext>
            </a:extLst>
          </p:cNvPr>
          <p:cNvSpPr>
            <a:spLocks noGrp="1"/>
          </p:cNvSpPr>
          <p:nvPr>
            <p:ph type="title"/>
          </p:nvPr>
        </p:nvSpPr>
        <p:spPr/>
        <p:txBody>
          <a:bodyPr/>
          <a:lstStyle/>
          <a:p>
            <a:r>
              <a:rPr lang="zh-TW" altLang="en-US" dirty="0"/>
              <a:t>下載較舊的 </a:t>
            </a:r>
            <a:r>
              <a:rPr lang="en-US" altLang="zh-TW" dirty="0"/>
              <a:t>Anaconda (2/2)</a:t>
            </a:r>
            <a:endParaRPr lang="zh-TW" altLang="en-US" dirty="0"/>
          </a:p>
        </p:txBody>
      </p:sp>
      <p:sp>
        <p:nvSpPr>
          <p:cNvPr id="3" name="內容版面配置區 2">
            <a:extLst>
              <a:ext uri="{FF2B5EF4-FFF2-40B4-BE49-F238E27FC236}">
                <a16:creationId xmlns:a16="http://schemas.microsoft.com/office/drawing/2014/main" id="{7498968B-DC9E-40E6-A770-5F4E76B622C7}"/>
              </a:ext>
            </a:extLst>
          </p:cNvPr>
          <p:cNvSpPr>
            <a:spLocks noGrp="1"/>
          </p:cNvSpPr>
          <p:nvPr>
            <p:ph idx="1"/>
          </p:nvPr>
        </p:nvSpPr>
        <p:spPr>
          <a:xfrm>
            <a:off x="838200" y="1857375"/>
            <a:ext cx="4721772" cy="4400550"/>
          </a:xfrm>
        </p:spPr>
        <p:txBody>
          <a:bodyPr/>
          <a:lstStyle/>
          <a:p>
            <a:r>
              <a:rPr lang="en-US" altLang="zh-TW" dirty="0"/>
              <a:t>https://repo.anaconda.com/archive/</a:t>
            </a:r>
            <a:endParaRPr lang="zh-TW" altLang="en-US" dirty="0"/>
          </a:p>
        </p:txBody>
      </p:sp>
      <p:sp>
        <p:nvSpPr>
          <p:cNvPr id="4" name="投影片編號版面配置區 3">
            <a:extLst>
              <a:ext uri="{FF2B5EF4-FFF2-40B4-BE49-F238E27FC236}">
                <a16:creationId xmlns:a16="http://schemas.microsoft.com/office/drawing/2014/main" id="{3A2B9B10-2CC0-463B-8D7A-1565633FE5D3}"/>
              </a:ext>
            </a:extLst>
          </p:cNvPr>
          <p:cNvSpPr>
            <a:spLocks noGrp="1"/>
          </p:cNvSpPr>
          <p:nvPr>
            <p:ph type="sldNum" sz="quarter" idx="12"/>
          </p:nvPr>
        </p:nvSpPr>
        <p:spPr/>
        <p:txBody>
          <a:bodyPr/>
          <a:lstStyle/>
          <a:p>
            <a:fld id="{A0B59302-35AD-44E9-AC3C-8D1DAE3511F1}" type="slidenum">
              <a:rPr lang="zh-TW" altLang="en-US" smtClean="0"/>
              <a:pPr/>
              <a:t>27</a:t>
            </a:fld>
            <a:endParaRPr lang="zh-TW" altLang="en-US" dirty="0"/>
          </a:p>
        </p:txBody>
      </p:sp>
      <p:pic>
        <p:nvPicPr>
          <p:cNvPr id="6" name="圖片 5">
            <a:extLst>
              <a:ext uri="{FF2B5EF4-FFF2-40B4-BE49-F238E27FC236}">
                <a16:creationId xmlns:a16="http://schemas.microsoft.com/office/drawing/2014/main" id="{B4352658-EFF6-4293-B623-80CA73D1C4FD}"/>
              </a:ext>
            </a:extLst>
          </p:cNvPr>
          <p:cNvPicPr>
            <a:picLocks noChangeAspect="1"/>
          </p:cNvPicPr>
          <p:nvPr/>
        </p:nvPicPr>
        <p:blipFill>
          <a:blip r:embed="rId2"/>
          <a:stretch>
            <a:fillRect/>
          </a:stretch>
        </p:blipFill>
        <p:spPr>
          <a:xfrm>
            <a:off x="5721061" y="1857375"/>
            <a:ext cx="5632739" cy="4794496"/>
          </a:xfrm>
          <a:prstGeom prst="rect">
            <a:avLst/>
          </a:prstGeom>
        </p:spPr>
      </p:pic>
    </p:spTree>
    <p:extLst>
      <p:ext uri="{BB962C8B-B14F-4D97-AF65-F5344CB8AC3E}">
        <p14:creationId xmlns:p14="http://schemas.microsoft.com/office/powerpoint/2010/main" val="4761556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1FC6483-F738-482C-816E-F532B5D1ED36}"/>
              </a:ext>
            </a:extLst>
          </p:cNvPr>
          <p:cNvPicPr>
            <a:picLocks noChangeAspect="1"/>
          </p:cNvPicPr>
          <p:nvPr/>
        </p:nvPicPr>
        <p:blipFill>
          <a:blip r:embed="rId2"/>
          <a:stretch>
            <a:fillRect/>
          </a:stretch>
        </p:blipFill>
        <p:spPr>
          <a:xfrm>
            <a:off x="190001" y="842802"/>
            <a:ext cx="1028571" cy="1342857"/>
          </a:xfrm>
          <a:prstGeom prst="rect">
            <a:avLst/>
          </a:prstGeom>
        </p:spPr>
      </p:pic>
      <p:pic>
        <p:nvPicPr>
          <p:cNvPr id="5" name="圖片 4">
            <a:extLst>
              <a:ext uri="{FF2B5EF4-FFF2-40B4-BE49-F238E27FC236}">
                <a16:creationId xmlns:a16="http://schemas.microsoft.com/office/drawing/2014/main" id="{A788E819-45C4-4F51-A5C1-76CB923410B9}"/>
              </a:ext>
            </a:extLst>
          </p:cNvPr>
          <p:cNvPicPr>
            <a:picLocks noChangeAspect="1"/>
          </p:cNvPicPr>
          <p:nvPr/>
        </p:nvPicPr>
        <p:blipFill>
          <a:blip r:embed="rId3"/>
          <a:stretch>
            <a:fillRect/>
          </a:stretch>
        </p:blipFill>
        <p:spPr>
          <a:xfrm>
            <a:off x="1475118" y="155794"/>
            <a:ext cx="2828854" cy="2199590"/>
          </a:xfrm>
          <a:prstGeom prst="rect">
            <a:avLst/>
          </a:prstGeom>
        </p:spPr>
      </p:pic>
      <p:pic>
        <p:nvPicPr>
          <p:cNvPr id="7" name="圖片 6">
            <a:extLst>
              <a:ext uri="{FF2B5EF4-FFF2-40B4-BE49-F238E27FC236}">
                <a16:creationId xmlns:a16="http://schemas.microsoft.com/office/drawing/2014/main" id="{B9AD13D2-8B61-40B0-82B7-20B33B8AB077}"/>
              </a:ext>
            </a:extLst>
          </p:cNvPr>
          <p:cNvPicPr>
            <a:picLocks noChangeAspect="1"/>
          </p:cNvPicPr>
          <p:nvPr/>
        </p:nvPicPr>
        <p:blipFill>
          <a:blip r:embed="rId4"/>
          <a:stretch>
            <a:fillRect/>
          </a:stretch>
        </p:blipFill>
        <p:spPr>
          <a:xfrm>
            <a:off x="4486031" y="161655"/>
            <a:ext cx="2828854" cy="2199590"/>
          </a:xfrm>
          <a:prstGeom prst="rect">
            <a:avLst/>
          </a:prstGeom>
        </p:spPr>
      </p:pic>
      <p:pic>
        <p:nvPicPr>
          <p:cNvPr id="9" name="圖片 8">
            <a:extLst>
              <a:ext uri="{FF2B5EF4-FFF2-40B4-BE49-F238E27FC236}">
                <a16:creationId xmlns:a16="http://schemas.microsoft.com/office/drawing/2014/main" id="{23CDA913-D505-4667-AA64-55B66FC4E270}"/>
              </a:ext>
            </a:extLst>
          </p:cNvPr>
          <p:cNvPicPr>
            <a:picLocks noChangeAspect="1"/>
          </p:cNvPicPr>
          <p:nvPr/>
        </p:nvPicPr>
        <p:blipFill>
          <a:blip r:embed="rId5"/>
          <a:stretch>
            <a:fillRect/>
          </a:stretch>
        </p:blipFill>
        <p:spPr>
          <a:xfrm>
            <a:off x="7487138" y="89696"/>
            <a:ext cx="3290277" cy="2558371"/>
          </a:xfrm>
          <a:prstGeom prst="rect">
            <a:avLst/>
          </a:prstGeom>
        </p:spPr>
      </p:pic>
      <p:pic>
        <p:nvPicPr>
          <p:cNvPr id="11" name="圖片 10">
            <a:extLst>
              <a:ext uri="{FF2B5EF4-FFF2-40B4-BE49-F238E27FC236}">
                <a16:creationId xmlns:a16="http://schemas.microsoft.com/office/drawing/2014/main" id="{00EAF060-9E39-4893-BD9F-73AA7A1A3FBD}"/>
              </a:ext>
            </a:extLst>
          </p:cNvPr>
          <p:cNvPicPr>
            <a:picLocks noChangeAspect="1"/>
          </p:cNvPicPr>
          <p:nvPr/>
        </p:nvPicPr>
        <p:blipFill>
          <a:blip r:embed="rId6"/>
          <a:stretch>
            <a:fillRect/>
          </a:stretch>
        </p:blipFill>
        <p:spPr>
          <a:xfrm>
            <a:off x="189521" y="3758021"/>
            <a:ext cx="3664137" cy="2849068"/>
          </a:xfrm>
          <a:prstGeom prst="rect">
            <a:avLst/>
          </a:prstGeom>
        </p:spPr>
      </p:pic>
      <p:pic>
        <p:nvPicPr>
          <p:cNvPr id="13" name="圖片 12">
            <a:extLst>
              <a:ext uri="{FF2B5EF4-FFF2-40B4-BE49-F238E27FC236}">
                <a16:creationId xmlns:a16="http://schemas.microsoft.com/office/drawing/2014/main" id="{AA5CB942-BD60-47CD-A307-B4AD29517A8B}"/>
              </a:ext>
            </a:extLst>
          </p:cNvPr>
          <p:cNvPicPr>
            <a:picLocks noChangeAspect="1"/>
          </p:cNvPicPr>
          <p:nvPr/>
        </p:nvPicPr>
        <p:blipFill>
          <a:blip r:embed="rId7"/>
          <a:stretch>
            <a:fillRect/>
          </a:stretch>
        </p:blipFill>
        <p:spPr>
          <a:xfrm>
            <a:off x="3982756" y="2953202"/>
            <a:ext cx="3312760" cy="2575853"/>
          </a:xfrm>
          <a:prstGeom prst="rect">
            <a:avLst/>
          </a:prstGeom>
        </p:spPr>
      </p:pic>
      <p:pic>
        <p:nvPicPr>
          <p:cNvPr id="15" name="圖片 14">
            <a:extLst>
              <a:ext uri="{FF2B5EF4-FFF2-40B4-BE49-F238E27FC236}">
                <a16:creationId xmlns:a16="http://schemas.microsoft.com/office/drawing/2014/main" id="{3827C9DA-89E4-4BC6-A9AC-31460E69F6B9}"/>
              </a:ext>
            </a:extLst>
          </p:cNvPr>
          <p:cNvPicPr>
            <a:picLocks noChangeAspect="1"/>
          </p:cNvPicPr>
          <p:nvPr/>
        </p:nvPicPr>
        <p:blipFill>
          <a:blip r:embed="rId8"/>
          <a:stretch>
            <a:fillRect/>
          </a:stretch>
        </p:blipFill>
        <p:spPr>
          <a:xfrm>
            <a:off x="7424614" y="2819141"/>
            <a:ext cx="2414953" cy="1877759"/>
          </a:xfrm>
          <a:prstGeom prst="rect">
            <a:avLst/>
          </a:prstGeom>
        </p:spPr>
      </p:pic>
      <p:pic>
        <p:nvPicPr>
          <p:cNvPr id="17" name="圖片 16">
            <a:extLst>
              <a:ext uri="{FF2B5EF4-FFF2-40B4-BE49-F238E27FC236}">
                <a16:creationId xmlns:a16="http://schemas.microsoft.com/office/drawing/2014/main" id="{EFC76A0F-590B-4A17-9809-78885AD20662}"/>
              </a:ext>
            </a:extLst>
          </p:cNvPr>
          <p:cNvPicPr>
            <a:picLocks noChangeAspect="1"/>
          </p:cNvPicPr>
          <p:nvPr/>
        </p:nvPicPr>
        <p:blipFill>
          <a:blip r:embed="rId9"/>
          <a:stretch>
            <a:fillRect/>
          </a:stretch>
        </p:blipFill>
        <p:spPr>
          <a:xfrm>
            <a:off x="9569938" y="3470919"/>
            <a:ext cx="2414953" cy="1877759"/>
          </a:xfrm>
          <a:prstGeom prst="rect">
            <a:avLst/>
          </a:prstGeom>
        </p:spPr>
      </p:pic>
      <p:pic>
        <p:nvPicPr>
          <p:cNvPr id="19" name="圖片 18">
            <a:extLst>
              <a:ext uri="{FF2B5EF4-FFF2-40B4-BE49-F238E27FC236}">
                <a16:creationId xmlns:a16="http://schemas.microsoft.com/office/drawing/2014/main" id="{C31109E3-1AE7-46CC-A515-4E737E0CA70D}"/>
              </a:ext>
            </a:extLst>
          </p:cNvPr>
          <p:cNvPicPr>
            <a:picLocks noChangeAspect="1"/>
          </p:cNvPicPr>
          <p:nvPr/>
        </p:nvPicPr>
        <p:blipFill>
          <a:blip r:embed="rId10"/>
          <a:stretch>
            <a:fillRect/>
          </a:stretch>
        </p:blipFill>
        <p:spPr>
          <a:xfrm>
            <a:off x="7831015" y="4867974"/>
            <a:ext cx="2414953" cy="1877759"/>
          </a:xfrm>
          <a:prstGeom prst="rect">
            <a:avLst/>
          </a:prstGeom>
        </p:spPr>
      </p:pic>
      <p:sp>
        <p:nvSpPr>
          <p:cNvPr id="20" name="矩形 19">
            <a:extLst>
              <a:ext uri="{FF2B5EF4-FFF2-40B4-BE49-F238E27FC236}">
                <a16:creationId xmlns:a16="http://schemas.microsoft.com/office/drawing/2014/main" id="{EF17A77D-C350-42B9-9A9F-3971940C135B}"/>
              </a:ext>
            </a:extLst>
          </p:cNvPr>
          <p:cNvSpPr/>
          <p:nvPr/>
        </p:nvSpPr>
        <p:spPr>
          <a:xfrm>
            <a:off x="3276366" y="2055691"/>
            <a:ext cx="488207" cy="33508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a:extLst>
              <a:ext uri="{FF2B5EF4-FFF2-40B4-BE49-F238E27FC236}">
                <a16:creationId xmlns:a16="http://schemas.microsoft.com/office/drawing/2014/main" id="{2EC28C44-B470-44F3-9A30-0CCF87A1B395}"/>
              </a:ext>
            </a:extLst>
          </p:cNvPr>
          <p:cNvSpPr/>
          <p:nvPr/>
        </p:nvSpPr>
        <p:spPr>
          <a:xfrm>
            <a:off x="6292820" y="2055691"/>
            <a:ext cx="488207" cy="33508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B2242DD7-4E85-401E-80A0-325DE1A6C775}"/>
              </a:ext>
            </a:extLst>
          </p:cNvPr>
          <p:cNvSpPr/>
          <p:nvPr/>
        </p:nvSpPr>
        <p:spPr>
          <a:xfrm>
            <a:off x="9579290" y="2312983"/>
            <a:ext cx="593410" cy="33508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6" name="肘形接點 23">
            <a:extLst>
              <a:ext uri="{FF2B5EF4-FFF2-40B4-BE49-F238E27FC236}">
                <a16:creationId xmlns:a16="http://schemas.microsoft.com/office/drawing/2014/main" id="{425BE95A-F800-45BC-A2EC-CB83F6A62D8F}"/>
              </a:ext>
            </a:extLst>
          </p:cNvPr>
          <p:cNvCxnSpPr>
            <a:cxnSpLocks/>
            <a:stCxn id="41" idx="3"/>
            <a:endCxn id="45" idx="1"/>
          </p:cNvCxnSpPr>
          <p:nvPr/>
        </p:nvCxnSpPr>
        <p:spPr>
          <a:xfrm>
            <a:off x="6781027" y="2223233"/>
            <a:ext cx="2798263" cy="257292"/>
          </a:xfrm>
          <a:prstGeom prst="bentConnector3">
            <a:avLst>
              <a:gd name="adj1" fmla="val 50000"/>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CC680A17-0C99-4756-86FC-413371C01265}"/>
              </a:ext>
            </a:extLst>
          </p:cNvPr>
          <p:cNvSpPr/>
          <p:nvPr/>
        </p:nvSpPr>
        <p:spPr>
          <a:xfrm>
            <a:off x="7544788" y="1114561"/>
            <a:ext cx="1192812" cy="257292"/>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2" name="直線單箭頭接點 51">
            <a:extLst>
              <a:ext uri="{FF2B5EF4-FFF2-40B4-BE49-F238E27FC236}">
                <a16:creationId xmlns:a16="http://schemas.microsoft.com/office/drawing/2014/main" id="{3A8911AE-D86E-453F-AC41-667B4B8B5592}"/>
              </a:ext>
            </a:extLst>
          </p:cNvPr>
          <p:cNvCxnSpPr>
            <a:stCxn id="20" idx="3"/>
            <a:endCxn id="41" idx="1"/>
          </p:cNvCxnSpPr>
          <p:nvPr/>
        </p:nvCxnSpPr>
        <p:spPr>
          <a:xfrm>
            <a:off x="3764573" y="2223233"/>
            <a:ext cx="2528247"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527EB58C-39F2-4742-AE50-854C0EDDCF6E}"/>
              </a:ext>
            </a:extLst>
          </p:cNvPr>
          <p:cNvSpPr/>
          <p:nvPr/>
        </p:nvSpPr>
        <p:spPr>
          <a:xfrm>
            <a:off x="2530790" y="6272005"/>
            <a:ext cx="637860" cy="33508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a:extLst>
              <a:ext uri="{FF2B5EF4-FFF2-40B4-BE49-F238E27FC236}">
                <a16:creationId xmlns:a16="http://schemas.microsoft.com/office/drawing/2014/main" id="{00486E44-749E-40D4-8153-7016FEB296D1}"/>
              </a:ext>
            </a:extLst>
          </p:cNvPr>
          <p:cNvSpPr/>
          <p:nvPr/>
        </p:nvSpPr>
        <p:spPr>
          <a:xfrm>
            <a:off x="374045" y="5250434"/>
            <a:ext cx="1220293" cy="486057"/>
          </a:xfrm>
          <a:prstGeom prst="rect">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9" name="肘形接點 48">
            <a:extLst>
              <a:ext uri="{FF2B5EF4-FFF2-40B4-BE49-F238E27FC236}">
                <a16:creationId xmlns:a16="http://schemas.microsoft.com/office/drawing/2014/main" id="{DD12AE1D-07EF-4610-81E0-CC5DB0E3162E}"/>
              </a:ext>
            </a:extLst>
          </p:cNvPr>
          <p:cNvCxnSpPr>
            <a:cxnSpLocks/>
            <a:stCxn id="45" idx="2"/>
            <a:endCxn id="58" idx="0"/>
          </p:cNvCxnSpPr>
          <p:nvPr/>
        </p:nvCxnSpPr>
        <p:spPr>
          <a:xfrm rot="5400000">
            <a:off x="4128911" y="-496651"/>
            <a:ext cx="2602367" cy="8891803"/>
          </a:xfrm>
          <a:prstGeom prst="bentConnector3">
            <a:avLst>
              <a:gd name="adj1" fmla="val 4952"/>
            </a:avLst>
          </a:prstGeom>
          <a:ln w="158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4" name="肘形接點 23">
            <a:extLst>
              <a:ext uri="{FF2B5EF4-FFF2-40B4-BE49-F238E27FC236}">
                <a16:creationId xmlns:a16="http://schemas.microsoft.com/office/drawing/2014/main" id="{E11C602A-8DC6-43AD-A788-7652496AA86F}"/>
              </a:ext>
            </a:extLst>
          </p:cNvPr>
          <p:cNvCxnSpPr>
            <a:cxnSpLocks/>
            <a:stCxn id="45" idx="2"/>
            <a:endCxn id="53" idx="0"/>
          </p:cNvCxnSpPr>
          <p:nvPr/>
        </p:nvCxnSpPr>
        <p:spPr>
          <a:xfrm rot="5400000">
            <a:off x="4550889" y="946899"/>
            <a:ext cx="3623938" cy="7026275"/>
          </a:xfrm>
          <a:prstGeom prst="bentConnector3">
            <a:avLst>
              <a:gd name="adj1" fmla="val 3633"/>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3" name="肘形接點 48">
            <a:extLst>
              <a:ext uri="{FF2B5EF4-FFF2-40B4-BE49-F238E27FC236}">
                <a16:creationId xmlns:a16="http://schemas.microsoft.com/office/drawing/2014/main" id="{B0E24CD3-D4AC-458D-A14D-AA88B467491B}"/>
              </a:ext>
            </a:extLst>
          </p:cNvPr>
          <p:cNvCxnSpPr>
            <a:cxnSpLocks/>
            <a:stCxn id="58" idx="2"/>
            <a:endCxn id="53" idx="1"/>
          </p:cNvCxnSpPr>
          <p:nvPr/>
        </p:nvCxnSpPr>
        <p:spPr>
          <a:xfrm rot="16200000" flipH="1">
            <a:off x="1405963" y="5314720"/>
            <a:ext cx="703056" cy="1546598"/>
          </a:xfrm>
          <a:prstGeom prst="bentConnector2">
            <a:avLst/>
          </a:prstGeom>
          <a:ln w="15875">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7" name="圓角矩形圖說文字 55">
            <a:extLst>
              <a:ext uri="{FF2B5EF4-FFF2-40B4-BE49-F238E27FC236}">
                <a16:creationId xmlns:a16="http://schemas.microsoft.com/office/drawing/2014/main" id="{CB145E5A-C915-444E-A94B-8387C73886BF}"/>
              </a:ext>
            </a:extLst>
          </p:cNvPr>
          <p:cNvSpPr/>
          <p:nvPr/>
        </p:nvSpPr>
        <p:spPr>
          <a:xfrm>
            <a:off x="1127435" y="4732577"/>
            <a:ext cx="1657196" cy="635438"/>
          </a:xfrm>
          <a:prstGeom prst="wedgeRoundRectCallout">
            <a:avLst>
              <a:gd name="adj1" fmla="val -48100"/>
              <a:gd name="adj2" fmla="val 71452"/>
              <a:gd name="adj3" fmla="val 16667"/>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a:t> 可改成 </a:t>
            </a:r>
            <a:r>
              <a:rPr lang="en-US" altLang="zh-TW" sz="1600" dirty="0"/>
              <a:t>C:\anaconda3</a:t>
            </a:r>
            <a:endParaRPr lang="zh-TW" altLang="en-US" sz="1600" dirty="0"/>
          </a:p>
        </p:txBody>
      </p:sp>
      <p:sp>
        <p:nvSpPr>
          <p:cNvPr id="68" name="矩形 67">
            <a:extLst>
              <a:ext uri="{FF2B5EF4-FFF2-40B4-BE49-F238E27FC236}">
                <a16:creationId xmlns:a16="http://schemas.microsoft.com/office/drawing/2014/main" id="{C98FEFE2-476F-4488-AEE2-EF6B07BECF49}"/>
              </a:ext>
            </a:extLst>
          </p:cNvPr>
          <p:cNvSpPr/>
          <p:nvPr/>
        </p:nvSpPr>
        <p:spPr>
          <a:xfrm>
            <a:off x="6055944" y="5200473"/>
            <a:ext cx="637860" cy="33508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9" name="肘形接點 23">
            <a:extLst>
              <a:ext uri="{FF2B5EF4-FFF2-40B4-BE49-F238E27FC236}">
                <a16:creationId xmlns:a16="http://schemas.microsoft.com/office/drawing/2014/main" id="{61DF786F-6639-4157-9D15-4AAA3631AD84}"/>
              </a:ext>
            </a:extLst>
          </p:cNvPr>
          <p:cNvCxnSpPr>
            <a:cxnSpLocks/>
          </p:cNvCxnSpPr>
          <p:nvPr/>
        </p:nvCxnSpPr>
        <p:spPr>
          <a:xfrm flipV="1">
            <a:off x="3186055" y="5368016"/>
            <a:ext cx="2869889" cy="1071531"/>
          </a:xfrm>
          <a:prstGeom prst="bentConnector3">
            <a:avLst>
              <a:gd name="adj1" fmla="val 50000"/>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B193AF29-4F36-473B-91E1-6F839B52A20E}"/>
              </a:ext>
            </a:extLst>
          </p:cNvPr>
          <p:cNvSpPr/>
          <p:nvPr/>
        </p:nvSpPr>
        <p:spPr>
          <a:xfrm>
            <a:off x="8891119" y="4467196"/>
            <a:ext cx="539848" cy="21607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AC596B6D-0D79-49A7-8702-B8634F026315}"/>
              </a:ext>
            </a:extLst>
          </p:cNvPr>
          <p:cNvSpPr/>
          <p:nvPr/>
        </p:nvSpPr>
        <p:spPr>
          <a:xfrm>
            <a:off x="11048790" y="5115881"/>
            <a:ext cx="539848" cy="21607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F61119C0-D130-4E73-8C20-380B16A2A10B}"/>
              </a:ext>
            </a:extLst>
          </p:cNvPr>
          <p:cNvSpPr/>
          <p:nvPr/>
        </p:nvSpPr>
        <p:spPr>
          <a:xfrm>
            <a:off x="9315349" y="6517596"/>
            <a:ext cx="539848" cy="216074"/>
          </a:xfrm>
          <a:prstGeom prst="rect">
            <a:avLst/>
          </a:prstGeom>
          <a:noFill/>
          <a:ln w="254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6" name="肘形接點 23">
            <a:extLst>
              <a:ext uri="{FF2B5EF4-FFF2-40B4-BE49-F238E27FC236}">
                <a16:creationId xmlns:a16="http://schemas.microsoft.com/office/drawing/2014/main" id="{BAE2DCBA-94E6-418F-AF5D-8BEFEA6D1B8A}"/>
              </a:ext>
            </a:extLst>
          </p:cNvPr>
          <p:cNvCxnSpPr>
            <a:cxnSpLocks/>
            <a:stCxn id="68" idx="3"/>
            <a:endCxn id="73" idx="1"/>
          </p:cNvCxnSpPr>
          <p:nvPr/>
        </p:nvCxnSpPr>
        <p:spPr>
          <a:xfrm flipV="1">
            <a:off x="6693804" y="4575233"/>
            <a:ext cx="2197315" cy="792782"/>
          </a:xfrm>
          <a:prstGeom prst="bentConnector3">
            <a:avLst>
              <a:gd name="adj1" fmla="val 50000"/>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9" name="肘形接點 23">
            <a:extLst>
              <a:ext uri="{FF2B5EF4-FFF2-40B4-BE49-F238E27FC236}">
                <a16:creationId xmlns:a16="http://schemas.microsoft.com/office/drawing/2014/main" id="{2D4F0A6D-FF54-48AE-9338-8FB24EF7A697}"/>
              </a:ext>
            </a:extLst>
          </p:cNvPr>
          <p:cNvCxnSpPr>
            <a:cxnSpLocks/>
            <a:stCxn id="73" idx="3"/>
            <a:endCxn id="74" idx="0"/>
          </p:cNvCxnSpPr>
          <p:nvPr/>
        </p:nvCxnSpPr>
        <p:spPr>
          <a:xfrm>
            <a:off x="9430967" y="4575233"/>
            <a:ext cx="1887747" cy="540648"/>
          </a:xfrm>
          <a:prstGeom prst="bentConnector2">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2" name="肘形接點 23">
            <a:extLst>
              <a:ext uri="{FF2B5EF4-FFF2-40B4-BE49-F238E27FC236}">
                <a16:creationId xmlns:a16="http://schemas.microsoft.com/office/drawing/2014/main" id="{5DA815A8-CE21-4995-A515-F6C60B13E33C}"/>
              </a:ext>
            </a:extLst>
          </p:cNvPr>
          <p:cNvCxnSpPr>
            <a:cxnSpLocks/>
            <a:stCxn id="74" idx="2"/>
            <a:endCxn id="75" idx="3"/>
          </p:cNvCxnSpPr>
          <p:nvPr/>
        </p:nvCxnSpPr>
        <p:spPr>
          <a:xfrm rot="5400000">
            <a:off x="9940117" y="5247036"/>
            <a:ext cx="1293678" cy="1463517"/>
          </a:xfrm>
          <a:prstGeom prst="bentConnector2">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129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970EC7-3201-478F-A494-4CAE3A2A7D88}"/>
              </a:ext>
            </a:extLst>
          </p:cNvPr>
          <p:cNvSpPr>
            <a:spLocks noGrp="1"/>
          </p:cNvSpPr>
          <p:nvPr>
            <p:ph type="title"/>
          </p:nvPr>
        </p:nvSpPr>
        <p:spPr/>
        <p:txBody>
          <a:bodyPr/>
          <a:lstStyle/>
          <a:p>
            <a:r>
              <a:rPr lang="zh-TW" altLang="en-US" dirty="0"/>
              <a:t>安裝完成後的操作項目</a:t>
            </a:r>
            <a:r>
              <a:rPr lang="en-US" altLang="zh-TW" dirty="0"/>
              <a:t>(1/2)</a:t>
            </a:r>
            <a:endParaRPr lang="zh-TW" altLang="en-US" dirty="0"/>
          </a:p>
        </p:txBody>
      </p:sp>
      <p:sp>
        <p:nvSpPr>
          <p:cNvPr id="4" name="投影片編號版面配置區 3">
            <a:extLst>
              <a:ext uri="{FF2B5EF4-FFF2-40B4-BE49-F238E27FC236}">
                <a16:creationId xmlns:a16="http://schemas.microsoft.com/office/drawing/2014/main" id="{5DB8465F-1431-4A13-B100-09BE0F9E9916}"/>
              </a:ext>
            </a:extLst>
          </p:cNvPr>
          <p:cNvSpPr>
            <a:spLocks noGrp="1"/>
          </p:cNvSpPr>
          <p:nvPr>
            <p:ph type="sldNum" sz="quarter" idx="12"/>
          </p:nvPr>
        </p:nvSpPr>
        <p:spPr/>
        <p:txBody>
          <a:bodyPr/>
          <a:lstStyle/>
          <a:p>
            <a:fld id="{A0B59302-35AD-44E9-AC3C-8D1DAE3511F1}" type="slidenum">
              <a:rPr lang="zh-TW" altLang="en-US" smtClean="0"/>
              <a:pPr/>
              <a:t>29</a:t>
            </a:fld>
            <a:endParaRPr lang="zh-TW" altLang="en-US" dirty="0"/>
          </a:p>
        </p:txBody>
      </p:sp>
      <p:pic>
        <p:nvPicPr>
          <p:cNvPr id="5" name="圖片 4">
            <a:extLst>
              <a:ext uri="{FF2B5EF4-FFF2-40B4-BE49-F238E27FC236}">
                <a16:creationId xmlns:a16="http://schemas.microsoft.com/office/drawing/2014/main" id="{64B7FAEA-3065-4C07-87DF-9D29E35C85F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10092"/>
            <a:ext cx="7273048" cy="4181158"/>
          </a:xfrm>
          <a:prstGeom prst="rect">
            <a:avLst/>
          </a:prstGeom>
          <a:noFill/>
          <a:ln>
            <a:noFill/>
          </a:ln>
        </p:spPr>
      </p:pic>
      <p:pic>
        <p:nvPicPr>
          <p:cNvPr id="6" name="圖片 5">
            <a:extLst>
              <a:ext uri="{FF2B5EF4-FFF2-40B4-BE49-F238E27FC236}">
                <a16:creationId xmlns:a16="http://schemas.microsoft.com/office/drawing/2014/main" id="{7EAD04D0-0D9F-4391-86C0-D5E36079123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478" y="2299034"/>
            <a:ext cx="5495672" cy="3472782"/>
          </a:xfrm>
          <a:prstGeom prst="rect">
            <a:avLst/>
          </a:prstGeom>
          <a:noFill/>
          <a:ln>
            <a:noFill/>
          </a:ln>
        </p:spPr>
      </p:pic>
      <p:cxnSp>
        <p:nvCxnSpPr>
          <p:cNvPr id="10" name="直線單箭頭接點 9">
            <a:extLst>
              <a:ext uri="{FF2B5EF4-FFF2-40B4-BE49-F238E27FC236}">
                <a16:creationId xmlns:a16="http://schemas.microsoft.com/office/drawing/2014/main" id="{57C4999D-877B-40FA-B6CE-27468D915190}"/>
              </a:ext>
            </a:extLst>
          </p:cNvPr>
          <p:cNvCxnSpPr>
            <a:cxnSpLocks/>
          </p:cNvCxnSpPr>
          <p:nvPr/>
        </p:nvCxnSpPr>
        <p:spPr>
          <a:xfrm>
            <a:off x="3563007" y="3153103"/>
            <a:ext cx="2669627" cy="0"/>
          </a:xfrm>
          <a:prstGeom prst="straightConnector1">
            <a:avLst/>
          </a:prstGeom>
          <a:ln w="635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24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970EC7-3201-478F-A494-4CAE3A2A7D88}"/>
              </a:ext>
            </a:extLst>
          </p:cNvPr>
          <p:cNvSpPr>
            <a:spLocks noGrp="1"/>
          </p:cNvSpPr>
          <p:nvPr>
            <p:ph type="title"/>
          </p:nvPr>
        </p:nvSpPr>
        <p:spPr/>
        <p:txBody>
          <a:bodyPr/>
          <a:lstStyle/>
          <a:p>
            <a:r>
              <a:rPr lang="zh-TW" altLang="en-US" dirty="0"/>
              <a:t>安裝完成後的操作項目</a:t>
            </a:r>
            <a:r>
              <a:rPr lang="en-US" altLang="zh-TW" dirty="0"/>
              <a:t>(2/2)</a:t>
            </a:r>
            <a:endParaRPr lang="zh-TW" altLang="en-US" dirty="0"/>
          </a:p>
        </p:txBody>
      </p:sp>
      <p:sp>
        <p:nvSpPr>
          <p:cNvPr id="4" name="投影片編號版面配置區 3">
            <a:extLst>
              <a:ext uri="{FF2B5EF4-FFF2-40B4-BE49-F238E27FC236}">
                <a16:creationId xmlns:a16="http://schemas.microsoft.com/office/drawing/2014/main" id="{5DB8465F-1431-4A13-B100-09BE0F9E9916}"/>
              </a:ext>
            </a:extLst>
          </p:cNvPr>
          <p:cNvSpPr>
            <a:spLocks noGrp="1"/>
          </p:cNvSpPr>
          <p:nvPr>
            <p:ph type="sldNum" sz="quarter" idx="12"/>
          </p:nvPr>
        </p:nvSpPr>
        <p:spPr/>
        <p:txBody>
          <a:bodyPr/>
          <a:lstStyle/>
          <a:p>
            <a:fld id="{A0B59302-35AD-44E9-AC3C-8D1DAE3511F1}" type="slidenum">
              <a:rPr lang="zh-TW" altLang="en-US" smtClean="0"/>
              <a:pPr/>
              <a:t>30</a:t>
            </a:fld>
            <a:endParaRPr lang="zh-TW" altLang="en-US" dirty="0"/>
          </a:p>
        </p:txBody>
      </p:sp>
      <p:pic>
        <p:nvPicPr>
          <p:cNvPr id="5" name="圖片 4">
            <a:extLst>
              <a:ext uri="{FF2B5EF4-FFF2-40B4-BE49-F238E27FC236}">
                <a16:creationId xmlns:a16="http://schemas.microsoft.com/office/drawing/2014/main" id="{64B7FAEA-3065-4C07-87DF-9D29E35C85F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10092"/>
            <a:ext cx="7273048" cy="4181158"/>
          </a:xfrm>
          <a:prstGeom prst="rect">
            <a:avLst/>
          </a:prstGeom>
          <a:noFill/>
          <a:ln>
            <a:noFill/>
          </a:ln>
        </p:spPr>
      </p:pic>
      <p:cxnSp>
        <p:nvCxnSpPr>
          <p:cNvPr id="10" name="直線單箭頭接點 9">
            <a:extLst>
              <a:ext uri="{FF2B5EF4-FFF2-40B4-BE49-F238E27FC236}">
                <a16:creationId xmlns:a16="http://schemas.microsoft.com/office/drawing/2014/main" id="{57C4999D-877B-40FA-B6CE-27468D915190}"/>
              </a:ext>
            </a:extLst>
          </p:cNvPr>
          <p:cNvCxnSpPr>
            <a:cxnSpLocks/>
          </p:cNvCxnSpPr>
          <p:nvPr/>
        </p:nvCxnSpPr>
        <p:spPr>
          <a:xfrm>
            <a:off x="3426374" y="3972910"/>
            <a:ext cx="2669627" cy="0"/>
          </a:xfrm>
          <a:prstGeom prst="straightConnector1">
            <a:avLst/>
          </a:prstGeom>
          <a:ln w="635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pic>
        <p:nvPicPr>
          <p:cNvPr id="7" name="圖片 6">
            <a:extLst>
              <a:ext uri="{FF2B5EF4-FFF2-40B4-BE49-F238E27FC236}">
                <a16:creationId xmlns:a16="http://schemas.microsoft.com/office/drawing/2014/main" id="{69EFF893-4441-4F0C-8573-AE279710024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242082" y="2656556"/>
            <a:ext cx="5753579" cy="2632707"/>
          </a:xfrm>
          <a:prstGeom prst="rect">
            <a:avLst/>
          </a:prstGeom>
          <a:noFill/>
          <a:ln>
            <a:noFill/>
          </a:ln>
        </p:spPr>
      </p:pic>
    </p:spTree>
    <p:extLst>
      <p:ext uri="{BB962C8B-B14F-4D97-AF65-F5344CB8AC3E}">
        <p14:creationId xmlns:p14="http://schemas.microsoft.com/office/powerpoint/2010/main" val="367258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pPr lvl="1"/>
            <a:r>
              <a:rPr lang="zh-TW" altLang="en-US" dirty="0"/>
              <a:t>安裝與使用 </a:t>
            </a:r>
            <a:r>
              <a:rPr lang="en-US" altLang="zh-TW" dirty="0"/>
              <a:t>Anaconda</a:t>
            </a:r>
          </a:p>
          <a:p>
            <a:pPr lvl="1"/>
            <a:r>
              <a:rPr lang="en-US" altLang="zh-TW" dirty="0">
                <a:solidFill>
                  <a:schemeClr val="accent2"/>
                </a:solidFill>
              </a:rPr>
              <a:t>Spyder</a:t>
            </a:r>
            <a:r>
              <a:rPr lang="zh-TW" altLang="en-US" dirty="0">
                <a:solidFill>
                  <a:schemeClr val="accent2"/>
                </a:solidFill>
              </a:rPr>
              <a:t> 編輯器</a:t>
            </a:r>
            <a:endParaRPr lang="en-US" altLang="zh-TW" dirty="0">
              <a:solidFill>
                <a:schemeClr val="accent2"/>
              </a:solidFill>
            </a:endParaRPr>
          </a:p>
          <a:p>
            <a:pPr lvl="1"/>
            <a:r>
              <a:rPr lang="en-US" altLang="zh-TW" dirty="0" err="1"/>
              <a:t>Jupyter</a:t>
            </a:r>
            <a:r>
              <a:rPr lang="en-US" altLang="zh-TW" dirty="0"/>
              <a:t> </a:t>
            </a:r>
            <a:r>
              <a:rPr lang="zh-TW" altLang="en-US" dirty="0"/>
              <a:t>網頁式編輯器</a:t>
            </a:r>
            <a:endParaRPr lang="en-US" altLang="zh-TW" dirty="0"/>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31</a:t>
            </a:fld>
            <a:endParaRPr lang="zh-TW" altLang="en-US" dirty="0"/>
          </a:p>
        </p:txBody>
      </p:sp>
    </p:spTree>
    <p:extLst>
      <p:ext uri="{BB962C8B-B14F-4D97-AF65-F5344CB8AC3E}">
        <p14:creationId xmlns:p14="http://schemas.microsoft.com/office/powerpoint/2010/main" val="2711174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EC076-DF79-48F9-977E-BD3A26AFBB9E}"/>
              </a:ext>
            </a:extLst>
          </p:cNvPr>
          <p:cNvSpPr>
            <a:spLocks noGrp="1"/>
          </p:cNvSpPr>
          <p:nvPr>
            <p:ph type="title"/>
          </p:nvPr>
        </p:nvSpPr>
        <p:spPr/>
        <p:txBody>
          <a:bodyPr/>
          <a:lstStyle/>
          <a:p>
            <a:r>
              <a:rPr lang="zh-TW" altLang="en-US" dirty="0"/>
              <a:t>啟動 </a:t>
            </a:r>
            <a:r>
              <a:rPr lang="en-US" altLang="zh-TW" dirty="0"/>
              <a:t>Spyder</a:t>
            </a:r>
            <a:endParaRPr lang="zh-TW" altLang="en-US" dirty="0"/>
          </a:p>
        </p:txBody>
      </p:sp>
      <p:sp>
        <p:nvSpPr>
          <p:cNvPr id="4" name="投影片編號版面配置區 3">
            <a:extLst>
              <a:ext uri="{FF2B5EF4-FFF2-40B4-BE49-F238E27FC236}">
                <a16:creationId xmlns:a16="http://schemas.microsoft.com/office/drawing/2014/main" id="{ED8C22BA-9D3B-4B87-9E7F-2DA1BD85D13E}"/>
              </a:ext>
            </a:extLst>
          </p:cNvPr>
          <p:cNvSpPr>
            <a:spLocks noGrp="1"/>
          </p:cNvSpPr>
          <p:nvPr>
            <p:ph type="sldNum" sz="quarter" idx="12"/>
          </p:nvPr>
        </p:nvSpPr>
        <p:spPr/>
        <p:txBody>
          <a:bodyPr/>
          <a:lstStyle/>
          <a:p>
            <a:fld id="{A0B59302-35AD-44E9-AC3C-8D1DAE3511F1}" type="slidenum">
              <a:rPr lang="zh-TW" altLang="en-US" smtClean="0"/>
              <a:pPr/>
              <a:t>32</a:t>
            </a:fld>
            <a:endParaRPr lang="zh-TW" altLang="en-US" dirty="0"/>
          </a:p>
        </p:txBody>
      </p:sp>
      <p:pic>
        <p:nvPicPr>
          <p:cNvPr id="5" name="圖片 4">
            <a:extLst>
              <a:ext uri="{FF2B5EF4-FFF2-40B4-BE49-F238E27FC236}">
                <a16:creationId xmlns:a16="http://schemas.microsoft.com/office/drawing/2014/main" id="{BC05DECA-6690-4014-86D1-54BD399AFC9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10092"/>
            <a:ext cx="7273048" cy="4181158"/>
          </a:xfrm>
          <a:prstGeom prst="rect">
            <a:avLst/>
          </a:prstGeom>
          <a:noFill/>
          <a:ln>
            <a:noFill/>
          </a:ln>
        </p:spPr>
      </p:pic>
      <p:pic>
        <p:nvPicPr>
          <p:cNvPr id="6" name="圖片 5">
            <a:extLst>
              <a:ext uri="{FF2B5EF4-FFF2-40B4-BE49-F238E27FC236}">
                <a16:creationId xmlns:a16="http://schemas.microsoft.com/office/drawing/2014/main" id="{B3E2AC34-0DF1-4D0B-8659-F574A8FD505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2478" y="2299034"/>
            <a:ext cx="5495672" cy="3472782"/>
          </a:xfrm>
          <a:prstGeom prst="rect">
            <a:avLst/>
          </a:prstGeom>
          <a:noFill/>
          <a:ln>
            <a:noFill/>
          </a:ln>
        </p:spPr>
      </p:pic>
      <p:cxnSp>
        <p:nvCxnSpPr>
          <p:cNvPr id="7" name="直線單箭頭接點 6">
            <a:extLst>
              <a:ext uri="{FF2B5EF4-FFF2-40B4-BE49-F238E27FC236}">
                <a16:creationId xmlns:a16="http://schemas.microsoft.com/office/drawing/2014/main" id="{6EB5C860-1215-48F7-8B81-19FC913EADC5}"/>
              </a:ext>
            </a:extLst>
          </p:cNvPr>
          <p:cNvCxnSpPr>
            <a:cxnSpLocks/>
          </p:cNvCxnSpPr>
          <p:nvPr/>
        </p:nvCxnSpPr>
        <p:spPr>
          <a:xfrm>
            <a:off x="3563007" y="3153103"/>
            <a:ext cx="2669627" cy="0"/>
          </a:xfrm>
          <a:prstGeom prst="straightConnector1">
            <a:avLst/>
          </a:prstGeom>
          <a:ln w="635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橢圓 7">
            <a:extLst>
              <a:ext uri="{FF2B5EF4-FFF2-40B4-BE49-F238E27FC236}">
                <a16:creationId xmlns:a16="http://schemas.microsoft.com/office/drawing/2014/main" id="{511D7308-04DF-4B74-A9B4-45806E29F474}"/>
              </a:ext>
            </a:extLst>
          </p:cNvPr>
          <p:cNvSpPr/>
          <p:nvPr/>
        </p:nvSpPr>
        <p:spPr>
          <a:xfrm>
            <a:off x="2615576" y="4947755"/>
            <a:ext cx="588579" cy="58857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b="1" dirty="0"/>
              <a:t>1</a:t>
            </a:r>
            <a:endParaRPr lang="zh-TW" altLang="en-US" sz="2800" b="1" dirty="0"/>
          </a:p>
        </p:txBody>
      </p:sp>
      <p:sp>
        <p:nvSpPr>
          <p:cNvPr id="9" name="橢圓 8">
            <a:extLst>
              <a:ext uri="{FF2B5EF4-FFF2-40B4-BE49-F238E27FC236}">
                <a16:creationId xmlns:a16="http://schemas.microsoft.com/office/drawing/2014/main" id="{6E1C69EA-0F20-464D-83DA-901DCE0D6EC1}"/>
              </a:ext>
            </a:extLst>
          </p:cNvPr>
          <p:cNvSpPr/>
          <p:nvPr/>
        </p:nvSpPr>
        <p:spPr>
          <a:xfrm>
            <a:off x="9300045" y="4947755"/>
            <a:ext cx="588579" cy="58857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b="1" dirty="0"/>
              <a:t>2</a:t>
            </a:r>
            <a:endParaRPr lang="zh-TW" altLang="en-US" sz="2800" b="1" dirty="0"/>
          </a:p>
        </p:txBody>
      </p:sp>
    </p:spTree>
    <p:extLst>
      <p:ext uri="{BB962C8B-B14F-4D97-AF65-F5344CB8AC3E}">
        <p14:creationId xmlns:p14="http://schemas.microsoft.com/office/powerpoint/2010/main" val="1477785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331F2ACB-5B63-4C00-8E39-8DC1684E7AA3}"/>
              </a:ext>
            </a:extLst>
          </p:cNvPr>
          <p:cNvPicPr>
            <a:picLocks noChangeAspect="1"/>
          </p:cNvPicPr>
          <p:nvPr/>
        </p:nvPicPr>
        <p:blipFill>
          <a:blip r:embed="rId2"/>
          <a:stretch>
            <a:fillRect/>
          </a:stretch>
        </p:blipFill>
        <p:spPr>
          <a:xfrm>
            <a:off x="691238" y="557571"/>
            <a:ext cx="10809524" cy="5742857"/>
          </a:xfrm>
          <a:prstGeom prst="rect">
            <a:avLst/>
          </a:prstGeom>
        </p:spPr>
      </p:pic>
      <p:sp>
        <p:nvSpPr>
          <p:cNvPr id="6" name="語音泡泡: 圓角矩形 5">
            <a:extLst>
              <a:ext uri="{FF2B5EF4-FFF2-40B4-BE49-F238E27FC236}">
                <a16:creationId xmlns:a16="http://schemas.microsoft.com/office/drawing/2014/main" id="{41526E2A-F0DE-4FB0-93D1-7ECFB273B763}"/>
              </a:ext>
            </a:extLst>
          </p:cNvPr>
          <p:cNvSpPr/>
          <p:nvPr/>
        </p:nvSpPr>
        <p:spPr>
          <a:xfrm>
            <a:off x="3776084" y="4746378"/>
            <a:ext cx="2074985" cy="958362"/>
          </a:xfrm>
          <a:prstGeom prst="wedgeRoundRectCallout">
            <a:avLst>
              <a:gd name="adj1" fmla="val -50494"/>
              <a:gd name="adj2" fmla="val -77867"/>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撰寫 </a:t>
            </a:r>
            <a:r>
              <a:rPr lang="en-US" altLang="zh-TW" sz="2400" dirty="0">
                <a:latin typeface="華康中特圓體" panose="020F0809000000000000" pitchFamily="49" charset="-120"/>
                <a:ea typeface="華康中特圓體" panose="020F0809000000000000" pitchFamily="49" charset="-120"/>
              </a:rPr>
              <a:t>Python </a:t>
            </a:r>
            <a:r>
              <a:rPr lang="zh-TW" altLang="en-US" sz="2400" dirty="0">
                <a:latin typeface="華康中特圓體" panose="020F0809000000000000" pitchFamily="49" charset="-120"/>
                <a:ea typeface="華康中特圓體" panose="020F0809000000000000" pitchFamily="49" charset="-120"/>
              </a:rPr>
              <a:t>程式碼</a:t>
            </a:r>
            <a:endParaRPr lang="en-US" altLang="zh-TW" sz="2400" dirty="0">
              <a:latin typeface="華康中特圓體" panose="020F0809000000000000" pitchFamily="49" charset="-120"/>
              <a:ea typeface="華康中特圓體" panose="020F0809000000000000" pitchFamily="49" charset="-120"/>
            </a:endParaRPr>
          </a:p>
        </p:txBody>
      </p:sp>
      <p:sp>
        <p:nvSpPr>
          <p:cNvPr id="7" name="語音泡泡: 圓角矩形 6">
            <a:extLst>
              <a:ext uri="{FF2B5EF4-FFF2-40B4-BE49-F238E27FC236}">
                <a16:creationId xmlns:a16="http://schemas.microsoft.com/office/drawing/2014/main" id="{10476D1C-87B2-49C8-9C43-A5622648F55C}"/>
              </a:ext>
            </a:extLst>
          </p:cNvPr>
          <p:cNvSpPr/>
          <p:nvPr/>
        </p:nvSpPr>
        <p:spPr>
          <a:xfrm>
            <a:off x="8935915" y="2681653"/>
            <a:ext cx="2074985" cy="677007"/>
          </a:xfrm>
          <a:prstGeom prst="wedgeRoundRectCallout">
            <a:avLst>
              <a:gd name="adj1" fmla="val -15042"/>
              <a:gd name="adj2" fmla="val 89666"/>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變數檢視器</a:t>
            </a:r>
          </a:p>
        </p:txBody>
      </p:sp>
      <p:sp>
        <p:nvSpPr>
          <p:cNvPr id="8" name="語音泡泡: 圓角矩形 7">
            <a:extLst>
              <a:ext uri="{FF2B5EF4-FFF2-40B4-BE49-F238E27FC236}">
                <a16:creationId xmlns:a16="http://schemas.microsoft.com/office/drawing/2014/main" id="{59F8F7D4-C34F-4F29-A141-6D249E22AD67}"/>
              </a:ext>
            </a:extLst>
          </p:cNvPr>
          <p:cNvSpPr/>
          <p:nvPr/>
        </p:nvSpPr>
        <p:spPr>
          <a:xfrm>
            <a:off x="8935914" y="4848226"/>
            <a:ext cx="2074985" cy="677007"/>
          </a:xfrm>
          <a:prstGeom prst="wedgeRoundRectCallout">
            <a:avLst>
              <a:gd name="adj1" fmla="val -16279"/>
              <a:gd name="adj2" fmla="val 84581"/>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互動式執行</a:t>
            </a:r>
            <a:endParaRPr lang="en-US" altLang="zh-TW" sz="2400" dirty="0">
              <a:latin typeface="華康中特圓體" panose="020F0809000000000000" pitchFamily="49" charset="-120"/>
              <a:ea typeface="華康中特圓體" panose="020F0809000000000000" pitchFamily="49" charset="-120"/>
            </a:endParaRPr>
          </a:p>
        </p:txBody>
      </p:sp>
      <p:sp>
        <p:nvSpPr>
          <p:cNvPr id="9" name="語音泡泡: 圓角矩形 8">
            <a:extLst>
              <a:ext uri="{FF2B5EF4-FFF2-40B4-BE49-F238E27FC236}">
                <a16:creationId xmlns:a16="http://schemas.microsoft.com/office/drawing/2014/main" id="{C5435A69-5F81-49FE-95C9-24F7228FCAC7}"/>
              </a:ext>
            </a:extLst>
          </p:cNvPr>
          <p:cNvSpPr/>
          <p:nvPr/>
        </p:nvSpPr>
        <p:spPr>
          <a:xfrm>
            <a:off x="2760784" y="1439007"/>
            <a:ext cx="1711570" cy="531907"/>
          </a:xfrm>
          <a:prstGeom prst="wedgeRoundRectCallout">
            <a:avLst>
              <a:gd name="adj1" fmla="val -74124"/>
              <a:gd name="adj2" fmla="val -20013"/>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預設路徑</a:t>
            </a:r>
            <a:endParaRPr lang="en-US" altLang="zh-TW" sz="2400" dirty="0">
              <a:latin typeface="華康中特圓體" panose="020F0809000000000000" pitchFamily="49" charset="-120"/>
              <a:ea typeface="華康中特圓體" panose="020F0809000000000000" pitchFamily="49" charset="-120"/>
            </a:endParaRPr>
          </a:p>
        </p:txBody>
      </p:sp>
    </p:spTree>
    <p:extLst>
      <p:ext uri="{BB962C8B-B14F-4D97-AF65-F5344CB8AC3E}">
        <p14:creationId xmlns:p14="http://schemas.microsoft.com/office/powerpoint/2010/main" val="27291987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32859B-84AF-4424-B16C-6044395FAB59}"/>
              </a:ext>
            </a:extLst>
          </p:cNvPr>
          <p:cNvSpPr>
            <a:spLocks noGrp="1"/>
          </p:cNvSpPr>
          <p:nvPr>
            <p:ph type="title"/>
          </p:nvPr>
        </p:nvSpPr>
        <p:spPr/>
        <p:txBody>
          <a:bodyPr/>
          <a:lstStyle/>
          <a:p>
            <a:r>
              <a:rPr lang="zh-TW" altLang="en-US" dirty="0"/>
              <a:t>語法亮度</a:t>
            </a:r>
          </a:p>
        </p:txBody>
      </p:sp>
      <p:sp>
        <p:nvSpPr>
          <p:cNvPr id="4" name="投影片編號版面配置區 3">
            <a:extLst>
              <a:ext uri="{FF2B5EF4-FFF2-40B4-BE49-F238E27FC236}">
                <a16:creationId xmlns:a16="http://schemas.microsoft.com/office/drawing/2014/main" id="{5DAA61C9-D6F3-4706-9119-145A2CD29E52}"/>
              </a:ext>
            </a:extLst>
          </p:cNvPr>
          <p:cNvSpPr>
            <a:spLocks noGrp="1"/>
          </p:cNvSpPr>
          <p:nvPr>
            <p:ph type="sldNum" sz="quarter" idx="12"/>
          </p:nvPr>
        </p:nvSpPr>
        <p:spPr/>
        <p:txBody>
          <a:bodyPr/>
          <a:lstStyle/>
          <a:p>
            <a:fld id="{A0B59302-35AD-44E9-AC3C-8D1DAE3511F1}" type="slidenum">
              <a:rPr lang="zh-TW" altLang="en-US" smtClean="0"/>
              <a:pPr/>
              <a:t>34</a:t>
            </a:fld>
            <a:endParaRPr lang="zh-TW" altLang="en-US" dirty="0"/>
          </a:p>
        </p:txBody>
      </p:sp>
      <p:pic>
        <p:nvPicPr>
          <p:cNvPr id="5" name="圖片 4">
            <a:extLst>
              <a:ext uri="{FF2B5EF4-FFF2-40B4-BE49-F238E27FC236}">
                <a16:creationId xmlns:a16="http://schemas.microsoft.com/office/drawing/2014/main" id="{30D10499-3B20-4393-AC5E-9EC158FAF9E8}"/>
              </a:ext>
            </a:extLst>
          </p:cNvPr>
          <p:cNvPicPr>
            <a:picLocks noChangeAspect="1"/>
          </p:cNvPicPr>
          <p:nvPr/>
        </p:nvPicPr>
        <p:blipFill>
          <a:blip r:embed="rId2"/>
          <a:stretch>
            <a:fillRect/>
          </a:stretch>
        </p:blipFill>
        <p:spPr>
          <a:xfrm>
            <a:off x="2309386" y="1759234"/>
            <a:ext cx="8123809" cy="4552381"/>
          </a:xfrm>
          <a:prstGeom prst="rect">
            <a:avLst/>
          </a:prstGeom>
        </p:spPr>
      </p:pic>
      <p:pic>
        <p:nvPicPr>
          <p:cNvPr id="6" name="圖片 5">
            <a:extLst>
              <a:ext uri="{FF2B5EF4-FFF2-40B4-BE49-F238E27FC236}">
                <a16:creationId xmlns:a16="http://schemas.microsoft.com/office/drawing/2014/main" id="{5F15DDB9-9F4A-4971-A538-5C820CB18D09}"/>
              </a:ext>
            </a:extLst>
          </p:cNvPr>
          <p:cNvPicPr>
            <a:picLocks noChangeAspect="1"/>
          </p:cNvPicPr>
          <p:nvPr/>
        </p:nvPicPr>
        <p:blipFill rotWithShape="1">
          <a:blip r:embed="rId3"/>
          <a:srcRect l="46613"/>
          <a:stretch/>
        </p:blipFill>
        <p:spPr>
          <a:xfrm>
            <a:off x="1236584" y="3543056"/>
            <a:ext cx="3106616" cy="1828571"/>
          </a:xfrm>
          <a:prstGeom prst="rect">
            <a:avLst/>
          </a:prstGeom>
          <a:ln w="19050">
            <a:solidFill>
              <a:schemeClr val="bg1"/>
            </a:solidFill>
          </a:ln>
        </p:spPr>
      </p:pic>
      <p:sp>
        <p:nvSpPr>
          <p:cNvPr id="7" name="矩形 6">
            <a:extLst>
              <a:ext uri="{FF2B5EF4-FFF2-40B4-BE49-F238E27FC236}">
                <a16:creationId xmlns:a16="http://schemas.microsoft.com/office/drawing/2014/main" id="{5D2F6A1E-0959-42BB-AF01-F116B1F280D6}"/>
              </a:ext>
            </a:extLst>
          </p:cNvPr>
          <p:cNvSpPr/>
          <p:nvPr/>
        </p:nvSpPr>
        <p:spPr>
          <a:xfrm>
            <a:off x="1766202" y="4502433"/>
            <a:ext cx="2459765" cy="340530"/>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肘形接點 9">
            <a:extLst>
              <a:ext uri="{FF2B5EF4-FFF2-40B4-BE49-F238E27FC236}">
                <a16:creationId xmlns:a16="http://schemas.microsoft.com/office/drawing/2014/main" id="{C33DC2C4-BD3C-4452-80DB-3DC3B2E081F4}"/>
              </a:ext>
            </a:extLst>
          </p:cNvPr>
          <p:cNvCxnSpPr>
            <a:cxnSpLocks/>
            <a:stCxn id="7" idx="0"/>
            <a:endCxn id="9" idx="2"/>
          </p:cNvCxnSpPr>
          <p:nvPr/>
        </p:nvCxnSpPr>
        <p:spPr>
          <a:xfrm rot="5400000" flipH="1" flipV="1">
            <a:off x="2139119" y="3314955"/>
            <a:ext cx="2044445" cy="330513"/>
          </a:xfrm>
          <a:prstGeom prst="bentConnector3">
            <a:avLst>
              <a:gd name="adj1" fmla="val 50000"/>
            </a:avLst>
          </a:prstGeom>
          <a:ln w="3492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7E12C138-D9B5-4989-962F-97FC3556533A}"/>
              </a:ext>
            </a:extLst>
          </p:cNvPr>
          <p:cNvSpPr/>
          <p:nvPr/>
        </p:nvSpPr>
        <p:spPr>
          <a:xfrm>
            <a:off x="2427228" y="2127475"/>
            <a:ext cx="1798739" cy="330513"/>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E41CE513-C814-4C70-B9E9-20961032D597}"/>
              </a:ext>
            </a:extLst>
          </p:cNvPr>
          <p:cNvSpPr/>
          <p:nvPr/>
        </p:nvSpPr>
        <p:spPr>
          <a:xfrm>
            <a:off x="4612829" y="2983260"/>
            <a:ext cx="3716215" cy="2961251"/>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 name="肘形接點 9">
            <a:extLst>
              <a:ext uri="{FF2B5EF4-FFF2-40B4-BE49-F238E27FC236}">
                <a16:creationId xmlns:a16="http://schemas.microsoft.com/office/drawing/2014/main" id="{46E99C29-DDCF-407B-9751-0040A9C449D0}"/>
              </a:ext>
            </a:extLst>
          </p:cNvPr>
          <p:cNvCxnSpPr>
            <a:cxnSpLocks/>
            <a:stCxn id="9" idx="3"/>
            <a:endCxn id="10" idx="0"/>
          </p:cNvCxnSpPr>
          <p:nvPr/>
        </p:nvCxnSpPr>
        <p:spPr>
          <a:xfrm>
            <a:off x="4225967" y="2292732"/>
            <a:ext cx="2244970" cy="690528"/>
          </a:xfrm>
          <a:prstGeom prst="bentConnector2">
            <a:avLst/>
          </a:prstGeom>
          <a:ln w="34925">
            <a:solidFill>
              <a:srgbClr val="FFFF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574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72B962-03DE-42D1-8E1B-DB91B771F180}"/>
              </a:ext>
            </a:extLst>
          </p:cNvPr>
          <p:cNvSpPr>
            <a:spLocks noGrp="1"/>
          </p:cNvSpPr>
          <p:nvPr>
            <p:ph type="title"/>
          </p:nvPr>
        </p:nvSpPr>
        <p:spPr/>
        <p:txBody>
          <a:bodyPr/>
          <a:lstStyle/>
          <a:p>
            <a:r>
              <a:rPr lang="en-US" altLang="zh-TW" dirty="0"/>
              <a:t>Spyder </a:t>
            </a:r>
            <a:r>
              <a:rPr lang="zh-TW" altLang="en-US" dirty="0"/>
              <a:t>的操作</a:t>
            </a:r>
            <a:r>
              <a:rPr lang="en-US" altLang="zh-TW" dirty="0"/>
              <a:t>(1/2)</a:t>
            </a:r>
            <a:endParaRPr lang="zh-TW" altLang="en-US" dirty="0"/>
          </a:p>
        </p:txBody>
      </p:sp>
      <p:sp>
        <p:nvSpPr>
          <p:cNvPr id="3" name="內容版面配置區 2">
            <a:extLst>
              <a:ext uri="{FF2B5EF4-FFF2-40B4-BE49-F238E27FC236}">
                <a16:creationId xmlns:a16="http://schemas.microsoft.com/office/drawing/2014/main" id="{99A4BE78-F68E-42CF-B6D2-C20C85E1A0D4}"/>
              </a:ext>
            </a:extLst>
          </p:cNvPr>
          <p:cNvSpPr>
            <a:spLocks noGrp="1"/>
          </p:cNvSpPr>
          <p:nvPr>
            <p:ph idx="1"/>
          </p:nvPr>
        </p:nvSpPr>
        <p:spPr/>
        <p:txBody>
          <a:bodyPr>
            <a:normAutofit/>
          </a:bodyPr>
          <a:lstStyle/>
          <a:p>
            <a:r>
              <a:rPr lang="zh-TW" altLang="en-US" b="1" dirty="0"/>
              <a:t>放大或縮小文字</a:t>
            </a:r>
            <a:r>
              <a:rPr lang="zh-TW" altLang="en-US" dirty="0"/>
              <a:t>：對於編輯區及命令視窗區的文字，可透過「</a:t>
            </a:r>
            <a:r>
              <a:rPr lang="en-US" altLang="zh-TW" dirty="0"/>
              <a:t>Ctrl + </a:t>
            </a:r>
            <a:r>
              <a:rPr lang="zh-TW" altLang="en-US" dirty="0"/>
              <a:t>滑鼠滾輪向上或向下」或者「</a:t>
            </a:r>
            <a:r>
              <a:rPr lang="en-US" altLang="zh-TW" dirty="0"/>
              <a:t>Ctrl </a:t>
            </a:r>
            <a:r>
              <a:rPr lang="zh-TW" altLang="en-US" dirty="0"/>
              <a:t>配合 </a:t>
            </a:r>
            <a:r>
              <a:rPr lang="en-US" altLang="zh-TW" dirty="0"/>
              <a:t>+/–</a:t>
            </a:r>
            <a:r>
              <a:rPr lang="zh-TW" altLang="en-US" dirty="0"/>
              <a:t>」來放大或縮小，對程式開發很方便。</a:t>
            </a:r>
            <a:endParaRPr lang="en-US" altLang="zh-TW" dirty="0"/>
          </a:p>
          <a:p>
            <a:pPr lvl="1"/>
            <a:endParaRPr lang="zh-TW" altLang="en-US" dirty="0"/>
          </a:p>
          <a:p>
            <a:r>
              <a:rPr lang="zh-TW" altLang="en-US" b="1" dirty="0"/>
              <a:t>自動補齊</a:t>
            </a:r>
            <a:r>
              <a:rPr lang="en-US" altLang="zh-TW" b="1" dirty="0"/>
              <a:t>(auto-complete)</a:t>
            </a:r>
            <a:r>
              <a:rPr lang="zh-TW" altLang="en-US" dirty="0"/>
              <a:t>：在編寫程式時輸入部分文字後按下「</a:t>
            </a:r>
            <a:r>
              <a:rPr lang="en-US" altLang="zh-TW" dirty="0"/>
              <a:t>Tab </a:t>
            </a:r>
            <a:r>
              <a:rPr lang="zh-TW" altLang="en-US" dirty="0"/>
              <a:t>鍵」，會列出所有可能符合的項目，使用者可用「↑</a:t>
            </a:r>
            <a:r>
              <a:rPr lang="en-US" altLang="zh-TW" dirty="0"/>
              <a:t>/↓</a:t>
            </a:r>
            <a:r>
              <a:rPr lang="zh-TW" altLang="en-US" dirty="0"/>
              <a:t>」鍵移動項目，並搭配「</a:t>
            </a:r>
            <a:r>
              <a:rPr lang="en-US" altLang="zh-TW" dirty="0"/>
              <a:t>Enter </a:t>
            </a:r>
            <a:r>
              <a:rPr lang="zh-TW" altLang="en-US" dirty="0"/>
              <a:t>鍵」完成輸入。</a:t>
            </a:r>
          </a:p>
          <a:p>
            <a:endParaRPr lang="zh-TW" altLang="en-US" dirty="0"/>
          </a:p>
        </p:txBody>
      </p:sp>
      <p:sp>
        <p:nvSpPr>
          <p:cNvPr id="4" name="投影片編號版面配置區 3">
            <a:extLst>
              <a:ext uri="{FF2B5EF4-FFF2-40B4-BE49-F238E27FC236}">
                <a16:creationId xmlns:a16="http://schemas.microsoft.com/office/drawing/2014/main" id="{58DF6181-49A2-4576-8911-ACB4BAD7FDAF}"/>
              </a:ext>
            </a:extLst>
          </p:cNvPr>
          <p:cNvSpPr>
            <a:spLocks noGrp="1"/>
          </p:cNvSpPr>
          <p:nvPr>
            <p:ph type="sldNum" sz="quarter" idx="12"/>
          </p:nvPr>
        </p:nvSpPr>
        <p:spPr/>
        <p:txBody>
          <a:bodyPr/>
          <a:lstStyle/>
          <a:p>
            <a:fld id="{A0B59302-35AD-44E9-AC3C-8D1DAE3511F1}" type="slidenum">
              <a:rPr lang="zh-TW" altLang="en-US" smtClean="0"/>
              <a:pPr/>
              <a:t>35</a:t>
            </a:fld>
            <a:endParaRPr lang="zh-TW" altLang="en-US" dirty="0"/>
          </a:p>
        </p:txBody>
      </p:sp>
    </p:spTree>
    <p:extLst>
      <p:ext uri="{BB962C8B-B14F-4D97-AF65-F5344CB8AC3E}">
        <p14:creationId xmlns:p14="http://schemas.microsoft.com/office/powerpoint/2010/main" val="264160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F7CF2B-E031-4D41-8AD2-C24578D3E479}"/>
              </a:ext>
            </a:extLst>
          </p:cNvPr>
          <p:cNvSpPr>
            <a:spLocks noGrp="1"/>
          </p:cNvSpPr>
          <p:nvPr>
            <p:ph type="title"/>
          </p:nvPr>
        </p:nvSpPr>
        <p:spPr/>
        <p:txBody>
          <a:bodyPr/>
          <a:lstStyle/>
          <a:p>
            <a:r>
              <a:rPr lang="en-US" altLang="zh-TW" dirty="0"/>
              <a:t>Spyder </a:t>
            </a:r>
            <a:r>
              <a:rPr lang="zh-TW" altLang="en-US" dirty="0"/>
              <a:t>的操作</a:t>
            </a:r>
            <a:r>
              <a:rPr lang="en-US" altLang="zh-TW" dirty="0"/>
              <a:t>(2/2)</a:t>
            </a:r>
            <a:endParaRPr lang="zh-TW" altLang="en-US" dirty="0"/>
          </a:p>
        </p:txBody>
      </p:sp>
      <p:sp>
        <p:nvSpPr>
          <p:cNvPr id="3" name="內容版面配置區 2">
            <a:extLst>
              <a:ext uri="{FF2B5EF4-FFF2-40B4-BE49-F238E27FC236}">
                <a16:creationId xmlns:a16="http://schemas.microsoft.com/office/drawing/2014/main" id="{10AF887A-3E35-4BC1-9626-2E1DE14914C1}"/>
              </a:ext>
            </a:extLst>
          </p:cNvPr>
          <p:cNvSpPr>
            <a:spLocks noGrp="1"/>
          </p:cNvSpPr>
          <p:nvPr>
            <p:ph idx="1"/>
          </p:nvPr>
        </p:nvSpPr>
        <p:spPr/>
        <p:txBody>
          <a:bodyPr/>
          <a:lstStyle/>
          <a:p>
            <a:r>
              <a:rPr lang="zh-TW" altLang="en-US" b="1" dirty="0"/>
              <a:t>多行註解</a:t>
            </a:r>
            <a:r>
              <a:rPr lang="zh-TW" altLang="en-US" dirty="0"/>
              <a:t>：先用滑鼠選取要註解的多行程式碼，按下「</a:t>
            </a:r>
            <a:r>
              <a:rPr lang="en-US" altLang="zh-TW" dirty="0"/>
              <a:t>Ctrl + 1</a:t>
            </a:r>
            <a:r>
              <a:rPr lang="zh-TW" altLang="en-US" dirty="0"/>
              <a:t>」即能註解或取消註解，這比 </a:t>
            </a:r>
            <a:r>
              <a:rPr lang="en-US" altLang="zh-TW" dirty="0"/>
              <a:t>Python </a:t>
            </a:r>
            <a:r>
              <a:rPr lang="zh-TW" altLang="en-US" dirty="0"/>
              <a:t>的多行註解（成對引號）要方便。</a:t>
            </a:r>
          </a:p>
          <a:p>
            <a:r>
              <a:rPr lang="en-US" altLang="zh-TW" dirty="0"/>
              <a:t>Spyder </a:t>
            </a:r>
            <a:r>
              <a:rPr lang="zh-TW" altLang="en-US" dirty="0"/>
              <a:t>的除錯工具</a:t>
            </a:r>
          </a:p>
        </p:txBody>
      </p:sp>
      <p:sp>
        <p:nvSpPr>
          <p:cNvPr id="4" name="投影片編號版面配置區 3">
            <a:extLst>
              <a:ext uri="{FF2B5EF4-FFF2-40B4-BE49-F238E27FC236}">
                <a16:creationId xmlns:a16="http://schemas.microsoft.com/office/drawing/2014/main" id="{3B33C7FF-A466-499B-A9E4-DAB19F5548A2}"/>
              </a:ext>
            </a:extLst>
          </p:cNvPr>
          <p:cNvSpPr>
            <a:spLocks noGrp="1"/>
          </p:cNvSpPr>
          <p:nvPr>
            <p:ph type="sldNum" sz="quarter" idx="12"/>
          </p:nvPr>
        </p:nvSpPr>
        <p:spPr/>
        <p:txBody>
          <a:bodyPr/>
          <a:lstStyle/>
          <a:p>
            <a:fld id="{A0B59302-35AD-44E9-AC3C-8D1DAE3511F1}" type="slidenum">
              <a:rPr lang="zh-TW" altLang="en-US" smtClean="0"/>
              <a:pPr/>
              <a:t>36</a:t>
            </a:fld>
            <a:endParaRPr lang="zh-TW" altLang="en-US" dirty="0"/>
          </a:p>
        </p:txBody>
      </p:sp>
      <p:grpSp>
        <p:nvGrpSpPr>
          <p:cNvPr id="18" name="群組 17">
            <a:extLst>
              <a:ext uri="{FF2B5EF4-FFF2-40B4-BE49-F238E27FC236}">
                <a16:creationId xmlns:a16="http://schemas.microsoft.com/office/drawing/2014/main" id="{95486B38-01AF-4260-A471-5620CF71A257}"/>
              </a:ext>
            </a:extLst>
          </p:cNvPr>
          <p:cNvGrpSpPr/>
          <p:nvPr/>
        </p:nvGrpSpPr>
        <p:grpSpPr>
          <a:xfrm>
            <a:off x="2562156" y="3976605"/>
            <a:ext cx="8503478" cy="2639657"/>
            <a:chOff x="2562156" y="3976605"/>
            <a:chExt cx="8503478" cy="2639657"/>
          </a:xfrm>
        </p:grpSpPr>
        <p:pic>
          <p:nvPicPr>
            <p:cNvPr id="5" name="圖片 4">
              <a:extLst>
                <a:ext uri="{FF2B5EF4-FFF2-40B4-BE49-F238E27FC236}">
                  <a16:creationId xmlns:a16="http://schemas.microsoft.com/office/drawing/2014/main" id="{CE82A2A6-2732-445F-B20D-59AAD177EF90}"/>
                </a:ext>
              </a:extLst>
            </p:cNvPr>
            <p:cNvPicPr>
              <a:picLocks noChangeAspect="1"/>
            </p:cNvPicPr>
            <p:nvPr/>
          </p:nvPicPr>
          <p:blipFill>
            <a:blip r:embed="rId2"/>
            <a:stretch>
              <a:fillRect/>
            </a:stretch>
          </p:blipFill>
          <p:spPr>
            <a:xfrm>
              <a:off x="2562156" y="4165692"/>
              <a:ext cx="8503478" cy="2450570"/>
            </a:xfrm>
            <a:prstGeom prst="rect">
              <a:avLst/>
            </a:prstGeom>
          </p:spPr>
        </p:pic>
        <p:sp>
          <p:nvSpPr>
            <p:cNvPr id="6" name="矩形 5">
              <a:extLst>
                <a:ext uri="{FF2B5EF4-FFF2-40B4-BE49-F238E27FC236}">
                  <a16:creationId xmlns:a16="http://schemas.microsoft.com/office/drawing/2014/main" id="{F96FA952-3021-4462-BD67-3EB791C52FFA}"/>
                </a:ext>
              </a:extLst>
            </p:cNvPr>
            <p:cNvSpPr/>
            <p:nvPr/>
          </p:nvSpPr>
          <p:spPr>
            <a:xfrm>
              <a:off x="6585295" y="4832765"/>
              <a:ext cx="435974" cy="465919"/>
            </a:xfrm>
            <a:prstGeom prst="rect">
              <a:avLst/>
            </a:prstGeom>
            <a:noFill/>
            <a:ln w="38100" cap="flat" cmpd="sng" algn="ctr">
              <a:solidFill>
                <a:srgbClr val="F2635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7" name="矩形 6">
              <a:extLst>
                <a:ext uri="{FF2B5EF4-FFF2-40B4-BE49-F238E27FC236}">
                  <a16:creationId xmlns:a16="http://schemas.microsoft.com/office/drawing/2014/main" id="{D8DB771A-296E-4C57-9597-9655D4D747E5}"/>
                </a:ext>
              </a:extLst>
            </p:cNvPr>
            <p:cNvSpPr/>
            <p:nvPr/>
          </p:nvSpPr>
          <p:spPr>
            <a:xfrm>
              <a:off x="7140593" y="4832765"/>
              <a:ext cx="378069" cy="465919"/>
            </a:xfrm>
            <a:prstGeom prst="rect">
              <a:avLst/>
            </a:prstGeom>
            <a:noFill/>
            <a:ln w="38100" cap="flat" cmpd="sng" algn="ctr">
              <a:solidFill>
                <a:srgbClr val="FFE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8" name="矩形 7">
              <a:extLst>
                <a:ext uri="{FF2B5EF4-FFF2-40B4-BE49-F238E27FC236}">
                  <a16:creationId xmlns:a16="http://schemas.microsoft.com/office/drawing/2014/main" id="{24D0B1C8-CCE1-4FC9-8A01-7B70A840A5B1}"/>
                </a:ext>
              </a:extLst>
            </p:cNvPr>
            <p:cNvSpPr/>
            <p:nvPr/>
          </p:nvSpPr>
          <p:spPr>
            <a:xfrm>
              <a:off x="7614121" y="4832765"/>
              <a:ext cx="401935" cy="465919"/>
            </a:xfrm>
            <a:prstGeom prst="rect">
              <a:avLst/>
            </a:prstGeom>
            <a:noFill/>
            <a:ln w="38100" cap="flat" cmpd="sng" algn="ctr">
              <a:solidFill>
                <a:srgbClr val="ED7D3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9" name="矩形 8">
              <a:extLst>
                <a:ext uri="{FF2B5EF4-FFF2-40B4-BE49-F238E27FC236}">
                  <a16:creationId xmlns:a16="http://schemas.microsoft.com/office/drawing/2014/main" id="{77B5EF5B-C825-44A5-BE16-1AA70C05CBFF}"/>
                </a:ext>
              </a:extLst>
            </p:cNvPr>
            <p:cNvSpPr/>
            <p:nvPr/>
          </p:nvSpPr>
          <p:spPr>
            <a:xfrm>
              <a:off x="8132186" y="4832724"/>
              <a:ext cx="378070" cy="465919"/>
            </a:xfrm>
            <a:prstGeom prst="rect">
              <a:avLst/>
            </a:prstGeom>
            <a:noFill/>
            <a:ln w="381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10" name="矩形 9">
              <a:extLst>
                <a:ext uri="{FF2B5EF4-FFF2-40B4-BE49-F238E27FC236}">
                  <a16:creationId xmlns:a16="http://schemas.microsoft.com/office/drawing/2014/main" id="{CD59B975-7430-49AA-8E43-AE388BB58C28}"/>
                </a:ext>
              </a:extLst>
            </p:cNvPr>
            <p:cNvSpPr/>
            <p:nvPr/>
          </p:nvSpPr>
          <p:spPr>
            <a:xfrm>
              <a:off x="8595383" y="4832724"/>
              <a:ext cx="401935" cy="465919"/>
            </a:xfrm>
            <a:prstGeom prst="rect">
              <a:avLst/>
            </a:prstGeom>
            <a:noFill/>
            <a:ln w="38100" cap="flat" cmpd="sng" algn="ctr">
              <a:solidFill>
                <a:srgbClr val="70AD47">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11" name="矩形 10">
              <a:extLst>
                <a:ext uri="{FF2B5EF4-FFF2-40B4-BE49-F238E27FC236}">
                  <a16:creationId xmlns:a16="http://schemas.microsoft.com/office/drawing/2014/main" id="{99C57C9F-038F-4169-A696-12CAFEB1515C}"/>
                </a:ext>
              </a:extLst>
            </p:cNvPr>
            <p:cNvSpPr/>
            <p:nvPr/>
          </p:nvSpPr>
          <p:spPr>
            <a:xfrm>
              <a:off x="9123779" y="4827699"/>
              <a:ext cx="403803" cy="475967"/>
            </a:xfrm>
            <a:prstGeom prst="rect">
              <a:avLst/>
            </a:prstGeom>
            <a:noFill/>
            <a:ln w="38100" cap="flat" cmpd="sng" algn="ctr">
              <a:solidFill>
                <a:srgbClr val="5B9BD5">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12" name="語音泡泡: 圓角矩形 11">
              <a:extLst>
                <a:ext uri="{FF2B5EF4-FFF2-40B4-BE49-F238E27FC236}">
                  <a16:creationId xmlns:a16="http://schemas.microsoft.com/office/drawing/2014/main" id="{EA61AE89-FCAA-406E-9A42-E69AD789F90D}"/>
                </a:ext>
              </a:extLst>
            </p:cNvPr>
            <p:cNvSpPr/>
            <p:nvPr/>
          </p:nvSpPr>
          <p:spPr>
            <a:xfrm>
              <a:off x="3700268" y="4253170"/>
              <a:ext cx="1646903" cy="906255"/>
            </a:xfrm>
            <a:prstGeom prst="wedgeRoundRectCallout">
              <a:avLst>
                <a:gd name="adj1" fmla="val 119745"/>
                <a:gd name="adj2" fmla="val 46538"/>
                <a:gd name="adj3" fmla="val 16667"/>
              </a:avLst>
            </a:prstGeom>
            <a:solidFill>
              <a:srgbClr val="F263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prstClr val="white"/>
                  </a:solidFill>
                  <a:effectLst/>
                  <a:uLnTx/>
                  <a:uFillTx/>
                  <a:latin typeface="華康中特圓體" panose="020F0809000000000000" pitchFamily="49" charset="-120"/>
                  <a:ea typeface="華康中特圓體" panose="020F0809000000000000" pitchFamily="49" charset="-120"/>
                </a:rPr>
                <a:t>以除錯模式進行</a:t>
              </a:r>
            </a:p>
          </p:txBody>
        </p:sp>
        <p:sp>
          <p:nvSpPr>
            <p:cNvPr id="13" name="語音泡泡: 圓角矩形 12">
              <a:extLst>
                <a:ext uri="{FF2B5EF4-FFF2-40B4-BE49-F238E27FC236}">
                  <a16:creationId xmlns:a16="http://schemas.microsoft.com/office/drawing/2014/main" id="{34E6D155-66D3-4F35-9DAA-58BA3C39A709}"/>
                </a:ext>
              </a:extLst>
            </p:cNvPr>
            <p:cNvSpPr/>
            <p:nvPr/>
          </p:nvSpPr>
          <p:spPr>
            <a:xfrm>
              <a:off x="3700268" y="5434716"/>
              <a:ext cx="1957026" cy="906255"/>
            </a:xfrm>
            <a:prstGeom prst="wedgeRoundRectCallout">
              <a:avLst>
                <a:gd name="adj1" fmla="val 125213"/>
                <a:gd name="adj2" fmla="val -59728"/>
                <a:gd name="adj3" fmla="val 16667"/>
              </a:avLst>
            </a:prstGeom>
            <a:solidFill>
              <a:srgbClr val="FFE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prstClr val="black"/>
                  </a:solidFill>
                  <a:effectLst/>
                  <a:uLnTx/>
                  <a:uFillTx/>
                  <a:latin typeface="華康中特圓體" panose="020F0809000000000000" pitchFamily="49" charset="-120"/>
                  <a:ea typeface="華康中特圓體" panose="020F0809000000000000" pitchFamily="49" charset="-120"/>
                </a:rPr>
                <a:t>單步執行，不進入函式</a:t>
              </a:r>
            </a:p>
          </p:txBody>
        </p:sp>
        <p:sp>
          <p:nvSpPr>
            <p:cNvPr id="14" name="語音泡泡: 圓角矩形 13">
              <a:extLst>
                <a:ext uri="{FF2B5EF4-FFF2-40B4-BE49-F238E27FC236}">
                  <a16:creationId xmlns:a16="http://schemas.microsoft.com/office/drawing/2014/main" id="{F9D988F9-6773-418F-9661-8EDA11CD8B58}"/>
                </a:ext>
              </a:extLst>
            </p:cNvPr>
            <p:cNvSpPr/>
            <p:nvPr/>
          </p:nvSpPr>
          <p:spPr>
            <a:xfrm>
              <a:off x="6042756" y="5710007"/>
              <a:ext cx="1957026" cy="820719"/>
            </a:xfrm>
            <a:prstGeom prst="wedgeRoundRectCallout">
              <a:avLst>
                <a:gd name="adj1" fmla="val 37233"/>
                <a:gd name="adj2" fmla="val -87636"/>
                <a:gd name="adj3" fmla="val 16667"/>
              </a:avLst>
            </a:prstGeom>
            <a:solidFill>
              <a:srgbClr val="ED7D3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prstClr val="white"/>
                  </a:solidFill>
                  <a:effectLst/>
                  <a:uLnTx/>
                  <a:uFillTx/>
                  <a:latin typeface="華康中特圓體" panose="020F0809000000000000" pitchFamily="49" charset="-120"/>
                  <a:ea typeface="華康中特圓體" panose="020F0809000000000000" pitchFamily="49" charset="-120"/>
                </a:rPr>
                <a:t>單步執行，會進入函式</a:t>
              </a:r>
            </a:p>
          </p:txBody>
        </p:sp>
        <p:sp>
          <p:nvSpPr>
            <p:cNvPr id="15" name="語音泡泡: 圓角矩形 14">
              <a:extLst>
                <a:ext uri="{FF2B5EF4-FFF2-40B4-BE49-F238E27FC236}">
                  <a16:creationId xmlns:a16="http://schemas.microsoft.com/office/drawing/2014/main" id="{22F5D244-34B6-445D-9A54-D97B21E1A317}"/>
                </a:ext>
              </a:extLst>
            </p:cNvPr>
            <p:cNvSpPr/>
            <p:nvPr/>
          </p:nvSpPr>
          <p:spPr>
            <a:xfrm>
              <a:off x="8132186" y="5710006"/>
              <a:ext cx="1957026" cy="820719"/>
            </a:xfrm>
            <a:prstGeom prst="wedgeRoundRectCallout">
              <a:avLst>
                <a:gd name="adj1" fmla="val -16947"/>
                <a:gd name="adj2" fmla="val -94748"/>
                <a:gd name="adj3" fmla="val 16667"/>
              </a:avLst>
            </a:prstGeom>
            <a:solidFill>
              <a:srgbClr val="70AD4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prstClr val="black"/>
                  </a:solidFill>
                  <a:effectLst/>
                  <a:uLnTx/>
                  <a:uFillTx/>
                  <a:latin typeface="華康中特圓體" panose="020F0809000000000000" pitchFamily="49" charset="-120"/>
                  <a:ea typeface="華康中特圓體" panose="020F0809000000000000" pitchFamily="49" charset="-120"/>
                </a:rPr>
                <a:t>執行直到下一個中斷點</a:t>
              </a:r>
            </a:p>
          </p:txBody>
        </p:sp>
        <p:sp>
          <p:nvSpPr>
            <p:cNvPr id="16" name="語音泡泡: 圓角矩形 15">
              <a:extLst>
                <a:ext uri="{FF2B5EF4-FFF2-40B4-BE49-F238E27FC236}">
                  <a16:creationId xmlns:a16="http://schemas.microsoft.com/office/drawing/2014/main" id="{AF8997C2-48CD-48A1-8B0C-E9CDAAD8F01E}"/>
                </a:ext>
              </a:extLst>
            </p:cNvPr>
            <p:cNvSpPr/>
            <p:nvPr/>
          </p:nvSpPr>
          <p:spPr>
            <a:xfrm>
              <a:off x="9745459" y="4558847"/>
              <a:ext cx="1292242" cy="820719"/>
            </a:xfrm>
            <a:prstGeom prst="wedgeRoundRectCallout">
              <a:avLst>
                <a:gd name="adj1" fmla="val -62113"/>
                <a:gd name="adj2" fmla="val -5854"/>
                <a:gd name="adj3" fmla="val 16667"/>
              </a:avLst>
            </a:prstGeom>
            <a:solidFill>
              <a:srgbClr val="5B9BD5">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effectLst/>
                  <a:uLnTx/>
                  <a:uFillTx/>
                  <a:latin typeface="華康中特圓體" panose="020F0809000000000000" pitchFamily="49" charset="-120"/>
                  <a:ea typeface="華康中特圓體" panose="020F0809000000000000" pitchFamily="49" charset="-120"/>
                </a:rPr>
                <a:t>停止除錯模式</a:t>
              </a:r>
            </a:p>
          </p:txBody>
        </p:sp>
        <p:sp>
          <p:nvSpPr>
            <p:cNvPr id="17" name="語音泡泡: 圓角矩形 16">
              <a:extLst>
                <a:ext uri="{FF2B5EF4-FFF2-40B4-BE49-F238E27FC236}">
                  <a16:creationId xmlns:a16="http://schemas.microsoft.com/office/drawing/2014/main" id="{A731378C-0CB4-4D77-B367-908B685F6A97}"/>
                </a:ext>
              </a:extLst>
            </p:cNvPr>
            <p:cNvSpPr/>
            <p:nvPr/>
          </p:nvSpPr>
          <p:spPr>
            <a:xfrm>
              <a:off x="5565048" y="3976605"/>
              <a:ext cx="5323042" cy="475967"/>
            </a:xfrm>
            <a:prstGeom prst="wedgeRoundRectCallout">
              <a:avLst>
                <a:gd name="adj1" fmla="val -1493"/>
                <a:gd name="adj2" fmla="val 116189"/>
                <a:gd name="adj3" fmla="val 16667"/>
              </a:avLst>
            </a:prstGeom>
            <a:solidFill>
              <a:srgbClr val="70AD4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prstClr val="white"/>
                  </a:solidFill>
                  <a:effectLst/>
                  <a:uLnTx/>
                  <a:uFillTx/>
                  <a:latin typeface="華康中特圓體" panose="020F0809000000000000" pitchFamily="49" charset="-120"/>
                  <a:ea typeface="華康中特圓體" panose="020F0809000000000000" pitchFamily="49" charset="-120"/>
                </a:rPr>
                <a:t>執行直到函式返回或下一個中斷點</a:t>
              </a:r>
            </a:p>
          </p:txBody>
        </p:sp>
      </p:grpSp>
    </p:spTree>
    <p:extLst>
      <p:ext uri="{BB962C8B-B14F-4D97-AF65-F5344CB8AC3E}">
        <p14:creationId xmlns:p14="http://schemas.microsoft.com/office/powerpoint/2010/main" val="341452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pPr lvl="1"/>
            <a:r>
              <a:rPr lang="zh-TW" altLang="en-US" dirty="0"/>
              <a:t>安裝與使用 </a:t>
            </a:r>
            <a:r>
              <a:rPr lang="en-US" altLang="zh-TW" dirty="0"/>
              <a:t>Anaconda</a:t>
            </a:r>
          </a:p>
          <a:p>
            <a:pPr lvl="1"/>
            <a:r>
              <a:rPr lang="en-US" altLang="zh-TW" dirty="0"/>
              <a:t>Spyder</a:t>
            </a:r>
            <a:r>
              <a:rPr lang="zh-TW" altLang="en-US" dirty="0"/>
              <a:t> 編輯器</a:t>
            </a:r>
            <a:endParaRPr lang="en-US" altLang="zh-TW" dirty="0"/>
          </a:p>
          <a:p>
            <a:pPr lvl="1"/>
            <a:r>
              <a:rPr lang="en-US" altLang="zh-TW" dirty="0" err="1">
                <a:solidFill>
                  <a:schemeClr val="accent4"/>
                </a:solidFill>
              </a:rPr>
              <a:t>Jupyter</a:t>
            </a:r>
            <a:r>
              <a:rPr lang="en-US" altLang="zh-TW" dirty="0">
                <a:solidFill>
                  <a:schemeClr val="accent4"/>
                </a:solidFill>
              </a:rPr>
              <a:t> </a:t>
            </a:r>
            <a:r>
              <a:rPr lang="zh-TW" altLang="en-US" dirty="0">
                <a:solidFill>
                  <a:schemeClr val="accent4"/>
                </a:solidFill>
              </a:rPr>
              <a:t>網頁式編輯器</a:t>
            </a:r>
            <a:endParaRPr lang="en-US" altLang="zh-TW" dirty="0">
              <a:solidFill>
                <a:schemeClr val="accent4"/>
              </a:solidFill>
            </a:endParaRPr>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37</a:t>
            </a:fld>
            <a:endParaRPr lang="zh-TW" altLang="en-US" dirty="0"/>
          </a:p>
        </p:txBody>
      </p:sp>
    </p:spTree>
    <p:extLst>
      <p:ext uri="{BB962C8B-B14F-4D97-AF65-F5344CB8AC3E}">
        <p14:creationId xmlns:p14="http://schemas.microsoft.com/office/powerpoint/2010/main" val="781992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2F4ACF-4DD5-42FB-A7F8-39B9F6F561AB}"/>
              </a:ext>
            </a:extLst>
          </p:cNvPr>
          <p:cNvSpPr>
            <a:spLocks noGrp="1"/>
          </p:cNvSpPr>
          <p:nvPr>
            <p:ph type="title"/>
          </p:nvPr>
        </p:nvSpPr>
        <p:spPr/>
        <p:txBody>
          <a:bodyPr/>
          <a:lstStyle/>
          <a:p>
            <a:r>
              <a:rPr lang="en-US" altLang="zh-TW" dirty="0" err="1"/>
              <a:t>Jupyter</a:t>
            </a:r>
            <a:r>
              <a:rPr lang="en-US" altLang="zh-TW" dirty="0"/>
              <a:t> Notebook (1/3)</a:t>
            </a:r>
            <a:endParaRPr lang="zh-TW" altLang="en-US" dirty="0"/>
          </a:p>
        </p:txBody>
      </p:sp>
      <p:sp>
        <p:nvSpPr>
          <p:cNvPr id="3" name="內容版面配置區 2">
            <a:extLst>
              <a:ext uri="{FF2B5EF4-FFF2-40B4-BE49-F238E27FC236}">
                <a16:creationId xmlns:a16="http://schemas.microsoft.com/office/drawing/2014/main" id="{6121187E-FE9F-48E5-890C-C8FB399AC569}"/>
              </a:ext>
            </a:extLst>
          </p:cNvPr>
          <p:cNvSpPr>
            <a:spLocks noGrp="1"/>
          </p:cNvSpPr>
          <p:nvPr>
            <p:ph idx="1"/>
          </p:nvPr>
        </p:nvSpPr>
        <p:spPr/>
        <p:txBody>
          <a:bodyPr/>
          <a:lstStyle/>
          <a:p>
            <a:r>
              <a:rPr lang="zh-TW" altLang="en-US" dirty="0"/>
              <a:t>基於網頁的互動式計算環境，能在編寫程式時利用其直譯式的特性，達到高互動執行結果。</a:t>
            </a:r>
            <a:endParaRPr lang="en-US" altLang="zh-TW" dirty="0"/>
          </a:p>
          <a:p>
            <a:pPr lvl="1"/>
            <a:endParaRPr lang="zh-TW" altLang="en-US" dirty="0"/>
          </a:p>
        </p:txBody>
      </p:sp>
      <p:sp>
        <p:nvSpPr>
          <p:cNvPr id="4" name="投影片編號版面配置區 3">
            <a:extLst>
              <a:ext uri="{FF2B5EF4-FFF2-40B4-BE49-F238E27FC236}">
                <a16:creationId xmlns:a16="http://schemas.microsoft.com/office/drawing/2014/main" id="{558E63A9-AE93-4F4B-9924-431B83C8E993}"/>
              </a:ext>
            </a:extLst>
          </p:cNvPr>
          <p:cNvSpPr>
            <a:spLocks noGrp="1"/>
          </p:cNvSpPr>
          <p:nvPr>
            <p:ph type="sldNum" sz="quarter" idx="12"/>
          </p:nvPr>
        </p:nvSpPr>
        <p:spPr/>
        <p:txBody>
          <a:bodyPr/>
          <a:lstStyle/>
          <a:p>
            <a:fld id="{A0B59302-35AD-44E9-AC3C-8D1DAE3511F1}" type="slidenum">
              <a:rPr lang="zh-TW" altLang="en-US" smtClean="0"/>
              <a:pPr/>
              <a:t>38</a:t>
            </a:fld>
            <a:endParaRPr lang="zh-TW" altLang="en-US" dirty="0"/>
          </a:p>
        </p:txBody>
      </p:sp>
      <p:pic>
        <p:nvPicPr>
          <p:cNvPr id="5" name="圖片 4">
            <a:extLst>
              <a:ext uri="{FF2B5EF4-FFF2-40B4-BE49-F238E27FC236}">
                <a16:creationId xmlns:a16="http://schemas.microsoft.com/office/drawing/2014/main" id="{5B86FBDE-7D8F-4504-B6C6-180341397569}"/>
              </a:ext>
            </a:extLst>
          </p:cNvPr>
          <p:cNvPicPr>
            <a:picLocks noChangeAspect="1"/>
          </p:cNvPicPr>
          <p:nvPr/>
        </p:nvPicPr>
        <p:blipFill rotWithShape="1">
          <a:blip r:embed="rId2"/>
          <a:srcRect b="16292"/>
          <a:stretch/>
        </p:blipFill>
        <p:spPr>
          <a:xfrm>
            <a:off x="2890345" y="2960093"/>
            <a:ext cx="8085146" cy="3757696"/>
          </a:xfrm>
          <a:prstGeom prst="rect">
            <a:avLst/>
          </a:prstGeom>
        </p:spPr>
      </p:pic>
      <p:sp>
        <p:nvSpPr>
          <p:cNvPr id="6" name="語音泡泡: 圓角矩形 5">
            <a:extLst>
              <a:ext uri="{FF2B5EF4-FFF2-40B4-BE49-F238E27FC236}">
                <a16:creationId xmlns:a16="http://schemas.microsoft.com/office/drawing/2014/main" id="{F4222908-572F-445E-B537-479D96910DE3}"/>
              </a:ext>
            </a:extLst>
          </p:cNvPr>
          <p:cNvSpPr/>
          <p:nvPr/>
        </p:nvSpPr>
        <p:spPr>
          <a:xfrm>
            <a:off x="4731408" y="5556738"/>
            <a:ext cx="3081916" cy="958362"/>
          </a:xfrm>
          <a:prstGeom prst="wedgeRoundRectCallout">
            <a:avLst>
              <a:gd name="adj1" fmla="val -63576"/>
              <a:gd name="adj2" fmla="val -33054"/>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初始路徑為</a:t>
            </a:r>
            <a:endParaRPr lang="en-US" altLang="zh-TW" sz="2400" dirty="0">
              <a:latin typeface="華康中特圓體" panose="020F0809000000000000" pitchFamily="49" charset="-120"/>
              <a:ea typeface="華康中特圓體" panose="020F0809000000000000" pitchFamily="49" charset="-120"/>
            </a:endParaRPr>
          </a:p>
          <a:p>
            <a:pPr algn="ctr"/>
            <a:r>
              <a:rPr lang="en-US" altLang="zh-TW" sz="2400" dirty="0">
                <a:latin typeface="華康中特圓體" panose="020F0809000000000000" pitchFamily="49" charset="-120"/>
                <a:ea typeface="華康中特圓體" panose="020F0809000000000000" pitchFamily="49" charset="-120"/>
              </a:rPr>
              <a:t>C:\Users\</a:t>
            </a:r>
            <a:r>
              <a:rPr lang="zh-TW" altLang="en-US" sz="2400" dirty="0">
                <a:latin typeface="華康中特圓體" panose="020F0809000000000000" pitchFamily="49" charset="-120"/>
                <a:ea typeface="華康中特圓體" panose="020F0809000000000000" pitchFamily="49" charset="-120"/>
              </a:rPr>
              <a:t>帳號名稱</a:t>
            </a:r>
            <a:endParaRPr lang="en-US" altLang="zh-TW" sz="2400" dirty="0">
              <a:latin typeface="華康中特圓體" panose="020F0809000000000000" pitchFamily="49" charset="-120"/>
              <a:ea typeface="華康中特圓體" panose="020F0809000000000000" pitchFamily="49" charset="-120"/>
            </a:endParaRPr>
          </a:p>
        </p:txBody>
      </p:sp>
      <p:sp>
        <p:nvSpPr>
          <p:cNvPr id="7" name="語音泡泡: 圓角矩形 6">
            <a:extLst>
              <a:ext uri="{FF2B5EF4-FFF2-40B4-BE49-F238E27FC236}">
                <a16:creationId xmlns:a16="http://schemas.microsoft.com/office/drawing/2014/main" id="{4B90EF5A-A259-4F93-8DA0-C4070CC48B6D}"/>
              </a:ext>
            </a:extLst>
          </p:cNvPr>
          <p:cNvSpPr/>
          <p:nvPr/>
        </p:nvSpPr>
        <p:spPr>
          <a:xfrm>
            <a:off x="7416430" y="4838941"/>
            <a:ext cx="1577370" cy="622759"/>
          </a:xfrm>
          <a:prstGeom prst="wedgeRoundRectCallout">
            <a:avLst>
              <a:gd name="adj1" fmla="val 62259"/>
              <a:gd name="adj2" fmla="val -6268"/>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上傳檔案</a:t>
            </a:r>
            <a:endParaRPr lang="en-US" altLang="zh-TW" sz="2400" dirty="0">
              <a:latin typeface="華康中特圓體" panose="020F0809000000000000" pitchFamily="49" charset="-120"/>
              <a:ea typeface="華康中特圓體" panose="020F0809000000000000" pitchFamily="49" charset="-120"/>
            </a:endParaRPr>
          </a:p>
        </p:txBody>
      </p:sp>
      <p:sp>
        <p:nvSpPr>
          <p:cNvPr id="8" name="語音泡泡: 圓角矩形 7">
            <a:extLst>
              <a:ext uri="{FF2B5EF4-FFF2-40B4-BE49-F238E27FC236}">
                <a16:creationId xmlns:a16="http://schemas.microsoft.com/office/drawing/2014/main" id="{CF265AD0-EF25-4C17-8585-87BA21FAAE16}"/>
              </a:ext>
            </a:extLst>
          </p:cNvPr>
          <p:cNvSpPr/>
          <p:nvPr/>
        </p:nvSpPr>
        <p:spPr>
          <a:xfrm>
            <a:off x="9107170" y="3929501"/>
            <a:ext cx="1577370" cy="909440"/>
          </a:xfrm>
          <a:prstGeom prst="wedgeRoundRectCallout">
            <a:avLst>
              <a:gd name="adj1" fmla="val 18473"/>
              <a:gd name="adj2" fmla="val 78233"/>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建立檔案或資料夾</a:t>
            </a:r>
            <a:endParaRPr lang="en-US" altLang="zh-TW" sz="2400" dirty="0">
              <a:latin typeface="華康中特圓體" panose="020F0809000000000000" pitchFamily="49" charset="-120"/>
              <a:ea typeface="華康中特圓體" panose="020F0809000000000000" pitchFamily="49" charset="-120"/>
            </a:endParaRPr>
          </a:p>
        </p:txBody>
      </p:sp>
      <p:sp>
        <p:nvSpPr>
          <p:cNvPr id="9" name="語音泡泡: 圓角矩形 8">
            <a:extLst>
              <a:ext uri="{FF2B5EF4-FFF2-40B4-BE49-F238E27FC236}">
                <a16:creationId xmlns:a16="http://schemas.microsoft.com/office/drawing/2014/main" id="{67E85228-AE87-41EE-AD9A-C24BB14F2E4E}"/>
              </a:ext>
            </a:extLst>
          </p:cNvPr>
          <p:cNvSpPr/>
          <p:nvPr/>
        </p:nvSpPr>
        <p:spPr>
          <a:xfrm>
            <a:off x="6144233" y="3300614"/>
            <a:ext cx="1577370" cy="557718"/>
          </a:xfrm>
          <a:prstGeom prst="wedgeRoundRectCallout">
            <a:avLst>
              <a:gd name="adj1" fmla="val -78349"/>
              <a:gd name="adj2" fmla="val -14209"/>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本機網址</a:t>
            </a:r>
            <a:endParaRPr lang="en-US" altLang="zh-TW" sz="2400" dirty="0">
              <a:latin typeface="華康中特圓體" panose="020F0809000000000000" pitchFamily="49" charset="-120"/>
              <a:ea typeface="華康中特圓體" panose="020F0809000000000000" pitchFamily="49" charset="-120"/>
            </a:endParaRPr>
          </a:p>
        </p:txBody>
      </p:sp>
    </p:spTree>
    <p:extLst>
      <p:ext uri="{BB962C8B-B14F-4D97-AF65-F5344CB8AC3E}">
        <p14:creationId xmlns:p14="http://schemas.microsoft.com/office/powerpoint/2010/main" val="498871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B20EF1-267D-4179-8D31-2BE1E63CAA14}"/>
              </a:ext>
            </a:extLst>
          </p:cNvPr>
          <p:cNvSpPr>
            <a:spLocks noGrp="1"/>
          </p:cNvSpPr>
          <p:nvPr>
            <p:ph type="title"/>
          </p:nvPr>
        </p:nvSpPr>
        <p:spPr/>
        <p:txBody>
          <a:bodyPr/>
          <a:lstStyle/>
          <a:p>
            <a:r>
              <a:rPr lang="en-US" altLang="zh-TW" dirty="0" err="1"/>
              <a:t>Jupyter</a:t>
            </a:r>
            <a:r>
              <a:rPr lang="en-US" altLang="zh-TW" dirty="0"/>
              <a:t> Notebook (2/3)</a:t>
            </a:r>
            <a:endParaRPr lang="zh-TW" altLang="en-US" dirty="0"/>
          </a:p>
        </p:txBody>
      </p:sp>
      <p:sp>
        <p:nvSpPr>
          <p:cNvPr id="3" name="內容版面配置區 2">
            <a:extLst>
              <a:ext uri="{FF2B5EF4-FFF2-40B4-BE49-F238E27FC236}">
                <a16:creationId xmlns:a16="http://schemas.microsoft.com/office/drawing/2014/main" id="{7B269871-556D-4804-843B-19FBD38160E9}"/>
              </a:ext>
            </a:extLst>
          </p:cNvPr>
          <p:cNvSpPr>
            <a:spLocks noGrp="1"/>
          </p:cNvSpPr>
          <p:nvPr>
            <p:ph idx="1"/>
          </p:nvPr>
        </p:nvSpPr>
        <p:spPr/>
        <p:txBody>
          <a:bodyPr/>
          <a:lstStyle/>
          <a:p>
            <a:r>
              <a:rPr lang="en-US" altLang="zh-TW" dirty="0" err="1"/>
              <a:t>Jupyter</a:t>
            </a:r>
            <a:r>
              <a:rPr lang="en-US" altLang="zh-TW" dirty="0"/>
              <a:t> Notebook </a:t>
            </a:r>
            <a:r>
              <a:rPr lang="zh-TW" altLang="en-US" dirty="0"/>
              <a:t>主要包含兩個組成：</a:t>
            </a:r>
            <a:endParaRPr lang="en-US" altLang="zh-TW" dirty="0"/>
          </a:p>
          <a:p>
            <a:pPr lvl="1"/>
            <a:r>
              <a:rPr lang="zh-TW" altLang="en-US" dirty="0"/>
              <a:t>網頁應用</a:t>
            </a:r>
            <a:r>
              <a:rPr lang="en-US" altLang="zh-TW" dirty="0"/>
              <a:t>(web application)</a:t>
            </a:r>
            <a:r>
              <a:rPr lang="zh-TW" altLang="en-US" dirty="0"/>
              <a:t>：基於網頁瀏覽器的互動創作及應用工具，包括可以計算、文件創作及豐富的多媒體輸出。</a:t>
            </a:r>
          </a:p>
          <a:p>
            <a:pPr lvl="1"/>
            <a:endParaRPr lang="en-US" altLang="zh-TW" dirty="0"/>
          </a:p>
          <a:p>
            <a:pPr lvl="1"/>
            <a:r>
              <a:rPr lang="zh-TW" altLang="en-US" dirty="0"/>
              <a:t>筆記本文件</a:t>
            </a:r>
            <a:r>
              <a:rPr lang="en-US" altLang="zh-TW" dirty="0"/>
              <a:t>(notebook documents)</a:t>
            </a:r>
            <a:r>
              <a:rPr lang="zh-TW" altLang="en-US" dirty="0"/>
              <a:t>：顯示所有前述網頁應用當中的內容，包括計算的輸入</a:t>
            </a:r>
            <a:r>
              <a:rPr lang="en-US" altLang="zh-TW" dirty="0"/>
              <a:t>/</a:t>
            </a:r>
            <a:r>
              <a:rPr lang="zh-TW" altLang="en-US" dirty="0"/>
              <a:t>輸出、文件說明</a:t>
            </a:r>
            <a:r>
              <a:rPr lang="en-US" altLang="zh-TW" dirty="0"/>
              <a:t>/</a:t>
            </a:r>
            <a:r>
              <a:rPr lang="zh-TW" altLang="en-US" dirty="0"/>
              <a:t>解釋、數學運算及運算式、圖片及所有豐富多媒體內容。</a:t>
            </a:r>
          </a:p>
          <a:p>
            <a:endParaRPr lang="zh-TW" altLang="en-US" dirty="0"/>
          </a:p>
        </p:txBody>
      </p:sp>
      <p:sp>
        <p:nvSpPr>
          <p:cNvPr id="4" name="投影片編號版面配置區 3">
            <a:extLst>
              <a:ext uri="{FF2B5EF4-FFF2-40B4-BE49-F238E27FC236}">
                <a16:creationId xmlns:a16="http://schemas.microsoft.com/office/drawing/2014/main" id="{A478F7AE-BA97-4966-83D8-9C2B14AC425F}"/>
              </a:ext>
            </a:extLst>
          </p:cNvPr>
          <p:cNvSpPr>
            <a:spLocks noGrp="1"/>
          </p:cNvSpPr>
          <p:nvPr>
            <p:ph type="sldNum" sz="quarter" idx="12"/>
          </p:nvPr>
        </p:nvSpPr>
        <p:spPr/>
        <p:txBody>
          <a:bodyPr/>
          <a:lstStyle/>
          <a:p>
            <a:fld id="{A0B59302-35AD-44E9-AC3C-8D1DAE3511F1}" type="slidenum">
              <a:rPr lang="zh-TW" altLang="en-US" smtClean="0"/>
              <a:pPr/>
              <a:t>39</a:t>
            </a:fld>
            <a:endParaRPr lang="zh-TW" altLang="en-US" dirty="0"/>
          </a:p>
        </p:txBody>
      </p:sp>
    </p:spTree>
    <p:extLst>
      <p:ext uri="{BB962C8B-B14F-4D97-AF65-F5344CB8AC3E}">
        <p14:creationId xmlns:p14="http://schemas.microsoft.com/office/powerpoint/2010/main" val="1224517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05C2C-82AC-4415-AFDB-0FC209E0DD00}"/>
              </a:ext>
            </a:extLst>
          </p:cNvPr>
          <p:cNvSpPr>
            <a:spLocks noGrp="1"/>
          </p:cNvSpPr>
          <p:nvPr>
            <p:ph type="title"/>
          </p:nvPr>
        </p:nvSpPr>
        <p:spPr/>
        <p:txBody>
          <a:bodyPr/>
          <a:lstStyle/>
          <a:p>
            <a:r>
              <a:rPr lang="en-US" altLang="zh-TW" dirty="0" err="1"/>
              <a:t>Jupyter</a:t>
            </a:r>
            <a:r>
              <a:rPr lang="en-US" altLang="zh-TW" dirty="0"/>
              <a:t> Notebook (3/3)</a:t>
            </a:r>
            <a:endParaRPr lang="zh-TW" altLang="en-US" dirty="0"/>
          </a:p>
        </p:txBody>
      </p:sp>
      <p:sp>
        <p:nvSpPr>
          <p:cNvPr id="4" name="投影片編號版面配置區 3">
            <a:extLst>
              <a:ext uri="{FF2B5EF4-FFF2-40B4-BE49-F238E27FC236}">
                <a16:creationId xmlns:a16="http://schemas.microsoft.com/office/drawing/2014/main" id="{0617A08D-E111-4C32-97F7-595939084DFB}"/>
              </a:ext>
            </a:extLst>
          </p:cNvPr>
          <p:cNvSpPr>
            <a:spLocks noGrp="1"/>
          </p:cNvSpPr>
          <p:nvPr>
            <p:ph type="sldNum" sz="quarter" idx="12"/>
          </p:nvPr>
        </p:nvSpPr>
        <p:spPr/>
        <p:txBody>
          <a:bodyPr/>
          <a:lstStyle/>
          <a:p>
            <a:fld id="{A0B59302-35AD-44E9-AC3C-8D1DAE3511F1}" type="slidenum">
              <a:rPr lang="zh-TW" altLang="en-US" smtClean="0"/>
              <a:pPr/>
              <a:t>40</a:t>
            </a:fld>
            <a:endParaRPr lang="zh-TW" altLang="en-US" dirty="0"/>
          </a:p>
        </p:txBody>
      </p:sp>
      <p:pic>
        <p:nvPicPr>
          <p:cNvPr id="5" name="圖片 4">
            <a:extLst>
              <a:ext uri="{FF2B5EF4-FFF2-40B4-BE49-F238E27FC236}">
                <a16:creationId xmlns:a16="http://schemas.microsoft.com/office/drawing/2014/main" id="{FAECD2A8-1925-4457-9D9F-862F84112F58}"/>
              </a:ext>
            </a:extLst>
          </p:cNvPr>
          <p:cNvPicPr>
            <a:picLocks noChangeAspect="1"/>
          </p:cNvPicPr>
          <p:nvPr/>
        </p:nvPicPr>
        <p:blipFill>
          <a:blip r:embed="rId2"/>
          <a:stretch>
            <a:fillRect/>
          </a:stretch>
        </p:blipFill>
        <p:spPr>
          <a:xfrm>
            <a:off x="81714" y="1811615"/>
            <a:ext cx="12028571" cy="4447619"/>
          </a:xfrm>
          <a:prstGeom prst="rect">
            <a:avLst/>
          </a:prstGeom>
          <a:ln w="12700">
            <a:solidFill>
              <a:schemeClr val="tx1">
                <a:lumMod val="65000"/>
                <a:lumOff val="35000"/>
              </a:schemeClr>
            </a:solidFill>
          </a:ln>
        </p:spPr>
      </p:pic>
      <p:sp>
        <p:nvSpPr>
          <p:cNvPr id="6" name="語音泡泡: 圓角矩形 5">
            <a:extLst>
              <a:ext uri="{FF2B5EF4-FFF2-40B4-BE49-F238E27FC236}">
                <a16:creationId xmlns:a16="http://schemas.microsoft.com/office/drawing/2014/main" id="{297BD176-1E90-43FB-8653-AABB43E16752}"/>
              </a:ext>
            </a:extLst>
          </p:cNvPr>
          <p:cNvSpPr/>
          <p:nvPr/>
        </p:nvSpPr>
        <p:spPr>
          <a:xfrm>
            <a:off x="4019276" y="1861291"/>
            <a:ext cx="3198647" cy="498314"/>
          </a:xfrm>
          <a:prstGeom prst="wedgeRoundRectCallout">
            <a:avLst>
              <a:gd name="adj1" fmla="val -64056"/>
              <a:gd name="adj2" fmla="val -7232"/>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按此可修改檔案名稱</a:t>
            </a:r>
            <a:endParaRPr lang="en-US" altLang="zh-TW" sz="2400" dirty="0">
              <a:latin typeface="華康中特圓體" panose="020F0809000000000000" pitchFamily="49" charset="-120"/>
              <a:ea typeface="華康中特圓體" panose="020F0809000000000000" pitchFamily="49" charset="-120"/>
            </a:endParaRPr>
          </a:p>
        </p:txBody>
      </p:sp>
      <p:sp>
        <p:nvSpPr>
          <p:cNvPr id="7" name="語音泡泡: 圓角矩形 6">
            <a:extLst>
              <a:ext uri="{FF2B5EF4-FFF2-40B4-BE49-F238E27FC236}">
                <a16:creationId xmlns:a16="http://schemas.microsoft.com/office/drawing/2014/main" id="{B4FBF8B6-F8CE-4B90-9632-849072223544}"/>
              </a:ext>
            </a:extLst>
          </p:cNvPr>
          <p:cNvSpPr/>
          <p:nvPr/>
        </p:nvSpPr>
        <p:spPr>
          <a:xfrm>
            <a:off x="4959617" y="4153776"/>
            <a:ext cx="4602672" cy="498314"/>
          </a:xfrm>
          <a:prstGeom prst="wedgeRoundRectCallout">
            <a:avLst>
              <a:gd name="adj1" fmla="val -60674"/>
              <a:gd name="adj2" fmla="val -3328"/>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在單元格（</a:t>
            </a:r>
            <a:r>
              <a:rPr lang="en-US" altLang="zh-TW" sz="2400" dirty="0">
                <a:latin typeface="Swis721 Md BT" panose="020B0604020202020204" pitchFamily="34" charset="0"/>
                <a:ea typeface="華康中特圓體" panose="020F0809000000000000" pitchFamily="49" charset="-120"/>
              </a:rPr>
              <a:t>cell</a:t>
            </a:r>
            <a:r>
              <a:rPr lang="zh-TW" altLang="en-US" sz="2400" dirty="0">
                <a:latin typeface="華康中特圓體" panose="020F0809000000000000" pitchFamily="49" charset="-120"/>
                <a:ea typeface="華康中特圓體" panose="020F0809000000000000" pitchFamily="49" charset="-120"/>
              </a:rPr>
              <a:t>）內撰寫程式碼</a:t>
            </a:r>
            <a:endParaRPr lang="en-US" altLang="zh-TW" sz="2400" dirty="0">
              <a:latin typeface="華康中特圓體" panose="020F0809000000000000" pitchFamily="49" charset="-120"/>
              <a:ea typeface="華康中特圓體" panose="020F0809000000000000" pitchFamily="49" charset="-120"/>
            </a:endParaRPr>
          </a:p>
        </p:txBody>
      </p:sp>
      <p:sp>
        <p:nvSpPr>
          <p:cNvPr id="8" name="語音泡泡: 圓角矩形 7">
            <a:extLst>
              <a:ext uri="{FF2B5EF4-FFF2-40B4-BE49-F238E27FC236}">
                <a16:creationId xmlns:a16="http://schemas.microsoft.com/office/drawing/2014/main" id="{A8A7AE43-E389-4829-B5A7-6FA89CAD9AF8}"/>
              </a:ext>
            </a:extLst>
          </p:cNvPr>
          <p:cNvSpPr/>
          <p:nvPr/>
        </p:nvSpPr>
        <p:spPr>
          <a:xfrm>
            <a:off x="345464" y="4419668"/>
            <a:ext cx="1045592" cy="807395"/>
          </a:xfrm>
          <a:prstGeom prst="wedgeRoundRectCallout">
            <a:avLst>
              <a:gd name="adj1" fmla="val 137830"/>
              <a:gd name="adj2" fmla="val 34009"/>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執行結果</a:t>
            </a:r>
            <a:endParaRPr lang="en-US" altLang="zh-TW" sz="2400" dirty="0">
              <a:latin typeface="華康中特圓體" panose="020F0809000000000000" pitchFamily="49" charset="-120"/>
              <a:ea typeface="華康中特圓體" panose="020F0809000000000000" pitchFamily="49" charset="-120"/>
            </a:endParaRPr>
          </a:p>
        </p:txBody>
      </p:sp>
      <p:sp>
        <p:nvSpPr>
          <p:cNvPr id="9" name="語音泡泡: 圓角矩形 8">
            <a:extLst>
              <a:ext uri="{FF2B5EF4-FFF2-40B4-BE49-F238E27FC236}">
                <a16:creationId xmlns:a16="http://schemas.microsoft.com/office/drawing/2014/main" id="{A0347E8F-74E6-4B4B-B73F-0E29625269AE}"/>
              </a:ext>
            </a:extLst>
          </p:cNvPr>
          <p:cNvSpPr/>
          <p:nvPr/>
        </p:nvSpPr>
        <p:spPr>
          <a:xfrm>
            <a:off x="4959617" y="5462089"/>
            <a:ext cx="2258306" cy="498314"/>
          </a:xfrm>
          <a:prstGeom prst="wedgeRoundRectCallout">
            <a:avLst>
              <a:gd name="adj1" fmla="val -74394"/>
              <a:gd name="adj2" fmla="val -3328"/>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下一個單元格</a:t>
            </a:r>
            <a:endParaRPr lang="en-US" altLang="zh-TW" sz="2400" dirty="0">
              <a:latin typeface="華康中特圓體" panose="020F0809000000000000" pitchFamily="49" charset="-120"/>
              <a:ea typeface="華康中特圓體" panose="020F0809000000000000" pitchFamily="49" charset="-120"/>
            </a:endParaRPr>
          </a:p>
        </p:txBody>
      </p:sp>
      <p:sp>
        <p:nvSpPr>
          <p:cNvPr id="10" name="矩形 9">
            <a:extLst>
              <a:ext uri="{FF2B5EF4-FFF2-40B4-BE49-F238E27FC236}">
                <a16:creationId xmlns:a16="http://schemas.microsoft.com/office/drawing/2014/main" id="{5FF5A8C5-7528-4332-84F6-969CFC5493D7}"/>
              </a:ext>
            </a:extLst>
          </p:cNvPr>
          <p:cNvSpPr/>
          <p:nvPr/>
        </p:nvSpPr>
        <p:spPr>
          <a:xfrm>
            <a:off x="3754877" y="2882698"/>
            <a:ext cx="885217" cy="498314"/>
          </a:xfrm>
          <a:prstGeom prst="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58948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r>
              <a:rPr lang="en-US" altLang="zh-TW" dirty="0">
                <a:solidFill>
                  <a:schemeClr val="accent2"/>
                </a:solidFill>
              </a:rPr>
              <a:t>Visual Studio Code </a:t>
            </a:r>
            <a:r>
              <a:rPr lang="zh-TW" altLang="en-US" dirty="0">
                <a:solidFill>
                  <a:schemeClr val="accent2"/>
                </a:solidFill>
              </a:rPr>
              <a:t>編輯器</a:t>
            </a:r>
            <a:endParaRPr lang="en-US" altLang="zh-TW" dirty="0">
              <a:solidFill>
                <a:schemeClr val="accent2"/>
              </a:solidFill>
            </a:endParaRPr>
          </a:p>
          <a:p>
            <a:pPr lvl="1"/>
            <a:r>
              <a:rPr lang="zh-TW" altLang="en-US" dirty="0"/>
              <a:t>安裝與使用 </a:t>
            </a:r>
            <a:r>
              <a:rPr lang="en-US" altLang="zh-TW" dirty="0"/>
              <a:t>VS Code</a:t>
            </a:r>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41</a:t>
            </a:fld>
            <a:endParaRPr lang="zh-TW" altLang="en-US" dirty="0"/>
          </a:p>
        </p:txBody>
      </p:sp>
    </p:spTree>
    <p:extLst>
      <p:ext uri="{BB962C8B-B14F-4D97-AF65-F5344CB8AC3E}">
        <p14:creationId xmlns:p14="http://schemas.microsoft.com/office/powerpoint/2010/main" val="3762934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hlinkClick r:id="rId3"/>
              </a:rPr>
              <a:t>Visual Studio Code</a:t>
            </a:r>
            <a:r>
              <a:rPr lang="en-US" altLang="zh-TW" dirty="0"/>
              <a:t> (VS Code)</a:t>
            </a:r>
            <a:endParaRPr lang="zh-TW" altLang="en-US" dirty="0"/>
          </a:p>
        </p:txBody>
      </p:sp>
      <p:sp>
        <p:nvSpPr>
          <p:cNvPr id="4" name="投影片編號版面配置區 3"/>
          <p:cNvSpPr>
            <a:spLocks noGrp="1"/>
          </p:cNvSpPr>
          <p:nvPr>
            <p:ph type="sldNum" sz="quarter" idx="12"/>
          </p:nvPr>
        </p:nvSpPr>
        <p:spPr/>
        <p:txBody>
          <a:bodyPr/>
          <a:lstStyle/>
          <a:p>
            <a:fld id="{A0B59302-35AD-44E9-AC3C-8D1DAE3511F1}" type="slidenum">
              <a:rPr lang="zh-TW" altLang="en-US" smtClean="0"/>
              <a:pPr/>
              <a:t>42</a:t>
            </a:fld>
            <a:endParaRPr lang="zh-TW" altLang="en-US" dirty="0"/>
          </a:p>
        </p:txBody>
      </p:sp>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423" y="2458859"/>
            <a:ext cx="5286056" cy="3151846"/>
          </a:xfrm>
          <a:prstGeom prst="rect">
            <a:avLst/>
          </a:prstGeom>
        </p:spPr>
      </p:pic>
      <p:grpSp>
        <p:nvGrpSpPr>
          <p:cNvPr id="8" name="群組 7">
            <a:extLst>
              <a:ext uri="{FF2B5EF4-FFF2-40B4-BE49-F238E27FC236}">
                <a16:creationId xmlns:a16="http://schemas.microsoft.com/office/drawing/2014/main" id="{090346D9-3CCF-42BD-9617-294015E5D8D4}"/>
              </a:ext>
            </a:extLst>
          </p:cNvPr>
          <p:cNvGrpSpPr/>
          <p:nvPr/>
        </p:nvGrpSpPr>
        <p:grpSpPr>
          <a:xfrm>
            <a:off x="5935654" y="1961705"/>
            <a:ext cx="6066634" cy="4146669"/>
            <a:chOff x="5935654" y="1961705"/>
            <a:chExt cx="6066634" cy="4146669"/>
          </a:xfrm>
        </p:grpSpPr>
        <p:pic>
          <p:nvPicPr>
            <p:cNvPr id="6" name="圖片 5">
              <a:extLst>
                <a:ext uri="{FF2B5EF4-FFF2-40B4-BE49-F238E27FC236}">
                  <a16:creationId xmlns:a16="http://schemas.microsoft.com/office/drawing/2014/main" id="{36DC8D5F-32EF-4B67-82D0-0A6BCF0B8828}"/>
                </a:ext>
              </a:extLst>
            </p:cNvPr>
            <p:cNvPicPr>
              <a:picLocks noChangeAspect="1"/>
            </p:cNvPicPr>
            <p:nvPr/>
          </p:nvPicPr>
          <p:blipFill>
            <a:blip r:embed="rId5"/>
            <a:stretch>
              <a:fillRect/>
            </a:stretch>
          </p:blipFill>
          <p:spPr>
            <a:xfrm>
              <a:off x="5935654" y="1961705"/>
              <a:ext cx="6066634" cy="4146669"/>
            </a:xfrm>
            <a:prstGeom prst="rect">
              <a:avLst/>
            </a:prstGeom>
          </p:spPr>
        </p:pic>
        <p:sp>
          <p:nvSpPr>
            <p:cNvPr id="7" name="文字方塊 6"/>
            <p:cNvSpPr txBox="1"/>
            <p:nvPr/>
          </p:nvSpPr>
          <p:spPr>
            <a:xfrm>
              <a:off x="10877941" y="2347997"/>
              <a:ext cx="990209" cy="461665"/>
            </a:xfrm>
            <a:prstGeom prst="rect">
              <a:avLst/>
            </a:prstGeom>
            <a:noFill/>
          </p:spPr>
          <p:txBody>
            <a:bodyPr wrap="square" rtlCol="0">
              <a:spAutoFit/>
            </a:bodyPr>
            <a:lstStyle/>
            <a:p>
              <a:pPr algn="ctr"/>
              <a:r>
                <a:rPr lang="en-US" altLang="zh-TW" sz="2400" dirty="0">
                  <a:solidFill>
                    <a:schemeClr val="bg1"/>
                  </a:solidFill>
                </a:rPr>
                <a:t>2023</a:t>
              </a:r>
              <a:endParaRPr lang="zh-TW" altLang="en-US" sz="2400" dirty="0">
                <a:solidFill>
                  <a:schemeClr val="bg1"/>
                </a:solidFill>
              </a:endParaRPr>
            </a:p>
          </p:txBody>
        </p:sp>
      </p:grpSp>
      <p:sp>
        <p:nvSpPr>
          <p:cNvPr id="9" name="文字方塊 8">
            <a:extLst>
              <a:ext uri="{FF2B5EF4-FFF2-40B4-BE49-F238E27FC236}">
                <a16:creationId xmlns:a16="http://schemas.microsoft.com/office/drawing/2014/main" id="{AFF21264-FD98-4D40-87B0-A3B7E9482B6C}"/>
              </a:ext>
            </a:extLst>
          </p:cNvPr>
          <p:cNvSpPr txBox="1"/>
          <p:nvPr/>
        </p:nvSpPr>
        <p:spPr>
          <a:xfrm>
            <a:off x="7659455" y="6191250"/>
            <a:ext cx="2619031" cy="246221"/>
          </a:xfrm>
          <a:prstGeom prst="rect">
            <a:avLst/>
          </a:prstGeom>
          <a:noFill/>
        </p:spPr>
        <p:txBody>
          <a:bodyPr wrap="square">
            <a:spAutoFit/>
          </a:bodyPr>
          <a:lstStyle/>
          <a:p>
            <a:r>
              <a:rPr lang="en-US" altLang="zh-TW" sz="1000" spc="50" dirty="0">
                <a:effectLst/>
                <a:ea typeface="華康細圓體" panose="020F0309000000000000" pitchFamily="49" charset="-120"/>
              </a:rPr>
              <a:t>https://survey.stackoverflow.co/2023/</a:t>
            </a:r>
            <a:endParaRPr lang="zh-TW" altLang="en-US" sz="1000" dirty="0"/>
          </a:p>
        </p:txBody>
      </p:sp>
    </p:spTree>
    <p:extLst>
      <p:ext uri="{BB962C8B-B14F-4D97-AF65-F5344CB8AC3E}">
        <p14:creationId xmlns:p14="http://schemas.microsoft.com/office/powerpoint/2010/main" val="33414718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21A110-CC4B-4875-AEE8-8857D64437E1}"/>
              </a:ext>
            </a:extLst>
          </p:cNvPr>
          <p:cNvSpPr>
            <a:spLocks noGrp="1"/>
          </p:cNvSpPr>
          <p:nvPr>
            <p:ph type="title"/>
          </p:nvPr>
        </p:nvSpPr>
        <p:spPr/>
        <p:txBody>
          <a:bodyPr/>
          <a:lstStyle/>
          <a:p>
            <a:r>
              <a:rPr lang="en-US" altLang="zh-TW" dirty="0"/>
              <a:t>VS</a:t>
            </a:r>
            <a:r>
              <a:rPr lang="zh-TW" altLang="en-US" dirty="0"/>
              <a:t> </a:t>
            </a:r>
            <a:r>
              <a:rPr lang="en-US" altLang="zh-TW" dirty="0"/>
              <a:t>Code </a:t>
            </a:r>
            <a:r>
              <a:rPr lang="zh-TW" altLang="en-US" dirty="0"/>
              <a:t>特點</a:t>
            </a:r>
          </a:p>
        </p:txBody>
      </p:sp>
      <p:sp>
        <p:nvSpPr>
          <p:cNvPr id="3" name="內容版面配置區 2">
            <a:extLst>
              <a:ext uri="{FF2B5EF4-FFF2-40B4-BE49-F238E27FC236}">
                <a16:creationId xmlns:a16="http://schemas.microsoft.com/office/drawing/2014/main" id="{89C0677F-0661-4622-9E84-ACA3DA4217AD}"/>
              </a:ext>
            </a:extLst>
          </p:cNvPr>
          <p:cNvSpPr>
            <a:spLocks noGrp="1"/>
          </p:cNvSpPr>
          <p:nvPr>
            <p:ph idx="1"/>
          </p:nvPr>
        </p:nvSpPr>
        <p:spPr/>
        <p:txBody>
          <a:bodyPr>
            <a:normAutofit/>
          </a:bodyPr>
          <a:lstStyle/>
          <a:p>
            <a:r>
              <a:rPr lang="zh-TW" altLang="en-US" dirty="0"/>
              <a:t>在操作方面，</a:t>
            </a:r>
            <a:r>
              <a:rPr lang="en-US" altLang="zh-TW" dirty="0"/>
              <a:t>VS Code </a:t>
            </a:r>
            <a:r>
              <a:rPr lang="zh-TW" altLang="en-US" dirty="0"/>
              <a:t>提供</a:t>
            </a:r>
            <a:r>
              <a:rPr lang="zh-TW" altLang="en-US" dirty="0">
                <a:solidFill>
                  <a:schemeClr val="accent4"/>
                </a:solidFill>
              </a:rPr>
              <a:t>語法突顯</a:t>
            </a:r>
            <a:r>
              <a:rPr lang="zh-TW" altLang="en-US" dirty="0"/>
              <a:t>、</a:t>
            </a:r>
            <a:r>
              <a:rPr lang="zh-TW" altLang="en-US" dirty="0">
                <a:solidFill>
                  <a:schemeClr val="accent4"/>
                </a:solidFill>
              </a:rPr>
              <a:t>程式碼自動補全</a:t>
            </a:r>
            <a:r>
              <a:rPr lang="en-US" altLang="zh-TW" dirty="0"/>
              <a:t>(IntelliSense)</a:t>
            </a:r>
            <a:r>
              <a:rPr lang="zh-TW" altLang="en-US" dirty="0"/>
              <a:t>、</a:t>
            </a:r>
            <a:r>
              <a:rPr lang="zh-TW" altLang="en-US" dirty="0">
                <a:solidFill>
                  <a:schemeClr val="accent4"/>
                </a:solidFill>
              </a:rPr>
              <a:t>語法檢查</a:t>
            </a:r>
            <a:r>
              <a:rPr lang="zh-TW" altLang="en-US" dirty="0"/>
              <a:t>等許多方便的功能，且其出色的</a:t>
            </a:r>
            <a:r>
              <a:rPr lang="zh-TW" altLang="en-US" dirty="0">
                <a:solidFill>
                  <a:schemeClr val="accent4"/>
                </a:solidFill>
              </a:rPr>
              <a:t>除錯</a:t>
            </a:r>
            <a:r>
              <a:rPr lang="en-US" altLang="zh-TW" dirty="0"/>
              <a:t>(debug)</a:t>
            </a:r>
            <a:r>
              <a:rPr lang="zh-TW" altLang="en-US" dirty="0"/>
              <a:t>功能也大幅地減少開發時間。</a:t>
            </a:r>
            <a:endParaRPr lang="en-US" altLang="zh-TW" dirty="0"/>
          </a:p>
          <a:p>
            <a:r>
              <a:rPr lang="zh-TW" altLang="en-US" dirty="0"/>
              <a:t>有豐富的</a:t>
            </a:r>
            <a:r>
              <a:rPr lang="zh-TW" altLang="en-US" dirty="0">
                <a:solidFill>
                  <a:schemeClr val="accent4"/>
                </a:solidFill>
              </a:rPr>
              <a:t>免費擴充插件</a:t>
            </a:r>
            <a:r>
              <a:rPr lang="en-US" altLang="zh-TW" dirty="0"/>
              <a:t>(extension)</a:t>
            </a:r>
            <a:r>
              <a:rPr lang="zh-TW" altLang="en-US" dirty="0"/>
              <a:t>，如語言支援、程式碼格式化工具、</a:t>
            </a:r>
            <a:r>
              <a:rPr lang="en-US" altLang="zh-TW" dirty="0"/>
              <a:t>Git </a:t>
            </a:r>
            <a:r>
              <a:rPr lang="zh-TW" altLang="en-US" dirty="0"/>
              <a:t>整合等，可依個人喜好及需求安裝擴充，便於更加高效地進行開發工作。</a:t>
            </a:r>
          </a:p>
          <a:p>
            <a:r>
              <a:rPr lang="zh-TW" altLang="en-US" dirty="0"/>
              <a:t>許多程式語言，包括 </a:t>
            </a:r>
            <a:r>
              <a:rPr lang="en-US" altLang="zh-TW" dirty="0"/>
              <a:t>Python</a:t>
            </a:r>
            <a:r>
              <a:rPr lang="zh-TW" altLang="en-US" dirty="0"/>
              <a:t>、</a:t>
            </a:r>
            <a:r>
              <a:rPr lang="en-US" altLang="zh-TW" dirty="0"/>
              <a:t>C\C++</a:t>
            </a:r>
            <a:r>
              <a:rPr lang="zh-TW" altLang="en-US" dirty="0"/>
              <a:t>、</a:t>
            </a:r>
            <a:r>
              <a:rPr lang="en-US" altLang="zh-TW" dirty="0"/>
              <a:t>Java</a:t>
            </a:r>
            <a:r>
              <a:rPr lang="zh-TW" altLang="en-US" dirty="0"/>
              <a:t>、</a:t>
            </a:r>
            <a:r>
              <a:rPr lang="en-US" altLang="zh-TW" dirty="0"/>
              <a:t>PHP </a:t>
            </a:r>
            <a:r>
              <a:rPr lang="zh-TW" altLang="en-US" dirty="0"/>
              <a:t>等，甚至是 </a:t>
            </a:r>
            <a:r>
              <a:rPr lang="en-US" altLang="zh-TW" dirty="0"/>
              <a:t>Markdown </a:t>
            </a:r>
            <a:r>
              <a:rPr lang="zh-TW" altLang="en-US" dirty="0"/>
              <a:t>文件皆有支援，也有對應的擴充程式可增加開發效率。</a:t>
            </a:r>
          </a:p>
        </p:txBody>
      </p:sp>
      <p:sp>
        <p:nvSpPr>
          <p:cNvPr id="4" name="投影片編號版面配置區 3">
            <a:extLst>
              <a:ext uri="{FF2B5EF4-FFF2-40B4-BE49-F238E27FC236}">
                <a16:creationId xmlns:a16="http://schemas.microsoft.com/office/drawing/2014/main" id="{B033D781-388E-418C-B56D-1DBFF9845DA8}"/>
              </a:ext>
            </a:extLst>
          </p:cNvPr>
          <p:cNvSpPr>
            <a:spLocks noGrp="1"/>
          </p:cNvSpPr>
          <p:nvPr>
            <p:ph type="sldNum" sz="quarter" idx="12"/>
          </p:nvPr>
        </p:nvSpPr>
        <p:spPr/>
        <p:txBody>
          <a:bodyPr/>
          <a:lstStyle/>
          <a:p>
            <a:fld id="{A0B59302-35AD-44E9-AC3C-8D1DAE3511F1}" type="slidenum">
              <a:rPr lang="zh-TW" altLang="en-US" smtClean="0"/>
              <a:pPr/>
              <a:t>43</a:t>
            </a:fld>
            <a:endParaRPr lang="zh-TW" altLang="en-US" dirty="0"/>
          </a:p>
        </p:txBody>
      </p:sp>
      <p:pic>
        <p:nvPicPr>
          <p:cNvPr id="5" name="內容版面配置區 5">
            <a:extLst>
              <a:ext uri="{FF2B5EF4-FFF2-40B4-BE49-F238E27FC236}">
                <a16:creationId xmlns:a16="http://schemas.microsoft.com/office/drawing/2014/main" id="{84E59050-2C44-43DB-A23C-E2B93B977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438" y="720776"/>
            <a:ext cx="1008012" cy="1008012"/>
          </a:xfrm>
          <a:prstGeom prst="rect">
            <a:avLst/>
          </a:prstGeom>
        </p:spPr>
      </p:pic>
    </p:spTree>
    <p:extLst>
      <p:ext uri="{BB962C8B-B14F-4D97-AF65-F5344CB8AC3E}">
        <p14:creationId xmlns:p14="http://schemas.microsoft.com/office/powerpoint/2010/main" val="86442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r>
              <a:rPr lang="en-US" altLang="zh-TW" dirty="0"/>
              <a:t>Visual Studio Code </a:t>
            </a:r>
            <a:r>
              <a:rPr lang="zh-TW" altLang="en-US" dirty="0"/>
              <a:t>編輯器</a:t>
            </a:r>
            <a:endParaRPr lang="en-US" altLang="zh-TW" dirty="0"/>
          </a:p>
          <a:p>
            <a:pPr lvl="1"/>
            <a:r>
              <a:rPr lang="zh-TW" altLang="en-US" dirty="0">
                <a:solidFill>
                  <a:schemeClr val="accent2"/>
                </a:solidFill>
              </a:rPr>
              <a:t>安裝與使用 </a:t>
            </a:r>
            <a:r>
              <a:rPr lang="en-US" altLang="zh-TW" dirty="0">
                <a:solidFill>
                  <a:schemeClr val="accent2"/>
                </a:solidFill>
              </a:rPr>
              <a:t>VS Code</a:t>
            </a:r>
          </a:p>
          <a:p>
            <a:r>
              <a:rPr lang="zh-TW" altLang="en-US" dirty="0"/>
              <a:t>程式設計的邏輯思維</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44</a:t>
            </a:fld>
            <a:endParaRPr lang="zh-TW" altLang="en-US" dirty="0"/>
          </a:p>
        </p:txBody>
      </p:sp>
    </p:spTree>
    <p:extLst>
      <p:ext uri="{BB962C8B-B14F-4D97-AF65-F5344CB8AC3E}">
        <p14:creationId xmlns:p14="http://schemas.microsoft.com/office/powerpoint/2010/main" val="4117594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6FD5A9-CA96-42FB-9D82-C2122EC29E6C}"/>
              </a:ext>
            </a:extLst>
          </p:cNvPr>
          <p:cNvSpPr>
            <a:spLocks noGrp="1"/>
          </p:cNvSpPr>
          <p:nvPr>
            <p:ph type="title"/>
          </p:nvPr>
        </p:nvSpPr>
        <p:spPr/>
        <p:txBody>
          <a:bodyPr/>
          <a:lstStyle/>
          <a:p>
            <a:r>
              <a:rPr lang="zh-TW" altLang="en-US" dirty="0">
                <a:hlinkClick r:id="rId2"/>
              </a:rPr>
              <a:t>線上 </a:t>
            </a:r>
            <a:r>
              <a:rPr lang="en-US" altLang="zh-TW" dirty="0">
                <a:hlinkClick r:id="rId2"/>
              </a:rPr>
              <a:t>VS Code</a:t>
            </a:r>
            <a:endParaRPr lang="zh-TW" altLang="en-US" dirty="0"/>
          </a:p>
        </p:txBody>
      </p:sp>
      <p:sp>
        <p:nvSpPr>
          <p:cNvPr id="4" name="投影片編號版面配置區 3">
            <a:extLst>
              <a:ext uri="{FF2B5EF4-FFF2-40B4-BE49-F238E27FC236}">
                <a16:creationId xmlns:a16="http://schemas.microsoft.com/office/drawing/2014/main" id="{D0F87C19-DC55-4F33-86EE-D48BD9E891F8}"/>
              </a:ext>
            </a:extLst>
          </p:cNvPr>
          <p:cNvSpPr>
            <a:spLocks noGrp="1"/>
          </p:cNvSpPr>
          <p:nvPr>
            <p:ph type="sldNum" sz="quarter" idx="12"/>
          </p:nvPr>
        </p:nvSpPr>
        <p:spPr/>
        <p:txBody>
          <a:bodyPr/>
          <a:lstStyle/>
          <a:p>
            <a:fld id="{A0B59302-35AD-44E9-AC3C-8D1DAE3511F1}" type="slidenum">
              <a:rPr lang="zh-TW" altLang="en-US" smtClean="0"/>
              <a:pPr/>
              <a:t>45</a:t>
            </a:fld>
            <a:endParaRPr lang="zh-TW" altLang="en-US" dirty="0"/>
          </a:p>
        </p:txBody>
      </p:sp>
      <p:pic>
        <p:nvPicPr>
          <p:cNvPr id="6" name="圖片 5">
            <a:extLst>
              <a:ext uri="{FF2B5EF4-FFF2-40B4-BE49-F238E27FC236}">
                <a16:creationId xmlns:a16="http://schemas.microsoft.com/office/drawing/2014/main" id="{9DC8E4BD-CF31-4EFD-A3B3-9C4D00B64EC7}"/>
              </a:ext>
            </a:extLst>
          </p:cNvPr>
          <p:cNvPicPr>
            <a:picLocks noChangeAspect="1"/>
          </p:cNvPicPr>
          <p:nvPr/>
        </p:nvPicPr>
        <p:blipFill>
          <a:blip r:embed="rId3"/>
          <a:stretch>
            <a:fillRect/>
          </a:stretch>
        </p:blipFill>
        <p:spPr>
          <a:xfrm>
            <a:off x="2555030" y="1887382"/>
            <a:ext cx="7081940" cy="4642958"/>
          </a:xfrm>
          <a:prstGeom prst="rect">
            <a:avLst/>
          </a:prstGeom>
        </p:spPr>
      </p:pic>
    </p:spTree>
    <p:extLst>
      <p:ext uri="{BB962C8B-B14F-4D97-AF65-F5344CB8AC3E}">
        <p14:creationId xmlns:p14="http://schemas.microsoft.com/office/powerpoint/2010/main" val="1014256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75012E-20EE-48D2-B7CF-A7A80C2204BD}"/>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(1/7)</a:t>
            </a:r>
            <a:endParaRPr lang="zh-TW" altLang="en-US" dirty="0"/>
          </a:p>
        </p:txBody>
      </p:sp>
      <p:sp>
        <p:nvSpPr>
          <p:cNvPr id="3" name="內容版面配置區 2">
            <a:extLst>
              <a:ext uri="{FF2B5EF4-FFF2-40B4-BE49-F238E27FC236}">
                <a16:creationId xmlns:a16="http://schemas.microsoft.com/office/drawing/2014/main" id="{BDB2A2C6-A4AB-469A-B648-B9FA812FF09B}"/>
              </a:ext>
            </a:extLst>
          </p:cNvPr>
          <p:cNvSpPr>
            <a:spLocks noGrp="1"/>
          </p:cNvSpPr>
          <p:nvPr>
            <p:ph idx="1"/>
          </p:nvPr>
        </p:nvSpPr>
        <p:spPr/>
        <p:txBody>
          <a:bodyPr/>
          <a:lstStyle/>
          <a:p>
            <a:r>
              <a:rPr lang="zh-TW" altLang="en-US" dirty="0"/>
              <a:t>到官網下載 </a:t>
            </a:r>
            <a:r>
              <a:rPr lang="en-US" altLang="zh-TW" dirty="0"/>
              <a:t>VS Code</a:t>
            </a:r>
            <a:r>
              <a:rPr lang="zh-TW" altLang="en-US" dirty="0"/>
              <a:t> 安裝檔</a:t>
            </a:r>
            <a:endParaRPr lang="en-US" altLang="zh-TW" dirty="0"/>
          </a:p>
          <a:p>
            <a:pPr lvl="1"/>
            <a:r>
              <a:rPr lang="en-US" altLang="zh-TW" dirty="0"/>
              <a:t>VSCodeUserSetup-x64-1.79.2.exe (≈</a:t>
            </a:r>
            <a:r>
              <a:rPr lang="zh-TW" altLang="en-US" dirty="0"/>
              <a:t> </a:t>
            </a:r>
            <a:r>
              <a:rPr lang="en-US" altLang="zh-TW" dirty="0"/>
              <a:t>90 MB)</a:t>
            </a:r>
            <a:endParaRPr lang="zh-TW" altLang="en-US" dirty="0"/>
          </a:p>
        </p:txBody>
      </p:sp>
      <p:sp>
        <p:nvSpPr>
          <p:cNvPr id="4" name="投影片編號版面配置區 3">
            <a:extLst>
              <a:ext uri="{FF2B5EF4-FFF2-40B4-BE49-F238E27FC236}">
                <a16:creationId xmlns:a16="http://schemas.microsoft.com/office/drawing/2014/main" id="{AC862D9B-19CC-4CF6-B7E7-DC54A0F6AAC8}"/>
              </a:ext>
            </a:extLst>
          </p:cNvPr>
          <p:cNvSpPr>
            <a:spLocks noGrp="1"/>
          </p:cNvSpPr>
          <p:nvPr>
            <p:ph type="sldNum" sz="quarter" idx="12"/>
          </p:nvPr>
        </p:nvSpPr>
        <p:spPr/>
        <p:txBody>
          <a:bodyPr/>
          <a:lstStyle/>
          <a:p>
            <a:fld id="{A0B59302-35AD-44E9-AC3C-8D1DAE3511F1}" type="slidenum">
              <a:rPr lang="zh-TW" altLang="en-US" smtClean="0"/>
              <a:pPr/>
              <a:t>46</a:t>
            </a:fld>
            <a:endParaRPr lang="zh-TW" altLang="en-US" dirty="0"/>
          </a:p>
        </p:txBody>
      </p:sp>
      <p:pic>
        <p:nvPicPr>
          <p:cNvPr id="7" name="圖片 6">
            <a:extLst>
              <a:ext uri="{FF2B5EF4-FFF2-40B4-BE49-F238E27FC236}">
                <a16:creationId xmlns:a16="http://schemas.microsoft.com/office/drawing/2014/main" id="{29A1860A-1444-49A1-B533-606784913455}"/>
              </a:ext>
            </a:extLst>
          </p:cNvPr>
          <p:cNvPicPr>
            <a:picLocks noChangeAspect="1"/>
          </p:cNvPicPr>
          <p:nvPr/>
        </p:nvPicPr>
        <p:blipFill>
          <a:blip r:embed="rId3"/>
          <a:stretch>
            <a:fillRect/>
          </a:stretch>
        </p:blipFill>
        <p:spPr>
          <a:xfrm>
            <a:off x="4712410" y="3058955"/>
            <a:ext cx="6000497" cy="3594257"/>
          </a:xfrm>
          <a:prstGeom prst="rect">
            <a:avLst/>
          </a:prstGeom>
        </p:spPr>
      </p:pic>
      <p:sp>
        <p:nvSpPr>
          <p:cNvPr id="9" name="文字方塊 8">
            <a:extLst>
              <a:ext uri="{FF2B5EF4-FFF2-40B4-BE49-F238E27FC236}">
                <a16:creationId xmlns:a16="http://schemas.microsoft.com/office/drawing/2014/main" id="{5EF39471-25F3-4A1A-9491-0D629C5FDE35}"/>
              </a:ext>
            </a:extLst>
          </p:cNvPr>
          <p:cNvSpPr txBox="1"/>
          <p:nvPr/>
        </p:nvSpPr>
        <p:spPr>
          <a:xfrm>
            <a:off x="1625804" y="4440584"/>
            <a:ext cx="2707690" cy="830997"/>
          </a:xfrm>
          <a:prstGeom prst="rect">
            <a:avLst/>
          </a:prstGeom>
          <a:noFill/>
        </p:spPr>
        <p:txBody>
          <a:bodyPr wrap="square">
            <a:spAutoFit/>
          </a:bodyPr>
          <a:lstStyle/>
          <a:p>
            <a:r>
              <a:rPr lang="zh-TW" altLang="en-US" sz="2400" dirty="0"/>
              <a:t>https://code.visualstudio.com/</a:t>
            </a:r>
          </a:p>
        </p:txBody>
      </p:sp>
    </p:spTree>
    <p:extLst>
      <p:ext uri="{BB962C8B-B14F-4D97-AF65-F5344CB8AC3E}">
        <p14:creationId xmlns:p14="http://schemas.microsoft.com/office/powerpoint/2010/main" val="31346876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圖片 29">
            <a:extLst>
              <a:ext uri="{FF2B5EF4-FFF2-40B4-BE49-F238E27FC236}">
                <a16:creationId xmlns:a16="http://schemas.microsoft.com/office/drawing/2014/main" id="{3F55F175-2653-44E2-B656-A1659224AB21}"/>
              </a:ext>
            </a:extLst>
          </p:cNvPr>
          <p:cNvPicPr>
            <a:picLocks noChangeAspect="1"/>
          </p:cNvPicPr>
          <p:nvPr/>
        </p:nvPicPr>
        <p:blipFill>
          <a:blip r:embed="rId3"/>
          <a:stretch>
            <a:fillRect/>
          </a:stretch>
        </p:blipFill>
        <p:spPr>
          <a:xfrm>
            <a:off x="8103820" y="1594202"/>
            <a:ext cx="3116627" cy="2241053"/>
          </a:xfrm>
          <a:prstGeom prst="rect">
            <a:avLst/>
          </a:prstGeom>
        </p:spPr>
      </p:pic>
      <p:sp>
        <p:nvSpPr>
          <p:cNvPr id="2" name="標題 1">
            <a:extLst>
              <a:ext uri="{FF2B5EF4-FFF2-40B4-BE49-F238E27FC236}">
                <a16:creationId xmlns:a16="http://schemas.microsoft.com/office/drawing/2014/main" id="{1275012E-20EE-48D2-B7CF-A7A80C2204BD}"/>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(2/7)</a:t>
            </a:r>
            <a:endParaRPr lang="zh-TW" altLang="en-US" dirty="0"/>
          </a:p>
        </p:txBody>
      </p:sp>
      <p:sp>
        <p:nvSpPr>
          <p:cNvPr id="4" name="投影片編號版面配置區 3">
            <a:extLst>
              <a:ext uri="{FF2B5EF4-FFF2-40B4-BE49-F238E27FC236}">
                <a16:creationId xmlns:a16="http://schemas.microsoft.com/office/drawing/2014/main" id="{AC862D9B-19CC-4CF6-B7E7-DC54A0F6AAC8}"/>
              </a:ext>
            </a:extLst>
          </p:cNvPr>
          <p:cNvSpPr>
            <a:spLocks noGrp="1"/>
          </p:cNvSpPr>
          <p:nvPr>
            <p:ph type="sldNum" sz="quarter" idx="12"/>
          </p:nvPr>
        </p:nvSpPr>
        <p:spPr/>
        <p:txBody>
          <a:bodyPr/>
          <a:lstStyle/>
          <a:p>
            <a:fld id="{A0B59302-35AD-44E9-AC3C-8D1DAE3511F1}" type="slidenum">
              <a:rPr lang="zh-TW" altLang="en-US" smtClean="0"/>
              <a:pPr/>
              <a:t>47</a:t>
            </a:fld>
            <a:endParaRPr lang="zh-TW" altLang="en-US" dirty="0"/>
          </a:p>
        </p:txBody>
      </p:sp>
      <p:pic>
        <p:nvPicPr>
          <p:cNvPr id="6" name="圖片 5">
            <a:extLst>
              <a:ext uri="{FF2B5EF4-FFF2-40B4-BE49-F238E27FC236}">
                <a16:creationId xmlns:a16="http://schemas.microsoft.com/office/drawing/2014/main" id="{97C870B2-3FD7-4967-8658-938DF0CE5F0C}"/>
              </a:ext>
            </a:extLst>
          </p:cNvPr>
          <p:cNvPicPr>
            <a:picLocks noChangeAspect="1"/>
          </p:cNvPicPr>
          <p:nvPr/>
        </p:nvPicPr>
        <p:blipFill>
          <a:blip r:embed="rId4"/>
          <a:stretch>
            <a:fillRect/>
          </a:stretch>
        </p:blipFill>
        <p:spPr>
          <a:xfrm>
            <a:off x="4593639" y="1648941"/>
            <a:ext cx="3116627" cy="2241053"/>
          </a:xfrm>
          <a:prstGeom prst="rect">
            <a:avLst/>
          </a:prstGeom>
        </p:spPr>
      </p:pic>
      <p:pic>
        <p:nvPicPr>
          <p:cNvPr id="12" name="圖片 11">
            <a:extLst>
              <a:ext uri="{FF2B5EF4-FFF2-40B4-BE49-F238E27FC236}">
                <a16:creationId xmlns:a16="http://schemas.microsoft.com/office/drawing/2014/main" id="{0EABB0A7-A17E-44A7-AFE8-8FCFD64367BF}"/>
              </a:ext>
            </a:extLst>
          </p:cNvPr>
          <p:cNvPicPr>
            <a:picLocks noChangeAspect="1"/>
          </p:cNvPicPr>
          <p:nvPr/>
        </p:nvPicPr>
        <p:blipFill>
          <a:blip r:embed="rId5"/>
          <a:stretch>
            <a:fillRect/>
          </a:stretch>
        </p:blipFill>
        <p:spPr>
          <a:xfrm>
            <a:off x="8103823" y="4313486"/>
            <a:ext cx="3116627" cy="2241053"/>
          </a:xfrm>
          <a:prstGeom prst="rect">
            <a:avLst/>
          </a:prstGeom>
        </p:spPr>
      </p:pic>
      <p:pic>
        <p:nvPicPr>
          <p:cNvPr id="14" name="圖片 13">
            <a:extLst>
              <a:ext uri="{FF2B5EF4-FFF2-40B4-BE49-F238E27FC236}">
                <a16:creationId xmlns:a16="http://schemas.microsoft.com/office/drawing/2014/main" id="{436F9063-A003-4984-9D2E-657C4D411ACE}"/>
              </a:ext>
            </a:extLst>
          </p:cNvPr>
          <p:cNvPicPr>
            <a:picLocks noChangeAspect="1"/>
          </p:cNvPicPr>
          <p:nvPr/>
        </p:nvPicPr>
        <p:blipFill>
          <a:blip r:embed="rId6"/>
          <a:stretch>
            <a:fillRect/>
          </a:stretch>
        </p:blipFill>
        <p:spPr>
          <a:xfrm>
            <a:off x="4593639" y="4313486"/>
            <a:ext cx="3116627" cy="2241053"/>
          </a:xfrm>
          <a:prstGeom prst="rect">
            <a:avLst/>
          </a:prstGeom>
        </p:spPr>
      </p:pic>
      <p:pic>
        <p:nvPicPr>
          <p:cNvPr id="16" name="圖片 15">
            <a:extLst>
              <a:ext uri="{FF2B5EF4-FFF2-40B4-BE49-F238E27FC236}">
                <a16:creationId xmlns:a16="http://schemas.microsoft.com/office/drawing/2014/main" id="{C3FBFF56-EE19-4C5D-9F72-D53FD5784A9D}"/>
              </a:ext>
            </a:extLst>
          </p:cNvPr>
          <p:cNvPicPr>
            <a:picLocks noChangeAspect="1"/>
          </p:cNvPicPr>
          <p:nvPr/>
        </p:nvPicPr>
        <p:blipFill>
          <a:blip r:embed="rId7"/>
          <a:stretch>
            <a:fillRect/>
          </a:stretch>
        </p:blipFill>
        <p:spPr>
          <a:xfrm>
            <a:off x="1024933" y="4313487"/>
            <a:ext cx="3116627" cy="2241053"/>
          </a:xfrm>
          <a:prstGeom prst="rect">
            <a:avLst/>
          </a:prstGeom>
        </p:spPr>
      </p:pic>
      <p:pic>
        <p:nvPicPr>
          <p:cNvPr id="20" name="圖片 19">
            <a:extLst>
              <a:ext uri="{FF2B5EF4-FFF2-40B4-BE49-F238E27FC236}">
                <a16:creationId xmlns:a16="http://schemas.microsoft.com/office/drawing/2014/main" id="{1DD59738-4442-4FF5-BDE6-3B66C7AA5800}"/>
              </a:ext>
            </a:extLst>
          </p:cNvPr>
          <p:cNvPicPr>
            <a:picLocks noChangeAspect="1"/>
          </p:cNvPicPr>
          <p:nvPr/>
        </p:nvPicPr>
        <p:blipFill>
          <a:blip r:embed="rId8"/>
          <a:stretch>
            <a:fillRect/>
          </a:stretch>
        </p:blipFill>
        <p:spPr>
          <a:xfrm>
            <a:off x="2221159" y="2074651"/>
            <a:ext cx="937891" cy="1382155"/>
          </a:xfrm>
          <a:prstGeom prst="rect">
            <a:avLst/>
          </a:prstGeom>
        </p:spPr>
      </p:pic>
      <p:sp>
        <p:nvSpPr>
          <p:cNvPr id="21" name="箭號: 向右 20">
            <a:extLst>
              <a:ext uri="{FF2B5EF4-FFF2-40B4-BE49-F238E27FC236}">
                <a16:creationId xmlns:a16="http://schemas.microsoft.com/office/drawing/2014/main" id="{01806792-9A30-42D1-894D-E86A16B1E4A3}"/>
              </a:ext>
            </a:extLst>
          </p:cNvPr>
          <p:cNvSpPr/>
          <p:nvPr/>
        </p:nvSpPr>
        <p:spPr>
          <a:xfrm>
            <a:off x="3280173" y="2598397"/>
            <a:ext cx="1192342"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2" name="箭號: 向右 21">
            <a:extLst>
              <a:ext uri="{FF2B5EF4-FFF2-40B4-BE49-F238E27FC236}">
                <a16:creationId xmlns:a16="http://schemas.microsoft.com/office/drawing/2014/main" id="{B7401ADC-840F-4223-AABD-8DB5423CDED2}"/>
              </a:ext>
            </a:extLst>
          </p:cNvPr>
          <p:cNvSpPr/>
          <p:nvPr/>
        </p:nvSpPr>
        <p:spPr>
          <a:xfrm>
            <a:off x="7558957" y="2598396"/>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3" name="矩形 22">
            <a:extLst>
              <a:ext uri="{FF2B5EF4-FFF2-40B4-BE49-F238E27FC236}">
                <a16:creationId xmlns:a16="http://schemas.microsoft.com/office/drawing/2014/main" id="{C399A292-9499-497D-B3E3-0CA2DC89380B}"/>
              </a:ext>
            </a:extLst>
          </p:cNvPr>
          <p:cNvSpPr/>
          <p:nvPr/>
        </p:nvSpPr>
        <p:spPr>
          <a:xfrm>
            <a:off x="8178394" y="2260397"/>
            <a:ext cx="2026310" cy="438912"/>
          </a:xfrm>
          <a:prstGeom prst="rect">
            <a:avLst/>
          </a:prstGeom>
          <a:noFill/>
          <a:ln w="222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4" name="箭號: 向右 23">
            <a:extLst>
              <a:ext uri="{FF2B5EF4-FFF2-40B4-BE49-F238E27FC236}">
                <a16:creationId xmlns:a16="http://schemas.microsoft.com/office/drawing/2014/main" id="{2791AB6C-89D2-484C-ABBF-1AE5CB971E0B}"/>
              </a:ext>
            </a:extLst>
          </p:cNvPr>
          <p:cNvSpPr/>
          <p:nvPr/>
        </p:nvSpPr>
        <p:spPr>
          <a:xfrm rot="5400000">
            <a:off x="9389701" y="3855832"/>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5" name="箭號: 向右 24">
            <a:extLst>
              <a:ext uri="{FF2B5EF4-FFF2-40B4-BE49-F238E27FC236}">
                <a16:creationId xmlns:a16="http://schemas.microsoft.com/office/drawing/2014/main" id="{D54E8238-F225-4D93-9BCB-E00301909384}"/>
              </a:ext>
            </a:extLst>
          </p:cNvPr>
          <p:cNvSpPr/>
          <p:nvPr/>
        </p:nvSpPr>
        <p:spPr>
          <a:xfrm rot="10800000">
            <a:off x="7710266" y="5254789"/>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6" name="箭號: 向右 25">
            <a:extLst>
              <a:ext uri="{FF2B5EF4-FFF2-40B4-BE49-F238E27FC236}">
                <a16:creationId xmlns:a16="http://schemas.microsoft.com/office/drawing/2014/main" id="{594DFE2B-A278-45EC-B0C9-CDCBC44690C3}"/>
              </a:ext>
            </a:extLst>
          </p:cNvPr>
          <p:cNvSpPr/>
          <p:nvPr/>
        </p:nvSpPr>
        <p:spPr>
          <a:xfrm rot="10800000">
            <a:off x="4141560" y="5254789"/>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27" name="矩形 26">
            <a:extLst>
              <a:ext uri="{FF2B5EF4-FFF2-40B4-BE49-F238E27FC236}">
                <a16:creationId xmlns:a16="http://schemas.microsoft.com/office/drawing/2014/main" id="{10BE7421-AD50-4807-9E3C-191D7E63C013}"/>
              </a:ext>
            </a:extLst>
          </p:cNvPr>
          <p:cNvSpPr/>
          <p:nvPr/>
        </p:nvSpPr>
        <p:spPr>
          <a:xfrm>
            <a:off x="4744946" y="4936540"/>
            <a:ext cx="2080135" cy="879043"/>
          </a:xfrm>
          <a:prstGeom prst="rect">
            <a:avLst/>
          </a:prstGeom>
          <a:noFill/>
          <a:ln w="222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Tree>
    <p:extLst>
      <p:ext uri="{BB962C8B-B14F-4D97-AF65-F5344CB8AC3E}">
        <p14:creationId xmlns:p14="http://schemas.microsoft.com/office/powerpoint/2010/main" val="1654519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55D479-11A6-4DEC-AF25-DEBB6F209497}"/>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(3/7)</a:t>
            </a:r>
            <a:endParaRPr lang="zh-TW" altLang="en-US" dirty="0"/>
          </a:p>
        </p:txBody>
      </p:sp>
      <p:sp>
        <p:nvSpPr>
          <p:cNvPr id="3" name="內容版面配置區 2">
            <a:extLst>
              <a:ext uri="{FF2B5EF4-FFF2-40B4-BE49-F238E27FC236}">
                <a16:creationId xmlns:a16="http://schemas.microsoft.com/office/drawing/2014/main" id="{65943D4A-1A65-4EA4-BD2F-D101599923CD}"/>
              </a:ext>
            </a:extLst>
          </p:cNvPr>
          <p:cNvSpPr>
            <a:spLocks noGrp="1"/>
          </p:cNvSpPr>
          <p:nvPr>
            <p:ph idx="1"/>
          </p:nvPr>
        </p:nvSpPr>
        <p:spPr/>
        <p:txBody>
          <a:bodyPr/>
          <a:lstStyle/>
          <a:p>
            <a:r>
              <a:rPr lang="zh-TW" altLang="en-US" dirty="0"/>
              <a:t>安裝編寫 </a:t>
            </a:r>
            <a:r>
              <a:rPr lang="en-US" altLang="zh-TW" dirty="0"/>
              <a:t>Python </a:t>
            </a:r>
            <a:r>
              <a:rPr lang="zh-TW" altLang="en-US" dirty="0"/>
              <a:t>的擴充功能</a:t>
            </a:r>
          </a:p>
        </p:txBody>
      </p:sp>
      <p:sp>
        <p:nvSpPr>
          <p:cNvPr id="4" name="投影片編號版面配置區 3">
            <a:extLst>
              <a:ext uri="{FF2B5EF4-FFF2-40B4-BE49-F238E27FC236}">
                <a16:creationId xmlns:a16="http://schemas.microsoft.com/office/drawing/2014/main" id="{7F3797A1-6C3A-4F63-A781-0900AF0194EC}"/>
              </a:ext>
            </a:extLst>
          </p:cNvPr>
          <p:cNvSpPr>
            <a:spLocks noGrp="1"/>
          </p:cNvSpPr>
          <p:nvPr>
            <p:ph type="sldNum" sz="quarter" idx="12"/>
          </p:nvPr>
        </p:nvSpPr>
        <p:spPr/>
        <p:txBody>
          <a:bodyPr/>
          <a:lstStyle/>
          <a:p>
            <a:fld id="{A0B59302-35AD-44E9-AC3C-8D1DAE3511F1}" type="slidenum">
              <a:rPr lang="zh-TW" altLang="en-US" smtClean="0"/>
              <a:pPr/>
              <a:t>48</a:t>
            </a:fld>
            <a:endParaRPr lang="zh-TW" altLang="en-US" dirty="0"/>
          </a:p>
        </p:txBody>
      </p:sp>
      <p:pic>
        <p:nvPicPr>
          <p:cNvPr id="8" name="圖片 7">
            <a:extLst>
              <a:ext uri="{FF2B5EF4-FFF2-40B4-BE49-F238E27FC236}">
                <a16:creationId xmlns:a16="http://schemas.microsoft.com/office/drawing/2014/main" id="{4BA7887E-514B-48D7-B834-4298FD6A5895}"/>
              </a:ext>
            </a:extLst>
          </p:cNvPr>
          <p:cNvPicPr>
            <a:picLocks noChangeAspect="1"/>
          </p:cNvPicPr>
          <p:nvPr/>
        </p:nvPicPr>
        <p:blipFill>
          <a:blip r:embed="rId2"/>
          <a:stretch>
            <a:fillRect/>
          </a:stretch>
        </p:blipFill>
        <p:spPr>
          <a:xfrm>
            <a:off x="708757" y="2730293"/>
            <a:ext cx="5387243" cy="3683206"/>
          </a:xfrm>
          <a:prstGeom prst="rect">
            <a:avLst/>
          </a:prstGeom>
        </p:spPr>
      </p:pic>
      <p:pic>
        <p:nvPicPr>
          <p:cNvPr id="15" name="圖片 14">
            <a:extLst>
              <a:ext uri="{FF2B5EF4-FFF2-40B4-BE49-F238E27FC236}">
                <a16:creationId xmlns:a16="http://schemas.microsoft.com/office/drawing/2014/main" id="{816D8299-EADE-43D1-8B67-A64227A7D8D6}"/>
              </a:ext>
            </a:extLst>
          </p:cNvPr>
          <p:cNvPicPr>
            <a:picLocks noChangeAspect="1"/>
          </p:cNvPicPr>
          <p:nvPr/>
        </p:nvPicPr>
        <p:blipFill>
          <a:blip r:embed="rId3"/>
          <a:stretch>
            <a:fillRect/>
          </a:stretch>
        </p:blipFill>
        <p:spPr>
          <a:xfrm>
            <a:off x="6480906" y="2730293"/>
            <a:ext cx="5387243" cy="3683205"/>
          </a:xfrm>
          <a:prstGeom prst="rect">
            <a:avLst/>
          </a:prstGeom>
        </p:spPr>
      </p:pic>
      <p:sp>
        <p:nvSpPr>
          <p:cNvPr id="16" name="矩形 15">
            <a:extLst>
              <a:ext uri="{FF2B5EF4-FFF2-40B4-BE49-F238E27FC236}">
                <a16:creationId xmlns:a16="http://schemas.microsoft.com/office/drawing/2014/main" id="{4CBD6EB3-B0D2-4C54-89AA-F3156222D5A9}"/>
              </a:ext>
            </a:extLst>
          </p:cNvPr>
          <p:cNvSpPr/>
          <p:nvPr/>
        </p:nvSpPr>
        <p:spPr>
          <a:xfrm>
            <a:off x="629107" y="3701491"/>
            <a:ext cx="358445" cy="285293"/>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7" name="矩形 16">
            <a:extLst>
              <a:ext uri="{FF2B5EF4-FFF2-40B4-BE49-F238E27FC236}">
                <a16:creationId xmlns:a16="http://schemas.microsoft.com/office/drawing/2014/main" id="{56C47648-8E5D-4C4A-A9B1-DFA8398FA8B8}"/>
              </a:ext>
            </a:extLst>
          </p:cNvPr>
          <p:cNvSpPr/>
          <p:nvPr/>
        </p:nvSpPr>
        <p:spPr>
          <a:xfrm>
            <a:off x="6691241" y="2931024"/>
            <a:ext cx="1165826" cy="285293"/>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cxnSp>
        <p:nvCxnSpPr>
          <p:cNvPr id="19" name="接點: 肘形 18">
            <a:extLst>
              <a:ext uri="{FF2B5EF4-FFF2-40B4-BE49-F238E27FC236}">
                <a16:creationId xmlns:a16="http://schemas.microsoft.com/office/drawing/2014/main" id="{90FB11D6-54EB-4454-B4A8-E703C79B13C2}"/>
              </a:ext>
            </a:extLst>
          </p:cNvPr>
          <p:cNvCxnSpPr>
            <a:stCxn id="16" idx="0"/>
            <a:endCxn id="17" idx="1"/>
          </p:cNvCxnSpPr>
          <p:nvPr/>
        </p:nvCxnSpPr>
        <p:spPr>
          <a:xfrm rot="5400000" flipH="1" flipV="1">
            <a:off x="3435875" y="446126"/>
            <a:ext cx="627820" cy="5882911"/>
          </a:xfrm>
          <a:prstGeom prst="bentConnector2">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0" name="語音泡泡: 圓角矩形 19">
            <a:extLst>
              <a:ext uri="{FF2B5EF4-FFF2-40B4-BE49-F238E27FC236}">
                <a16:creationId xmlns:a16="http://schemas.microsoft.com/office/drawing/2014/main" id="{A31F9627-2A23-4373-A387-3BD66AAB632B}"/>
              </a:ext>
            </a:extLst>
          </p:cNvPr>
          <p:cNvSpPr/>
          <p:nvPr/>
        </p:nvSpPr>
        <p:spPr>
          <a:xfrm>
            <a:off x="6415429" y="994867"/>
            <a:ext cx="5452719" cy="1389888"/>
          </a:xfrm>
          <a:prstGeom prst="wedgeRoundRectCallout">
            <a:avLst>
              <a:gd name="adj1" fmla="val -35724"/>
              <a:gd name="adj2" fmla="val 85132"/>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altLang="zh-TW" dirty="0"/>
              <a:t>Python</a:t>
            </a:r>
          </a:p>
          <a:p>
            <a:pPr marL="342900" indent="-342900">
              <a:buFont typeface="Arial" panose="020B0604020202020204" pitchFamily="34" charset="0"/>
              <a:buChar char="•"/>
            </a:pPr>
            <a:r>
              <a:rPr lang="en-US" altLang="zh-TW" dirty="0"/>
              <a:t>Code Runner (</a:t>
            </a:r>
            <a:r>
              <a:rPr lang="zh-TW" altLang="en-US" dirty="0"/>
              <a:t>能讓執行程式更方便</a:t>
            </a:r>
            <a:r>
              <a:rPr lang="en-US" altLang="zh-TW" dirty="0"/>
              <a:t>)</a:t>
            </a:r>
          </a:p>
          <a:p>
            <a:pPr marL="342900" indent="-342900">
              <a:buFont typeface="Arial" panose="020B0604020202020204" pitchFamily="34" charset="0"/>
              <a:buChar char="•"/>
            </a:pPr>
            <a:r>
              <a:rPr lang="en-US" altLang="zh-TW" dirty="0"/>
              <a:t>Chinese (Traditional) Language Pack for Visual Studio Code (</a:t>
            </a:r>
            <a:r>
              <a:rPr lang="zh-TW" altLang="en-US" dirty="0"/>
              <a:t>翻譯為繁中</a:t>
            </a:r>
            <a:r>
              <a:rPr lang="en-US" altLang="zh-TW" dirty="0"/>
              <a:t>)</a:t>
            </a:r>
            <a:endParaRPr lang="zh-TW" altLang="en-US" dirty="0"/>
          </a:p>
        </p:txBody>
      </p:sp>
    </p:spTree>
    <p:extLst>
      <p:ext uri="{BB962C8B-B14F-4D97-AF65-F5344CB8AC3E}">
        <p14:creationId xmlns:p14="http://schemas.microsoft.com/office/powerpoint/2010/main" val="414379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CF97A-690C-4034-A4D8-EC81FFBA8694}"/>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(4/7)</a:t>
            </a:r>
            <a:endParaRPr lang="zh-TW" altLang="en-US" dirty="0"/>
          </a:p>
        </p:txBody>
      </p:sp>
      <p:sp>
        <p:nvSpPr>
          <p:cNvPr id="3" name="內容版面配置區 2">
            <a:extLst>
              <a:ext uri="{FF2B5EF4-FFF2-40B4-BE49-F238E27FC236}">
                <a16:creationId xmlns:a16="http://schemas.microsoft.com/office/drawing/2014/main" id="{F37AC24E-200B-447F-9A7F-34433880EF3B}"/>
              </a:ext>
            </a:extLst>
          </p:cNvPr>
          <p:cNvSpPr>
            <a:spLocks noGrp="1"/>
          </p:cNvSpPr>
          <p:nvPr>
            <p:ph idx="1"/>
          </p:nvPr>
        </p:nvSpPr>
        <p:spPr/>
        <p:txBody>
          <a:bodyPr/>
          <a:lstStyle/>
          <a:p>
            <a:r>
              <a:rPr lang="zh-TW" altLang="en-US" dirty="0"/>
              <a:t>到官網下載 </a:t>
            </a:r>
            <a:r>
              <a:rPr lang="en-US" altLang="zh-TW" dirty="0"/>
              <a:t>Python </a:t>
            </a:r>
            <a:r>
              <a:rPr lang="zh-TW" altLang="en-US" dirty="0"/>
              <a:t>安裝檔</a:t>
            </a:r>
            <a:endParaRPr lang="en-US" altLang="zh-TW" dirty="0"/>
          </a:p>
          <a:p>
            <a:pPr lvl="1"/>
            <a:r>
              <a:rPr lang="en-US" altLang="zh-TW" dirty="0"/>
              <a:t>python-3.11.4-amd64.exe</a:t>
            </a:r>
            <a:r>
              <a:rPr lang="zh-TW" altLang="en-US" dirty="0"/>
              <a:t> </a:t>
            </a:r>
            <a:r>
              <a:rPr lang="en-US" altLang="zh-TW" dirty="0"/>
              <a:t>(≈ 24 MB)</a:t>
            </a:r>
            <a:endParaRPr lang="zh-TW" altLang="en-US" dirty="0"/>
          </a:p>
        </p:txBody>
      </p:sp>
      <p:sp>
        <p:nvSpPr>
          <p:cNvPr id="4" name="投影片編號版面配置區 3">
            <a:extLst>
              <a:ext uri="{FF2B5EF4-FFF2-40B4-BE49-F238E27FC236}">
                <a16:creationId xmlns:a16="http://schemas.microsoft.com/office/drawing/2014/main" id="{4C5C8483-313F-479A-B756-8C573D0634F5}"/>
              </a:ext>
            </a:extLst>
          </p:cNvPr>
          <p:cNvSpPr>
            <a:spLocks noGrp="1"/>
          </p:cNvSpPr>
          <p:nvPr>
            <p:ph type="sldNum" sz="quarter" idx="12"/>
          </p:nvPr>
        </p:nvSpPr>
        <p:spPr/>
        <p:txBody>
          <a:bodyPr/>
          <a:lstStyle/>
          <a:p>
            <a:fld id="{A0B59302-35AD-44E9-AC3C-8D1DAE3511F1}" type="slidenum">
              <a:rPr lang="zh-TW" altLang="en-US" smtClean="0"/>
              <a:pPr/>
              <a:t>49</a:t>
            </a:fld>
            <a:endParaRPr lang="zh-TW" altLang="en-US" dirty="0"/>
          </a:p>
        </p:txBody>
      </p:sp>
      <p:pic>
        <p:nvPicPr>
          <p:cNvPr id="6" name="圖片 5">
            <a:extLst>
              <a:ext uri="{FF2B5EF4-FFF2-40B4-BE49-F238E27FC236}">
                <a16:creationId xmlns:a16="http://schemas.microsoft.com/office/drawing/2014/main" id="{9A075E19-0128-4DF1-9706-0EBA23871428}"/>
              </a:ext>
            </a:extLst>
          </p:cNvPr>
          <p:cNvPicPr>
            <a:picLocks noChangeAspect="1"/>
          </p:cNvPicPr>
          <p:nvPr/>
        </p:nvPicPr>
        <p:blipFill>
          <a:blip r:embed="rId2"/>
          <a:stretch>
            <a:fillRect/>
          </a:stretch>
        </p:blipFill>
        <p:spPr>
          <a:xfrm>
            <a:off x="4286102" y="3079699"/>
            <a:ext cx="7067698" cy="3507886"/>
          </a:xfrm>
          <a:prstGeom prst="rect">
            <a:avLst/>
          </a:prstGeom>
        </p:spPr>
      </p:pic>
      <p:sp>
        <p:nvSpPr>
          <p:cNvPr id="7" name="文字方塊 6">
            <a:extLst>
              <a:ext uri="{FF2B5EF4-FFF2-40B4-BE49-F238E27FC236}">
                <a16:creationId xmlns:a16="http://schemas.microsoft.com/office/drawing/2014/main" id="{29DA42F5-4747-4EC6-BB37-2F9E3CA92F91}"/>
              </a:ext>
            </a:extLst>
          </p:cNvPr>
          <p:cNvSpPr txBox="1"/>
          <p:nvPr/>
        </p:nvSpPr>
        <p:spPr>
          <a:xfrm>
            <a:off x="838200" y="4602809"/>
            <a:ext cx="3353257" cy="461665"/>
          </a:xfrm>
          <a:prstGeom prst="rect">
            <a:avLst/>
          </a:prstGeom>
          <a:noFill/>
        </p:spPr>
        <p:txBody>
          <a:bodyPr wrap="square">
            <a:spAutoFit/>
          </a:bodyPr>
          <a:lstStyle/>
          <a:p>
            <a:r>
              <a:rPr lang="en-US" altLang="zh-TW" sz="2400" dirty="0"/>
              <a:t>https://www.python.org/</a:t>
            </a:r>
            <a:endParaRPr lang="zh-TW" altLang="en-US" sz="2400" dirty="0"/>
          </a:p>
        </p:txBody>
      </p:sp>
    </p:spTree>
    <p:extLst>
      <p:ext uri="{BB962C8B-B14F-4D97-AF65-F5344CB8AC3E}">
        <p14:creationId xmlns:p14="http://schemas.microsoft.com/office/powerpoint/2010/main" val="41205451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0CB84F-7C77-41E3-BE24-1DD17E28B73F}"/>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(5/7)</a:t>
            </a:r>
            <a:endParaRPr lang="zh-TW" altLang="en-US" dirty="0"/>
          </a:p>
        </p:txBody>
      </p:sp>
      <p:sp>
        <p:nvSpPr>
          <p:cNvPr id="4" name="投影片編號版面配置區 3">
            <a:extLst>
              <a:ext uri="{FF2B5EF4-FFF2-40B4-BE49-F238E27FC236}">
                <a16:creationId xmlns:a16="http://schemas.microsoft.com/office/drawing/2014/main" id="{0464C53F-2F87-4570-9849-EF841A67820F}"/>
              </a:ext>
            </a:extLst>
          </p:cNvPr>
          <p:cNvSpPr>
            <a:spLocks noGrp="1"/>
          </p:cNvSpPr>
          <p:nvPr>
            <p:ph type="sldNum" sz="quarter" idx="12"/>
          </p:nvPr>
        </p:nvSpPr>
        <p:spPr/>
        <p:txBody>
          <a:bodyPr/>
          <a:lstStyle/>
          <a:p>
            <a:fld id="{A0B59302-35AD-44E9-AC3C-8D1DAE3511F1}" type="slidenum">
              <a:rPr lang="zh-TW" altLang="en-US" smtClean="0"/>
              <a:pPr/>
              <a:t>50</a:t>
            </a:fld>
            <a:endParaRPr lang="zh-TW" altLang="en-US" dirty="0"/>
          </a:p>
        </p:txBody>
      </p:sp>
      <p:pic>
        <p:nvPicPr>
          <p:cNvPr id="6" name="圖片 5">
            <a:extLst>
              <a:ext uri="{FF2B5EF4-FFF2-40B4-BE49-F238E27FC236}">
                <a16:creationId xmlns:a16="http://schemas.microsoft.com/office/drawing/2014/main" id="{F5534B62-AEF6-41A3-82BA-FAC86474A727}"/>
              </a:ext>
            </a:extLst>
          </p:cNvPr>
          <p:cNvPicPr>
            <a:picLocks noChangeAspect="1"/>
          </p:cNvPicPr>
          <p:nvPr/>
        </p:nvPicPr>
        <p:blipFill>
          <a:blip r:embed="rId2"/>
          <a:stretch>
            <a:fillRect/>
          </a:stretch>
        </p:blipFill>
        <p:spPr>
          <a:xfrm>
            <a:off x="3177655" y="1881923"/>
            <a:ext cx="1164138" cy="1547077"/>
          </a:xfrm>
          <a:prstGeom prst="rect">
            <a:avLst/>
          </a:prstGeom>
        </p:spPr>
      </p:pic>
      <p:pic>
        <p:nvPicPr>
          <p:cNvPr id="8" name="圖片 7">
            <a:extLst>
              <a:ext uri="{FF2B5EF4-FFF2-40B4-BE49-F238E27FC236}">
                <a16:creationId xmlns:a16="http://schemas.microsoft.com/office/drawing/2014/main" id="{77A8BEDB-6E71-4DA7-BD7E-875800B7918D}"/>
              </a:ext>
            </a:extLst>
          </p:cNvPr>
          <p:cNvPicPr>
            <a:picLocks noChangeAspect="1"/>
          </p:cNvPicPr>
          <p:nvPr/>
        </p:nvPicPr>
        <p:blipFill>
          <a:blip r:embed="rId3"/>
          <a:stretch>
            <a:fillRect/>
          </a:stretch>
        </p:blipFill>
        <p:spPr>
          <a:xfrm>
            <a:off x="6600333" y="1009318"/>
            <a:ext cx="4307621" cy="2659431"/>
          </a:xfrm>
          <a:prstGeom prst="rect">
            <a:avLst/>
          </a:prstGeom>
        </p:spPr>
      </p:pic>
      <p:pic>
        <p:nvPicPr>
          <p:cNvPr id="10" name="圖片 9">
            <a:extLst>
              <a:ext uri="{FF2B5EF4-FFF2-40B4-BE49-F238E27FC236}">
                <a16:creationId xmlns:a16="http://schemas.microsoft.com/office/drawing/2014/main" id="{101AD9A4-8C06-456A-AFBD-DE882CC130D9}"/>
              </a:ext>
            </a:extLst>
          </p:cNvPr>
          <p:cNvPicPr>
            <a:picLocks noChangeAspect="1"/>
          </p:cNvPicPr>
          <p:nvPr/>
        </p:nvPicPr>
        <p:blipFill>
          <a:blip r:embed="rId4"/>
          <a:stretch>
            <a:fillRect/>
          </a:stretch>
        </p:blipFill>
        <p:spPr>
          <a:xfrm>
            <a:off x="6600333" y="3993781"/>
            <a:ext cx="4307621" cy="2659431"/>
          </a:xfrm>
          <a:prstGeom prst="rect">
            <a:avLst/>
          </a:prstGeom>
        </p:spPr>
      </p:pic>
      <p:pic>
        <p:nvPicPr>
          <p:cNvPr id="12" name="圖片 11">
            <a:extLst>
              <a:ext uri="{FF2B5EF4-FFF2-40B4-BE49-F238E27FC236}">
                <a16:creationId xmlns:a16="http://schemas.microsoft.com/office/drawing/2014/main" id="{36542296-344F-4C7B-869F-8E79CB6E3F33}"/>
              </a:ext>
            </a:extLst>
          </p:cNvPr>
          <p:cNvPicPr>
            <a:picLocks noChangeAspect="1"/>
          </p:cNvPicPr>
          <p:nvPr/>
        </p:nvPicPr>
        <p:blipFill>
          <a:blip r:embed="rId5"/>
          <a:stretch>
            <a:fillRect/>
          </a:stretch>
        </p:blipFill>
        <p:spPr>
          <a:xfrm>
            <a:off x="1605914" y="3993781"/>
            <a:ext cx="4307621" cy="2659431"/>
          </a:xfrm>
          <a:prstGeom prst="rect">
            <a:avLst/>
          </a:prstGeom>
        </p:spPr>
      </p:pic>
      <p:sp>
        <p:nvSpPr>
          <p:cNvPr id="13" name="箭號: 向右 12">
            <a:extLst>
              <a:ext uri="{FF2B5EF4-FFF2-40B4-BE49-F238E27FC236}">
                <a16:creationId xmlns:a16="http://schemas.microsoft.com/office/drawing/2014/main" id="{1D234131-9E22-4096-84FB-2CDE3415AA8C}"/>
              </a:ext>
            </a:extLst>
          </p:cNvPr>
          <p:cNvSpPr/>
          <p:nvPr/>
        </p:nvSpPr>
        <p:spPr>
          <a:xfrm>
            <a:off x="4550882" y="2520405"/>
            <a:ext cx="1840361"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4" name="矩形 13">
            <a:extLst>
              <a:ext uri="{FF2B5EF4-FFF2-40B4-BE49-F238E27FC236}">
                <a16:creationId xmlns:a16="http://schemas.microsoft.com/office/drawing/2014/main" id="{F5C3EBD9-DC7B-48B8-9E3D-BD8CD0E3E679}"/>
              </a:ext>
            </a:extLst>
          </p:cNvPr>
          <p:cNvSpPr/>
          <p:nvPr/>
        </p:nvSpPr>
        <p:spPr>
          <a:xfrm>
            <a:off x="7740988" y="3172897"/>
            <a:ext cx="2026310" cy="438912"/>
          </a:xfrm>
          <a:prstGeom prst="rect">
            <a:avLst/>
          </a:prstGeom>
          <a:noFill/>
          <a:ln w="2222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5" name="箭號: 向右 14">
            <a:extLst>
              <a:ext uri="{FF2B5EF4-FFF2-40B4-BE49-F238E27FC236}">
                <a16:creationId xmlns:a16="http://schemas.microsoft.com/office/drawing/2014/main" id="{18DC6850-CF3D-4BEF-8542-FD187B81CE87}"/>
              </a:ext>
            </a:extLst>
          </p:cNvPr>
          <p:cNvSpPr/>
          <p:nvPr/>
        </p:nvSpPr>
        <p:spPr>
          <a:xfrm rot="5400000">
            <a:off x="9831492" y="3522211"/>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6" name="箭號: 向右 15">
            <a:extLst>
              <a:ext uri="{FF2B5EF4-FFF2-40B4-BE49-F238E27FC236}">
                <a16:creationId xmlns:a16="http://schemas.microsoft.com/office/drawing/2014/main" id="{26636F22-02D7-49F6-A7F1-9182E2A7854B}"/>
              </a:ext>
            </a:extLst>
          </p:cNvPr>
          <p:cNvSpPr/>
          <p:nvPr/>
        </p:nvSpPr>
        <p:spPr>
          <a:xfrm rot="10800000">
            <a:off x="5984501" y="5144273"/>
            <a:ext cx="544866"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7" name="矩形 16">
            <a:extLst>
              <a:ext uri="{FF2B5EF4-FFF2-40B4-BE49-F238E27FC236}">
                <a16:creationId xmlns:a16="http://schemas.microsoft.com/office/drawing/2014/main" id="{F2466CB9-9467-46E8-9807-C3D84AE41D7C}"/>
              </a:ext>
            </a:extLst>
          </p:cNvPr>
          <p:cNvSpPr/>
          <p:nvPr/>
        </p:nvSpPr>
        <p:spPr>
          <a:xfrm>
            <a:off x="7740988" y="5502719"/>
            <a:ext cx="3166966" cy="751777"/>
          </a:xfrm>
          <a:prstGeom prst="rect">
            <a:avLst/>
          </a:prstGeom>
          <a:noFill/>
          <a:ln w="222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Tree>
    <p:extLst>
      <p:ext uri="{BB962C8B-B14F-4D97-AF65-F5344CB8AC3E}">
        <p14:creationId xmlns:p14="http://schemas.microsoft.com/office/powerpoint/2010/main" val="344829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EBB964-4F62-4EE0-BCEF-7DB283AE1305}"/>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(6/7)</a:t>
            </a:r>
            <a:endParaRPr lang="zh-TW" altLang="en-US" dirty="0"/>
          </a:p>
        </p:txBody>
      </p:sp>
      <p:sp>
        <p:nvSpPr>
          <p:cNvPr id="3" name="內容版面配置區 2">
            <a:extLst>
              <a:ext uri="{FF2B5EF4-FFF2-40B4-BE49-F238E27FC236}">
                <a16:creationId xmlns:a16="http://schemas.microsoft.com/office/drawing/2014/main" id="{F863726B-1B32-47BB-BCB0-778A97DCD2C5}"/>
              </a:ext>
            </a:extLst>
          </p:cNvPr>
          <p:cNvSpPr>
            <a:spLocks noGrp="1"/>
          </p:cNvSpPr>
          <p:nvPr>
            <p:ph idx="1"/>
          </p:nvPr>
        </p:nvSpPr>
        <p:spPr/>
        <p:txBody>
          <a:bodyPr/>
          <a:lstStyle/>
          <a:p>
            <a:r>
              <a:rPr lang="zh-TW" altLang="en-US" dirty="0"/>
              <a:t>第一支 </a:t>
            </a:r>
            <a:r>
              <a:rPr lang="en-US" altLang="zh-TW" dirty="0"/>
              <a:t>Python</a:t>
            </a:r>
            <a:r>
              <a:rPr lang="zh-TW" altLang="en-US" dirty="0"/>
              <a:t> 程式</a:t>
            </a:r>
          </a:p>
        </p:txBody>
      </p:sp>
      <p:sp>
        <p:nvSpPr>
          <p:cNvPr id="4" name="投影片編號版面配置區 3">
            <a:extLst>
              <a:ext uri="{FF2B5EF4-FFF2-40B4-BE49-F238E27FC236}">
                <a16:creationId xmlns:a16="http://schemas.microsoft.com/office/drawing/2014/main" id="{5762223C-6CC2-40EF-A920-6BE497312F08}"/>
              </a:ext>
            </a:extLst>
          </p:cNvPr>
          <p:cNvSpPr>
            <a:spLocks noGrp="1"/>
          </p:cNvSpPr>
          <p:nvPr>
            <p:ph type="sldNum" sz="quarter" idx="12"/>
          </p:nvPr>
        </p:nvSpPr>
        <p:spPr/>
        <p:txBody>
          <a:bodyPr/>
          <a:lstStyle/>
          <a:p>
            <a:fld id="{A0B59302-35AD-44E9-AC3C-8D1DAE3511F1}" type="slidenum">
              <a:rPr lang="zh-TW" altLang="en-US" smtClean="0"/>
              <a:pPr/>
              <a:t>51</a:t>
            </a:fld>
            <a:endParaRPr lang="zh-TW" altLang="en-US" dirty="0"/>
          </a:p>
        </p:txBody>
      </p:sp>
      <p:pic>
        <p:nvPicPr>
          <p:cNvPr id="6" name="圖片 5">
            <a:extLst>
              <a:ext uri="{FF2B5EF4-FFF2-40B4-BE49-F238E27FC236}">
                <a16:creationId xmlns:a16="http://schemas.microsoft.com/office/drawing/2014/main" id="{E097BD8E-1907-4C4F-A72B-AE3838BFA795}"/>
              </a:ext>
            </a:extLst>
          </p:cNvPr>
          <p:cNvPicPr>
            <a:picLocks noChangeAspect="1"/>
          </p:cNvPicPr>
          <p:nvPr/>
        </p:nvPicPr>
        <p:blipFill>
          <a:blip r:embed="rId2"/>
          <a:stretch>
            <a:fillRect/>
          </a:stretch>
        </p:blipFill>
        <p:spPr>
          <a:xfrm>
            <a:off x="838200" y="2669793"/>
            <a:ext cx="6006584" cy="3800857"/>
          </a:xfrm>
          <a:prstGeom prst="rect">
            <a:avLst/>
          </a:prstGeom>
        </p:spPr>
      </p:pic>
      <p:pic>
        <p:nvPicPr>
          <p:cNvPr id="8" name="圖片 7">
            <a:extLst>
              <a:ext uri="{FF2B5EF4-FFF2-40B4-BE49-F238E27FC236}">
                <a16:creationId xmlns:a16="http://schemas.microsoft.com/office/drawing/2014/main" id="{8F243ADE-5393-4A3A-954E-1BE4DF00AACE}"/>
              </a:ext>
            </a:extLst>
          </p:cNvPr>
          <p:cNvPicPr>
            <a:picLocks noChangeAspect="1"/>
          </p:cNvPicPr>
          <p:nvPr/>
        </p:nvPicPr>
        <p:blipFill>
          <a:blip r:embed="rId3"/>
          <a:stretch>
            <a:fillRect/>
          </a:stretch>
        </p:blipFill>
        <p:spPr>
          <a:xfrm>
            <a:off x="6964875" y="906544"/>
            <a:ext cx="4940213" cy="1506074"/>
          </a:xfrm>
          <a:prstGeom prst="rect">
            <a:avLst/>
          </a:prstGeom>
        </p:spPr>
      </p:pic>
      <p:pic>
        <p:nvPicPr>
          <p:cNvPr id="10" name="圖片 9">
            <a:extLst>
              <a:ext uri="{FF2B5EF4-FFF2-40B4-BE49-F238E27FC236}">
                <a16:creationId xmlns:a16="http://schemas.microsoft.com/office/drawing/2014/main" id="{BDA7B9E6-5B94-4FC7-81DA-FA38CD39E2EB}"/>
              </a:ext>
            </a:extLst>
          </p:cNvPr>
          <p:cNvPicPr>
            <a:picLocks noChangeAspect="1"/>
          </p:cNvPicPr>
          <p:nvPr/>
        </p:nvPicPr>
        <p:blipFill>
          <a:blip r:embed="rId4"/>
          <a:stretch>
            <a:fillRect/>
          </a:stretch>
        </p:blipFill>
        <p:spPr>
          <a:xfrm>
            <a:off x="8106409" y="2643854"/>
            <a:ext cx="2657143" cy="1485714"/>
          </a:xfrm>
          <a:prstGeom prst="rect">
            <a:avLst/>
          </a:prstGeom>
        </p:spPr>
      </p:pic>
      <p:pic>
        <p:nvPicPr>
          <p:cNvPr id="12" name="圖片 11">
            <a:extLst>
              <a:ext uri="{FF2B5EF4-FFF2-40B4-BE49-F238E27FC236}">
                <a16:creationId xmlns:a16="http://schemas.microsoft.com/office/drawing/2014/main" id="{51A76482-D2E3-4FFC-B81D-3287A15A1BBC}"/>
              </a:ext>
            </a:extLst>
          </p:cNvPr>
          <p:cNvPicPr>
            <a:picLocks noChangeAspect="1"/>
          </p:cNvPicPr>
          <p:nvPr/>
        </p:nvPicPr>
        <p:blipFill>
          <a:blip r:embed="rId5"/>
          <a:stretch>
            <a:fillRect/>
          </a:stretch>
        </p:blipFill>
        <p:spPr>
          <a:xfrm>
            <a:off x="6964875" y="4360805"/>
            <a:ext cx="4940213" cy="2383370"/>
          </a:xfrm>
          <a:prstGeom prst="rect">
            <a:avLst/>
          </a:prstGeom>
        </p:spPr>
      </p:pic>
      <p:sp>
        <p:nvSpPr>
          <p:cNvPr id="13" name="矩形 12">
            <a:extLst>
              <a:ext uri="{FF2B5EF4-FFF2-40B4-BE49-F238E27FC236}">
                <a16:creationId xmlns:a16="http://schemas.microsoft.com/office/drawing/2014/main" id="{972CC2CE-2EA0-45D9-B723-4A3DEAD7B452}"/>
              </a:ext>
            </a:extLst>
          </p:cNvPr>
          <p:cNvSpPr/>
          <p:nvPr/>
        </p:nvSpPr>
        <p:spPr>
          <a:xfrm>
            <a:off x="2626157" y="4067251"/>
            <a:ext cx="629107" cy="201954"/>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4" name="矩形 13">
            <a:extLst>
              <a:ext uri="{FF2B5EF4-FFF2-40B4-BE49-F238E27FC236}">
                <a16:creationId xmlns:a16="http://schemas.microsoft.com/office/drawing/2014/main" id="{457BECE3-F501-4339-B31F-EFCB4A9A2F20}"/>
              </a:ext>
            </a:extLst>
          </p:cNvPr>
          <p:cNvSpPr/>
          <p:nvPr/>
        </p:nvSpPr>
        <p:spPr>
          <a:xfrm>
            <a:off x="7320349" y="1941854"/>
            <a:ext cx="2046142" cy="201954"/>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cxnSp>
        <p:nvCxnSpPr>
          <p:cNvPr id="15" name="接點: 肘形 14">
            <a:extLst>
              <a:ext uri="{FF2B5EF4-FFF2-40B4-BE49-F238E27FC236}">
                <a16:creationId xmlns:a16="http://schemas.microsoft.com/office/drawing/2014/main" id="{153BA340-C219-4931-BEF7-90872BCA2009}"/>
              </a:ext>
            </a:extLst>
          </p:cNvPr>
          <p:cNvCxnSpPr>
            <a:cxnSpLocks/>
            <a:stCxn id="13" idx="3"/>
            <a:endCxn id="14" idx="1"/>
          </p:cNvCxnSpPr>
          <p:nvPr/>
        </p:nvCxnSpPr>
        <p:spPr>
          <a:xfrm flipV="1">
            <a:off x="3255264" y="2042831"/>
            <a:ext cx="4065085" cy="2125397"/>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8" name="箭號: 向右 17">
            <a:extLst>
              <a:ext uri="{FF2B5EF4-FFF2-40B4-BE49-F238E27FC236}">
                <a16:creationId xmlns:a16="http://schemas.microsoft.com/office/drawing/2014/main" id="{E0961938-98F9-49E9-8A55-D289F0CC98C8}"/>
              </a:ext>
            </a:extLst>
          </p:cNvPr>
          <p:cNvSpPr/>
          <p:nvPr/>
        </p:nvSpPr>
        <p:spPr>
          <a:xfrm rot="5400000">
            <a:off x="10147360" y="2280219"/>
            <a:ext cx="368825"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9" name="箭號: 向右 18">
            <a:extLst>
              <a:ext uri="{FF2B5EF4-FFF2-40B4-BE49-F238E27FC236}">
                <a16:creationId xmlns:a16="http://schemas.microsoft.com/office/drawing/2014/main" id="{35983170-DFA2-4CDA-A1E6-BB7D1DCAD8FE}"/>
              </a:ext>
            </a:extLst>
          </p:cNvPr>
          <p:cNvSpPr/>
          <p:nvPr/>
        </p:nvSpPr>
        <p:spPr>
          <a:xfrm rot="5400000">
            <a:off x="10147360" y="3987433"/>
            <a:ext cx="368825" cy="35844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Tree>
    <p:extLst>
      <p:ext uri="{BB962C8B-B14F-4D97-AF65-F5344CB8AC3E}">
        <p14:creationId xmlns:p14="http://schemas.microsoft.com/office/powerpoint/2010/main" val="18079791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EBB964-4F62-4EE0-BCEF-7DB283AE1305}"/>
              </a:ext>
            </a:extLst>
          </p:cNvPr>
          <p:cNvSpPr>
            <a:spLocks noGrp="1"/>
          </p:cNvSpPr>
          <p:nvPr>
            <p:ph type="title"/>
          </p:nvPr>
        </p:nvSpPr>
        <p:spPr/>
        <p:txBody>
          <a:bodyPr/>
          <a:lstStyle/>
          <a:p>
            <a:r>
              <a:rPr lang="zh-TW" altLang="en-US" dirty="0"/>
              <a:t>安裝 </a:t>
            </a:r>
            <a:r>
              <a:rPr lang="en-US" altLang="zh-TW" dirty="0"/>
              <a:t>VS Code</a:t>
            </a:r>
            <a:r>
              <a:rPr lang="zh-TW" altLang="en-US" dirty="0"/>
              <a:t> </a:t>
            </a:r>
            <a:r>
              <a:rPr lang="en-US" altLang="zh-TW" dirty="0"/>
              <a:t>(7/7)</a:t>
            </a:r>
            <a:endParaRPr lang="zh-TW" altLang="en-US" dirty="0"/>
          </a:p>
        </p:txBody>
      </p:sp>
      <p:sp>
        <p:nvSpPr>
          <p:cNvPr id="3" name="內容版面配置區 2">
            <a:extLst>
              <a:ext uri="{FF2B5EF4-FFF2-40B4-BE49-F238E27FC236}">
                <a16:creationId xmlns:a16="http://schemas.microsoft.com/office/drawing/2014/main" id="{F863726B-1B32-47BB-BCB0-778A97DCD2C5}"/>
              </a:ext>
            </a:extLst>
          </p:cNvPr>
          <p:cNvSpPr>
            <a:spLocks noGrp="1"/>
          </p:cNvSpPr>
          <p:nvPr>
            <p:ph idx="1"/>
          </p:nvPr>
        </p:nvSpPr>
        <p:spPr/>
        <p:txBody>
          <a:bodyPr/>
          <a:lstStyle/>
          <a:p>
            <a:r>
              <a:rPr lang="zh-TW" altLang="en-US" dirty="0"/>
              <a:t>第一支 </a:t>
            </a:r>
            <a:r>
              <a:rPr lang="en-US" altLang="zh-TW" dirty="0"/>
              <a:t>Python</a:t>
            </a:r>
            <a:r>
              <a:rPr lang="zh-TW" altLang="en-US" dirty="0"/>
              <a:t> 程式</a:t>
            </a:r>
          </a:p>
        </p:txBody>
      </p:sp>
      <p:sp>
        <p:nvSpPr>
          <p:cNvPr id="4" name="投影片編號版面配置區 3">
            <a:extLst>
              <a:ext uri="{FF2B5EF4-FFF2-40B4-BE49-F238E27FC236}">
                <a16:creationId xmlns:a16="http://schemas.microsoft.com/office/drawing/2014/main" id="{5762223C-6CC2-40EF-A920-6BE497312F08}"/>
              </a:ext>
            </a:extLst>
          </p:cNvPr>
          <p:cNvSpPr>
            <a:spLocks noGrp="1"/>
          </p:cNvSpPr>
          <p:nvPr>
            <p:ph type="sldNum" sz="quarter" idx="12"/>
          </p:nvPr>
        </p:nvSpPr>
        <p:spPr/>
        <p:txBody>
          <a:bodyPr/>
          <a:lstStyle/>
          <a:p>
            <a:fld id="{A0B59302-35AD-44E9-AC3C-8D1DAE3511F1}" type="slidenum">
              <a:rPr lang="zh-TW" altLang="en-US" smtClean="0"/>
              <a:pPr/>
              <a:t>52</a:t>
            </a:fld>
            <a:endParaRPr lang="zh-TW" altLang="en-US" dirty="0"/>
          </a:p>
        </p:txBody>
      </p:sp>
      <p:pic>
        <p:nvPicPr>
          <p:cNvPr id="7" name="圖片 6">
            <a:extLst>
              <a:ext uri="{FF2B5EF4-FFF2-40B4-BE49-F238E27FC236}">
                <a16:creationId xmlns:a16="http://schemas.microsoft.com/office/drawing/2014/main" id="{D4735818-098F-48E6-9BBD-0D3D25CE306A}"/>
              </a:ext>
            </a:extLst>
          </p:cNvPr>
          <p:cNvPicPr>
            <a:picLocks noChangeAspect="1"/>
          </p:cNvPicPr>
          <p:nvPr/>
        </p:nvPicPr>
        <p:blipFill>
          <a:blip r:embed="rId2"/>
          <a:stretch>
            <a:fillRect/>
          </a:stretch>
        </p:blipFill>
        <p:spPr>
          <a:xfrm>
            <a:off x="4449732" y="1688305"/>
            <a:ext cx="7418418" cy="4694240"/>
          </a:xfrm>
          <a:prstGeom prst="rect">
            <a:avLst/>
          </a:prstGeom>
        </p:spPr>
      </p:pic>
      <p:sp>
        <p:nvSpPr>
          <p:cNvPr id="16" name="矩形 15">
            <a:extLst>
              <a:ext uri="{FF2B5EF4-FFF2-40B4-BE49-F238E27FC236}">
                <a16:creationId xmlns:a16="http://schemas.microsoft.com/office/drawing/2014/main" id="{992C332F-30AB-4183-961B-37D3EC50A1A8}"/>
              </a:ext>
            </a:extLst>
          </p:cNvPr>
          <p:cNvSpPr/>
          <p:nvPr/>
        </p:nvSpPr>
        <p:spPr>
          <a:xfrm>
            <a:off x="6356909" y="2406701"/>
            <a:ext cx="1360627" cy="201954"/>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sp>
        <p:nvSpPr>
          <p:cNvPr id="17" name="矩形 16">
            <a:extLst>
              <a:ext uri="{FF2B5EF4-FFF2-40B4-BE49-F238E27FC236}">
                <a16:creationId xmlns:a16="http://schemas.microsoft.com/office/drawing/2014/main" id="{BAC708A4-1DA8-48E8-B0F7-5EAFC8C9B32A}"/>
              </a:ext>
            </a:extLst>
          </p:cNvPr>
          <p:cNvSpPr/>
          <p:nvPr/>
        </p:nvSpPr>
        <p:spPr>
          <a:xfrm>
            <a:off x="6297278" y="5775019"/>
            <a:ext cx="754575" cy="201954"/>
          </a:xfrm>
          <a:prstGeom prst="rect">
            <a:avLst/>
          </a:prstGeom>
          <a:no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dirty="0"/>
          </a:p>
        </p:txBody>
      </p:sp>
      <p:cxnSp>
        <p:nvCxnSpPr>
          <p:cNvPr id="20" name="接點: 肘形 19">
            <a:extLst>
              <a:ext uri="{FF2B5EF4-FFF2-40B4-BE49-F238E27FC236}">
                <a16:creationId xmlns:a16="http://schemas.microsoft.com/office/drawing/2014/main" id="{C0E24775-50B4-4C0F-8399-8FFD68991A6C}"/>
              </a:ext>
            </a:extLst>
          </p:cNvPr>
          <p:cNvCxnSpPr>
            <a:cxnSpLocks/>
            <a:stCxn id="16" idx="1"/>
            <a:endCxn id="17" idx="1"/>
          </p:cNvCxnSpPr>
          <p:nvPr/>
        </p:nvCxnSpPr>
        <p:spPr>
          <a:xfrm rot="10800000" flipV="1">
            <a:off x="6297279" y="2507678"/>
            <a:ext cx="59631" cy="3368318"/>
          </a:xfrm>
          <a:prstGeom prst="bentConnector3">
            <a:avLst>
              <a:gd name="adj1" fmla="val 483358"/>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720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82DB2576-7028-4C8F-988B-216237D08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812" y="600075"/>
            <a:ext cx="9096375" cy="5657850"/>
          </a:xfrm>
          <a:prstGeom prst="rect">
            <a:avLst/>
          </a:prstGeom>
        </p:spPr>
      </p:pic>
      <p:sp>
        <p:nvSpPr>
          <p:cNvPr id="6" name="矩形 5">
            <a:extLst>
              <a:ext uri="{FF2B5EF4-FFF2-40B4-BE49-F238E27FC236}">
                <a16:creationId xmlns:a16="http://schemas.microsoft.com/office/drawing/2014/main" id="{21408629-E2C8-4B03-9BFE-B0D18D21E524}"/>
              </a:ext>
            </a:extLst>
          </p:cNvPr>
          <p:cNvSpPr/>
          <p:nvPr/>
        </p:nvSpPr>
        <p:spPr>
          <a:xfrm>
            <a:off x="1569078" y="949568"/>
            <a:ext cx="404080" cy="5046785"/>
          </a:xfrm>
          <a:prstGeom prst="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1E107A36-A78E-4CCC-875B-A36EC414752C}"/>
              </a:ext>
            </a:extLst>
          </p:cNvPr>
          <p:cNvSpPr/>
          <p:nvPr/>
        </p:nvSpPr>
        <p:spPr>
          <a:xfrm>
            <a:off x="2026322" y="949568"/>
            <a:ext cx="2779593" cy="5046785"/>
          </a:xfrm>
          <a:prstGeom prst="rect">
            <a:avLst/>
          </a:prstGeom>
          <a:noFill/>
          <a:ln w="25400">
            <a:solidFill>
              <a:srgbClr val="A7D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BB704EDE-643F-46CE-9E11-F6C4C04D5A17}"/>
              </a:ext>
            </a:extLst>
          </p:cNvPr>
          <p:cNvSpPr/>
          <p:nvPr/>
        </p:nvSpPr>
        <p:spPr>
          <a:xfrm>
            <a:off x="4860393" y="949568"/>
            <a:ext cx="5762529" cy="5046785"/>
          </a:xfrm>
          <a:prstGeom prst="rect">
            <a:avLst/>
          </a:prstGeom>
          <a:no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A7D294A1-42C4-4461-B1BB-7BD53FF88932}"/>
              </a:ext>
            </a:extLst>
          </p:cNvPr>
          <p:cNvSpPr/>
          <p:nvPr/>
        </p:nvSpPr>
        <p:spPr>
          <a:xfrm>
            <a:off x="1547812" y="6060556"/>
            <a:ext cx="9096375" cy="197369"/>
          </a:xfrm>
          <a:prstGeom prst="rect">
            <a:avLst/>
          </a:prstGeom>
          <a:noFill/>
          <a:ln w="25400">
            <a:solidFill>
              <a:srgbClr val="F263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語音泡泡: 圓角矩形 9">
            <a:extLst>
              <a:ext uri="{FF2B5EF4-FFF2-40B4-BE49-F238E27FC236}">
                <a16:creationId xmlns:a16="http://schemas.microsoft.com/office/drawing/2014/main" id="{AE147585-FFE7-462F-85A5-28F275AE6361}"/>
              </a:ext>
            </a:extLst>
          </p:cNvPr>
          <p:cNvSpPr/>
          <p:nvPr/>
        </p:nvSpPr>
        <p:spPr>
          <a:xfrm>
            <a:off x="7028698" y="2664926"/>
            <a:ext cx="1425917" cy="960776"/>
          </a:xfrm>
          <a:prstGeom prst="wedgeRoundRectCallout">
            <a:avLst>
              <a:gd name="adj1" fmla="val -73193"/>
              <a:gd name="adj2" fmla="val -31284"/>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程式撰寫區域</a:t>
            </a:r>
            <a:endParaRPr lang="en-US" altLang="zh-TW" sz="2400" dirty="0">
              <a:latin typeface="華康中特圓體" panose="020F0809000000000000" pitchFamily="49" charset="-120"/>
              <a:ea typeface="華康中特圓體" panose="020F0809000000000000" pitchFamily="49" charset="-120"/>
            </a:endParaRPr>
          </a:p>
        </p:txBody>
      </p:sp>
      <p:sp>
        <p:nvSpPr>
          <p:cNvPr id="11" name="語音泡泡: 圓角矩形 10">
            <a:extLst>
              <a:ext uri="{FF2B5EF4-FFF2-40B4-BE49-F238E27FC236}">
                <a16:creationId xmlns:a16="http://schemas.microsoft.com/office/drawing/2014/main" id="{098CB6D7-4B94-4E28-8330-AEA126211B18}"/>
              </a:ext>
            </a:extLst>
          </p:cNvPr>
          <p:cNvSpPr/>
          <p:nvPr/>
        </p:nvSpPr>
        <p:spPr>
          <a:xfrm>
            <a:off x="5681907" y="5341060"/>
            <a:ext cx="1601395" cy="556437"/>
          </a:xfrm>
          <a:prstGeom prst="wedgeRoundRectCallout">
            <a:avLst>
              <a:gd name="adj1" fmla="val -68545"/>
              <a:gd name="adj2" fmla="val 27952"/>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華康中特圓體" panose="020F0809000000000000" pitchFamily="49" charset="-120"/>
                <a:ea typeface="華康中特圓體" panose="020F0809000000000000" pitchFamily="49" charset="-120"/>
              </a:rPr>
              <a:t>執行結果</a:t>
            </a:r>
            <a:endParaRPr lang="en-US" altLang="zh-TW" sz="2400" dirty="0">
              <a:latin typeface="華康中特圓體" panose="020F0809000000000000" pitchFamily="49" charset="-120"/>
              <a:ea typeface="華康中特圓體" panose="020F0809000000000000" pitchFamily="49" charset="-120"/>
            </a:endParaRPr>
          </a:p>
        </p:txBody>
      </p:sp>
      <p:sp>
        <p:nvSpPr>
          <p:cNvPr id="12" name="語音泡泡: 圓角矩形 11">
            <a:extLst>
              <a:ext uri="{FF2B5EF4-FFF2-40B4-BE49-F238E27FC236}">
                <a16:creationId xmlns:a16="http://schemas.microsoft.com/office/drawing/2014/main" id="{FA2CAF77-E328-48D3-9DBA-4B56DBCB7E54}"/>
              </a:ext>
            </a:extLst>
          </p:cNvPr>
          <p:cNvSpPr/>
          <p:nvPr/>
        </p:nvSpPr>
        <p:spPr>
          <a:xfrm>
            <a:off x="2555935" y="1704150"/>
            <a:ext cx="1962902" cy="960776"/>
          </a:xfrm>
          <a:prstGeom prst="wedgeRoundRectCallout">
            <a:avLst>
              <a:gd name="adj1" fmla="val -62359"/>
              <a:gd name="adj2" fmla="val -47884"/>
              <a:gd name="adj3" fmla="val 16667"/>
            </a:avLst>
          </a:prstGeom>
          <a:solidFill>
            <a:srgbClr val="A7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華康中特圓體" panose="020F0809000000000000" pitchFamily="49" charset="-120"/>
                <a:ea typeface="華康中特圓體" panose="020F0809000000000000" pitchFamily="49" charset="-120"/>
              </a:rPr>
              <a:t>快速功能鍵的顯示列表</a:t>
            </a:r>
            <a:endParaRPr lang="en-US" altLang="zh-TW" sz="2400" dirty="0">
              <a:solidFill>
                <a:schemeClr val="tx1"/>
              </a:solidFill>
              <a:latin typeface="華康中特圓體" panose="020F0809000000000000" pitchFamily="49" charset="-120"/>
              <a:ea typeface="華康中特圓體" panose="020F0809000000000000" pitchFamily="49" charset="-120"/>
            </a:endParaRPr>
          </a:p>
        </p:txBody>
      </p:sp>
      <p:sp>
        <p:nvSpPr>
          <p:cNvPr id="13" name="語音泡泡: 圓角矩形 12">
            <a:extLst>
              <a:ext uri="{FF2B5EF4-FFF2-40B4-BE49-F238E27FC236}">
                <a16:creationId xmlns:a16="http://schemas.microsoft.com/office/drawing/2014/main" id="{64E62E40-1A20-4CAC-99E4-1A2AD794A783}"/>
              </a:ext>
            </a:extLst>
          </p:cNvPr>
          <p:cNvSpPr/>
          <p:nvPr/>
        </p:nvSpPr>
        <p:spPr>
          <a:xfrm>
            <a:off x="1872195" y="3667903"/>
            <a:ext cx="1962902" cy="525172"/>
          </a:xfrm>
          <a:prstGeom prst="wedgeRoundRectCallout">
            <a:avLst>
              <a:gd name="adj1" fmla="val -59109"/>
              <a:gd name="adj2" fmla="val -47884"/>
              <a:gd name="adj3"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華康中特圓體" panose="020F0809000000000000" pitchFamily="49" charset="-120"/>
                <a:ea typeface="華康中特圓體" panose="020F0809000000000000" pitchFamily="49" charset="-120"/>
              </a:rPr>
              <a:t>快速功能鍵</a:t>
            </a:r>
            <a:endParaRPr lang="en-US" altLang="zh-TW" sz="2400" dirty="0">
              <a:solidFill>
                <a:schemeClr val="tx1"/>
              </a:solidFill>
              <a:latin typeface="華康中特圓體" panose="020F0809000000000000" pitchFamily="49" charset="-120"/>
              <a:ea typeface="華康中特圓體" panose="020F0809000000000000" pitchFamily="49" charset="-120"/>
            </a:endParaRPr>
          </a:p>
        </p:txBody>
      </p:sp>
      <p:sp>
        <p:nvSpPr>
          <p:cNvPr id="14" name="語音泡泡: 圓角矩形 13">
            <a:extLst>
              <a:ext uri="{FF2B5EF4-FFF2-40B4-BE49-F238E27FC236}">
                <a16:creationId xmlns:a16="http://schemas.microsoft.com/office/drawing/2014/main" id="{AE990B53-1B7F-4F0C-A175-3CDDE1E60341}"/>
              </a:ext>
            </a:extLst>
          </p:cNvPr>
          <p:cNvSpPr/>
          <p:nvPr/>
        </p:nvSpPr>
        <p:spPr>
          <a:xfrm>
            <a:off x="3416118" y="5710083"/>
            <a:ext cx="1348363" cy="525172"/>
          </a:xfrm>
          <a:prstGeom prst="wedgeRoundRectCallout">
            <a:avLst>
              <a:gd name="adj1" fmla="val -67783"/>
              <a:gd name="adj2" fmla="val 43222"/>
              <a:gd name="adj3" fmla="val 16667"/>
            </a:avLst>
          </a:prstGeom>
          <a:solidFill>
            <a:srgbClr val="F263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bg1"/>
                </a:solidFill>
                <a:latin typeface="華康中特圓體" panose="020F0809000000000000" pitchFamily="49" charset="-120"/>
                <a:ea typeface="華康中特圓體" panose="020F0809000000000000" pitchFamily="49" charset="-120"/>
              </a:rPr>
              <a:t>狀態列</a:t>
            </a:r>
            <a:endParaRPr lang="en-US" altLang="zh-TW" sz="2400" dirty="0">
              <a:solidFill>
                <a:schemeClr val="bg1"/>
              </a:solidFill>
              <a:latin typeface="華康中特圓體" panose="020F0809000000000000" pitchFamily="49" charset="-120"/>
              <a:ea typeface="華康中特圓體" panose="020F0809000000000000" pitchFamily="49" charset="-120"/>
            </a:endParaRPr>
          </a:p>
        </p:txBody>
      </p:sp>
    </p:spTree>
    <p:extLst>
      <p:ext uri="{BB962C8B-B14F-4D97-AF65-F5344CB8AC3E}">
        <p14:creationId xmlns:p14="http://schemas.microsoft.com/office/powerpoint/2010/main" val="2760072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FBFA3E-3ADB-4428-AD02-1FF7B22C86EB}"/>
              </a:ext>
            </a:extLst>
          </p:cNvPr>
          <p:cNvSpPr>
            <a:spLocks noGrp="1"/>
          </p:cNvSpPr>
          <p:nvPr>
            <p:ph type="title"/>
          </p:nvPr>
        </p:nvSpPr>
        <p:spPr/>
        <p:txBody>
          <a:bodyPr/>
          <a:lstStyle/>
          <a:p>
            <a:r>
              <a:rPr lang="zh-TW" altLang="en-US" dirty="0"/>
              <a:t>電腦技能基金會</a:t>
            </a:r>
            <a:r>
              <a:rPr lang="en-US" altLang="zh-TW" dirty="0"/>
              <a:t>(CSF)</a:t>
            </a:r>
            <a:endParaRPr lang="zh-TW" altLang="en-US" dirty="0"/>
          </a:p>
        </p:txBody>
      </p:sp>
      <p:sp>
        <p:nvSpPr>
          <p:cNvPr id="3" name="內容版面配置區 2">
            <a:extLst>
              <a:ext uri="{FF2B5EF4-FFF2-40B4-BE49-F238E27FC236}">
                <a16:creationId xmlns:a16="http://schemas.microsoft.com/office/drawing/2014/main" id="{EB17BF50-7192-4955-BF04-93B1CFA85931}"/>
              </a:ext>
            </a:extLst>
          </p:cNvPr>
          <p:cNvSpPr>
            <a:spLocks noGrp="1"/>
          </p:cNvSpPr>
          <p:nvPr>
            <p:ph idx="1"/>
          </p:nvPr>
        </p:nvSpPr>
        <p:spPr/>
        <p:txBody>
          <a:bodyPr>
            <a:normAutofit/>
          </a:bodyPr>
          <a:lstStyle/>
          <a:p>
            <a:r>
              <a:rPr lang="zh-TW" altLang="en-US" dirty="0"/>
              <a:t>相比起 </a:t>
            </a:r>
            <a:r>
              <a:rPr lang="en-US" altLang="zh-TW" dirty="0"/>
              <a:t>Anaconda</a:t>
            </a:r>
            <a:r>
              <a:rPr lang="zh-TW" altLang="en-US" dirty="0"/>
              <a:t>，</a:t>
            </a:r>
            <a:r>
              <a:rPr lang="en-US" altLang="zh-TW" dirty="0"/>
              <a:t>VS Code </a:t>
            </a:r>
            <a:r>
              <a:rPr lang="zh-TW" altLang="en-US" dirty="0"/>
              <a:t>的安裝方式的確有些繁瑣，對初學者而言並不友善。</a:t>
            </a:r>
            <a:endParaRPr lang="en-US" altLang="zh-TW" dirty="0"/>
          </a:p>
          <a:p>
            <a:pPr lvl="3"/>
            <a:endParaRPr lang="en-US" altLang="zh-TW" dirty="0"/>
          </a:p>
          <a:p>
            <a:r>
              <a:rPr lang="zh-TW" altLang="en-US" dirty="0"/>
              <a:t>隨著 </a:t>
            </a:r>
            <a:r>
              <a:rPr lang="en-US" altLang="zh-TW" dirty="0"/>
              <a:t>TQC+ </a:t>
            </a:r>
            <a:r>
              <a:rPr lang="zh-TW" altLang="en-US" dirty="0"/>
              <a:t>各項程式語言認證陸續推出，也越來越多人使用 </a:t>
            </a:r>
            <a:r>
              <a:rPr lang="en-US" altLang="zh-TW" dirty="0"/>
              <a:t>VS Code </a:t>
            </a:r>
            <a:r>
              <a:rPr lang="zh-TW" altLang="en-US" dirty="0"/>
              <a:t>應考，為了讓編輯環境的設定更便利，電腦技能基金會製作一個擴充插件組合包「</a:t>
            </a:r>
            <a:r>
              <a:rPr lang="en-US" altLang="zh-TW" dirty="0"/>
              <a:t>CSF Extension</a:t>
            </a:r>
            <a:r>
              <a:rPr lang="zh-TW" altLang="en-US" dirty="0"/>
              <a:t>」打包多個相依插件，以便於簡化安裝程序。</a:t>
            </a:r>
            <a:endParaRPr lang="en-US" altLang="zh-TW" dirty="0"/>
          </a:p>
          <a:p>
            <a:pPr lvl="1"/>
            <a:r>
              <a:rPr lang="zh-TW" altLang="en-US" dirty="0"/>
              <a:t>安裝與設定方式可參考 </a:t>
            </a:r>
            <a:r>
              <a:rPr lang="en-US" altLang="zh-TW" dirty="0">
                <a:hlinkClick r:id="rId2">
                  <a:extLst>
                    <a:ext uri="{A12FA001-AC4F-418D-AE19-62706E023703}">
                      <ahyp:hlinkClr xmlns:ahyp="http://schemas.microsoft.com/office/drawing/2018/hyperlinkcolor" val="tx"/>
                    </a:ext>
                  </a:extLst>
                </a:hlinkClick>
              </a:rPr>
              <a:t>https://csfrd.gitbook.io/csfextension-tao-jian-jie-shao/vscode</a:t>
            </a:r>
            <a:r>
              <a:rPr lang="zh-TW" altLang="en-US" dirty="0"/>
              <a:t>。</a:t>
            </a:r>
          </a:p>
        </p:txBody>
      </p:sp>
      <p:sp>
        <p:nvSpPr>
          <p:cNvPr id="4" name="投影片編號版面配置區 3">
            <a:extLst>
              <a:ext uri="{FF2B5EF4-FFF2-40B4-BE49-F238E27FC236}">
                <a16:creationId xmlns:a16="http://schemas.microsoft.com/office/drawing/2014/main" id="{0BCAE618-0EA4-4447-8EFA-D9C5B6904892}"/>
              </a:ext>
            </a:extLst>
          </p:cNvPr>
          <p:cNvSpPr>
            <a:spLocks noGrp="1"/>
          </p:cNvSpPr>
          <p:nvPr>
            <p:ph type="sldNum" sz="quarter" idx="12"/>
          </p:nvPr>
        </p:nvSpPr>
        <p:spPr/>
        <p:txBody>
          <a:bodyPr/>
          <a:lstStyle/>
          <a:p>
            <a:fld id="{A0B59302-35AD-44E9-AC3C-8D1DAE3511F1}" type="slidenum">
              <a:rPr lang="zh-TW" altLang="en-US" smtClean="0"/>
              <a:pPr/>
              <a:t>54</a:t>
            </a:fld>
            <a:endParaRPr lang="zh-TW" altLang="en-US" dirty="0"/>
          </a:p>
        </p:txBody>
      </p:sp>
    </p:spTree>
    <p:extLst>
      <p:ext uri="{BB962C8B-B14F-4D97-AF65-F5344CB8AC3E}">
        <p14:creationId xmlns:p14="http://schemas.microsoft.com/office/powerpoint/2010/main" val="693843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252AF2-872F-C41D-EC08-BE208A25F34A}"/>
              </a:ext>
            </a:extLst>
          </p:cNvPr>
          <p:cNvSpPr>
            <a:spLocks noGrp="1"/>
          </p:cNvSpPr>
          <p:nvPr>
            <p:ph type="title"/>
          </p:nvPr>
        </p:nvSpPr>
        <p:spPr/>
        <p:txBody>
          <a:bodyPr>
            <a:noAutofit/>
          </a:bodyPr>
          <a:lstStyle/>
          <a:p>
            <a:r>
              <a:rPr lang="en-US" altLang="zh-TW" sz="3600" dirty="0"/>
              <a:t>Python </a:t>
            </a:r>
            <a:r>
              <a:rPr lang="zh-TW" altLang="en-US" sz="3600" dirty="0"/>
              <a:t>程式設計</a:t>
            </a:r>
            <a:br>
              <a:rPr lang="zh-TW" altLang="en-US" sz="3600" dirty="0"/>
            </a:br>
            <a:r>
              <a:rPr lang="en-US" altLang="zh-TW" sz="3600" dirty="0"/>
              <a:t>https://www.python.org/</a:t>
            </a:r>
            <a:endParaRPr lang="zh-TW" altLang="en-US" sz="3600" dirty="0"/>
          </a:p>
        </p:txBody>
      </p:sp>
      <p:sp>
        <p:nvSpPr>
          <p:cNvPr id="4" name="投影片編號版面配置區 3">
            <a:extLst>
              <a:ext uri="{FF2B5EF4-FFF2-40B4-BE49-F238E27FC236}">
                <a16:creationId xmlns:a16="http://schemas.microsoft.com/office/drawing/2014/main" id="{86D5FB1B-9054-F3EB-6FEA-E6380053388E}"/>
              </a:ext>
            </a:extLst>
          </p:cNvPr>
          <p:cNvSpPr>
            <a:spLocks noGrp="1"/>
          </p:cNvSpPr>
          <p:nvPr>
            <p:ph type="sldNum" sz="quarter" idx="12"/>
          </p:nvPr>
        </p:nvSpPr>
        <p:spPr/>
        <p:txBody>
          <a:bodyPr/>
          <a:lstStyle/>
          <a:p>
            <a:fld id="{A0B59302-35AD-44E9-AC3C-8D1DAE3511F1}" type="slidenum">
              <a:rPr lang="zh-TW" altLang="en-US" smtClean="0"/>
              <a:pPr/>
              <a:t>55</a:t>
            </a:fld>
            <a:endParaRPr lang="zh-TW" altLang="en-US" dirty="0"/>
          </a:p>
        </p:txBody>
      </p:sp>
      <p:sp>
        <p:nvSpPr>
          <p:cNvPr id="6" name="文字方塊 5">
            <a:extLst>
              <a:ext uri="{FF2B5EF4-FFF2-40B4-BE49-F238E27FC236}">
                <a16:creationId xmlns:a16="http://schemas.microsoft.com/office/drawing/2014/main" id="{06E8FE20-F96D-08EF-C265-305496E64A8A}"/>
              </a:ext>
            </a:extLst>
          </p:cNvPr>
          <p:cNvSpPr txBox="1"/>
          <p:nvPr/>
        </p:nvSpPr>
        <p:spPr>
          <a:xfrm>
            <a:off x="581025" y="2370897"/>
            <a:ext cx="6096000" cy="646331"/>
          </a:xfrm>
          <a:prstGeom prst="rect">
            <a:avLst/>
          </a:prstGeom>
          <a:noFill/>
        </p:spPr>
        <p:txBody>
          <a:bodyPr wrap="square">
            <a:spAutoFit/>
          </a:bodyPr>
          <a:lstStyle/>
          <a:p>
            <a:pPr marL="0" marR="0" indent="0" algn="l">
              <a:lnSpc>
                <a:spcPct val="100000"/>
              </a:lnSpc>
              <a:buNone/>
            </a:pPr>
            <a:r>
              <a:rPr lang="zh-TW" altLang="zh-TW" sz="1800" b="1" i="1" dirty="0">
                <a:effectLst/>
                <a:latin typeface="+mn-lt"/>
                <a:ea typeface="inherit"/>
              </a:rPr>
              <a:t>官方中文版教程</a:t>
            </a:r>
            <a:endParaRPr lang="zh-TW" altLang="zh-TW" sz="1800" b="0" i="1" dirty="0">
              <a:effectLst/>
              <a:latin typeface="+mn-lt"/>
            </a:endParaRPr>
          </a:p>
          <a:p>
            <a:pPr marL="0" marR="0" indent="0" algn="l">
              <a:lnSpc>
                <a:spcPct val="100000"/>
              </a:lnSpc>
              <a:buNone/>
            </a:pPr>
            <a:r>
              <a:rPr lang="zh-TW" altLang="zh-TW" sz="1800" b="0" i="0" u="sng" dirty="0">
                <a:effectLst/>
                <a:latin typeface="+mn-lt"/>
                <a:hlinkClick r:id="rId2">
                  <a:extLst>
                    <a:ext uri="{A12FA001-AC4F-418D-AE19-62706E023703}">
                      <ahyp:hlinkClr xmlns:ahyp="http://schemas.microsoft.com/office/drawing/2018/hyperlinkcolor" val="tx"/>
                    </a:ext>
                  </a:extLst>
                </a:hlinkClick>
              </a:rPr>
              <a:t>https://docs.python.org/zh-tw/3.10/index.html</a:t>
            </a:r>
            <a:endParaRPr lang="zh-TW" altLang="zh-TW" sz="1500" b="0" i="0" dirty="0">
              <a:effectLst/>
              <a:latin typeface="source-serif-pro"/>
            </a:endParaRPr>
          </a:p>
        </p:txBody>
      </p:sp>
      <p:sp>
        <p:nvSpPr>
          <p:cNvPr id="8" name="文字方塊 7">
            <a:extLst>
              <a:ext uri="{FF2B5EF4-FFF2-40B4-BE49-F238E27FC236}">
                <a16:creationId xmlns:a16="http://schemas.microsoft.com/office/drawing/2014/main" id="{B4E63383-C3C0-97F7-6EE1-A5BB4606C781}"/>
              </a:ext>
            </a:extLst>
          </p:cNvPr>
          <p:cNvSpPr txBox="1"/>
          <p:nvPr/>
        </p:nvSpPr>
        <p:spPr>
          <a:xfrm>
            <a:off x="581025" y="3163469"/>
            <a:ext cx="6096000" cy="646331"/>
          </a:xfrm>
          <a:prstGeom prst="rect">
            <a:avLst/>
          </a:prstGeom>
          <a:noFill/>
        </p:spPr>
        <p:txBody>
          <a:bodyPr wrap="square">
            <a:spAutoFit/>
          </a:bodyPr>
          <a:lstStyle/>
          <a:p>
            <a:r>
              <a:rPr lang="en-US" altLang="zh-TW" sz="1800" b="1" i="1" spc="-5" dirty="0" err="1">
                <a:effectLst/>
                <a:latin typeface="+mn-lt"/>
                <a:ea typeface="inherit"/>
              </a:rPr>
              <a:t>Learnpython</a:t>
            </a:r>
            <a:endParaRPr lang="en-US" altLang="zh-TW" sz="1800" b="1" i="1" spc="-5" dirty="0">
              <a:effectLst/>
              <a:latin typeface="+mn-lt"/>
              <a:ea typeface="inherit"/>
            </a:endParaRPr>
          </a:p>
          <a:p>
            <a:r>
              <a:rPr lang="en-US" altLang="zh-TW" dirty="0">
                <a:hlinkClick r:id="rId3">
                  <a:extLst>
                    <a:ext uri="{A12FA001-AC4F-418D-AE19-62706E023703}">
                      <ahyp:hlinkClr xmlns:ahyp="http://schemas.microsoft.com/office/drawing/2018/hyperlinkcolor" val="tx"/>
                    </a:ext>
                  </a:extLst>
                </a:hlinkClick>
              </a:rPr>
              <a:t>https://www.learnpython.org/</a:t>
            </a:r>
            <a:endParaRPr lang="zh-TW" altLang="en-US" dirty="0"/>
          </a:p>
        </p:txBody>
      </p:sp>
      <p:sp>
        <p:nvSpPr>
          <p:cNvPr id="10" name="文字方塊 9">
            <a:extLst>
              <a:ext uri="{FF2B5EF4-FFF2-40B4-BE49-F238E27FC236}">
                <a16:creationId xmlns:a16="http://schemas.microsoft.com/office/drawing/2014/main" id="{666A0CF1-B2EA-1439-551A-EF5ED81B7A6E}"/>
              </a:ext>
            </a:extLst>
          </p:cNvPr>
          <p:cNvSpPr txBox="1"/>
          <p:nvPr/>
        </p:nvSpPr>
        <p:spPr>
          <a:xfrm>
            <a:off x="581025" y="3956041"/>
            <a:ext cx="6096000" cy="646331"/>
          </a:xfrm>
          <a:prstGeom prst="rect">
            <a:avLst/>
          </a:prstGeom>
          <a:noFill/>
        </p:spPr>
        <p:txBody>
          <a:bodyPr wrap="square">
            <a:spAutoFit/>
          </a:bodyPr>
          <a:lstStyle/>
          <a:p>
            <a:pPr marL="0" marR="0" indent="0" algn="l">
              <a:buNone/>
            </a:pPr>
            <a:r>
              <a:rPr lang="zh-TW" altLang="zh-TW" sz="1800" b="1" i="0" dirty="0">
                <a:effectLst/>
                <a:latin typeface="+mn-lt"/>
              </a:rPr>
              <a:t>Visualize code execution</a:t>
            </a:r>
            <a:endParaRPr lang="en-US" altLang="zh-TW" sz="1800" b="1" i="0" dirty="0">
              <a:effectLst/>
              <a:latin typeface="+mn-lt"/>
            </a:endParaRPr>
          </a:p>
          <a:p>
            <a:r>
              <a:rPr lang="en-US" altLang="zh-TW" dirty="0">
                <a:latin typeface="Radio Canada Big"/>
                <a:hlinkClick r:id="rId4">
                  <a:extLst>
                    <a:ext uri="{A12FA001-AC4F-418D-AE19-62706E023703}">
                      <ahyp:hlinkClr xmlns:ahyp="http://schemas.microsoft.com/office/drawing/2018/hyperlinkcolor" val="tx"/>
                    </a:ext>
                  </a:extLst>
                </a:hlinkClick>
              </a:rPr>
              <a:t>https://pythontutor.com/</a:t>
            </a:r>
            <a:endParaRPr lang="zh-TW" altLang="zh-TW" i="0" dirty="0">
              <a:effectLst/>
              <a:latin typeface="Radio Canada Big"/>
            </a:endParaRPr>
          </a:p>
        </p:txBody>
      </p:sp>
      <p:sp>
        <p:nvSpPr>
          <p:cNvPr id="12" name="文字方塊 11">
            <a:extLst>
              <a:ext uri="{FF2B5EF4-FFF2-40B4-BE49-F238E27FC236}">
                <a16:creationId xmlns:a16="http://schemas.microsoft.com/office/drawing/2014/main" id="{A3FF51AE-F5AB-E1A8-57EE-42169A0BA39A}"/>
              </a:ext>
            </a:extLst>
          </p:cNvPr>
          <p:cNvSpPr txBox="1"/>
          <p:nvPr/>
        </p:nvSpPr>
        <p:spPr>
          <a:xfrm>
            <a:off x="5772150" y="2329110"/>
            <a:ext cx="3812458" cy="1200329"/>
          </a:xfrm>
          <a:prstGeom prst="rect">
            <a:avLst/>
          </a:prstGeom>
          <a:noFill/>
        </p:spPr>
        <p:txBody>
          <a:bodyPr wrap="square">
            <a:spAutoFit/>
          </a:bodyPr>
          <a:lstStyle/>
          <a:p>
            <a:pPr indent="0" algn="l">
              <a:buNone/>
            </a:pPr>
            <a:r>
              <a:rPr lang="zh-TW" altLang="zh-TW" b="1" i="0" dirty="0">
                <a:effectLst/>
                <a:latin typeface="+mn-lt"/>
              </a:rPr>
              <a:t>Thonny</a:t>
            </a:r>
          </a:p>
          <a:p>
            <a:pPr indent="0" algn="l">
              <a:buNone/>
            </a:pPr>
            <a:r>
              <a:rPr lang="zh-TW" altLang="zh-TW" b="0" i="0" dirty="0">
                <a:effectLst/>
                <a:latin typeface="+mn-lt"/>
              </a:rPr>
              <a:t>Python IDE for beginners</a:t>
            </a:r>
          </a:p>
          <a:p>
            <a:pPr>
              <a:buNone/>
            </a:pPr>
            <a:r>
              <a:rPr lang="en-US" altLang="zh-TW" dirty="0">
                <a:solidFill>
                  <a:srgbClr val="0563C1"/>
                </a:solidFill>
                <a:hlinkClick r:id="rId5">
                  <a:extLst>
                    <a:ext uri="{A12FA001-AC4F-418D-AE19-62706E023703}">
                      <ahyp:hlinkClr xmlns:ahyp="http://schemas.microsoft.com/office/drawing/2018/hyperlinkcolor" val="tx"/>
                    </a:ext>
                  </a:extLst>
                </a:hlinkClick>
              </a:rPr>
              <a:t>https://thonny.org/</a:t>
            </a:r>
            <a:br>
              <a:rPr lang="zh-TW" altLang="zh-TW" dirty="0">
                <a:hlinkClick r:id="rId5">
                  <a:extLst>
                    <a:ext uri="{A12FA001-AC4F-418D-AE19-62706E023703}">
                      <ahyp:hlinkClr xmlns:ahyp="http://schemas.microsoft.com/office/drawing/2018/hyperlinkcolor" val="tx"/>
                    </a:ext>
                  </a:extLst>
                </a:hlinkClick>
              </a:rPr>
            </a:br>
            <a:endParaRPr lang="zh-TW" altLang="en-US" dirty="0"/>
          </a:p>
        </p:txBody>
      </p:sp>
      <p:sp>
        <p:nvSpPr>
          <p:cNvPr id="14" name="文字方塊 13">
            <a:extLst>
              <a:ext uri="{FF2B5EF4-FFF2-40B4-BE49-F238E27FC236}">
                <a16:creationId xmlns:a16="http://schemas.microsoft.com/office/drawing/2014/main" id="{31E7A71A-A280-3980-2F67-8D32CBCB3438}"/>
              </a:ext>
            </a:extLst>
          </p:cNvPr>
          <p:cNvSpPr txBox="1"/>
          <p:nvPr/>
        </p:nvSpPr>
        <p:spPr>
          <a:xfrm>
            <a:off x="5772150" y="3457009"/>
            <a:ext cx="6096000" cy="923330"/>
          </a:xfrm>
          <a:prstGeom prst="rect">
            <a:avLst/>
          </a:prstGeom>
          <a:noFill/>
        </p:spPr>
        <p:txBody>
          <a:bodyPr wrap="square">
            <a:spAutoFit/>
          </a:bodyPr>
          <a:lstStyle/>
          <a:p>
            <a:pPr indent="0">
              <a:lnSpc>
                <a:spcPct val="100000"/>
              </a:lnSpc>
              <a:buNone/>
            </a:pPr>
            <a:r>
              <a:rPr lang="zh-TW" altLang="zh-TW" dirty="0"/>
              <a:t> VS Code</a:t>
            </a:r>
            <a:endParaRPr lang="en-US" altLang="zh-TW" sz="1800" b="1" i="0" spc="-60" dirty="0">
              <a:effectLst/>
              <a:latin typeface="+mn-lt"/>
            </a:endParaRPr>
          </a:p>
          <a:p>
            <a:pPr indent="0">
              <a:lnSpc>
                <a:spcPct val="100000"/>
              </a:lnSpc>
              <a:buNone/>
            </a:pPr>
            <a:r>
              <a:rPr lang="zh-TW" altLang="zh-TW" sz="1800" b="1" i="0" spc="-60" dirty="0">
                <a:effectLst/>
                <a:latin typeface="+mn-lt"/>
              </a:rPr>
              <a:t>The open source AI code editor</a:t>
            </a:r>
            <a:endParaRPr lang="en-US" altLang="zh-TW" sz="1800" b="1" i="0" spc="-60" dirty="0">
              <a:effectLst/>
              <a:latin typeface="+mn-lt"/>
            </a:endParaRPr>
          </a:p>
          <a:p>
            <a:pPr indent="0">
              <a:lnSpc>
                <a:spcPct val="100000"/>
              </a:lnSpc>
              <a:buNone/>
            </a:pPr>
            <a:r>
              <a:rPr lang="en-US" altLang="zh-TW" spc="-60" dirty="0">
                <a:latin typeface="system-ui"/>
                <a:hlinkClick r:id="rId6">
                  <a:extLst>
                    <a:ext uri="{A12FA001-AC4F-418D-AE19-62706E023703}">
                      <ahyp:hlinkClr xmlns:ahyp="http://schemas.microsoft.com/office/drawing/2018/hyperlinkcolor" val="tx"/>
                    </a:ext>
                  </a:extLst>
                </a:hlinkClick>
              </a:rPr>
              <a:t>https://code.visualstudio.com/</a:t>
            </a:r>
            <a:endParaRPr lang="zh-TW" altLang="zh-TW" i="0" spc="-60" dirty="0">
              <a:effectLst/>
              <a:latin typeface="system-ui"/>
            </a:endParaRPr>
          </a:p>
        </p:txBody>
      </p:sp>
      <p:sp>
        <p:nvSpPr>
          <p:cNvPr id="16" name="文字方塊 15">
            <a:extLst>
              <a:ext uri="{FF2B5EF4-FFF2-40B4-BE49-F238E27FC236}">
                <a16:creationId xmlns:a16="http://schemas.microsoft.com/office/drawing/2014/main" id="{E3C21BA7-EF08-AB03-83B5-7289E189516A}"/>
              </a:ext>
            </a:extLst>
          </p:cNvPr>
          <p:cNvSpPr txBox="1"/>
          <p:nvPr/>
        </p:nvSpPr>
        <p:spPr>
          <a:xfrm>
            <a:off x="5772150" y="4673879"/>
            <a:ext cx="6096000" cy="646331"/>
          </a:xfrm>
          <a:prstGeom prst="rect">
            <a:avLst/>
          </a:prstGeom>
          <a:noFill/>
        </p:spPr>
        <p:txBody>
          <a:bodyPr wrap="square">
            <a:spAutoFit/>
          </a:bodyPr>
          <a:lstStyle/>
          <a:p>
            <a:r>
              <a:rPr lang="zh-TW" altLang="zh-TW" b="1" dirty="0"/>
              <a:t>Google Colab</a:t>
            </a:r>
            <a:endParaRPr lang="en-US" altLang="zh-TW" b="1" dirty="0">
              <a:hlinkClick r:id="rId7">
                <a:extLst>
                  <a:ext uri="{A12FA001-AC4F-418D-AE19-62706E023703}">
                    <ahyp:hlinkClr xmlns:ahyp="http://schemas.microsoft.com/office/drawing/2018/hyperlinkcolor" val="tx"/>
                  </a:ext>
                </a:extLst>
              </a:hlinkClick>
            </a:endParaRPr>
          </a:p>
          <a:p>
            <a:r>
              <a:rPr lang="zh-TW" altLang="en-US" dirty="0">
                <a:hlinkClick r:id="rId7">
                  <a:extLst>
                    <a:ext uri="{A12FA001-AC4F-418D-AE19-62706E023703}">
                      <ahyp:hlinkClr xmlns:ahyp="http://schemas.microsoft.com/office/drawing/2018/hyperlinkcolor" val="tx"/>
                    </a:ext>
                  </a:extLst>
                </a:hlinkClick>
              </a:rPr>
              <a:t>https://colab.research.google.com/?hl=zh-tw</a:t>
            </a:r>
            <a:endParaRPr lang="zh-TW" altLang="en-US" dirty="0"/>
          </a:p>
        </p:txBody>
      </p:sp>
    </p:spTree>
    <p:extLst>
      <p:ext uri="{BB962C8B-B14F-4D97-AF65-F5344CB8AC3E}">
        <p14:creationId xmlns:p14="http://schemas.microsoft.com/office/powerpoint/2010/main" val="1101638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29B947E-0E37-5567-2911-CE2C4A24FA18}"/>
              </a:ext>
            </a:extLst>
          </p:cNvPr>
          <p:cNvSpPr>
            <a:spLocks noGrp="1"/>
          </p:cNvSpPr>
          <p:nvPr>
            <p:ph type="sldNum" sz="quarter" idx="12"/>
          </p:nvPr>
        </p:nvSpPr>
        <p:spPr/>
        <p:txBody>
          <a:bodyPr/>
          <a:lstStyle/>
          <a:p>
            <a:fld id="{A0B59302-35AD-44E9-AC3C-8D1DAE3511F1}" type="slidenum">
              <a:rPr lang="zh-TW" altLang="en-US" smtClean="0"/>
              <a:pPr/>
              <a:t>56</a:t>
            </a:fld>
            <a:endParaRPr lang="zh-TW" altLang="en-US" dirty="0"/>
          </a:p>
        </p:txBody>
      </p:sp>
      <p:sp>
        <p:nvSpPr>
          <p:cNvPr id="6" name="文字方塊 5">
            <a:extLst>
              <a:ext uri="{FF2B5EF4-FFF2-40B4-BE49-F238E27FC236}">
                <a16:creationId xmlns:a16="http://schemas.microsoft.com/office/drawing/2014/main" id="{4D02D2B7-A169-EAE5-DB31-E227C1883174}"/>
              </a:ext>
            </a:extLst>
          </p:cNvPr>
          <p:cNvSpPr txBox="1"/>
          <p:nvPr/>
        </p:nvSpPr>
        <p:spPr>
          <a:xfrm>
            <a:off x="670195" y="456246"/>
            <a:ext cx="6096000" cy="369332"/>
          </a:xfrm>
          <a:prstGeom prst="rect">
            <a:avLst/>
          </a:prstGeom>
          <a:noFill/>
        </p:spPr>
        <p:txBody>
          <a:bodyPr wrap="square">
            <a:spAutoFit/>
          </a:bodyPr>
          <a:lstStyle/>
          <a:p>
            <a:pPr marL="0" marR="0" indent="0" algn="l">
              <a:spcAft>
                <a:spcPts val="1125"/>
              </a:spcAft>
              <a:buNone/>
            </a:pPr>
            <a:r>
              <a:rPr lang="zh-TW" altLang="zh-TW" b="1" i="0" dirty="0">
                <a:solidFill>
                  <a:schemeClr val="tx1"/>
                </a:solidFill>
                <a:effectLst/>
                <a:latin typeface="+mn-lt"/>
              </a:rPr>
              <a:t>Python 基礎範例 </a:t>
            </a:r>
            <a:endParaRPr lang="zh-TW" altLang="zh-TW" b="1" i="0" dirty="0">
              <a:solidFill>
                <a:srgbClr val="000000"/>
              </a:solidFill>
              <a:effectLst/>
              <a:latin typeface="Tahoma" panose="020B0604030504040204" pitchFamily="34" charset="0"/>
            </a:endParaRPr>
          </a:p>
        </p:txBody>
      </p:sp>
      <p:sp>
        <p:nvSpPr>
          <p:cNvPr id="8" name="文字方塊 7">
            <a:extLst>
              <a:ext uri="{FF2B5EF4-FFF2-40B4-BE49-F238E27FC236}">
                <a16:creationId xmlns:a16="http://schemas.microsoft.com/office/drawing/2014/main" id="{2C206DC0-80FA-F936-18E4-888283517E2C}"/>
              </a:ext>
            </a:extLst>
          </p:cNvPr>
          <p:cNvSpPr txBox="1"/>
          <p:nvPr/>
        </p:nvSpPr>
        <p:spPr>
          <a:xfrm>
            <a:off x="670195" y="930846"/>
            <a:ext cx="6096000" cy="3785652"/>
          </a:xfrm>
          <a:prstGeom prst="rect">
            <a:avLst/>
          </a:prstGeom>
          <a:noFill/>
        </p:spPr>
        <p:txBody>
          <a:bodyPr wrap="square">
            <a:spAutoFit/>
          </a:bodyPr>
          <a:lstStyle/>
          <a:p>
            <a:pPr marL="342900" marR="0" lvl="0" indent="-342900" algn="l">
              <a:buFont typeface="Arial" panose="020B0604020202020204" pitchFamily="34" charset="0"/>
              <a:buChar char="•"/>
            </a:pPr>
            <a:r>
              <a:rPr lang="zh-TW" altLang="zh-TW" sz="1800" b="0" i="0" dirty="0">
                <a:solidFill>
                  <a:schemeClr val="tx1"/>
                </a:solidFill>
                <a:effectLst/>
                <a:latin typeface="+mn-lt"/>
                <a:hlinkClick r:id="rId2" tooltip="電費試算"/>
              </a:rPr>
              <a:t>電費試算</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 tooltip="攝氏/華氏轉換"/>
              </a:rPr>
              <a:t>攝氏/華氏轉換</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 tooltip="公分/英吋換算"/>
              </a:rPr>
              <a:t>公分/英吋換算</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5" tooltip="判斷平年與閏年"/>
              </a:rPr>
              <a:t>判斷平年與閏年</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6" tooltip="找出不重複字元"/>
              </a:rPr>
              <a:t>找出不重複字元</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7" tooltip="找出中間的字元"/>
              </a:rPr>
              <a:t>找出中間的字元</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8" tooltip="去除中英文夾雜的空白"/>
              </a:rPr>
              <a:t>去除中英文夾雜的空白</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9" tooltip="大樂透電腦選號"/>
              </a:rPr>
              <a:t>大樂透電腦選號</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0" tooltip="下載進度條"/>
              </a:rPr>
              <a:t>下載進度條</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1" tooltip="星號金字塔"/>
              </a:rPr>
              <a:t>星號金字塔</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2" tooltip="數字金字塔"/>
              </a:rPr>
              <a:t>數字金字塔</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3" tooltip="猜數字 ( 猜大猜小 )"/>
              </a:rPr>
              <a:t>猜數字 ( 猜大猜小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4" tooltip="猜數字 ( 幾 A 幾 B )"/>
              </a:rPr>
              <a:t>猜數字 ( 幾 A 幾 B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5" tooltip="簡單時鐘 ( 世界時間 )"/>
              </a:rPr>
              <a:t>簡單時鐘 ( 世界時間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6" tooltip="計算 BMI 數值"/>
              </a:rPr>
              <a:t>計算 BMI 數值</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7" tooltip="計算年紀 ( 幾歲幾個月幾天 )"/>
              </a:rPr>
              <a:t>計算年紀 ( 幾歲幾個月幾天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8" tooltip="產生身分證字號 ( 隨機 )"/>
              </a:rPr>
              <a:t>產生身分證字號 ( 隨機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19" tooltip="檢查身分證字號"/>
              </a:rPr>
              <a:t>檢查身分證字號</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0" tooltip="統一發票對獎"/>
              </a:rPr>
              <a:t>統一發票對獎</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1" tooltip="羅馬數字轉換"/>
              </a:rPr>
              <a:t>羅馬數字轉換</a:t>
            </a:r>
            <a:endParaRPr lang="zh-TW" altLang="zh-TW" sz="1200" b="0" i="0" dirty="0">
              <a:solidFill>
                <a:srgbClr val="000000"/>
              </a:solidFill>
              <a:effectLst/>
              <a:latin typeface="inherit"/>
            </a:endParaRPr>
          </a:p>
        </p:txBody>
      </p:sp>
      <p:sp>
        <p:nvSpPr>
          <p:cNvPr id="10" name="文字方塊 9">
            <a:extLst>
              <a:ext uri="{FF2B5EF4-FFF2-40B4-BE49-F238E27FC236}">
                <a16:creationId xmlns:a16="http://schemas.microsoft.com/office/drawing/2014/main" id="{2B7A94BB-BCD1-9D9D-8430-1A3A49DE3018}"/>
              </a:ext>
            </a:extLst>
          </p:cNvPr>
          <p:cNvSpPr txBox="1"/>
          <p:nvPr/>
        </p:nvSpPr>
        <p:spPr>
          <a:xfrm>
            <a:off x="3964002" y="501351"/>
            <a:ext cx="2802193" cy="369332"/>
          </a:xfrm>
          <a:prstGeom prst="rect">
            <a:avLst/>
          </a:prstGeom>
          <a:noFill/>
        </p:spPr>
        <p:txBody>
          <a:bodyPr wrap="square">
            <a:spAutoFit/>
          </a:bodyPr>
          <a:lstStyle/>
          <a:p>
            <a:pPr marL="0" marR="0" indent="0" algn="l">
              <a:spcAft>
                <a:spcPts val="1125"/>
              </a:spcAft>
              <a:buNone/>
            </a:pPr>
            <a:r>
              <a:rPr lang="zh-TW" altLang="zh-TW" b="1" i="0" dirty="0">
                <a:solidFill>
                  <a:schemeClr val="tx1"/>
                </a:solidFill>
                <a:effectLst/>
                <a:latin typeface="+mn-lt"/>
              </a:rPr>
              <a:t>Python 數學範例 </a:t>
            </a:r>
            <a:endParaRPr lang="zh-TW" altLang="zh-TW" b="1" i="0" dirty="0">
              <a:solidFill>
                <a:srgbClr val="000000"/>
              </a:solidFill>
              <a:effectLst/>
              <a:latin typeface="Tahoma" panose="020B0604030504040204" pitchFamily="34" charset="0"/>
            </a:endParaRPr>
          </a:p>
        </p:txBody>
      </p:sp>
      <p:sp>
        <p:nvSpPr>
          <p:cNvPr id="12" name="文字方塊 11">
            <a:extLst>
              <a:ext uri="{FF2B5EF4-FFF2-40B4-BE49-F238E27FC236}">
                <a16:creationId xmlns:a16="http://schemas.microsoft.com/office/drawing/2014/main" id="{79967DD1-FB2E-88E5-A22B-F4DB82E919C7}"/>
              </a:ext>
            </a:extLst>
          </p:cNvPr>
          <p:cNvSpPr txBox="1"/>
          <p:nvPr/>
        </p:nvSpPr>
        <p:spPr>
          <a:xfrm>
            <a:off x="3964002" y="915787"/>
            <a:ext cx="3067664" cy="2308324"/>
          </a:xfrm>
          <a:prstGeom prst="rect">
            <a:avLst/>
          </a:prstGeom>
          <a:noFill/>
        </p:spPr>
        <p:txBody>
          <a:bodyPr wrap="square">
            <a:spAutoFit/>
          </a:bodyPr>
          <a:lstStyle/>
          <a:p>
            <a:pPr marL="342900" marR="0" lvl="0" indent="-342900" algn="l">
              <a:buFont typeface="Arial" panose="020B0604020202020204" pitchFamily="34" charset="0"/>
              <a:buChar char="•"/>
            </a:pPr>
            <a:r>
              <a:rPr lang="zh-TW" altLang="zh-TW" sz="1800" b="0" i="0" dirty="0">
                <a:solidFill>
                  <a:schemeClr val="tx1"/>
                </a:solidFill>
                <a:effectLst/>
                <a:latin typeface="+mn-lt"/>
                <a:hlinkClick r:id="rId22" tooltip="兩個數字的四則運算"/>
              </a:rPr>
              <a:t>兩個數字的四則運算</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3" tooltip="計算多個數字的總和"/>
              </a:rPr>
              <a:t>計算多個數字的總和</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4" tooltip="費波那契數列 ( 費氏數列 )"/>
              </a:rPr>
              <a:t>費波那契數列 ( 費氏數列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5" tooltip="九九乘法表"/>
              </a:rPr>
              <a:t>九九乘法表</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6" tooltip="質因數分解"/>
              </a:rPr>
              <a:t>質因數分解</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7" tooltip="快速找出質數"/>
              </a:rPr>
              <a:t>快速找出質數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8" tooltip="最小公倍數 ( 多個數字 )"/>
              </a:rPr>
              <a:t>最小公倍數 ( 多個數字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29" tooltip="最大公因數 ( 多個數字 )"/>
              </a:rPr>
              <a:t>最大公因數 ( 多個數字 )</a:t>
            </a:r>
            <a:endParaRPr lang="zh-TW" altLang="zh-TW" sz="1200" b="0" i="0" dirty="0">
              <a:solidFill>
                <a:srgbClr val="000000"/>
              </a:solidFill>
              <a:effectLst/>
              <a:latin typeface="inherit"/>
            </a:endParaRPr>
          </a:p>
        </p:txBody>
      </p:sp>
      <p:sp>
        <p:nvSpPr>
          <p:cNvPr id="14" name="文字方塊 13">
            <a:extLst>
              <a:ext uri="{FF2B5EF4-FFF2-40B4-BE49-F238E27FC236}">
                <a16:creationId xmlns:a16="http://schemas.microsoft.com/office/drawing/2014/main" id="{E63C3D75-0FCC-EBF2-21A0-29F1DC569983}"/>
              </a:ext>
            </a:extLst>
          </p:cNvPr>
          <p:cNvSpPr txBox="1"/>
          <p:nvPr/>
        </p:nvSpPr>
        <p:spPr>
          <a:xfrm>
            <a:off x="3964002" y="3880523"/>
            <a:ext cx="2920181" cy="2215991"/>
          </a:xfrm>
          <a:prstGeom prst="rect">
            <a:avLst/>
          </a:prstGeom>
          <a:noFill/>
        </p:spPr>
        <p:txBody>
          <a:bodyPr wrap="square">
            <a:spAutoFit/>
          </a:bodyPr>
          <a:lstStyle/>
          <a:p>
            <a:pPr marL="342900" marR="0" lvl="0" indent="-342900" algn="l">
              <a:buFont typeface="Arial" panose="020B0604020202020204" pitchFamily="34" charset="0"/>
              <a:buChar char="•"/>
            </a:pPr>
            <a:r>
              <a:rPr lang="zh-TW" altLang="zh-TW" sz="1800" b="0" i="0" dirty="0">
                <a:solidFill>
                  <a:schemeClr val="tx1"/>
                </a:solidFill>
                <a:effectLst/>
                <a:latin typeface="+mn-lt"/>
                <a:hlinkClick r:id="rId30" tooltip="Python 網路爬蟲教學"/>
              </a:rPr>
              <a:t>Python 網路爬蟲教學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1" tooltip="LINE BOT 教學"/>
              </a:rPr>
              <a:t>LINE BOT 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2" tooltip="OpenCV 教學"/>
              </a:rPr>
              <a:t>OpenCV 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3" tooltip="AI 影像辨識教學"/>
              </a:rPr>
              <a:t>AI 影像辨識教學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4" tooltip="matplotlib 圖表教學"/>
              </a:rPr>
              <a:t>matplotlib 圖表教學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5" tooltip="NumPy 教學"/>
              </a:rPr>
              <a:t>NumPy 教學</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6" tooltip="Tkinter 介面設計教學"/>
              </a:rPr>
              <a:t>Tkinter 介面設計教學</a:t>
            </a:r>
            <a:endParaRPr lang="en-US" altLang="zh-TW" sz="1800" b="0" i="0" dirty="0">
              <a:solidFill>
                <a:schemeClr val="tx1"/>
              </a:solidFill>
              <a:effectLst/>
              <a:latin typeface="+mn-lt"/>
            </a:endParaRPr>
          </a:p>
          <a:p>
            <a:pPr marL="342900" marR="0" lvl="0" indent="-342900" algn="l">
              <a:buFont typeface="Arial" panose="020B0604020202020204" pitchFamily="34" charset="0"/>
              <a:buChar char="•"/>
            </a:pPr>
            <a:endParaRPr lang="zh-TW" altLang="zh-TW" sz="1200" b="0" i="0" dirty="0">
              <a:solidFill>
                <a:srgbClr val="000000"/>
              </a:solidFill>
              <a:effectLst/>
              <a:latin typeface="inherit"/>
            </a:endParaRPr>
          </a:p>
        </p:txBody>
      </p:sp>
      <p:sp>
        <p:nvSpPr>
          <p:cNvPr id="16" name="文字方塊 15">
            <a:extLst>
              <a:ext uri="{FF2B5EF4-FFF2-40B4-BE49-F238E27FC236}">
                <a16:creationId xmlns:a16="http://schemas.microsoft.com/office/drawing/2014/main" id="{824F3637-F770-E358-A270-614A3E3EAEA4}"/>
              </a:ext>
            </a:extLst>
          </p:cNvPr>
          <p:cNvSpPr txBox="1"/>
          <p:nvPr/>
        </p:nvSpPr>
        <p:spPr>
          <a:xfrm>
            <a:off x="3964002" y="3413297"/>
            <a:ext cx="2136058" cy="369332"/>
          </a:xfrm>
          <a:prstGeom prst="rect">
            <a:avLst/>
          </a:prstGeom>
          <a:noFill/>
        </p:spPr>
        <p:txBody>
          <a:bodyPr wrap="square">
            <a:spAutoFit/>
          </a:bodyPr>
          <a:lstStyle/>
          <a:p>
            <a:pPr marL="0" marR="0" indent="0" algn="l">
              <a:spcAft>
                <a:spcPts val="1125"/>
              </a:spcAft>
              <a:buNone/>
            </a:pPr>
            <a:r>
              <a:rPr lang="zh-TW" altLang="zh-TW" sz="1800" b="1" i="0" dirty="0">
                <a:solidFill>
                  <a:schemeClr val="tx1"/>
                </a:solidFill>
                <a:effectLst/>
                <a:latin typeface="+mn-lt"/>
              </a:rPr>
              <a:t>Python </a:t>
            </a:r>
            <a:r>
              <a:rPr lang="zh-TW" altLang="en-US" sz="1800" b="1" i="0" dirty="0">
                <a:solidFill>
                  <a:schemeClr val="tx1"/>
                </a:solidFill>
                <a:effectLst/>
                <a:latin typeface="+mn-lt"/>
              </a:rPr>
              <a:t>實用</a:t>
            </a:r>
            <a:r>
              <a:rPr lang="zh-TW" altLang="zh-TW" sz="1800" b="1" i="0" dirty="0">
                <a:solidFill>
                  <a:schemeClr val="tx1"/>
                </a:solidFill>
                <a:effectLst/>
                <a:latin typeface="+mn-lt"/>
              </a:rPr>
              <a:t>範例 </a:t>
            </a:r>
            <a:endParaRPr lang="zh-TW" altLang="zh-TW" sz="1800" b="1" i="0" dirty="0">
              <a:solidFill>
                <a:srgbClr val="000000"/>
              </a:solidFill>
              <a:effectLst/>
              <a:latin typeface="Tahoma" panose="020B0604030504040204" pitchFamily="34" charset="0"/>
            </a:endParaRPr>
          </a:p>
        </p:txBody>
      </p:sp>
      <p:sp>
        <p:nvSpPr>
          <p:cNvPr id="18" name="文字方塊 17">
            <a:extLst>
              <a:ext uri="{FF2B5EF4-FFF2-40B4-BE49-F238E27FC236}">
                <a16:creationId xmlns:a16="http://schemas.microsoft.com/office/drawing/2014/main" id="{80CF9FAB-252D-AC1C-151F-3F0713B6F21A}"/>
              </a:ext>
            </a:extLst>
          </p:cNvPr>
          <p:cNvSpPr txBox="1"/>
          <p:nvPr/>
        </p:nvSpPr>
        <p:spPr>
          <a:xfrm>
            <a:off x="7031666" y="915787"/>
            <a:ext cx="4983967" cy="3970318"/>
          </a:xfrm>
          <a:prstGeom prst="rect">
            <a:avLst/>
          </a:prstGeom>
          <a:noFill/>
        </p:spPr>
        <p:txBody>
          <a:bodyPr wrap="square">
            <a:spAutoFit/>
          </a:bodyPr>
          <a:lstStyle/>
          <a:p>
            <a:pPr marL="342900" marR="0" lvl="0" indent="-342900" algn="l">
              <a:buFont typeface="Arial" panose="020B0604020202020204" pitchFamily="34" charset="0"/>
              <a:buChar char="•"/>
            </a:pPr>
            <a:r>
              <a:rPr lang="zh-TW" altLang="zh-TW" sz="1800" b="0" i="0" dirty="0">
                <a:solidFill>
                  <a:schemeClr val="tx1"/>
                </a:solidFill>
                <a:effectLst/>
                <a:latin typeface="+mn-lt"/>
                <a:hlinkClick r:id="rId37" tooltip="定時自動螢幕截圖"/>
              </a:rPr>
              <a:t>定時自動螢幕截圖</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8" tooltip="定LINE Notify 傳送螢幕截圖"/>
              </a:rPr>
              <a:t>定LINE Notify 傳送螢幕截圖</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39" tooltip="批次重新命名檔案"/>
              </a:rPr>
              <a:t>批次重新命名檔案</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0" tooltip="讀取 PDF 內容"/>
              </a:rPr>
              <a:t>讀取 PDF 內容</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1" tooltip="PDF 拆分、合併、插入、刪除、反轉"/>
              </a:rPr>
              <a:t>PDF 拆分、合併、插入、刪除、反轉</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2" tooltip="讀取 EXCEL 內容"/>
              </a:rPr>
              <a:t>讀取 EXCEL 內容</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3" tooltip="寫入資料到 EXCEL"/>
              </a:rPr>
              <a:t>寫入資料到 EXCEL</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4" tooltip="CSV 寫入 EXCEL"/>
              </a:rPr>
              <a:t>CSV 寫入 EXCEL</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5" tooltip="產生 QRCode ( 個性化 QRCode )"/>
              </a:rPr>
              <a:t>產生 QRCode ( 個性化 QRCode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6" tooltip="產生 BarCode ( 條碼 )"/>
              </a:rPr>
              <a:t>產生 BarCode ( 條碼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7" tooltip="讀取電腦資訊 ( 硬碟容量、CPU、RAM...等 )"/>
              </a:rPr>
              <a:t>讀取電腦資訊 ( 硬碟容量、CPU、RAM...等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8" tooltip="偵測電腦螢幕解析度 ( 長、寬 )"/>
              </a:rPr>
              <a:t>偵測電腦螢幕解析度 ( 長、寬 )</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49" tooltip="查詢電腦對內與對外 IP"/>
              </a:rPr>
              <a:t>查詢電腦對內與對外 IP</a:t>
            </a:r>
            <a:endParaRPr lang="zh-TW" altLang="zh-TW" sz="1800" b="0" i="0" dirty="0">
              <a:solidFill>
                <a:schemeClr val="tx1"/>
              </a:solidFill>
              <a:effectLst/>
              <a:latin typeface="+mn-lt"/>
            </a:endParaRPr>
          </a:p>
          <a:p>
            <a:pPr marL="342900" marR="0" lvl="0" indent="-342900" algn="l">
              <a:buFont typeface="Arial" panose="020B0604020202020204" pitchFamily="34" charset="0"/>
              <a:buChar char="•"/>
            </a:pPr>
            <a:r>
              <a:rPr lang="zh-TW" altLang="zh-TW" sz="1800" b="0" i="0" dirty="0">
                <a:solidFill>
                  <a:schemeClr val="tx1"/>
                </a:solidFill>
                <a:effectLst/>
                <a:latin typeface="+mn-lt"/>
                <a:hlinkClick r:id="rId50" tooltip="查詢網站 IP、ping IP"/>
              </a:rPr>
              <a:t>查詢網站 IP、ping IP</a:t>
            </a:r>
            <a:endParaRPr lang="zh-TW" altLang="zh-TW" sz="1200" b="0" i="0" dirty="0">
              <a:solidFill>
                <a:srgbClr val="000000"/>
              </a:solidFill>
              <a:effectLst/>
              <a:latin typeface="inherit"/>
            </a:endParaRPr>
          </a:p>
        </p:txBody>
      </p:sp>
      <p:sp>
        <p:nvSpPr>
          <p:cNvPr id="20" name="文字方塊 19">
            <a:extLst>
              <a:ext uri="{FF2B5EF4-FFF2-40B4-BE49-F238E27FC236}">
                <a16:creationId xmlns:a16="http://schemas.microsoft.com/office/drawing/2014/main" id="{5B861583-8E16-F66E-E735-6BCBB27853C4}"/>
              </a:ext>
            </a:extLst>
          </p:cNvPr>
          <p:cNvSpPr txBox="1"/>
          <p:nvPr/>
        </p:nvSpPr>
        <p:spPr>
          <a:xfrm>
            <a:off x="7031666" y="501351"/>
            <a:ext cx="4424516" cy="369332"/>
          </a:xfrm>
          <a:prstGeom prst="rect">
            <a:avLst/>
          </a:prstGeom>
          <a:noFill/>
        </p:spPr>
        <p:txBody>
          <a:bodyPr wrap="square">
            <a:spAutoFit/>
          </a:bodyPr>
          <a:lstStyle/>
          <a:p>
            <a:pPr marL="0" marR="0" indent="0" algn="l">
              <a:spcAft>
                <a:spcPts val="1125"/>
              </a:spcAft>
              <a:buNone/>
            </a:pPr>
            <a:r>
              <a:rPr lang="zh-TW" altLang="zh-TW" b="1" i="0" dirty="0">
                <a:solidFill>
                  <a:schemeClr val="tx1"/>
                </a:solidFill>
                <a:effectLst/>
                <a:latin typeface="+mn-lt"/>
              </a:rPr>
              <a:t>Python 實際應用 </a:t>
            </a:r>
            <a:endParaRPr lang="zh-TW" altLang="zh-TW" b="1" i="0" dirty="0">
              <a:solidFill>
                <a:srgbClr val="000000"/>
              </a:solidFill>
              <a:effectLst/>
              <a:latin typeface="Tahoma" panose="020B0604030504040204" pitchFamily="34" charset="0"/>
            </a:endParaRPr>
          </a:p>
        </p:txBody>
      </p:sp>
    </p:spTree>
    <p:extLst>
      <p:ext uri="{BB962C8B-B14F-4D97-AF65-F5344CB8AC3E}">
        <p14:creationId xmlns:p14="http://schemas.microsoft.com/office/powerpoint/2010/main" val="927852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r>
              <a:rPr lang="en-US" altLang="zh-TW" dirty="0"/>
              <a:t>Visual Studio Code </a:t>
            </a:r>
            <a:r>
              <a:rPr lang="zh-TW" altLang="en-US" dirty="0"/>
              <a:t>編輯器</a:t>
            </a:r>
            <a:endParaRPr lang="en-US" altLang="zh-TW" dirty="0"/>
          </a:p>
          <a:p>
            <a:r>
              <a:rPr lang="zh-TW" altLang="en-US" dirty="0">
                <a:solidFill>
                  <a:schemeClr val="accent2"/>
                </a:solidFill>
              </a:rPr>
              <a:t>程式設計的邏輯思維</a:t>
            </a:r>
            <a:endParaRPr lang="en-US" altLang="zh-TW" dirty="0">
              <a:solidFill>
                <a:schemeClr val="accent2"/>
              </a:solidFill>
            </a:endParaRPr>
          </a:p>
          <a:p>
            <a:pPr lvl="1"/>
            <a:r>
              <a:rPr lang="zh-TW" altLang="en-US" dirty="0"/>
              <a:t>程式設計的錯誤類型</a:t>
            </a:r>
            <a:endParaRPr lang="en-US" altLang="zh-TW" dirty="0"/>
          </a:p>
          <a:p>
            <a:pPr lvl="1"/>
            <a:r>
              <a:rPr lang="zh-TW" altLang="en-US" dirty="0"/>
              <a:t>生成式 </a:t>
            </a:r>
            <a:r>
              <a:rPr lang="en-US" altLang="zh-TW" dirty="0"/>
              <a:t>AI </a:t>
            </a:r>
            <a:r>
              <a:rPr lang="zh-TW" altLang="en-US" dirty="0"/>
              <a:t>與大型語言模型的影響</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57</a:t>
            </a:fld>
            <a:endParaRPr lang="zh-TW" altLang="en-US" dirty="0"/>
          </a:p>
        </p:txBody>
      </p:sp>
    </p:spTree>
    <p:extLst>
      <p:ext uri="{BB962C8B-B14F-4D97-AF65-F5344CB8AC3E}">
        <p14:creationId xmlns:p14="http://schemas.microsoft.com/office/powerpoint/2010/main" val="5265250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F18B92-2C06-4388-A4BE-A3A57F17FA8D}"/>
              </a:ext>
            </a:extLst>
          </p:cNvPr>
          <p:cNvSpPr>
            <a:spLocks noGrp="1"/>
          </p:cNvSpPr>
          <p:nvPr>
            <p:ph type="title"/>
          </p:nvPr>
        </p:nvSpPr>
        <p:spPr/>
        <p:txBody>
          <a:bodyPr/>
          <a:lstStyle/>
          <a:p>
            <a:r>
              <a:rPr lang="zh-TW" altLang="en-US" dirty="0"/>
              <a:t>運算思維</a:t>
            </a:r>
            <a:r>
              <a:rPr lang="en-US" altLang="zh-TW" dirty="0"/>
              <a:t>(Computational Thinking)</a:t>
            </a:r>
            <a:endParaRPr lang="zh-TW" altLang="en-US" dirty="0"/>
          </a:p>
        </p:txBody>
      </p:sp>
      <p:sp>
        <p:nvSpPr>
          <p:cNvPr id="3" name="內容版面配置區 2">
            <a:extLst>
              <a:ext uri="{FF2B5EF4-FFF2-40B4-BE49-F238E27FC236}">
                <a16:creationId xmlns:a16="http://schemas.microsoft.com/office/drawing/2014/main" id="{D165D035-1DB2-48D0-8CB5-09F27E6F4A64}"/>
              </a:ext>
            </a:extLst>
          </p:cNvPr>
          <p:cNvSpPr>
            <a:spLocks noGrp="1"/>
          </p:cNvSpPr>
          <p:nvPr>
            <p:ph idx="1"/>
          </p:nvPr>
        </p:nvSpPr>
        <p:spPr/>
        <p:txBody>
          <a:bodyPr>
            <a:normAutofit/>
          </a:bodyPr>
          <a:lstStyle/>
          <a:p>
            <a:r>
              <a:rPr lang="zh-TW" altLang="en-US" dirty="0"/>
              <a:t>在各種新興科技的推波助瀾下，程式設計受到全球高度重視，不僅是個人視其為職涯加值的工具，許多政府也將其視為打造國家競爭力的利器。</a:t>
            </a:r>
            <a:endParaRPr lang="en-US" altLang="zh-TW" dirty="0"/>
          </a:p>
          <a:p>
            <a:pPr lvl="1"/>
            <a:endParaRPr lang="en-US" altLang="zh-TW" dirty="0"/>
          </a:p>
          <a:p>
            <a:r>
              <a:rPr lang="zh-TW" altLang="en-US" dirty="0"/>
              <a:t>因應這股全球的程式浪潮，教育部在 </a:t>
            </a:r>
            <a:r>
              <a:rPr lang="en-US" altLang="zh-TW" dirty="0"/>
              <a:t>108</a:t>
            </a:r>
            <a:r>
              <a:rPr lang="zh-TW" altLang="en-US" dirty="0"/>
              <a:t> 課綱裡規定國、高中生必修「資訊科技」課程，讓學生能儘早接觸程式。</a:t>
            </a:r>
            <a:endParaRPr lang="en-US" altLang="zh-TW" dirty="0"/>
          </a:p>
          <a:p>
            <a:pPr lvl="1"/>
            <a:r>
              <a:rPr lang="zh-TW" altLang="en-US" dirty="0"/>
              <a:t>以</a:t>
            </a:r>
            <a:r>
              <a:rPr lang="zh-TW" altLang="en-US" dirty="0">
                <a:solidFill>
                  <a:schemeClr val="accent4"/>
                </a:solidFill>
              </a:rPr>
              <a:t>運算思維</a:t>
            </a:r>
            <a:r>
              <a:rPr lang="zh-TW" altLang="en-US" dirty="0"/>
              <a:t>為核心，期待學生們能學會拆解問題，找出背後運作的規律與邏輯，進而透過程式設計，重複執行演算方式的指令流程。</a:t>
            </a:r>
            <a:endParaRPr lang="en-US" altLang="zh-TW" dirty="0"/>
          </a:p>
        </p:txBody>
      </p:sp>
      <p:sp>
        <p:nvSpPr>
          <p:cNvPr id="4" name="投影片編號版面配置區 3">
            <a:extLst>
              <a:ext uri="{FF2B5EF4-FFF2-40B4-BE49-F238E27FC236}">
                <a16:creationId xmlns:a16="http://schemas.microsoft.com/office/drawing/2014/main" id="{1EA1ECD5-554B-4C16-8559-F9EB1084A788}"/>
              </a:ext>
            </a:extLst>
          </p:cNvPr>
          <p:cNvSpPr>
            <a:spLocks noGrp="1"/>
          </p:cNvSpPr>
          <p:nvPr>
            <p:ph type="sldNum" sz="quarter" idx="12"/>
          </p:nvPr>
        </p:nvSpPr>
        <p:spPr/>
        <p:txBody>
          <a:bodyPr/>
          <a:lstStyle/>
          <a:p>
            <a:fld id="{A0B59302-35AD-44E9-AC3C-8D1DAE3511F1}" type="slidenum">
              <a:rPr lang="zh-TW" altLang="en-US" smtClean="0"/>
              <a:pPr/>
              <a:t>58</a:t>
            </a:fld>
            <a:endParaRPr lang="zh-TW" altLang="en-US" dirty="0"/>
          </a:p>
        </p:txBody>
      </p:sp>
    </p:spTree>
    <p:extLst>
      <p:ext uri="{BB962C8B-B14F-4D97-AF65-F5344CB8AC3E}">
        <p14:creationId xmlns:p14="http://schemas.microsoft.com/office/powerpoint/2010/main" val="78424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565AC6-2FD3-4ED9-92AE-F6096C8E2D6F}"/>
              </a:ext>
            </a:extLst>
          </p:cNvPr>
          <p:cNvSpPr>
            <a:spLocks noGrp="1"/>
          </p:cNvSpPr>
          <p:nvPr>
            <p:ph type="title"/>
          </p:nvPr>
        </p:nvSpPr>
        <p:spPr/>
        <p:txBody>
          <a:bodyPr/>
          <a:lstStyle/>
          <a:p>
            <a:r>
              <a:rPr lang="zh-TW" altLang="en-US" dirty="0"/>
              <a:t>運算思維</a:t>
            </a:r>
            <a:r>
              <a:rPr lang="en-US" altLang="zh-TW" dirty="0"/>
              <a:t>(1/5)</a:t>
            </a:r>
            <a:endParaRPr lang="zh-TW" altLang="en-US" dirty="0"/>
          </a:p>
        </p:txBody>
      </p:sp>
      <p:sp>
        <p:nvSpPr>
          <p:cNvPr id="3" name="內容版面配置區 2">
            <a:extLst>
              <a:ext uri="{FF2B5EF4-FFF2-40B4-BE49-F238E27FC236}">
                <a16:creationId xmlns:a16="http://schemas.microsoft.com/office/drawing/2014/main" id="{3651B9C9-0986-48C8-BC82-1F665D7EB301}"/>
              </a:ext>
            </a:extLst>
          </p:cNvPr>
          <p:cNvSpPr>
            <a:spLocks noGrp="1"/>
          </p:cNvSpPr>
          <p:nvPr>
            <p:ph idx="1"/>
          </p:nvPr>
        </p:nvSpPr>
        <p:spPr/>
        <p:txBody>
          <a:bodyPr/>
          <a:lstStyle/>
          <a:p>
            <a:r>
              <a:rPr lang="zh-TW" altLang="en-US" dirty="0"/>
              <a:t>運算思維可以被當成是解決問題的過程，它以</a:t>
            </a:r>
            <a:r>
              <a:rPr lang="zh-TW" altLang="en-US" dirty="0">
                <a:solidFill>
                  <a:schemeClr val="accent4"/>
                </a:solidFill>
              </a:rPr>
              <a:t>結構化形式分解問題</a:t>
            </a:r>
            <a:r>
              <a:rPr lang="zh-TW" altLang="en-US" dirty="0"/>
              <a:t>並利用觀察、創造力、解決問題等不同能力來設計解決方案，而這樣能重複且逐步執行的簡單步驟，正是電腦解決問題的方式。</a:t>
            </a:r>
            <a:endParaRPr lang="en-US" altLang="zh-TW" dirty="0"/>
          </a:p>
          <a:p>
            <a:pPr lvl="1"/>
            <a:endParaRPr lang="en-US" altLang="zh-TW" dirty="0"/>
          </a:p>
          <a:p>
            <a:r>
              <a:rPr lang="zh-TW" altLang="en-US" dirty="0"/>
              <a:t>運算思維訓練大腦進行分析並找到問題的合理解決方案，而程式設計則提供一種學習運算並嘗試自己想法的有趣方式，可說</a:t>
            </a:r>
            <a:r>
              <a:rPr lang="zh-TW" altLang="en-US" dirty="0">
                <a:solidFill>
                  <a:schemeClr val="accent4"/>
                </a:solidFill>
              </a:rPr>
              <a:t>運算思維就是程式設計的邏輯思維</a:t>
            </a:r>
            <a:r>
              <a:rPr lang="zh-TW" altLang="en-US" dirty="0"/>
              <a:t>。</a:t>
            </a:r>
          </a:p>
          <a:p>
            <a:endParaRPr lang="zh-TW" altLang="en-US" dirty="0"/>
          </a:p>
        </p:txBody>
      </p:sp>
      <p:sp>
        <p:nvSpPr>
          <p:cNvPr id="4" name="投影片編號版面配置區 3">
            <a:extLst>
              <a:ext uri="{FF2B5EF4-FFF2-40B4-BE49-F238E27FC236}">
                <a16:creationId xmlns:a16="http://schemas.microsoft.com/office/drawing/2014/main" id="{0311E456-079C-431D-99A2-5E927D1253E3}"/>
              </a:ext>
            </a:extLst>
          </p:cNvPr>
          <p:cNvSpPr>
            <a:spLocks noGrp="1"/>
          </p:cNvSpPr>
          <p:nvPr>
            <p:ph type="sldNum" sz="quarter" idx="12"/>
          </p:nvPr>
        </p:nvSpPr>
        <p:spPr/>
        <p:txBody>
          <a:bodyPr/>
          <a:lstStyle/>
          <a:p>
            <a:fld id="{A0B59302-35AD-44E9-AC3C-8D1DAE3511F1}" type="slidenum">
              <a:rPr lang="zh-TW" altLang="en-US" smtClean="0"/>
              <a:pPr/>
              <a:t>59</a:t>
            </a:fld>
            <a:endParaRPr lang="zh-TW" altLang="en-US" dirty="0"/>
          </a:p>
        </p:txBody>
      </p:sp>
    </p:spTree>
    <p:extLst>
      <p:ext uri="{BB962C8B-B14F-4D97-AF65-F5344CB8AC3E}">
        <p14:creationId xmlns:p14="http://schemas.microsoft.com/office/powerpoint/2010/main" val="280142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247173-BDC9-4F1C-91D0-5B251455FFDD}"/>
              </a:ext>
            </a:extLst>
          </p:cNvPr>
          <p:cNvSpPr>
            <a:spLocks noGrp="1"/>
          </p:cNvSpPr>
          <p:nvPr>
            <p:ph type="title"/>
          </p:nvPr>
        </p:nvSpPr>
        <p:spPr/>
        <p:txBody>
          <a:bodyPr/>
          <a:lstStyle/>
          <a:p>
            <a:r>
              <a:rPr lang="zh-TW" altLang="en-US" dirty="0"/>
              <a:t>運算思維</a:t>
            </a:r>
            <a:r>
              <a:rPr lang="en-US" altLang="zh-TW" dirty="0"/>
              <a:t>(2/5)</a:t>
            </a:r>
            <a:endParaRPr lang="zh-TW" altLang="en-US" dirty="0"/>
          </a:p>
        </p:txBody>
      </p:sp>
      <p:sp>
        <p:nvSpPr>
          <p:cNvPr id="3" name="內容版面配置區 2">
            <a:extLst>
              <a:ext uri="{FF2B5EF4-FFF2-40B4-BE49-F238E27FC236}">
                <a16:creationId xmlns:a16="http://schemas.microsoft.com/office/drawing/2014/main" id="{3B1F691A-E8E0-4868-9D2C-E74D4985F646}"/>
              </a:ext>
            </a:extLst>
          </p:cNvPr>
          <p:cNvSpPr>
            <a:spLocks noGrp="1"/>
          </p:cNvSpPr>
          <p:nvPr>
            <p:ph idx="1"/>
          </p:nvPr>
        </p:nvSpPr>
        <p:spPr/>
        <p:txBody>
          <a:bodyPr/>
          <a:lstStyle/>
          <a:p>
            <a:r>
              <a:rPr lang="zh-TW" altLang="en-US" dirty="0"/>
              <a:t>根據 </a:t>
            </a:r>
            <a:r>
              <a:rPr lang="en-US" altLang="zh-TW" dirty="0">
                <a:hlinkClick r:id="rId2"/>
              </a:rPr>
              <a:t>BBC</a:t>
            </a:r>
            <a:r>
              <a:rPr lang="en-US" altLang="zh-TW" dirty="0"/>
              <a:t> </a:t>
            </a:r>
            <a:r>
              <a:rPr lang="zh-TW" altLang="en-US" dirty="0"/>
              <a:t>的說法，運算思維有底下四個階段：</a:t>
            </a:r>
          </a:p>
          <a:p>
            <a:pPr lvl="1"/>
            <a:r>
              <a:rPr lang="zh-TW" altLang="en-US" dirty="0"/>
              <a:t>拆解</a:t>
            </a:r>
            <a:r>
              <a:rPr lang="en-US" altLang="zh-TW" dirty="0"/>
              <a:t>(decomposition)</a:t>
            </a:r>
            <a:r>
              <a:rPr lang="zh-TW" altLang="en-US" dirty="0"/>
              <a:t>：將一個任務或問題拆分成數個步驟或部分。</a:t>
            </a:r>
            <a:endParaRPr lang="en-US" altLang="zh-TW" dirty="0"/>
          </a:p>
          <a:p>
            <a:pPr lvl="3"/>
            <a:endParaRPr lang="zh-TW" altLang="en-US" dirty="0"/>
          </a:p>
          <a:p>
            <a:pPr lvl="1"/>
            <a:r>
              <a:rPr lang="zh-TW" altLang="en-US" dirty="0"/>
              <a:t>模式識別</a:t>
            </a:r>
            <a:r>
              <a:rPr lang="en-US" altLang="zh-TW" dirty="0"/>
              <a:t>(pattern recognition)</a:t>
            </a:r>
            <a:r>
              <a:rPr lang="zh-TW" altLang="en-US" dirty="0"/>
              <a:t>：在問題間與問題內尋找規律或模式。</a:t>
            </a:r>
            <a:endParaRPr lang="en-US" altLang="zh-TW" dirty="0"/>
          </a:p>
          <a:p>
            <a:pPr lvl="3"/>
            <a:endParaRPr lang="zh-TW" altLang="en-US" dirty="0"/>
          </a:p>
          <a:p>
            <a:pPr lvl="1"/>
            <a:r>
              <a:rPr lang="zh-TW" altLang="en-US" dirty="0"/>
              <a:t>抽象</a:t>
            </a:r>
            <a:r>
              <a:rPr lang="en-US" altLang="zh-TW" dirty="0"/>
              <a:t>(abstraction)</a:t>
            </a:r>
            <a:r>
              <a:rPr lang="zh-TW" altLang="en-US" dirty="0"/>
              <a:t>：專注在重要資訊而忽略無關的細節。</a:t>
            </a:r>
            <a:endParaRPr lang="en-US" altLang="zh-TW" dirty="0"/>
          </a:p>
          <a:p>
            <a:pPr lvl="3"/>
            <a:endParaRPr lang="zh-TW" altLang="en-US" dirty="0"/>
          </a:p>
          <a:p>
            <a:pPr lvl="1"/>
            <a:r>
              <a:rPr lang="zh-TW" altLang="en-US" dirty="0"/>
              <a:t>演算法</a:t>
            </a:r>
            <a:r>
              <a:rPr lang="en-US" altLang="zh-TW" dirty="0"/>
              <a:t>(algorithms)</a:t>
            </a:r>
            <a:r>
              <a:rPr lang="zh-TW" altLang="en-US" dirty="0"/>
              <a:t>：設計出能解決類似問題且能重複執行的指令流程。</a:t>
            </a:r>
          </a:p>
          <a:p>
            <a:endParaRPr lang="zh-TW" altLang="en-US" dirty="0"/>
          </a:p>
        </p:txBody>
      </p:sp>
      <p:sp>
        <p:nvSpPr>
          <p:cNvPr id="4" name="投影片編號版面配置區 3">
            <a:extLst>
              <a:ext uri="{FF2B5EF4-FFF2-40B4-BE49-F238E27FC236}">
                <a16:creationId xmlns:a16="http://schemas.microsoft.com/office/drawing/2014/main" id="{88D43C97-8E9D-471A-9902-DFF39045F643}"/>
              </a:ext>
            </a:extLst>
          </p:cNvPr>
          <p:cNvSpPr>
            <a:spLocks noGrp="1"/>
          </p:cNvSpPr>
          <p:nvPr>
            <p:ph type="sldNum" sz="quarter" idx="12"/>
          </p:nvPr>
        </p:nvSpPr>
        <p:spPr/>
        <p:txBody>
          <a:bodyPr/>
          <a:lstStyle/>
          <a:p>
            <a:fld id="{A0B59302-35AD-44E9-AC3C-8D1DAE3511F1}" type="slidenum">
              <a:rPr lang="zh-TW" altLang="en-US" smtClean="0"/>
              <a:pPr/>
              <a:t>60</a:t>
            </a:fld>
            <a:endParaRPr lang="zh-TW" altLang="en-US" dirty="0"/>
          </a:p>
        </p:txBody>
      </p:sp>
    </p:spTree>
    <p:extLst>
      <p:ext uri="{BB962C8B-B14F-4D97-AF65-F5344CB8AC3E}">
        <p14:creationId xmlns:p14="http://schemas.microsoft.com/office/powerpoint/2010/main" val="204705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4A4318-3972-4164-8918-4070C2692980}"/>
              </a:ext>
            </a:extLst>
          </p:cNvPr>
          <p:cNvSpPr>
            <a:spLocks noGrp="1"/>
          </p:cNvSpPr>
          <p:nvPr>
            <p:ph type="title"/>
          </p:nvPr>
        </p:nvSpPr>
        <p:spPr/>
        <p:txBody>
          <a:bodyPr/>
          <a:lstStyle/>
          <a:p>
            <a:r>
              <a:rPr lang="zh-TW" altLang="en-US" dirty="0"/>
              <a:t>運算思維</a:t>
            </a:r>
            <a:r>
              <a:rPr lang="en-US" altLang="zh-TW" dirty="0"/>
              <a:t>(3/5)</a:t>
            </a:r>
            <a:endParaRPr lang="zh-TW" altLang="en-US" dirty="0"/>
          </a:p>
        </p:txBody>
      </p:sp>
      <p:sp>
        <p:nvSpPr>
          <p:cNvPr id="3" name="內容版面配置區 2">
            <a:extLst>
              <a:ext uri="{FF2B5EF4-FFF2-40B4-BE49-F238E27FC236}">
                <a16:creationId xmlns:a16="http://schemas.microsoft.com/office/drawing/2014/main" id="{43AF2A26-CFC0-4026-B89D-EC183EF60C80}"/>
              </a:ext>
            </a:extLst>
          </p:cNvPr>
          <p:cNvSpPr>
            <a:spLocks noGrp="1"/>
          </p:cNvSpPr>
          <p:nvPr>
            <p:ph idx="1"/>
          </p:nvPr>
        </p:nvSpPr>
        <p:spPr/>
        <p:txBody>
          <a:bodyPr>
            <a:normAutofit/>
          </a:bodyPr>
          <a:lstStyle/>
          <a:p>
            <a:r>
              <a:rPr lang="zh-TW" altLang="en-US" dirty="0"/>
              <a:t>在面對一時間難以解決的複雜問題，藉由運算思維模式先</a:t>
            </a:r>
            <a:endParaRPr lang="en-US" altLang="zh-TW" dirty="0"/>
          </a:p>
          <a:p>
            <a:pPr lvl="1"/>
            <a:r>
              <a:rPr lang="zh-TW" altLang="en-US" dirty="0"/>
              <a:t>將問題分解成一系列更容易處理的小問題（拆解），</a:t>
            </a:r>
            <a:endParaRPr lang="en-US" altLang="zh-TW" dirty="0"/>
          </a:p>
          <a:p>
            <a:pPr lvl="1"/>
            <a:r>
              <a:rPr lang="zh-TW" altLang="en-US" dirty="0"/>
              <a:t>再單獨探查每個小問題，考慮以往如何處理類似問題（模式識別），</a:t>
            </a:r>
            <a:endParaRPr lang="en-US" altLang="zh-TW" dirty="0"/>
          </a:p>
          <a:p>
            <a:pPr lvl="1"/>
            <a:r>
              <a:rPr lang="zh-TW" altLang="en-US" dirty="0"/>
              <a:t>並且只關注重要細節，而忽略無關訊息（抽象），</a:t>
            </a:r>
            <a:endParaRPr lang="en-US" altLang="zh-TW" dirty="0"/>
          </a:p>
          <a:p>
            <a:pPr lvl="1"/>
            <a:r>
              <a:rPr lang="zh-TW" altLang="en-US" dirty="0"/>
              <a:t>最後就是設計出解決每個小問題的簡單步驟或規則（演算法）。</a:t>
            </a:r>
            <a:endParaRPr lang="en-US" altLang="zh-TW" dirty="0"/>
          </a:p>
          <a:p>
            <a:pPr lvl="1"/>
            <a:endParaRPr lang="en-US" altLang="zh-TW" dirty="0"/>
          </a:p>
          <a:p>
            <a:r>
              <a:rPr lang="zh-TW" altLang="en-US" dirty="0"/>
              <a:t>明確整個思維流程後，再透過程式設計實現這些簡單的步驟或規則，以最佳方式解決複雜問題。</a:t>
            </a:r>
          </a:p>
        </p:txBody>
      </p:sp>
      <p:sp>
        <p:nvSpPr>
          <p:cNvPr id="4" name="投影片編號版面配置區 3">
            <a:extLst>
              <a:ext uri="{FF2B5EF4-FFF2-40B4-BE49-F238E27FC236}">
                <a16:creationId xmlns:a16="http://schemas.microsoft.com/office/drawing/2014/main" id="{21A358D8-074F-43B0-9825-35796F02819D}"/>
              </a:ext>
            </a:extLst>
          </p:cNvPr>
          <p:cNvSpPr>
            <a:spLocks noGrp="1"/>
          </p:cNvSpPr>
          <p:nvPr>
            <p:ph type="sldNum" sz="quarter" idx="12"/>
          </p:nvPr>
        </p:nvSpPr>
        <p:spPr/>
        <p:txBody>
          <a:bodyPr/>
          <a:lstStyle/>
          <a:p>
            <a:fld id="{A0B59302-35AD-44E9-AC3C-8D1DAE3511F1}" type="slidenum">
              <a:rPr lang="zh-TW" altLang="en-US" smtClean="0"/>
              <a:pPr/>
              <a:t>61</a:t>
            </a:fld>
            <a:endParaRPr lang="zh-TW" altLang="en-US" dirty="0"/>
          </a:p>
        </p:txBody>
      </p:sp>
    </p:spTree>
    <p:extLst>
      <p:ext uri="{BB962C8B-B14F-4D97-AF65-F5344CB8AC3E}">
        <p14:creationId xmlns:p14="http://schemas.microsoft.com/office/powerpoint/2010/main" val="387227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0664E0-B5C2-46AF-B735-0CA1CDBEEC75}"/>
              </a:ext>
            </a:extLst>
          </p:cNvPr>
          <p:cNvSpPr>
            <a:spLocks noGrp="1"/>
          </p:cNvSpPr>
          <p:nvPr>
            <p:ph type="title"/>
          </p:nvPr>
        </p:nvSpPr>
        <p:spPr/>
        <p:txBody>
          <a:bodyPr/>
          <a:lstStyle/>
          <a:p>
            <a:r>
              <a:rPr lang="zh-TW" altLang="en-US" dirty="0"/>
              <a:t>運算思維</a:t>
            </a:r>
            <a:r>
              <a:rPr lang="en-US" altLang="zh-TW" dirty="0"/>
              <a:t>(4/5)</a:t>
            </a:r>
            <a:endParaRPr lang="zh-TW" altLang="en-US" dirty="0"/>
          </a:p>
        </p:txBody>
      </p:sp>
      <p:sp>
        <p:nvSpPr>
          <p:cNvPr id="3" name="內容版面配置區 2">
            <a:extLst>
              <a:ext uri="{FF2B5EF4-FFF2-40B4-BE49-F238E27FC236}">
                <a16:creationId xmlns:a16="http://schemas.microsoft.com/office/drawing/2014/main" id="{0C8E9C52-7939-46FD-8DFE-14A588A7483B}"/>
              </a:ext>
            </a:extLst>
          </p:cNvPr>
          <p:cNvSpPr>
            <a:spLocks noGrp="1"/>
          </p:cNvSpPr>
          <p:nvPr>
            <p:ph idx="1"/>
          </p:nvPr>
        </p:nvSpPr>
        <p:spPr/>
        <p:txBody>
          <a:bodyPr>
            <a:normAutofit/>
          </a:bodyPr>
          <a:lstStyle/>
          <a:p>
            <a:r>
              <a:rPr lang="zh-TW" altLang="en-US" dirty="0"/>
              <a:t>時下許多學生，即使在經過多次習題練習之後，對於稍微變化的題型卻只能束手無策，因為他們大多已養成「</a:t>
            </a:r>
            <a:r>
              <a:rPr lang="zh-TW" altLang="en-US" dirty="0">
                <a:solidFill>
                  <a:schemeClr val="accent4"/>
                </a:solidFill>
              </a:rPr>
              <a:t>面對問題先學會對應解法</a:t>
            </a:r>
            <a:r>
              <a:rPr lang="zh-TW" altLang="en-US" dirty="0"/>
              <a:t>」的既定思維。</a:t>
            </a:r>
            <a:endParaRPr lang="en-US" altLang="zh-TW" dirty="0"/>
          </a:p>
          <a:p>
            <a:pPr lvl="1"/>
            <a:endParaRPr lang="en-US" altLang="zh-TW" dirty="0"/>
          </a:p>
          <a:p>
            <a:r>
              <a:rPr lang="zh-TW" altLang="en-US" dirty="0"/>
              <a:t>在訓練運算思維的過程中，能逐步培養學生用不同角度及既有資源解決問題的能力，而雖說</a:t>
            </a:r>
            <a:r>
              <a:rPr lang="zh-TW" altLang="en-US" dirty="0">
                <a:solidFill>
                  <a:schemeClr val="accent4"/>
                </a:solidFill>
              </a:rPr>
              <a:t>程式設計並非磨練問題解決能力的唯一做法，卻是一條經濟、快速、靈活且符合當下趨勢的途徑</a:t>
            </a:r>
            <a:r>
              <a:rPr lang="zh-TW" altLang="en-US" dirty="0"/>
              <a:t>。</a:t>
            </a:r>
            <a:endParaRPr lang="en-US" altLang="zh-TW" dirty="0"/>
          </a:p>
        </p:txBody>
      </p:sp>
      <p:sp>
        <p:nvSpPr>
          <p:cNvPr id="4" name="投影片編號版面配置區 3">
            <a:extLst>
              <a:ext uri="{FF2B5EF4-FFF2-40B4-BE49-F238E27FC236}">
                <a16:creationId xmlns:a16="http://schemas.microsoft.com/office/drawing/2014/main" id="{B92B6674-2284-4FAE-9453-17C9474FDD16}"/>
              </a:ext>
            </a:extLst>
          </p:cNvPr>
          <p:cNvSpPr>
            <a:spLocks noGrp="1"/>
          </p:cNvSpPr>
          <p:nvPr>
            <p:ph type="sldNum" sz="quarter" idx="12"/>
          </p:nvPr>
        </p:nvSpPr>
        <p:spPr/>
        <p:txBody>
          <a:bodyPr/>
          <a:lstStyle/>
          <a:p>
            <a:fld id="{A0B59302-35AD-44E9-AC3C-8D1DAE3511F1}" type="slidenum">
              <a:rPr lang="zh-TW" altLang="en-US" smtClean="0"/>
              <a:pPr/>
              <a:t>62</a:t>
            </a:fld>
            <a:endParaRPr lang="zh-TW" altLang="en-US" dirty="0"/>
          </a:p>
        </p:txBody>
      </p:sp>
    </p:spTree>
    <p:extLst>
      <p:ext uri="{BB962C8B-B14F-4D97-AF65-F5344CB8AC3E}">
        <p14:creationId xmlns:p14="http://schemas.microsoft.com/office/powerpoint/2010/main" val="61605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24D745-4099-4FC3-BEE3-F1609DB05FBE}"/>
              </a:ext>
            </a:extLst>
          </p:cNvPr>
          <p:cNvSpPr>
            <a:spLocks noGrp="1"/>
          </p:cNvSpPr>
          <p:nvPr>
            <p:ph type="title"/>
          </p:nvPr>
        </p:nvSpPr>
        <p:spPr/>
        <p:txBody>
          <a:bodyPr/>
          <a:lstStyle/>
          <a:p>
            <a:r>
              <a:rPr lang="zh-TW" altLang="en-US" dirty="0"/>
              <a:t>運算思維</a:t>
            </a:r>
            <a:r>
              <a:rPr lang="en-US" altLang="zh-TW" dirty="0"/>
              <a:t>(5/5)</a:t>
            </a:r>
            <a:endParaRPr lang="zh-TW" altLang="en-US" dirty="0"/>
          </a:p>
        </p:txBody>
      </p:sp>
      <p:sp>
        <p:nvSpPr>
          <p:cNvPr id="3" name="內容版面配置區 2">
            <a:extLst>
              <a:ext uri="{FF2B5EF4-FFF2-40B4-BE49-F238E27FC236}">
                <a16:creationId xmlns:a16="http://schemas.microsoft.com/office/drawing/2014/main" id="{86326961-14B7-40B2-81A2-BDCD729DB3AE}"/>
              </a:ext>
            </a:extLst>
          </p:cNvPr>
          <p:cNvSpPr>
            <a:spLocks noGrp="1"/>
          </p:cNvSpPr>
          <p:nvPr>
            <p:ph idx="1"/>
          </p:nvPr>
        </p:nvSpPr>
        <p:spPr>
          <a:xfrm>
            <a:off x="838199" y="1857375"/>
            <a:ext cx="6592403" cy="4400550"/>
          </a:xfrm>
        </p:spPr>
        <p:txBody>
          <a:bodyPr/>
          <a:lstStyle/>
          <a:p>
            <a:r>
              <a:rPr lang="zh-TW" altLang="en-US" dirty="0"/>
              <a:t>蘋果公司執行長庫克</a:t>
            </a:r>
            <a:r>
              <a:rPr lang="en-US" altLang="zh-TW" dirty="0"/>
              <a:t>(Tim Cook)</a:t>
            </a:r>
            <a:r>
              <a:rPr lang="zh-TW" altLang="en-US" dirty="0"/>
              <a:t>認為程式語言能夠激發人們的創造力，且</a:t>
            </a:r>
            <a:r>
              <a:rPr lang="zh-TW" altLang="en-US" dirty="0">
                <a:solidFill>
                  <a:schemeClr val="accent4"/>
                </a:solidFill>
              </a:rPr>
              <a:t>學習過程中也能夠發揮個人的批判思考能力</a:t>
            </a:r>
            <a:r>
              <a:rPr lang="zh-TW" altLang="en-US" dirty="0"/>
              <a:t>。</a:t>
            </a:r>
            <a:endParaRPr lang="en-US" altLang="zh-TW" dirty="0"/>
          </a:p>
          <a:p>
            <a:pPr lvl="1"/>
            <a:r>
              <a:rPr lang="zh-TW" altLang="en-US" dirty="0"/>
              <a:t>因此，無論未來是否會成為工程師，具備運算思維對於學業與生活，絕對是百利而無一害。</a:t>
            </a:r>
          </a:p>
          <a:p>
            <a:endParaRPr lang="zh-TW" altLang="en-US" dirty="0"/>
          </a:p>
        </p:txBody>
      </p:sp>
      <p:sp>
        <p:nvSpPr>
          <p:cNvPr id="4" name="投影片編號版面配置區 3">
            <a:extLst>
              <a:ext uri="{FF2B5EF4-FFF2-40B4-BE49-F238E27FC236}">
                <a16:creationId xmlns:a16="http://schemas.microsoft.com/office/drawing/2014/main" id="{FC3F9871-32E1-43BC-A466-CED95975499F}"/>
              </a:ext>
            </a:extLst>
          </p:cNvPr>
          <p:cNvSpPr>
            <a:spLocks noGrp="1"/>
          </p:cNvSpPr>
          <p:nvPr>
            <p:ph type="sldNum" sz="quarter" idx="12"/>
          </p:nvPr>
        </p:nvSpPr>
        <p:spPr/>
        <p:txBody>
          <a:bodyPr/>
          <a:lstStyle/>
          <a:p>
            <a:fld id="{A0B59302-35AD-44E9-AC3C-8D1DAE3511F1}" type="slidenum">
              <a:rPr lang="zh-TW" altLang="en-US" smtClean="0"/>
              <a:pPr/>
              <a:t>63</a:t>
            </a:fld>
            <a:endParaRPr lang="zh-TW" altLang="en-US" dirty="0"/>
          </a:p>
        </p:txBody>
      </p:sp>
      <p:pic>
        <p:nvPicPr>
          <p:cNvPr id="7" name="圖片 6">
            <a:extLst>
              <a:ext uri="{FF2B5EF4-FFF2-40B4-BE49-F238E27FC236}">
                <a16:creationId xmlns:a16="http://schemas.microsoft.com/office/drawing/2014/main" id="{E0FF9BF8-29D1-48AE-B95A-4F18217E948A}"/>
              </a:ext>
            </a:extLst>
          </p:cNvPr>
          <p:cNvPicPr>
            <a:picLocks noChangeAspect="1"/>
          </p:cNvPicPr>
          <p:nvPr/>
        </p:nvPicPr>
        <p:blipFill>
          <a:blip r:embed="rId2"/>
          <a:stretch>
            <a:fillRect/>
          </a:stretch>
        </p:blipFill>
        <p:spPr>
          <a:xfrm>
            <a:off x="7537283" y="1962486"/>
            <a:ext cx="4437547" cy="4145877"/>
          </a:xfrm>
          <a:prstGeom prst="rect">
            <a:avLst/>
          </a:prstGeom>
        </p:spPr>
      </p:pic>
      <p:sp>
        <p:nvSpPr>
          <p:cNvPr id="9" name="文字方塊 8">
            <a:extLst>
              <a:ext uri="{FF2B5EF4-FFF2-40B4-BE49-F238E27FC236}">
                <a16:creationId xmlns:a16="http://schemas.microsoft.com/office/drawing/2014/main" id="{D6A85532-BE93-43B6-9B15-F74B4076E93C}"/>
              </a:ext>
            </a:extLst>
          </p:cNvPr>
          <p:cNvSpPr txBox="1"/>
          <p:nvPr/>
        </p:nvSpPr>
        <p:spPr>
          <a:xfrm>
            <a:off x="8279681" y="6166396"/>
            <a:ext cx="2952750" cy="246221"/>
          </a:xfrm>
          <a:prstGeom prst="rect">
            <a:avLst/>
          </a:prstGeom>
          <a:noFill/>
        </p:spPr>
        <p:txBody>
          <a:bodyPr wrap="square">
            <a:spAutoFit/>
          </a:bodyPr>
          <a:lstStyle/>
          <a:p>
            <a:pPr algn="l"/>
            <a:r>
              <a:rPr lang="en-US" altLang="zh-TW" sz="1000" i="0" dirty="0">
                <a:solidFill>
                  <a:srgbClr val="000000"/>
                </a:solidFill>
                <a:effectLst/>
                <a:latin typeface="Roboto Flex"/>
              </a:rPr>
              <a:t>Source: </a:t>
            </a:r>
            <a:r>
              <a:rPr lang="zh-TW" altLang="en-US" sz="1000" i="0" dirty="0">
                <a:solidFill>
                  <a:srgbClr val="000000"/>
                </a:solidFill>
                <a:effectLst/>
                <a:latin typeface="Roboto Flex"/>
                <a:hlinkClick r:id="rId3"/>
              </a:rPr>
              <a:t>蘋果庫克力推程式教育：從小學就該教！</a:t>
            </a:r>
            <a:endParaRPr lang="zh-TW" altLang="en-US" sz="1000" i="0" dirty="0">
              <a:solidFill>
                <a:srgbClr val="000000"/>
              </a:solidFill>
              <a:effectLst/>
              <a:latin typeface="Roboto Flex"/>
            </a:endParaRPr>
          </a:p>
        </p:txBody>
      </p:sp>
    </p:spTree>
    <p:extLst>
      <p:ext uri="{BB962C8B-B14F-4D97-AF65-F5344CB8AC3E}">
        <p14:creationId xmlns:p14="http://schemas.microsoft.com/office/powerpoint/2010/main" val="42868679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a:p>
            <a:pPr lvl="1"/>
            <a:r>
              <a:rPr lang="zh-TW" altLang="en-US" dirty="0">
                <a:solidFill>
                  <a:schemeClr val="accent2"/>
                </a:solidFill>
              </a:rPr>
              <a:t>程式設計的錯誤類型</a:t>
            </a:r>
            <a:endParaRPr lang="en-US" altLang="zh-TW" dirty="0">
              <a:solidFill>
                <a:schemeClr val="accent2"/>
              </a:solidFill>
            </a:endParaRPr>
          </a:p>
          <a:p>
            <a:pPr lvl="1"/>
            <a:r>
              <a:rPr lang="zh-TW" altLang="en-US" dirty="0"/>
              <a:t>生成式 </a:t>
            </a:r>
            <a:r>
              <a:rPr lang="en-US" altLang="zh-TW" dirty="0"/>
              <a:t>AI </a:t>
            </a:r>
            <a:r>
              <a:rPr lang="zh-TW" altLang="en-US" dirty="0"/>
              <a:t>與大型語言模型的影響</a:t>
            </a:r>
            <a:endParaRPr lang="en-US" altLang="zh-TW" dirty="0"/>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64</a:t>
            </a:fld>
            <a:endParaRPr lang="zh-TW" altLang="en-US" dirty="0"/>
          </a:p>
        </p:txBody>
      </p:sp>
    </p:spTree>
    <p:extLst>
      <p:ext uri="{BB962C8B-B14F-4D97-AF65-F5344CB8AC3E}">
        <p14:creationId xmlns:p14="http://schemas.microsoft.com/office/powerpoint/2010/main" val="14572954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804F98-3DDB-4D41-8EC7-209BC73A81F9}"/>
              </a:ext>
            </a:extLst>
          </p:cNvPr>
          <p:cNvSpPr>
            <a:spLocks noGrp="1"/>
          </p:cNvSpPr>
          <p:nvPr>
            <p:ph type="title"/>
          </p:nvPr>
        </p:nvSpPr>
        <p:spPr/>
        <p:txBody>
          <a:bodyPr/>
          <a:lstStyle/>
          <a:p>
            <a:r>
              <a:rPr lang="zh-TW" altLang="en-US" dirty="0"/>
              <a:t>除錯</a:t>
            </a:r>
            <a:r>
              <a:rPr lang="en-US" altLang="zh-TW" dirty="0"/>
              <a:t>(debug)</a:t>
            </a:r>
            <a:endParaRPr lang="zh-TW" altLang="en-US" dirty="0"/>
          </a:p>
        </p:txBody>
      </p:sp>
      <p:sp>
        <p:nvSpPr>
          <p:cNvPr id="3" name="內容版面配置區 2">
            <a:extLst>
              <a:ext uri="{FF2B5EF4-FFF2-40B4-BE49-F238E27FC236}">
                <a16:creationId xmlns:a16="http://schemas.microsoft.com/office/drawing/2014/main" id="{4D500BDC-37AA-4F5D-9B5C-309C4F4D8137}"/>
              </a:ext>
            </a:extLst>
          </p:cNvPr>
          <p:cNvSpPr>
            <a:spLocks noGrp="1"/>
          </p:cNvSpPr>
          <p:nvPr>
            <p:ph idx="1"/>
          </p:nvPr>
        </p:nvSpPr>
        <p:spPr/>
        <p:txBody>
          <a:bodyPr/>
          <a:lstStyle/>
          <a:p>
            <a:r>
              <a:rPr lang="zh-TW" altLang="en-US" dirty="0"/>
              <a:t>想要以程式實現運算思維的每一個階段，最終準確地操控電腦完成任務，</a:t>
            </a:r>
            <a:r>
              <a:rPr lang="zh-TW" altLang="en-US" dirty="0">
                <a:solidFill>
                  <a:schemeClr val="accent4"/>
                </a:solidFill>
              </a:rPr>
              <a:t>邏輯思考</a:t>
            </a:r>
            <a:r>
              <a:rPr lang="zh-TW" altLang="en-US" dirty="0"/>
              <a:t>的能力必不可少。</a:t>
            </a:r>
            <a:endParaRPr lang="en-US" altLang="zh-TW" dirty="0"/>
          </a:p>
          <a:p>
            <a:pPr lvl="1"/>
            <a:r>
              <a:rPr lang="zh-TW" altLang="en-US" dirty="0"/>
              <a:t>從解析問題開始，到設計演算法流程，並能以正確語法語意表達每個步驟，都必須有清晰的思路。</a:t>
            </a:r>
            <a:endParaRPr lang="en-US" altLang="zh-TW" dirty="0"/>
          </a:p>
          <a:p>
            <a:pPr lvl="1"/>
            <a:endParaRPr lang="en-US" altLang="zh-TW" dirty="0"/>
          </a:p>
          <a:p>
            <a:pPr lvl="1"/>
            <a:r>
              <a:rPr lang="zh-TW" altLang="en-US" dirty="0"/>
              <a:t>在遇到程式無法順利執行，或是得到非預期中的結果時，能反覆檢視程式碼並進行除錯。</a:t>
            </a:r>
          </a:p>
        </p:txBody>
      </p:sp>
      <p:sp>
        <p:nvSpPr>
          <p:cNvPr id="4" name="投影片編號版面配置區 3">
            <a:extLst>
              <a:ext uri="{FF2B5EF4-FFF2-40B4-BE49-F238E27FC236}">
                <a16:creationId xmlns:a16="http://schemas.microsoft.com/office/drawing/2014/main" id="{029A1EA3-1A97-47EF-B352-8D159C669401}"/>
              </a:ext>
            </a:extLst>
          </p:cNvPr>
          <p:cNvSpPr>
            <a:spLocks noGrp="1"/>
          </p:cNvSpPr>
          <p:nvPr>
            <p:ph type="sldNum" sz="quarter" idx="12"/>
          </p:nvPr>
        </p:nvSpPr>
        <p:spPr/>
        <p:txBody>
          <a:bodyPr/>
          <a:lstStyle/>
          <a:p>
            <a:fld id="{A0B59302-35AD-44E9-AC3C-8D1DAE3511F1}" type="slidenum">
              <a:rPr lang="zh-TW" altLang="en-US" smtClean="0"/>
              <a:pPr/>
              <a:t>65</a:t>
            </a:fld>
            <a:endParaRPr lang="zh-TW" altLang="en-US" dirty="0"/>
          </a:p>
        </p:txBody>
      </p:sp>
    </p:spTree>
    <p:extLst>
      <p:ext uri="{BB962C8B-B14F-4D97-AF65-F5344CB8AC3E}">
        <p14:creationId xmlns:p14="http://schemas.microsoft.com/office/powerpoint/2010/main" val="334967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46A222-D3DE-4AA7-981E-63670EF9491B}"/>
              </a:ext>
            </a:extLst>
          </p:cNvPr>
          <p:cNvSpPr>
            <a:spLocks noGrp="1"/>
          </p:cNvSpPr>
          <p:nvPr>
            <p:ph type="title"/>
          </p:nvPr>
        </p:nvSpPr>
        <p:spPr/>
        <p:txBody>
          <a:bodyPr/>
          <a:lstStyle/>
          <a:p>
            <a:r>
              <a:rPr lang="zh-TW" altLang="en-US" dirty="0"/>
              <a:t>程式設計的錯誤類型</a:t>
            </a:r>
          </a:p>
        </p:txBody>
      </p:sp>
      <p:sp>
        <p:nvSpPr>
          <p:cNvPr id="3" name="內容版面配置區 2">
            <a:extLst>
              <a:ext uri="{FF2B5EF4-FFF2-40B4-BE49-F238E27FC236}">
                <a16:creationId xmlns:a16="http://schemas.microsoft.com/office/drawing/2014/main" id="{EDFCA2F4-A2D8-4D61-98AE-B69D12003FF5}"/>
              </a:ext>
            </a:extLst>
          </p:cNvPr>
          <p:cNvSpPr>
            <a:spLocks noGrp="1"/>
          </p:cNvSpPr>
          <p:nvPr>
            <p:ph idx="1"/>
          </p:nvPr>
        </p:nvSpPr>
        <p:spPr/>
        <p:txBody>
          <a:bodyPr/>
          <a:lstStyle/>
          <a:p>
            <a:r>
              <a:rPr lang="zh-TW" altLang="en-US" dirty="0">
                <a:solidFill>
                  <a:schemeClr val="accent4"/>
                </a:solidFill>
              </a:rPr>
              <a:t>除錯可說是程式設計人員的日常</a:t>
            </a:r>
            <a:r>
              <a:rPr lang="zh-TW" altLang="en-US" dirty="0"/>
              <a:t>，尤其對火候不夠的新手來說，單單除錯就常常會佔掉絕大部分時間，更別說整個除錯過程是相當無聊且漫長。</a:t>
            </a:r>
            <a:endParaRPr lang="en-US" altLang="zh-TW" dirty="0"/>
          </a:p>
          <a:p>
            <a:pPr lvl="1"/>
            <a:endParaRPr lang="en-US" altLang="zh-TW" dirty="0"/>
          </a:p>
          <a:p>
            <a:r>
              <a:rPr lang="zh-TW" altLang="en-US" dirty="0"/>
              <a:t>常見的程式設計錯誤有以下幾種類型：</a:t>
            </a:r>
            <a:endParaRPr lang="en-US" altLang="zh-TW" dirty="0"/>
          </a:p>
          <a:p>
            <a:pPr lvl="1"/>
            <a:r>
              <a:rPr lang="zh-TW" altLang="en-US" dirty="0"/>
              <a:t>語法錯誤</a:t>
            </a:r>
            <a:r>
              <a:rPr lang="en-US" altLang="zh-TW" dirty="0"/>
              <a:t>(syntax error)</a:t>
            </a:r>
          </a:p>
          <a:p>
            <a:pPr lvl="1"/>
            <a:r>
              <a:rPr lang="zh-TW" altLang="en-US" dirty="0"/>
              <a:t>執行期間錯誤</a:t>
            </a:r>
            <a:r>
              <a:rPr lang="en-US" altLang="zh-TW" dirty="0"/>
              <a:t>(runtime error)</a:t>
            </a:r>
          </a:p>
          <a:p>
            <a:pPr lvl="1"/>
            <a:r>
              <a:rPr lang="zh-TW" altLang="en-US" dirty="0"/>
              <a:t>邏輯錯誤</a:t>
            </a:r>
            <a:r>
              <a:rPr lang="en-US" altLang="zh-TW" dirty="0"/>
              <a:t>(logic error)</a:t>
            </a:r>
            <a:endParaRPr lang="zh-TW" altLang="en-US" dirty="0"/>
          </a:p>
        </p:txBody>
      </p:sp>
      <p:sp>
        <p:nvSpPr>
          <p:cNvPr id="4" name="投影片編號版面配置區 3">
            <a:extLst>
              <a:ext uri="{FF2B5EF4-FFF2-40B4-BE49-F238E27FC236}">
                <a16:creationId xmlns:a16="http://schemas.microsoft.com/office/drawing/2014/main" id="{5648BD46-25B2-4373-8EB8-C8AC45954452}"/>
              </a:ext>
            </a:extLst>
          </p:cNvPr>
          <p:cNvSpPr>
            <a:spLocks noGrp="1"/>
          </p:cNvSpPr>
          <p:nvPr>
            <p:ph type="sldNum" sz="quarter" idx="12"/>
          </p:nvPr>
        </p:nvSpPr>
        <p:spPr/>
        <p:txBody>
          <a:bodyPr/>
          <a:lstStyle/>
          <a:p>
            <a:fld id="{A0B59302-35AD-44E9-AC3C-8D1DAE3511F1}" type="slidenum">
              <a:rPr lang="zh-TW" altLang="en-US" smtClean="0"/>
              <a:pPr/>
              <a:t>66</a:t>
            </a:fld>
            <a:endParaRPr lang="zh-TW" altLang="en-US" dirty="0"/>
          </a:p>
        </p:txBody>
      </p:sp>
    </p:spTree>
    <p:extLst>
      <p:ext uri="{BB962C8B-B14F-4D97-AF65-F5344CB8AC3E}">
        <p14:creationId xmlns:p14="http://schemas.microsoft.com/office/powerpoint/2010/main" val="243323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7D9297-B5DB-4064-B270-72FA0F9170E4}"/>
              </a:ext>
            </a:extLst>
          </p:cNvPr>
          <p:cNvSpPr>
            <a:spLocks noGrp="1"/>
          </p:cNvSpPr>
          <p:nvPr>
            <p:ph type="title"/>
          </p:nvPr>
        </p:nvSpPr>
        <p:spPr/>
        <p:txBody>
          <a:bodyPr/>
          <a:lstStyle/>
          <a:p>
            <a:r>
              <a:rPr lang="zh-TW" altLang="en-US" dirty="0"/>
              <a:t>語法錯誤</a:t>
            </a:r>
            <a:r>
              <a:rPr lang="en-US" altLang="zh-TW" dirty="0"/>
              <a:t>(1/2)</a:t>
            </a:r>
            <a:endParaRPr lang="zh-TW" altLang="en-US" dirty="0"/>
          </a:p>
        </p:txBody>
      </p:sp>
      <p:sp>
        <p:nvSpPr>
          <p:cNvPr id="3" name="內容版面配置區 2">
            <a:extLst>
              <a:ext uri="{FF2B5EF4-FFF2-40B4-BE49-F238E27FC236}">
                <a16:creationId xmlns:a16="http://schemas.microsoft.com/office/drawing/2014/main" id="{D51A456D-2C34-473D-ADDA-91BA7E91EF2B}"/>
              </a:ext>
            </a:extLst>
          </p:cNvPr>
          <p:cNvSpPr>
            <a:spLocks noGrp="1"/>
          </p:cNvSpPr>
          <p:nvPr>
            <p:ph idx="1"/>
          </p:nvPr>
        </p:nvSpPr>
        <p:spPr/>
        <p:txBody>
          <a:bodyPr>
            <a:normAutofit/>
          </a:bodyPr>
          <a:lstStyle/>
          <a:p>
            <a:r>
              <a:rPr lang="zh-TW" altLang="en-US" dirty="0"/>
              <a:t>這是初學者最容易發生的錯誤，幸好也是最容易處理的錯誤。</a:t>
            </a:r>
            <a:endParaRPr lang="en-US" altLang="zh-TW" dirty="0"/>
          </a:p>
          <a:p>
            <a:pPr lvl="1"/>
            <a:r>
              <a:rPr lang="zh-TW" altLang="en-US" dirty="0"/>
              <a:t>任何一種程式語言都有其專屬的語法（如縮排、關鍵字、語法結構等），必須嚴格遵守，一旦誤用就會引發錯誤。</a:t>
            </a:r>
            <a:endParaRPr lang="en-US" altLang="zh-TW" dirty="0"/>
          </a:p>
          <a:p>
            <a:pPr lvl="3"/>
            <a:endParaRPr lang="en-US" altLang="zh-TW" dirty="0"/>
          </a:p>
          <a:p>
            <a:pPr lvl="1"/>
            <a:r>
              <a:rPr lang="zh-TW" altLang="en-US" dirty="0"/>
              <a:t>得力於各程式語言 </a:t>
            </a:r>
            <a:r>
              <a:rPr lang="en-US" altLang="zh-TW" dirty="0"/>
              <a:t>IDE </a:t>
            </a:r>
            <a:r>
              <a:rPr lang="zh-TW" altLang="en-US" dirty="0"/>
              <a:t>的支持，</a:t>
            </a:r>
            <a:r>
              <a:rPr lang="zh-TW" altLang="en-US" dirty="0">
                <a:solidFill>
                  <a:schemeClr val="accent4"/>
                </a:solidFill>
              </a:rPr>
              <a:t>多數語法錯誤皆能被標示出來</a:t>
            </a:r>
            <a:r>
              <a:rPr lang="zh-TW" altLang="en-US" dirty="0"/>
              <a:t>，甚至還能自動更正。</a:t>
            </a:r>
            <a:endParaRPr lang="en-US" altLang="zh-TW" dirty="0"/>
          </a:p>
          <a:p>
            <a:pPr lvl="3"/>
            <a:endParaRPr lang="en-US" altLang="zh-TW" dirty="0"/>
          </a:p>
          <a:p>
            <a:pPr lvl="1"/>
            <a:r>
              <a:rPr lang="zh-TW" altLang="en-US" dirty="0"/>
              <a:t>若是執行一段有語法錯誤的程式碼，也會得到「</a:t>
            </a:r>
            <a:r>
              <a:rPr lang="en-US" altLang="zh-TW" dirty="0" err="1">
                <a:solidFill>
                  <a:schemeClr val="accent4"/>
                </a:solidFill>
              </a:rPr>
              <a:t>SyntaxError</a:t>
            </a:r>
            <a:r>
              <a:rPr lang="zh-TW" altLang="en-US" dirty="0"/>
              <a:t>」的相關錯誤訊息，此時只要依照提示修正即可。</a:t>
            </a:r>
          </a:p>
        </p:txBody>
      </p:sp>
      <p:sp>
        <p:nvSpPr>
          <p:cNvPr id="4" name="投影片編號版面配置區 3">
            <a:extLst>
              <a:ext uri="{FF2B5EF4-FFF2-40B4-BE49-F238E27FC236}">
                <a16:creationId xmlns:a16="http://schemas.microsoft.com/office/drawing/2014/main" id="{899A9E0C-0D1B-4237-B309-70B66823F766}"/>
              </a:ext>
            </a:extLst>
          </p:cNvPr>
          <p:cNvSpPr>
            <a:spLocks noGrp="1"/>
          </p:cNvSpPr>
          <p:nvPr>
            <p:ph type="sldNum" sz="quarter" idx="12"/>
          </p:nvPr>
        </p:nvSpPr>
        <p:spPr/>
        <p:txBody>
          <a:bodyPr/>
          <a:lstStyle/>
          <a:p>
            <a:fld id="{A0B59302-35AD-44E9-AC3C-8D1DAE3511F1}" type="slidenum">
              <a:rPr lang="zh-TW" altLang="en-US" smtClean="0"/>
              <a:pPr/>
              <a:t>67</a:t>
            </a:fld>
            <a:endParaRPr lang="zh-TW" altLang="en-US" dirty="0"/>
          </a:p>
        </p:txBody>
      </p:sp>
    </p:spTree>
    <p:extLst>
      <p:ext uri="{BB962C8B-B14F-4D97-AF65-F5344CB8AC3E}">
        <p14:creationId xmlns:p14="http://schemas.microsoft.com/office/powerpoint/2010/main" val="184874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C60A2C-A75A-4CCA-A11D-BFA338A6C6A4}"/>
              </a:ext>
            </a:extLst>
          </p:cNvPr>
          <p:cNvSpPr>
            <a:spLocks noGrp="1"/>
          </p:cNvSpPr>
          <p:nvPr>
            <p:ph type="title"/>
          </p:nvPr>
        </p:nvSpPr>
        <p:spPr/>
        <p:txBody>
          <a:bodyPr/>
          <a:lstStyle/>
          <a:p>
            <a:r>
              <a:rPr lang="zh-TW" altLang="en-US" dirty="0"/>
              <a:t>語法錯誤</a:t>
            </a:r>
            <a:r>
              <a:rPr lang="en-US" altLang="zh-TW" dirty="0"/>
              <a:t>(2/2)</a:t>
            </a:r>
            <a:endParaRPr lang="zh-TW" altLang="en-US" dirty="0"/>
          </a:p>
        </p:txBody>
      </p:sp>
      <p:sp>
        <p:nvSpPr>
          <p:cNvPr id="4" name="投影片編號版面配置區 3">
            <a:extLst>
              <a:ext uri="{FF2B5EF4-FFF2-40B4-BE49-F238E27FC236}">
                <a16:creationId xmlns:a16="http://schemas.microsoft.com/office/drawing/2014/main" id="{7E008691-966B-4677-894C-1D94106381BB}"/>
              </a:ext>
            </a:extLst>
          </p:cNvPr>
          <p:cNvSpPr>
            <a:spLocks noGrp="1"/>
          </p:cNvSpPr>
          <p:nvPr>
            <p:ph type="sldNum" sz="quarter" idx="12"/>
          </p:nvPr>
        </p:nvSpPr>
        <p:spPr/>
        <p:txBody>
          <a:bodyPr/>
          <a:lstStyle/>
          <a:p>
            <a:fld id="{A0B59302-35AD-44E9-AC3C-8D1DAE3511F1}" type="slidenum">
              <a:rPr lang="zh-TW" altLang="en-US" smtClean="0"/>
              <a:pPr/>
              <a:t>68</a:t>
            </a:fld>
            <a:endParaRPr lang="zh-TW" altLang="en-US" dirty="0"/>
          </a:p>
        </p:txBody>
      </p:sp>
      <p:grpSp>
        <p:nvGrpSpPr>
          <p:cNvPr id="5" name="群組 4">
            <a:extLst>
              <a:ext uri="{FF2B5EF4-FFF2-40B4-BE49-F238E27FC236}">
                <a16:creationId xmlns:a16="http://schemas.microsoft.com/office/drawing/2014/main" id="{CFEEBA73-B144-442D-BB64-014859C819DC}"/>
              </a:ext>
            </a:extLst>
          </p:cNvPr>
          <p:cNvGrpSpPr/>
          <p:nvPr/>
        </p:nvGrpSpPr>
        <p:grpSpPr>
          <a:xfrm>
            <a:off x="1718807" y="1985010"/>
            <a:ext cx="8754386" cy="4206240"/>
            <a:chOff x="1550504" y="914400"/>
            <a:chExt cx="8754386" cy="4206240"/>
          </a:xfrm>
        </p:grpSpPr>
        <p:sp>
          <p:nvSpPr>
            <p:cNvPr id="6" name="矩形 5">
              <a:extLst>
                <a:ext uri="{FF2B5EF4-FFF2-40B4-BE49-F238E27FC236}">
                  <a16:creationId xmlns:a16="http://schemas.microsoft.com/office/drawing/2014/main" id="{DC81F28E-1229-4389-AA38-33F3C6537DF9}"/>
                </a:ext>
              </a:extLst>
            </p:cNvPr>
            <p:cNvSpPr/>
            <p:nvPr/>
          </p:nvSpPr>
          <p:spPr>
            <a:xfrm>
              <a:off x="1550504" y="914400"/>
              <a:ext cx="8754386" cy="4206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343BA737-A3E4-4BAD-8547-FA1E0EF44C44}"/>
                </a:ext>
              </a:extLst>
            </p:cNvPr>
            <p:cNvPicPr>
              <a:picLocks noChangeAspect="1"/>
            </p:cNvPicPr>
            <p:nvPr/>
          </p:nvPicPr>
          <p:blipFill>
            <a:blip r:embed="rId3"/>
            <a:stretch>
              <a:fillRect/>
            </a:stretch>
          </p:blipFill>
          <p:spPr>
            <a:xfrm>
              <a:off x="3703933" y="3849638"/>
              <a:ext cx="6485714" cy="1104762"/>
            </a:xfrm>
            <a:prstGeom prst="rect">
              <a:avLst/>
            </a:prstGeom>
          </p:spPr>
        </p:pic>
        <p:sp>
          <p:nvSpPr>
            <p:cNvPr id="8" name="文字方塊 7">
              <a:extLst>
                <a:ext uri="{FF2B5EF4-FFF2-40B4-BE49-F238E27FC236}">
                  <a16:creationId xmlns:a16="http://schemas.microsoft.com/office/drawing/2014/main" id="{70311E63-8E31-4CE3-90F5-ACDBEC0DF457}"/>
                </a:ext>
              </a:extLst>
            </p:cNvPr>
            <p:cNvSpPr txBox="1"/>
            <p:nvPr/>
          </p:nvSpPr>
          <p:spPr>
            <a:xfrm>
              <a:off x="1612741" y="3944713"/>
              <a:ext cx="2091192" cy="707886"/>
            </a:xfrm>
            <a:prstGeom prst="rect">
              <a:avLst/>
            </a:prstGeom>
            <a:noFill/>
          </p:spPr>
          <p:txBody>
            <a:bodyPr wrap="square" rtlCol="0">
              <a:spAutoFit/>
            </a:bodyPr>
            <a:lstStyle/>
            <a:p>
              <a:pPr algn="ctr"/>
              <a:r>
                <a:rPr lang="en-US" altLang="zh-TW" sz="2000" dirty="0">
                  <a:latin typeface="Swis721 Md BT" panose="020B0604020202020204" pitchFamily="34" charset="0"/>
                  <a:ea typeface="華康中特圓體" panose="020F0809000000000000" pitchFamily="49" charset="-120"/>
                </a:rPr>
                <a:t>VS</a:t>
              </a:r>
              <a:r>
                <a:rPr lang="zh-TW" altLang="en-US" sz="2000" dirty="0">
                  <a:latin typeface="Swis721 Md BT" panose="020B0604020202020204" pitchFamily="34" charset="0"/>
                  <a:ea typeface="華康中特圓體" panose="020F0809000000000000" pitchFamily="49" charset="-120"/>
                </a:rPr>
                <a:t> </a:t>
              </a:r>
              <a:r>
                <a:rPr lang="en-US" altLang="zh-TW" sz="2000" dirty="0">
                  <a:latin typeface="Swis721 Md BT" panose="020B0604020202020204" pitchFamily="34" charset="0"/>
                  <a:ea typeface="華康中特圓體" panose="020F0809000000000000" pitchFamily="49" charset="-120"/>
                </a:rPr>
                <a:t>Code</a:t>
              </a:r>
              <a:r>
                <a:rPr lang="zh-TW" altLang="en-US" sz="2000" dirty="0">
                  <a:latin typeface="Swis721 Md BT" panose="020B0604020202020204" pitchFamily="34" charset="0"/>
                  <a:ea typeface="華康中特圓體" panose="020F0809000000000000" pitchFamily="49" charset="-120"/>
                </a:rPr>
                <a:t> 執行時</a:t>
              </a:r>
              <a:r>
                <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rPr>
                <a:t>顯示的錯誤訊息</a:t>
              </a:r>
            </a:p>
          </p:txBody>
        </p:sp>
        <p:pic>
          <p:nvPicPr>
            <p:cNvPr id="9" name="圖片 8">
              <a:extLst>
                <a:ext uri="{FF2B5EF4-FFF2-40B4-BE49-F238E27FC236}">
                  <a16:creationId xmlns:a16="http://schemas.microsoft.com/office/drawing/2014/main" id="{AC138BDA-E18C-46D7-AF9E-A235F9360486}"/>
                </a:ext>
              </a:extLst>
            </p:cNvPr>
            <p:cNvPicPr>
              <a:picLocks noChangeAspect="1"/>
            </p:cNvPicPr>
            <p:nvPr/>
          </p:nvPicPr>
          <p:blipFill>
            <a:blip r:embed="rId4"/>
            <a:stretch>
              <a:fillRect/>
            </a:stretch>
          </p:blipFill>
          <p:spPr>
            <a:xfrm>
              <a:off x="3703933" y="1051453"/>
              <a:ext cx="5561905" cy="1590476"/>
            </a:xfrm>
            <a:prstGeom prst="rect">
              <a:avLst/>
            </a:prstGeom>
          </p:spPr>
        </p:pic>
        <p:sp>
          <p:nvSpPr>
            <p:cNvPr id="10" name="文字方塊 9">
              <a:extLst>
                <a:ext uri="{FF2B5EF4-FFF2-40B4-BE49-F238E27FC236}">
                  <a16:creationId xmlns:a16="http://schemas.microsoft.com/office/drawing/2014/main" id="{53089B23-29B6-4214-8EFA-F14604694CEC}"/>
                </a:ext>
              </a:extLst>
            </p:cNvPr>
            <p:cNvSpPr txBox="1"/>
            <p:nvPr/>
          </p:nvSpPr>
          <p:spPr>
            <a:xfrm>
              <a:off x="1612741" y="1314461"/>
              <a:ext cx="2091192" cy="707886"/>
            </a:xfrm>
            <a:prstGeom prst="rect">
              <a:avLst/>
            </a:prstGeom>
            <a:noFill/>
          </p:spPr>
          <p:txBody>
            <a:bodyPr wrap="square" rtlCol="0">
              <a:spAutoFit/>
            </a:bodyPr>
            <a:lstStyle/>
            <a:p>
              <a:pPr algn="ctr"/>
              <a:r>
                <a:rPr lang="en-US" altLang="zh-TW" sz="2000" dirty="0">
                  <a:latin typeface="Swis721 Md BT" panose="020B0604020202020204" pitchFamily="34" charset="0"/>
                  <a:ea typeface="華康中特圓體" panose="020F0809000000000000" pitchFamily="49" charset="-120"/>
                </a:rPr>
                <a:t>Spyder </a:t>
              </a:r>
              <a:r>
                <a:rPr lang="zh-TW" altLang="en-US" sz="2000" dirty="0">
                  <a:latin typeface="Swis721 Md BT" panose="020B0604020202020204" pitchFamily="34" charset="0"/>
                  <a:ea typeface="華康中特圓體" panose="020F0809000000000000" pitchFamily="49" charset="-120"/>
                </a:rPr>
                <a:t>編寫時</a:t>
              </a:r>
              <a:r>
                <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rPr>
                <a:t>的錯誤</a:t>
              </a:r>
              <a:r>
                <a:rPr lang="zh-TW" altLang="en-US" sz="2000" dirty="0">
                  <a:latin typeface="Swis721 Md BT" panose="020B0604020202020204" pitchFamily="34" charset="0"/>
                  <a:ea typeface="華康中特圓體" panose="020F0809000000000000" pitchFamily="49" charset="-120"/>
                </a:rPr>
                <a:t>標</a:t>
              </a:r>
              <a:r>
                <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rPr>
                <a:t>示</a:t>
              </a:r>
            </a:p>
          </p:txBody>
        </p:sp>
        <p:pic>
          <p:nvPicPr>
            <p:cNvPr id="11" name="圖片 10">
              <a:extLst>
                <a:ext uri="{FF2B5EF4-FFF2-40B4-BE49-F238E27FC236}">
                  <a16:creationId xmlns:a16="http://schemas.microsoft.com/office/drawing/2014/main" id="{F3E3375B-3255-453C-8A64-2DF28B2C67AD}"/>
                </a:ext>
              </a:extLst>
            </p:cNvPr>
            <p:cNvPicPr>
              <a:picLocks noChangeAspect="1"/>
            </p:cNvPicPr>
            <p:nvPr/>
          </p:nvPicPr>
          <p:blipFill rotWithShape="1">
            <a:blip r:embed="rId5"/>
            <a:srcRect t="34949"/>
            <a:stretch/>
          </p:blipFill>
          <p:spPr>
            <a:xfrm>
              <a:off x="3703933" y="2764831"/>
              <a:ext cx="4201843" cy="961905"/>
            </a:xfrm>
            <a:prstGeom prst="rect">
              <a:avLst/>
            </a:prstGeom>
          </p:spPr>
        </p:pic>
        <p:sp>
          <p:nvSpPr>
            <p:cNvPr id="12" name="文字方塊 11">
              <a:extLst>
                <a:ext uri="{FF2B5EF4-FFF2-40B4-BE49-F238E27FC236}">
                  <a16:creationId xmlns:a16="http://schemas.microsoft.com/office/drawing/2014/main" id="{1BBA082D-A4A8-45CC-9A38-8856FB5E3239}"/>
                </a:ext>
              </a:extLst>
            </p:cNvPr>
            <p:cNvSpPr txBox="1"/>
            <p:nvPr/>
          </p:nvSpPr>
          <p:spPr>
            <a:xfrm>
              <a:off x="1612741" y="2731908"/>
              <a:ext cx="2091192" cy="707886"/>
            </a:xfrm>
            <a:prstGeom prst="rect">
              <a:avLst/>
            </a:prstGeom>
            <a:noFill/>
          </p:spPr>
          <p:txBody>
            <a:bodyPr wrap="square" rtlCol="0">
              <a:spAutoFit/>
            </a:bodyPr>
            <a:lstStyle/>
            <a:p>
              <a:pPr algn="ctr"/>
              <a:r>
                <a:rPr lang="en-US" altLang="zh-TW" sz="2000" dirty="0">
                  <a:latin typeface="Swis721 Md BT" panose="020B0604020202020204" pitchFamily="34" charset="0"/>
                  <a:ea typeface="華康中特圓體" panose="020F0809000000000000" pitchFamily="49" charset="-120"/>
                </a:rPr>
                <a:t>VS</a:t>
              </a:r>
              <a:r>
                <a:rPr lang="zh-TW" altLang="en-US" sz="2000" dirty="0">
                  <a:latin typeface="Swis721 Md BT" panose="020B0604020202020204" pitchFamily="34" charset="0"/>
                  <a:ea typeface="華康中特圓體" panose="020F0809000000000000" pitchFamily="49" charset="-120"/>
                </a:rPr>
                <a:t> </a:t>
              </a:r>
              <a:r>
                <a:rPr lang="en-US" altLang="zh-TW" sz="2000" dirty="0">
                  <a:latin typeface="Swis721 Md BT" panose="020B0604020202020204" pitchFamily="34" charset="0"/>
                  <a:ea typeface="華康中特圓體" panose="020F0809000000000000" pitchFamily="49" charset="-120"/>
                </a:rPr>
                <a:t>Code </a:t>
              </a:r>
              <a:r>
                <a:rPr lang="zh-TW" altLang="en-US" sz="2000" dirty="0">
                  <a:latin typeface="Swis721 Md BT" panose="020B0604020202020204" pitchFamily="34" charset="0"/>
                  <a:ea typeface="華康中特圓體" panose="020F0809000000000000" pitchFamily="49" charset="-120"/>
                </a:rPr>
                <a:t>編寫時</a:t>
              </a:r>
              <a:r>
                <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rPr>
                <a:t>的錯誤</a:t>
              </a:r>
              <a:r>
                <a:rPr lang="zh-TW" altLang="en-US" sz="2000" dirty="0">
                  <a:latin typeface="Swis721 Md BT" panose="020B0604020202020204" pitchFamily="34" charset="0"/>
                  <a:ea typeface="華康中特圓體" panose="020F0809000000000000" pitchFamily="49" charset="-120"/>
                </a:rPr>
                <a:t>標</a:t>
              </a:r>
              <a:r>
                <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rPr>
                <a:t>示</a:t>
              </a:r>
            </a:p>
          </p:txBody>
        </p:sp>
        <p:sp>
          <p:nvSpPr>
            <p:cNvPr id="13" name="箭號: 向右 12">
              <a:extLst>
                <a:ext uri="{FF2B5EF4-FFF2-40B4-BE49-F238E27FC236}">
                  <a16:creationId xmlns:a16="http://schemas.microsoft.com/office/drawing/2014/main" id="{88217350-0EB4-4DC3-82A7-050BE8CDB9B8}"/>
                </a:ext>
              </a:extLst>
            </p:cNvPr>
            <p:cNvSpPr/>
            <p:nvPr/>
          </p:nvSpPr>
          <p:spPr>
            <a:xfrm>
              <a:off x="1679640" y="1920462"/>
              <a:ext cx="1957395" cy="400483"/>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右 13">
              <a:extLst>
                <a:ext uri="{FF2B5EF4-FFF2-40B4-BE49-F238E27FC236}">
                  <a16:creationId xmlns:a16="http://schemas.microsoft.com/office/drawing/2014/main" id="{794C6758-B9CC-48FD-A484-8DB4AF65A9C6}"/>
                </a:ext>
              </a:extLst>
            </p:cNvPr>
            <p:cNvSpPr/>
            <p:nvPr/>
          </p:nvSpPr>
          <p:spPr>
            <a:xfrm>
              <a:off x="1679640" y="3337593"/>
              <a:ext cx="1957395" cy="400483"/>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右 14">
              <a:extLst>
                <a:ext uri="{FF2B5EF4-FFF2-40B4-BE49-F238E27FC236}">
                  <a16:creationId xmlns:a16="http://schemas.microsoft.com/office/drawing/2014/main" id="{5311EFE4-AFCB-4057-80E3-14888DE8E0FB}"/>
                </a:ext>
              </a:extLst>
            </p:cNvPr>
            <p:cNvSpPr/>
            <p:nvPr/>
          </p:nvSpPr>
          <p:spPr>
            <a:xfrm>
              <a:off x="1679640" y="4555720"/>
              <a:ext cx="1957395" cy="400483"/>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42812493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D1E6FF-293F-4693-BB82-78D2DF9FC1DF}"/>
              </a:ext>
            </a:extLst>
          </p:cNvPr>
          <p:cNvSpPr>
            <a:spLocks noGrp="1"/>
          </p:cNvSpPr>
          <p:nvPr>
            <p:ph type="title"/>
          </p:nvPr>
        </p:nvSpPr>
        <p:spPr/>
        <p:txBody>
          <a:bodyPr/>
          <a:lstStyle/>
          <a:p>
            <a:r>
              <a:rPr lang="zh-TW" altLang="en-US" dirty="0"/>
              <a:t>執行期間錯誤</a:t>
            </a:r>
            <a:r>
              <a:rPr lang="en-US" altLang="zh-TW" dirty="0"/>
              <a:t>(1/2)</a:t>
            </a:r>
            <a:endParaRPr lang="zh-TW" altLang="en-US" dirty="0"/>
          </a:p>
        </p:txBody>
      </p:sp>
      <p:sp>
        <p:nvSpPr>
          <p:cNvPr id="3" name="內容版面配置區 2">
            <a:extLst>
              <a:ext uri="{FF2B5EF4-FFF2-40B4-BE49-F238E27FC236}">
                <a16:creationId xmlns:a16="http://schemas.microsoft.com/office/drawing/2014/main" id="{9B3AD8B6-88FF-438D-A041-B74891A1D7D2}"/>
              </a:ext>
            </a:extLst>
          </p:cNvPr>
          <p:cNvSpPr>
            <a:spLocks noGrp="1"/>
          </p:cNvSpPr>
          <p:nvPr>
            <p:ph idx="1"/>
          </p:nvPr>
        </p:nvSpPr>
        <p:spPr/>
        <p:txBody>
          <a:bodyPr/>
          <a:lstStyle/>
          <a:p>
            <a:r>
              <a:rPr lang="zh-TW" altLang="en-US" dirty="0"/>
              <a:t>這是指程式在執行期間引發的錯誤，其肇因往往不是語法問題，而是某些看似正確卻無法執行的程式碼。</a:t>
            </a:r>
          </a:p>
        </p:txBody>
      </p:sp>
      <p:sp>
        <p:nvSpPr>
          <p:cNvPr id="4" name="投影片編號版面配置區 3">
            <a:extLst>
              <a:ext uri="{FF2B5EF4-FFF2-40B4-BE49-F238E27FC236}">
                <a16:creationId xmlns:a16="http://schemas.microsoft.com/office/drawing/2014/main" id="{B6D5F2FC-3AA5-4CD9-8766-A3CC7A76527F}"/>
              </a:ext>
            </a:extLst>
          </p:cNvPr>
          <p:cNvSpPr>
            <a:spLocks noGrp="1"/>
          </p:cNvSpPr>
          <p:nvPr>
            <p:ph type="sldNum" sz="quarter" idx="12"/>
          </p:nvPr>
        </p:nvSpPr>
        <p:spPr/>
        <p:txBody>
          <a:bodyPr/>
          <a:lstStyle/>
          <a:p>
            <a:fld id="{A0B59302-35AD-44E9-AC3C-8D1DAE3511F1}" type="slidenum">
              <a:rPr lang="zh-TW" altLang="en-US" smtClean="0"/>
              <a:pPr/>
              <a:t>69</a:t>
            </a:fld>
            <a:endParaRPr lang="zh-TW" altLang="en-US" dirty="0"/>
          </a:p>
        </p:txBody>
      </p:sp>
      <p:grpSp>
        <p:nvGrpSpPr>
          <p:cNvPr id="5" name="群組 4">
            <a:extLst>
              <a:ext uri="{FF2B5EF4-FFF2-40B4-BE49-F238E27FC236}">
                <a16:creationId xmlns:a16="http://schemas.microsoft.com/office/drawing/2014/main" id="{AB66FABC-A57A-4143-9241-4808CA58960A}"/>
              </a:ext>
            </a:extLst>
          </p:cNvPr>
          <p:cNvGrpSpPr/>
          <p:nvPr/>
        </p:nvGrpSpPr>
        <p:grpSpPr>
          <a:xfrm>
            <a:off x="1900376" y="3206308"/>
            <a:ext cx="8391248" cy="3157980"/>
            <a:chOff x="1913641" y="1809946"/>
            <a:chExt cx="8391248" cy="3157980"/>
          </a:xfrm>
        </p:grpSpPr>
        <p:sp>
          <p:nvSpPr>
            <p:cNvPr id="6" name="矩形 5">
              <a:extLst>
                <a:ext uri="{FF2B5EF4-FFF2-40B4-BE49-F238E27FC236}">
                  <a16:creationId xmlns:a16="http://schemas.microsoft.com/office/drawing/2014/main" id="{CCED6E24-BEF1-4613-A952-BFF0998A9A89}"/>
                </a:ext>
              </a:extLst>
            </p:cNvPr>
            <p:cNvSpPr/>
            <p:nvPr/>
          </p:nvSpPr>
          <p:spPr>
            <a:xfrm>
              <a:off x="1913641" y="1809946"/>
              <a:ext cx="8391248" cy="3157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E307E931-B292-4CC3-9BB2-0351B602DE81}"/>
                </a:ext>
              </a:extLst>
            </p:cNvPr>
            <p:cNvPicPr>
              <a:picLocks noChangeAspect="1"/>
            </p:cNvPicPr>
            <p:nvPr/>
          </p:nvPicPr>
          <p:blipFill>
            <a:blip r:embed="rId2"/>
            <a:stretch>
              <a:fillRect/>
            </a:stretch>
          </p:blipFill>
          <p:spPr>
            <a:xfrm>
              <a:off x="3276642" y="1950945"/>
              <a:ext cx="5304762" cy="952381"/>
            </a:xfrm>
            <a:prstGeom prst="rect">
              <a:avLst/>
            </a:prstGeom>
          </p:spPr>
        </p:pic>
        <p:pic>
          <p:nvPicPr>
            <p:cNvPr id="8" name="圖片 7">
              <a:extLst>
                <a:ext uri="{FF2B5EF4-FFF2-40B4-BE49-F238E27FC236}">
                  <a16:creationId xmlns:a16="http://schemas.microsoft.com/office/drawing/2014/main" id="{6CB8258F-6E67-4964-BD23-6BF1EF0C199B}"/>
                </a:ext>
              </a:extLst>
            </p:cNvPr>
            <p:cNvPicPr>
              <a:picLocks noChangeAspect="1"/>
            </p:cNvPicPr>
            <p:nvPr/>
          </p:nvPicPr>
          <p:blipFill>
            <a:blip r:embed="rId3"/>
            <a:stretch>
              <a:fillRect/>
            </a:stretch>
          </p:blipFill>
          <p:spPr>
            <a:xfrm>
              <a:off x="2053143" y="3954675"/>
              <a:ext cx="8085714" cy="828571"/>
            </a:xfrm>
            <a:prstGeom prst="rect">
              <a:avLst/>
            </a:prstGeom>
          </p:spPr>
        </p:pic>
        <p:sp>
          <p:nvSpPr>
            <p:cNvPr id="9" name="箭號: 向下 8">
              <a:extLst>
                <a:ext uri="{FF2B5EF4-FFF2-40B4-BE49-F238E27FC236}">
                  <a16:creationId xmlns:a16="http://schemas.microsoft.com/office/drawing/2014/main" id="{001511FF-FC98-4418-AB1D-946031920886}"/>
                </a:ext>
              </a:extLst>
            </p:cNvPr>
            <p:cNvSpPr/>
            <p:nvPr/>
          </p:nvSpPr>
          <p:spPr>
            <a:xfrm>
              <a:off x="4587903" y="3021496"/>
              <a:ext cx="818984" cy="828571"/>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9DED4EFA-B8BC-428F-BF89-8D330FCFFE42}"/>
                </a:ext>
              </a:extLst>
            </p:cNvPr>
            <p:cNvSpPr txBox="1"/>
            <p:nvPr/>
          </p:nvSpPr>
          <p:spPr>
            <a:xfrm>
              <a:off x="5406887" y="3007934"/>
              <a:ext cx="2091192"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執行這段程式碼得到的錯誤訊息</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grpSp>
    </p:spTree>
    <p:extLst>
      <p:ext uri="{BB962C8B-B14F-4D97-AF65-F5344CB8AC3E}">
        <p14:creationId xmlns:p14="http://schemas.microsoft.com/office/powerpoint/2010/main" val="34269649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0CE8B1-A987-4DE8-85D9-E1602074E76D}"/>
              </a:ext>
            </a:extLst>
          </p:cNvPr>
          <p:cNvSpPr>
            <a:spLocks noGrp="1"/>
          </p:cNvSpPr>
          <p:nvPr>
            <p:ph type="title"/>
          </p:nvPr>
        </p:nvSpPr>
        <p:spPr/>
        <p:txBody>
          <a:bodyPr/>
          <a:lstStyle/>
          <a:p>
            <a:r>
              <a:rPr lang="zh-TW" altLang="en-US" dirty="0"/>
              <a:t>執行期間錯誤</a:t>
            </a:r>
            <a:r>
              <a:rPr lang="en-US" altLang="zh-TW" dirty="0"/>
              <a:t>(2/2)</a:t>
            </a:r>
            <a:endParaRPr lang="zh-TW" altLang="en-US" dirty="0"/>
          </a:p>
        </p:txBody>
      </p:sp>
      <p:sp>
        <p:nvSpPr>
          <p:cNvPr id="3" name="內容版面配置區 2">
            <a:extLst>
              <a:ext uri="{FF2B5EF4-FFF2-40B4-BE49-F238E27FC236}">
                <a16:creationId xmlns:a16="http://schemas.microsoft.com/office/drawing/2014/main" id="{1ED521AB-3C99-4633-A951-C26AEEFBA2DB}"/>
              </a:ext>
            </a:extLst>
          </p:cNvPr>
          <p:cNvSpPr>
            <a:spLocks noGrp="1"/>
          </p:cNvSpPr>
          <p:nvPr>
            <p:ph idx="1"/>
          </p:nvPr>
        </p:nvSpPr>
        <p:spPr/>
        <p:txBody>
          <a:bodyPr/>
          <a:lstStyle/>
          <a:p>
            <a:r>
              <a:rPr lang="zh-TW" altLang="en-US" dirty="0"/>
              <a:t>此時，可直接根據顯示的錯誤訊息做修正，也可在 </a:t>
            </a:r>
            <a:r>
              <a:rPr lang="en-US" altLang="zh-TW" dirty="0"/>
              <a:t>Stack Overflow </a:t>
            </a:r>
            <a:r>
              <a:rPr lang="zh-TW" altLang="en-US" dirty="0"/>
              <a:t>網站上找到各式各樣的解決方案。</a:t>
            </a:r>
          </a:p>
        </p:txBody>
      </p:sp>
      <p:sp>
        <p:nvSpPr>
          <p:cNvPr id="4" name="投影片編號版面配置區 3">
            <a:extLst>
              <a:ext uri="{FF2B5EF4-FFF2-40B4-BE49-F238E27FC236}">
                <a16:creationId xmlns:a16="http://schemas.microsoft.com/office/drawing/2014/main" id="{29354FDA-31AB-4BA4-A0E2-74C5D47CA707}"/>
              </a:ext>
            </a:extLst>
          </p:cNvPr>
          <p:cNvSpPr>
            <a:spLocks noGrp="1"/>
          </p:cNvSpPr>
          <p:nvPr>
            <p:ph type="sldNum" sz="quarter" idx="12"/>
          </p:nvPr>
        </p:nvSpPr>
        <p:spPr/>
        <p:txBody>
          <a:bodyPr/>
          <a:lstStyle/>
          <a:p>
            <a:fld id="{A0B59302-35AD-44E9-AC3C-8D1DAE3511F1}" type="slidenum">
              <a:rPr lang="zh-TW" altLang="en-US" smtClean="0"/>
              <a:pPr/>
              <a:t>70</a:t>
            </a:fld>
            <a:endParaRPr lang="zh-TW" altLang="en-US" dirty="0"/>
          </a:p>
        </p:txBody>
      </p:sp>
      <p:grpSp>
        <p:nvGrpSpPr>
          <p:cNvPr id="5" name="群組 4">
            <a:extLst>
              <a:ext uri="{FF2B5EF4-FFF2-40B4-BE49-F238E27FC236}">
                <a16:creationId xmlns:a16="http://schemas.microsoft.com/office/drawing/2014/main" id="{0A62471B-8D46-44A9-BC2E-663018A5CC62}"/>
              </a:ext>
            </a:extLst>
          </p:cNvPr>
          <p:cNvGrpSpPr/>
          <p:nvPr/>
        </p:nvGrpSpPr>
        <p:grpSpPr>
          <a:xfrm>
            <a:off x="1900376" y="3206308"/>
            <a:ext cx="8391248" cy="3157980"/>
            <a:chOff x="1913641" y="1809946"/>
            <a:chExt cx="8391248" cy="3157980"/>
          </a:xfrm>
        </p:grpSpPr>
        <p:sp>
          <p:nvSpPr>
            <p:cNvPr id="6" name="矩形 5">
              <a:extLst>
                <a:ext uri="{FF2B5EF4-FFF2-40B4-BE49-F238E27FC236}">
                  <a16:creationId xmlns:a16="http://schemas.microsoft.com/office/drawing/2014/main" id="{ED8A0FB7-D807-409E-97D2-69F8ABD54DD0}"/>
                </a:ext>
              </a:extLst>
            </p:cNvPr>
            <p:cNvSpPr/>
            <p:nvPr/>
          </p:nvSpPr>
          <p:spPr>
            <a:xfrm>
              <a:off x="1913641" y="1809946"/>
              <a:ext cx="8391248" cy="3157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40CEED4D-E16E-4524-9575-A0A6AC3E5263}"/>
                </a:ext>
              </a:extLst>
            </p:cNvPr>
            <p:cNvPicPr>
              <a:picLocks noChangeAspect="1"/>
            </p:cNvPicPr>
            <p:nvPr/>
          </p:nvPicPr>
          <p:blipFill>
            <a:blip r:embed="rId2"/>
            <a:stretch>
              <a:fillRect/>
            </a:stretch>
          </p:blipFill>
          <p:spPr>
            <a:xfrm>
              <a:off x="3276642" y="1950945"/>
              <a:ext cx="5304762" cy="952381"/>
            </a:xfrm>
            <a:prstGeom prst="rect">
              <a:avLst/>
            </a:prstGeom>
          </p:spPr>
        </p:pic>
        <p:pic>
          <p:nvPicPr>
            <p:cNvPr id="8" name="圖片 7">
              <a:extLst>
                <a:ext uri="{FF2B5EF4-FFF2-40B4-BE49-F238E27FC236}">
                  <a16:creationId xmlns:a16="http://schemas.microsoft.com/office/drawing/2014/main" id="{7BA35F39-E9A5-4690-934F-328EB04E1BA2}"/>
                </a:ext>
              </a:extLst>
            </p:cNvPr>
            <p:cNvPicPr>
              <a:picLocks noChangeAspect="1"/>
            </p:cNvPicPr>
            <p:nvPr/>
          </p:nvPicPr>
          <p:blipFill>
            <a:blip r:embed="rId3"/>
            <a:stretch>
              <a:fillRect/>
            </a:stretch>
          </p:blipFill>
          <p:spPr>
            <a:xfrm>
              <a:off x="2053143" y="3954675"/>
              <a:ext cx="8085714" cy="828571"/>
            </a:xfrm>
            <a:prstGeom prst="rect">
              <a:avLst/>
            </a:prstGeom>
          </p:spPr>
        </p:pic>
        <p:sp>
          <p:nvSpPr>
            <p:cNvPr id="9" name="箭號: 向下 8">
              <a:extLst>
                <a:ext uri="{FF2B5EF4-FFF2-40B4-BE49-F238E27FC236}">
                  <a16:creationId xmlns:a16="http://schemas.microsoft.com/office/drawing/2014/main" id="{D9A7433F-713E-4336-8099-29CFD5BCA6D4}"/>
                </a:ext>
              </a:extLst>
            </p:cNvPr>
            <p:cNvSpPr/>
            <p:nvPr/>
          </p:nvSpPr>
          <p:spPr>
            <a:xfrm>
              <a:off x="4587903" y="3021496"/>
              <a:ext cx="818984" cy="828571"/>
            </a:xfrm>
            <a:prstGeom prst="down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D5FA311A-AFB4-4714-AB72-CB8FE55F66CC}"/>
                </a:ext>
              </a:extLst>
            </p:cNvPr>
            <p:cNvSpPr txBox="1"/>
            <p:nvPr/>
          </p:nvSpPr>
          <p:spPr>
            <a:xfrm>
              <a:off x="5406887" y="3007934"/>
              <a:ext cx="2091192"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執行這段程式碼得到的錯誤訊息</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grpSp>
    </p:spTree>
    <p:extLst>
      <p:ext uri="{BB962C8B-B14F-4D97-AF65-F5344CB8AC3E}">
        <p14:creationId xmlns:p14="http://schemas.microsoft.com/office/powerpoint/2010/main" val="17547361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439884-39E2-4FC5-B175-A18938476CCB}"/>
              </a:ext>
            </a:extLst>
          </p:cNvPr>
          <p:cNvSpPr>
            <a:spLocks noGrp="1"/>
          </p:cNvSpPr>
          <p:nvPr>
            <p:ph type="title"/>
          </p:nvPr>
        </p:nvSpPr>
        <p:spPr/>
        <p:txBody>
          <a:bodyPr/>
          <a:lstStyle/>
          <a:p>
            <a:r>
              <a:rPr lang="zh-TW" altLang="en-US" dirty="0"/>
              <a:t>邏輯錯誤</a:t>
            </a:r>
            <a:r>
              <a:rPr lang="en-US" altLang="zh-TW" dirty="0"/>
              <a:t>(1/2)</a:t>
            </a:r>
            <a:endParaRPr lang="zh-TW" altLang="en-US" dirty="0"/>
          </a:p>
        </p:txBody>
      </p:sp>
      <p:sp>
        <p:nvSpPr>
          <p:cNvPr id="3" name="內容版面配置區 2">
            <a:extLst>
              <a:ext uri="{FF2B5EF4-FFF2-40B4-BE49-F238E27FC236}">
                <a16:creationId xmlns:a16="http://schemas.microsoft.com/office/drawing/2014/main" id="{96BC7F25-F5D6-4A95-B4C9-16B43535D38A}"/>
              </a:ext>
            </a:extLst>
          </p:cNvPr>
          <p:cNvSpPr>
            <a:spLocks noGrp="1"/>
          </p:cNvSpPr>
          <p:nvPr>
            <p:ph idx="1"/>
          </p:nvPr>
        </p:nvSpPr>
        <p:spPr/>
        <p:txBody>
          <a:bodyPr/>
          <a:lstStyle/>
          <a:p>
            <a:r>
              <a:rPr lang="zh-TW" altLang="en-US" dirty="0"/>
              <a:t>這是最麻煩的錯誤類型，不管是在編寫過程還是執行程式時皆不會主動產生錯誤訊息，而是需要</a:t>
            </a:r>
            <a:r>
              <a:rPr lang="zh-TW" altLang="en-US" dirty="0">
                <a:solidFill>
                  <a:schemeClr val="accent4"/>
                </a:solidFill>
              </a:rPr>
              <a:t>透過不斷測試才能發掘出錯誤</a:t>
            </a:r>
            <a:r>
              <a:rPr lang="zh-TW" altLang="en-US" dirty="0"/>
              <a:t>。</a:t>
            </a:r>
          </a:p>
        </p:txBody>
      </p:sp>
      <p:sp>
        <p:nvSpPr>
          <p:cNvPr id="4" name="投影片編號版面配置區 3">
            <a:extLst>
              <a:ext uri="{FF2B5EF4-FFF2-40B4-BE49-F238E27FC236}">
                <a16:creationId xmlns:a16="http://schemas.microsoft.com/office/drawing/2014/main" id="{FBBF87D0-0927-43B6-91A5-A552C62C287B}"/>
              </a:ext>
            </a:extLst>
          </p:cNvPr>
          <p:cNvSpPr>
            <a:spLocks noGrp="1"/>
          </p:cNvSpPr>
          <p:nvPr>
            <p:ph type="sldNum" sz="quarter" idx="12"/>
          </p:nvPr>
        </p:nvSpPr>
        <p:spPr/>
        <p:txBody>
          <a:bodyPr/>
          <a:lstStyle/>
          <a:p>
            <a:fld id="{A0B59302-35AD-44E9-AC3C-8D1DAE3511F1}" type="slidenum">
              <a:rPr lang="zh-TW" altLang="en-US" smtClean="0"/>
              <a:pPr/>
              <a:t>71</a:t>
            </a:fld>
            <a:endParaRPr lang="zh-TW" altLang="en-US" dirty="0"/>
          </a:p>
        </p:txBody>
      </p:sp>
      <p:grpSp>
        <p:nvGrpSpPr>
          <p:cNvPr id="5" name="群組 4">
            <a:extLst>
              <a:ext uri="{FF2B5EF4-FFF2-40B4-BE49-F238E27FC236}">
                <a16:creationId xmlns:a16="http://schemas.microsoft.com/office/drawing/2014/main" id="{ADE4A7A8-1705-409E-8A1C-675245018C72}"/>
              </a:ext>
            </a:extLst>
          </p:cNvPr>
          <p:cNvGrpSpPr/>
          <p:nvPr/>
        </p:nvGrpSpPr>
        <p:grpSpPr>
          <a:xfrm>
            <a:off x="2088454" y="3359564"/>
            <a:ext cx="8015092" cy="2898361"/>
            <a:chOff x="1656809" y="1366886"/>
            <a:chExt cx="8015092" cy="2898361"/>
          </a:xfrm>
        </p:grpSpPr>
        <p:sp>
          <p:nvSpPr>
            <p:cNvPr id="6" name="矩形 5">
              <a:extLst>
                <a:ext uri="{FF2B5EF4-FFF2-40B4-BE49-F238E27FC236}">
                  <a16:creationId xmlns:a16="http://schemas.microsoft.com/office/drawing/2014/main" id="{63F64F00-B9F3-4C02-AF58-80FCB6EABAE8}"/>
                </a:ext>
              </a:extLst>
            </p:cNvPr>
            <p:cNvSpPr/>
            <p:nvPr/>
          </p:nvSpPr>
          <p:spPr>
            <a:xfrm>
              <a:off x="1656809" y="1366886"/>
              <a:ext cx="8015092" cy="28983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EFF35B86-8C92-437D-96CB-8B7213D90420}"/>
                </a:ext>
              </a:extLst>
            </p:cNvPr>
            <p:cNvPicPr>
              <a:picLocks noChangeAspect="1"/>
            </p:cNvPicPr>
            <p:nvPr/>
          </p:nvPicPr>
          <p:blipFill>
            <a:blip r:embed="rId2"/>
            <a:stretch>
              <a:fillRect/>
            </a:stretch>
          </p:blipFill>
          <p:spPr>
            <a:xfrm>
              <a:off x="3150017" y="1546779"/>
              <a:ext cx="5015150" cy="822710"/>
            </a:xfrm>
            <a:prstGeom prst="rect">
              <a:avLst/>
            </a:prstGeom>
          </p:spPr>
        </p:pic>
        <p:pic>
          <p:nvPicPr>
            <p:cNvPr id="8" name="圖片 7">
              <a:extLst>
                <a:ext uri="{FF2B5EF4-FFF2-40B4-BE49-F238E27FC236}">
                  <a16:creationId xmlns:a16="http://schemas.microsoft.com/office/drawing/2014/main" id="{BA172992-EA01-4D74-A357-5747C1CB5525}"/>
                </a:ext>
              </a:extLst>
            </p:cNvPr>
            <p:cNvPicPr>
              <a:picLocks noChangeAspect="1"/>
            </p:cNvPicPr>
            <p:nvPr/>
          </p:nvPicPr>
          <p:blipFill>
            <a:blip r:embed="rId3"/>
            <a:stretch>
              <a:fillRect/>
            </a:stretch>
          </p:blipFill>
          <p:spPr>
            <a:xfrm>
              <a:off x="3604132" y="2686258"/>
              <a:ext cx="1895238" cy="666667"/>
            </a:xfrm>
            <a:prstGeom prst="rect">
              <a:avLst/>
            </a:prstGeom>
          </p:spPr>
        </p:pic>
        <p:pic>
          <p:nvPicPr>
            <p:cNvPr id="9" name="圖片 8">
              <a:extLst>
                <a:ext uri="{FF2B5EF4-FFF2-40B4-BE49-F238E27FC236}">
                  <a16:creationId xmlns:a16="http://schemas.microsoft.com/office/drawing/2014/main" id="{24CBA40F-AD2A-4F75-B78A-34B16BF15BC7}"/>
                </a:ext>
              </a:extLst>
            </p:cNvPr>
            <p:cNvPicPr>
              <a:picLocks noChangeAspect="1"/>
            </p:cNvPicPr>
            <p:nvPr/>
          </p:nvPicPr>
          <p:blipFill rotWithShape="1">
            <a:blip r:embed="rId4"/>
            <a:srcRect r="1970"/>
            <a:stretch/>
          </p:blipFill>
          <p:spPr>
            <a:xfrm>
              <a:off x="3604132" y="3429000"/>
              <a:ext cx="1895238" cy="685714"/>
            </a:xfrm>
            <a:prstGeom prst="rect">
              <a:avLst/>
            </a:prstGeom>
          </p:spPr>
        </p:pic>
        <p:pic>
          <p:nvPicPr>
            <p:cNvPr id="10" name="圖片 9">
              <a:extLst>
                <a:ext uri="{FF2B5EF4-FFF2-40B4-BE49-F238E27FC236}">
                  <a16:creationId xmlns:a16="http://schemas.microsoft.com/office/drawing/2014/main" id="{195DDBD1-6788-40D3-84A6-22B02ADFF7B1}"/>
                </a:ext>
              </a:extLst>
            </p:cNvPr>
            <p:cNvPicPr>
              <a:picLocks noChangeAspect="1"/>
            </p:cNvPicPr>
            <p:nvPr/>
          </p:nvPicPr>
          <p:blipFill>
            <a:blip r:embed="rId5"/>
            <a:stretch>
              <a:fillRect/>
            </a:stretch>
          </p:blipFill>
          <p:spPr>
            <a:xfrm>
              <a:off x="7664748" y="3229833"/>
              <a:ext cx="1895238" cy="663815"/>
            </a:xfrm>
            <a:prstGeom prst="rect">
              <a:avLst/>
            </a:prstGeom>
          </p:spPr>
        </p:pic>
        <p:sp>
          <p:nvSpPr>
            <p:cNvPr id="11" name="文字方塊 10">
              <a:extLst>
                <a:ext uri="{FF2B5EF4-FFF2-40B4-BE49-F238E27FC236}">
                  <a16:creationId xmlns:a16="http://schemas.microsoft.com/office/drawing/2014/main" id="{4C403B39-C50E-459D-8D3C-CF5A947736A1}"/>
                </a:ext>
              </a:extLst>
            </p:cNvPr>
            <p:cNvSpPr txBox="1"/>
            <p:nvPr/>
          </p:nvSpPr>
          <p:spPr>
            <a:xfrm>
              <a:off x="1656809" y="2875890"/>
              <a:ext cx="2008686"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輸入 </a:t>
              </a:r>
              <a:r>
                <a:rPr lang="en-US" altLang="zh-TW" sz="2000" dirty="0">
                  <a:latin typeface="Swis721 Md BT" panose="020B0604020202020204" pitchFamily="34" charset="0"/>
                  <a:ea typeface="華康中特圓體" panose="020F0809000000000000" pitchFamily="49" charset="-120"/>
                </a:rPr>
                <a:t>0 </a:t>
              </a:r>
              <a:r>
                <a:rPr lang="zh-TW" altLang="en-US" sz="2000" dirty="0">
                  <a:latin typeface="Swis721 Md BT" panose="020B0604020202020204" pitchFamily="34" charset="0"/>
                  <a:ea typeface="華康中特圓體" panose="020F0809000000000000" pitchFamily="49" charset="-120"/>
                </a:rPr>
                <a:t>或 </a:t>
              </a:r>
              <a:r>
                <a:rPr lang="en-US" altLang="zh-TW" sz="2000" dirty="0">
                  <a:latin typeface="Swis721 Md BT" panose="020B0604020202020204" pitchFamily="34" charset="0"/>
                  <a:ea typeface="華康中特圓體" panose="020F0809000000000000" pitchFamily="49" charset="-120"/>
                </a:rPr>
                <a:t>2</a:t>
              </a:r>
              <a:r>
                <a:rPr lang="zh-TW" altLang="en-US" sz="2000" dirty="0">
                  <a:latin typeface="Swis721 Md BT" panose="020B0604020202020204" pitchFamily="34" charset="0"/>
                  <a:ea typeface="華康中特圓體" panose="020F0809000000000000" pitchFamily="49" charset="-120"/>
                </a:rPr>
                <a:t> 皆得到正確答案</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sp>
          <p:nvSpPr>
            <p:cNvPr id="12" name="箭號: 向右 11">
              <a:extLst>
                <a:ext uri="{FF2B5EF4-FFF2-40B4-BE49-F238E27FC236}">
                  <a16:creationId xmlns:a16="http://schemas.microsoft.com/office/drawing/2014/main" id="{CD342A48-B651-4A5D-9E50-7A7D113663A6}"/>
                </a:ext>
              </a:extLst>
            </p:cNvPr>
            <p:cNvSpPr/>
            <p:nvPr/>
          </p:nvSpPr>
          <p:spPr>
            <a:xfrm>
              <a:off x="1770256" y="3571615"/>
              <a:ext cx="1748591" cy="400483"/>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A0F69194-6EEA-45D2-AAF5-AE13EB883F8D}"/>
                </a:ext>
              </a:extLst>
            </p:cNvPr>
            <p:cNvSpPr txBox="1"/>
            <p:nvPr/>
          </p:nvSpPr>
          <p:spPr>
            <a:xfrm>
              <a:off x="5824261" y="2875890"/>
              <a:ext cx="1723517"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輸入 </a:t>
              </a:r>
              <a:r>
                <a:rPr lang="en-US" altLang="zh-TW" sz="2000" dirty="0">
                  <a:latin typeface="Swis721 Md BT" panose="020B0604020202020204" pitchFamily="34" charset="0"/>
                  <a:ea typeface="華康中特圓體" panose="020F0809000000000000" pitchFamily="49" charset="-120"/>
                </a:rPr>
                <a:t>3 </a:t>
              </a:r>
              <a:r>
                <a:rPr lang="zh-TW" altLang="en-US" sz="2000" dirty="0">
                  <a:latin typeface="Swis721 Md BT" panose="020B0604020202020204" pitchFamily="34" charset="0"/>
                  <a:ea typeface="華康中特圓體" panose="020F0809000000000000" pitchFamily="49" charset="-120"/>
                </a:rPr>
                <a:t>才發現答案錯誤</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sp>
          <p:nvSpPr>
            <p:cNvPr id="14" name="箭號: 向右 13">
              <a:extLst>
                <a:ext uri="{FF2B5EF4-FFF2-40B4-BE49-F238E27FC236}">
                  <a16:creationId xmlns:a16="http://schemas.microsoft.com/office/drawing/2014/main" id="{E8DD5593-9EB1-4279-B6EC-002C8FEBC5BF}"/>
                </a:ext>
              </a:extLst>
            </p:cNvPr>
            <p:cNvSpPr/>
            <p:nvPr/>
          </p:nvSpPr>
          <p:spPr>
            <a:xfrm>
              <a:off x="5995013" y="3571614"/>
              <a:ext cx="1568016" cy="400483"/>
            </a:xfrm>
            <a:prstGeom prst="rightArrow">
              <a:avLst/>
            </a:prstGeom>
            <a:solidFill>
              <a:srgbClr val="F263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接點 14">
              <a:extLst>
                <a:ext uri="{FF2B5EF4-FFF2-40B4-BE49-F238E27FC236}">
                  <a16:creationId xmlns:a16="http://schemas.microsoft.com/office/drawing/2014/main" id="{D8167F73-C238-4572-A7B3-9080EF191374}"/>
                </a:ext>
              </a:extLst>
            </p:cNvPr>
            <p:cNvCxnSpPr/>
            <p:nvPr/>
          </p:nvCxnSpPr>
          <p:spPr>
            <a:xfrm>
              <a:off x="5729154" y="2875890"/>
              <a:ext cx="0" cy="1096207"/>
            </a:xfrm>
            <a:prstGeom prst="line">
              <a:avLst/>
            </a:prstGeom>
            <a:ln w="3492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0362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B59BF3-846A-4890-8B20-557EE53137A4}"/>
              </a:ext>
            </a:extLst>
          </p:cNvPr>
          <p:cNvSpPr>
            <a:spLocks noGrp="1"/>
          </p:cNvSpPr>
          <p:nvPr>
            <p:ph type="title"/>
          </p:nvPr>
        </p:nvSpPr>
        <p:spPr/>
        <p:txBody>
          <a:bodyPr/>
          <a:lstStyle/>
          <a:p>
            <a:r>
              <a:rPr lang="zh-TW" altLang="en-US" dirty="0"/>
              <a:t>邏輯錯誤</a:t>
            </a:r>
            <a:r>
              <a:rPr lang="en-US" altLang="zh-TW" dirty="0"/>
              <a:t>(2/2)</a:t>
            </a:r>
            <a:endParaRPr lang="zh-TW" altLang="en-US" dirty="0"/>
          </a:p>
        </p:txBody>
      </p:sp>
      <p:sp>
        <p:nvSpPr>
          <p:cNvPr id="3" name="內容版面配置區 2">
            <a:extLst>
              <a:ext uri="{FF2B5EF4-FFF2-40B4-BE49-F238E27FC236}">
                <a16:creationId xmlns:a16="http://schemas.microsoft.com/office/drawing/2014/main" id="{71F1E77F-6BAF-4A3F-9400-9EBB057C3736}"/>
              </a:ext>
            </a:extLst>
          </p:cNvPr>
          <p:cNvSpPr>
            <a:spLocks noGrp="1"/>
          </p:cNvSpPr>
          <p:nvPr>
            <p:ph idx="1"/>
          </p:nvPr>
        </p:nvSpPr>
        <p:spPr/>
        <p:txBody>
          <a:bodyPr/>
          <a:lstStyle/>
          <a:p>
            <a:r>
              <a:rPr lang="zh-TW" altLang="en-US" dirty="0"/>
              <a:t>需要由執行結果不符合預期來判斷是否有邏輯錯誤，而經驗不足時不僅僅難以發現有邏輯錯誤。因此，這類型的錯誤常導致開發及測試人員耗費大量時間與精力。</a:t>
            </a:r>
          </a:p>
        </p:txBody>
      </p:sp>
      <p:sp>
        <p:nvSpPr>
          <p:cNvPr id="4" name="投影片編號版面配置區 3">
            <a:extLst>
              <a:ext uri="{FF2B5EF4-FFF2-40B4-BE49-F238E27FC236}">
                <a16:creationId xmlns:a16="http://schemas.microsoft.com/office/drawing/2014/main" id="{56761144-BE2C-4AEF-B238-170534CC9E16}"/>
              </a:ext>
            </a:extLst>
          </p:cNvPr>
          <p:cNvSpPr>
            <a:spLocks noGrp="1"/>
          </p:cNvSpPr>
          <p:nvPr>
            <p:ph type="sldNum" sz="quarter" idx="12"/>
          </p:nvPr>
        </p:nvSpPr>
        <p:spPr/>
        <p:txBody>
          <a:bodyPr/>
          <a:lstStyle/>
          <a:p>
            <a:fld id="{A0B59302-35AD-44E9-AC3C-8D1DAE3511F1}" type="slidenum">
              <a:rPr lang="zh-TW" altLang="en-US" smtClean="0"/>
              <a:pPr/>
              <a:t>72</a:t>
            </a:fld>
            <a:endParaRPr lang="zh-TW" altLang="en-US" dirty="0"/>
          </a:p>
        </p:txBody>
      </p:sp>
      <p:grpSp>
        <p:nvGrpSpPr>
          <p:cNvPr id="5" name="群組 4">
            <a:extLst>
              <a:ext uri="{FF2B5EF4-FFF2-40B4-BE49-F238E27FC236}">
                <a16:creationId xmlns:a16="http://schemas.microsoft.com/office/drawing/2014/main" id="{6EACF34F-5E8F-4D70-BE57-1CC31DDE3A3C}"/>
              </a:ext>
            </a:extLst>
          </p:cNvPr>
          <p:cNvGrpSpPr/>
          <p:nvPr/>
        </p:nvGrpSpPr>
        <p:grpSpPr>
          <a:xfrm>
            <a:off x="2088454" y="3359564"/>
            <a:ext cx="8015092" cy="2898361"/>
            <a:chOff x="1656809" y="1366886"/>
            <a:chExt cx="8015092" cy="2898361"/>
          </a:xfrm>
        </p:grpSpPr>
        <p:sp>
          <p:nvSpPr>
            <p:cNvPr id="6" name="矩形 5">
              <a:extLst>
                <a:ext uri="{FF2B5EF4-FFF2-40B4-BE49-F238E27FC236}">
                  <a16:creationId xmlns:a16="http://schemas.microsoft.com/office/drawing/2014/main" id="{FB8633EE-2511-49AA-B7B4-9234ED126E2C}"/>
                </a:ext>
              </a:extLst>
            </p:cNvPr>
            <p:cNvSpPr/>
            <p:nvPr/>
          </p:nvSpPr>
          <p:spPr>
            <a:xfrm>
              <a:off x="1656809" y="1366886"/>
              <a:ext cx="8015092" cy="28983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ABD0A16B-3361-491C-91C3-0D2EE680DD62}"/>
                </a:ext>
              </a:extLst>
            </p:cNvPr>
            <p:cNvPicPr>
              <a:picLocks noChangeAspect="1"/>
            </p:cNvPicPr>
            <p:nvPr/>
          </p:nvPicPr>
          <p:blipFill>
            <a:blip r:embed="rId2"/>
            <a:stretch>
              <a:fillRect/>
            </a:stretch>
          </p:blipFill>
          <p:spPr>
            <a:xfrm>
              <a:off x="3150017" y="1546779"/>
              <a:ext cx="5015150" cy="822710"/>
            </a:xfrm>
            <a:prstGeom prst="rect">
              <a:avLst/>
            </a:prstGeom>
          </p:spPr>
        </p:pic>
        <p:pic>
          <p:nvPicPr>
            <p:cNvPr id="8" name="圖片 7">
              <a:extLst>
                <a:ext uri="{FF2B5EF4-FFF2-40B4-BE49-F238E27FC236}">
                  <a16:creationId xmlns:a16="http://schemas.microsoft.com/office/drawing/2014/main" id="{775DA94D-3791-450D-AD10-9C932DF461DE}"/>
                </a:ext>
              </a:extLst>
            </p:cNvPr>
            <p:cNvPicPr>
              <a:picLocks noChangeAspect="1"/>
            </p:cNvPicPr>
            <p:nvPr/>
          </p:nvPicPr>
          <p:blipFill>
            <a:blip r:embed="rId3"/>
            <a:stretch>
              <a:fillRect/>
            </a:stretch>
          </p:blipFill>
          <p:spPr>
            <a:xfrm>
              <a:off x="3604132" y="2686258"/>
              <a:ext cx="1895238" cy="666667"/>
            </a:xfrm>
            <a:prstGeom prst="rect">
              <a:avLst/>
            </a:prstGeom>
          </p:spPr>
        </p:pic>
        <p:pic>
          <p:nvPicPr>
            <p:cNvPr id="9" name="圖片 8">
              <a:extLst>
                <a:ext uri="{FF2B5EF4-FFF2-40B4-BE49-F238E27FC236}">
                  <a16:creationId xmlns:a16="http://schemas.microsoft.com/office/drawing/2014/main" id="{359514A9-F5B8-450B-9045-29E330A21A39}"/>
                </a:ext>
              </a:extLst>
            </p:cNvPr>
            <p:cNvPicPr>
              <a:picLocks noChangeAspect="1"/>
            </p:cNvPicPr>
            <p:nvPr/>
          </p:nvPicPr>
          <p:blipFill rotWithShape="1">
            <a:blip r:embed="rId4"/>
            <a:srcRect r="1970"/>
            <a:stretch/>
          </p:blipFill>
          <p:spPr>
            <a:xfrm>
              <a:off x="3604132" y="3429000"/>
              <a:ext cx="1895238" cy="685714"/>
            </a:xfrm>
            <a:prstGeom prst="rect">
              <a:avLst/>
            </a:prstGeom>
          </p:spPr>
        </p:pic>
        <p:pic>
          <p:nvPicPr>
            <p:cNvPr id="10" name="圖片 9">
              <a:extLst>
                <a:ext uri="{FF2B5EF4-FFF2-40B4-BE49-F238E27FC236}">
                  <a16:creationId xmlns:a16="http://schemas.microsoft.com/office/drawing/2014/main" id="{7E986853-DC50-43CD-8D72-EB2FFB4E16C2}"/>
                </a:ext>
              </a:extLst>
            </p:cNvPr>
            <p:cNvPicPr>
              <a:picLocks noChangeAspect="1"/>
            </p:cNvPicPr>
            <p:nvPr/>
          </p:nvPicPr>
          <p:blipFill>
            <a:blip r:embed="rId5"/>
            <a:stretch>
              <a:fillRect/>
            </a:stretch>
          </p:blipFill>
          <p:spPr>
            <a:xfrm>
              <a:off x="7664748" y="3229833"/>
              <a:ext cx="1895238" cy="663815"/>
            </a:xfrm>
            <a:prstGeom prst="rect">
              <a:avLst/>
            </a:prstGeom>
          </p:spPr>
        </p:pic>
        <p:sp>
          <p:nvSpPr>
            <p:cNvPr id="11" name="文字方塊 10">
              <a:extLst>
                <a:ext uri="{FF2B5EF4-FFF2-40B4-BE49-F238E27FC236}">
                  <a16:creationId xmlns:a16="http://schemas.microsoft.com/office/drawing/2014/main" id="{E2B8EC26-DAF0-43AC-A3D5-F3B8B2AAE74A}"/>
                </a:ext>
              </a:extLst>
            </p:cNvPr>
            <p:cNvSpPr txBox="1"/>
            <p:nvPr/>
          </p:nvSpPr>
          <p:spPr>
            <a:xfrm>
              <a:off x="1656809" y="2875890"/>
              <a:ext cx="2008686"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輸入 </a:t>
              </a:r>
              <a:r>
                <a:rPr lang="en-US" altLang="zh-TW" sz="2000" dirty="0">
                  <a:latin typeface="Swis721 Md BT" panose="020B0604020202020204" pitchFamily="34" charset="0"/>
                  <a:ea typeface="華康中特圓體" panose="020F0809000000000000" pitchFamily="49" charset="-120"/>
                </a:rPr>
                <a:t>0 </a:t>
              </a:r>
              <a:r>
                <a:rPr lang="zh-TW" altLang="en-US" sz="2000" dirty="0">
                  <a:latin typeface="Swis721 Md BT" panose="020B0604020202020204" pitchFamily="34" charset="0"/>
                  <a:ea typeface="華康中特圓體" panose="020F0809000000000000" pitchFamily="49" charset="-120"/>
                </a:rPr>
                <a:t>或 </a:t>
              </a:r>
              <a:r>
                <a:rPr lang="en-US" altLang="zh-TW" sz="2000" dirty="0">
                  <a:latin typeface="Swis721 Md BT" panose="020B0604020202020204" pitchFamily="34" charset="0"/>
                  <a:ea typeface="華康中特圓體" panose="020F0809000000000000" pitchFamily="49" charset="-120"/>
                </a:rPr>
                <a:t>2</a:t>
              </a:r>
              <a:r>
                <a:rPr lang="zh-TW" altLang="en-US" sz="2000" dirty="0">
                  <a:latin typeface="Swis721 Md BT" panose="020B0604020202020204" pitchFamily="34" charset="0"/>
                  <a:ea typeface="華康中特圓體" panose="020F0809000000000000" pitchFamily="49" charset="-120"/>
                </a:rPr>
                <a:t> 皆得到正確答案</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sp>
          <p:nvSpPr>
            <p:cNvPr id="12" name="箭號: 向右 11">
              <a:extLst>
                <a:ext uri="{FF2B5EF4-FFF2-40B4-BE49-F238E27FC236}">
                  <a16:creationId xmlns:a16="http://schemas.microsoft.com/office/drawing/2014/main" id="{133453E1-2F08-4026-B729-77799F6251D1}"/>
                </a:ext>
              </a:extLst>
            </p:cNvPr>
            <p:cNvSpPr/>
            <p:nvPr/>
          </p:nvSpPr>
          <p:spPr>
            <a:xfrm>
              <a:off x="1770256" y="3571615"/>
              <a:ext cx="1748591" cy="400483"/>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D5CB299B-E5E0-4B4D-874F-4E946E500193}"/>
                </a:ext>
              </a:extLst>
            </p:cNvPr>
            <p:cNvSpPr txBox="1"/>
            <p:nvPr/>
          </p:nvSpPr>
          <p:spPr>
            <a:xfrm>
              <a:off x="5824261" y="2875890"/>
              <a:ext cx="1723517" cy="707886"/>
            </a:xfrm>
            <a:prstGeom prst="rect">
              <a:avLst/>
            </a:prstGeom>
            <a:noFill/>
          </p:spPr>
          <p:txBody>
            <a:bodyPr wrap="square" rtlCol="0">
              <a:spAutoFit/>
            </a:bodyPr>
            <a:lstStyle/>
            <a:p>
              <a:pPr algn="ctr"/>
              <a:r>
                <a:rPr lang="zh-TW" altLang="en-US" sz="2000" dirty="0">
                  <a:latin typeface="Swis721 Md BT" panose="020B0604020202020204" pitchFamily="34" charset="0"/>
                  <a:ea typeface="華康中特圓體" panose="020F0809000000000000" pitchFamily="49" charset="-120"/>
                </a:rPr>
                <a:t>輸入 </a:t>
              </a:r>
              <a:r>
                <a:rPr lang="en-US" altLang="zh-TW" sz="2000" dirty="0">
                  <a:latin typeface="Swis721 Md BT" panose="020B0604020202020204" pitchFamily="34" charset="0"/>
                  <a:ea typeface="華康中特圓體" panose="020F0809000000000000" pitchFamily="49" charset="-120"/>
                </a:rPr>
                <a:t>3 </a:t>
              </a:r>
              <a:r>
                <a:rPr lang="zh-TW" altLang="en-US" sz="2000" dirty="0">
                  <a:latin typeface="Swis721 Md BT" panose="020B0604020202020204" pitchFamily="34" charset="0"/>
                  <a:ea typeface="華康中特圓體" panose="020F0809000000000000" pitchFamily="49" charset="-120"/>
                </a:rPr>
                <a:t>才發現答案錯誤</a:t>
              </a:r>
              <a:endParaRPr lang="zh-TW" altLang="en-US" sz="2000" dirty="0">
                <a:latin typeface="Times New Roman" panose="02020603050405020304" pitchFamily="18" charset="0"/>
                <a:ea typeface="華康中特圓體" panose="020F0809000000000000" pitchFamily="49" charset="-120"/>
                <a:cs typeface="Times New Roman" panose="02020603050405020304" pitchFamily="18" charset="0"/>
              </a:endParaRPr>
            </a:p>
          </p:txBody>
        </p:sp>
        <p:sp>
          <p:nvSpPr>
            <p:cNvPr id="14" name="箭號: 向右 13">
              <a:extLst>
                <a:ext uri="{FF2B5EF4-FFF2-40B4-BE49-F238E27FC236}">
                  <a16:creationId xmlns:a16="http://schemas.microsoft.com/office/drawing/2014/main" id="{E3F3F616-1062-442E-A8A7-278B7D18A05D}"/>
                </a:ext>
              </a:extLst>
            </p:cNvPr>
            <p:cNvSpPr/>
            <p:nvPr/>
          </p:nvSpPr>
          <p:spPr>
            <a:xfrm>
              <a:off x="5995013" y="3571614"/>
              <a:ext cx="1568016" cy="400483"/>
            </a:xfrm>
            <a:prstGeom prst="rightArrow">
              <a:avLst/>
            </a:prstGeom>
            <a:solidFill>
              <a:srgbClr val="F263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接點 14">
              <a:extLst>
                <a:ext uri="{FF2B5EF4-FFF2-40B4-BE49-F238E27FC236}">
                  <a16:creationId xmlns:a16="http://schemas.microsoft.com/office/drawing/2014/main" id="{4856BB37-D27A-4B5A-9048-2730D629B870}"/>
                </a:ext>
              </a:extLst>
            </p:cNvPr>
            <p:cNvCxnSpPr/>
            <p:nvPr/>
          </p:nvCxnSpPr>
          <p:spPr>
            <a:xfrm>
              <a:off x="5729154" y="2875890"/>
              <a:ext cx="0" cy="1096207"/>
            </a:xfrm>
            <a:prstGeom prst="line">
              <a:avLst/>
            </a:prstGeom>
            <a:ln w="34925" cap="rnd">
              <a:solidFill>
                <a:schemeClr val="tx1">
                  <a:lumMod val="50000"/>
                  <a:lumOff val="50000"/>
                </a:schemeClr>
              </a:soli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884228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en-US" altLang="zh-TW" dirty="0"/>
              <a:t>Python </a:t>
            </a:r>
            <a:r>
              <a:rPr lang="zh-TW" altLang="en-US" dirty="0"/>
              <a:t>簡介</a:t>
            </a:r>
            <a:endParaRPr lang="en-US" altLang="zh-TW" dirty="0"/>
          </a:p>
          <a:p>
            <a:r>
              <a:rPr lang="zh-TW" altLang="en-US" dirty="0"/>
              <a:t>建置 </a:t>
            </a:r>
            <a:r>
              <a:rPr lang="en-US" altLang="zh-TW" dirty="0"/>
              <a:t>Anaconda </a:t>
            </a:r>
            <a:r>
              <a:rPr lang="zh-TW" altLang="en-US" dirty="0"/>
              <a:t>開發環境</a:t>
            </a:r>
            <a:endParaRPr lang="en-US" altLang="zh-TW" dirty="0"/>
          </a:p>
          <a:p>
            <a:r>
              <a:rPr lang="en-US" altLang="zh-TW" dirty="0"/>
              <a:t>Visual Studio Code </a:t>
            </a:r>
            <a:r>
              <a:rPr lang="zh-TW" altLang="en-US" dirty="0"/>
              <a:t>編輯器</a:t>
            </a:r>
            <a:endParaRPr lang="en-US" altLang="zh-TW" dirty="0"/>
          </a:p>
          <a:p>
            <a:r>
              <a:rPr lang="zh-TW" altLang="en-US" dirty="0"/>
              <a:t>程式設計的邏輯思維</a:t>
            </a:r>
            <a:endParaRPr lang="en-US" altLang="zh-TW" dirty="0"/>
          </a:p>
          <a:p>
            <a:pPr lvl="1"/>
            <a:r>
              <a:rPr lang="zh-TW" altLang="en-US" dirty="0"/>
              <a:t>程式設計的錯誤類型</a:t>
            </a:r>
            <a:endParaRPr lang="en-US" altLang="zh-TW" dirty="0"/>
          </a:p>
          <a:p>
            <a:pPr lvl="1"/>
            <a:r>
              <a:rPr lang="zh-TW" altLang="en-US" dirty="0">
                <a:solidFill>
                  <a:schemeClr val="accent2"/>
                </a:solidFill>
              </a:rPr>
              <a:t>生成式 </a:t>
            </a:r>
            <a:r>
              <a:rPr lang="en-US" altLang="zh-TW" dirty="0">
                <a:solidFill>
                  <a:schemeClr val="accent2"/>
                </a:solidFill>
              </a:rPr>
              <a:t>AI </a:t>
            </a:r>
            <a:r>
              <a:rPr lang="zh-TW" altLang="en-US" dirty="0">
                <a:solidFill>
                  <a:schemeClr val="accent2"/>
                </a:solidFill>
              </a:rPr>
              <a:t>與大型語言模型的影響</a:t>
            </a:r>
            <a:endParaRPr lang="en-US" altLang="zh-TW" dirty="0">
              <a:solidFill>
                <a:schemeClr val="accent2"/>
              </a:solidFill>
            </a:endParaRPr>
          </a:p>
        </p:txBody>
      </p:sp>
      <p:sp>
        <p:nvSpPr>
          <p:cNvPr id="4" name="投影片編號版面配置區 3"/>
          <p:cNvSpPr>
            <a:spLocks noGrp="1"/>
          </p:cNvSpPr>
          <p:nvPr>
            <p:ph type="sldNum" sz="quarter" idx="12"/>
          </p:nvPr>
        </p:nvSpPr>
        <p:spPr>
          <a:xfrm>
            <a:off x="9124950" y="6470650"/>
            <a:ext cx="2743200" cy="365125"/>
          </a:xfrm>
        </p:spPr>
        <p:txBody>
          <a:bodyPr/>
          <a:lstStyle/>
          <a:p>
            <a:fld id="{A0B59302-35AD-44E9-AC3C-8D1DAE3511F1}" type="slidenum">
              <a:rPr lang="zh-TW" altLang="en-US" smtClean="0"/>
              <a:pPr/>
              <a:t>73</a:t>
            </a:fld>
            <a:endParaRPr lang="zh-TW" altLang="en-US" dirty="0"/>
          </a:p>
        </p:txBody>
      </p:sp>
    </p:spTree>
    <p:extLst>
      <p:ext uri="{BB962C8B-B14F-4D97-AF65-F5344CB8AC3E}">
        <p14:creationId xmlns:p14="http://schemas.microsoft.com/office/powerpoint/2010/main" val="12965865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331B2F-7D37-4C57-9F18-65D7B25200E5}"/>
              </a:ext>
            </a:extLst>
          </p:cNvPr>
          <p:cNvSpPr>
            <a:spLocks noGrp="1"/>
          </p:cNvSpPr>
          <p:nvPr>
            <p:ph type="title"/>
          </p:nvPr>
        </p:nvSpPr>
        <p:spPr/>
        <p:txBody>
          <a:bodyPr/>
          <a:lstStyle/>
          <a:p>
            <a:r>
              <a:rPr lang="zh-TW" altLang="en-US" dirty="0"/>
              <a:t>生成式 </a:t>
            </a:r>
            <a:r>
              <a:rPr lang="en-US" altLang="zh-TW" dirty="0"/>
              <a:t>AI (1/2)</a:t>
            </a:r>
            <a:endParaRPr lang="zh-TW" altLang="en-US" dirty="0"/>
          </a:p>
        </p:txBody>
      </p:sp>
      <p:sp>
        <p:nvSpPr>
          <p:cNvPr id="3" name="內容版面配置區 2">
            <a:extLst>
              <a:ext uri="{FF2B5EF4-FFF2-40B4-BE49-F238E27FC236}">
                <a16:creationId xmlns:a16="http://schemas.microsoft.com/office/drawing/2014/main" id="{6C7588FE-F6D5-4AEC-B506-904C32CCCE4B}"/>
              </a:ext>
            </a:extLst>
          </p:cNvPr>
          <p:cNvSpPr>
            <a:spLocks noGrp="1"/>
          </p:cNvSpPr>
          <p:nvPr>
            <p:ph idx="1"/>
          </p:nvPr>
        </p:nvSpPr>
        <p:spPr/>
        <p:txBody>
          <a:bodyPr>
            <a:normAutofit/>
          </a:bodyPr>
          <a:lstStyle/>
          <a:p>
            <a:r>
              <a:rPr lang="zh-TW" altLang="en-US" dirty="0"/>
              <a:t>人工智慧</a:t>
            </a:r>
            <a:r>
              <a:rPr lang="en-US" altLang="zh-TW" dirty="0"/>
              <a:t>(AI)</a:t>
            </a:r>
            <a:r>
              <a:rPr lang="zh-TW" altLang="en-US" dirty="0"/>
              <a:t>的發展如日中天，它在各領域的應用（如人臉識別、語音辨識、自動駕駛等）已逐漸融入我們生活中。</a:t>
            </a:r>
            <a:endParaRPr lang="en-US" altLang="zh-TW" dirty="0"/>
          </a:p>
          <a:p>
            <a:pPr lvl="1"/>
            <a:r>
              <a:rPr lang="zh-TW" altLang="en-US" dirty="0"/>
              <a:t>生成式 </a:t>
            </a:r>
            <a:r>
              <a:rPr lang="en-US" altLang="zh-TW" dirty="0"/>
              <a:t>AI (Generative AI)</a:t>
            </a:r>
            <a:r>
              <a:rPr lang="zh-TW" altLang="en-US" dirty="0"/>
              <a:t>是人工智慧的一個分支，可以創造出文章、音樂、圖像等新內容。</a:t>
            </a:r>
            <a:endParaRPr lang="en-US" altLang="zh-TW" dirty="0"/>
          </a:p>
          <a:p>
            <a:pPr lvl="1"/>
            <a:endParaRPr lang="en-US" altLang="zh-TW" dirty="0"/>
          </a:p>
          <a:p>
            <a:pPr lvl="1"/>
            <a:r>
              <a:rPr lang="zh-TW" altLang="en-US" dirty="0"/>
              <a:t>例如 </a:t>
            </a:r>
            <a:r>
              <a:rPr lang="en-US" altLang="zh-TW" dirty="0" err="1"/>
              <a:t>OpenAI</a:t>
            </a:r>
            <a:r>
              <a:rPr lang="en-US" altLang="zh-TW" dirty="0"/>
              <a:t> </a:t>
            </a:r>
            <a:r>
              <a:rPr lang="zh-TW" altLang="en-US" dirty="0"/>
              <a:t>推出的 </a:t>
            </a:r>
            <a:r>
              <a:rPr lang="en-US" altLang="zh-TW" dirty="0"/>
              <a:t>DALL-E </a:t>
            </a:r>
            <a:r>
              <a:rPr lang="zh-TW" altLang="en-US" dirty="0"/>
              <a:t>與 </a:t>
            </a:r>
            <a:r>
              <a:rPr lang="en-US" altLang="zh-TW" dirty="0" err="1"/>
              <a:t>Midjourney</a:t>
            </a:r>
            <a:r>
              <a:rPr lang="zh-TW" altLang="en-US" dirty="0"/>
              <a:t>，能用簡單的文字描述和風格設定快速地生成對應圖像。</a:t>
            </a:r>
            <a:endParaRPr lang="en-US" altLang="zh-TW" dirty="0"/>
          </a:p>
        </p:txBody>
      </p:sp>
      <p:sp>
        <p:nvSpPr>
          <p:cNvPr id="4" name="投影片編號版面配置區 3">
            <a:extLst>
              <a:ext uri="{FF2B5EF4-FFF2-40B4-BE49-F238E27FC236}">
                <a16:creationId xmlns:a16="http://schemas.microsoft.com/office/drawing/2014/main" id="{EA995DF1-B041-4F7D-A271-2B0316A2CA88}"/>
              </a:ext>
            </a:extLst>
          </p:cNvPr>
          <p:cNvSpPr>
            <a:spLocks noGrp="1"/>
          </p:cNvSpPr>
          <p:nvPr>
            <p:ph type="sldNum" sz="quarter" idx="12"/>
          </p:nvPr>
        </p:nvSpPr>
        <p:spPr/>
        <p:txBody>
          <a:bodyPr/>
          <a:lstStyle/>
          <a:p>
            <a:fld id="{A0B59302-35AD-44E9-AC3C-8D1DAE3511F1}" type="slidenum">
              <a:rPr lang="zh-TW" altLang="en-US" smtClean="0"/>
              <a:pPr/>
              <a:t>74</a:t>
            </a:fld>
            <a:endParaRPr lang="zh-TW" altLang="en-US" dirty="0"/>
          </a:p>
        </p:txBody>
      </p:sp>
    </p:spTree>
    <p:extLst>
      <p:ext uri="{BB962C8B-B14F-4D97-AF65-F5344CB8AC3E}">
        <p14:creationId xmlns:p14="http://schemas.microsoft.com/office/powerpoint/2010/main" val="139202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F5C904-1DFE-42AF-AF3A-F71C4E7DBEAA}"/>
              </a:ext>
            </a:extLst>
          </p:cNvPr>
          <p:cNvSpPr>
            <a:spLocks noGrp="1"/>
          </p:cNvSpPr>
          <p:nvPr>
            <p:ph type="title"/>
          </p:nvPr>
        </p:nvSpPr>
        <p:spPr/>
        <p:txBody>
          <a:bodyPr/>
          <a:lstStyle/>
          <a:p>
            <a:r>
              <a:rPr lang="zh-TW" altLang="en-US" dirty="0"/>
              <a:t>生成式 </a:t>
            </a:r>
            <a:r>
              <a:rPr lang="en-US" altLang="zh-TW" dirty="0"/>
              <a:t>AI (2/2)</a:t>
            </a:r>
            <a:endParaRPr lang="zh-TW" altLang="en-US" dirty="0"/>
          </a:p>
        </p:txBody>
      </p:sp>
      <p:sp>
        <p:nvSpPr>
          <p:cNvPr id="3" name="內容版面配置區 2">
            <a:extLst>
              <a:ext uri="{FF2B5EF4-FFF2-40B4-BE49-F238E27FC236}">
                <a16:creationId xmlns:a16="http://schemas.microsoft.com/office/drawing/2014/main" id="{38688BF3-B8A5-4966-9137-368C9F12FC46}"/>
              </a:ext>
            </a:extLst>
          </p:cNvPr>
          <p:cNvSpPr>
            <a:spLocks noGrp="1"/>
          </p:cNvSpPr>
          <p:nvPr>
            <p:ph idx="1"/>
          </p:nvPr>
        </p:nvSpPr>
        <p:spPr/>
        <p:txBody>
          <a:bodyPr>
            <a:normAutofit/>
          </a:bodyPr>
          <a:lstStyle/>
          <a:p>
            <a:r>
              <a:rPr lang="zh-TW" altLang="en-US" dirty="0"/>
              <a:t>生成式 </a:t>
            </a:r>
            <a:r>
              <a:rPr lang="en-US" altLang="zh-TW" dirty="0"/>
              <a:t>AI </a:t>
            </a:r>
            <a:r>
              <a:rPr lang="zh-TW" altLang="en-US" dirty="0"/>
              <a:t>的出現，讓人們能以更快、更好、更低成本的方式進行創作，這股革命的浪潮正在各個角落悄然展開，即將帶來前所未有的衝擊。</a:t>
            </a:r>
            <a:endParaRPr lang="en-US" altLang="zh-TW" dirty="0"/>
          </a:p>
          <a:p>
            <a:pPr lvl="1"/>
            <a:r>
              <a:rPr lang="zh-TW" altLang="en-US" dirty="0"/>
              <a:t>諮詢機構麥肯錫</a:t>
            </a:r>
            <a:r>
              <a:rPr lang="en-US" altLang="zh-TW" dirty="0"/>
              <a:t>(McKinsey &amp; Company)</a:t>
            </a:r>
            <a:r>
              <a:rPr lang="zh-TW" altLang="en-US" dirty="0"/>
              <a:t>在 </a:t>
            </a:r>
            <a:r>
              <a:rPr lang="en-US" altLang="zh-TW" dirty="0"/>
              <a:t>2023.6 </a:t>
            </a:r>
            <a:r>
              <a:rPr lang="zh-TW" altLang="en-US" dirty="0"/>
              <a:t>發布</a:t>
            </a:r>
            <a:r>
              <a:rPr lang="en-US" altLang="zh-TW" dirty="0"/>
              <a:t>《</a:t>
            </a:r>
            <a:r>
              <a:rPr lang="zh-TW" altLang="en-US" dirty="0"/>
              <a:t>生成式</a:t>
            </a:r>
            <a:r>
              <a:rPr lang="en-US" altLang="zh-TW" dirty="0"/>
              <a:t>AI</a:t>
            </a:r>
            <a:r>
              <a:rPr lang="zh-TW" altLang="en-US" dirty="0"/>
              <a:t>的經濟潛力</a:t>
            </a:r>
            <a:r>
              <a:rPr lang="en-US" altLang="zh-TW" dirty="0"/>
              <a:t>》</a:t>
            </a:r>
            <a:r>
              <a:rPr lang="zh-TW" altLang="en-US" dirty="0"/>
              <a:t>研究報告，指出生成式 </a:t>
            </a:r>
            <a:r>
              <a:rPr lang="en-US" altLang="zh-TW" dirty="0"/>
              <a:t>AI </a:t>
            </a:r>
            <a:r>
              <a:rPr lang="zh-TW" altLang="en-US" dirty="0"/>
              <a:t>帶來的價值增長，約 </a:t>
            </a:r>
            <a:r>
              <a:rPr lang="en-US" altLang="zh-TW" dirty="0"/>
              <a:t>75</a:t>
            </a:r>
            <a:r>
              <a:rPr lang="zh-TW" altLang="en-US" dirty="0"/>
              <a:t>％集中在</a:t>
            </a:r>
            <a:r>
              <a:rPr lang="zh-TW" altLang="en-US" dirty="0">
                <a:solidFill>
                  <a:schemeClr val="accent4"/>
                </a:solidFill>
              </a:rPr>
              <a:t>客戶服務、市場行銷、產品銷售、軟體工程和開發</a:t>
            </a:r>
            <a:r>
              <a:rPr lang="zh-TW" altLang="en-US" dirty="0"/>
              <a:t>等四個領域，這也意味著這四項業務受生成式 </a:t>
            </a:r>
            <a:r>
              <a:rPr lang="en-US" altLang="zh-TW" dirty="0"/>
              <a:t>AI </a:t>
            </a:r>
            <a:r>
              <a:rPr lang="zh-TW" altLang="en-US" dirty="0"/>
              <a:t>影響最大。</a:t>
            </a:r>
            <a:endParaRPr lang="en-US" altLang="zh-TW" dirty="0"/>
          </a:p>
          <a:p>
            <a:pPr lvl="1"/>
            <a:r>
              <a:rPr lang="zh-TW" altLang="en-US" dirty="0"/>
              <a:t>同時，報告也指出生成式 </a:t>
            </a:r>
            <a:r>
              <a:rPr lang="en-US" altLang="zh-TW" dirty="0"/>
              <a:t>AI </a:t>
            </a:r>
            <a:r>
              <a:rPr lang="zh-TW" altLang="en-US" dirty="0"/>
              <a:t>可能對</a:t>
            </a:r>
            <a:r>
              <a:rPr lang="zh-TW" altLang="en-US" dirty="0">
                <a:solidFill>
                  <a:schemeClr val="accent4"/>
                </a:solidFill>
              </a:rPr>
              <a:t>高薪的腦力工作者產生最大的影響</a:t>
            </a:r>
            <a:r>
              <a:rPr lang="zh-TW" altLang="en-US" dirty="0"/>
              <a:t>。相較之下，以往自動化的影響主要集中在中低收入族群。</a:t>
            </a:r>
          </a:p>
          <a:p>
            <a:endParaRPr lang="zh-TW" altLang="en-US" dirty="0"/>
          </a:p>
        </p:txBody>
      </p:sp>
      <p:sp>
        <p:nvSpPr>
          <p:cNvPr id="4" name="投影片編號版面配置區 3">
            <a:extLst>
              <a:ext uri="{FF2B5EF4-FFF2-40B4-BE49-F238E27FC236}">
                <a16:creationId xmlns:a16="http://schemas.microsoft.com/office/drawing/2014/main" id="{7E4A8AD6-7A78-4224-BF57-DCF446DB3C91}"/>
              </a:ext>
            </a:extLst>
          </p:cNvPr>
          <p:cNvSpPr>
            <a:spLocks noGrp="1"/>
          </p:cNvSpPr>
          <p:nvPr>
            <p:ph type="sldNum" sz="quarter" idx="12"/>
          </p:nvPr>
        </p:nvSpPr>
        <p:spPr/>
        <p:txBody>
          <a:bodyPr/>
          <a:lstStyle/>
          <a:p>
            <a:fld id="{A0B59302-35AD-44E9-AC3C-8D1DAE3511F1}" type="slidenum">
              <a:rPr lang="zh-TW" altLang="en-US" smtClean="0"/>
              <a:pPr/>
              <a:t>75</a:t>
            </a:fld>
            <a:endParaRPr lang="zh-TW" altLang="en-US" dirty="0"/>
          </a:p>
        </p:txBody>
      </p:sp>
    </p:spTree>
    <p:extLst>
      <p:ext uri="{BB962C8B-B14F-4D97-AF65-F5344CB8AC3E}">
        <p14:creationId xmlns:p14="http://schemas.microsoft.com/office/powerpoint/2010/main" val="103301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1C2A40-BB76-49B1-8FAE-CB865FB2234C}"/>
              </a:ext>
            </a:extLst>
          </p:cNvPr>
          <p:cNvSpPr>
            <a:spLocks noGrp="1"/>
          </p:cNvSpPr>
          <p:nvPr>
            <p:ph type="title"/>
          </p:nvPr>
        </p:nvSpPr>
        <p:spPr/>
        <p:txBody>
          <a:bodyPr/>
          <a:lstStyle/>
          <a:p>
            <a:r>
              <a:rPr lang="en-US" altLang="zh-TW" dirty="0" err="1"/>
              <a:t>ChatGPT</a:t>
            </a:r>
            <a:r>
              <a:rPr lang="en-US" altLang="zh-TW" dirty="0"/>
              <a:t> (1/2)</a:t>
            </a:r>
            <a:endParaRPr lang="zh-TW" altLang="en-US" dirty="0"/>
          </a:p>
        </p:txBody>
      </p:sp>
      <p:sp>
        <p:nvSpPr>
          <p:cNvPr id="3" name="內容版面配置區 2">
            <a:extLst>
              <a:ext uri="{FF2B5EF4-FFF2-40B4-BE49-F238E27FC236}">
                <a16:creationId xmlns:a16="http://schemas.microsoft.com/office/drawing/2014/main" id="{0AC6BDDE-4195-4DEF-963D-AA6CA4E0BD16}"/>
              </a:ext>
            </a:extLst>
          </p:cNvPr>
          <p:cNvSpPr>
            <a:spLocks noGrp="1"/>
          </p:cNvSpPr>
          <p:nvPr>
            <p:ph idx="1"/>
          </p:nvPr>
        </p:nvSpPr>
        <p:spPr/>
        <p:txBody>
          <a:bodyPr>
            <a:normAutofit/>
          </a:bodyPr>
          <a:lstStyle/>
          <a:p>
            <a:r>
              <a:rPr lang="en-US" altLang="zh-TW" dirty="0"/>
              <a:t>2022.11.30 </a:t>
            </a:r>
            <a:r>
              <a:rPr lang="en-US" altLang="zh-TW" dirty="0" err="1"/>
              <a:t>OpenAI</a:t>
            </a:r>
            <a:r>
              <a:rPr lang="en-US" altLang="zh-TW" dirty="0"/>
              <a:t> </a:t>
            </a:r>
            <a:r>
              <a:rPr lang="zh-TW" altLang="en-US" dirty="0"/>
              <a:t>發表的語言生成模型 </a:t>
            </a:r>
            <a:r>
              <a:rPr lang="en-US" altLang="zh-TW" dirty="0" err="1"/>
              <a:t>ChatGPT</a:t>
            </a:r>
            <a:r>
              <a:rPr lang="en-US" altLang="zh-TW" dirty="0"/>
              <a:t> </a:t>
            </a:r>
            <a:r>
              <a:rPr lang="zh-TW" altLang="en-US" dirty="0"/>
              <a:t>神速爆紅，不到一週突破百萬用戶，兩個月後的月活躍用戶數更突破</a:t>
            </a:r>
            <a:r>
              <a:rPr lang="en-US" altLang="zh-TW" dirty="0"/>
              <a:t>1</a:t>
            </a:r>
            <a:r>
              <a:rPr lang="zh-TW" altLang="en-US" dirty="0"/>
              <a:t>億。</a:t>
            </a:r>
            <a:endParaRPr lang="en-US" altLang="zh-TW" dirty="0"/>
          </a:p>
          <a:p>
            <a:pPr lvl="1"/>
            <a:r>
              <a:rPr lang="en-US" altLang="zh-TW" dirty="0" err="1"/>
              <a:t>ChatGPT</a:t>
            </a:r>
            <a:r>
              <a:rPr lang="zh-TW" altLang="en-US" dirty="0"/>
              <a:t>支援多國語言與友善的人機介面，能透過文字與人類以自然對話方式進行互動。</a:t>
            </a:r>
            <a:endParaRPr lang="en-US" altLang="zh-TW" dirty="0"/>
          </a:p>
          <a:p>
            <a:endParaRPr lang="en-US" altLang="zh-TW" dirty="0"/>
          </a:p>
          <a:p>
            <a:pPr lvl="1"/>
            <a:r>
              <a:rPr lang="zh-TW" altLang="en-US" dirty="0"/>
              <a:t>接著，</a:t>
            </a:r>
            <a:r>
              <a:rPr lang="en-US" altLang="zh-TW" dirty="0"/>
              <a:t>2023.3.14 </a:t>
            </a:r>
            <a:r>
              <a:rPr lang="zh-TW" altLang="en-US" dirty="0"/>
              <a:t>推出進階的 </a:t>
            </a:r>
            <a:r>
              <a:rPr lang="en-US" altLang="zh-TW" dirty="0"/>
              <a:t>GPT-4 </a:t>
            </a:r>
            <a:r>
              <a:rPr lang="zh-TW" altLang="en-US" dirty="0"/>
              <a:t>大型語言模型</a:t>
            </a:r>
            <a:r>
              <a:rPr lang="en-US" altLang="zh-TW" dirty="0"/>
              <a:t>(Large Language Model, LLM)</a:t>
            </a:r>
            <a:r>
              <a:rPr lang="zh-TW" altLang="en-US" dirty="0"/>
              <a:t>，隨後於 </a:t>
            </a:r>
            <a:r>
              <a:rPr lang="en-US" altLang="zh-TW" dirty="0"/>
              <a:t>2023.11.6 </a:t>
            </a:r>
            <a:r>
              <a:rPr lang="zh-TW" altLang="en-US" dirty="0"/>
              <a:t>發表更強大的 </a:t>
            </a:r>
            <a:r>
              <a:rPr lang="en-US" altLang="zh-TW" dirty="0"/>
              <a:t>GPT-4 Turbo</a:t>
            </a:r>
            <a:r>
              <a:rPr lang="zh-TW" altLang="en-US" dirty="0"/>
              <a:t>。</a:t>
            </a:r>
            <a:endParaRPr lang="en-US" altLang="zh-TW" dirty="0"/>
          </a:p>
        </p:txBody>
      </p:sp>
      <p:sp>
        <p:nvSpPr>
          <p:cNvPr id="4" name="投影片編號版面配置區 3">
            <a:extLst>
              <a:ext uri="{FF2B5EF4-FFF2-40B4-BE49-F238E27FC236}">
                <a16:creationId xmlns:a16="http://schemas.microsoft.com/office/drawing/2014/main" id="{F62525A6-44C7-42B9-ABC4-510A93FAA873}"/>
              </a:ext>
            </a:extLst>
          </p:cNvPr>
          <p:cNvSpPr>
            <a:spLocks noGrp="1"/>
          </p:cNvSpPr>
          <p:nvPr>
            <p:ph type="sldNum" sz="quarter" idx="12"/>
          </p:nvPr>
        </p:nvSpPr>
        <p:spPr/>
        <p:txBody>
          <a:bodyPr/>
          <a:lstStyle/>
          <a:p>
            <a:fld id="{A0B59302-35AD-44E9-AC3C-8D1DAE3511F1}" type="slidenum">
              <a:rPr lang="zh-TW" altLang="en-US" smtClean="0"/>
              <a:pPr/>
              <a:t>76</a:t>
            </a:fld>
            <a:endParaRPr lang="zh-TW" altLang="en-US" dirty="0"/>
          </a:p>
        </p:txBody>
      </p:sp>
    </p:spTree>
    <p:extLst>
      <p:ext uri="{BB962C8B-B14F-4D97-AF65-F5344CB8AC3E}">
        <p14:creationId xmlns:p14="http://schemas.microsoft.com/office/powerpoint/2010/main" val="235574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C1BEF8-B6F1-47B0-8C51-9E6A5F066D7E}"/>
              </a:ext>
            </a:extLst>
          </p:cNvPr>
          <p:cNvSpPr>
            <a:spLocks noGrp="1"/>
          </p:cNvSpPr>
          <p:nvPr>
            <p:ph type="title"/>
          </p:nvPr>
        </p:nvSpPr>
        <p:spPr/>
        <p:txBody>
          <a:bodyPr/>
          <a:lstStyle/>
          <a:p>
            <a:r>
              <a:rPr lang="en-US" altLang="zh-TW" dirty="0" err="1"/>
              <a:t>ChatGPT</a:t>
            </a:r>
            <a:r>
              <a:rPr lang="en-US" altLang="zh-TW" dirty="0"/>
              <a:t> (2/2)</a:t>
            </a:r>
            <a:endParaRPr lang="zh-TW" altLang="en-US" dirty="0"/>
          </a:p>
        </p:txBody>
      </p:sp>
      <p:sp>
        <p:nvSpPr>
          <p:cNvPr id="3" name="內容版面配置區 2">
            <a:extLst>
              <a:ext uri="{FF2B5EF4-FFF2-40B4-BE49-F238E27FC236}">
                <a16:creationId xmlns:a16="http://schemas.microsoft.com/office/drawing/2014/main" id="{D079A8CA-63E9-4DD6-A38E-D93A98313496}"/>
              </a:ext>
            </a:extLst>
          </p:cNvPr>
          <p:cNvSpPr>
            <a:spLocks noGrp="1"/>
          </p:cNvSpPr>
          <p:nvPr>
            <p:ph idx="1"/>
          </p:nvPr>
        </p:nvSpPr>
        <p:spPr/>
        <p:txBody>
          <a:bodyPr/>
          <a:lstStyle/>
          <a:p>
            <a:r>
              <a:rPr lang="en-US" altLang="zh-TW" dirty="0"/>
              <a:t>GPT-4 </a:t>
            </a:r>
            <a:r>
              <a:rPr lang="zh-TW" altLang="en-US" dirty="0"/>
              <a:t>除了更便宜的費用，支援高達 </a:t>
            </a:r>
            <a:r>
              <a:rPr lang="en-US" altLang="zh-TW" dirty="0"/>
              <a:t>128k </a:t>
            </a:r>
            <a:r>
              <a:rPr lang="zh-TW" altLang="en-US" dirty="0"/>
              <a:t>的上下文內容（超過</a:t>
            </a:r>
            <a:r>
              <a:rPr lang="en-US" altLang="zh-TW" dirty="0"/>
              <a:t>2 </a:t>
            </a:r>
            <a:r>
              <a:rPr lang="zh-TW" altLang="en-US" dirty="0"/>
              <a:t>萬個中文字）之外，能讀取的外部資料也更新截至 </a:t>
            </a:r>
            <a:r>
              <a:rPr lang="en-US" altLang="zh-TW" dirty="0"/>
              <a:t>2023.4</a:t>
            </a:r>
            <a:r>
              <a:rPr lang="zh-TW" altLang="en-US" dirty="0"/>
              <a:t>。</a:t>
            </a:r>
            <a:endParaRPr lang="en-US" altLang="zh-TW" dirty="0"/>
          </a:p>
          <a:p>
            <a:pPr lvl="1"/>
            <a:endParaRPr lang="en-US" altLang="zh-TW" dirty="0"/>
          </a:p>
          <a:p>
            <a:r>
              <a:rPr lang="zh-TW" altLang="en-US" dirty="0"/>
              <a:t>此外，由於訓練資料集中包含程式碼，加上強大的語義理解與程式碼生成能力，</a:t>
            </a:r>
            <a:r>
              <a:rPr lang="en-US" altLang="zh-TW" dirty="0" err="1"/>
              <a:t>ChatGPT</a:t>
            </a:r>
            <a:r>
              <a:rPr lang="en-US" altLang="zh-TW" dirty="0"/>
              <a:t> </a:t>
            </a:r>
            <a:r>
              <a:rPr lang="zh-TW" altLang="en-US" dirty="0"/>
              <a:t>也能</a:t>
            </a:r>
            <a:r>
              <a:rPr lang="zh-TW" altLang="en-US" dirty="0">
                <a:solidFill>
                  <a:schemeClr val="accent4"/>
                </a:solidFill>
              </a:rPr>
              <a:t>生成各程式語言的程式碼</a:t>
            </a:r>
            <a:r>
              <a:rPr lang="zh-TW" altLang="en-US" dirty="0"/>
              <a:t>，作為協助開發人員編寫程式的工具，能提高工作效率並擴展創意。</a:t>
            </a:r>
          </a:p>
          <a:p>
            <a:endParaRPr lang="zh-TW" altLang="en-US" dirty="0"/>
          </a:p>
        </p:txBody>
      </p:sp>
      <p:sp>
        <p:nvSpPr>
          <p:cNvPr id="4" name="投影片編號版面配置區 3">
            <a:extLst>
              <a:ext uri="{FF2B5EF4-FFF2-40B4-BE49-F238E27FC236}">
                <a16:creationId xmlns:a16="http://schemas.microsoft.com/office/drawing/2014/main" id="{C614643B-B50D-4888-894B-E6E950E1661B}"/>
              </a:ext>
            </a:extLst>
          </p:cNvPr>
          <p:cNvSpPr>
            <a:spLocks noGrp="1"/>
          </p:cNvSpPr>
          <p:nvPr>
            <p:ph type="sldNum" sz="quarter" idx="12"/>
          </p:nvPr>
        </p:nvSpPr>
        <p:spPr/>
        <p:txBody>
          <a:bodyPr/>
          <a:lstStyle/>
          <a:p>
            <a:fld id="{A0B59302-35AD-44E9-AC3C-8D1DAE3511F1}" type="slidenum">
              <a:rPr lang="zh-TW" altLang="en-US" smtClean="0"/>
              <a:pPr/>
              <a:t>77</a:t>
            </a:fld>
            <a:endParaRPr lang="zh-TW" altLang="en-US" dirty="0"/>
          </a:p>
        </p:txBody>
      </p:sp>
    </p:spTree>
    <p:extLst>
      <p:ext uri="{BB962C8B-B14F-4D97-AF65-F5344CB8AC3E}">
        <p14:creationId xmlns:p14="http://schemas.microsoft.com/office/powerpoint/2010/main" val="153565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19256A-E547-4361-917E-796C1404C3CE}"/>
              </a:ext>
            </a:extLst>
          </p:cNvPr>
          <p:cNvSpPr>
            <a:spLocks noGrp="1"/>
          </p:cNvSpPr>
          <p:nvPr>
            <p:ph type="title"/>
          </p:nvPr>
        </p:nvSpPr>
        <p:spPr/>
        <p:txBody>
          <a:bodyPr/>
          <a:lstStyle/>
          <a:p>
            <a:r>
              <a:rPr lang="zh-TW" altLang="en-US" dirty="0"/>
              <a:t>測試 </a:t>
            </a:r>
            <a:r>
              <a:rPr lang="en-US" altLang="zh-TW" dirty="0" err="1"/>
              <a:t>ChatGPT</a:t>
            </a:r>
            <a:endParaRPr lang="zh-TW" altLang="en-US" dirty="0"/>
          </a:p>
        </p:txBody>
      </p:sp>
      <p:sp>
        <p:nvSpPr>
          <p:cNvPr id="3" name="內容版面配置區 2">
            <a:extLst>
              <a:ext uri="{FF2B5EF4-FFF2-40B4-BE49-F238E27FC236}">
                <a16:creationId xmlns:a16="http://schemas.microsoft.com/office/drawing/2014/main" id="{D0170F52-5E74-48B6-ADC7-8439E32228F2}"/>
              </a:ext>
            </a:extLst>
          </p:cNvPr>
          <p:cNvSpPr>
            <a:spLocks noGrp="1"/>
          </p:cNvSpPr>
          <p:nvPr>
            <p:ph idx="1"/>
          </p:nvPr>
        </p:nvSpPr>
        <p:spPr>
          <a:xfrm>
            <a:off x="838200" y="1857375"/>
            <a:ext cx="5905500" cy="4400550"/>
          </a:xfrm>
        </p:spPr>
        <p:txBody>
          <a:bodyPr/>
          <a:lstStyle/>
          <a:p>
            <a:r>
              <a:rPr lang="en-US" altLang="zh-TW" dirty="0"/>
              <a:t>3n+1 </a:t>
            </a:r>
            <a:r>
              <a:rPr lang="zh-TW" altLang="en-US" dirty="0"/>
              <a:t>猜想（考拉茲猜想）</a:t>
            </a:r>
            <a:endParaRPr lang="en-US" altLang="zh-TW" dirty="0"/>
          </a:p>
          <a:p>
            <a:pPr lvl="1"/>
            <a:r>
              <a:rPr lang="zh-TW" altLang="en-US" dirty="0"/>
              <a:t>對一個正整數 </a:t>
            </a:r>
            <a:r>
              <a:rPr lang="en-US" altLang="zh-TW" dirty="0"/>
              <a:t>x </a:t>
            </a:r>
            <a:r>
              <a:rPr lang="zh-TW" altLang="en-US" dirty="0"/>
              <a:t>進行一連串運算：</a:t>
            </a:r>
            <a:endParaRPr lang="en-US" altLang="zh-TW" dirty="0"/>
          </a:p>
          <a:p>
            <a:pPr lvl="1"/>
            <a:r>
              <a:rPr lang="zh-TW" altLang="en-US" dirty="0"/>
              <a:t>如果 </a:t>
            </a:r>
            <a:r>
              <a:rPr lang="en-US" altLang="zh-TW" dirty="0"/>
              <a:t>x </a:t>
            </a:r>
            <a:r>
              <a:rPr lang="zh-TW" altLang="en-US" dirty="0"/>
              <a:t>是奇數，則將其乘 </a:t>
            </a:r>
            <a:r>
              <a:rPr lang="en-US" altLang="zh-TW" dirty="0"/>
              <a:t>3 </a:t>
            </a:r>
            <a:r>
              <a:rPr lang="zh-TW" altLang="en-US" dirty="0"/>
              <a:t>再加 </a:t>
            </a:r>
            <a:r>
              <a:rPr lang="en-US" altLang="zh-TW" dirty="0"/>
              <a:t>1</a:t>
            </a:r>
            <a:r>
              <a:rPr lang="zh-TW" altLang="en-US" dirty="0"/>
              <a:t>；</a:t>
            </a:r>
            <a:endParaRPr lang="en-US" altLang="zh-TW" dirty="0"/>
          </a:p>
          <a:p>
            <a:pPr lvl="1"/>
            <a:r>
              <a:rPr lang="zh-TW" altLang="en-US" dirty="0"/>
              <a:t>而如果 </a:t>
            </a:r>
            <a:r>
              <a:rPr lang="en-US" altLang="zh-TW" dirty="0"/>
              <a:t>x </a:t>
            </a:r>
            <a:r>
              <a:rPr lang="zh-TW" altLang="en-US" dirty="0"/>
              <a:t>是偶數，則將其除以 </a:t>
            </a:r>
            <a:r>
              <a:rPr lang="en-US" altLang="zh-TW" dirty="0"/>
              <a:t>2</a:t>
            </a:r>
            <a:r>
              <a:rPr lang="zh-TW" altLang="en-US" dirty="0"/>
              <a:t>，</a:t>
            </a:r>
            <a:endParaRPr lang="en-US" altLang="zh-TW" dirty="0"/>
          </a:p>
          <a:p>
            <a:pPr lvl="1"/>
            <a:r>
              <a:rPr lang="zh-TW" altLang="en-US" dirty="0"/>
              <a:t>如此重複運算最終都能夠得到 </a:t>
            </a:r>
            <a:r>
              <a:rPr lang="en-US" altLang="zh-TW" dirty="0"/>
              <a:t>1</a:t>
            </a:r>
            <a:r>
              <a:rPr lang="zh-TW" altLang="en-US" dirty="0"/>
              <a:t>。</a:t>
            </a:r>
          </a:p>
        </p:txBody>
      </p:sp>
      <p:sp>
        <p:nvSpPr>
          <p:cNvPr id="4" name="投影片編號版面配置區 3">
            <a:extLst>
              <a:ext uri="{FF2B5EF4-FFF2-40B4-BE49-F238E27FC236}">
                <a16:creationId xmlns:a16="http://schemas.microsoft.com/office/drawing/2014/main" id="{A95AE6E3-161F-46B4-BBE3-1C1A2F03475E}"/>
              </a:ext>
            </a:extLst>
          </p:cNvPr>
          <p:cNvSpPr>
            <a:spLocks noGrp="1"/>
          </p:cNvSpPr>
          <p:nvPr>
            <p:ph type="sldNum" sz="quarter" idx="12"/>
          </p:nvPr>
        </p:nvSpPr>
        <p:spPr/>
        <p:txBody>
          <a:bodyPr/>
          <a:lstStyle/>
          <a:p>
            <a:fld id="{A0B59302-35AD-44E9-AC3C-8D1DAE3511F1}" type="slidenum">
              <a:rPr lang="zh-TW" altLang="en-US" smtClean="0"/>
              <a:pPr/>
              <a:t>78</a:t>
            </a:fld>
            <a:endParaRPr lang="zh-TW" altLang="en-US" dirty="0"/>
          </a:p>
        </p:txBody>
      </p:sp>
      <p:grpSp>
        <p:nvGrpSpPr>
          <p:cNvPr id="5" name="群組 4">
            <a:extLst>
              <a:ext uri="{FF2B5EF4-FFF2-40B4-BE49-F238E27FC236}">
                <a16:creationId xmlns:a16="http://schemas.microsoft.com/office/drawing/2014/main" id="{491BD4A4-C24D-4B74-B1AA-01999C9E0BA2}"/>
              </a:ext>
            </a:extLst>
          </p:cNvPr>
          <p:cNvGrpSpPr/>
          <p:nvPr/>
        </p:nvGrpSpPr>
        <p:grpSpPr>
          <a:xfrm>
            <a:off x="6634757" y="666750"/>
            <a:ext cx="5519143" cy="6092191"/>
            <a:chOff x="3063515" y="179656"/>
            <a:chExt cx="5905193" cy="6518325"/>
          </a:xfrm>
        </p:grpSpPr>
        <p:pic>
          <p:nvPicPr>
            <p:cNvPr id="6" name="圖片 5">
              <a:extLst>
                <a:ext uri="{FF2B5EF4-FFF2-40B4-BE49-F238E27FC236}">
                  <a16:creationId xmlns:a16="http://schemas.microsoft.com/office/drawing/2014/main" id="{9467B8C3-8BA7-4E7B-9076-B7B50BD6305B}"/>
                </a:ext>
              </a:extLst>
            </p:cNvPr>
            <p:cNvPicPr>
              <a:picLocks noChangeAspect="1"/>
            </p:cNvPicPr>
            <p:nvPr/>
          </p:nvPicPr>
          <p:blipFill>
            <a:blip r:embed="rId2"/>
            <a:stretch>
              <a:fillRect/>
            </a:stretch>
          </p:blipFill>
          <p:spPr>
            <a:xfrm>
              <a:off x="3063516" y="179656"/>
              <a:ext cx="5905192" cy="751134"/>
            </a:xfrm>
            <a:prstGeom prst="rect">
              <a:avLst/>
            </a:prstGeom>
          </p:spPr>
        </p:pic>
        <p:pic>
          <p:nvPicPr>
            <p:cNvPr id="7" name="圖片 6">
              <a:extLst>
                <a:ext uri="{FF2B5EF4-FFF2-40B4-BE49-F238E27FC236}">
                  <a16:creationId xmlns:a16="http://schemas.microsoft.com/office/drawing/2014/main" id="{9612B879-A541-4E31-8BBA-5286AD295904}"/>
                </a:ext>
              </a:extLst>
            </p:cNvPr>
            <p:cNvPicPr>
              <a:picLocks noChangeAspect="1"/>
            </p:cNvPicPr>
            <p:nvPr/>
          </p:nvPicPr>
          <p:blipFill>
            <a:blip r:embed="rId3"/>
            <a:stretch>
              <a:fillRect/>
            </a:stretch>
          </p:blipFill>
          <p:spPr>
            <a:xfrm>
              <a:off x="3063515" y="960595"/>
              <a:ext cx="5905193" cy="5737386"/>
            </a:xfrm>
            <a:prstGeom prst="rect">
              <a:avLst/>
            </a:prstGeom>
          </p:spPr>
        </p:pic>
      </p:grpSp>
    </p:spTree>
    <p:extLst>
      <p:ext uri="{BB962C8B-B14F-4D97-AF65-F5344CB8AC3E}">
        <p14:creationId xmlns:p14="http://schemas.microsoft.com/office/powerpoint/2010/main" val="1839693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5741E5-17D1-4FBF-AE48-226795432DB2}"/>
              </a:ext>
            </a:extLst>
          </p:cNvPr>
          <p:cNvSpPr>
            <a:spLocks noGrp="1"/>
          </p:cNvSpPr>
          <p:nvPr>
            <p:ph type="title"/>
          </p:nvPr>
        </p:nvSpPr>
        <p:spPr/>
        <p:txBody>
          <a:bodyPr>
            <a:normAutofit/>
          </a:bodyPr>
          <a:lstStyle/>
          <a:p>
            <a:r>
              <a:rPr lang="zh-TW" altLang="en-US" dirty="0"/>
              <a:t>程式設計師飯碗不保</a:t>
            </a:r>
            <a:r>
              <a:rPr lang="en-US" altLang="zh-TW" dirty="0"/>
              <a:t>!?</a:t>
            </a:r>
            <a:endParaRPr lang="zh-TW" altLang="en-US" dirty="0"/>
          </a:p>
        </p:txBody>
      </p:sp>
      <p:sp>
        <p:nvSpPr>
          <p:cNvPr id="3" name="內容版面配置區 2">
            <a:extLst>
              <a:ext uri="{FF2B5EF4-FFF2-40B4-BE49-F238E27FC236}">
                <a16:creationId xmlns:a16="http://schemas.microsoft.com/office/drawing/2014/main" id="{44DDD464-576A-48E9-BBA0-1A2FF1578025}"/>
              </a:ext>
            </a:extLst>
          </p:cNvPr>
          <p:cNvSpPr>
            <a:spLocks noGrp="1"/>
          </p:cNvSpPr>
          <p:nvPr>
            <p:ph idx="1"/>
          </p:nvPr>
        </p:nvSpPr>
        <p:spPr/>
        <p:txBody>
          <a:bodyPr>
            <a:normAutofit/>
          </a:bodyPr>
          <a:lstStyle/>
          <a:p>
            <a:r>
              <a:rPr lang="en-US" altLang="zh-TW" dirty="0"/>
              <a:t>GPT-4 </a:t>
            </a:r>
            <a:r>
              <a:rPr lang="zh-TW" altLang="en-US" dirty="0"/>
              <a:t>生成的程式碼在結構、準確度的品質上已有相當水準，足可提昇開發人員的效率。</a:t>
            </a:r>
            <a:endParaRPr lang="en-US" altLang="zh-TW" dirty="0"/>
          </a:p>
          <a:p>
            <a:pPr lvl="1"/>
            <a:r>
              <a:rPr lang="zh-TW" altLang="en-US" dirty="0"/>
              <a:t>使用 </a:t>
            </a:r>
            <a:r>
              <a:rPr lang="en-US" altLang="zh-TW" dirty="0" err="1"/>
              <a:t>ChatGPT</a:t>
            </a:r>
            <a:r>
              <a:rPr lang="en-US" altLang="zh-TW" dirty="0"/>
              <a:t> </a:t>
            </a:r>
            <a:r>
              <a:rPr lang="zh-TW" altLang="en-US" dirty="0"/>
              <a:t>輔助撰寫應用程式，雖然有流量限制、有時生成的速度過慢等缺點，其生成的程式碼確實能大幅縮短開發時間。</a:t>
            </a:r>
            <a:endParaRPr lang="en-US" altLang="zh-TW" dirty="0"/>
          </a:p>
          <a:p>
            <a:pPr lvl="1"/>
            <a:endParaRPr lang="en-US" altLang="zh-TW" dirty="0"/>
          </a:p>
          <a:p>
            <a:pPr lvl="1"/>
            <a:r>
              <a:rPr lang="zh-TW" altLang="en-US" dirty="0"/>
              <a:t>正因為如此，一時間類似「程式設計師飯碗不保」的言論甚囂塵上，彷彿要顛覆整個程式設計行業一般，使得程式開發人員如坐針氈，而想從事相關行業也猶豫不決。</a:t>
            </a:r>
          </a:p>
        </p:txBody>
      </p:sp>
      <p:sp>
        <p:nvSpPr>
          <p:cNvPr id="4" name="投影片編號版面配置區 3">
            <a:extLst>
              <a:ext uri="{FF2B5EF4-FFF2-40B4-BE49-F238E27FC236}">
                <a16:creationId xmlns:a16="http://schemas.microsoft.com/office/drawing/2014/main" id="{AC001F33-B2B0-4D57-B74C-A02CC1A34797}"/>
              </a:ext>
            </a:extLst>
          </p:cNvPr>
          <p:cNvSpPr>
            <a:spLocks noGrp="1"/>
          </p:cNvSpPr>
          <p:nvPr>
            <p:ph type="sldNum" sz="quarter" idx="12"/>
          </p:nvPr>
        </p:nvSpPr>
        <p:spPr/>
        <p:txBody>
          <a:bodyPr/>
          <a:lstStyle/>
          <a:p>
            <a:fld id="{A0B59302-35AD-44E9-AC3C-8D1DAE3511F1}" type="slidenum">
              <a:rPr lang="zh-TW" altLang="en-US" smtClean="0"/>
              <a:pPr/>
              <a:t>79</a:t>
            </a:fld>
            <a:endParaRPr lang="zh-TW" altLang="en-US" dirty="0"/>
          </a:p>
        </p:txBody>
      </p:sp>
    </p:spTree>
    <p:extLst>
      <p:ext uri="{BB962C8B-B14F-4D97-AF65-F5344CB8AC3E}">
        <p14:creationId xmlns:p14="http://schemas.microsoft.com/office/powerpoint/2010/main" val="352991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CF790F-F04D-4BCF-816B-4190804E5DE2}"/>
              </a:ext>
            </a:extLst>
          </p:cNvPr>
          <p:cNvSpPr>
            <a:spLocks noGrp="1"/>
          </p:cNvSpPr>
          <p:nvPr>
            <p:ph type="title"/>
          </p:nvPr>
        </p:nvSpPr>
        <p:spPr/>
        <p:txBody>
          <a:bodyPr/>
          <a:lstStyle/>
          <a:p>
            <a:r>
              <a:rPr lang="zh-TW" altLang="en-US" dirty="0"/>
              <a:t>使用 </a:t>
            </a:r>
            <a:r>
              <a:rPr lang="en-US" altLang="zh-TW" dirty="0" err="1"/>
              <a:t>ChatGPT</a:t>
            </a:r>
            <a:r>
              <a:rPr lang="en-US" altLang="zh-TW" dirty="0"/>
              <a:t> (1/2)</a:t>
            </a:r>
            <a:endParaRPr lang="zh-TW" altLang="en-US" dirty="0"/>
          </a:p>
        </p:txBody>
      </p:sp>
      <p:sp>
        <p:nvSpPr>
          <p:cNvPr id="3" name="內容版面配置區 2">
            <a:extLst>
              <a:ext uri="{FF2B5EF4-FFF2-40B4-BE49-F238E27FC236}">
                <a16:creationId xmlns:a16="http://schemas.microsoft.com/office/drawing/2014/main" id="{C8C4A6C4-2070-4F2A-9FC7-58FABC1CC8D0}"/>
              </a:ext>
            </a:extLst>
          </p:cNvPr>
          <p:cNvSpPr>
            <a:spLocks noGrp="1"/>
          </p:cNvSpPr>
          <p:nvPr>
            <p:ph idx="1"/>
          </p:nvPr>
        </p:nvSpPr>
        <p:spPr/>
        <p:txBody>
          <a:bodyPr>
            <a:normAutofit/>
          </a:bodyPr>
          <a:lstStyle/>
          <a:p>
            <a:r>
              <a:rPr lang="zh-TW" altLang="en-US" dirty="0"/>
              <a:t>從學習的角度來看，即便是有電子計算機，我們仍舊得學算術運算，背誦九九乘法表；而即使有科學計算軟體與程式套件能計算微分積分，微積分仍舊是理工商的大一必修課程。</a:t>
            </a:r>
            <a:endParaRPr lang="en-US" altLang="zh-TW" dirty="0"/>
          </a:p>
          <a:p>
            <a:pPr lvl="1"/>
            <a:r>
              <a:rPr lang="zh-TW" altLang="en-US" dirty="0"/>
              <a:t>因此，即使 </a:t>
            </a:r>
            <a:r>
              <a:rPr lang="en-US" altLang="zh-TW" dirty="0" err="1"/>
              <a:t>ChatGPT</a:t>
            </a:r>
            <a:r>
              <a:rPr lang="en-US" altLang="zh-TW" dirty="0"/>
              <a:t> </a:t>
            </a:r>
            <a:r>
              <a:rPr lang="zh-TW" altLang="en-US" dirty="0"/>
              <a:t>能生成品質佳的程式碼，相信程式語言仍然是資訊相關科系的必修課，畢竟如前面所述，學寫程式重點在學</a:t>
            </a:r>
            <a:r>
              <a:rPr lang="zh-TW" altLang="en-US" dirty="0">
                <a:solidFill>
                  <a:schemeClr val="accent4"/>
                </a:solidFill>
              </a:rPr>
              <a:t>運算思維</a:t>
            </a:r>
            <a:r>
              <a:rPr lang="zh-TW" altLang="en-US" dirty="0"/>
              <a:t>與</a:t>
            </a:r>
            <a:r>
              <a:rPr lang="zh-TW" altLang="en-US" dirty="0">
                <a:solidFill>
                  <a:schemeClr val="accent4"/>
                </a:solidFill>
              </a:rPr>
              <a:t>邏輯思考</a:t>
            </a:r>
            <a:r>
              <a:rPr lang="zh-TW" altLang="en-US" dirty="0"/>
              <a:t>。</a:t>
            </a:r>
            <a:endParaRPr lang="en-US" altLang="zh-TW" dirty="0"/>
          </a:p>
          <a:p>
            <a:pPr lvl="3"/>
            <a:endParaRPr lang="en-US" altLang="zh-TW" dirty="0"/>
          </a:p>
          <a:p>
            <a:pPr lvl="1"/>
            <a:r>
              <a:rPr lang="zh-TW" altLang="en-US" dirty="0"/>
              <a:t>在學習階段用 </a:t>
            </a:r>
            <a:r>
              <a:rPr lang="en-US" altLang="zh-TW" dirty="0" err="1"/>
              <a:t>ChatGPT</a:t>
            </a:r>
            <a:r>
              <a:rPr lang="en-US" altLang="zh-TW" dirty="0"/>
              <a:t> </a:t>
            </a:r>
            <a:r>
              <a:rPr lang="zh-TW" altLang="en-US" dirty="0"/>
              <a:t>輔助了解語法使用、除錯等地方，培養閱讀與分析程式碼的能力，萬萬不能照搬煮碗，不加思索就拿來使用。</a:t>
            </a:r>
          </a:p>
        </p:txBody>
      </p:sp>
      <p:sp>
        <p:nvSpPr>
          <p:cNvPr id="4" name="投影片編號版面配置區 3">
            <a:extLst>
              <a:ext uri="{FF2B5EF4-FFF2-40B4-BE49-F238E27FC236}">
                <a16:creationId xmlns:a16="http://schemas.microsoft.com/office/drawing/2014/main" id="{11A93552-90AD-4590-B7CE-B776EDEF42B7}"/>
              </a:ext>
            </a:extLst>
          </p:cNvPr>
          <p:cNvSpPr>
            <a:spLocks noGrp="1"/>
          </p:cNvSpPr>
          <p:nvPr>
            <p:ph type="sldNum" sz="quarter" idx="12"/>
          </p:nvPr>
        </p:nvSpPr>
        <p:spPr/>
        <p:txBody>
          <a:bodyPr/>
          <a:lstStyle/>
          <a:p>
            <a:fld id="{A0B59302-35AD-44E9-AC3C-8D1DAE3511F1}" type="slidenum">
              <a:rPr lang="zh-TW" altLang="en-US" smtClean="0"/>
              <a:pPr/>
              <a:t>80</a:t>
            </a:fld>
            <a:endParaRPr lang="zh-TW" altLang="en-US" dirty="0"/>
          </a:p>
        </p:txBody>
      </p:sp>
    </p:spTree>
    <p:extLst>
      <p:ext uri="{BB962C8B-B14F-4D97-AF65-F5344CB8AC3E}">
        <p14:creationId xmlns:p14="http://schemas.microsoft.com/office/powerpoint/2010/main" val="292926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7F006C-F71F-456E-B356-F94CFE25D89C}"/>
              </a:ext>
            </a:extLst>
          </p:cNvPr>
          <p:cNvSpPr>
            <a:spLocks noGrp="1"/>
          </p:cNvSpPr>
          <p:nvPr>
            <p:ph type="title"/>
          </p:nvPr>
        </p:nvSpPr>
        <p:spPr/>
        <p:txBody>
          <a:bodyPr/>
          <a:lstStyle/>
          <a:p>
            <a:r>
              <a:rPr lang="zh-TW" altLang="en-US" dirty="0"/>
              <a:t>使用 </a:t>
            </a:r>
            <a:r>
              <a:rPr lang="en-US" altLang="zh-TW" dirty="0" err="1"/>
              <a:t>ChatGPT</a:t>
            </a:r>
            <a:r>
              <a:rPr lang="en-US" altLang="zh-TW" dirty="0"/>
              <a:t> (2/2)</a:t>
            </a:r>
            <a:endParaRPr lang="zh-TW" altLang="en-US" dirty="0"/>
          </a:p>
        </p:txBody>
      </p:sp>
      <p:sp>
        <p:nvSpPr>
          <p:cNvPr id="3" name="內容版面配置區 2">
            <a:extLst>
              <a:ext uri="{FF2B5EF4-FFF2-40B4-BE49-F238E27FC236}">
                <a16:creationId xmlns:a16="http://schemas.microsoft.com/office/drawing/2014/main" id="{75BC1289-DC80-4123-8F14-6110337808F5}"/>
              </a:ext>
            </a:extLst>
          </p:cNvPr>
          <p:cNvSpPr>
            <a:spLocks noGrp="1"/>
          </p:cNvSpPr>
          <p:nvPr>
            <p:ph idx="1"/>
          </p:nvPr>
        </p:nvSpPr>
        <p:spPr/>
        <p:txBody>
          <a:bodyPr/>
          <a:lstStyle/>
          <a:p>
            <a:r>
              <a:rPr lang="zh-TW" altLang="en-US" dirty="0"/>
              <a:t>至於有一定程度的程式設計能力後，可以利用它來提升開發效率，但同時也要注意 </a:t>
            </a:r>
            <a:r>
              <a:rPr lang="en-US" altLang="zh-TW" dirty="0" err="1"/>
              <a:t>ChatGPT</a:t>
            </a:r>
            <a:r>
              <a:rPr lang="en-US" altLang="zh-TW" dirty="0"/>
              <a:t> </a:t>
            </a:r>
            <a:r>
              <a:rPr lang="zh-TW" altLang="en-US" dirty="0"/>
              <a:t>的侷限性。</a:t>
            </a:r>
            <a:endParaRPr lang="en-US" altLang="zh-TW" dirty="0"/>
          </a:p>
          <a:p>
            <a:pPr lvl="1"/>
            <a:r>
              <a:rPr lang="zh-TW" altLang="en-US" dirty="0"/>
              <a:t>比如它有時會產生幻覺，生成虛構、不準確甚至是錯誤的程式碼，需要加以檢查和驗證。</a:t>
            </a:r>
            <a:endParaRPr lang="en-US" altLang="zh-TW" dirty="0"/>
          </a:p>
          <a:p>
            <a:pPr lvl="3"/>
            <a:endParaRPr lang="en-US" altLang="zh-TW" dirty="0"/>
          </a:p>
          <a:p>
            <a:pPr lvl="1"/>
            <a:r>
              <a:rPr lang="zh-TW" altLang="en-US" dirty="0"/>
              <a:t>當用戶的語義不明時，它會自行猜測而非詢問清楚。</a:t>
            </a:r>
            <a:endParaRPr lang="en-US" altLang="zh-TW" dirty="0"/>
          </a:p>
          <a:p>
            <a:pPr lvl="3"/>
            <a:endParaRPr lang="en-US" altLang="zh-TW" dirty="0"/>
          </a:p>
          <a:p>
            <a:pPr lvl="1"/>
            <a:r>
              <a:rPr lang="zh-TW" altLang="en-US" dirty="0"/>
              <a:t>它抵抗不懷好意的「提示工程」能力較差，也容易有資安風險。</a:t>
            </a:r>
          </a:p>
          <a:p>
            <a:endParaRPr lang="zh-TW" altLang="en-US" dirty="0"/>
          </a:p>
        </p:txBody>
      </p:sp>
      <p:sp>
        <p:nvSpPr>
          <p:cNvPr id="4" name="投影片編號版面配置區 3">
            <a:extLst>
              <a:ext uri="{FF2B5EF4-FFF2-40B4-BE49-F238E27FC236}">
                <a16:creationId xmlns:a16="http://schemas.microsoft.com/office/drawing/2014/main" id="{4D1BA623-E048-46EA-B135-7A0F75CA2626}"/>
              </a:ext>
            </a:extLst>
          </p:cNvPr>
          <p:cNvSpPr>
            <a:spLocks noGrp="1"/>
          </p:cNvSpPr>
          <p:nvPr>
            <p:ph type="sldNum" sz="quarter" idx="12"/>
          </p:nvPr>
        </p:nvSpPr>
        <p:spPr/>
        <p:txBody>
          <a:bodyPr/>
          <a:lstStyle/>
          <a:p>
            <a:fld id="{A0B59302-35AD-44E9-AC3C-8D1DAE3511F1}" type="slidenum">
              <a:rPr lang="zh-TW" altLang="en-US" smtClean="0"/>
              <a:pPr/>
              <a:t>81</a:t>
            </a:fld>
            <a:endParaRPr lang="zh-TW" altLang="en-US" dirty="0"/>
          </a:p>
        </p:txBody>
      </p:sp>
    </p:spTree>
    <p:extLst>
      <p:ext uri="{BB962C8B-B14F-4D97-AF65-F5344CB8AC3E}">
        <p14:creationId xmlns:p14="http://schemas.microsoft.com/office/powerpoint/2010/main" val="313376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zh-TW" altLang="en-US" dirty="0">
                <a:solidFill>
                  <a:schemeClr val="accent2"/>
                </a:solidFill>
              </a:rPr>
              <a:t>變數與資料型別</a:t>
            </a:r>
            <a:endParaRPr lang="en-US" altLang="zh-TW" dirty="0">
              <a:solidFill>
                <a:schemeClr val="accent2"/>
              </a:solidFill>
            </a:endParaRPr>
          </a:p>
          <a:p>
            <a:pPr lvl="1"/>
            <a:r>
              <a:rPr lang="zh-TW" altLang="en-US" dirty="0"/>
              <a:t>變數與命名規則</a:t>
            </a:r>
            <a:endParaRPr lang="en-US" altLang="zh-TW" dirty="0"/>
          </a:p>
          <a:p>
            <a:pPr lvl="1"/>
            <a:r>
              <a:rPr lang="zh-TW" altLang="en-US" dirty="0"/>
              <a:t>數值、布林與字串資料型別</a:t>
            </a:r>
            <a:endParaRPr lang="en-US" altLang="zh-TW" dirty="0"/>
          </a:p>
          <a:p>
            <a:pPr lvl="1"/>
            <a:r>
              <a:rPr lang="zh-TW" altLang="en-US" dirty="0"/>
              <a:t>資料型別轉換</a:t>
            </a:r>
            <a:endParaRPr lang="en-US" altLang="zh-TW" dirty="0"/>
          </a:p>
          <a:p>
            <a:pPr lvl="1"/>
            <a:r>
              <a:rPr lang="zh-TW" altLang="en-US" dirty="0"/>
              <a:t>註解</a:t>
            </a:r>
            <a:endParaRPr lang="en-US" altLang="zh-TW"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0314963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76ACDA5-B793-4864-9E73-C4C737A4BAEB}"/>
              </a:ext>
            </a:extLst>
          </p:cNvPr>
          <p:cNvPicPr>
            <a:picLocks noChangeAspect="1"/>
          </p:cNvPicPr>
          <p:nvPr/>
        </p:nvPicPr>
        <p:blipFill>
          <a:blip r:embed="rId2"/>
          <a:stretch>
            <a:fillRect/>
          </a:stretch>
        </p:blipFill>
        <p:spPr>
          <a:xfrm>
            <a:off x="2952288" y="1189643"/>
            <a:ext cx="6287424" cy="4478714"/>
          </a:xfrm>
          <a:prstGeom prst="rect">
            <a:avLst/>
          </a:prstGeom>
        </p:spPr>
      </p:pic>
      <p:sp>
        <p:nvSpPr>
          <p:cNvPr id="2" name="語音泡泡: 圓角矩形 1">
            <a:extLst>
              <a:ext uri="{FF2B5EF4-FFF2-40B4-BE49-F238E27FC236}">
                <a16:creationId xmlns:a16="http://schemas.microsoft.com/office/drawing/2014/main" id="{5A602AD7-4DC6-494A-8C92-C355AC02149D}"/>
              </a:ext>
            </a:extLst>
          </p:cNvPr>
          <p:cNvSpPr/>
          <p:nvPr/>
        </p:nvSpPr>
        <p:spPr>
          <a:xfrm>
            <a:off x="9417269" y="609600"/>
            <a:ext cx="1975945" cy="788276"/>
          </a:xfrm>
          <a:prstGeom prst="wedgeRoundRectCallout">
            <a:avLst>
              <a:gd name="adj1" fmla="val -182003"/>
              <a:gd name="adj2" fmla="val 62501"/>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數值</a:t>
            </a:r>
          </a:p>
        </p:txBody>
      </p:sp>
      <p:sp>
        <p:nvSpPr>
          <p:cNvPr id="4" name="語音泡泡: 圓角矩形 3">
            <a:extLst>
              <a:ext uri="{FF2B5EF4-FFF2-40B4-BE49-F238E27FC236}">
                <a16:creationId xmlns:a16="http://schemas.microsoft.com/office/drawing/2014/main" id="{18BD8A86-44E0-46BA-9E3B-B280407305AD}"/>
              </a:ext>
            </a:extLst>
          </p:cNvPr>
          <p:cNvSpPr/>
          <p:nvPr/>
        </p:nvSpPr>
        <p:spPr>
          <a:xfrm>
            <a:off x="6227379" y="215462"/>
            <a:ext cx="1975945" cy="788276"/>
          </a:xfrm>
          <a:prstGeom prst="wedgeRoundRectCallout">
            <a:avLst>
              <a:gd name="adj1" fmla="val -87854"/>
              <a:gd name="adj2" fmla="val 106501"/>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等號</a:t>
            </a:r>
          </a:p>
        </p:txBody>
      </p:sp>
      <p:sp>
        <p:nvSpPr>
          <p:cNvPr id="5" name="語音泡泡: 圓角矩形 4">
            <a:extLst>
              <a:ext uri="{FF2B5EF4-FFF2-40B4-BE49-F238E27FC236}">
                <a16:creationId xmlns:a16="http://schemas.microsoft.com/office/drawing/2014/main" id="{D7999E75-2027-490B-99BC-AEBBB6A68581}"/>
              </a:ext>
            </a:extLst>
          </p:cNvPr>
          <p:cNvSpPr/>
          <p:nvPr/>
        </p:nvSpPr>
        <p:spPr>
          <a:xfrm>
            <a:off x="2656489" y="215462"/>
            <a:ext cx="1975945" cy="788276"/>
          </a:xfrm>
          <a:prstGeom prst="wedgeRoundRectCallout">
            <a:avLst>
              <a:gd name="adj1" fmla="val 54699"/>
              <a:gd name="adj2" fmla="val 91834"/>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變數</a:t>
            </a:r>
          </a:p>
        </p:txBody>
      </p:sp>
      <p:sp>
        <p:nvSpPr>
          <p:cNvPr id="6" name="語音泡泡: 圓角矩形 5">
            <a:extLst>
              <a:ext uri="{FF2B5EF4-FFF2-40B4-BE49-F238E27FC236}">
                <a16:creationId xmlns:a16="http://schemas.microsoft.com/office/drawing/2014/main" id="{BAED74D2-C56C-4D76-AACE-BB012BA09144}"/>
              </a:ext>
            </a:extLst>
          </p:cNvPr>
          <p:cNvSpPr/>
          <p:nvPr/>
        </p:nvSpPr>
        <p:spPr>
          <a:xfrm>
            <a:off x="9417268" y="2333296"/>
            <a:ext cx="1975945" cy="788276"/>
          </a:xfrm>
          <a:prstGeom prst="wedgeRoundRectCallout">
            <a:avLst>
              <a:gd name="adj1" fmla="val -113918"/>
              <a:gd name="adj2" fmla="val 107834"/>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加法運算</a:t>
            </a:r>
          </a:p>
        </p:txBody>
      </p:sp>
      <p:sp>
        <p:nvSpPr>
          <p:cNvPr id="7" name="語音泡泡: 圓角矩形 6">
            <a:extLst>
              <a:ext uri="{FF2B5EF4-FFF2-40B4-BE49-F238E27FC236}">
                <a16:creationId xmlns:a16="http://schemas.microsoft.com/office/drawing/2014/main" id="{C91DC1A5-CD9C-438A-8DA8-F7F29F76C2DF}"/>
              </a:ext>
            </a:extLst>
          </p:cNvPr>
          <p:cNvSpPr/>
          <p:nvPr/>
        </p:nvSpPr>
        <p:spPr>
          <a:xfrm>
            <a:off x="5959366" y="5854262"/>
            <a:ext cx="2243957" cy="788276"/>
          </a:xfrm>
          <a:prstGeom prst="wedgeRoundRectCallout">
            <a:avLst>
              <a:gd name="adj1" fmla="val -55646"/>
              <a:gd name="adj2" fmla="val -84166"/>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輸出到螢幕</a:t>
            </a:r>
          </a:p>
        </p:txBody>
      </p:sp>
    </p:spTree>
    <p:extLst>
      <p:ext uri="{BB962C8B-B14F-4D97-AF65-F5344CB8AC3E}">
        <p14:creationId xmlns:p14="http://schemas.microsoft.com/office/powerpoint/2010/main" val="59194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p:cNvSpPr txBox="1"/>
          <p:nvPr/>
        </p:nvSpPr>
        <p:spPr>
          <a:xfrm>
            <a:off x="2031146" y="645424"/>
            <a:ext cx="8129708" cy="22159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3800" b="1"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變數</a:t>
            </a:r>
            <a:endParaRPr kumimoji="0" lang="en-US" altLang="zh-TW" sz="13800" b="1"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sp>
        <p:nvSpPr>
          <p:cNvPr id="2" name="矩形 1"/>
          <p:cNvSpPr/>
          <p:nvPr/>
        </p:nvSpPr>
        <p:spPr>
          <a:xfrm>
            <a:off x="1" y="4078681"/>
            <a:ext cx="12191998" cy="156966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96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儲存</a:t>
            </a:r>
            <a:r>
              <a:rPr kumimoji="0" lang="zh-TW" altLang="en-US" sz="9600" b="1" i="0" u="none" strike="noStrike" kern="1200" cap="none" spc="0" normalizeH="0" baseline="0" noProof="0" dirty="0">
                <a:ln>
                  <a:noFill/>
                </a:ln>
                <a:solidFill>
                  <a:srgbClr val="F2635F"/>
                </a:solidFill>
                <a:effectLst/>
                <a:uLnTx/>
                <a:uFillTx/>
                <a:latin typeface="Arial" panose="020B0604020202020204"/>
                <a:ea typeface="微軟正黑體" panose="020B0604030504040204" pitchFamily="34" charset="-120"/>
                <a:cs typeface="+mn-cs"/>
              </a:rPr>
              <a:t>資料</a:t>
            </a:r>
            <a:r>
              <a:rPr kumimoji="0" lang="zh-TW" altLang="en-US" sz="96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的地方</a:t>
            </a:r>
          </a:p>
        </p:txBody>
      </p:sp>
      <p:sp>
        <p:nvSpPr>
          <p:cNvPr id="3" name="向下箭號 2"/>
          <p:cNvSpPr/>
          <p:nvPr/>
        </p:nvSpPr>
        <p:spPr>
          <a:xfrm>
            <a:off x="5505794" y="2861415"/>
            <a:ext cx="1180407" cy="972249"/>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82566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變數</a:t>
            </a:r>
            <a:r>
              <a:rPr lang="en-US" altLang="zh-TW" dirty="0"/>
              <a:t>(variable)</a:t>
            </a:r>
            <a:endParaRPr lang="zh-TW" altLang="en-US" dirty="0"/>
          </a:p>
        </p:txBody>
      </p:sp>
      <p:sp>
        <p:nvSpPr>
          <p:cNvPr id="3" name="內容版面配置區 2"/>
          <p:cNvSpPr>
            <a:spLocks noGrp="1"/>
          </p:cNvSpPr>
          <p:nvPr>
            <p:ph idx="1"/>
          </p:nvPr>
        </p:nvSpPr>
        <p:spPr/>
        <p:txBody>
          <a:bodyPr/>
          <a:lstStyle/>
          <a:p>
            <a:r>
              <a:rPr lang="zh-TW" altLang="en-US" dirty="0"/>
              <a:t>當變數被使用時，系統會配置一塊</a:t>
            </a:r>
            <a:r>
              <a:rPr lang="zh-TW" altLang="en-US" dirty="0">
                <a:solidFill>
                  <a:schemeClr val="accent4"/>
                </a:solidFill>
              </a:rPr>
              <a:t>記憶體空間</a:t>
            </a:r>
            <a:r>
              <a:rPr lang="zh-TW" altLang="en-US" dirty="0"/>
              <a:t>給此變數。</a:t>
            </a:r>
            <a:endParaRPr lang="en-US" altLang="zh-TW" dirty="0"/>
          </a:p>
          <a:p>
            <a:pPr lvl="1"/>
            <a:r>
              <a:rPr lang="zh-TW" altLang="en-US" dirty="0"/>
              <a:t>變數名稱 </a:t>
            </a:r>
            <a:r>
              <a:rPr lang="en-US" altLang="zh-TW" dirty="0">
                <a:sym typeface="Wingdings" panose="05000000000000000000" pitchFamily="2" charset="2"/>
              </a:rPr>
              <a:t> </a:t>
            </a:r>
            <a:r>
              <a:rPr lang="zh-TW" altLang="en-US" dirty="0">
                <a:sym typeface="Wingdings" panose="05000000000000000000" pitchFamily="2" charset="2"/>
              </a:rPr>
              <a:t>此塊記憶體的位址</a:t>
            </a:r>
            <a:endParaRPr lang="en-US" altLang="zh-TW" dirty="0">
              <a:sym typeface="Wingdings" panose="05000000000000000000" pitchFamily="2" charset="2"/>
            </a:endParaRPr>
          </a:p>
          <a:p>
            <a:pPr lvl="1"/>
            <a:r>
              <a:rPr lang="zh-TW" altLang="en-US" dirty="0">
                <a:sym typeface="Wingdings" panose="05000000000000000000" pitchFamily="2" charset="2"/>
              </a:rPr>
              <a:t>資料型別 </a:t>
            </a:r>
            <a:r>
              <a:rPr lang="en-US" altLang="zh-TW" dirty="0">
                <a:sym typeface="Wingdings" panose="05000000000000000000" pitchFamily="2" charset="2"/>
              </a:rPr>
              <a:t> </a:t>
            </a:r>
            <a:r>
              <a:rPr lang="zh-TW" altLang="en-US" dirty="0">
                <a:sym typeface="Wingdings" panose="05000000000000000000" pitchFamily="2" charset="2"/>
              </a:rPr>
              <a:t>此塊記憶體的大小</a:t>
            </a:r>
            <a:endParaRPr lang="zh-TW" altLang="en-US" dirty="0"/>
          </a:p>
          <a:p>
            <a:endParaRPr lang="zh-TW" altLang="en-US"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1A418FAF-11F2-41DC-B215-9309A71B3D90}"/>
              </a:ext>
            </a:extLst>
          </p:cNvPr>
          <p:cNvPicPr>
            <a:picLocks noChangeAspect="1"/>
          </p:cNvPicPr>
          <p:nvPr/>
        </p:nvPicPr>
        <p:blipFill>
          <a:blip r:embed="rId2"/>
          <a:stretch>
            <a:fillRect/>
          </a:stretch>
        </p:blipFill>
        <p:spPr>
          <a:xfrm>
            <a:off x="2316438" y="4057650"/>
            <a:ext cx="7559124" cy="1868804"/>
          </a:xfrm>
          <a:prstGeom prst="rect">
            <a:avLst/>
          </a:prstGeom>
        </p:spPr>
      </p:pic>
      <p:sp>
        <p:nvSpPr>
          <p:cNvPr id="6" name="語音泡泡: 圓角矩形 5">
            <a:extLst>
              <a:ext uri="{FF2B5EF4-FFF2-40B4-BE49-F238E27FC236}">
                <a16:creationId xmlns:a16="http://schemas.microsoft.com/office/drawing/2014/main" id="{4FD7788C-9D6A-42FA-AEC2-F82CB6923417}"/>
              </a:ext>
            </a:extLst>
          </p:cNvPr>
          <p:cNvSpPr/>
          <p:nvPr/>
        </p:nvSpPr>
        <p:spPr>
          <a:xfrm>
            <a:off x="6598311" y="2458453"/>
            <a:ext cx="3379621" cy="683794"/>
          </a:xfrm>
          <a:prstGeom prst="wedgeRoundRectCallout">
            <a:avLst>
              <a:gd name="adj1" fmla="val -62608"/>
              <a:gd name="adj2" fmla="val -24153"/>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e.g., 0x7ffff34fff00</a:t>
            </a:r>
            <a:endPar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2929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13D18A-786E-44F1-B2EA-92907C16F225}"/>
              </a:ext>
            </a:extLst>
          </p:cNvPr>
          <p:cNvSpPr>
            <a:spLocks noGrp="1"/>
          </p:cNvSpPr>
          <p:nvPr>
            <p:ph type="title" idx="4294967295"/>
          </p:nvPr>
        </p:nvSpPr>
        <p:spPr>
          <a:xfrm>
            <a:off x="406552" y="453390"/>
            <a:ext cx="3593948" cy="1421130"/>
          </a:xfrm>
        </p:spPr>
        <p:txBody>
          <a:bodyPr>
            <a:normAutofit/>
          </a:bodyPr>
          <a:lstStyle/>
          <a:p>
            <a:pPr algn="ctr"/>
            <a:r>
              <a:rPr lang="zh-TW" altLang="en-US" sz="3200" dirty="0">
                <a:latin typeface="+mn-lt"/>
              </a:rPr>
              <a:t>記憶體階層</a:t>
            </a:r>
            <a:r>
              <a:rPr lang="en-US" altLang="zh-TW" sz="3200" dirty="0">
                <a:latin typeface="+mn-lt"/>
              </a:rPr>
              <a:t>(memory hierarchy)</a:t>
            </a:r>
            <a:endParaRPr lang="zh-TW" altLang="en-US" sz="3200" dirty="0">
              <a:latin typeface="+mn-lt"/>
            </a:endParaRPr>
          </a:p>
        </p:txBody>
      </p:sp>
      <p:pic>
        <p:nvPicPr>
          <p:cNvPr id="7" name="圖片 6">
            <a:extLst>
              <a:ext uri="{FF2B5EF4-FFF2-40B4-BE49-F238E27FC236}">
                <a16:creationId xmlns:a16="http://schemas.microsoft.com/office/drawing/2014/main" id="{DFC5B84A-E59D-457E-8EF1-0829AC4044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1231" y="820203"/>
            <a:ext cx="8224217" cy="5432007"/>
          </a:xfrm>
          <a:prstGeom prst="rect">
            <a:avLst/>
          </a:prstGeom>
        </p:spPr>
      </p:pic>
      <p:sp>
        <p:nvSpPr>
          <p:cNvPr id="9" name="文字方塊 8">
            <a:extLst>
              <a:ext uri="{FF2B5EF4-FFF2-40B4-BE49-F238E27FC236}">
                <a16:creationId xmlns:a16="http://schemas.microsoft.com/office/drawing/2014/main" id="{BA884F3C-D0C9-4261-A213-9CB4A7112058}"/>
              </a:ext>
            </a:extLst>
          </p:cNvPr>
          <p:cNvSpPr txBox="1"/>
          <p:nvPr/>
        </p:nvSpPr>
        <p:spPr>
          <a:xfrm>
            <a:off x="5128260" y="6252210"/>
            <a:ext cx="597408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50" normalizeH="0" baseline="0" noProof="0" dirty="0">
                <a:ln>
                  <a:noFill/>
                </a:ln>
                <a:solidFill>
                  <a:prstClr val="black">
                    <a:lumMod val="65000"/>
                    <a:lumOff val="35000"/>
                  </a:prstClr>
                </a:solidFill>
                <a:effectLst/>
                <a:uLnTx/>
                <a:uFillTx/>
                <a:latin typeface="Arial" panose="020B0604020202020204"/>
                <a:ea typeface="華康細圓體" panose="020F0309000000000000" pitchFamily="49" charset="-120"/>
                <a:cs typeface="Times New Roman" panose="02020603050405020304" pitchFamily="18" charset="0"/>
              </a:rPr>
              <a:t>Source: </a:t>
            </a:r>
            <a:r>
              <a:rPr kumimoji="0" lang="en-US" altLang="zh-TW" sz="1000" b="0" i="0" u="none" strike="noStrike" kern="1200" cap="none" spc="50" normalizeH="0" baseline="0" noProof="0" dirty="0">
                <a:ln>
                  <a:noFill/>
                </a:ln>
                <a:solidFill>
                  <a:prstClr val="black">
                    <a:lumMod val="65000"/>
                    <a:lumOff val="35000"/>
                  </a:prstClr>
                </a:solidFill>
                <a:effectLst/>
                <a:uLnTx/>
                <a:uFillTx/>
                <a:latin typeface="Arial" panose="020B0604020202020204"/>
                <a:ea typeface="華康細圓體" panose="020F0309000000000000" pitchFamily="49" charset="-120"/>
                <a:cs typeface="+mn-cs"/>
              </a:rPr>
              <a:t>https://www.cs.swarthmore.edu/~kwebb/cs31/f18/memhierarchy/mem_hierarchy.html</a:t>
            </a:r>
            <a:endParaRPr kumimoji="0" lang="zh-TW" altLang="en-US" sz="1000" b="0" i="0" u="none" strike="noStrike" kern="1200" cap="none" spc="0" normalizeH="0" baseline="0" noProof="0" dirty="0">
              <a:ln>
                <a:noFill/>
              </a:ln>
              <a:solidFill>
                <a:prstClr val="black">
                  <a:lumMod val="65000"/>
                  <a:lumOff val="3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20536847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zh-TW" altLang="en-US" dirty="0"/>
              <a:t>變數與資料型別</a:t>
            </a:r>
            <a:endParaRPr lang="en-US" altLang="zh-TW" dirty="0"/>
          </a:p>
          <a:p>
            <a:pPr lvl="1"/>
            <a:r>
              <a:rPr lang="zh-TW" altLang="en-US" dirty="0">
                <a:solidFill>
                  <a:schemeClr val="accent2"/>
                </a:solidFill>
              </a:rPr>
              <a:t>變數與命名規則</a:t>
            </a:r>
            <a:endParaRPr lang="en-US" altLang="zh-TW" dirty="0">
              <a:solidFill>
                <a:schemeClr val="accent2"/>
              </a:solidFill>
            </a:endParaRPr>
          </a:p>
          <a:p>
            <a:pPr lvl="1"/>
            <a:r>
              <a:rPr lang="zh-TW" altLang="en-US" dirty="0"/>
              <a:t>數值、布林與字串資料型別</a:t>
            </a:r>
            <a:endParaRPr lang="en-US" altLang="zh-TW" dirty="0"/>
          </a:p>
          <a:p>
            <a:pPr lvl="1"/>
            <a:r>
              <a:rPr lang="zh-TW" altLang="en-US" dirty="0"/>
              <a:t>資料型別轉換</a:t>
            </a:r>
            <a:endParaRPr lang="en-US" altLang="zh-TW" dirty="0"/>
          </a:p>
          <a:p>
            <a:pPr lvl="1"/>
            <a:r>
              <a:rPr lang="zh-TW" altLang="en-US" dirty="0"/>
              <a:t>註解</a:t>
            </a:r>
            <a:endParaRPr lang="en-US" altLang="zh-TW"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345790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命名變數</a:t>
            </a:r>
            <a:r>
              <a:rPr lang="en-US" altLang="zh-TW" dirty="0"/>
              <a:t>(1/2)</a:t>
            </a:r>
            <a:endParaRPr lang="zh-TW" altLang="en-US" dirty="0"/>
          </a:p>
        </p:txBody>
      </p:sp>
      <p:sp>
        <p:nvSpPr>
          <p:cNvPr id="3" name="內容版面配置區 2"/>
          <p:cNvSpPr>
            <a:spLocks noGrp="1"/>
          </p:cNvSpPr>
          <p:nvPr>
            <p:ph idx="1"/>
          </p:nvPr>
        </p:nvSpPr>
        <p:spPr/>
        <p:txBody>
          <a:bodyPr>
            <a:normAutofit/>
          </a:bodyPr>
          <a:lstStyle/>
          <a:p>
            <a:r>
              <a:rPr lang="zh-TW" altLang="en-US" dirty="0"/>
              <a:t>為變數命名必須遵守一定規則，程式才能正常運作。</a:t>
            </a:r>
            <a:endParaRPr lang="en-US" altLang="zh-TW" dirty="0"/>
          </a:p>
          <a:p>
            <a:r>
              <a:rPr lang="en-US" altLang="zh-TW" dirty="0"/>
              <a:t>Python</a:t>
            </a:r>
            <a:r>
              <a:rPr lang="zh-TW" altLang="en-US" dirty="0"/>
              <a:t> 的變數命名一般有四條規則：</a:t>
            </a:r>
            <a:endParaRPr lang="en-US" altLang="zh-TW" dirty="0"/>
          </a:p>
          <a:p>
            <a:pPr marL="971550" lvl="1" indent="-514350">
              <a:buFont typeface="Wingdings" panose="05000000000000000000" pitchFamily="2" charset="2"/>
              <a:buAutoNum type="circleNumWdWhitePlain"/>
            </a:pPr>
            <a:r>
              <a:rPr lang="zh-TW" altLang="en-US" dirty="0"/>
              <a:t>可以使用大小寫</a:t>
            </a:r>
            <a:r>
              <a:rPr lang="zh-TW" altLang="en-US" dirty="0">
                <a:solidFill>
                  <a:schemeClr val="accent4"/>
                </a:solidFill>
              </a:rPr>
              <a:t>英文字母</a:t>
            </a:r>
            <a:r>
              <a:rPr lang="zh-TW" altLang="en-US" dirty="0"/>
              <a:t>、</a:t>
            </a:r>
            <a:r>
              <a:rPr lang="zh-TW" altLang="en-US" dirty="0">
                <a:solidFill>
                  <a:schemeClr val="accent4"/>
                </a:solidFill>
              </a:rPr>
              <a:t>數字</a:t>
            </a:r>
            <a:r>
              <a:rPr lang="zh-TW" altLang="en-US" dirty="0"/>
              <a:t>及</a:t>
            </a:r>
            <a:r>
              <a:rPr lang="zh-TW" altLang="en-US" dirty="0">
                <a:solidFill>
                  <a:schemeClr val="accent4"/>
                </a:solidFill>
              </a:rPr>
              <a:t>底線</a:t>
            </a:r>
            <a:r>
              <a:rPr lang="en-US" altLang="zh-TW" dirty="0"/>
              <a:t>(_)</a:t>
            </a:r>
          </a:p>
          <a:p>
            <a:pPr lvl="2"/>
            <a:r>
              <a:rPr lang="zh-TW" altLang="en-US" dirty="0"/>
              <a:t>一些特殊字元（如</a:t>
            </a:r>
            <a:r>
              <a:rPr lang="en-US" altLang="zh-TW" dirty="0"/>
              <a:t>&amp;</a:t>
            </a:r>
            <a:r>
              <a:rPr lang="zh-TW" altLang="en-US" dirty="0"/>
              <a:t>、*等）不能使用</a:t>
            </a:r>
            <a:endParaRPr lang="en-US" altLang="zh-TW" dirty="0"/>
          </a:p>
          <a:p>
            <a:pPr lvl="2"/>
            <a:r>
              <a:rPr lang="en-US" altLang="zh-TW" dirty="0" err="1"/>
              <a:t>pokemon</a:t>
            </a:r>
            <a:r>
              <a:rPr lang="en-US" altLang="zh-TW" dirty="0"/>
              <a:t>-hp </a:t>
            </a:r>
            <a:r>
              <a:rPr lang="en-US" altLang="zh-TW" dirty="0">
                <a:sym typeface="Wingdings" panose="05000000000000000000" pitchFamily="2" charset="2"/>
              </a:rPr>
              <a:t> </a:t>
            </a:r>
          </a:p>
          <a:p>
            <a:pPr lvl="3"/>
            <a:endParaRPr lang="zh-TW" altLang="en-US" dirty="0"/>
          </a:p>
          <a:p>
            <a:pPr marL="971550" lvl="1" indent="-514350">
              <a:buFont typeface="Wingdings" panose="05000000000000000000" pitchFamily="2" charset="2"/>
              <a:buAutoNum type="circleNumWdWhitePlain" startAt="2"/>
            </a:pPr>
            <a:r>
              <a:rPr lang="zh-TW" altLang="en-US" dirty="0"/>
              <a:t>開頭不能為數字</a:t>
            </a:r>
            <a:endParaRPr lang="en-US" altLang="zh-TW" dirty="0"/>
          </a:p>
          <a:p>
            <a:pPr lvl="2"/>
            <a:r>
              <a:rPr lang="en-US" altLang="zh-TW" dirty="0"/>
              <a:t>7_11 </a:t>
            </a:r>
            <a:r>
              <a:rPr lang="en-US" altLang="zh-TW" dirty="0">
                <a:sym typeface="Wingdings" panose="05000000000000000000" pitchFamily="2" charset="2"/>
              </a:rPr>
              <a:t> </a:t>
            </a:r>
          </a:p>
          <a:p>
            <a:pPr lvl="2"/>
            <a:r>
              <a:rPr lang="en-US" altLang="zh-TW" dirty="0">
                <a:sym typeface="Wingdings" panose="05000000000000000000" pitchFamily="2" charset="2"/>
              </a:rPr>
              <a:t>_11  </a:t>
            </a:r>
            <a:endParaRPr lang="zh-TW" altLang="en-US"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239905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命名變數</a:t>
            </a:r>
            <a:r>
              <a:rPr lang="en-US" altLang="zh-TW" dirty="0"/>
              <a:t>(2/2)</a:t>
            </a:r>
            <a:endParaRPr lang="zh-TW" altLang="en-US" dirty="0"/>
          </a:p>
        </p:txBody>
      </p:sp>
      <p:sp>
        <p:nvSpPr>
          <p:cNvPr id="3" name="內容版面配置區 2"/>
          <p:cNvSpPr>
            <a:spLocks noGrp="1"/>
          </p:cNvSpPr>
          <p:nvPr>
            <p:ph idx="1"/>
          </p:nvPr>
        </p:nvSpPr>
        <p:spPr/>
        <p:txBody>
          <a:bodyPr>
            <a:normAutofit/>
          </a:bodyPr>
          <a:lstStyle/>
          <a:p>
            <a:r>
              <a:rPr lang="zh-TW" altLang="en-US" dirty="0"/>
              <a:t>為變數命名必須遵守一定規則，程式才能正常運作。</a:t>
            </a:r>
            <a:endParaRPr lang="en-US" altLang="zh-TW" dirty="0"/>
          </a:p>
          <a:p>
            <a:r>
              <a:rPr lang="en-US" altLang="zh-TW" dirty="0"/>
              <a:t>Python</a:t>
            </a:r>
            <a:r>
              <a:rPr lang="zh-TW" altLang="en-US" dirty="0"/>
              <a:t> 的變數命名一般有四條規則：</a:t>
            </a:r>
            <a:endParaRPr lang="en-US" altLang="zh-TW" dirty="0"/>
          </a:p>
          <a:p>
            <a:pPr marL="971550" lvl="1" indent="-514350">
              <a:buFont typeface="Wingdings" panose="05000000000000000000" pitchFamily="2" charset="2"/>
              <a:buAutoNum type="circleNumWdWhitePlain" startAt="3"/>
            </a:pPr>
            <a:r>
              <a:rPr lang="zh-TW" altLang="en-US" dirty="0"/>
              <a:t>英文字母</a:t>
            </a:r>
            <a:r>
              <a:rPr lang="zh-TW" altLang="en-US" dirty="0">
                <a:solidFill>
                  <a:schemeClr val="accent4"/>
                </a:solidFill>
              </a:rPr>
              <a:t>大小寫</a:t>
            </a:r>
            <a:r>
              <a:rPr lang="zh-TW" altLang="en-US" dirty="0"/>
              <a:t>視為</a:t>
            </a:r>
            <a:r>
              <a:rPr lang="zh-TW" altLang="en-US" dirty="0">
                <a:solidFill>
                  <a:schemeClr val="accent4"/>
                </a:solidFill>
              </a:rPr>
              <a:t>不同</a:t>
            </a:r>
            <a:r>
              <a:rPr lang="zh-TW" altLang="en-US" dirty="0"/>
              <a:t>變數名稱</a:t>
            </a:r>
            <a:endParaRPr lang="en-US" altLang="zh-TW" dirty="0"/>
          </a:p>
          <a:p>
            <a:pPr lvl="2"/>
            <a:r>
              <a:rPr lang="en-US" altLang="zh-TW" dirty="0"/>
              <a:t>HP </a:t>
            </a:r>
            <a:r>
              <a:rPr lang="zh-TW" altLang="en-US" dirty="0"/>
              <a:t>與 </a:t>
            </a:r>
            <a:r>
              <a:rPr lang="en-US" altLang="zh-TW" dirty="0"/>
              <a:t>hp </a:t>
            </a:r>
            <a:r>
              <a:rPr lang="zh-TW" altLang="en-US" dirty="0"/>
              <a:t>為不同變數</a:t>
            </a:r>
            <a:r>
              <a:rPr lang="en-US" altLang="zh-TW" dirty="0"/>
              <a:t> </a:t>
            </a:r>
            <a:endParaRPr lang="en-US" altLang="zh-TW" dirty="0">
              <a:sym typeface="Wingdings" panose="05000000000000000000" pitchFamily="2" charset="2"/>
            </a:endParaRPr>
          </a:p>
          <a:p>
            <a:pPr lvl="2"/>
            <a:endParaRPr lang="zh-TW" altLang="en-US" dirty="0"/>
          </a:p>
          <a:p>
            <a:pPr marL="971550" lvl="1" indent="-514350">
              <a:buFont typeface="Wingdings" panose="05000000000000000000" pitchFamily="2" charset="2"/>
              <a:buAutoNum type="circleNumWdWhitePlain" startAt="4"/>
            </a:pPr>
            <a:r>
              <a:rPr lang="zh-TW" altLang="en-US" dirty="0"/>
              <a:t>不能使用 </a:t>
            </a:r>
            <a:r>
              <a:rPr lang="en-US" altLang="zh-TW" dirty="0"/>
              <a:t>Python </a:t>
            </a:r>
            <a:r>
              <a:rPr lang="zh-TW" altLang="en-US" dirty="0"/>
              <a:t>的</a:t>
            </a:r>
            <a:r>
              <a:rPr lang="zh-TW" altLang="en-US" dirty="0">
                <a:solidFill>
                  <a:schemeClr val="accent4"/>
                </a:solidFill>
              </a:rPr>
              <a:t>保留字</a:t>
            </a:r>
            <a:r>
              <a:rPr lang="en-US" altLang="zh-TW" dirty="0">
                <a:solidFill>
                  <a:schemeClr val="accent4"/>
                </a:solidFill>
              </a:rPr>
              <a:t>(reserved word)</a:t>
            </a:r>
          </a:p>
          <a:p>
            <a:pPr lvl="2"/>
            <a:r>
              <a:rPr lang="zh-TW" altLang="en-US" dirty="0"/>
              <a:t>也稱為</a:t>
            </a:r>
            <a:r>
              <a:rPr lang="zh-TW" altLang="en-US" dirty="0">
                <a:solidFill>
                  <a:schemeClr val="accent4"/>
                </a:solidFill>
              </a:rPr>
              <a:t>關鍵字</a:t>
            </a:r>
            <a:r>
              <a:rPr lang="en-US" altLang="zh-TW" dirty="0">
                <a:solidFill>
                  <a:schemeClr val="accent4"/>
                </a:solidFill>
              </a:rPr>
              <a:t>(keyword)</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05709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8E787-512F-4769-92F4-6D40490B1729}"/>
              </a:ext>
            </a:extLst>
          </p:cNvPr>
          <p:cNvSpPr>
            <a:spLocks noGrp="1"/>
          </p:cNvSpPr>
          <p:nvPr>
            <p:ph type="title"/>
          </p:nvPr>
        </p:nvSpPr>
        <p:spPr/>
        <p:txBody>
          <a:bodyPr/>
          <a:lstStyle/>
          <a:p>
            <a:r>
              <a:rPr lang="en-US" altLang="zh-TW" dirty="0"/>
              <a:t>Python </a:t>
            </a:r>
            <a:r>
              <a:rPr lang="zh-TW" altLang="en-US" dirty="0"/>
              <a:t>常見的保留字</a:t>
            </a:r>
          </a:p>
        </p:txBody>
      </p:sp>
      <p:sp>
        <p:nvSpPr>
          <p:cNvPr id="4" name="投影片編號版面配置區 3">
            <a:extLst>
              <a:ext uri="{FF2B5EF4-FFF2-40B4-BE49-F238E27FC236}">
                <a16:creationId xmlns:a16="http://schemas.microsoft.com/office/drawing/2014/main" id="{0A0825EF-A1BD-41B4-95BA-BB31D99A5B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graphicFrame>
        <p:nvGraphicFramePr>
          <p:cNvPr id="6" name="表格 6">
            <a:extLst>
              <a:ext uri="{FF2B5EF4-FFF2-40B4-BE49-F238E27FC236}">
                <a16:creationId xmlns:a16="http://schemas.microsoft.com/office/drawing/2014/main" id="{10235154-D6D4-45A2-A1F8-A8FF1AF60DBC}"/>
              </a:ext>
            </a:extLst>
          </p:cNvPr>
          <p:cNvGraphicFramePr>
            <a:graphicFrameLocks noGrp="1"/>
          </p:cNvGraphicFramePr>
          <p:nvPr/>
        </p:nvGraphicFramePr>
        <p:xfrm>
          <a:off x="2129222" y="2026920"/>
          <a:ext cx="7933555" cy="4521023"/>
        </p:xfrm>
        <a:graphic>
          <a:graphicData uri="http://schemas.openxmlformats.org/drawingml/2006/table">
            <a:tbl>
              <a:tblPr>
                <a:tableStyleId>{5940675A-B579-460E-94D1-54222C63F5DA}</a:tableStyleId>
              </a:tblPr>
              <a:tblGrid>
                <a:gridCol w="1586711">
                  <a:extLst>
                    <a:ext uri="{9D8B030D-6E8A-4147-A177-3AD203B41FA5}">
                      <a16:colId xmlns:a16="http://schemas.microsoft.com/office/drawing/2014/main" val="2439835204"/>
                    </a:ext>
                  </a:extLst>
                </a:gridCol>
                <a:gridCol w="1586711">
                  <a:extLst>
                    <a:ext uri="{9D8B030D-6E8A-4147-A177-3AD203B41FA5}">
                      <a16:colId xmlns:a16="http://schemas.microsoft.com/office/drawing/2014/main" val="721730060"/>
                    </a:ext>
                  </a:extLst>
                </a:gridCol>
                <a:gridCol w="1586711">
                  <a:extLst>
                    <a:ext uri="{9D8B030D-6E8A-4147-A177-3AD203B41FA5}">
                      <a16:colId xmlns:a16="http://schemas.microsoft.com/office/drawing/2014/main" val="4190451058"/>
                    </a:ext>
                  </a:extLst>
                </a:gridCol>
                <a:gridCol w="1586711">
                  <a:extLst>
                    <a:ext uri="{9D8B030D-6E8A-4147-A177-3AD203B41FA5}">
                      <a16:colId xmlns:a16="http://schemas.microsoft.com/office/drawing/2014/main" val="1380411576"/>
                    </a:ext>
                  </a:extLst>
                </a:gridCol>
                <a:gridCol w="1586711">
                  <a:extLst>
                    <a:ext uri="{9D8B030D-6E8A-4147-A177-3AD203B41FA5}">
                      <a16:colId xmlns:a16="http://schemas.microsoft.com/office/drawing/2014/main" val="3010076442"/>
                    </a:ext>
                  </a:extLst>
                </a:gridCol>
              </a:tblGrid>
              <a:tr h="493326">
                <a:tc>
                  <a:txBody>
                    <a:bodyPr/>
                    <a:lstStyle/>
                    <a:p>
                      <a:pPr marL="36195" marR="36195" algn="ctr">
                        <a:lnSpc>
                          <a:spcPct val="100000"/>
                        </a:lnSpc>
                        <a:spcBef>
                          <a:spcPts val="400"/>
                        </a:spcBef>
                        <a:spcAft>
                          <a:spcPts val="400"/>
                        </a:spcAft>
                      </a:pPr>
                      <a:r>
                        <a:rPr lang="en-US" sz="2600" kern="100" spc="30" dirty="0">
                          <a:solidFill>
                            <a:srgbClr val="000000"/>
                          </a:solidFill>
                          <a:effectLst/>
                          <a:latin typeface="+mn-lt"/>
                          <a:ea typeface="華康中圓體"/>
                          <a:cs typeface="Arial" panose="020B0604020202020204" pitchFamily="34" charset="0"/>
                        </a:rPr>
                        <a:t>and</a:t>
                      </a:r>
                      <a:endParaRPr lang="zh-TW" sz="2600" kern="100" spc="30" dirty="0">
                        <a:solidFill>
                          <a:srgbClr val="000000"/>
                        </a:solidFill>
                        <a:effectLst/>
                        <a:latin typeface="+mn-lt"/>
                        <a:ea typeface="華康中圓體"/>
                        <a:cs typeface="Arial" panose="020B0604020202020204" pitchFamily="34" charset="0"/>
                      </a:endParaRPr>
                    </a:p>
                  </a:txBody>
                  <a:tcPr marL="0" marR="0" marT="0" marB="0" anchor="ctr"/>
                </a:tc>
                <a:tc>
                  <a:txBody>
                    <a:bodyPr/>
                    <a:lstStyle/>
                    <a:p>
                      <a:pPr marL="36195" marR="36195" algn="ctr">
                        <a:lnSpc>
                          <a:spcPct val="100000"/>
                        </a:lnSpc>
                        <a:spcBef>
                          <a:spcPts val="400"/>
                        </a:spcBef>
                        <a:spcAft>
                          <a:spcPts val="400"/>
                        </a:spcAft>
                      </a:pPr>
                      <a:r>
                        <a:rPr lang="en-US" sz="2600" kern="100" spc="30" dirty="0">
                          <a:solidFill>
                            <a:srgbClr val="000000"/>
                          </a:solidFill>
                          <a:effectLst/>
                          <a:latin typeface="+mn-lt"/>
                          <a:ea typeface="華康中圓體"/>
                          <a:cs typeface="Arial" panose="020B0604020202020204" pitchFamily="34" charset="0"/>
                        </a:rPr>
                        <a:t>def</a:t>
                      </a:r>
                      <a:endParaRPr lang="zh-TW" sz="2600" kern="100" spc="30" dirty="0">
                        <a:solidFill>
                          <a:srgbClr val="000000"/>
                        </a:solidFill>
                        <a:effectLst/>
                        <a:latin typeface="+mn-lt"/>
                        <a:ea typeface="華康中圓體"/>
                        <a:cs typeface="Arial" panose="020B0604020202020204" pitchFamily="34" charset="0"/>
                      </a:endParaRPr>
                    </a:p>
                  </a:txBody>
                  <a:tcPr marL="0" marR="0" marT="0" marB="0" anchor="ctr"/>
                </a:tc>
                <a:tc>
                  <a:txBody>
                    <a:bodyPr/>
                    <a:lstStyle/>
                    <a:p>
                      <a:pPr marL="36195" marR="36195" algn="ctr">
                        <a:lnSpc>
                          <a:spcPct val="100000"/>
                        </a:lnSpc>
                        <a:spcBef>
                          <a:spcPts val="400"/>
                        </a:spcBef>
                        <a:spcAft>
                          <a:spcPts val="400"/>
                        </a:spcAft>
                      </a:pPr>
                      <a:r>
                        <a:rPr lang="en-US" sz="2600" kern="100" spc="30">
                          <a:solidFill>
                            <a:srgbClr val="000000"/>
                          </a:solidFill>
                          <a:effectLst/>
                          <a:latin typeface="+mn-lt"/>
                          <a:ea typeface="華康中圓體"/>
                          <a:cs typeface="Arial" panose="020B0604020202020204" pitchFamily="34" charset="0"/>
                        </a:rPr>
                        <a:t>global</a:t>
                      </a:r>
                      <a:endParaRPr lang="zh-TW" sz="2600" kern="100" spc="30">
                        <a:solidFill>
                          <a:srgbClr val="000000"/>
                        </a:solidFill>
                        <a:effectLst/>
                        <a:latin typeface="+mn-lt"/>
                        <a:ea typeface="華康中圓體"/>
                        <a:cs typeface="Arial" panose="020B0604020202020204" pitchFamily="34" charset="0"/>
                      </a:endParaRPr>
                    </a:p>
                  </a:txBody>
                  <a:tcPr marL="0" marR="0" marT="0" marB="0" anchor="ctr"/>
                </a:tc>
                <a:tc>
                  <a:txBody>
                    <a:bodyPr/>
                    <a:lstStyle/>
                    <a:p>
                      <a:pPr marL="36195" marR="36195" algn="ctr">
                        <a:lnSpc>
                          <a:spcPct val="100000"/>
                        </a:lnSpc>
                        <a:spcBef>
                          <a:spcPts val="400"/>
                        </a:spcBef>
                        <a:spcAft>
                          <a:spcPts val="400"/>
                        </a:spcAft>
                      </a:pPr>
                      <a:r>
                        <a:rPr lang="en-US" sz="2600" kern="100" spc="30">
                          <a:solidFill>
                            <a:srgbClr val="000000"/>
                          </a:solidFill>
                          <a:effectLst/>
                          <a:latin typeface="+mn-lt"/>
                          <a:ea typeface="華康中圓體"/>
                          <a:cs typeface="Arial" panose="020B0604020202020204" pitchFamily="34" charset="0"/>
                        </a:rPr>
                        <a:t>or</a:t>
                      </a:r>
                      <a:endParaRPr lang="zh-TW" sz="2600" kern="100" spc="30">
                        <a:solidFill>
                          <a:srgbClr val="000000"/>
                        </a:solidFill>
                        <a:effectLst/>
                        <a:latin typeface="+mn-lt"/>
                        <a:ea typeface="華康中圓體"/>
                        <a:cs typeface="Arial" panose="020B0604020202020204" pitchFamily="34" charset="0"/>
                      </a:endParaRPr>
                    </a:p>
                  </a:txBody>
                  <a:tcPr marL="0" marR="0" marT="0" marB="0" anchor="ctr"/>
                </a:tc>
                <a:tc>
                  <a:txBody>
                    <a:bodyPr/>
                    <a:lstStyle/>
                    <a:p>
                      <a:pPr marL="36195" marR="36195" algn="ctr">
                        <a:lnSpc>
                          <a:spcPct val="100000"/>
                        </a:lnSpc>
                        <a:spcBef>
                          <a:spcPts val="400"/>
                        </a:spcBef>
                        <a:spcAft>
                          <a:spcPts val="400"/>
                        </a:spcAft>
                      </a:pPr>
                      <a:r>
                        <a:rPr lang="en-US" sz="2600" kern="100" spc="30">
                          <a:solidFill>
                            <a:srgbClr val="000000"/>
                          </a:solidFill>
                          <a:effectLst/>
                          <a:latin typeface="+mn-lt"/>
                          <a:ea typeface="華康中圓體"/>
                          <a:cs typeface="Arial" panose="020B0604020202020204" pitchFamily="34" charset="0"/>
                        </a:rPr>
                        <a:t>False</a:t>
                      </a:r>
                      <a:endParaRPr lang="zh-TW" sz="2600" kern="100" spc="30">
                        <a:solidFill>
                          <a:srgbClr val="000000"/>
                        </a:solidFill>
                        <a:effectLst/>
                        <a:latin typeface="+mn-lt"/>
                        <a:ea typeface="華康中圓體"/>
                        <a:cs typeface="Arial" panose="020B0604020202020204" pitchFamily="34" charset="0"/>
                      </a:endParaRPr>
                    </a:p>
                  </a:txBody>
                  <a:tcPr marL="0" marR="0" marT="0" marB="0" anchor="ctr"/>
                </a:tc>
                <a:extLst>
                  <a:ext uri="{0D108BD9-81ED-4DB2-BD59-A6C34878D82A}">
                    <a16:rowId xmlns:a16="http://schemas.microsoft.com/office/drawing/2014/main" val="4160395648"/>
                  </a:ext>
                </a:extLst>
              </a:tr>
              <a:tr h="493326">
                <a:tc>
                  <a:txBody>
                    <a:bodyPr/>
                    <a:lstStyle/>
                    <a:p>
                      <a:pPr marL="36195" marR="36195" algn="ctr">
                        <a:lnSpc>
                          <a:spcPct val="100000"/>
                        </a:lnSpc>
                        <a:spcBef>
                          <a:spcPts val="400"/>
                        </a:spcBef>
                        <a:spcAft>
                          <a:spcPts val="400"/>
                        </a:spcAft>
                      </a:pPr>
                      <a:r>
                        <a:rPr lang="en-US" sz="2600" kern="100" spc="50" dirty="0">
                          <a:effectLst/>
                          <a:latin typeface="+mn-lt"/>
                          <a:ea typeface="華康細圓體"/>
                        </a:rPr>
                        <a:t>as</a:t>
                      </a:r>
                      <a:endParaRPr lang="zh-TW" sz="2600" kern="100" spc="50" dirty="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dirty="0">
                          <a:effectLst/>
                          <a:latin typeface="+mn-lt"/>
                          <a:ea typeface="華康細圓體"/>
                        </a:rPr>
                        <a:t>del</a:t>
                      </a:r>
                      <a:endParaRPr lang="zh-TW" sz="2600" kern="100" spc="50" dirty="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if</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pass</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True</a:t>
                      </a:r>
                      <a:endParaRPr lang="zh-TW" sz="2600" kern="100" spc="50">
                        <a:effectLst/>
                        <a:latin typeface="+mn-lt"/>
                        <a:ea typeface="華康細圓體"/>
                      </a:endParaRPr>
                    </a:p>
                  </a:txBody>
                  <a:tcPr marL="0" marR="0" marT="0" marB="0" anchor="ctr"/>
                </a:tc>
                <a:extLst>
                  <a:ext uri="{0D108BD9-81ED-4DB2-BD59-A6C34878D82A}">
                    <a16:rowId xmlns:a16="http://schemas.microsoft.com/office/drawing/2014/main" val="2601882817"/>
                  </a:ext>
                </a:extLst>
              </a:tr>
              <a:tr h="493326">
                <a:tc>
                  <a:txBody>
                    <a:bodyPr/>
                    <a:lstStyle/>
                    <a:p>
                      <a:pPr marL="36195" marR="36195" algn="ctr">
                        <a:lnSpc>
                          <a:spcPct val="100000"/>
                        </a:lnSpc>
                        <a:spcBef>
                          <a:spcPts val="400"/>
                        </a:spcBef>
                        <a:spcAft>
                          <a:spcPts val="400"/>
                        </a:spcAft>
                      </a:pPr>
                      <a:r>
                        <a:rPr lang="en-US" sz="2600" kern="100" spc="50">
                          <a:effectLst/>
                          <a:latin typeface="+mn-lt"/>
                          <a:ea typeface="華康細圓體"/>
                        </a:rPr>
                        <a:t>assert</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elif</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import</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raise</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dirty="0">
                          <a:effectLst/>
                          <a:latin typeface="+mn-lt"/>
                          <a:ea typeface="華康細圓體"/>
                        </a:rPr>
                        <a:t>None</a:t>
                      </a:r>
                      <a:endParaRPr lang="zh-TW" sz="2600" kern="100" spc="50" dirty="0">
                        <a:effectLst/>
                        <a:latin typeface="+mn-lt"/>
                        <a:ea typeface="華康細圓體"/>
                      </a:endParaRPr>
                    </a:p>
                  </a:txBody>
                  <a:tcPr marL="0" marR="0" marT="0" marB="0" anchor="ctr"/>
                </a:tc>
                <a:extLst>
                  <a:ext uri="{0D108BD9-81ED-4DB2-BD59-A6C34878D82A}">
                    <a16:rowId xmlns:a16="http://schemas.microsoft.com/office/drawing/2014/main" val="2674522294"/>
                  </a:ext>
                </a:extLst>
              </a:tr>
              <a:tr h="608209">
                <a:tc>
                  <a:txBody>
                    <a:bodyPr/>
                    <a:lstStyle/>
                    <a:p>
                      <a:pPr marL="36195" marR="36195" algn="ctr">
                        <a:lnSpc>
                          <a:spcPct val="100000"/>
                        </a:lnSpc>
                        <a:spcBef>
                          <a:spcPts val="400"/>
                        </a:spcBef>
                        <a:spcAft>
                          <a:spcPts val="400"/>
                        </a:spcAft>
                      </a:pPr>
                      <a:r>
                        <a:rPr lang="en-US" sz="2600" kern="100" spc="50" dirty="0">
                          <a:effectLst/>
                          <a:latin typeface="+mn-lt"/>
                          <a:ea typeface="華康細圓體"/>
                        </a:rPr>
                        <a:t>async</a:t>
                      </a:r>
                      <a:endParaRPr lang="zh-TW" sz="2600" kern="100" spc="50" dirty="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else</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in</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return</a:t>
                      </a:r>
                      <a:endParaRPr lang="zh-TW" sz="2600" kern="100" spc="50">
                        <a:effectLst/>
                        <a:latin typeface="+mn-lt"/>
                        <a:ea typeface="華康細圓體"/>
                      </a:endParaRPr>
                    </a:p>
                  </a:txBody>
                  <a:tcPr marL="0" marR="0" marT="0" marB="0" anchor="ctr"/>
                </a:tc>
                <a:tc rowSpan="5">
                  <a:txBody>
                    <a:bodyPr/>
                    <a:lstStyle/>
                    <a:p>
                      <a:pPr>
                        <a:lnSpc>
                          <a:spcPct val="100000"/>
                        </a:lnSpc>
                      </a:pPr>
                      <a:endParaRPr lang="zh-TW" altLang="en-US" sz="2600" dirty="0">
                        <a:latin typeface="+mn-lt"/>
                      </a:endParaRPr>
                    </a:p>
                  </a:txBody>
                  <a:tcPr anchor="ctr"/>
                </a:tc>
                <a:extLst>
                  <a:ext uri="{0D108BD9-81ED-4DB2-BD59-A6C34878D82A}">
                    <a16:rowId xmlns:a16="http://schemas.microsoft.com/office/drawing/2014/main" val="1386424511"/>
                  </a:ext>
                </a:extLst>
              </a:tr>
              <a:tr h="608209">
                <a:tc>
                  <a:txBody>
                    <a:bodyPr/>
                    <a:lstStyle/>
                    <a:p>
                      <a:pPr marL="36195" marR="36195" algn="ctr">
                        <a:lnSpc>
                          <a:spcPct val="100000"/>
                        </a:lnSpc>
                        <a:spcBef>
                          <a:spcPts val="400"/>
                        </a:spcBef>
                        <a:spcAft>
                          <a:spcPts val="400"/>
                        </a:spcAft>
                      </a:pPr>
                      <a:r>
                        <a:rPr lang="en-US" sz="2600" kern="100" spc="50">
                          <a:effectLst/>
                          <a:latin typeface="+mn-lt"/>
                          <a:ea typeface="華康細圓體"/>
                        </a:rPr>
                        <a:t>await</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except</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is</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try</a:t>
                      </a:r>
                      <a:endParaRPr lang="zh-TW" sz="2600" kern="100" spc="50">
                        <a:effectLst/>
                        <a:latin typeface="+mn-lt"/>
                        <a:ea typeface="華康細圓體"/>
                      </a:endParaRPr>
                    </a:p>
                  </a:txBody>
                  <a:tcPr marL="0" marR="0" marT="0" marB="0" anchor="ctr"/>
                </a:tc>
                <a:tc vMerge="1">
                  <a:txBody>
                    <a:bodyPr/>
                    <a:lstStyle/>
                    <a:p>
                      <a:pPr>
                        <a:lnSpc>
                          <a:spcPct val="100000"/>
                        </a:lnSpc>
                      </a:pPr>
                      <a:endParaRPr lang="zh-TW" altLang="en-US" sz="2600" dirty="0">
                        <a:latin typeface="+mn-lt"/>
                      </a:endParaRPr>
                    </a:p>
                  </a:txBody>
                  <a:tcPr anchor="ctr"/>
                </a:tc>
                <a:extLst>
                  <a:ext uri="{0D108BD9-81ED-4DB2-BD59-A6C34878D82A}">
                    <a16:rowId xmlns:a16="http://schemas.microsoft.com/office/drawing/2014/main" val="4225439237"/>
                  </a:ext>
                </a:extLst>
              </a:tr>
              <a:tr h="608209">
                <a:tc>
                  <a:txBody>
                    <a:bodyPr/>
                    <a:lstStyle/>
                    <a:p>
                      <a:pPr marL="36195" marR="36195" algn="ctr">
                        <a:lnSpc>
                          <a:spcPct val="100000"/>
                        </a:lnSpc>
                        <a:spcBef>
                          <a:spcPts val="400"/>
                        </a:spcBef>
                        <a:spcAft>
                          <a:spcPts val="400"/>
                        </a:spcAft>
                      </a:pPr>
                      <a:r>
                        <a:rPr lang="en-US" sz="2600" kern="100" spc="50">
                          <a:effectLst/>
                          <a:latin typeface="+mn-lt"/>
                          <a:ea typeface="華康細圓體"/>
                        </a:rPr>
                        <a:t>break</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finally</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dirty="0">
                          <a:effectLst/>
                          <a:latin typeface="+mn-lt"/>
                          <a:ea typeface="華康細圓體"/>
                        </a:rPr>
                        <a:t>lambda</a:t>
                      </a:r>
                      <a:endParaRPr lang="zh-TW" sz="2600" kern="100" spc="50" dirty="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while</a:t>
                      </a:r>
                      <a:endParaRPr lang="zh-TW" sz="2600" kern="100" spc="50">
                        <a:effectLst/>
                        <a:latin typeface="+mn-lt"/>
                        <a:ea typeface="華康細圓體"/>
                      </a:endParaRPr>
                    </a:p>
                  </a:txBody>
                  <a:tcPr marL="0" marR="0" marT="0" marB="0" anchor="ctr"/>
                </a:tc>
                <a:tc vMerge="1">
                  <a:txBody>
                    <a:bodyPr/>
                    <a:lstStyle/>
                    <a:p>
                      <a:pPr>
                        <a:lnSpc>
                          <a:spcPct val="100000"/>
                        </a:lnSpc>
                      </a:pPr>
                      <a:endParaRPr lang="zh-TW" altLang="en-US" sz="2600" dirty="0">
                        <a:latin typeface="+mn-lt"/>
                      </a:endParaRPr>
                    </a:p>
                  </a:txBody>
                  <a:tcPr anchor="ctr"/>
                </a:tc>
                <a:extLst>
                  <a:ext uri="{0D108BD9-81ED-4DB2-BD59-A6C34878D82A}">
                    <a16:rowId xmlns:a16="http://schemas.microsoft.com/office/drawing/2014/main" val="4156818278"/>
                  </a:ext>
                </a:extLst>
              </a:tr>
              <a:tr h="608209">
                <a:tc>
                  <a:txBody>
                    <a:bodyPr/>
                    <a:lstStyle/>
                    <a:p>
                      <a:pPr marL="36195" marR="36195" algn="ctr">
                        <a:lnSpc>
                          <a:spcPct val="100000"/>
                        </a:lnSpc>
                        <a:spcBef>
                          <a:spcPts val="400"/>
                        </a:spcBef>
                        <a:spcAft>
                          <a:spcPts val="400"/>
                        </a:spcAft>
                      </a:pPr>
                      <a:r>
                        <a:rPr lang="en-US" sz="2600" kern="100" spc="50">
                          <a:effectLst/>
                          <a:latin typeface="+mn-lt"/>
                          <a:ea typeface="華康細圓體"/>
                        </a:rPr>
                        <a:t>class</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for</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nonlocal</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with</a:t>
                      </a:r>
                      <a:endParaRPr lang="zh-TW" sz="2600" kern="100" spc="50">
                        <a:effectLst/>
                        <a:latin typeface="+mn-lt"/>
                        <a:ea typeface="華康細圓體"/>
                      </a:endParaRPr>
                    </a:p>
                  </a:txBody>
                  <a:tcPr marL="0" marR="0" marT="0" marB="0" anchor="ctr"/>
                </a:tc>
                <a:tc vMerge="1">
                  <a:txBody>
                    <a:bodyPr/>
                    <a:lstStyle/>
                    <a:p>
                      <a:pPr>
                        <a:lnSpc>
                          <a:spcPct val="100000"/>
                        </a:lnSpc>
                      </a:pPr>
                      <a:endParaRPr lang="zh-TW" altLang="en-US" sz="2600" dirty="0">
                        <a:latin typeface="+mn-lt"/>
                      </a:endParaRPr>
                    </a:p>
                  </a:txBody>
                  <a:tcPr anchor="ctr"/>
                </a:tc>
                <a:extLst>
                  <a:ext uri="{0D108BD9-81ED-4DB2-BD59-A6C34878D82A}">
                    <a16:rowId xmlns:a16="http://schemas.microsoft.com/office/drawing/2014/main" val="2321718208"/>
                  </a:ext>
                </a:extLst>
              </a:tr>
              <a:tr h="608209">
                <a:tc>
                  <a:txBody>
                    <a:bodyPr/>
                    <a:lstStyle/>
                    <a:p>
                      <a:pPr marL="36195" marR="36195" algn="ctr">
                        <a:lnSpc>
                          <a:spcPct val="100000"/>
                        </a:lnSpc>
                        <a:spcBef>
                          <a:spcPts val="400"/>
                        </a:spcBef>
                        <a:spcAft>
                          <a:spcPts val="400"/>
                        </a:spcAft>
                      </a:pPr>
                      <a:r>
                        <a:rPr lang="en-US" sz="2600" kern="100" spc="50">
                          <a:effectLst/>
                          <a:latin typeface="+mn-lt"/>
                          <a:ea typeface="華康細圓體"/>
                        </a:rPr>
                        <a:t>continue</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from</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a:effectLst/>
                          <a:latin typeface="+mn-lt"/>
                          <a:ea typeface="華康細圓體"/>
                        </a:rPr>
                        <a:t>not</a:t>
                      </a:r>
                      <a:endParaRPr lang="zh-TW" sz="2600" kern="100" spc="50">
                        <a:effectLst/>
                        <a:latin typeface="+mn-lt"/>
                        <a:ea typeface="華康細圓體"/>
                      </a:endParaRPr>
                    </a:p>
                  </a:txBody>
                  <a:tcPr marL="0" marR="0" marT="0" marB="0" anchor="ctr"/>
                </a:tc>
                <a:tc>
                  <a:txBody>
                    <a:bodyPr/>
                    <a:lstStyle/>
                    <a:p>
                      <a:pPr marL="36195" marR="36195" algn="ctr">
                        <a:lnSpc>
                          <a:spcPct val="100000"/>
                        </a:lnSpc>
                        <a:spcBef>
                          <a:spcPts val="400"/>
                        </a:spcBef>
                        <a:spcAft>
                          <a:spcPts val="400"/>
                        </a:spcAft>
                      </a:pPr>
                      <a:r>
                        <a:rPr lang="en-US" sz="2600" kern="100" spc="50" dirty="0">
                          <a:effectLst/>
                          <a:latin typeface="+mn-lt"/>
                          <a:ea typeface="華康細圓體"/>
                        </a:rPr>
                        <a:t>yield</a:t>
                      </a:r>
                      <a:endParaRPr lang="zh-TW" sz="2600" kern="100" spc="50" dirty="0">
                        <a:effectLst/>
                        <a:latin typeface="+mn-lt"/>
                        <a:ea typeface="華康細圓體"/>
                      </a:endParaRPr>
                    </a:p>
                  </a:txBody>
                  <a:tcPr marL="0" marR="0" marT="0" marB="0" anchor="ctr"/>
                </a:tc>
                <a:tc vMerge="1">
                  <a:txBody>
                    <a:bodyPr/>
                    <a:lstStyle/>
                    <a:p>
                      <a:pPr>
                        <a:lnSpc>
                          <a:spcPct val="100000"/>
                        </a:lnSpc>
                      </a:pPr>
                      <a:endParaRPr lang="zh-TW" altLang="en-US" sz="2600" dirty="0">
                        <a:latin typeface="+mn-lt"/>
                      </a:endParaRPr>
                    </a:p>
                  </a:txBody>
                  <a:tcPr anchor="ctr"/>
                </a:tc>
                <a:extLst>
                  <a:ext uri="{0D108BD9-81ED-4DB2-BD59-A6C34878D82A}">
                    <a16:rowId xmlns:a16="http://schemas.microsoft.com/office/drawing/2014/main" val="1921002798"/>
                  </a:ext>
                </a:extLst>
              </a:tr>
            </a:tbl>
          </a:graphicData>
        </a:graphic>
      </p:graphicFrame>
    </p:spTree>
    <p:extLst>
      <p:ext uri="{BB962C8B-B14F-4D97-AF65-F5344CB8AC3E}">
        <p14:creationId xmlns:p14="http://schemas.microsoft.com/office/powerpoint/2010/main" val="7674909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這些</a:t>
            </a:r>
            <a:r>
              <a:rPr lang="zh-TW" altLang="en-US" dirty="0">
                <a:solidFill>
                  <a:schemeClr val="accent4"/>
                </a:solidFill>
              </a:rPr>
              <a:t>變數名稱</a:t>
            </a:r>
            <a:r>
              <a:rPr lang="zh-TW" altLang="en-US" dirty="0"/>
              <a:t>合法嗎？</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6" name="矩形 5"/>
          <p:cNvSpPr/>
          <p:nvPr/>
        </p:nvSpPr>
        <p:spPr>
          <a:xfrm>
            <a:off x="2439050" y="3608852"/>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rPr>
              <a:t>7eleven</a:t>
            </a:r>
            <a:endParaRPr kumimoji="0" lang="zh-TW" altLang="en-US"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sp>
        <p:nvSpPr>
          <p:cNvPr id="7" name="矩形 6"/>
          <p:cNvSpPr/>
          <p:nvPr/>
        </p:nvSpPr>
        <p:spPr>
          <a:xfrm>
            <a:off x="6822852" y="3608852"/>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000" b="0" i="0" u="none" strike="noStrike" kern="1200" cap="none" spc="0" normalizeH="0" baseline="0" noProof="0" dirty="0" err="1">
                <a:ln>
                  <a:noFill/>
                </a:ln>
                <a:solidFill>
                  <a:prstClr val="black">
                    <a:lumMod val="85000"/>
                    <a:lumOff val="15000"/>
                  </a:prstClr>
                </a:solidFill>
                <a:effectLst/>
                <a:uLnTx/>
                <a:uFillTx/>
                <a:latin typeface="Arial" panose="020B0604020202020204"/>
                <a:ea typeface="微軟正黑體" panose="020B0604030504040204" pitchFamily="34" charset="-120"/>
                <a:cs typeface="+mn-cs"/>
              </a:rPr>
              <a:t>John&amp;Mary</a:t>
            </a:r>
            <a:endParaRPr kumimoji="0" lang="zh-TW" altLang="en-US"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sp>
        <p:nvSpPr>
          <p:cNvPr id="8" name="矩形 7"/>
          <p:cNvSpPr/>
          <p:nvPr/>
        </p:nvSpPr>
        <p:spPr>
          <a:xfrm>
            <a:off x="2439050" y="5343292"/>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rPr>
              <a:t>Angela baby</a:t>
            </a:r>
            <a:endParaRPr kumimoji="0" lang="zh-TW" altLang="en-US" sz="36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sp>
        <p:nvSpPr>
          <p:cNvPr id="9" name="矩形 8"/>
          <p:cNvSpPr/>
          <p:nvPr/>
        </p:nvSpPr>
        <p:spPr>
          <a:xfrm>
            <a:off x="6822852" y="5343292"/>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rPr>
              <a:t>and</a:t>
            </a:r>
            <a:endParaRPr kumimoji="0" lang="zh-TW" altLang="en-US"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sp>
        <p:nvSpPr>
          <p:cNvPr id="15" name="矩形 14">
            <a:extLst>
              <a:ext uri="{FF2B5EF4-FFF2-40B4-BE49-F238E27FC236}">
                <a16:creationId xmlns:a16="http://schemas.microsoft.com/office/drawing/2014/main" id="{EB41F785-052C-4BAC-ACB7-3613AA0F8226}"/>
              </a:ext>
            </a:extLst>
          </p:cNvPr>
          <p:cNvSpPr/>
          <p:nvPr/>
        </p:nvSpPr>
        <p:spPr>
          <a:xfrm>
            <a:off x="2439050" y="1909814"/>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3200" b="0" i="0" u="none" strike="noStrike" kern="1200" cap="none" spc="0" normalizeH="0" baseline="0" noProof="0" dirty="0" err="1">
                <a:ln>
                  <a:noFill/>
                </a:ln>
                <a:solidFill>
                  <a:prstClr val="black">
                    <a:lumMod val="85000"/>
                    <a:lumOff val="15000"/>
                  </a:prstClr>
                </a:solidFill>
                <a:effectLst/>
                <a:uLnTx/>
                <a:uFillTx/>
                <a:latin typeface="Arial" panose="020B0604020202020204"/>
                <a:ea typeface="微軟正黑體" panose="020B0604030504040204" pitchFamily="34" charset="-120"/>
                <a:cs typeface="+mn-cs"/>
              </a:rPr>
              <a:t>pokemon_hp</a:t>
            </a:r>
            <a:endParaRPr kumimoji="0" lang="zh-TW" altLang="en-US" sz="32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sp>
        <p:nvSpPr>
          <p:cNvPr id="16" name="矩形 15">
            <a:extLst>
              <a:ext uri="{FF2B5EF4-FFF2-40B4-BE49-F238E27FC236}">
                <a16:creationId xmlns:a16="http://schemas.microsoft.com/office/drawing/2014/main" id="{2C3C72BE-96A0-4B77-894C-7A7267A076F0}"/>
              </a:ext>
            </a:extLst>
          </p:cNvPr>
          <p:cNvSpPr/>
          <p:nvPr/>
        </p:nvSpPr>
        <p:spPr>
          <a:xfrm>
            <a:off x="6822852" y="1909814"/>
            <a:ext cx="3151414" cy="969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rPr>
              <a:t>true</a:t>
            </a:r>
            <a:endParaRPr kumimoji="0" lang="zh-TW" altLang="en-US" sz="4000" b="0" i="0" u="none" strike="noStrike" kern="1200" cap="none" spc="0" normalizeH="0" baseline="0" noProof="0" dirty="0">
              <a:ln>
                <a:noFill/>
              </a:ln>
              <a:solidFill>
                <a:prstClr val="black">
                  <a:lumMod val="85000"/>
                  <a:lumOff val="15000"/>
                </a:prstClr>
              </a:solidFill>
              <a:effectLst/>
              <a:uLnTx/>
              <a:uFillTx/>
              <a:latin typeface="Arial" panose="020B0604020202020204"/>
              <a:ea typeface="微軟正黑體" panose="020B0604030504040204" pitchFamily="34" charset="-120"/>
              <a:cs typeface="+mn-cs"/>
            </a:endParaRPr>
          </a:p>
        </p:txBody>
      </p:sp>
      <p:pic>
        <p:nvPicPr>
          <p:cNvPr id="21" name="內容版面配置區 6">
            <a:extLst>
              <a:ext uri="{FF2B5EF4-FFF2-40B4-BE49-F238E27FC236}">
                <a16:creationId xmlns:a16="http://schemas.microsoft.com/office/drawing/2014/main" id="{1EE86F63-37D1-4EDA-B80D-CE23188AB095}"/>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5243164" y="3567854"/>
            <a:ext cx="1031450" cy="1051034"/>
          </a:xfrm>
        </p:spPr>
      </p:pic>
      <p:pic>
        <p:nvPicPr>
          <p:cNvPr id="22" name="內容版面配置區 6">
            <a:extLst>
              <a:ext uri="{FF2B5EF4-FFF2-40B4-BE49-F238E27FC236}">
                <a16:creationId xmlns:a16="http://schemas.microsoft.com/office/drawing/2014/main" id="{7952E800-EE0E-4D26-837C-53C1E059706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43164" y="1868815"/>
            <a:ext cx="1031451" cy="1051035"/>
          </a:xfrm>
          <a:prstGeom prst="rect">
            <a:avLst/>
          </a:prstGeom>
        </p:spPr>
      </p:pic>
      <p:pic>
        <p:nvPicPr>
          <p:cNvPr id="23" name="內容版面配置區 6">
            <a:extLst>
              <a:ext uri="{FF2B5EF4-FFF2-40B4-BE49-F238E27FC236}">
                <a16:creationId xmlns:a16="http://schemas.microsoft.com/office/drawing/2014/main" id="{1FD13654-8950-48E6-83C0-1696D82541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626967" y="1868815"/>
            <a:ext cx="1031451" cy="1051035"/>
          </a:xfrm>
          <a:prstGeom prst="rect">
            <a:avLst/>
          </a:prstGeom>
        </p:spPr>
      </p:pic>
      <p:pic>
        <p:nvPicPr>
          <p:cNvPr id="24" name="內容版面配置區 6">
            <a:extLst>
              <a:ext uri="{FF2B5EF4-FFF2-40B4-BE49-F238E27FC236}">
                <a16:creationId xmlns:a16="http://schemas.microsoft.com/office/drawing/2014/main" id="{3A163B6F-CDCB-4C19-845F-6F437687565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626967" y="3567854"/>
            <a:ext cx="1031450" cy="1051034"/>
          </a:xfrm>
          <a:prstGeom prst="rect">
            <a:avLst/>
          </a:prstGeom>
        </p:spPr>
      </p:pic>
      <p:pic>
        <p:nvPicPr>
          <p:cNvPr id="25" name="內容版面配置區 6">
            <a:extLst>
              <a:ext uri="{FF2B5EF4-FFF2-40B4-BE49-F238E27FC236}">
                <a16:creationId xmlns:a16="http://schemas.microsoft.com/office/drawing/2014/main" id="{579B5696-9126-4641-A908-2B044F45437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243164" y="5343292"/>
            <a:ext cx="1031450" cy="1051034"/>
          </a:xfrm>
          <a:prstGeom prst="rect">
            <a:avLst/>
          </a:prstGeom>
        </p:spPr>
      </p:pic>
      <p:pic>
        <p:nvPicPr>
          <p:cNvPr id="26" name="內容版面配置區 6">
            <a:extLst>
              <a:ext uri="{FF2B5EF4-FFF2-40B4-BE49-F238E27FC236}">
                <a16:creationId xmlns:a16="http://schemas.microsoft.com/office/drawing/2014/main" id="{032916A2-4EB4-4A83-AE55-322DAFE0903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626967" y="5302294"/>
            <a:ext cx="1031450" cy="1051034"/>
          </a:xfrm>
          <a:prstGeom prst="rect">
            <a:avLst/>
          </a:prstGeom>
        </p:spPr>
      </p:pic>
    </p:spTree>
    <p:extLst>
      <p:ext uri="{BB962C8B-B14F-4D97-AF65-F5344CB8AC3E}">
        <p14:creationId xmlns:p14="http://schemas.microsoft.com/office/powerpoint/2010/main" val="92071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6"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特別注意</a:t>
            </a:r>
          </a:p>
        </p:txBody>
      </p:sp>
      <p:sp>
        <p:nvSpPr>
          <p:cNvPr id="3" name="內容版面配置區 2"/>
          <p:cNvSpPr>
            <a:spLocks noGrp="1"/>
          </p:cNvSpPr>
          <p:nvPr>
            <p:ph idx="1"/>
          </p:nvPr>
        </p:nvSpPr>
        <p:spPr/>
        <p:txBody>
          <a:bodyPr/>
          <a:lstStyle/>
          <a:p>
            <a:r>
              <a:rPr lang="en-US" altLang="zh-TW" dirty="0"/>
              <a:t>sum, max, min, </a:t>
            </a:r>
            <a:r>
              <a:rPr lang="en-US" altLang="zh-TW" dirty="0" err="1"/>
              <a:t>len</a:t>
            </a:r>
            <a:endParaRPr lang="en-US" altLang="zh-TW" dirty="0"/>
          </a:p>
          <a:p>
            <a:pPr lvl="1"/>
            <a:r>
              <a:rPr lang="zh-TW" altLang="en-US" dirty="0"/>
              <a:t>合法的變數名稱？</a:t>
            </a:r>
            <a:endParaRPr lang="en-US" altLang="zh-TW" dirty="0"/>
          </a:p>
          <a:p>
            <a:pPr marL="457200" lvl="1" indent="0">
              <a:buNone/>
            </a:pPr>
            <a:endParaRPr lang="en-US" altLang="zh-TW" dirty="0"/>
          </a:p>
          <a:p>
            <a:endParaRPr lang="en-US" altLang="zh-TW" dirty="0"/>
          </a:p>
          <a:p>
            <a:r>
              <a:rPr lang="zh-TW" altLang="en-US" dirty="0"/>
              <a:t>雖然合法，但</a:t>
            </a:r>
            <a:r>
              <a:rPr lang="zh-TW" altLang="en-US" sz="3600" b="1" dirty="0">
                <a:solidFill>
                  <a:schemeClr val="accent4"/>
                </a:solidFill>
              </a:rPr>
              <a:t>強烈不建議使用</a:t>
            </a:r>
            <a:endParaRPr lang="en-US" altLang="zh-TW" sz="3600" b="1" dirty="0">
              <a:solidFill>
                <a:schemeClr val="accent4"/>
              </a:solidFill>
            </a:endParaRPr>
          </a:p>
          <a:p>
            <a:pPr lvl="1"/>
            <a:r>
              <a:rPr lang="zh-TW" altLang="en-US" dirty="0"/>
              <a:t>因為和內建函式的名稱衝突</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5" name="圖片 4"/>
          <p:cNvPicPr>
            <a:picLocks noChangeAspect="1"/>
          </p:cNvPicPr>
          <p:nvPr/>
        </p:nvPicPr>
        <p:blipFill rotWithShape="1">
          <a:blip r:embed="rId2"/>
          <a:srcRect b="57460"/>
          <a:stretch/>
        </p:blipFill>
        <p:spPr>
          <a:xfrm>
            <a:off x="7611602" y="1994542"/>
            <a:ext cx="3885714" cy="773825"/>
          </a:xfrm>
          <a:prstGeom prst="rect">
            <a:avLst/>
          </a:prstGeom>
        </p:spPr>
      </p:pic>
      <p:grpSp>
        <p:nvGrpSpPr>
          <p:cNvPr id="8" name="群組 7"/>
          <p:cNvGrpSpPr/>
          <p:nvPr/>
        </p:nvGrpSpPr>
        <p:grpSpPr>
          <a:xfrm>
            <a:off x="6764357" y="2768367"/>
            <a:ext cx="5281439" cy="1803347"/>
            <a:chOff x="6656780" y="2768367"/>
            <a:chExt cx="5281439" cy="1803347"/>
          </a:xfrm>
        </p:grpSpPr>
        <p:pic>
          <p:nvPicPr>
            <p:cNvPr id="6" name="圖片 5"/>
            <p:cNvPicPr>
              <a:picLocks noChangeAspect="1"/>
            </p:cNvPicPr>
            <p:nvPr/>
          </p:nvPicPr>
          <p:blipFill>
            <a:blip r:embed="rId3"/>
            <a:stretch>
              <a:fillRect/>
            </a:stretch>
          </p:blipFill>
          <p:spPr>
            <a:xfrm>
              <a:off x="6656780" y="4070765"/>
              <a:ext cx="5281439" cy="500949"/>
            </a:xfrm>
            <a:prstGeom prst="rect">
              <a:avLst/>
            </a:prstGeom>
          </p:spPr>
        </p:pic>
        <p:pic>
          <p:nvPicPr>
            <p:cNvPr id="7" name="圖片 6"/>
            <p:cNvPicPr>
              <a:picLocks noChangeAspect="1"/>
            </p:cNvPicPr>
            <p:nvPr/>
          </p:nvPicPr>
          <p:blipFill rotWithShape="1">
            <a:blip r:embed="rId2"/>
            <a:srcRect t="39439"/>
            <a:stretch/>
          </p:blipFill>
          <p:spPr>
            <a:xfrm>
              <a:off x="7504025" y="2768367"/>
              <a:ext cx="3885714" cy="1101639"/>
            </a:xfrm>
            <a:prstGeom prst="rect">
              <a:avLst/>
            </a:prstGeom>
          </p:spPr>
        </p:pic>
      </p:grpSp>
    </p:spTree>
    <p:extLst>
      <p:ext uri="{BB962C8B-B14F-4D97-AF65-F5344CB8AC3E}">
        <p14:creationId xmlns:p14="http://schemas.microsoft.com/office/powerpoint/2010/main" val="39698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927851-5EEE-45D1-AE0B-22D2AAF9B664}"/>
              </a:ext>
            </a:extLst>
          </p:cNvPr>
          <p:cNvSpPr>
            <a:spLocks noGrp="1"/>
          </p:cNvSpPr>
          <p:nvPr>
            <p:ph type="title"/>
          </p:nvPr>
        </p:nvSpPr>
        <p:spPr/>
        <p:txBody>
          <a:bodyPr/>
          <a:lstStyle/>
          <a:p>
            <a:r>
              <a:rPr lang="zh-TW" altLang="en-US" dirty="0"/>
              <a:t>善用編輯器功能</a:t>
            </a:r>
          </a:p>
        </p:txBody>
      </p:sp>
      <p:sp>
        <p:nvSpPr>
          <p:cNvPr id="3" name="內容版面配置區 2">
            <a:extLst>
              <a:ext uri="{FF2B5EF4-FFF2-40B4-BE49-F238E27FC236}">
                <a16:creationId xmlns:a16="http://schemas.microsoft.com/office/drawing/2014/main" id="{17D952B5-610E-400D-8CBE-40E825682C78}"/>
              </a:ext>
            </a:extLst>
          </p:cNvPr>
          <p:cNvSpPr>
            <a:spLocks noGrp="1"/>
          </p:cNvSpPr>
          <p:nvPr>
            <p:ph idx="1"/>
          </p:nvPr>
        </p:nvSpPr>
        <p:spPr/>
        <p:txBody>
          <a:bodyPr/>
          <a:lstStyle/>
          <a:p>
            <a:r>
              <a:rPr lang="zh-TW" altLang="en-US" dirty="0"/>
              <a:t>語法突顯</a:t>
            </a:r>
            <a:r>
              <a:rPr lang="en-US" altLang="zh-TW" dirty="0"/>
              <a:t>(syntax highlighting)</a:t>
            </a:r>
            <a:r>
              <a:rPr lang="zh-TW" altLang="en-US" dirty="0"/>
              <a:t> </a:t>
            </a:r>
            <a:r>
              <a:rPr lang="en-US" altLang="zh-TW" dirty="0"/>
              <a:t>+</a:t>
            </a:r>
            <a:r>
              <a:rPr lang="zh-TW" altLang="en-US" dirty="0"/>
              <a:t> 自動完成</a:t>
            </a:r>
            <a:r>
              <a:rPr lang="en-US" altLang="zh-TW" dirty="0"/>
              <a:t>(auto-complete)</a:t>
            </a:r>
            <a:endParaRPr lang="zh-TW" altLang="en-US" dirty="0"/>
          </a:p>
        </p:txBody>
      </p:sp>
      <p:sp>
        <p:nvSpPr>
          <p:cNvPr id="4" name="投影片編號版面配置區 3">
            <a:extLst>
              <a:ext uri="{FF2B5EF4-FFF2-40B4-BE49-F238E27FC236}">
                <a16:creationId xmlns:a16="http://schemas.microsoft.com/office/drawing/2014/main" id="{BABDFF96-A137-46FD-90DF-0C1B60BCD5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B9EA68B0-CA40-4B18-9A9F-5A6B565D9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6131" y="2657279"/>
            <a:ext cx="4579738" cy="3533971"/>
          </a:xfrm>
          <a:prstGeom prst="rect">
            <a:avLst/>
          </a:prstGeom>
        </p:spPr>
      </p:pic>
    </p:spTree>
    <p:extLst>
      <p:ext uri="{BB962C8B-B14F-4D97-AF65-F5344CB8AC3E}">
        <p14:creationId xmlns:p14="http://schemas.microsoft.com/office/powerpoint/2010/main" val="42733247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18AAE4-F3A2-4797-926D-25629A10C78A}"/>
              </a:ext>
            </a:extLst>
          </p:cNvPr>
          <p:cNvSpPr>
            <a:spLocks noGrp="1"/>
          </p:cNvSpPr>
          <p:nvPr>
            <p:ph type="title"/>
          </p:nvPr>
        </p:nvSpPr>
        <p:spPr/>
        <p:txBody>
          <a:bodyPr/>
          <a:lstStyle/>
          <a:p>
            <a:r>
              <a:rPr lang="zh-TW" altLang="en-US" dirty="0"/>
              <a:t>支援 </a:t>
            </a:r>
            <a:r>
              <a:rPr lang="en-US" altLang="zh-TW" dirty="0"/>
              <a:t>Unicode</a:t>
            </a:r>
            <a:endParaRPr lang="zh-TW" altLang="en-US" dirty="0"/>
          </a:p>
        </p:txBody>
      </p:sp>
      <p:sp>
        <p:nvSpPr>
          <p:cNvPr id="3" name="內容版面配置區 2">
            <a:extLst>
              <a:ext uri="{FF2B5EF4-FFF2-40B4-BE49-F238E27FC236}">
                <a16:creationId xmlns:a16="http://schemas.microsoft.com/office/drawing/2014/main" id="{ACC9BAB5-F55D-4992-9D76-589EF39D9301}"/>
              </a:ext>
            </a:extLst>
          </p:cNvPr>
          <p:cNvSpPr>
            <a:spLocks noGrp="1"/>
          </p:cNvSpPr>
          <p:nvPr>
            <p:ph idx="1"/>
          </p:nvPr>
        </p:nvSpPr>
        <p:spPr>
          <a:xfrm>
            <a:off x="838200" y="2238703"/>
            <a:ext cx="10515600" cy="4019221"/>
          </a:xfrm>
        </p:spPr>
        <p:txBody>
          <a:bodyPr>
            <a:normAutofit/>
          </a:bodyPr>
          <a:lstStyle/>
          <a:p>
            <a:r>
              <a:rPr lang="zh-TW" altLang="en-US" dirty="0"/>
              <a:t>上面這條是 </a:t>
            </a:r>
            <a:r>
              <a:rPr lang="en-US" altLang="zh-TW" dirty="0"/>
              <a:t>Python 3.0 </a:t>
            </a:r>
            <a:r>
              <a:rPr lang="zh-TW" altLang="en-US" dirty="0"/>
              <a:t>之前的版本所遵循</a:t>
            </a:r>
            <a:endParaRPr lang="en-US" altLang="zh-TW" dirty="0"/>
          </a:p>
          <a:p>
            <a:pPr lvl="1"/>
            <a:r>
              <a:rPr lang="zh-TW" altLang="en-US" dirty="0"/>
              <a:t>官方在 </a:t>
            </a:r>
            <a:r>
              <a:rPr lang="en-US" altLang="zh-TW" dirty="0"/>
              <a:t>2007 </a:t>
            </a:r>
            <a:r>
              <a:rPr lang="zh-TW" altLang="en-US" dirty="0"/>
              <a:t>年設計 </a:t>
            </a:r>
            <a:r>
              <a:rPr lang="en-US" altLang="zh-TW" dirty="0"/>
              <a:t>3.0 </a:t>
            </a:r>
            <a:r>
              <a:rPr lang="zh-TW" altLang="en-US" dirty="0"/>
              <a:t>版本時增加對 </a:t>
            </a:r>
            <a:r>
              <a:rPr lang="en-US" altLang="zh-TW" dirty="0"/>
              <a:t>Unicode</a:t>
            </a:r>
            <a:r>
              <a:rPr lang="zh-TW" altLang="en-US" dirty="0"/>
              <a:t>（也稱為統一碼、萬國碼）的支援</a:t>
            </a:r>
            <a:endParaRPr lang="en-US" altLang="zh-TW" dirty="0"/>
          </a:p>
          <a:p>
            <a:pPr lvl="1"/>
            <a:endParaRPr lang="en-US" altLang="zh-TW" dirty="0"/>
          </a:p>
          <a:p>
            <a:pPr lvl="1"/>
            <a:endParaRPr lang="en-US" altLang="zh-TW" dirty="0"/>
          </a:p>
          <a:p>
            <a:pPr lvl="1"/>
            <a:endParaRPr lang="en-US" altLang="zh-TW" dirty="0"/>
          </a:p>
          <a:p>
            <a:pPr lvl="1"/>
            <a:r>
              <a:rPr lang="en-US" altLang="zh-TW" dirty="0"/>
              <a:t>Unicode </a:t>
            </a:r>
            <a:r>
              <a:rPr lang="zh-TW" altLang="en-US" dirty="0"/>
              <a:t>不僅支援中文，更編碼世界上大部分的文字系統。</a:t>
            </a:r>
          </a:p>
        </p:txBody>
      </p:sp>
      <p:sp>
        <p:nvSpPr>
          <p:cNvPr id="4" name="投影片編號版面配置區 3">
            <a:extLst>
              <a:ext uri="{FF2B5EF4-FFF2-40B4-BE49-F238E27FC236}">
                <a16:creationId xmlns:a16="http://schemas.microsoft.com/office/drawing/2014/main" id="{37404B97-E9D8-4BCF-8B84-4D56ABAA146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99F1DDD8-5911-4DE2-8C74-5CCA1AC28128}"/>
              </a:ext>
            </a:extLst>
          </p:cNvPr>
          <p:cNvPicPr>
            <a:picLocks noChangeAspect="1"/>
          </p:cNvPicPr>
          <p:nvPr/>
        </p:nvPicPr>
        <p:blipFill>
          <a:blip r:embed="rId2"/>
          <a:stretch>
            <a:fillRect/>
          </a:stretch>
        </p:blipFill>
        <p:spPr>
          <a:xfrm>
            <a:off x="5105400" y="666750"/>
            <a:ext cx="6526729" cy="1340726"/>
          </a:xfrm>
          <a:prstGeom prst="rect">
            <a:avLst/>
          </a:prstGeom>
          <a:ln w="12700">
            <a:solidFill>
              <a:srgbClr val="0070C0"/>
            </a:solidFill>
          </a:ln>
        </p:spPr>
      </p:pic>
      <p:pic>
        <p:nvPicPr>
          <p:cNvPr id="7" name="圖片 6">
            <a:extLst>
              <a:ext uri="{FF2B5EF4-FFF2-40B4-BE49-F238E27FC236}">
                <a16:creationId xmlns:a16="http://schemas.microsoft.com/office/drawing/2014/main" id="{DB3C3C1E-907F-457A-8F0E-9A1593D46C4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70564" y="3429000"/>
            <a:ext cx="4861565" cy="1564030"/>
          </a:xfrm>
          <a:prstGeom prst="rect">
            <a:avLst/>
          </a:prstGeom>
          <a:noFill/>
          <a:ln w="6350">
            <a:solidFill>
              <a:schemeClr val="tx1"/>
            </a:solidFill>
          </a:ln>
        </p:spPr>
      </p:pic>
    </p:spTree>
    <p:extLst>
      <p:ext uri="{BB962C8B-B14F-4D97-AF65-F5344CB8AC3E}">
        <p14:creationId xmlns:p14="http://schemas.microsoft.com/office/powerpoint/2010/main" val="354413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1587EA-B277-4A07-A5B9-A02E4DB79730}"/>
              </a:ext>
            </a:extLst>
          </p:cNvPr>
          <p:cNvSpPr>
            <a:spLocks noGrp="1"/>
          </p:cNvSpPr>
          <p:nvPr>
            <p:ph type="title"/>
          </p:nvPr>
        </p:nvSpPr>
        <p:spPr/>
        <p:txBody>
          <a:bodyPr/>
          <a:lstStyle/>
          <a:p>
            <a:r>
              <a:rPr lang="zh-TW" altLang="en-US" dirty="0"/>
              <a:t>範例</a:t>
            </a:r>
          </a:p>
        </p:txBody>
      </p:sp>
      <p:sp>
        <p:nvSpPr>
          <p:cNvPr id="4" name="投影片編號版面配置區 3">
            <a:extLst>
              <a:ext uri="{FF2B5EF4-FFF2-40B4-BE49-F238E27FC236}">
                <a16:creationId xmlns:a16="http://schemas.microsoft.com/office/drawing/2014/main" id="{3DF1E730-F7DC-4992-A616-E14E062D4B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9" name="內容版面配置區 8">
            <a:extLst>
              <a:ext uri="{FF2B5EF4-FFF2-40B4-BE49-F238E27FC236}">
                <a16:creationId xmlns:a16="http://schemas.microsoft.com/office/drawing/2014/main" id="{44E8DA03-A0CF-4597-8709-202B220AEDC9}"/>
              </a:ext>
            </a:extLst>
          </p:cNvPr>
          <p:cNvSpPr>
            <a:spLocks noGrp="1"/>
          </p:cNvSpPr>
          <p:nvPr>
            <p:ph idx="1"/>
          </p:nvPr>
        </p:nvSpPr>
        <p:spPr/>
        <p:txBody>
          <a:bodyPr/>
          <a:lstStyle/>
          <a:p>
            <a:r>
              <a:rPr lang="zh-TW" altLang="en-US" dirty="0"/>
              <a:t>仍然不建議使用中文為變數命名</a:t>
            </a:r>
            <a:endParaRPr lang="en-US" altLang="zh-TW" dirty="0"/>
          </a:p>
          <a:p>
            <a:pPr lvl="1"/>
            <a:r>
              <a:rPr lang="zh-TW" altLang="en-US" dirty="0"/>
              <a:t>除了輸入不便、降低程式可攜性</a:t>
            </a:r>
            <a:r>
              <a:rPr lang="en-US" altLang="zh-TW" dirty="0"/>
              <a:t>(portability)</a:t>
            </a:r>
            <a:r>
              <a:rPr lang="zh-TW" altLang="en-US" dirty="0"/>
              <a:t>之外，也讓非中文語系的人不易閱讀。</a:t>
            </a:r>
          </a:p>
        </p:txBody>
      </p:sp>
      <p:pic>
        <p:nvPicPr>
          <p:cNvPr id="13" name="圖片 12">
            <a:extLst>
              <a:ext uri="{FF2B5EF4-FFF2-40B4-BE49-F238E27FC236}">
                <a16:creationId xmlns:a16="http://schemas.microsoft.com/office/drawing/2014/main" id="{1C41E5A3-8501-41B2-9890-5EF80EC6821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50260" y="3634585"/>
            <a:ext cx="5291480" cy="2440394"/>
          </a:xfrm>
          <a:prstGeom prst="rect">
            <a:avLst/>
          </a:prstGeom>
          <a:noFill/>
          <a:ln>
            <a:noFill/>
          </a:ln>
        </p:spPr>
      </p:pic>
    </p:spTree>
    <p:extLst>
      <p:ext uri="{BB962C8B-B14F-4D97-AF65-F5344CB8AC3E}">
        <p14:creationId xmlns:p14="http://schemas.microsoft.com/office/powerpoint/2010/main" val="9737214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2F8E49-6DFA-46F7-8047-93D3C4EFC3B7}"/>
              </a:ext>
            </a:extLst>
          </p:cNvPr>
          <p:cNvSpPr>
            <a:spLocks noGrp="1"/>
          </p:cNvSpPr>
          <p:nvPr>
            <p:ph type="title"/>
          </p:nvPr>
        </p:nvSpPr>
        <p:spPr/>
        <p:txBody>
          <a:bodyPr/>
          <a:lstStyle/>
          <a:p>
            <a:r>
              <a:rPr lang="zh-TW" altLang="en-US" dirty="0"/>
              <a:t>命名習慣</a:t>
            </a:r>
            <a:r>
              <a:rPr lang="en-US" altLang="zh-TW" dirty="0"/>
              <a:t>(naming convention)</a:t>
            </a:r>
            <a:endParaRPr lang="zh-TW" altLang="en-US" dirty="0"/>
          </a:p>
        </p:txBody>
      </p:sp>
      <p:sp>
        <p:nvSpPr>
          <p:cNvPr id="3" name="內容版面配置區 2">
            <a:extLst>
              <a:ext uri="{FF2B5EF4-FFF2-40B4-BE49-F238E27FC236}">
                <a16:creationId xmlns:a16="http://schemas.microsoft.com/office/drawing/2014/main" id="{AB165661-424A-430A-A4EB-2FC2C7C3D058}"/>
              </a:ext>
            </a:extLst>
          </p:cNvPr>
          <p:cNvSpPr>
            <a:spLocks noGrp="1"/>
          </p:cNvSpPr>
          <p:nvPr>
            <p:ph idx="1"/>
          </p:nvPr>
        </p:nvSpPr>
        <p:spPr/>
        <p:txBody>
          <a:bodyPr/>
          <a:lstStyle/>
          <a:p>
            <a:r>
              <a:rPr lang="zh-TW" altLang="en-US" dirty="0"/>
              <a:t>對電腦來說，變數名稱的好壞並不重要，真正有影響的是</a:t>
            </a:r>
            <a:r>
              <a:rPr lang="zh-TW" altLang="en-US" dirty="0">
                <a:solidFill>
                  <a:schemeClr val="accent4"/>
                </a:solidFill>
              </a:rPr>
              <a:t>變數命名習慣</a:t>
            </a:r>
            <a:r>
              <a:rPr lang="zh-TW" altLang="en-US" dirty="0"/>
              <a:t>，這將影響整個程式的可讀性及可維護性。</a:t>
            </a:r>
            <a:endParaRPr lang="en-US" altLang="zh-TW" dirty="0"/>
          </a:p>
          <a:p>
            <a:pPr lvl="1"/>
            <a:r>
              <a:rPr lang="zh-TW" altLang="en-US" dirty="0"/>
              <a:t>畢竟變數是給人看的</a:t>
            </a:r>
            <a:endParaRPr lang="en-US" altLang="zh-TW" dirty="0"/>
          </a:p>
          <a:p>
            <a:pPr lvl="1"/>
            <a:endParaRPr lang="en-US" altLang="zh-TW" dirty="0"/>
          </a:p>
          <a:p>
            <a:r>
              <a:rPr lang="zh-TW" altLang="en-US" dirty="0"/>
              <a:t>命名習慣的優劣有兩點：</a:t>
            </a:r>
            <a:endParaRPr lang="en-US" altLang="zh-TW" dirty="0"/>
          </a:p>
          <a:p>
            <a:pPr lvl="1"/>
            <a:r>
              <a:rPr lang="zh-TW" altLang="en-US" dirty="0"/>
              <a:t>可讀性：變數名稱要有意義，最好與儲存的資料性質有關。</a:t>
            </a:r>
            <a:endParaRPr lang="en-US" altLang="zh-TW" dirty="0"/>
          </a:p>
          <a:p>
            <a:pPr lvl="1"/>
            <a:r>
              <a:rPr lang="zh-TW" altLang="en-US" dirty="0"/>
              <a:t>一致性：用相同的規則命名整個程式的變數。</a:t>
            </a:r>
          </a:p>
        </p:txBody>
      </p:sp>
      <p:sp>
        <p:nvSpPr>
          <p:cNvPr id="4" name="投影片編號版面配置區 3">
            <a:extLst>
              <a:ext uri="{FF2B5EF4-FFF2-40B4-BE49-F238E27FC236}">
                <a16:creationId xmlns:a16="http://schemas.microsoft.com/office/drawing/2014/main" id="{DF312E46-B2F3-4F7B-AF9B-E4F9EFF09A8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792133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DD3628-1036-4DEA-BC19-94CFEA4BCE81}"/>
              </a:ext>
            </a:extLst>
          </p:cNvPr>
          <p:cNvSpPr>
            <a:spLocks noGrp="1"/>
          </p:cNvSpPr>
          <p:nvPr>
            <p:ph type="title"/>
          </p:nvPr>
        </p:nvSpPr>
        <p:spPr/>
        <p:txBody>
          <a:bodyPr/>
          <a:lstStyle/>
          <a:p>
            <a:r>
              <a:rPr lang="zh-TW" altLang="en-US" dirty="0"/>
              <a:t>常用的命名方式</a:t>
            </a:r>
          </a:p>
        </p:txBody>
      </p:sp>
      <p:sp>
        <p:nvSpPr>
          <p:cNvPr id="3" name="內容版面配置區 2">
            <a:extLst>
              <a:ext uri="{FF2B5EF4-FFF2-40B4-BE49-F238E27FC236}">
                <a16:creationId xmlns:a16="http://schemas.microsoft.com/office/drawing/2014/main" id="{70DD79B5-95A6-447B-9132-B76B27D5C210}"/>
              </a:ext>
            </a:extLst>
          </p:cNvPr>
          <p:cNvSpPr>
            <a:spLocks noGrp="1"/>
          </p:cNvSpPr>
          <p:nvPr>
            <p:ph idx="1"/>
          </p:nvPr>
        </p:nvSpPr>
        <p:spPr/>
        <p:txBody>
          <a:bodyPr/>
          <a:lstStyle/>
          <a:p>
            <a:r>
              <a:rPr lang="zh-TW" altLang="en-US" dirty="0">
                <a:solidFill>
                  <a:schemeClr val="accent4"/>
                </a:solidFill>
              </a:rPr>
              <a:t>駝峰式命名法</a:t>
            </a:r>
            <a:r>
              <a:rPr lang="en-US" altLang="zh-TW" dirty="0"/>
              <a:t>(Camel Case)</a:t>
            </a:r>
            <a:r>
              <a:rPr lang="zh-TW" altLang="en-US" dirty="0"/>
              <a:t>：第一個字母小寫，之後每一個單字的開頭為大寫，不能有空格。</a:t>
            </a:r>
            <a:endParaRPr lang="en-US" altLang="zh-TW" dirty="0"/>
          </a:p>
          <a:p>
            <a:pPr lvl="1"/>
            <a:r>
              <a:rPr lang="en-US" altLang="zh-TW" dirty="0"/>
              <a:t>e.g., </a:t>
            </a:r>
            <a:r>
              <a:rPr lang="en-US" altLang="zh-TW" dirty="0" err="1"/>
              <a:t>studentName</a:t>
            </a:r>
            <a:r>
              <a:rPr lang="en-US" altLang="zh-TW" dirty="0"/>
              <a:t>, </a:t>
            </a:r>
            <a:r>
              <a:rPr lang="en-US" altLang="zh-TW" dirty="0" err="1"/>
              <a:t>stuName</a:t>
            </a:r>
            <a:r>
              <a:rPr lang="en-US" altLang="zh-TW" dirty="0"/>
              <a:t>, </a:t>
            </a:r>
            <a:r>
              <a:rPr lang="en-US" altLang="zh-TW" dirty="0" err="1"/>
              <a:t>pokemonHP</a:t>
            </a:r>
            <a:endParaRPr lang="en-US" altLang="zh-TW" dirty="0"/>
          </a:p>
          <a:p>
            <a:pPr lvl="1"/>
            <a:endParaRPr lang="en-US" altLang="zh-TW" dirty="0"/>
          </a:p>
          <a:p>
            <a:r>
              <a:rPr lang="zh-TW" altLang="en-US" dirty="0">
                <a:solidFill>
                  <a:schemeClr val="accent4"/>
                </a:solidFill>
              </a:rPr>
              <a:t>蛇形命名法</a:t>
            </a:r>
            <a:r>
              <a:rPr lang="en-US" altLang="zh-TW" dirty="0"/>
              <a:t>(Snake Case)</a:t>
            </a:r>
            <a:r>
              <a:rPr lang="zh-TW" altLang="en-US" dirty="0"/>
              <a:t>：單字皆為小寫，且單字間以底線（</a:t>
            </a:r>
            <a:r>
              <a:rPr lang="en-US" altLang="zh-TW" dirty="0"/>
              <a:t>_</a:t>
            </a:r>
            <a:r>
              <a:rPr lang="zh-TW" altLang="en-US" dirty="0"/>
              <a:t>）分離。</a:t>
            </a:r>
            <a:endParaRPr lang="en-US" altLang="zh-TW" dirty="0"/>
          </a:p>
          <a:p>
            <a:pPr lvl="1"/>
            <a:r>
              <a:rPr lang="en-US" altLang="zh-TW" dirty="0"/>
              <a:t>e.g., </a:t>
            </a:r>
            <a:r>
              <a:rPr lang="en-US" altLang="zh-TW" dirty="0" err="1"/>
              <a:t>student_name</a:t>
            </a:r>
            <a:r>
              <a:rPr lang="en-US" altLang="zh-TW" dirty="0"/>
              <a:t>, </a:t>
            </a:r>
            <a:r>
              <a:rPr lang="en-US" altLang="zh-TW" dirty="0" err="1"/>
              <a:t>stu_name</a:t>
            </a:r>
            <a:r>
              <a:rPr lang="en-US" altLang="zh-TW" dirty="0"/>
              <a:t>, </a:t>
            </a:r>
            <a:r>
              <a:rPr lang="en-US" altLang="zh-TW" dirty="0" err="1"/>
              <a:t>pokemon_hp</a:t>
            </a:r>
            <a:endParaRPr lang="zh-TW" altLang="en-US" dirty="0"/>
          </a:p>
        </p:txBody>
      </p:sp>
      <p:sp>
        <p:nvSpPr>
          <p:cNvPr id="4" name="投影片編號版面配置區 3">
            <a:extLst>
              <a:ext uri="{FF2B5EF4-FFF2-40B4-BE49-F238E27FC236}">
                <a16:creationId xmlns:a16="http://schemas.microsoft.com/office/drawing/2014/main" id="{600882FC-20F5-457D-B111-A3B0484F3A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5" name="語音泡泡: 圓角矩形 4">
            <a:extLst>
              <a:ext uri="{FF2B5EF4-FFF2-40B4-BE49-F238E27FC236}">
                <a16:creationId xmlns:a16="http://schemas.microsoft.com/office/drawing/2014/main" id="{DF2544B3-BED7-4C32-995F-D336C297A696}"/>
              </a:ext>
            </a:extLst>
          </p:cNvPr>
          <p:cNvSpPr/>
          <p:nvPr/>
        </p:nvSpPr>
        <p:spPr>
          <a:xfrm>
            <a:off x="7478767" y="5651500"/>
            <a:ext cx="3741683" cy="798786"/>
          </a:xfrm>
          <a:prstGeom prst="wedgeRoundRectCallout">
            <a:avLst>
              <a:gd name="adj1" fmla="val -60721"/>
              <a:gd name="adj2" fmla="val -45395"/>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Python </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採用這個方式</a:t>
            </a:r>
          </a:p>
        </p:txBody>
      </p:sp>
    </p:spTree>
    <p:extLst>
      <p:ext uri="{BB962C8B-B14F-4D97-AF65-F5344CB8AC3E}">
        <p14:creationId xmlns:p14="http://schemas.microsoft.com/office/powerpoint/2010/main" val="302890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454CF5-8211-4585-9250-D7D0A7068AF8}"/>
              </a:ext>
            </a:extLst>
          </p:cNvPr>
          <p:cNvSpPr>
            <a:spLocks noGrp="1"/>
          </p:cNvSpPr>
          <p:nvPr>
            <p:ph type="title"/>
          </p:nvPr>
        </p:nvSpPr>
        <p:spPr/>
        <p:txBody>
          <a:bodyPr/>
          <a:lstStyle/>
          <a:p>
            <a:r>
              <a:rPr lang="zh-TW" altLang="en-US" dirty="0"/>
              <a:t>常數的命名</a:t>
            </a:r>
          </a:p>
        </p:txBody>
      </p:sp>
      <p:sp>
        <p:nvSpPr>
          <p:cNvPr id="3" name="內容版面配置區 2">
            <a:extLst>
              <a:ext uri="{FF2B5EF4-FFF2-40B4-BE49-F238E27FC236}">
                <a16:creationId xmlns:a16="http://schemas.microsoft.com/office/drawing/2014/main" id="{61974F53-9A26-4E84-A099-DE8ABE0FADB9}"/>
              </a:ext>
            </a:extLst>
          </p:cNvPr>
          <p:cNvSpPr>
            <a:spLocks noGrp="1"/>
          </p:cNvSpPr>
          <p:nvPr>
            <p:ph idx="1"/>
          </p:nvPr>
        </p:nvSpPr>
        <p:spPr/>
        <p:txBody>
          <a:bodyPr/>
          <a:lstStyle/>
          <a:p>
            <a:r>
              <a:rPr lang="zh-TW" altLang="en-US" dirty="0"/>
              <a:t>有些變數儲存的值在程式執行期間不會變動，這類特殊的變數稱之為</a:t>
            </a:r>
            <a:r>
              <a:rPr lang="zh-TW" altLang="en-US" dirty="0">
                <a:solidFill>
                  <a:schemeClr val="accent4"/>
                </a:solidFill>
              </a:rPr>
              <a:t>常數</a:t>
            </a:r>
            <a:r>
              <a:rPr lang="en-US" altLang="zh-TW" dirty="0"/>
              <a:t>(constant)</a:t>
            </a:r>
            <a:r>
              <a:rPr lang="zh-TW" altLang="en-US" dirty="0"/>
              <a:t>。</a:t>
            </a:r>
            <a:endParaRPr lang="en-US" altLang="zh-TW" dirty="0"/>
          </a:p>
          <a:p>
            <a:pPr lvl="1"/>
            <a:r>
              <a:rPr lang="zh-TW" altLang="en-US" dirty="0"/>
              <a:t>比如圓周率 </a:t>
            </a:r>
            <a:r>
              <a:rPr lang="en-US" altLang="zh-TW" i="1" dirty="0">
                <a:latin typeface="Times New Roman" panose="02020603050405020304" pitchFamily="18" charset="0"/>
                <a:ea typeface="Cambria Math" panose="02040503050406030204" pitchFamily="18" charset="0"/>
                <a:cs typeface="Times New Roman" panose="02020603050405020304" pitchFamily="18" charset="0"/>
              </a:rPr>
              <a:t>π</a:t>
            </a:r>
            <a:r>
              <a:rPr lang="zh-TW" altLang="en-US" dirty="0"/>
              <a:t>、自然常數 </a:t>
            </a:r>
            <a:r>
              <a:rPr lang="en-US" altLang="zh-TW" i="1" dirty="0">
                <a:latin typeface="Times New Roman" panose="02020603050405020304" pitchFamily="18" charset="0"/>
                <a:ea typeface="Cambria Math" panose="02040503050406030204" pitchFamily="18" charset="0"/>
                <a:cs typeface="Times New Roman" panose="02020603050405020304" pitchFamily="18" charset="0"/>
              </a:rPr>
              <a:t>e</a:t>
            </a:r>
            <a:endParaRPr lang="en-US" altLang="zh-TW" dirty="0">
              <a:latin typeface="Times New Roman" panose="02020603050405020304" pitchFamily="18" charset="0"/>
              <a:cs typeface="Times New Roman" panose="02020603050405020304" pitchFamily="18" charset="0"/>
            </a:endParaRPr>
          </a:p>
          <a:p>
            <a:pPr lvl="1"/>
            <a:r>
              <a:rPr lang="zh-TW" altLang="en-US" dirty="0"/>
              <a:t>建議使用</a:t>
            </a:r>
            <a:r>
              <a:rPr lang="zh-TW" altLang="en-US" dirty="0">
                <a:solidFill>
                  <a:schemeClr val="accent4"/>
                </a:solidFill>
              </a:rPr>
              <a:t>全部皆為大寫的字母</a:t>
            </a:r>
            <a:r>
              <a:rPr lang="zh-TW" altLang="en-US" dirty="0"/>
              <a:t>來表示，以與一般變數有所區別。</a:t>
            </a:r>
          </a:p>
        </p:txBody>
      </p:sp>
      <p:sp>
        <p:nvSpPr>
          <p:cNvPr id="4" name="投影片編號版面配置區 3">
            <a:extLst>
              <a:ext uri="{FF2B5EF4-FFF2-40B4-BE49-F238E27FC236}">
                <a16:creationId xmlns:a16="http://schemas.microsoft.com/office/drawing/2014/main" id="{9E42B3CD-48B5-42FE-ADB1-F8224439BB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2BD32A72-4796-492E-A95C-762F0A60C741}"/>
              </a:ext>
            </a:extLst>
          </p:cNvPr>
          <p:cNvPicPr>
            <a:picLocks noChangeAspect="1"/>
          </p:cNvPicPr>
          <p:nvPr/>
        </p:nvPicPr>
        <p:blipFill>
          <a:blip r:embed="rId2"/>
          <a:stretch>
            <a:fillRect/>
          </a:stretch>
        </p:blipFill>
        <p:spPr>
          <a:xfrm>
            <a:off x="3567636" y="4511006"/>
            <a:ext cx="5056728" cy="1290704"/>
          </a:xfrm>
          <a:prstGeom prst="rect">
            <a:avLst/>
          </a:prstGeom>
        </p:spPr>
      </p:pic>
    </p:spTree>
    <p:extLst>
      <p:ext uri="{BB962C8B-B14F-4D97-AF65-F5344CB8AC3E}">
        <p14:creationId xmlns:p14="http://schemas.microsoft.com/office/powerpoint/2010/main" val="289844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zh-TW" altLang="en-US" dirty="0"/>
              <a:t>變數與資料型別</a:t>
            </a:r>
            <a:endParaRPr lang="en-US" altLang="zh-TW" dirty="0"/>
          </a:p>
          <a:p>
            <a:pPr lvl="1"/>
            <a:r>
              <a:rPr lang="zh-TW" altLang="en-US" dirty="0"/>
              <a:t>變數與命名規則</a:t>
            </a:r>
            <a:endParaRPr lang="en-US" altLang="zh-TW" dirty="0"/>
          </a:p>
          <a:p>
            <a:pPr lvl="1"/>
            <a:r>
              <a:rPr lang="zh-TW" altLang="en-US" dirty="0">
                <a:solidFill>
                  <a:schemeClr val="accent2"/>
                </a:solidFill>
              </a:rPr>
              <a:t>數值、布林與字串資料型別</a:t>
            </a:r>
            <a:endParaRPr lang="en-US" altLang="zh-TW" dirty="0">
              <a:solidFill>
                <a:schemeClr val="accent2"/>
              </a:solidFill>
            </a:endParaRPr>
          </a:p>
          <a:p>
            <a:pPr lvl="1"/>
            <a:r>
              <a:rPr lang="zh-TW" altLang="en-US" dirty="0"/>
              <a:t>資料型別轉換</a:t>
            </a:r>
            <a:endParaRPr lang="en-US" altLang="zh-TW" dirty="0"/>
          </a:p>
          <a:p>
            <a:pPr lvl="1"/>
            <a:r>
              <a:rPr lang="zh-TW" altLang="en-US" dirty="0"/>
              <a:t>註解</a:t>
            </a:r>
            <a:endParaRPr lang="en-US" altLang="zh-TW"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5387625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4F7460-4376-4805-A5C5-BD3895C152E9}"/>
              </a:ext>
            </a:extLst>
          </p:cNvPr>
          <p:cNvSpPr>
            <a:spLocks noGrp="1"/>
          </p:cNvSpPr>
          <p:nvPr>
            <p:ph type="title"/>
          </p:nvPr>
        </p:nvSpPr>
        <p:spPr/>
        <p:txBody>
          <a:bodyPr/>
          <a:lstStyle/>
          <a:p>
            <a:r>
              <a:rPr lang="en-US" altLang="zh-TW" dirty="0"/>
              <a:t>Python </a:t>
            </a:r>
            <a:r>
              <a:rPr lang="zh-TW" altLang="en-US" dirty="0"/>
              <a:t>基本資料型別</a:t>
            </a:r>
            <a:r>
              <a:rPr lang="en-US" altLang="zh-TW" dirty="0"/>
              <a:t>(1/4)</a:t>
            </a:r>
            <a:endParaRPr lang="zh-TW" altLang="en-US" dirty="0"/>
          </a:p>
        </p:txBody>
      </p:sp>
      <p:sp>
        <p:nvSpPr>
          <p:cNvPr id="3" name="內容版面配置區 2">
            <a:extLst>
              <a:ext uri="{FF2B5EF4-FFF2-40B4-BE49-F238E27FC236}">
                <a16:creationId xmlns:a16="http://schemas.microsoft.com/office/drawing/2014/main" id="{3D72B4CB-E1B8-407C-8E34-E52B6B62F03E}"/>
              </a:ext>
            </a:extLst>
          </p:cNvPr>
          <p:cNvSpPr>
            <a:spLocks noGrp="1"/>
          </p:cNvSpPr>
          <p:nvPr>
            <p:ph idx="1"/>
          </p:nvPr>
        </p:nvSpPr>
        <p:spPr/>
        <p:txBody>
          <a:bodyPr/>
          <a:lstStyle/>
          <a:p>
            <a:r>
              <a:rPr lang="zh-TW" altLang="en-US" dirty="0"/>
              <a:t>每個變數都有</a:t>
            </a:r>
            <a:r>
              <a:rPr lang="zh-TW" altLang="en-US" dirty="0">
                <a:solidFill>
                  <a:schemeClr val="accent4"/>
                </a:solidFill>
              </a:rPr>
              <a:t>資料型別</a:t>
            </a:r>
            <a:r>
              <a:rPr lang="en-US" altLang="zh-TW" dirty="0">
                <a:solidFill>
                  <a:schemeClr val="accent4"/>
                </a:solidFill>
              </a:rPr>
              <a:t>(data type)</a:t>
            </a:r>
            <a:r>
              <a:rPr lang="zh-TW" altLang="en-US" dirty="0"/>
              <a:t>用來描述該變數儲存值的型別</a:t>
            </a:r>
            <a:endParaRPr lang="en-US" altLang="zh-TW" dirty="0"/>
          </a:p>
          <a:p>
            <a:pPr lvl="3"/>
            <a:endParaRPr lang="en-US" altLang="zh-TW" dirty="0"/>
          </a:p>
          <a:p>
            <a:r>
              <a:rPr lang="en-US" altLang="zh-TW" dirty="0"/>
              <a:t>Python</a:t>
            </a:r>
            <a:r>
              <a:rPr lang="zh-TW" altLang="en-US" dirty="0"/>
              <a:t> 的基本資料型別有三種：</a:t>
            </a:r>
            <a:endParaRPr lang="en-US" altLang="zh-TW" dirty="0"/>
          </a:p>
          <a:p>
            <a:pPr lvl="1"/>
            <a:r>
              <a:rPr lang="zh-TW" altLang="en-US" dirty="0"/>
              <a:t>數值、布林、字串</a:t>
            </a:r>
            <a:endParaRPr lang="en-US" altLang="zh-TW" dirty="0"/>
          </a:p>
        </p:txBody>
      </p:sp>
      <p:sp>
        <p:nvSpPr>
          <p:cNvPr id="4" name="投影片編號版面配置區 3">
            <a:extLst>
              <a:ext uri="{FF2B5EF4-FFF2-40B4-BE49-F238E27FC236}">
                <a16:creationId xmlns:a16="http://schemas.microsoft.com/office/drawing/2014/main" id="{3370B1C4-0446-4DDE-8824-689E1FBAA1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77B10726-220C-431E-9CFB-5655DDBDB15B}"/>
              </a:ext>
            </a:extLst>
          </p:cNvPr>
          <p:cNvPicPr>
            <a:picLocks noChangeAspect="1"/>
          </p:cNvPicPr>
          <p:nvPr/>
        </p:nvPicPr>
        <p:blipFill>
          <a:blip r:embed="rId2"/>
          <a:stretch>
            <a:fillRect/>
          </a:stretch>
        </p:blipFill>
        <p:spPr>
          <a:xfrm>
            <a:off x="2316438" y="4057650"/>
            <a:ext cx="7559124" cy="1868804"/>
          </a:xfrm>
          <a:prstGeom prst="rect">
            <a:avLst/>
          </a:prstGeom>
        </p:spPr>
      </p:pic>
    </p:spTree>
    <p:extLst>
      <p:ext uri="{BB962C8B-B14F-4D97-AF65-F5344CB8AC3E}">
        <p14:creationId xmlns:p14="http://schemas.microsoft.com/office/powerpoint/2010/main" val="89869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查看資料型別</a:t>
            </a:r>
          </a:p>
        </p:txBody>
      </p:sp>
      <p:sp>
        <p:nvSpPr>
          <p:cNvPr id="3" name="內容版面配置區 2"/>
          <p:cNvSpPr>
            <a:spLocks noGrp="1"/>
          </p:cNvSpPr>
          <p:nvPr>
            <p:ph idx="1"/>
          </p:nvPr>
        </p:nvSpPr>
        <p:spPr/>
        <p:txBody>
          <a:bodyPr/>
          <a:lstStyle/>
          <a:p>
            <a:r>
              <a:rPr lang="zh-TW" altLang="en-US" dirty="0"/>
              <a:t>內建函式 </a:t>
            </a:r>
            <a:r>
              <a:rPr lang="en-US" altLang="zh-TW" dirty="0">
                <a:latin typeface="Consolas" panose="020B0609020204030204" pitchFamily="49" charset="0"/>
              </a:rPr>
              <a:t>type()</a:t>
            </a:r>
            <a:r>
              <a:rPr lang="en-US" altLang="zh-TW" dirty="0"/>
              <a:t> </a:t>
            </a:r>
            <a:r>
              <a:rPr lang="zh-TW" altLang="en-US" dirty="0"/>
              <a:t>會取得變數的資料型別，語法為：</a:t>
            </a:r>
          </a:p>
          <a:p>
            <a:pPr lvl="1"/>
            <a:r>
              <a:rPr lang="en-US" altLang="zh-TW" dirty="0">
                <a:latin typeface="Consolas" panose="020B0609020204030204" pitchFamily="49" charset="0"/>
              </a:rPr>
              <a:t>type(</a:t>
            </a:r>
            <a:r>
              <a:rPr lang="zh-TW" altLang="en-US" dirty="0"/>
              <a:t>變數名稱或值</a:t>
            </a:r>
            <a:r>
              <a:rPr lang="en-US" altLang="zh-TW" dirty="0">
                <a:latin typeface="Consolas" panose="020B0609020204030204" pitchFamily="49" charset="0"/>
              </a:rPr>
              <a:t>)</a:t>
            </a:r>
            <a:endParaRPr lang="zh-TW" altLang="en-US" dirty="0">
              <a:latin typeface="Consolas" panose="020B0609020204030204" pitchFamily="49" charset="0"/>
            </a:endParaRP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A0C4AB33-FB79-474F-A9CF-3BB7383301FF}"/>
              </a:ext>
            </a:extLst>
          </p:cNvPr>
          <p:cNvPicPr>
            <a:picLocks noChangeAspect="1"/>
          </p:cNvPicPr>
          <p:nvPr/>
        </p:nvPicPr>
        <p:blipFill>
          <a:blip r:embed="rId2"/>
          <a:stretch>
            <a:fillRect/>
          </a:stretch>
        </p:blipFill>
        <p:spPr>
          <a:xfrm>
            <a:off x="1369953" y="3643394"/>
            <a:ext cx="6111295" cy="1957305"/>
          </a:xfrm>
          <a:prstGeom prst="rect">
            <a:avLst/>
          </a:prstGeom>
        </p:spPr>
      </p:pic>
      <p:pic>
        <p:nvPicPr>
          <p:cNvPr id="10" name="圖片 9">
            <a:extLst>
              <a:ext uri="{FF2B5EF4-FFF2-40B4-BE49-F238E27FC236}">
                <a16:creationId xmlns:a16="http://schemas.microsoft.com/office/drawing/2014/main" id="{397C39BC-C663-4E37-A6EA-CC5E8D374F39}"/>
              </a:ext>
            </a:extLst>
          </p:cNvPr>
          <p:cNvPicPr>
            <a:picLocks noChangeAspect="1"/>
          </p:cNvPicPr>
          <p:nvPr/>
        </p:nvPicPr>
        <p:blipFill>
          <a:blip r:embed="rId3"/>
          <a:stretch>
            <a:fillRect/>
          </a:stretch>
        </p:blipFill>
        <p:spPr>
          <a:xfrm>
            <a:off x="8114474" y="3814361"/>
            <a:ext cx="2867280" cy="1615369"/>
          </a:xfrm>
          <a:prstGeom prst="rect">
            <a:avLst/>
          </a:prstGeom>
        </p:spPr>
      </p:pic>
    </p:spTree>
    <p:extLst>
      <p:ext uri="{BB962C8B-B14F-4D97-AF65-F5344CB8AC3E}">
        <p14:creationId xmlns:p14="http://schemas.microsoft.com/office/powerpoint/2010/main" val="199463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4F7460-4376-4805-A5C5-BD3895C152E9}"/>
              </a:ext>
            </a:extLst>
          </p:cNvPr>
          <p:cNvSpPr>
            <a:spLocks noGrp="1"/>
          </p:cNvSpPr>
          <p:nvPr>
            <p:ph type="title"/>
          </p:nvPr>
        </p:nvSpPr>
        <p:spPr/>
        <p:txBody>
          <a:bodyPr/>
          <a:lstStyle/>
          <a:p>
            <a:r>
              <a:rPr lang="en-US" altLang="zh-TW" dirty="0"/>
              <a:t>Python </a:t>
            </a:r>
            <a:r>
              <a:rPr lang="zh-TW" altLang="en-US" dirty="0"/>
              <a:t>基本資料型別</a:t>
            </a:r>
            <a:r>
              <a:rPr lang="en-US" altLang="zh-TW" dirty="0"/>
              <a:t>(2/4)</a:t>
            </a:r>
            <a:endParaRPr lang="zh-TW" altLang="en-US" dirty="0"/>
          </a:p>
        </p:txBody>
      </p:sp>
      <p:sp>
        <p:nvSpPr>
          <p:cNvPr id="3" name="內容版面配置區 2">
            <a:extLst>
              <a:ext uri="{FF2B5EF4-FFF2-40B4-BE49-F238E27FC236}">
                <a16:creationId xmlns:a16="http://schemas.microsoft.com/office/drawing/2014/main" id="{3D72B4CB-E1B8-407C-8E34-E52B6B62F03E}"/>
              </a:ext>
            </a:extLst>
          </p:cNvPr>
          <p:cNvSpPr>
            <a:spLocks noGrp="1"/>
          </p:cNvSpPr>
          <p:nvPr>
            <p:ph idx="1"/>
          </p:nvPr>
        </p:nvSpPr>
        <p:spPr/>
        <p:txBody>
          <a:bodyPr/>
          <a:lstStyle/>
          <a:p>
            <a:pPr marL="514350" indent="-514350">
              <a:buFont typeface="Wingdings" panose="05000000000000000000" pitchFamily="2" charset="2"/>
              <a:buAutoNum type="circleNumWdWhitePlain"/>
            </a:pPr>
            <a:r>
              <a:rPr lang="zh-TW" altLang="en-US" dirty="0"/>
              <a:t>數值</a:t>
            </a:r>
            <a:r>
              <a:rPr lang="en-US" altLang="zh-TW" dirty="0"/>
              <a:t>(numeric)</a:t>
            </a:r>
          </a:p>
          <a:p>
            <a:pPr lvl="1"/>
            <a:r>
              <a:rPr lang="zh-TW" altLang="en-US" dirty="0"/>
              <a:t>整數</a:t>
            </a:r>
            <a:r>
              <a:rPr lang="en-US" altLang="zh-TW" dirty="0"/>
              <a:t>(integer)</a:t>
            </a:r>
          </a:p>
          <a:p>
            <a:pPr lvl="2"/>
            <a:r>
              <a:rPr lang="zh-TW" altLang="en-US" dirty="0"/>
              <a:t>不含小數點的數值</a:t>
            </a:r>
            <a:endParaRPr lang="en-US" altLang="zh-TW" dirty="0"/>
          </a:p>
          <a:p>
            <a:pPr lvl="2"/>
            <a:r>
              <a:rPr lang="en-US" altLang="zh-TW" dirty="0"/>
              <a:t>e.g., 12, 0, -99</a:t>
            </a:r>
          </a:p>
          <a:p>
            <a:pPr lvl="1"/>
            <a:endParaRPr lang="en-US" altLang="zh-TW" dirty="0"/>
          </a:p>
          <a:p>
            <a:pPr lvl="1"/>
            <a:r>
              <a:rPr lang="zh-TW" altLang="en-US" dirty="0"/>
              <a:t>浮點數</a:t>
            </a:r>
            <a:r>
              <a:rPr lang="en-US" altLang="zh-TW" dirty="0"/>
              <a:t>(float)</a:t>
            </a:r>
          </a:p>
          <a:p>
            <a:pPr lvl="2"/>
            <a:r>
              <a:rPr lang="zh-TW" altLang="en-US" dirty="0"/>
              <a:t>包含小數點的數值</a:t>
            </a:r>
            <a:endParaRPr lang="en-US" altLang="zh-TW" dirty="0"/>
          </a:p>
          <a:p>
            <a:pPr lvl="2"/>
            <a:r>
              <a:rPr lang="en-US" altLang="zh-TW" dirty="0"/>
              <a:t>e.g., 12.21, </a:t>
            </a:r>
            <a:r>
              <a:rPr lang="en-US" altLang="zh-TW" dirty="0">
                <a:solidFill>
                  <a:schemeClr val="accent4"/>
                </a:solidFill>
              </a:rPr>
              <a:t>15.0</a:t>
            </a:r>
          </a:p>
        </p:txBody>
      </p:sp>
      <p:sp>
        <p:nvSpPr>
          <p:cNvPr id="4" name="投影片編號版面配置區 3">
            <a:extLst>
              <a:ext uri="{FF2B5EF4-FFF2-40B4-BE49-F238E27FC236}">
                <a16:creationId xmlns:a16="http://schemas.microsoft.com/office/drawing/2014/main" id="{3370B1C4-0446-4DDE-8824-689E1FBAA1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6" name="語音泡泡: 圓角矩形 5">
            <a:extLst>
              <a:ext uri="{FF2B5EF4-FFF2-40B4-BE49-F238E27FC236}">
                <a16:creationId xmlns:a16="http://schemas.microsoft.com/office/drawing/2014/main" id="{D1B85486-3251-4F2B-A693-DAA82FC676FD}"/>
              </a:ext>
            </a:extLst>
          </p:cNvPr>
          <p:cNvSpPr/>
          <p:nvPr/>
        </p:nvSpPr>
        <p:spPr>
          <a:xfrm>
            <a:off x="5456324" y="3429000"/>
            <a:ext cx="5569027" cy="2099441"/>
          </a:xfrm>
          <a:prstGeom prst="wedgeRoundRectCallout">
            <a:avLst>
              <a:gd name="adj1" fmla="val -61913"/>
              <a:gd name="adj2" fmla="val -41745"/>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在數學上，整數與浮點數都是數字，並沒有太大差異，但是對電腦而言，兩者是</a:t>
            </a:r>
            <a:r>
              <a:rPr kumimoji="0" lang="zh-TW" altLang="en-US" sz="2800" b="0" i="0" u="none" strike="noStrike" kern="1200" cap="none" spc="0" normalizeH="0" baseline="0" noProof="0" dirty="0">
                <a:ln>
                  <a:noFill/>
                </a:ln>
                <a:solidFill>
                  <a:srgbClr val="FFFF00"/>
                </a:solidFill>
                <a:effectLst/>
                <a:uLnTx/>
                <a:uFillTx/>
                <a:latin typeface="Arial" panose="020B0604020202020204"/>
                <a:ea typeface="微軟正黑體" panose="020B0604030504040204" pitchFamily="34" charset="-120"/>
                <a:cs typeface="+mn-cs"/>
              </a:rPr>
              <a:t>不同的東西</a:t>
            </a: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p>
        </p:txBody>
      </p:sp>
    </p:spTree>
    <p:extLst>
      <p:ext uri="{BB962C8B-B14F-4D97-AF65-F5344CB8AC3E}">
        <p14:creationId xmlns:p14="http://schemas.microsoft.com/office/powerpoint/2010/main" val="331335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EF0284-13E0-43E4-AFE9-43176187E27D}"/>
              </a:ext>
            </a:extLst>
          </p:cNvPr>
          <p:cNvSpPr>
            <a:spLocks noGrp="1"/>
          </p:cNvSpPr>
          <p:nvPr>
            <p:ph type="title"/>
          </p:nvPr>
        </p:nvSpPr>
        <p:spPr/>
        <p:txBody>
          <a:bodyPr>
            <a:normAutofit/>
          </a:bodyPr>
          <a:lstStyle/>
          <a:p>
            <a:r>
              <a:rPr lang="zh-TW" altLang="en-US" dirty="0"/>
              <a:t>整數</a:t>
            </a:r>
          </a:p>
        </p:txBody>
      </p:sp>
      <p:sp>
        <p:nvSpPr>
          <p:cNvPr id="3" name="內容版面配置區 2">
            <a:extLst>
              <a:ext uri="{FF2B5EF4-FFF2-40B4-BE49-F238E27FC236}">
                <a16:creationId xmlns:a16="http://schemas.microsoft.com/office/drawing/2014/main" id="{E9ED1B80-5609-49DC-B71A-1ED2218CDF66}"/>
              </a:ext>
            </a:extLst>
          </p:cNvPr>
          <p:cNvSpPr>
            <a:spLocks noGrp="1"/>
          </p:cNvSpPr>
          <p:nvPr>
            <p:ph idx="1"/>
          </p:nvPr>
        </p:nvSpPr>
        <p:spPr/>
        <p:txBody>
          <a:bodyPr/>
          <a:lstStyle/>
          <a:p>
            <a:r>
              <a:rPr lang="zh-TW" altLang="en-US" dirty="0"/>
              <a:t>囿於</a:t>
            </a:r>
            <a:r>
              <a:rPr lang="zh-TW" altLang="en-US" dirty="0">
                <a:solidFill>
                  <a:schemeClr val="accent4"/>
                </a:solidFill>
              </a:rPr>
              <a:t>有限的記憶體空間</a:t>
            </a:r>
            <a:r>
              <a:rPr lang="zh-TW" altLang="en-US" dirty="0"/>
              <a:t>，許多程式語言無法直接將一個超大的數儲存在變數內。</a:t>
            </a:r>
            <a:endParaRPr lang="en-US" altLang="zh-TW" dirty="0"/>
          </a:p>
          <a:p>
            <a:pPr lvl="1"/>
            <a:r>
              <a:rPr lang="zh-TW" altLang="en-US" dirty="0"/>
              <a:t>以 </a:t>
            </a:r>
            <a:r>
              <a:rPr lang="en-US" altLang="zh-TW" dirty="0"/>
              <a:t>C</a:t>
            </a:r>
            <a:r>
              <a:rPr lang="zh-TW" altLang="en-US" dirty="0"/>
              <a:t> 語言為例，一個無號長整數</a:t>
            </a:r>
            <a:r>
              <a:rPr lang="en-US" altLang="zh-TW" dirty="0"/>
              <a:t>(unsigned long)</a:t>
            </a:r>
            <a:r>
              <a:rPr lang="zh-TW" altLang="en-US" dirty="0"/>
              <a:t>最大到 </a:t>
            </a:r>
            <a:r>
              <a:rPr lang="en-US" altLang="zh-TW" dirty="0"/>
              <a:t>2</a:t>
            </a:r>
            <a:r>
              <a:rPr lang="en-US" altLang="zh-TW" baseline="30000" dirty="0"/>
              <a:t>64</a:t>
            </a:r>
            <a:r>
              <a:rPr lang="en-US" altLang="zh-TW" dirty="0"/>
              <a:t>-1</a:t>
            </a:r>
            <a:r>
              <a:rPr lang="zh-TW" altLang="en-US" dirty="0"/>
              <a:t>，亦即 </a:t>
            </a:r>
            <a:r>
              <a:rPr lang="en-US" altLang="zh-TW" dirty="0"/>
              <a:t>18446744073709551615</a:t>
            </a:r>
            <a:r>
              <a:rPr lang="zh-TW" altLang="en-US" dirty="0"/>
              <a:t>。</a:t>
            </a:r>
            <a:endParaRPr lang="en-US" altLang="zh-TW" dirty="0"/>
          </a:p>
          <a:p>
            <a:pPr lvl="3"/>
            <a:endParaRPr lang="en-US" altLang="zh-TW" dirty="0"/>
          </a:p>
          <a:p>
            <a:pPr lvl="1"/>
            <a:r>
              <a:rPr lang="zh-TW" altLang="en-US" dirty="0"/>
              <a:t>有時在科學運算過程中，真的會需要超大數的儲存及運算，這時常見做法是引入所謂</a:t>
            </a:r>
            <a:r>
              <a:rPr lang="zh-TW" altLang="en-US" dirty="0">
                <a:solidFill>
                  <a:schemeClr val="accent4"/>
                </a:solidFill>
              </a:rPr>
              <a:t>大數運算</a:t>
            </a:r>
            <a:r>
              <a:rPr lang="en-US" altLang="zh-TW" dirty="0"/>
              <a:t>(</a:t>
            </a:r>
            <a:r>
              <a:rPr lang="en-US" altLang="zh-TW" dirty="0" err="1"/>
              <a:t>bignum</a:t>
            </a:r>
            <a:r>
              <a:rPr lang="en-US" altLang="zh-TW" dirty="0"/>
              <a:t> arithmetic)</a:t>
            </a:r>
            <a:r>
              <a:rPr lang="zh-TW" altLang="en-US" dirty="0"/>
              <a:t>。</a:t>
            </a:r>
            <a:endParaRPr lang="en-US" altLang="zh-TW" dirty="0"/>
          </a:p>
          <a:p>
            <a:pPr lvl="3"/>
            <a:endParaRPr lang="en-US" altLang="zh-TW" dirty="0"/>
          </a:p>
          <a:p>
            <a:pPr lvl="1"/>
            <a:r>
              <a:rPr lang="en-US" altLang="zh-TW" dirty="0"/>
              <a:t>Python </a:t>
            </a:r>
            <a:r>
              <a:rPr lang="zh-TW" altLang="en-US" dirty="0"/>
              <a:t>本身支援大數整數型別及運算，能夠</a:t>
            </a:r>
            <a:r>
              <a:rPr lang="zh-TW" altLang="en-US" dirty="0">
                <a:solidFill>
                  <a:schemeClr val="accent4"/>
                </a:solidFill>
              </a:rPr>
              <a:t>對付任何長度的整數</a:t>
            </a:r>
            <a:r>
              <a:rPr lang="zh-TW" altLang="en-US" dirty="0"/>
              <a:t>。</a:t>
            </a:r>
          </a:p>
        </p:txBody>
      </p:sp>
      <p:sp>
        <p:nvSpPr>
          <p:cNvPr id="4" name="投影片編號版面配置區 3">
            <a:extLst>
              <a:ext uri="{FF2B5EF4-FFF2-40B4-BE49-F238E27FC236}">
                <a16:creationId xmlns:a16="http://schemas.microsoft.com/office/drawing/2014/main" id="{9F037644-7A98-4AB3-A869-16E24F8ABD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7" name="語音泡泡: 圓角矩形 6">
            <a:extLst>
              <a:ext uri="{FF2B5EF4-FFF2-40B4-BE49-F238E27FC236}">
                <a16:creationId xmlns:a16="http://schemas.microsoft.com/office/drawing/2014/main" id="{B7BE7443-EB8F-4631-9E63-032644B67B1D}"/>
              </a:ext>
            </a:extLst>
          </p:cNvPr>
          <p:cNvSpPr/>
          <p:nvPr/>
        </p:nvSpPr>
        <p:spPr>
          <a:xfrm>
            <a:off x="6306206" y="5950168"/>
            <a:ext cx="4572000" cy="703044"/>
          </a:xfrm>
          <a:prstGeom prst="wedgeRoundRectCallout">
            <a:avLst>
              <a:gd name="adj1" fmla="val -58994"/>
              <a:gd name="adj2" fmla="val -45064"/>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前提是記憶體要夠大 </a:t>
            </a:r>
            <a:r>
              <a:rPr kumimoji="0" lang="en-US" altLang="zh-TW"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sym typeface="Wingdings" panose="05000000000000000000" pitchFamily="2" charset="2"/>
              </a:rPr>
              <a:t></a:t>
            </a:r>
            <a:endPar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98353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23AE7D-F30C-460A-9DF9-20FFEA6B83B3}"/>
              </a:ext>
            </a:extLst>
          </p:cNvPr>
          <p:cNvSpPr>
            <a:spLocks noGrp="1"/>
          </p:cNvSpPr>
          <p:nvPr>
            <p:ph type="title"/>
          </p:nvPr>
        </p:nvSpPr>
        <p:spPr/>
        <p:txBody>
          <a:bodyPr/>
          <a:lstStyle/>
          <a:p>
            <a:r>
              <a:rPr lang="zh-TW" altLang="en-US" dirty="0"/>
              <a:t>浮點數</a:t>
            </a:r>
            <a:r>
              <a:rPr lang="en-US" altLang="zh-TW" dirty="0"/>
              <a:t>(1/5)</a:t>
            </a:r>
            <a:endParaRPr lang="zh-TW" altLang="en-US" dirty="0"/>
          </a:p>
        </p:txBody>
      </p:sp>
      <p:sp>
        <p:nvSpPr>
          <p:cNvPr id="3" name="內容版面配置區 2">
            <a:extLst>
              <a:ext uri="{FF2B5EF4-FFF2-40B4-BE49-F238E27FC236}">
                <a16:creationId xmlns:a16="http://schemas.microsoft.com/office/drawing/2014/main" id="{C22EB5D9-2B43-4062-9510-68A84DE9AE44}"/>
              </a:ext>
            </a:extLst>
          </p:cNvPr>
          <p:cNvSpPr>
            <a:spLocks noGrp="1"/>
          </p:cNvSpPr>
          <p:nvPr>
            <p:ph idx="1"/>
          </p:nvPr>
        </p:nvSpPr>
        <p:spPr/>
        <p:txBody>
          <a:bodyPr/>
          <a:lstStyle/>
          <a:p>
            <a:r>
              <a:rPr lang="en-US" altLang="zh-TW" dirty="0"/>
              <a:t>Python </a:t>
            </a:r>
            <a:r>
              <a:rPr lang="zh-TW" altLang="en-US" dirty="0"/>
              <a:t>採用</a:t>
            </a:r>
            <a:r>
              <a:rPr lang="zh-TW" altLang="en-US" dirty="0">
                <a:solidFill>
                  <a:schemeClr val="accent4"/>
                </a:solidFill>
              </a:rPr>
              <a:t>雙精度浮點數</a:t>
            </a:r>
            <a:r>
              <a:rPr lang="en-US" altLang="zh-TW" dirty="0"/>
              <a:t>(double-precision floating-point)</a:t>
            </a:r>
            <a:r>
              <a:rPr lang="zh-TW" altLang="en-US" dirty="0"/>
              <a:t>，使用 </a:t>
            </a:r>
            <a:r>
              <a:rPr lang="en-US" altLang="zh-TW" dirty="0"/>
              <a:t>64 </a:t>
            </a:r>
            <a:r>
              <a:rPr lang="zh-TW" altLang="en-US" dirty="0"/>
              <a:t>位元來儲存一個浮點數，能用來表示極大或是非常接近 </a:t>
            </a:r>
            <a:r>
              <a:rPr lang="en-US" altLang="zh-TW" dirty="0"/>
              <a:t>0 </a:t>
            </a:r>
            <a:r>
              <a:rPr lang="zh-TW" altLang="en-US" dirty="0"/>
              <a:t>的小數字。</a:t>
            </a:r>
            <a:endParaRPr lang="en-US" altLang="zh-TW" dirty="0"/>
          </a:p>
          <a:p>
            <a:pPr lvl="1"/>
            <a:r>
              <a:rPr lang="zh-TW" altLang="en-US" dirty="0"/>
              <a:t>過大或過小的數字會直接以</a:t>
            </a:r>
            <a:r>
              <a:rPr lang="zh-TW" altLang="en-US" dirty="0">
                <a:solidFill>
                  <a:schemeClr val="accent4"/>
                </a:solidFill>
              </a:rPr>
              <a:t>科學記號</a:t>
            </a:r>
            <a:r>
              <a:rPr lang="en-US" altLang="zh-TW" dirty="0"/>
              <a:t>(scientific notation)</a:t>
            </a:r>
            <a:r>
              <a:rPr lang="zh-TW" altLang="en-US" dirty="0"/>
              <a:t>表示</a:t>
            </a:r>
            <a:endParaRPr lang="en-US" altLang="zh-TW" dirty="0"/>
          </a:p>
          <a:p>
            <a:pPr lvl="1"/>
            <a:endParaRPr lang="en-US" altLang="zh-TW" dirty="0"/>
          </a:p>
          <a:p>
            <a:pPr lvl="1"/>
            <a:r>
              <a:rPr lang="en-US" altLang="zh-TW" dirty="0"/>
              <a:t>123.456</a:t>
            </a:r>
            <a:r>
              <a:rPr lang="zh-TW" altLang="en-US" dirty="0"/>
              <a:t> </a:t>
            </a:r>
            <a:r>
              <a:rPr lang="en-US" altLang="zh-TW" dirty="0">
                <a:sym typeface="Wingdings" panose="05000000000000000000" pitchFamily="2" charset="2"/>
              </a:rPr>
              <a:t> 1.23456×10</a:t>
            </a:r>
            <a:r>
              <a:rPr lang="en-US" altLang="zh-TW" baseline="30000" dirty="0">
                <a:sym typeface="Wingdings" panose="05000000000000000000" pitchFamily="2" charset="2"/>
              </a:rPr>
              <a:t>2</a:t>
            </a:r>
            <a:r>
              <a:rPr lang="en-US" altLang="zh-TW" dirty="0">
                <a:sym typeface="Wingdings" panose="05000000000000000000" pitchFamily="2" charset="2"/>
              </a:rPr>
              <a:t>    1.234560e+02</a:t>
            </a:r>
          </a:p>
          <a:p>
            <a:pPr lvl="1"/>
            <a:endParaRPr lang="en-US" altLang="zh-TW" dirty="0"/>
          </a:p>
          <a:p>
            <a:pPr lvl="1"/>
            <a:r>
              <a:rPr lang="en-US" altLang="zh-TW" dirty="0"/>
              <a:t>0.0123456</a:t>
            </a:r>
            <a:r>
              <a:rPr lang="zh-TW" altLang="en-US" dirty="0"/>
              <a:t> </a:t>
            </a:r>
            <a:r>
              <a:rPr lang="en-US" altLang="zh-TW" dirty="0">
                <a:sym typeface="Wingdings" panose="05000000000000000000" pitchFamily="2" charset="2"/>
              </a:rPr>
              <a:t> 1.23456×10</a:t>
            </a:r>
            <a:r>
              <a:rPr lang="en-US" altLang="zh-TW" baseline="30000" dirty="0">
                <a:sym typeface="Wingdings" panose="05000000000000000000" pitchFamily="2" charset="2"/>
              </a:rPr>
              <a:t>-2</a:t>
            </a:r>
            <a:r>
              <a:rPr lang="en-US" altLang="zh-TW" dirty="0">
                <a:sym typeface="Wingdings" panose="05000000000000000000" pitchFamily="2" charset="2"/>
              </a:rPr>
              <a:t>    1.234560e-02</a:t>
            </a:r>
            <a:endParaRPr lang="zh-TW" altLang="en-US" dirty="0"/>
          </a:p>
        </p:txBody>
      </p:sp>
      <p:sp>
        <p:nvSpPr>
          <p:cNvPr id="4" name="投影片編號版面配置區 3">
            <a:extLst>
              <a:ext uri="{FF2B5EF4-FFF2-40B4-BE49-F238E27FC236}">
                <a16:creationId xmlns:a16="http://schemas.microsoft.com/office/drawing/2014/main" id="{A37C5A36-D1FA-4EC5-AB59-FF63597CB1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90559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0FD1F3-CDEC-44F6-AE9D-9AFB13B100FE}"/>
              </a:ext>
            </a:extLst>
          </p:cNvPr>
          <p:cNvSpPr>
            <a:spLocks noGrp="1"/>
          </p:cNvSpPr>
          <p:nvPr>
            <p:ph type="title"/>
          </p:nvPr>
        </p:nvSpPr>
        <p:spPr/>
        <p:txBody>
          <a:bodyPr/>
          <a:lstStyle/>
          <a:p>
            <a:r>
              <a:rPr lang="zh-TW" altLang="en-US" dirty="0"/>
              <a:t>浮點數</a:t>
            </a:r>
            <a:r>
              <a:rPr lang="en-US" altLang="zh-TW" dirty="0"/>
              <a:t>(2/5)</a:t>
            </a:r>
            <a:endParaRPr lang="zh-TW" altLang="en-US" dirty="0"/>
          </a:p>
        </p:txBody>
      </p:sp>
      <p:sp>
        <p:nvSpPr>
          <p:cNvPr id="3" name="內容版面配置區 2">
            <a:extLst>
              <a:ext uri="{FF2B5EF4-FFF2-40B4-BE49-F238E27FC236}">
                <a16:creationId xmlns:a16="http://schemas.microsoft.com/office/drawing/2014/main" id="{74B01D47-ABD7-4879-B94E-85E0684A4889}"/>
              </a:ext>
            </a:extLst>
          </p:cNvPr>
          <p:cNvSpPr>
            <a:spLocks noGrp="1"/>
          </p:cNvSpPr>
          <p:nvPr>
            <p:ph idx="1"/>
          </p:nvPr>
        </p:nvSpPr>
        <p:spPr/>
        <p:txBody>
          <a:bodyPr/>
          <a:lstStyle/>
          <a:p>
            <a:r>
              <a:rPr lang="zh-TW" altLang="en-US" dirty="0"/>
              <a:t>兩個特別的數字，即</a:t>
            </a:r>
            <a:r>
              <a:rPr lang="zh-TW" altLang="en-US" dirty="0">
                <a:solidFill>
                  <a:schemeClr val="accent4"/>
                </a:solidFill>
              </a:rPr>
              <a:t>無限大</a:t>
            </a:r>
            <a:r>
              <a:rPr lang="en-US" altLang="zh-TW" dirty="0"/>
              <a:t>(</a:t>
            </a:r>
            <a:r>
              <a:rPr lang="en-US" altLang="zh-TW" dirty="0">
                <a:latin typeface="Consolas" panose="020B0609020204030204" pitchFamily="49" charset="0"/>
              </a:rPr>
              <a:t>inf</a:t>
            </a:r>
            <a:r>
              <a:rPr lang="en-US" altLang="zh-TW" dirty="0"/>
              <a:t>)</a:t>
            </a:r>
            <a:r>
              <a:rPr lang="zh-TW" altLang="en-US" dirty="0"/>
              <a:t>與</a:t>
            </a:r>
            <a:r>
              <a:rPr lang="zh-TW" altLang="en-US" dirty="0">
                <a:solidFill>
                  <a:schemeClr val="accent4"/>
                </a:solidFill>
              </a:rPr>
              <a:t>未定義數</a:t>
            </a:r>
            <a:r>
              <a:rPr lang="en-US" altLang="zh-TW" dirty="0"/>
              <a:t>(</a:t>
            </a:r>
            <a:r>
              <a:rPr lang="en-US" altLang="zh-TW" dirty="0">
                <a:latin typeface="Consolas" panose="020B0609020204030204" pitchFamily="49" charset="0"/>
              </a:rPr>
              <a:t>nan</a:t>
            </a:r>
            <a:r>
              <a:rPr lang="en-US" altLang="zh-TW" dirty="0"/>
              <a:t>)</a:t>
            </a:r>
            <a:r>
              <a:rPr lang="zh-TW" altLang="en-US" dirty="0"/>
              <a:t>，也是屬於浮點數的類型。</a:t>
            </a:r>
          </a:p>
        </p:txBody>
      </p:sp>
      <p:sp>
        <p:nvSpPr>
          <p:cNvPr id="4" name="投影片編號版面配置區 3">
            <a:extLst>
              <a:ext uri="{FF2B5EF4-FFF2-40B4-BE49-F238E27FC236}">
                <a16:creationId xmlns:a16="http://schemas.microsoft.com/office/drawing/2014/main" id="{B9F1205E-855C-48DB-9A77-F4785A46D4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B1D5B4CF-A6C2-45E0-AF55-54BA5EE1360D}"/>
              </a:ext>
            </a:extLst>
          </p:cNvPr>
          <p:cNvPicPr>
            <a:picLocks noChangeAspect="1"/>
          </p:cNvPicPr>
          <p:nvPr/>
        </p:nvPicPr>
        <p:blipFill>
          <a:blip r:embed="rId2"/>
          <a:stretch>
            <a:fillRect/>
          </a:stretch>
        </p:blipFill>
        <p:spPr>
          <a:xfrm>
            <a:off x="1383859" y="3890530"/>
            <a:ext cx="8877917" cy="2300720"/>
          </a:xfrm>
          <a:prstGeom prst="rect">
            <a:avLst/>
          </a:prstGeom>
        </p:spPr>
      </p:pic>
      <p:pic>
        <p:nvPicPr>
          <p:cNvPr id="8" name="圖片 7">
            <a:extLst>
              <a:ext uri="{FF2B5EF4-FFF2-40B4-BE49-F238E27FC236}">
                <a16:creationId xmlns:a16="http://schemas.microsoft.com/office/drawing/2014/main" id="{1F658D2B-4DF8-46AC-BCBF-3C1E02DF206A}"/>
              </a:ext>
            </a:extLst>
          </p:cNvPr>
          <p:cNvPicPr>
            <a:picLocks noChangeAspect="1"/>
          </p:cNvPicPr>
          <p:nvPr/>
        </p:nvPicPr>
        <p:blipFill>
          <a:blip r:embed="rId3"/>
          <a:stretch>
            <a:fillRect/>
          </a:stretch>
        </p:blipFill>
        <p:spPr>
          <a:xfrm>
            <a:off x="8671454" y="3388661"/>
            <a:ext cx="2269595" cy="1530180"/>
          </a:xfrm>
          <a:prstGeom prst="rect">
            <a:avLst/>
          </a:prstGeom>
          <a:ln w="12700">
            <a:solidFill>
              <a:schemeClr val="bg1"/>
            </a:solidFill>
          </a:ln>
        </p:spPr>
      </p:pic>
    </p:spTree>
    <p:extLst>
      <p:ext uri="{BB962C8B-B14F-4D97-AF65-F5344CB8AC3E}">
        <p14:creationId xmlns:p14="http://schemas.microsoft.com/office/powerpoint/2010/main" val="20390938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9CC8B8-4765-44BC-A5B3-C8F3B97AC676}"/>
              </a:ext>
            </a:extLst>
          </p:cNvPr>
          <p:cNvSpPr>
            <a:spLocks noGrp="1"/>
          </p:cNvSpPr>
          <p:nvPr>
            <p:ph type="title"/>
          </p:nvPr>
        </p:nvSpPr>
        <p:spPr/>
        <p:txBody>
          <a:bodyPr/>
          <a:lstStyle/>
          <a:p>
            <a:r>
              <a:rPr lang="zh-TW" altLang="en-US" dirty="0"/>
              <a:t>浮點數</a:t>
            </a:r>
            <a:r>
              <a:rPr lang="en-US" altLang="zh-TW" dirty="0"/>
              <a:t>(3/5)</a:t>
            </a:r>
            <a:endParaRPr lang="zh-TW" altLang="en-US" dirty="0"/>
          </a:p>
        </p:txBody>
      </p:sp>
      <p:sp>
        <p:nvSpPr>
          <p:cNvPr id="3" name="內容版面配置區 2">
            <a:extLst>
              <a:ext uri="{FF2B5EF4-FFF2-40B4-BE49-F238E27FC236}">
                <a16:creationId xmlns:a16="http://schemas.microsoft.com/office/drawing/2014/main" id="{4BC629BA-CA87-4A14-AB50-B5DB2E27545F}"/>
              </a:ext>
            </a:extLst>
          </p:cNvPr>
          <p:cNvSpPr>
            <a:spLocks noGrp="1"/>
          </p:cNvSpPr>
          <p:nvPr>
            <p:ph idx="1"/>
          </p:nvPr>
        </p:nvSpPr>
        <p:spPr/>
        <p:txBody>
          <a:bodyPr/>
          <a:lstStyle/>
          <a:p>
            <a:r>
              <a:rPr lang="zh-TW" altLang="en-US" dirty="0"/>
              <a:t>不論顯示或儲存一個</a:t>
            </a:r>
            <a:r>
              <a:rPr lang="zh-TW" altLang="en-US" dirty="0">
                <a:solidFill>
                  <a:schemeClr val="accent4"/>
                </a:solidFill>
              </a:rPr>
              <a:t>過大的浮點數</a:t>
            </a:r>
            <a:r>
              <a:rPr lang="zh-TW" altLang="en-US" dirty="0"/>
              <a:t>，將產生</a:t>
            </a:r>
            <a:r>
              <a:rPr lang="zh-TW" altLang="en-US" dirty="0">
                <a:solidFill>
                  <a:schemeClr val="accent4"/>
                </a:solidFill>
              </a:rPr>
              <a:t>溢位</a:t>
            </a:r>
            <a:r>
              <a:rPr lang="en-US" altLang="zh-TW" dirty="0"/>
              <a:t>(overflow)</a:t>
            </a:r>
            <a:r>
              <a:rPr lang="zh-TW" altLang="en-US" dirty="0"/>
              <a:t>問題，此時螢幕上會顯示錯誤訊息。</a:t>
            </a:r>
          </a:p>
        </p:txBody>
      </p:sp>
      <p:sp>
        <p:nvSpPr>
          <p:cNvPr id="4" name="投影片編號版面配置區 3">
            <a:extLst>
              <a:ext uri="{FF2B5EF4-FFF2-40B4-BE49-F238E27FC236}">
                <a16:creationId xmlns:a16="http://schemas.microsoft.com/office/drawing/2014/main" id="{625EF499-8AA4-4668-8B6E-57E7F1E20B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242C57DF-99B7-49A2-89BD-5468C0112010}"/>
              </a:ext>
            </a:extLst>
          </p:cNvPr>
          <p:cNvPicPr>
            <a:picLocks noChangeAspect="1"/>
          </p:cNvPicPr>
          <p:nvPr/>
        </p:nvPicPr>
        <p:blipFill>
          <a:blip r:embed="rId2"/>
          <a:stretch>
            <a:fillRect/>
          </a:stretch>
        </p:blipFill>
        <p:spPr>
          <a:xfrm>
            <a:off x="2623048" y="3562120"/>
            <a:ext cx="6945904" cy="1125494"/>
          </a:xfrm>
          <a:prstGeom prst="rect">
            <a:avLst/>
          </a:prstGeom>
        </p:spPr>
      </p:pic>
      <p:pic>
        <p:nvPicPr>
          <p:cNvPr id="8" name="圖片 7">
            <a:extLst>
              <a:ext uri="{FF2B5EF4-FFF2-40B4-BE49-F238E27FC236}">
                <a16:creationId xmlns:a16="http://schemas.microsoft.com/office/drawing/2014/main" id="{F5DB1B87-7A62-48E5-A53B-26973F9B787E}"/>
              </a:ext>
            </a:extLst>
          </p:cNvPr>
          <p:cNvPicPr>
            <a:picLocks noChangeAspect="1"/>
          </p:cNvPicPr>
          <p:nvPr/>
        </p:nvPicPr>
        <p:blipFill>
          <a:blip r:embed="rId3"/>
          <a:stretch>
            <a:fillRect/>
          </a:stretch>
        </p:blipFill>
        <p:spPr>
          <a:xfrm>
            <a:off x="3156705" y="5196584"/>
            <a:ext cx="5878589" cy="994666"/>
          </a:xfrm>
          <a:prstGeom prst="rect">
            <a:avLst/>
          </a:prstGeom>
        </p:spPr>
      </p:pic>
    </p:spTree>
    <p:extLst>
      <p:ext uri="{BB962C8B-B14F-4D97-AF65-F5344CB8AC3E}">
        <p14:creationId xmlns:p14="http://schemas.microsoft.com/office/powerpoint/2010/main" val="6472427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305010-0648-4550-A7C5-89919B1BA174}"/>
              </a:ext>
            </a:extLst>
          </p:cNvPr>
          <p:cNvSpPr>
            <a:spLocks noGrp="1"/>
          </p:cNvSpPr>
          <p:nvPr>
            <p:ph type="title"/>
          </p:nvPr>
        </p:nvSpPr>
        <p:spPr/>
        <p:txBody>
          <a:bodyPr/>
          <a:lstStyle/>
          <a:p>
            <a:r>
              <a:rPr lang="zh-TW" altLang="en-US" dirty="0"/>
              <a:t>浮點數</a:t>
            </a:r>
            <a:r>
              <a:rPr lang="en-US" altLang="zh-TW" dirty="0"/>
              <a:t>(4/5)</a:t>
            </a:r>
            <a:endParaRPr lang="zh-TW" altLang="en-US" dirty="0"/>
          </a:p>
        </p:txBody>
      </p:sp>
      <p:sp>
        <p:nvSpPr>
          <p:cNvPr id="3" name="內容版面配置區 2">
            <a:extLst>
              <a:ext uri="{FF2B5EF4-FFF2-40B4-BE49-F238E27FC236}">
                <a16:creationId xmlns:a16="http://schemas.microsoft.com/office/drawing/2014/main" id="{E5D258CF-DEB2-40AE-A85E-1EAAC00333AC}"/>
              </a:ext>
            </a:extLst>
          </p:cNvPr>
          <p:cNvSpPr>
            <a:spLocks noGrp="1"/>
          </p:cNvSpPr>
          <p:nvPr>
            <p:ph idx="1"/>
          </p:nvPr>
        </p:nvSpPr>
        <p:spPr/>
        <p:txBody>
          <a:bodyPr/>
          <a:lstStyle/>
          <a:p>
            <a:r>
              <a:rPr lang="zh-TW" altLang="en-US" dirty="0"/>
              <a:t>從數學的角度，浮點數包含整數，按理整數是可以用浮點數表示。</a:t>
            </a:r>
            <a:endParaRPr lang="en-US" altLang="zh-TW" dirty="0"/>
          </a:p>
          <a:p>
            <a:pPr lvl="1"/>
            <a:r>
              <a:rPr lang="zh-TW" altLang="en-US" dirty="0"/>
              <a:t>對電腦而言，兩者有相當大的差別。</a:t>
            </a:r>
            <a:endParaRPr lang="en-US" altLang="zh-TW" dirty="0"/>
          </a:p>
          <a:p>
            <a:pPr lvl="1"/>
            <a:r>
              <a:rPr lang="zh-TW" altLang="en-US" dirty="0"/>
              <a:t>主要原因是有</a:t>
            </a:r>
            <a:r>
              <a:rPr lang="zh-TW" altLang="en-US" dirty="0">
                <a:solidFill>
                  <a:schemeClr val="accent4"/>
                </a:solidFill>
              </a:rPr>
              <a:t>循環小數</a:t>
            </a:r>
            <a:r>
              <a:rPr lang="zh-TW" altLang="en-US" dirty="0"/>
              <a:t>、</a:t>
            </a:r>
            <a:r>
              <a:rPr lang="zh-TW" altLang="en-US" dirty="0">
                <a:solidFill>
                  <a:schemeClr val="accent4"/>
                </a:solidFill>
              </a:rPr>
              <a:t>無理數</a:t>
            </a:r>
            <a:r>
              <a:rPr lang="zh-TW" altLang="en-US" dirty="0"/>
              <a:t>等小數點後有無窮多個數字的問題。</a:t>
            </a:r>
            <a:endParaRPr lang="en-US" altLang="zh-TW" dirty="0"/>
          </a:p>
          <a:p>
            <a:pPr lvl="2"/>
            <a:r>
              <a:rPr lang="en-US" altLang="zh-TW" dirty="0"/>
              <a:t>e.g., 1/3</a:t>
            </a:r>
            <a:r>
              <a:rPr lang="zh-TW" altLang="en-US" dirty="0"/>
              <a:t>、</a:t>
            </a:r>
            <a:r>
              <a:rPr lang="en-US" altLang="zh-TW" dirty="0"/>
              <a:t>log</a:t>
            </a:r>
            <a:r>
              <a:rPr lang="en-US" altLang="zh-TW" baseline="-25000" dirty="0"/>
              <a:t>10</a:t>
            </a:r>
            <a:r>
              <a:rPr lang="en-US" altLang="zh-TW" dirty="0"/>
              <a:t>3</a:t>
            </a:r>
            <a:r>
              <a:rPr lang="zh-TW" altLang="en-US" dirty="0"/>
              <a:t>、</a:t>
            </a:r>
            <a:r>
              <a:rPr lang="en-US" altLang="zh-TW" i="1" dirty="0">
                <a:latin typeface="Times New Roman" panose="02020603050405020304" pitchFamily="18" charset="0"/>
                <a:ea typeface="Cambria Math" panose="02040503050406030204" pitchFamily="18" charset="0"/>
                <a:cs typeface="Times New Roman" panose="02020603050405020304" pitchFamily="18" charset="0"/>
              </a:rPr>
              <a:t>π</a:t>
            </a:r>
            <a:r>
              <a:rPr lang="zh-TW" altLang="en-US" dirty="0"/>
              <a:t>、</a:t>
            </a:r>
            <a:r>
              <a:rPr lang="en-US" altLang="zh-TW" i="1" dirty="0">
                <a:latin typeface="Times New Roman" panose="02020603050405020304" pitchFamily="18" charset="0"/>
                <a:ea typeface="Cambria Math" panose="02040503050406030204" pitchFamily="18" charset="0"/>
                <a:cs typeface="Times New Roman" panose="02020603050405020304" pitchFamily="18" charset="0"/>
              </a:rPr>
              <a:t>e</a:t>
            </a:r>
          </a:p>
          <a:p>
            <a:pPr lvl="1"/>
            <a:endParaRPr lang="en-US" altLang="zh-TW" dirty="0"/>
          </a:p>
          <a:p>
            <a:r>
              <a:rPr lang="zh-TW" altLang="en-US" dirty="0"/>
              <a:t>有限儲存空間無法完整儲存這些擁有無窮小數的數值</a:t>
            </a:r>
            <a:endParaRPr lang="en-US" altLang="zh-TW" dirty="0"/>
          </a:p>
          <a:p>
            <a:pPr lvl="1"/>
            <a:r>
              <a:rPr lang="zh-TW" altLang="en-US" dirty="0"/>
              <a:t>退而求其次採用 </a:t>
            </a:r>
            <a:r>
              <a:rPr lang="en-US" altLang="zh-TW" dirty="0"/>
              <a:t>IEEE 756</a:t>
            </a:r>
            <a:r>
              <a:rPr lang="zh-TW" altLang="en-US" dirty="0"/>
              <a:t> 雙精度浮點數格式來儲存其</a:t>
            </a:r>
            <a:r>
              <a:rPr lang="zh-TW" altLang="en-US" dirty="0">
                <a:solidFill>
                  <a:schemeClr val="accent4"/>
                </a:solidFill>
              </a:rPr>
              <a:t>近似值</a:t>
            </a:r>
            <a:endParaRPr lang="en-US" altLang="zh-TW" dirty="0">
              <a:solidFill>
                <a:schemeClr val="accent4"/>
              </a:solidFill>
            </a:endParaRPr>
          </a:p>
          <a:p>
            <a:endParaRPr lang="zh-TW" altLang="en-US" dirty="0"/>
          </a:p>
        </p:txBody>
      </p:sp>
      <p:sp>
        <p:nvSpPr>
          <p:cNvPr id="4" name="投影片編號版面配置區 3">
            <a:extLst>
              <a:ext uri="{FF2B5EF4-FFF2-40B4-BE49-F238E27FC236}">
                <a16:creationId xmlns:a16="http://schemas.microsoft.com/office/drawing/2014/main" id="{C6100B6A-2E2F-4B3C-B8CF-3C78FA772E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211421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D8C8B2-A337-4DB9-8209-E64DBF5ACB98}"/>
              </a:ext>
            </a:extLst>
          </p:cNvPr>
          <p:cNvSpPr>
            <a:spLocks noGrp="1"/>
          </p:cNvSpPr>
          <p:nvPr>
            <p:ph type="title"/>
          </p:nvPr>
        </p:nvSpPr>
        <p:spPr/>
        <p:txBody>
          <a:bodyPr/>
          <a:lstStyle/>
          <a:p>
            <a:r>
              <a:rPr lang="zh-TW" altLang="en-US" dirty="0"/>
              <a:t>浮點數</a:t>
            </a:r>
            <a:r>
              <a:rPr lang="en-US" altLang="zh-TW" dirty="0"/>
              <a:t>(5/5)</a:t>
            </a:r>
            <a:endParaRPr lang="zh-TW" altLang="en-US" dirty="0"/>
          </a:p>
        </p:txBody>
      </p:sp>
      <p:sp>
        <p:nvSpPr>
          <p:cNvPr id="3" name="內容版面配置區 2">
            <a:extLst>
              <a:ext uri="{FF2B5EF4-FFF2-40B4-BE49-F238E27FC236}">
                <a16:creationId xmlns:a16="http://schemas.microsoft.com/office/drawing/2014/main" id="{BC5B69EB-9706-4FB9-A977-301992B305BC}"/>
              </a:ext>
            </a:extLst>
          </p:cNvPr>
          <p:cNvSpPr>
            <a:spLocks noGrp="1"/>
          </p:cNvSpPr>
          <p:nvPr>
            <p:ph idx="1"/>
          </p:nvPr>
        </p:nvSpPr>
        <p:spPr/>
        <p:txBody>
          <a:bodyPr/>
          <a:lstStyle/>
          <a:p>
            <a:r>
              <a:rPr lang="zh-TW" altLang="en-US" dirty="0"/>
              <a:t>以 </a:t>
            </a:r>
            <a:r>
              <a:rPr lang="en-US" altLang="zh-TW" dirty="0"/>
              <a:t>0.1 </a:t>
            </a:r>
            <a:r>
              <a:rPr lang="zh-TW" altLang="en-US" dirty="0"/>
              <a:t>為例，若讓 </a:t>
            </a:r>
            <a:r>
              <a:rPr lang="en-US" altLang="zh-TW" dirty="0"/>
              <a:t>Python </a:t>
            </a:r>
            <a:r>
              <a:rPr lang="zh-TW" altLang="en-US" dirty="0"/>
              <a:t>輸出完整的近似值，畫面上會看到 </a:t>
            </a:r>
            <a:r>
              <a:rPr lang="en-US" altLang="zh-TW" dirty="0"/>
              <a:t>0.1000000000000000055511151231257827021181583404541015625 </a:t>
            </a:r>
            <a:r>
              <a:rPr lang="en-US" altLang="zh-TW" dirty="0">
                <a:sym typeface="Wingdings" panose="05000000000000000000" pitchFamily="2" charset="2"/>
              </a:rPr>
              <a:t></a:t>
            </a:r>
            <a:endParaRPr lang="zh-TW" altLang="en-US" dirty="0"/>
          </a:p>
        </p:txBody>
      </p:sp>
      <p:sp>
        <p:nvSpPr>
          <p:cNvPr id="4" name="投影片編號版面配置區 3">
            <a:extLst>
              <a:ext uri="{FF2B5EF4-FFF2-40B4-BE49-F238E27FC236}">
                <a16:creationId xmlns:a16="http://schemas.microsoft.com/office/drawing/2014/main" id="{46106BB6-88F2-4085-9F2E-7413827AD4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0D6A983C-E160-46B0-BF13-A59660BD1635}"/>
              </a:ext>
            </a:extLst>
          </p:cNvPr>
          <p:cNvPicPr>
            <a:picLocks noChangeAspect="1"/>
          </p:cNvPicPr>
          <p:nvPr/>
        </p:nvPicPr>
        <p:blipFill>
          <a:blip r:embed="rId2"/>
          <a:stretch>
            <a:fillRect/>
          </a:stretch>
        </p:blipFill>
        <p:spPr>
          <a:xfrm>
            <a:off x="1128909" y="4232375"/>
            <a:ext cx="7279368" cy="1573083"/>
          </a:xfrm>
          <a:prstGeom prst="rect">
            <a:avLst/>
          </a:prstGeom>
        </p:spPr>
      </p:pic>
      <p:pic>
        <p:nvPicPr>
          <p:cNvPr id="8" name="圖片 7">
            <a:extLst>
              <a:ext uri="{FF2B5EF4-FFF2-40B4-BE49-F238E27FC236}">
                <a16:creationId xmlns:a16="http://schemas.microsoft.com/office/drawing/2014/main" id="{5F5FA565-4CDA-4D24-A044-68129A7E6194}"/>
              </a:ext>
            </a:extLst>
          </p:cNvPr>
          <p:cNvPicPr>
            <a:picLocks noChangeAspect="1"/>
          </p:cNvPicPr>
          <p:nvPr/>
        </p:nvPicPr>
        <p:blipFill>
          <a:blip r:embed="rId3"/>
          <a:stretch>
            <a:fillRect/>
          </a:stretch>
        </p:blipFill>
        <p:spPr>
          <a:xfrm>
            <a:off x="7668777" y="3843264"/>
            <a:ext cx="3394314" cy="1182867"/>
          </a:xfrm>
          <a:prstGeom prst="rect">
            <a:avLst/>
          </a:prstGeom>
          <a:ln w="12700">
            <a:solidFill>
              <a:schemeClr val="bg1"/>
            </a:solidFill>
          </a:ln>
        </p:spPr>
      </p:pic>
    </p:spTree>
    <p:extLst>
      <p:ext uri="{BB962C8B-B14F-4D97-AF65-F5344CB8AC3E}">
        <p14:creationId xmlns:p14="http://schemas.microsoft.com/office/powerpoint/2010/main" val="75988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C412FB-696D-4F0B-A968-F72E4D3E5EB4}"/>
              </a:ext>
            </a:extLst>
          </p:cNvPr>
          <p:cNvSpPr>
            <a:spLocks noGrp="1"/>
          </p:cNvSpPr>
          <p:nvPr>
            <p:ph type="title"/>
          </p:nvPr>
        </p:nvSpPr>
        <p:spPr/>
        <p:txBody>
          <a:bodyPr/>
          <a:lstStyle/>
          <a:p>
            <a:r>
              <a:rPr lang="en-US" altLang="zh-TW" dirty="0"/>
              <a:t>Python </a:t>
            </a:r>
            <a:r>
              <a:rPr lang="zh-TW" altLang="en-US" dirty="0"/>
              <a:t>基本資料型別</a:t>
            </a:r>
            <a:r>
              <a:rPr lang="en-US" altLang="zh-TW" dirty="0"/>
              <a:t>(3/4)</a:t>
            </a:r>
            <a:endParaRPr lang="zh-TW" altLang="en-US" dirty="0"/>
          </a:p>
        </p:txBody>
      </p:sp>
      <p:sp>
        <p:nvSpPr>
          <p:cNvPr id="3" name="內容版面配置區 2">
            <a:extLst>
              <a:ext uri="{FF2B5EF4-FFF2-40B4-BE49-F238E27FC236}">
                <a16:creationId xmlns:a16="http://schemas.microsoft.com/office/drawing/2014/main" id="{4A0BF2FB-BB13-4E8E-9752-412206CD8E85}"/>
              </a:ext>
            </a:extLst>
          </p:cNvPr>
          <p:cNvSpPr>
            <a:spLocks noGrp="1"/>
          </p:cNvSpPr>
          <p:nvPr>
            <p:ph idx="1"/>
          </p:nvPr>
        </p:nvSpPr>
        <p:spPr/>
        <p:txBody>
          <a:bodyPr/>
          <a:lstStyle/>
          <a:p>
            <a:pPr marL="514350" indent="-514350">
              <a:buFont typeface="Wingdings" panose="05000000000000000000" pitchFamily="2" charset="2"/>
              <a:buAutoNum type="circleNumWdWhitePlain" startAt="2"/>
            </a:pPr>
            <a:r>
              <a:rPr lang="zh-TW" altLang="en-US" dirty="0"/>
              <a:t>布林</a:t>
            </a:r>
            <a:r>
              <a:rPr lang="en-US" altLang="zh-TW" dirty="0"/>
              <a:t>(</a:t>
            </a:r>
            <a:r>
              <a:rPr lang="en-US" altLang="zh-TW" dirty="0" err="1"/>
              <a:t>boolean</a:t>
            </a:r>
            <a:r>
              <a:rPr lang="en-US" altLang="zh-TW" dirty="0"/>
              <a:t>)</a:t>
            </a:r>
          </a:p>
          <a:p>
            <a:pPr lvl="1"/>
            <a:r>
              <a:rPr lang="zh-TW" altLang="en-US" dirty="0"/>
              <a:t>真</a:t>
            </a:r>
            <a:r>
              <a:rPr lang="en-US" altLang="zh-TW" dirty="0"/>
              <a:t>(</a:t>
            </a:r>
            <a:r>
              <a:rPr lang="en-US" altLang="zh-TW" dirty="0">
                <a:solidFill>
                  <a:schemeClr val="accent4"/>
                </a:solidFill>
              </a:rPr>
              <a:t>T</a:t>
            </a:r>
            <a:r>
              <a:rPr lang="en-US" altLang="zh-TW" dirty="0"/>
              <a:t>rue)</a:t>
            </a:r>
            <a:r>
              <a:rPr lang="zh-TW" altLang="en-US" dirty="0"/>
              <a:t>、假</a:t>
            </a:r>
            <a:r>
              <a:rPr lang="en-US" altLang="zh-TW" dirty="0"/>
              <a:t>(</a:t>
            </a:r>
            <a:r>
              <a:rPr lang="en-US" altLang="zh-TW" dirty="0">
                <a:solidFill>
                  <a:schemeClr val="accent4"/>
                </a:solidFill>
              </a:rPr>
              <a:t>F</a:t>
            </a:r>
            <a:r>
              <a:rPr lang="en-US" altLang="zh-TW" dirty="0"/>
              <a:t>alse)</a:t>
            </a:r>
          </a:p>
          <a:p>
            <a:endParaRPr lang="zh-TW" altLang="en-US" dirty="0"/>
          </a:p>
        </p:txBody>
      </p:sp>
      <p:sp>
        <p:nvSpPr>
          <p:cNvPr id="4" name="投影片編號版面配置區 3">
            <a:extLst>
              <a:ext uri="{FF2B5EF4-FFF2-40B4-BE49-F238E27FC236}">
                <a16:creationId xmlns:a16="http://schemas.microsoft.com/office/drawing/2014/main" id="{FF9AC039-C5C5-4E6C-A4DB-50A1262A45C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5" name="語音泡泡: 圓角矩形 4">
            <a:extLst>
              <a:ext uri="{FF2B5EF4-FFF2-40B4-BE49-F238E27FC236}">
                <a16:creationId xmlns:a16="http://schemas.microsoft.com/office/drawing/2014/main" id="{DA2A4B2D-3F83-4A3E-8EB2-05DB98D603F1}"/>
              </a:ext>
            </a:extLst>
          </p:cNvPr>
          <p:cNvSpPr/>
          <p:nvPr/>
        </p:nvSpPr>
        <p:spPr>
          <a:xfrm>
            <a:off x="5506935" y="2187931"/>
            <a:ext cx="2602523" cy="724486"/>
          </a:xfrm>
          <a:prstGeom prst="wedgeRoundRectCallout">
            <a:avLst>
              <a:gd name="adj1" fmla="val -74616"/>
              <a:gd name="adj2" fmla="val -3520"/>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大小寫有別</a:t>
            </a:r>
          </a:p>
        </p:txBody>
      </p:sp>
      <p:pic>
        <p:nvPicPr>
          <p:cNvPr id="8" name="圖片 7">
            <a:extLst>
              <a:ext uri="{FF2B5EF4-FFF2-40B4-BE49-F238E27FC236}">
                <a16:creationId xmlns:a16="http://schemas.microsoft.com/office/drawing/2014/main" id="{319612E1-D431-4463-B2DE-9A7B294DE9C2}"/>
              </a:ext>
            </a:extLst>
          </p:cNvPr>
          <p:cNvPicPr>
            <a:picLocks noChangeAspect="1"/>
          </p:cNvPicPr>
          <p:nvPr/>
        </p:nvPicPr>
        <p:blipFill>
          <a:blip r:embed="rId2"/>
          <a:stretch>
            <a:fillRect/>
          </a:stretch>
        </p:blipFill>
        <p:spPr>
          <a:xfrm>
            <a:off x="1425634" y="3945584"/>
            <a:ext cx="4670366" cy="1213957"/>
          </a:xfrm>
          <a:prstGeom prst="rect">
            <a:avLst/>
          </a:prstGeom>
        </p:spPr>
      </p:pic>
      <p:pic>
        <p:nvPicPr>
          <p:cNvPr id="10" name="圖片 9">
            <a:extLst>
              <a:ext uri="{FF2B5EF4-FFF2-40B4-BE49-F238E27FC236}">
                <a16:creationId xmlns:a16="http://schemas.microsoft.com/office/drawing/2014/main" id="{3661E18F-F0B5-44F2-9D22-D1F0D711720E}"/>
              </a:ext>
            </a:extLst>
          </p:cNvPr>
          <p:cNvPicPr>
            <a:picLocks noChangeAspect="1"/>
          </p:cNvPicPr>
          <p:nvPr/>
        </p:nvPicPr>
        <p:blipFill>
          <a:blip r:embed="rId3"/>
          <a:stretch>
            <a:fillRect/>
          </a:stretch>
        </p:blipFill>
        <p:spPr>
          <a:xfrm>
            <a:off x="6613870" y="4112271"/>
            <a:ext cx="1495588" cy="880581"/>
          </a:xfrm>
          <a:prstGeom prst="rect">
            <a:avLst/>
          </a:prstGeom>
        </p:spPr>
      </p:pic>
    </p:spTree>
    <p:extLst>
      <p:ext uri="{BB962C8B-B14F-4D97-AF65-F5344CB8AC3E}">
        <p14:creationId xmlns:p14="http://schemas.microsoft.com/office/powerpoint/2010/main" val="1630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Python </a:t>
            </a:r>
            <a:r>
              <a:rPr lang="zh-TW" altLang="en-US" dirty="0"/>
              <a:t>基本資料型別</a:t>
            </a:r>
            <a:r>
              <a:rPr lang="en-US" altLang="zh-TW" dirty="0"/>
              <a:t>(4/4)</a:t>
            </a:r>
            <a:endParaRPr lang="zh-TW" altLang="en-US" dirty="0"/>
          </a:p>
        </p:txBody>
      </p:sp>
      <p:sp>
        <p:nvSpPr>
          <p:cNvPr id="3" name="內容版面配置區 2"/>
          <p:cNvSpPr>
            <a:spLocks noGrp="1"/>
          </p:cNvSpPr>
          <p:nvPr>
            <p:ph idx="1"/>
          </p:nvPr>
        </p:nvSpPr>
        <p:spPr/>
        <p:txBody>
          <a:bodyPr/>
          <a:lstStyle/>
          <a:p>
            <a:pPr marL="514350" indent="-514350">
              <a:buFont typeface="Wingdings" panose="05000000000000000000" pitchFamily="2" charset="2"/>
              <a:buAutoNum type="circleNumWdWhitePlain" startAt="3"/>
            </a:pPr>
            <a:r>
              <a:rPr lang="zh-TW" altLang="en-US" dirty="0"/>
              <a:t>字串</a:t>
            </a:r>
            <a:r>
              <a:rPr lang="en-US" altLang="zh-TW" dirty="0"/>
              <a:t>(string)</a:t>
            </a:r>
            <a:endParaRPr lang="zh-TW" altLang="en-US" dirty="0"/>
          </a:p>
          <a:p>
            <a:pPr lvl="1"/>
            <a:r>
              <a:rPr lang="en-US" altLang="zh-TW" dirty="0"/>
              <a:t>Python </a:t>
            </a:r>
            <a:r>
              <a:rPr lang="zh-TW" altLang="en-US" dirty="0"/>
              <a:t>字串資料型別是變數值以一對</a:t>
            </a:r>
            <a:r>
              <a:rPr lang="zh-TW" altLang="en-US" dirty="0">
                <a:solidFill>
                  <a:schemeClr val="accent4"/>
                </a:solidFill>
              </a:rPr>
              <a:t>雙引號</a:t>
            </a:r>
            <a:r>
              <a:rPr lang="zh-TW" altLang="en-US" dirty="0"/>
              <a:t>「</a:t>
            </a:r>
            <a:r>
              <a:rPr lang="en-US" altLang="zh-TW" dirty="0">
                <a:latin typeface="Consolas" panose="020B0609020204030204" pitchFamily="49" charset="0"/>
              </a:rPr>
              <a:t>"</a:t>
            </a:r>
            <a:r>
              <a:rPr lang="zh-TW" altLang="en-US" dirty="0"/>
              <a:t>」或</a:t>
            </a:r>
            <a:r>
              <a:rPr lang="zh-TW" altLang="en-US" dirty="0">
                <a:solidFill>
                  <a:schemeClr val="accent4"/>
                </a:solidFill>
              </a:rPr>
              <a:t>單引號</a:t>
            </a:r>
            <a:r>
              <a:rPr lang="zh-TW" altLang="en-US" dirty="0"/>
              <a:t>「</a:t>
            </a:r>
            <a:r>
              <a:rPr lang="en-US" altLang="zh-TW" dirty="0">
                <a:latin typeface="Consolas" panose="020B0609020204030204" pitchFamily="49" charset="0"/>
              </a:rPr>
              <a:t>'</a:t>
            </a:r>
            <a:r>
              <a:rPr lang="zh-TW" altLang="en-US" dirty="0"/>
              <a:t>」</a:t>
            </a:r>
            <a:r>
              <a:rPr lang="en-US" altLang="zh-TW" dirty="0"/>
              <a:t> </a:t>
            </a:r>
            <a:r>
              <a:rPr lang="zh-TW" altLang="en-US" dirty="0"/>
              <a:t>包起來，例如：</a:t>
            </a:r>
          </a:p>
          <a:p>
            <a:pPr lvl="2"/>
            <a:r>
              <a:rPr lang="en-US" altLang="zh-TW" dirty="0">
                <a:latin typeface="Consolas" panose="020B0609020204030204" pitchFamily="49" charset="0"/>
              </a:rPr>
              <a:t>str1 = "</a:t>
            </a:r>
            <a:r>
              <a:rPr lang="zh-TW" altLang="en-US" dirty="0"/>
              <a:t>這是字串</a:t>
            </a:r>
            <a:r>
              <a:rPr lang="en-US" altLang="zh-TW" dirty="0">
                <a:latin typeface="Consolas" panose="020B0609020204030204" pitchFamily="49" charset="0"/>
              </a:rPr>
              <a:t>"</a:t>
            </a:r>
          </a:p>
          <a:p>
            <a:pPr lvl="2"/>
            <a:r>
              <a:rPr lang="en-US" altLang="zh-TW" dirty="0">
                <a:latin typeface="Consolas" panose="020B0609020204030204" pitchFamily="49" charset="0"/>
              </a:rPr>
              <a:t>str2 = '</a:t>
            </a:r>
            <a:r>
              <a:rPr lang="zh-TW" altLang="en-US" dirty="0"/>
              <a:t>這也是字串</a:t>
            </a:r>
            <a:r>
              <a:rPr lang="en-US" altLang="zh-TW" dirty="0">
                <a:latin typeface="Consolas" panose="020B0609020204030204" pitchFamily="49" charset="0"/>
              </a:rPr>
              <a:t>'</a:t>
            </a:r>
          </a:p>
          <a:p>
            <a:pPr lvl="2"/>
            <a:endParaRPr lang="en-US" altLang="zh-TW" dirty="0"/>
          </a:p>
          <a:p>
            <a:pPr lvl="1"/>
            <a:r>
              <a:rPr lang="zh-TW" altLang="en-US" dirty="0"/>
              <a:t>如果字串要包含引號本身 </a:t>
            </a:r>
            <a:r>
              <a:rPr lang="en-US" altLang="zh-TW" dirty="0"/>
              <a:t>( </a:t>
            </a:r>
            <a:r>
              <a:rPr lang="zh-TW" altLang="en-US" dirty="0"/>
              <a:t>雙引號或單引號</a:t>
            </a:r>
            <a:r>
              <a:rPr lang="en-US" altLang="zh-TW" dirty="0"/>
              <a:t>)</a:t>
            </a:r>
            <a:r>
              <a:rPr lang="zh-TW" altLang="en-US" dirty="0"/>
              <a:t>，可使用另一種引號包住字串，例如：</a:t>
            </a:r>
          </a:p>
          <a:p>
            <a:pPr lvl="2"/>
            <a:r>
              <a:rPr lang="en-US" altLang="zh-TW" dirty="0">
                <a:latin typeface="Consolas" panose="020B0609020204030204" pitchFamily="49" charset="0"/>
              </a:rPr>
              <a:t>str3 = '</a:t>
            </a:r>
            <a:r>
              <a:rPr lang="zh-TW" altLang="en-US" dirty="0">
                <a:latin typeface="Consolas" panose="020B0609020204030204" pitchFamily="49" charset="0"/>
              </a:rPr>
              <a:t>胡適說過</a:t>
            </a:r>
            <a:r>
              <a:rPr lang="en-US" altLang="zh-TW" dirty="0">
                <a:latin typeface="Consolas" panose="020B0609020204030204" pitchFamily="49" charset="0"/>
              </a:rPr>
              <a:t>"</a:t>
            </a:r>
            <a:r>
              <a:rPr lang="zh-TW" altLang="en-US" dirty="0">
                <a:latin typeface="Consolas" panose="020B0609020204030204" pitchFamily="49" charset="0"/>
              </a:rPr>
              <a:t>要怎麼收穫，先那麼栽</a:t>
            </a:r>
            <a:r>
              <a:rPr lang="en-US" altLang="zh-TW" dirty="0">
                <a:latin typeface="Consolas" panose="020B0609020204030204" pitchFamily="49" charset="0"/>
              </a:rPr>
              <a:t>"'</a:t>
            </a:r>
            <a:endParaRPr lang="zh-TW" altLang="en-US" dirty="0">
              <a:latin typeface="Consolas" panose="020B0609020204030204" pitchFamily="49" charset="0"/>
            </a:endParaRP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178517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033BC-FF89-4E9D-84DF-95F5434D6B37}"/>
              </a:ext>
            </a:extLst>
          </p:cNvPr>
          <p:cNvSpPr>
            <a:spLocks noGrp="1"/>
          </p:cNvSpPr>
          <p:nvPr>
            <p:ph type="title"/>
          </p:nvPr>
        </p:nvSpPr>
        <p:spPr/>
        <p:txBody>
          <a:bodyPr/>
          <a:lstStyle/>
          <a:p>
            <a:r>
              <a:rPr lang="zh-TW" altLang="en-US" dirty="0"/>
              <a:t>字串範例</a:t>
            </a:r>
          </a:p>
        </p:txBody>
      </p:sp>
      <p:sp>
        <p:nvSpPr>
          <p:cNvPr id="3" name="內容版面配置區 2">
            <a:extLst>
              <a:ext uri="{FF2B5EF4-FFF2-40B4-BE49-F238E27FC236}">
                <a16:creationId xmlns:a16="http://schemas.microsoft.com/office/drawing/2014/main" id="{C835DA09-F2FD-46C8-BCF4-8657DEA4205F}"/>
              </a:ext>
            </a:extLst>
          </p:cNvPr>
          <p:cNvSpPr>
            <a:spLocks noGrp="1"/>
          </p:cNvSpPr>
          <p:nvPr>
            <p:ph idx="1"/>
          </p:nvPr>
        </p:nvSpPr>
        <p:spPr/>
        <p:txBody>
          <a:bodyPr/>
          <a:lstStyle/>
          <a:p>
            <a:r>
              <a:rPr lang="zh-TW" altLang="en-US" dirty="0"/>
              <a:t>有時候一串數字應該被當成字串來對待</a:t>
            </a:r>
            <a:endParaRPr lang="en-US" altLang="zh-TW" dirty="0"/>
          </a:p>
          <a:p>
            <a:pPr lvl="1"/>
            <a:r>
              <a:rPr lang="zh-TW" altLang="en-US" dirty="0"/>
              <a:t>例如電話號碼 </a:t>
            </a:r>
            <a:r>
              <a:rPr lang="en-US" altLang="zh-TW" dirty="0"/>
              <a:t>0912345678</a:t>
            </a:r>
            <a:endParaRPr lang="zh-TW" altLang="en-US" dirty="0"/>
          </a:p>
        </p:txBody>
      </p:sp>
      <p:sp>
        <p:nvSpPr>
          <p:cNvPr id="4" name="投影片編號版面配置區 3">
            <a:extLst>
              <a:ext uri="{FF2B5EF4-FFF2-40B4-BE49-F238E27FC236}">
                <a16:creationId xmlns:a16="http://schemas.microsoft.com/office/drawing/2014/main" id="{D31C40CD-95BD-44CD-8605-580F0C6A11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D1D945EF-37E9-45D0-8EBC-9A185D023260}"/>
              </a:ext>
            </a:extLst>
          </p:cNvPr>
          <p:cNvPicPr>
            <a:picLocks noChangeAspect="1"/>
          </p:cNvPicPr>
          <p:nvPr/>
        </p:nvPicPr>
        <p:blipFill>
          <a:blip r:embed="rId2"/>
          <a:stretch>
            <a:fillRect/>
          </a:stretch>
        </p:blipFill>
        <p:spPr>
          <a:xfrm>
            <a:off x="1022363" y="3510456"/>
            <a:ext cx="7448974" cy="2241058"/>
          </a:xfrm>
          <a:prstGeom prst="rect">
            <a:avLst/>
          </a:prstGeom>
        </p:spPr>
      </p:pic>
      <p:pic>
        <p:nvPicPr>
          <p:cNvPr id="8" name="圖片 7">
            <a:extLst>
              <a:ext uri="{FF2B5EF4-FFF2-40B4-BE49-F238E27FC236}">
                <a16:creationId xmlns:a16="http://schemas.microsoft.com/office/drawing/2014/main" id="{7A1DDDB2-8931-4CAD-98D2-F6B61C8A2DA2}"/>
              </a:ext>
            </a:extLst>
          </p:cNvPr>
          <p:cNvPicPr>
            <a:picLocks noChangeAspect="1"/>
          </p:cNvPicPr>
          <p:nvPr/>
        </p:nvPicPr>
        <p:blipFill rotWithShape="1">
          <a:blip r:embed="rId3"/>
          <a:srcRect t="3479"/>
          <a:stretch/>
        </p:blipFill>
        <p:spPr>
          <a:xfrm>
            <a:off x="6926868" y="4408170"/>
            <a:ext cx="4611095" cy="1058654"/>
          </a:xfrm>
          <a:prstGeom prst="rect">
            <a:avLst/>
          </a:prstGeom>
          <a:ln w="12700">
            <a:solidFill>
              <a:schemeClr val="bg1"/>
            </a:solidFill>
          </a:ln>
        </p:spPr>
      </p:pic>
    </p:spTree>
    <p:extLst>
      <p:ext uri="{BB962C8B-B14F-4D97-AF65-F5344CB8AC3E}">
        <p14:creationId xmlns:p14="http://schemas.microsoft.com/office/powerpoint/2010/main" val="150395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跳脫字元</a:t>
            </a:r>
            <a:r>
              <a:rPr lang="en-US" altLang="zh-TW" dirty="0"/>
              <a:t>(escape character)(1/2)</a:t>
            </a:r>
            <a:endParaRPr lang="zh-TW" altLang="en-US" dirty="0"/>
          </a:p>
        </p:txBody>
      </p:sp>
      <p:sp>
        <p:nvSpPr>
          <p:cNvPr id="3" name="內容版面配置區 2"/>
          <p:cNvSpPr>
            <a:spLocks noGrp="1"/>
          </p:cNvSpPr>
          <p:nvPr>
            <p:ph idx="1"/>
          </p:nvPr>
        </p:nvSpPr>
        <p:spPr/>
        <p:txBody>
          <a:bodyPr/>
          <a:lstStyle/>
          <a:p>
            <a:r>
              <a:rPr lang="zh-TW" altLang="en-US" dirty="0"/>
              <a:t>若字串含有</a:t>
            </a:r>
            <a:r>
              <a:rPr lang="zh-TW" altLang="en-US" dirty="0">
                <a:solidFill>
                  <a:schemeClr val="accent4"/>
                </a:solidFill>
              </a:rPr>
              <a:t>特殊字元</a:t>
            </a:r>
            <a:r>
              <a:rPr lang="zh-TW" altLang="en-US" dirty="0"/>
              <a:t>（如 </a:t>
            </a:r>
            <a:r>
              <a:rPr lang="en-US" altLang="zh-TW" dirty="0"/>
              <a:t>Tab</a:t>
            </a:r>
            <a:r>
              <a:rPr lang="zh-TW" altLang="en-US" dirty="0"/>
              <a:t>、換行等），要使用</a:t>
            </a:r>
            <a:r>
              <a:rPr lang="zh-TW" altLang="en-US" dirty="0">
                <a:solidFill>
                  <a:schemeClr val="accent4"/>
                </a:solidFill>
              </a:rPr>
              <a:t>跳脫字元</a:t>
            </a:r>
            <a:r>
              <a:rPr lang="zh-TW" altLang="en-US" dirty="0"/>
              <a:t>。</a:t>
            </a:r>
            <a:endParaRPr lang="en-US" altLang="zh-TW" dirty="0"/>
          </a:p>
          <a:p>
            <a:pPr lvl="1"/>
            <a:r>
              <a:rPr lang="zh-TW" altLang="en-US" dirty="0"/>
              <a:t>以倒斜線字元「</a:t>
            </a:r>
            <a:r>
              <a:rPr lang="en-US" altLang="zh-TW" dirty="0"/>
              <a:t>\</a:t>
            </a:r>
            <a:r>
              <a:rPr lang="zh-TW" altLang="en-US" dirty="0"/>
              <a:t>」開頭，後面接一定格式的字元來代表特定意義。</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8" name="圖片 7">
            <a:extLst>
              <a:ext uri="{FF2B5EF4-FFF2-40B4-BE49-F238E27FC236}">
                <a16:creationId xmlns:a16="http://schemas.microsoft.com/office/drawing/2014/main" id="{192F0C68-6027-4B18-B05D-8D15119117B2}"/>
              </a:ext>
            </a:extLst>
          </p:cNvPr>
          <p:cNvPicPr>
            <a:picLocks noChangeAspect="1"/>
          </p:cNvPicPr>
          <p:nvPr/>
        </p:nvPicPr>
        <p:blipFill>
          <a:blip r:embed="rId2"/>
          <a:stretch>
            <a:fillRect/>
          </a:stretch>
        </p:blipFill>
        <p:spPr>
          <a:xfrm>
            <a:off x="1726457" y="3084514"/>
            <a:ext cx="8739086" cy="3173411"/>
          </a:xfrm>
          <a:prstGeom prst="rect">
            <a:avLst/>
          </a:prstGeom>
        </p:spPr>
      </p:pic>
      <p:sp>
        <p:nvSpPr>
          <p:cNvPr id="7" name="矩形 6"/>
          <p:cNvSpPr/>
          <p:nvPr/>
        </p:nvSpPr>
        <p:spPr>
          <a:xfrm>
            <a:off x="6096000" y="3721319"/>
            <a:ext cx="4214648" cy="37771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9" name="矩形 8">
            <a:extLst>
              <a:ext uri="{FF2B5EF4-FFF2-40B4-BE49-F238E27FC236}">
                <a16:creationId xmlns:a16="http://schemas.microsoft.com/office/drawing/2014/main" id="{306D3576-37EC-4912-84EB-0F837BD8B29A}"/>
              </a:ext>
            </a:extLst>
          </p:cNvPr>
          <p:cNvSpPr/>
          <p:nvPr/>
        </p:nvSpPr>
        <p:spPr>
          <a:xfrm>
            <a:off x="6096000" y="4544208"/>
            <a:ext cx="4214648" cy="37771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36485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D0BC7B-9794-44BB-A7CF-1AFAE76ED5D9}"/>
              </a:ext>
            </a:extLst>
          </p:cNvPr>
          <p:cNvSpPr>
            <a:spLocks noGrp="1"/>
          </p:cNvSpPr>
          <p:nvPr>
            <p:ph type="title"/>
          </p:nvPr>
        </p:nvSpPr>
        <p:spPr/>
        <p:txBody>
          <a:bodyPr/>
          <a:lstStyle/>
          <a:p>
            <a:r>
              <a:rPr lang="zh-TW" altLang="en-US" dirty="0"/>
              <a:t>跳脫字元</a:t>
            </a:r>
            <a:r>
              <a:rPr lang="en-US" altLang="zh-TW" dirty="0"/>
              <a:t>(2/2)</a:t>
            </a:r>
            <a:endParaRPr lang="zh-TW" altLang="en-US" dirty="0"/>
          </a:p>
        </p:txBody>
      </p:sp>
      <p:sp>
        <p:nvSpPr>
          <p:cNvPr id="4" name="投影片編號版面配置區 3">
            <a:extLst>
              <a:ext uri="{FF2B5EF4-FFF2-40B4-BE49-F238E27FC236}">
                <a16:creationId xmlns:a16="http://schemas.microsoft.com/office/drawing/2014/main" id="{AF0EBFF5-7A9C-49E5-A081-DA6B92B44D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9" name="圖片 8">
            <a:extLst>
              <a:ext uri="{FF2B5EF4-FFF2-40B4-BE49-F238E27FC236}">
                <a16:creationId xmlns:a16="http://schemas.microsoft.com/office/drawing/2014/main" id="{241591B3-7775-4C36-B9DC-E357CD9F87AA}"/>
              </a:ext>
            </a:extLst>
          </p:cNvPr>
          <p:cNvPicPr>
            <a:picLocks noChangeAspect="1"/>
          </p:cNvPicPr>
          <p:nvPr/>
        </p:nvPicPr>
        <p:blipFill>
          <a:blip r:embed="rId2"/>
          <a:stretch>
            <a:fillRect/>
          </a:stretch>
        </p:blipFill>
        <p:spPr>
          <a:xfrm>
            <a:off x="6759121" y="563881"/>
            <a:ext cx="4947612" cy="1796619"/>
          </a:xfrm>
          <a:prstGeom prst="rect">
            <a:avLst/>
          </a:prstGeom>
        </p:spPr>
      </p:pic>
      <p:pic>
        <p:nvPicPr>
          <p:cNvPr id="7" name="圖片 6">
            <a:extLst>
              <a:ext uri="{FF2B5EF4-FFF2-40B4-BE49-F238E27FC236}">
                <a16:creationId xmlns:a16="http://schemas.microsoft.com/office/drawing/2014/main" id="{D87840C4-4F54-4521-87B7-0AB6461B2C38}"/>
              </a:ext>
            </a:extLst>
          </p:cNvPr>
          <p:cNvPicPr>
            <a:picLocks noChangeAspect="1"/>
          </p:cNvPicPr>
          <p:nvPr/>
        </p:nvPicPr>
        <p:blipFill>
          <a:blip r:embed="rId3"/>
          <a:stretch>
            <a:fillRect/>
          </a:stretch>
        </p:blipFill>
        <p:spPr>
          <a:xfrm>
            <a:off x="838200" y="2463368"/>
            <a:ext cx="6065355" cy="3830751"/>
          </a:xfrm>
          <a:prstGeom prst="rect">
            <a:avLst/>
          </a:prstGeom>
        </p:spPr>
      </p:pic>
      <p:pic>
        <p:nvPicPr>
          <p:cNvPr id="10" name="圖片 9">
            <a:extLst>
              <a:ext uri="{FF2B5EF4-FFF2-40B4-BE49-F238E27FC236}">
                <a16:creationId xmlns:a16="http://schemas.microsoft.com/office/drawing/2014/main" id="{7FA747D6-AE30-4FCC-A88C-4302AFE5346B}"/>
              </a:ext>
            </a:extLst>
          </p:cNvPr>
          <p:cNvPicPr>
            <a:picLocks noChangeAspect="1"/>
          </p:cNvPicPr>
          <p:nvPr/>
        </p:nvPicPr>
        <p:blipFill>
          <a:blip r:embed="rId4"/>
          <a:stretch>
            <a:fillRect/>
          </a:stretch>
        </p:blipFill>
        <p:spPr>
          <a:xfrm>
            <a:off x="7185807" y="2683442"/>
            <a:ext cx="3009753" cy="3422379"/>
          </a:xfrm>
          <a:prstGeom prst="rect">
            <a:avLst/>
          </a:prstGeom>
        </p:spPr>
      </p:pic>
    </p:spTree>
    <p:extLst>
      <p:ext uri="{BB962C8B-B14F-4D97-AF65-F5344CB8AC3E}">
        <p14:creationId xmlns:p14="http://schemas.microsoft.com/office/powerpoint/2010/main" val="23295844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E3E833-2538-4DB8-AE55-7C3270D77589}"/>
              </a:ext>
            </a:extLst>
          </p:cNvPr>
          <p:cNvSpPr>
            <a:spLocks noGrp="1"/>
          </p:cNvSpPr>
          <p:nvPr>
            <p:ph type="title"/>
          </p:nvPr>
        </p:nvSpPr>
        <p:spPr/>
        <p:txBody>
          <a:bodyPr/>
          <a:lstStyle/>
          <a:p>
            <a:r>
              <a:rPr lang="zh-TW" altLang="en-US" dirty="0"/>
              <a:t>等號（</a:t>
            </a:r>
            <a:r>
              <a:rPr lang="en-US" altLang="zh-TW" dirty="0">
                <a:latin typeface="Consolas" panose="020B0609020204030204" pitchFamily="49" charset="0"/>
              </a:rPr>
              <a:t>=</a:t>
            </a:r>
            <a:r>
              <a:rPr lang="zh-TW" altLang="en-US" dirty="0"/>
              <a:t>）</a:t>
            </a:r>
          </a:p>
        </p:txBody>
      </p:sp>
      <p:sp>
        <p:nvSpPr>
          <p:cNvPr id="3" name="內容版面配置區 2">
            <a:extLst>
              <a:ext uri="{FF2B5EF4-FFF2-40B4-BE49-F238E27FC236}">
                <a16:creationId xmlns:a16="http://schemas.microsoft.com/office/drawing/2014/main" id="{72723D60-8A38-492D-9551-D86E504BC874}"/>
              </a:ext>
            </a:extLst>
          </p:cNvPr>
          <p:cNvSpPr>
            <a:spLocks noGrp="1"/>
          </p:cNvSpPr>
          <p:nvPr>
            <p:ph idx="1"/>
          </p:nvPr>
        </p:nvSpPr>
        <p:spPr/>
        <p:txBody>
          <a:bodyPr/>
          <a:lstStyle/>
          <a:p>
            <a:r>
              <a:rPr lang="zh-TW" altLang="en-US" dirty="0"/>
              <a:t>程式語言的等號並非數學上的兩邊相等，而是</a:t>
            </a:r>
            <a:r>
              <a:rPr lang="zh-TW" altLang="en-US" dirty="0">
                <a:solidFill>
                  <a:schemeClr val="accent4"/>
                </a:solidFill>
              </a:rPr>
              <a:t>指派</a:t>
            </a:r>
            <a:r>
              <a:rPr lang="en-US" altLang="zh-TW" dirty="0"/>
              <a:t>(assign)</a:t>
            </a:r>
            <a:r>
              <a:rPr lang="zh-TW" altLang="en-US" dirty="0"/>
              <a:t>。</a:t>
            </a:r>
            <a:endParaRPr lang="en-US" altLang="zh-TW" dirty="0"/>
          </a:p>
          <a:p>
            <a:pPr lvl="1"/>
            <a:r>
              <a:rPr lang="zh-TW" altLang="en-US" dirty="0"/>
              <a:t>將等號右邊的值指派給左邊的變數。</a:t>
            </a:r>
            <a:endParaRPr lang="en-US" altLang="zh-TW" dirty="0"/>
          </a:p>
          <a:p>
            <a:pPr lvl="3"/>
            <a:endParaRPr lang="en-US" altLang="zh-TW" dirty="0"/>
          </a:p>
          <a:p>
            <a:pPr lvl="1"/>
            <a:r>
              <a:rPr lang="zh-TW" altLang="en-US" dirty="0"/>
              <a:t>有時也稱為</a:t>
            </a:r>
            <a:r>
              <a:rPr lang="zh-TW" altLang="en-US" dirty="0">
                <a:solidFill>
                  <a:schemeClr val="accent4"/>
                </a:solidFill>
              </a:rPr>
              <a:t>賦值</a:t>
            </a:r>
            <a:r>
              <a:rPr lang="zh-TW" altLang="en-US" dirty="0"/>
              <a:t>，閱讀時需要從等號右邊讀到左邊。</a:t>
            </a:r>
            <a:endParaRPr lang="en-US" altLang="zh-TW" dirty="0"/>
          </a:p>
          <a:p>
            <a:pPr lvl="3"/>
            <a:endParaRPr lang="en-US" altLang="zh-TW" dirty="0"/>
          </a:p>
          <a:p>
            <a:pPr lvl="1"/>
            <a:r>
              <a:rPr lang="zh-TW" altLang="en-US" dirty="0"/>
              <a:t>因此「</a:t>
            </a:r>
            <a:r>
              <a:rPr lang="en-US" altLang="zh-TW" dirty="0">
                <a:latin typeface="Consolas" panose="020B0609020204030204" pitchFamily="49" charset="0"/>
              </a:rPr>
              <a:t>=</a:t>
            </a:r>
            <a:r>
              <a:rPr lang="zh-TW" altLang="en-US" dirty="0"/>
              <a:t>」被稱為</a:t>
            </a:r>
            <a:r>
              <a:rPr lang="zh-TW" altLang="en-US" dirty="0">
                <a:solidFill>
                  <a:schemeClr val="accent4"/>
                </a:solidFill>
              </a:rPr>
              <a:t>指派運算子</a:t>
            </a:r>
            <a:r>
              <a:rPr lang="en-US" altLang="zh-TW" dirty="0"/>
              <a:t>(assign operator)</a:t>
            </a:r>
            <a:r>
              <a:rPr lang="zh-TW" altLang="en-US" dirty="0"/>
              <a:t>，也稱為</a:t>
            </a:r>
            <a:r>
              <a:rPr lang="zh-TW" altLang="en-US" dirty="0">
                <a:solidFill>
                  <a:schemeClr val="accent4"/>
                </a:solidFill>
              </a:rPr>
              <a:t>賦值</a:t>
            </a:r>
            <a:r>
              <a:rPr lang="zh-TW" altLang="en-US" dirty="0"/>
              <a:t>。</a:t>
            </a:r>
            <a:endParaRPr lang="en-US" altLang="zh-TW" dirty="0"/>
          </a:p>
          <a:p>
            <a:pPr lvl="2"/>
            <a:r>
              <a:rPr lang="zh-TW" altLang="en-US" dirty="0"/>
              <a:t>例如：</a:t>
            </a:r>
            <a:r>
              <a:rPr lang="en-US" altLang="zh-TW" dirty="0">
                <a:latin typeface="Consolas" panose="020B0609020204030204" pitchFamily="49" charset="0"/>
              </a:rPr>
              <a:t>a = 1 + 2</a:t>
            </a:r>
          </a:p>
          <a:p>
            <a:pPr lvl="2"/>
            <a:r>
              <a:rPr lang="zh-TW" altLang="en-US" dirty="0"/>
              <a:t>意思是建立一個以 </a:t>
            </a:r>
            <a:r>
              <a:rPr lang="en-US" altLang="zh-TW" dirty="0"/>
              <a:t>a </a:t>
            </a:r>
            <a:r>
              <a:rPr lang="zh-TW" altLang="en-US" dirty="0"/>
              <a:t>為名稱的變數，並指定 </a:t>
            </a:r>
            <a:r>
              <a:rPr lang="en-US" altLang="zh-TW" dirty="0"/>
              <a:t>1 + 2 </a:t>
            </a:r>
            <a:r>
              <a:rPr lang="zh-TW" altLang="en-US" dirty="0"/>
              <a:t>的運算結果為此變數值。</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47FADD6F-7586-499E-9C19-68CF3336ED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5" name="語音泡泡: 圓角矩形 4">
            <a:extLst>
              <a:ext uri="{FF2B5EF4-FFF2-40B4-BE49-F238E27FC236}">
                <a16:creationId xmlns:a16="http://schemas.microsoft.com/office/drawing/2014/main" id="{F929381C-F30B-4F7C-AF59-AC5C286593B1}"/>
              </a:ext>
            </a:extLst>
          </p:cNvPr>
          <p:cNvSpPr/>
          <p:nvPr/>
        </p:nvSpPr>
        <p:spPr>
          <a:xfrm>
            <a:off x="2766848" y="5969876"/>
            <a:ext cx="8324193" cy="683336"/>
          </a:xfrm>
          <a:prstGeom prst="wedgeRoundRectCallout">
            <a:avLst>
              <a:gd name="adj1" fmla="val -55429"/>
              <a:gd name="adj2" fmla="val -39969"/>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數學運算裡的等於符號，</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Python </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裡要寫成兩個等號（</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p>
        </p:txBody>
      </p:sp>
    </p:spTree>
    <p:extLst>
      <p:ext uri="{BB962C8B-B14F-4D97-AF65-F5344CB8AC3E}">
        <p14:creationId xmlns:p14="http://schemas.microsoft.com/office/powerpoint/2010/main" val="416932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3D22E6-A110-4703-97D9-1A3249A933B2}"/>
              </a:ext>
            </a:extLst>
          </p:cNvPr>
          <p:cNvSpPr>
            <a:spLocks noGrp="1"/>
          </p:cNvSpPr>
          <p:nvPr>
            <p:ph type="title"/>
          </p:nvPr>
        </p:nvSpPr>
        <p:spPr/>
        <p:txBody>
          <a:bodyPr/>
          <a:lstStyle/>
          <a:p>
            <a:r>
              <a:rPr lang="zh-TW" altLang="en-US" dirty="0"/>
              <a:t>範例</a:t>
            </a:r>
          </a:p>
        </p:txBody>
      </p:sp>
      <p:sp>
        <p:nvSpPr>
          <p:cNvPr id="4" name="投影片編號版面配置區 3">
            <a:extLst>
              <a:ext uri="{FF2B5EF4-FFF2-40B4-BE49-F238E27FC236}">
                <a16:creationId xmlns:a16="http://schemas.microsoft.com/office/drawing/2014/main" id="{32AEEFF5-FFAA-43C0-9963-AC58A36DCC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7A545874-0A86-4CD8-A0CD-D8A914755E9A}"/>
              </a:ext>
            </a:extLst>
          </p:cNvPr>
          <p:cNvPicPr>
            <a:picLocks noChangeAspect="1"/>
          </p:cNvPicPr>
          <p:nvPr/>
        </p:nvPicPr>
        <p:blipFill>
          <a:blip r:embed="rId2"/>
          <a:stretch>
            <a:fillRect/>
          </a:stretch>
        </p:blipFill>
        <p:spPr>
          <a:xfrm>
            <a:off x="1419408" y="2791611"/>
            <a:ext cx="3565045" cy="2271681"/>
          </a:xfrm>
          <a:prstGeom prst="rect">
            <a:avLst/>
          </a:prstGeom>
        </p:spPr>
      </p:pic>
      <p:pic>
        <p:nvPicPr>
          <p:cNvPr id="8" name="圖片 7">
            <a:extLst>
              <a:ext uri="{FF2B5EF4-FFF2-40B4-BE49-F238E27FC236}">
                <a16:creationId xmlns:a16="http://schemas.microsoft.com/office/drawing/2014/main" id="{CB7E58AF-2CFE-4230-A203-8F75CB76F84C}"/>
              </a:ext>
            </a:extLst>
          </p:cNvPr>
          <p:cNvPicPr>
            <a:picLocks noChangeAspect="1"/>
          </p:cNvPicPr>
          <p:nvPr/>
        </p:nvPicPr>
        <p:blipFill>
          <a:blip r:embed="rId3"/>
          <a:stretch>
            <a:fillRect/>
          </a:stretch>
        </p:blipFill>
        <p:spPr>
          <a:xfrm>
            <a:off x="5670717" y="2418544"/>
            <a:ext cx="5297937" cy="3017813"/>
          </a:xfrm>
          <a:prstGeom prst="rect">
            <a:avLst/>
          </a:prstGeom>
        </p:spPr>
      </p:pic>
    </p:spTree>
    <p:extLst>
      <p:ext uri="{BB962C8B-B14F-4D97-AF65-F5344CB8AC3E}">
        <p14:creationId xmlns:p14="http://schemas.microsoft.com/office/powerpoint/2010/main" val="310990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5A2D07-7059-4314-8C8C-DC4169D41B48}"/>
              </a:ext>
            </a:extLst>
          </p:cNvPr>
          <p:cNvSpPr>
            <a:spLocks noGrp="1"/>
          </p:cNvSpPr>
          <p:nvPr>
            <p:ph type="title"/>
          </p:nvPr>
        </p:nvSpPr>
        <p:spPr/>
        <p:txBody>
          <a:bodyPr/>
          <a:lstStyle/>
          <a:p>
            <a:r>
              <a:rPr lang="en-US" altLang="zh-TW" dirty="0"/>
              <a:t>Pythonic</a:t>
            </a:r>
            <a:endParaRPr lang="zh-TW" altLang="en-US" dirty="0"/>
          </a:p>
        </p:txBody>
      </p:sp>
      <p:sp>
        <p:nvSpPr>
          <p:cNvPr id="3" name="內容版面配置區 2">
            <a:extLst>
              <a:ext uri="{FF2B5EF4-FFF2-40B4-BE49-F238E27FC236}">
                <a16:creationId xmlns:a16="http://schemas.microsoft.com/office/drawing/2014/main" id="{8EFA39E0-8169-4789-9F55-A3A520554733}"/>
              </a:ext>
            </a:extLst>
          </p:cNvPr>
          <p:cNvSpPr>
            <a:spLocks noGrp="1"/>
          </p:cNvSpPr>
          <p:nvPr>
            <p:ph idx="1"/>
          </p:nvPr>
        </p:nvSpPr>
        <p:spPr/>
        <p:txBody>
          <a:bodyPr/>
          <a:lstStyle/>
          <a:p>
            <a:r>
              <a:rPr lang="zh-TW" altLang="en-US" dirty="0"/>
              <a:t>具有 </a:t>
            </a:r>
            <a:r>
              <a:rPr lang="en-US" altLang="zh-TW" dirty="0"/>
              <a:t>Python </a:t>
            </a:r>
            <a:r>
              <a:rPr lang="zh-TW" altLang="en-US" dirty="0"/>
              <a:t>特色</a:t>
            </a:r>
            <a:r>
              <a:rPr lang="en-US" altLang="zh-TW" dirty="0"/>
              <a:t>(pythonic)</a:t>
            </a:r>
            <a:r>
              <a:rPr lang="zh-TW" altLang="en-US" dirty="0"/>
              <a:t>的寫法</a:t>
            </a:r>
          </a:p>
        </p:txBody>
      </p:sp>
      <p:sp>
        <p:nvSpPr>
          <p:cNvPr id="4" name="投影片編號版面配置區 3">
            <a:extLst>
              <a:ext uri="{FF2B5EF4-FFF2-40B4-BE49-F238E27FC236}">
                <a16:creationId xmlns:a16="http://schemas.microsoft.com/office/drawing/2014/main" id="{BBAE6F7D-22CE-43BD-B891-1AE021DCFB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4349EEC1-57A7-4FF3-B42A-07CFFF97E252}"/>
              </a:ext>
            </a:extLst>
          </p:cNvPr>
          <p:cNvPicPr>
            <a:picLocks noChangeAspect="1"/>
          </p:cNvPicPr>
          <p:nvPr/>
        </p:nvPicPr>
        <p:blipFill>
          <a:blip r:embed="rId2"/>
          <a:stretch>
            <a:fillRect/>
          </a:stretch>
        </p:blipFill>
        <p:spPr>
          <a:xfrm>
            <a:off x="1561613" y="2851664"/>
            <a:ext cx="4411339" cy="3055150"/>
          </a:xfrm>
          <a:prstGeom prst="rect">
            <a:avLst/>
          </a:prstGeom>
        </p:spPr>
      </p:pic>
      <p:pic>
        <p:nvPicPr>
          <p:cNvPr id="8" name="圖片 7">
            <a:extLst>
              <a:ext uri="{FF2B5EF4-FFF2-40B4-BE49-F238E27FC236}">
                <a16:creationId xmlns:a16="http://schemas.microsoft.com/office/drawing/2014/main" id="{7C296875-9D31-4016-AAFB-68D8D9554174}"/>
              </a:ext>
            </a:extLst>
          </p:cNvPr>
          <p:cNvPicPr>
            <a:picLocks noChangeAspect="1"/>
          </p:cNvPicPr>
          <p:nvPr/>
        </p:nvPicPr>
        <p:blipFill>
          <a:blip r:embed="rId3"/>
          <a:stretch>
            <a:fillRect/>
          </a:stretch>
        </p:blipFill>
        <p:spPr>
          <a:xfrm>
            <a:off x="6219050" y="3892034"/>
            <a:ext cx="5449002" cy="974410"/>
          </a:xfrm>
          <a:prstGeom prst="rect">
            <a:avLst/>
          </a:prstGeom>
        </p:spPr>
      </p:pic>
    </p:spTree>
    <p:extLst>
      <p:ext uri="{BB962C8B-B14F-4D97-AF65-F5344CB8AC3E}">
        <p14:creationId xmlns:p14="http://schemas.microsoft.com/office/powerpoint/2010/main" val="263848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2BF0C4-494F-4512-BA9F-A023EFC2B2D8}"/>
              </a:ext>
            </a:extLst>
          </p:cNvPr>
          <p:cNvSpPr>
            <a:spLocks noGrp="1"/>
          </p:cNvSpPr>
          <p:nvPr>
            <p:ph type="title"/>
          </p:nvPr>
        </p:nvSpPr>
        <p:spPr/>
        <p:txBody>
          <a:bodyPr/>
          <a:lstStyle/>
          <a:p>
            <a:r>
              <a:rPr lang="zh-TW" altLang="en-US" dirty="0"/>
              <a:t>宣告</a:t>
            </a:r>
            <a:r>
              <a:rPr lang="en-US" altLang="zh-TW" dirty="0"/>
              <a:t>(declaration)</a:t>
            </a:r>
            <a:endParaRPr lang="zh-TW" altLang="en-US" dirty="0"/>
          </a:p>
        </p:txBody>
      </p:sp>
      <p:sp>
        <p:nvSpPr>
          <p:cNvPr id="3" name="內容版面配置區 2">
            <a:extLst>
              <a:ext uri="{FF2B5EF4-FFF2-40B4-BE49-F238E27FC236}">
                <a16:creationId xmlns:a16="http://schemas.microsoft.com/office/drawing/2014/main" id="{2F1E54DE-700F-40B0-8FE2-860A4428CADA}"/>
              </a:ext>
            </a:extLst>
          </p:cNvPr>
          <p:cNvSpPr>
            <a:spLocks noGrp="1"/>
          </p:cNvSpPr>
          <p:nvPr>
            <p:ph idx="1"/>
          </p:nvPr>
        </p:nvSpPr>
        <p:spPr>
          <a:xfrm>
            <a:off x="838200" y="1857375"/>
            <a:ext cx="4921469" cy="4400550"/>
          </a:xfrm>
        </p:spPr>
        <p:txBody>
          <a:bodyPr/>
          <a:lstStyle/>
          <a:p>
            <a:r>
              <a:rPr lang="zh-TW" altLang="en-US" dirty="0"/>
              <a:t>大多數程式語言在</a:t>
            </a:r>
            <a:r>
              <a:rPr lang="zh-TW" altLang="en-US" dirty="0">
                <a:solidFill>
                  <a:schemeClr val="accent4"/>
                </a:solidFill>
              </a:rPr>
              <a:t>使用變數前要先宣告</a:t>
            </a:r>
          </a:p>
        </p:txBody>
      </p:sp>
      <p:sp>
        <p:nvSpPr>
          <p:cNvPr id="4" name="投影片編號版面配置區 3">
            <a:extLst>
              <a:ext uri="{FF2B5EF4-FFF2-40B4-BE49-F238E27FC236}">
                <a16:creationId xmlns:a16="http://schemas.microsoft.com/office/drawing/2014/main" id="{EFFFB29F-E6F5-4A4A-83A9-837FE3E722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grpSp>
        <p:nvGrpSpPr>
          <p:cNvPr id="16" name="群組 15">
            <a:extLst>
              <a:ext uri="{FF2B5EF4-FFF2-40B4-BE49-F238E27FC236}">
                <a16:creationId xmlns:a16="http://schemas.microsoft.com/office/drawing/2014/main" id="{E36C86F8-E576-43CF-8905-4043F12BFB48}"/>
              </a:ext>
            </a:extLst>
          </p:cNvPr>
          <p:cNvGrpSpPr/>
          <p:nvPr/>
        </p:nvGrpSpPr>
        <p:grpSpPr>
          <a:xfrm>
            <a:off x="1363462" y="3014726"/>
            <a:ext cx="4570539" cy="933450"/>
            <a:chOff x="595635" y="3014726"/>
            <a:chExt cx="4570539" cy="933450"/>
          </a:xfrm>
        </p:grpSpPr>
        <p:pic>
          <p:nvPicPr>
            <p:cNvPr id="8" name="圖片 7">
              <a:extLst>
                <a:ext uri="{FF2B5EF4-FFF2-40B4-BE49-F238E27FC236}">
                  <a16:creationId xmlns:a16="http://schemas.microsoft.com/office/drawing/2014/main" id="{D45F3E49-B76A-409C-BBCA-FFDCA1D4B74E}"/>
                </a:ext>
              </a:extLst>
            </p:cNvPr>
            <p:cNvPicPr>
              <a:picLocks noChangeAspect="1"/>
            </p:cNvPicPr>
            <p:nvPr/>
          </p:nvPicPr>
          <p:blipFill>
            <a:blip r:embed="rId2"/>
            <a:stretch>
              <a:fillRect/>
            </a:stretch>
          </p:blipFill>
          <p:spPr>
            <a:xfrm>
              <a:off x="1916824" y="3014726"/>
              <a:ext cx="3249350" cy="933450"/>
            </a:xfrm>
            <a:prstGeom prst="rect">
              <a:avLst/>
            </a:prstGeom>
          </p:spPr>
        </p:pic>
        <p:sp>
          <p:nvSpPr>
            <p:cNvPr id="9" name="文字方塊 8">
              <a:extLst>
                <a:ext uri="{FF2B5EF4-FFF2-40B4-BE49-F238E27FC236}">
                  <a16:creationId xmlns:a16="http://schemas.microsoft.com/office/drawing/2014/main" id="{FEB599B6-A4F3-4F5E-8B8E-062451113467}"/>
                </a:ext>
              </a:extLst>
            </p:cNvPr>
            <p:cNvSpPr txBox="1"/>
            <p:nvPr/>
          </p:nvSpPr>
          <p:spPr>
            <a:xfrm>
              <a:off x="595635" y="3199146"/>
              <a:ext cx="132118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C/C++</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grpSp>
        <p:nvGrpSpPr>
          <p:cNvPr id="17" name="群組 16">
            <a:extLst>
              <a:ext uri="{FF2B5EF4-FFF2-40B4-BE49-F238E27FC236}">
                <a16:creationId xmlns:a16="http://schemas.microsoft.com/office/drawing/2014/main" id="{55B4AEAE-E1E8-486E-AF75-49B34A6E0959}"/>
              </a:ext>
            </a:extLst>
          </p:cNvPr>
          <p:cNvGrpSpPr/>
          <p:nvPr/>
        </p:nvGrpSpPr>
        <p:grpSpPr>
          <a:xfrm>
            <a:off x="1738584" y="4166877"/>
            <a:ext cx="5967433" cy="1301769"/>
            <a:chOff x="965690" y="4956156"/>
            <a:chExt cx="5967433" cy="1301769"/>
          </a:xfrm>
        </p:grpSpPr>
        <p:pic>
          <p:nvPicPr>
            <p:cNvPr id="11" name="圖片 10">
              <a:extLst>
                <a:ext uri="{FF2B5EF4-FFF2-40B4-BE49-F238E27FC236}">
                  <a16:creationId xmlns:a16="http://schemas.microsoft.com/office/drawing/2014/main" id="{EF57078B-935D-4A05-991B-6A35ABD7DCBC}"/>
                </a:ext>
              </a:extLst>
            </p:cNvPr>
            <p:cNvPicPr>
              <a:picLocks noChangeAspect="1"/>
            </p:cNvPicPr>
            <p:nvPr/>
          </p:nvPicPr>
          <p:blipFill>
            <a:blip r:embed="rId3"/>
            <a:stretch>
              <a:fillRect/>
            </a:stretch>
          </p:blipFill>
          <p:spPr>
            <a:xfrm>
              <a:off x="1916824" y="4956156"/>
              <a:ext cx="5016299" cy="1301769"/>
            </a:xfrm>
            <a:prstGeom prst="rect">
              <a:avLst/>
            </a:prstGeom>
          </p:spPr>
        </p:pic>
        <p:sp>
          <p:nvSpPr>
            <p:cNvPr id="12" name="文字方塊 11">
              <a:extLst>
                <a:ext uri="{FF2B5EF4-FFF2-40B4-BE49-F238E27FC236}">
                  <a16:creationId xmlns:a16="http://schemas.microsoft.com/office/drawing/2014/main" id="{75021400-1D38-4A3F-BF52-8264558624B5}"/>
                </a:ext>
              </a:extLst>
            </p:cNvPr>
            <p:cNvSpPr txBox="1"/>
            <p:nvPr/>
          </p:nvSpPr>
          <p:spPr>
            <a:xfrm>
              <a:off x="965690" y="5345430"/>
              <a:ext cx="85873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C#</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grpSp>
        <p:nvGrpSpPr>
          <p:cNvPr id="18" name="群組 17">
            <a:extLst>
              <a:ext uri="{FF2B5EF4-FFF2-40B4-BE49-F238E27FC236}">
                <a16:creationId xmlns:a16="http://schemas.microsoft.com/office/drawing/2014/main" id="{F284FBA0-7C7C-44D7-81EC-5A993CE33AA6}"/>
              </a:ext>
            </a:extLst>
          </p:cNvPr>
          <p:cNvGrpSpPr/>
          <p:nvPr/>
        </p:nvGrpSpPr>
        <p:grpSpPr>
          <a:xfrm>
            <a:off x="662277" y="5738431"/>
            <a:ext cx="7012210" cy="905637"/>
            <a:chOff x="4509098" y="4050519"/>
            <a:chExt cx="7012210" cy="905637"/>
          </a:xfrm>
        </p:grpSpPr>
        <p:pic>
          <p:nvPicPr>
            <p:cNvPr id="14" name="圖片 13">
              <a:extLst>
                <a:ext uri="{FF2B5EF4-FFF2-40B4-BE49-F238E27FC236}">
                  <a16:creationId xmlns:a16="http://schemas.microsoft.com/office/drawing/2014/main" id="{0EB5AA49-96B3-4187-BA37-CA24F6CBAB71}"/>
                </a:ext>
              </a:extLst>
            </p:cNvPr>
            <p:cNvPicPr>
              <a:picLocks noChangeAspect="1"/>
            </p:cNvPicPr>
            <p:nvPr/>
          </p:nvPicPr>
          <p:blipFill>
            <a:blip r:embed="rId4"/>
            <a:stretch>
              <a:fillRect/>
            </a:stretch>
          </p:blipFill>
          <p:spPr>
            <a:xfrm>
              <a:off x="6540307" y="4050519"/>
              <a:ext cx="4981001" cy="905637"/>
            </a:xfrm>
            <a:prstGeom prst="rect">
              <a:avLst/>
            </a:prstGeom>
          </p:spPr>
        </p:pic>
        <p:sp>
          <p:nvSpPr>
            <p:cNvPr id="15" name="文字方塊 14">
              <a:extLst>
                <a:ext uri="{FF2B5EF4-FFF2-40B4-BE49-F238E27FC236}">
                  <a16:creationId xmlns:a16="http://schemas.microsoft.com/office/drawing/2014/main" id="{6F6A81D2-FDF2-4AD2-8739-9089DF5CC28F}"/>
                </a:ext>
              </a:extLst>
            </p:cNvPr>
            <p:cNvSpPr txBox="1"/>
            <p:nvPr/>
          </p:nvSpPr>
          <p:spPr>
            <a:xfrm>
              <a:off x="4509098" y="4241728"/>
              <a:ext cx="191255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JavaScript</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pic>
        <p:nvPicPr>
          <p:cNvPr id="6" name="圖片 5">
            <a:extLst>
              <a:ext uri="{FF2B5EF4-FFF2-40B4-BE49-F238E27FC236}">
                <a16:creationId xmlns:a16="http://schemas.microsoft.com/office/drawing/2014/main" id="{1F6B894A-354E-49FD-8178-11FCF4D8D08D}"/>
              </a:ext>
            </a:extLst>
          </p:cNvPr>
          <p:cNvPicPr>
            <a:picLocks noChangeAspect="1"/>
          </p:cNvPicPr>
          <p:nvPr/>
        </p:nvPicPr>
        <p:blipFill>
          <a:blip r:embed="rId5"/>
          <a:stretch>
            <a:fillRect/>
          </a:stretch>
        </p:blipFill>
        <p:spPr>
          <a:xfrm>
            <a:off x="6096000" y="1408542"/>
            <a:ext cx="5838643" cy="2969829"/>
          </a:xfrm>
          <a:prstGeom prst="rect">
            <a:avLst/>
          </a:prstGeom>
          <a:ln>
            <a:solidFill>
              <a:schemeClr val="tx1">
                <a:lumMod val="65000"/>
                <a:lumOff val="35000"/>
              </a:schemeClr>
            </a:solidFill>
          </a:ln>
        </p:spPr>
      </p:pic>
    </p:spTree>
    <p:extLst>
      <p:ext uri="{BB962C8B-B14F-4D97-AF65-F5344CB8AC3E}">
        <p14:creationId xmlns:p14="http://schemas.microsoft.com/office/powerpoint/2010/main" val="167809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3EAC2F-E26D-422F-A3D9-CCC1AC0CF02C}"/>
              </a:ext>
            </a:extLst>
          </p:cNvPr>
          <p:cNvSpPr>
            <a:spLocks noGrp="1"/>
          </p:cNvSpPr>
          <p:nvPr>
            <p:ph type="title"/>
          </p:nvPr>
        </p:nvSpPr>
        <p:spPr/>
        <p:txBody>
          <a:bodyPr/>
          <a:lstStyle/>
          <a:p>
            <a:r>
              <a:rPr lang="en-US" altLang="zh-TW" dirty="0"/>
              <a:t>Python </a:t>
            </a:r>
            <a:r>
              <a:rPr lang="zh-TW" altLang="en-US" dirty="0"/>
              <a:t>變數</a:t>
            </a:r>
            <a:r>
              <a:rPr lang="zh-TW" altLang="en-US" dirty="0">
                <a:solidFill>
                  <a:schemeClr val="accent4"/>
                </a:solidFill>
              </a:rPr>
              <a:t>不需宣告</a:t>
            </a:r>
            <a:r>
              <a:rPr lang="zh-TW" altLang="en-US" dirty="0"/>
              <a:t>就可使用</a:t>
            </a:r>
          </a:p>
        </p:txBody>
      </p:sp>
      <p:sp>
        <p:nvSpPr>
          <p:cNvPr id="4" name="投影片編號版面配置區 3">
            <a:extLst>
              <a:ext uri="{FF2B5EF4-FFF2-40B4-BE49-F238E27FC236}">
                <a16:creationId xmlns:a16="http://schemas.microsoft.com/office/drawing/2014/main" id="{6C240EB6-91CA-4750-83CB-3F57EFDCFE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8" name="圖片 7">
            <a:extLst>
              <a:ext uri="{FF2B5EF4-FFF2-40B4-BE49-F238E27FC236}">
                <a16:creationId xmlns:a16="http://schemas.microsoft.com/office/drawing/2014/main" id="{4177DC49-056F-44D4-A6A5-52642890F760}"/>
              </a:ext>
            </a:extLst>
          </p:cNvPr>
          <p:cNvPicPr>
            <a:picLocks noChangeAspect="1"/>
          </p:cNvPicPr>
          <p:nvPr/>
        </p:nvPicPr>
        <p:blipFill>
          <a:blip r:embed="rId2"/>
          <a:stretch>
            <a:fillRect/>
          </a:stretch>
        </p:blipFill>
        <p:spPr>
          <a:xfrm>
            <a:off x="1367604" y="2409024"/>
            <a:ext cx="4719224" cy="3087886"/>
          </a:xfrm>
          <a:prstGeom prst="rect">
            <a:avLst/>
          </a:prstGeom>
        </p:spPr>
      </p:pic>
      <p:pic>
        <p:nvPicPr>
          <p:cNvPr id="10" name="圖片 9">
            <a:extLst>
              <a:ext uri="{FF2B5EF4-FFF2-40B4-BE49-F238E27FC236}">
                <a16:creationId xmlns:a16="http://schemas.microsoft.com/office/drawing/2014/main" id="{9F473320-92A5-4AD9-959D-27973DC1F6B2}"/>
              </a:ext>
            </a:extLst>
          </p:cNvPr>
          <p:cNvPicPr>
            <a:picLocks noChangeAspect="1"/>
          </p:cNvPicPr>
          <p:nvPr/>
        </p:nvPicPr>
        <p:blipFill>
          <a:blip r:embed="rId3"/>
          <a:stretch>
            <a:fillRect/>
          </a:stretch>
        </p:blipFill>
        <p:spPr>
          <a:xfrm>
            <a:off x="6458450" y="3199115"/>
            <a:ext cx="4650074" cy="1507703"/>
          </a:xfrm>
          <a:prstGeom prst="rect">
            <a:avLst/>
          </a:prstGeom>
        </p:spPr>
      </p:pic>
    </p:spTree>
    <p:extLst>
      <p:ext uri="{BB962C8B-B14F-4D97-AF65-F5344CB8AC3E}">
        <p14:creationId xmlns:p14="http://schemas.microsoft.com/office/powerpoint/2010/main" val="3399432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ECD595-146E-48CB-8D89-727941C41984}"/>
              </a:ext>
            </a:extLst>
          </p:cNvPr>
          <p:cNvSpPr>
            <a:spLocks noGrp="1"/>
          </p:cNvSpPr>
          <p:nvPr>
            <p:ph type="title"/>
          </p:nvPr>
        </p:nvSpPr>
        <p:spPr/>
        <p:txBody>
          <a:bodyPr/>
          <a:lstStyle/>
          <a:p>
            <a:r>
              <a:rPr lang="zh-TW" altLang="en-US" dirty="0"/>
              <a:t>斷行</a:t>
            </a:r>
          </a:p>
        </p:txBody>
      </p:sp>
      <p:sp>
        <p:nvSpPr>
          <p:cNvPr id="3" name="內容版面配置區 2">
            <a:extLst>
              <a:ext uri="{FF2B5EF4-FFF2-40B4-BE49-F238E27FC236}">
                <a16:creationId xmlns:a16="http://schemas.microsoft.com/office/drawing/2014/main" id="{AF994BBD-D0A0-4B7C-9611-A40F5BF42921}"/>
              </a:ext>
            </a:extLst>
          </p:cNvPr>
          <p:cNvSpPr>
            <a:spLocks noGrp="1"/>
          </p:cNvSpPr>
          <p:nvPr>
            <p:ph idx="1"/>
          </p:nvPr>
        </p:nvSpPr>
        <p:spPr/>
        <p:txBody>
          <a:bodyPr/>
          <a:lstStyle/>
          <a:p>
            <a:r>
              <a:rPr lang="en-US" altLang="zh-TW" dirty="0"/>
              <a:t>Python </a:t>
            </a:r>
            <a:r>
              <a:rPr lang="zh-TW" altLang="en-US" dirty="0">
                <a:solidFill>
                  <a:schemeClr val="accent4"/>
                </a:solidFill>
              </a:rPr>
              <a:t>不需要斷行符號</a:t>
            </a:r>
            <a:r>
              <a:rPr lang="zh-TW" altLang="en-US" dirty="0"/>
              <a:t>，而改用</a:t>
            </a:r>
            <a:r>
              <a:rPr lang="en-US" altLang="zh-TW" dirty="0"/>
              <a:t>《Enter》</a:t>
            </a:r>
            <a:r>
              <a:rPr lang="zh-TW" altLang="en-US" dirty="0"/>
              <a:t>鍵來標示。</a:t>
            </a:r>
            <a:endParaRPr lang="en-US" altLang="zh-TW" dirty="0"/>
          </a:p>
          <a:p>
            <a:endParaRPr lang="en-US" altLang="zh-TW" dirty="0"/>
          </a:p>
          <a:p>
            <a:endParaRPr lang="en-US" altLang="zh-TW" dirty="0"/>
          </a:p>
          <a:p>
            <a:endParaRPr lang="en-US" altLang="zh-TW" dirty="0"/>
          </a:p>
          <a:p>
            <a:endParaRPr lang="en-US" altLang="zh-TW" dirty="0"/>
          </a:p>
          <a:p>
            <a:r>
              <a:rPr lang="zh-TW" altLang="en-US" dirty="0"/>
              <a:t>若是想將數列語句濃縮成一行，可以使用分號做區隔。</a:t>
            </a:r>
          </a:p>
        </p:txBody>
      </p:sp>
      <p:sp>
        <p:nvSpPr>
          <p:cNvPr id="4" name="投影片編號版面配置區 3">
            <a:extLst>
              <a:ext uri="{FF2B5EF4-FFF2-40B4-BE49-F238E27FC236}">
                <a16:creationId xmlns:a16="http://schemas.microsoft.com/office/drawing/2014/main" id="{FE65CF04-7F7B-4038-B599-3D5EF241B9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ABA6E146-D4C3-4D93-8C4E-D548217894FE}"/>
              </a:ext>
            </a:extLst>
          </p:cNvPr>
          <p:cNvPicPr>
            <a:picLocks noChangeAspect="1"/>
          </p:cNvPicPr>
          <p:nvPr/>
        </p:nvPicPr>
        <p:blipFill>
          <a:blip r:embed="rId2"/>
          <a:stretch>
            <a:fillRect/>
          </a:stretch>
        </p:blipFill>
        <p:spPr>
          <a:xfrm>
            <a:off x="1357094" y="2524638"/>
            <a:ext cx="3235927" cy="2117334"/>
          </a:xfrm>
          <a:prstGeom prst="rect">
            <a:avLst/>
          </a:prstGeom>
        </p:spPr>
      </p:pic>
      <p:pic>
        <p:nvPicPr>
          <p:cNvPr id="7" name="圖片 6">
            <a:extLst>
              <a:ext uri="{FF2B5EF4-FFF2-40B4-BE49-F238E27FC236}">
                <a16:creationId xmlns:a16="http://schemas.microsoft.com/office/drawing/2014/main" id="{31601CE6-DBFE-45EB-9369-A521C7F1045A}"/>
              </a:ext>
            </a:extLst>
          </p:cNvPr>
          <p:cNvPicPr>
            <a:picLocks noChangeAspect="1"/>
          </p:cNvPicPr>
          <p:nvPr/>
        </p:nvPicPr>
        <p:blipFill>
          <a:blip r:embed="rId3"/>
          <a:stretch>
            <a:fillRect/>
          </a:stretch>
        </p:blipFill>
        <p:spPr>
          <a:xfrm>
            <a:off x="1357094" y="5658172"/>
            <a:ext cx="5556928" cy="533078"/>
          </a:xfrm>
          <a:prstGeom prst="rect">
            <a:avLst/>
          </a:prstGeom>
        </p:spPr>
      </p:pic>
      <p:grpSp>
        <p:nvGrpSpPr>
          <p:cNvPr id="19" name="群組 18">
            <a:extLst>
              <a:ext uri="{FF2B5EF4-FFF2-40B4-BE49-F238E27FC236}">
                <a16:creationId xmlns:a16="http://schemas.microsoft.com/office/drawing/2014/main" id="{5BFA53C7-EE57-4F84-8E5C-ED5FFABF1ECB}"/>
              </a:ext>
            </a:extLst>
          </p:cNvPr>
          <p:cNvGrpSpPr/>
          <p:nvPr/>
        </p:nvGrpSpPr>
        <p:grpSpPr>
          <a:xfrm>
            <a:off x="6214684" y="904937"/>
            <a:ext cx="3608258" cy="660727"/>
            <a:chOff x="6214684" y="904937"/>
            <a:chExt cx="3608258" cy="660727"/>
          </a:xfrm>
        </p:grpSpPr>
        <p:pic>
          <p:nvPicPr>
            <p:cNvPr id="9" name="圖片 8">
              <a:extLst>
                <a:ext uri="{FF2B5EF4-FFF2-40B4-BE49-F238E27FC236}">
                  <a16:creationId xmlns:a16="http://schemas.microsoft.com/office/drawing/2014/main" id="{46F97AF0-DDCE-461F-9E9D-0EAF72955DF7}"/>
                </a:ext>
              </a:extLst>
            </p:cNvPr>
            <p:cNvPicPr>
              <a:picLocks noChangeAspect="1"/>
            </p:cNvPicPr>
            <p:nvPr/>
          </p:nvPicPr>
          <p:blipFill>
            <a:blip r:embed="rId4"/>
            <a:stretch>
              <a:fillRect/>
            </a:stretch>
          </p:blipFill>
          <p:spPr>
            <a:xfrm>
              <a:off x="7522943" y="904937"/>
              <a:ext cx="2299999" cy="660727"/>
            </a:xfrm>
            <a:prstGeom prst="rect">
              <a:avLst/>
            </a:prstGeom>
          </p:spPr>
        </p:pic>
        <p:sp>
          <p:nvSpPr>
            <p:cNvPr id="10" name="文字方塊 9">
              <a:extLst>
                <a:ext uri="{FF2B5EF4-FFF2-40B4-BE49-F238E27FC236}">
                  <a16:creationId xmlns:a16="http://schemas.microsoft.com/office/drawing/2014/main" id="{BED29389-F2EE-467D-8819-4080DA4EE3A8}"/>
                </a:ext>
              </a:extLst>
            </p:cNvPr>
            <p:cNvSpPr txBox="1"/>
            <p:nvPr/>
          </p:nvSpPr>
          <p:spPr>
            <a:xfrm>
              <a:off x="6214684" y="990593"/>
              <a:ext cx="132118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C/C++</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grpSp>
        <p:nvGrpSpPr>
          <p:cNvPr id="18" name="群組 17">
            <a:extLst>
              <a:ext uri="{FF2B5EF4-FFF2-40B4-BE49-F238E27FC236}">
                <a16:creationId xmlns:a16="http://schemas.microsoft.com/office/drawing/2014/main" id="{83EF1613-7D8A-454A-9853-471C611910AC}"/>
              </a:ext>
            </a:extLst>
          </p:cNvPr>
          <p:cNvGrpSpPr/>
          <p:nvPr/>
        </p:nvGrpSpPr>
        <p:grpSpPr>
          <a:xfrm>
            <a:off x="6639224" y="2616400"/>
            <a:ext cx="4414991" cy="921436"/>
            <a:chOff x="6639224" y="2616400"/>
            <a:chExt cx="4414991" cy="921436"/>
          </a:xfrm>
        </p:grpSpPr>
        <p:pic>
          <p:nvPicPr>
            <p:cNvPr id="12" name="圖片 11">
              <a:extLst>
                <a:ext uri="{FF2B5EF4-FFF2-40B4-BE49-F238E27FC236}">
                  <a16:creationId xmlns:a16="http://schemas.microsoft.com/office/drawing/2014/main" id="{8887CEEE-4EB1-4C6D-B2DC-2ED8D1782E00}"/>
                </a:ext>
              </a:extLst>
            </p:cNvPr>
            <p:cNvPicPr>
              <a:picLocks noChangeAspect="1"/>
            </p:cNvPicPr>
            <p:nvPr/>
          </p:nvPicPr>
          <p:blipFill>
            <a:blip r:embed="rId5"/>
            <a:stretch>
              <a:fillRect/>
            </a:stretch>
          </p:blipFill>
          <p:spPr>
            <a:xfrm>
              <a:off x="7503511" y="2616400"/>
              <a:ext cx="3550704" cy="921436"/>
            </a:xfrm>
            <a:prstGeom prst="rect">
              <a:avLst/>
            </a:prstGeom>
          </p:spPr>
        </p:pic>
        <p:sp>
          <p:nvSpPr>
            <p:cNvPr id="13" name="文字方塊 12">
              <a:extLst>
                <a:ext uri="{FF2B5EF4-FFF2-40B4-BE49-F238E27FC236}">
                  <a16:creationId xmlns:a16="http://schemas.microsoft.com/office/drawing/2014/main" id="{AAAA9FD7-94BB-4923-99FE-87FFED2C9205}"/>
                </a:ext>
              </a:extLst>
            </p:cNvPr>
            <p:cNvSpPr txBox="1"/>
            <p:nvPr/>
          </p:nvSpPr>
          <p:spPr>
            <a:xfrm>
              <a:off x="6639224" y="2815508"/>
              <a:ext cx="85873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C#</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grpSp>
        <p:nvGrpSpPr>
          <p:cNvPr id="17" name="群組 16">
            <a:extLst>
              <a:ext uri="{FF2B5EF4-FFF2-40B4-BE49-F238E27FC236}">
                <a16:creationId xmlns:a16="http://schemas.microsoft.com/office/drawing/2014/main" id="{406C3611-A901-42F9-B15A-D7CD2F299670}"/>
              </a:ext>
            </a:extLst>
          </p:cNvPr>
          <p:cNvGrpSpPr/>
          <p:nvPr/>
        </p:nvGrpSpPr>
        <p:grpSpPr>
          <a:xfrm>
            <a:off x="5628999" y="3795011"/>
            <a:ext cx="5394678" cy="641040"/>
            <a:chOff x="5628999" y="3795011"/>
            <a:chExt cx="5394678" cy="641040"/>
          </a:xfrm>
        </p:grpSpPr>
        <p:pic>
          <p:nvPicPr>
            <p:cNvPr id="15" name="圖片 14">
              <a:extLst>
                <a:ext uri="{FF2B5EF4-FFF2-40B4-BE49-F238E27FC236}">
                  <a16:creationId xmlns:a16="http://schemas.microsoft.com/office/drawing/2014/main" id="{04616202-9CE5-416F-B480-542278CE000B}"/>
                </a:ext>
              </a:extLst>
            </p:cNvPr>
            <p:cNvPicPr>
              <a:picLocks noChangeAspect="1"/>
            </p:cNvPicPr>
            <p:nvPr/>
          </p:nvPicPr>
          <p:blipFill>
            <a:blip r:embed="rId6"/>
            <a:stretch>
              <a:fillRect/>
            </a:stretch>
          </p:blipFill>
          <p:spPr>
            <a:xfrm>
              <a:off x="7497958" y="3795011"/>
              <a:ext cx="3525719" cy="641040"/>
            </a:xfrm>
            <a:prstGeom prst="rect">
              <a:avLst/>
            </a:prstGeom>
          </p:spPr>
        </p:pic>
        <p:sp>
          <p:nvSpPr>
            <p:cNvPr id="16" name="文字方塊 15">
              <a:extLst>
                <a:ext uri="{FF2B5EF4-FFF2-40B4-BE49-F238E27FC236}">
                  <a16:creationId xmlns:a16="http://schemas.microsoft.com/office/drawing/2014/main" id="{D6DEFAF7-4A4D-4439-8023-97F8447CAE82}"/>
                </a:ext>
              </a:extLst>
            </p:cNvPr>
            <p:cNvSpPr txBox="1"/>
            <p:nvPr/>
          </p:nvSpPr>
          <p:spPr>
            <a:xfrm>
              <a:off x="5628999" y="3833257"/>
              <a:ext cx="191255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rPr>
                <a:t>JavaScript</a:t>
              </a:r>
              <a:endParaRPr kumimoji="0" lang="zh-TW" altLang="en-US" sz="2800" b="0" i="0" u="none" strike="noStrike" kern="1200" cap="none" spc="0" normalizeH="0" baseline="0" noProof="0" dirty="0">
                <a:ln>
                  <a:noFill/>
                </a:ln>
                <a:solidFill>
                  <a:prstClr val="black"/>
                </a:solidFill>
                <a:effectLst/>
                <a:uLnTx/>
                <a:uFillTx/>
                <a:latin typeface="Arial" panose="020B0604020202020204"/>
                <a:ea typeface="微軟正黑體" panose="020B0604030504040204" pitchFamily="34" charset="-120"/>
                <a:cs typeface="+mn-cs"/>
              </a:endParaRPr>
            </a:p>
          </p:txBody>
        </p:sp>
      </p:grpSp>
    </p:spTree>
    <p:extLst>
      <p:ext uri="{BB962C8B-B14F-4D97-AF65-F5344CB8AC3E}">
        <p14:creationId xmlns:p14="http://schemas.microsoft.com/office/powerpoint/2010/main" val="186167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刪除變數</a:t>
            </a:r>
          </a:p>
        </p:txBody>
      </p:sp>
      <p:sp>
        <p:nvSpPr>
          <p:cNvPr id="3" name="內容版面配置區 2"/>
          <p:cNvSpPr>
            <a:spLocks noGrp="1"/>
          </p:cNvSpPr>
          <p:nvPr>
            <p:ph idx="1"/>
          </p:nvPr>
        </p:nvSpPr>
        <p:spPr/>
        <p:txBody>
          <a:bodyPr/>
          <a:lstStyle/>
          <a:p>
            <a:r>
              <a:rPr lang="zh-TW" altLang="en-US" dirty="0"/>
              <a:t>如果變數不再使用，刪除掉該變數可以節省記憶體。</a:t>
            </a:r>
            <a:endParaRPr lang="en-US" altLang="zh-TW" dirty="0"/>
          </a:p>
          <a:p>
            <a:endParaRPr lang="en-US" altLang="zh-TW" dirty="0"/>
          </a:p>
          <a:p>
            <a:r>
              <a:rPr lang="zh-TW" altLang="en-US" dirty="0"/>
              <a:t>刪除變數 </a:t>
            </a:r>
            <a:r>
              <a:rPr lang="en-US" altLang="zh-TW" dirty="0"/>
              <a:t>score </a:t>
            </a:r>
            <a:r>
              <a:rPr lang="zh-TW" altLang="en-US" dirty="0"/>
              <a:t>的語法為：</a:t>
            </a:r>
            <a:endParaRPr lang="en-US" altLang="zh-TW" dirty="0"/>
          </a:p>
          <a:p>
            <a:pPr lvl="1"/>
            <a:r>
              <a:rPr lang="en-US" altLang="zh-TW" dirty="0">
                <a:latin typeface="Consolas" panose="020B0609020204030204" pitchFamily="49" charset="0"/>
              </a:rPr>
              <a:t>del score</a:t>
            </a:r>
          </a:p>
          <a:p>
            <a:endParaRPr lang="zh-TW" altLang="en-US"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5" name="圓角矩形圖說文字 4"/>
          <p:cNvSpPr/>
          <p:nvPr/>
        </p:nvSpPr>
        <p:spPr>
          <a:xfrm>
            <a:off x="3911174" y="4249271"/>
            <a:ext cx="2789304" cy="776087"/>
          </a:xfrm>
          <a:prstGeom prst="wedgeRoundRectCallout">
            <a:avLst>
              <a:gd name="adj1" fmla="val -50604"/>
              <a:gd name="adj2" fmla="val -93750"/>
              <a:gd name="adj3" fmla="val 1666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這個實在少用</a:t>
            </a:r>
          </a:p>
        </p:txBody>
      </p:sp>
    </p:spTree>
    <p:extLst>
      <p:ext uri="{BB962C8B-B14F-4D97-AF65-F5344CB8AC3E}">
        <p14:creationId xmlns:p14="http://schemas.microsoft.com/office/powerpoint/2010/main" val="424879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zh-TW" altLang="en-US" dirty="0"/>
              <a:t>變數與資料型別</a:t>
            </a:r>
            <a:endParaRPr lang="en-US" altLang="zh-TW" dirty="0"/>
          </a:p>
          <a:p>
            <a:pPr lvl="1"/>
            <a:r>
              <a:rPr lang="zh-TW" altLang="en-US" dirty="0"/>
              <a:t>變數與命名規則</a:t>
            </a:r>
            <a:endParaRPr lang="en-US" altLang="zh-TW" dirty="0"/>
          </a:p>
          <a:p>
            <a:pPr lvl="1"/>
            <a:r>
              <a:rPr lang="zh-TW" altLang="en-US" dirty="0"/>
              <a:t>數值、布林與字串資料型別</a:t>
            </a:r>
            <a:endParaRPr lang="en-US" altLang="zh-TW" dirty="0"/>
          </a:p>
          <a:p>
            <a:pPr lvl="1"/>
            <a:r>
              <a:rPr lang="zh-TW" altLang="en-US" dirty="0">
                <a:solidFill>
                  <a:schemeClr val="accent2"/>
                </a:solidFill>
              </a:rPr>
              <a:t>資料型別轉換</a:t>
            </a:r>
            <a:endParaRPr lang="en-US" altLang="zh-TW" dirty="0">
              <a:solidFill>
                <a:schemeClr val="accent2"/>
              </a:solidFill>
            </a:endParaRPr>
          </a:p>
          <a:p>
            <a:pPr lvl="1"/>
            <a:r>
              <a:rPr lang="zh-TW" altLang="en-US" dirty="0"/>
              <a:t>註解</a:t>
            </a:r>
            <a:endParaRPr lang="en-US" altLang="zh-TW"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52277856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為何要資料型別轉換？</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
        <p:nvSpPr>
          <p:cNvPr id="5" name="矩形 4"/>
          <p:cNvSpPr/>
          <p:nvPr/>
        </p:nvSpPr>
        <p:spPr>
          <a:xfrm>
            <a:off x="1299465" y="2263964"/>
            <a:ext cx="4230876" cy="13870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 + 3 = __ </a:t>
            </a:r>
            <a:endParaRPr kumimoji="0" lang="zh-TW" altLang="en-US"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6" name="矩形 5"/>
          <p:cNvSpPr/>
          <p:nvPr/>
        </p:nvSpPr>
        <p:spPr>
          <a:xfrm>
            <a:off x="6661659" y="2263964"/>
            <a:ext cx="4230876" cy="138709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 + 3.0 = __ </a:t>
            </a:r>
            <a:endParaRPr kumimoji="0" lang="zh-TW" altLang="en-US"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8" name="矩形 7"/>
          <p:cNvSpPr/>
          <p:nvPr/>
        </p:nvSpPr>
        <p:spPr>
          <a:xfrm>
            <a:off x="1299465" y="4057650"/>
            <a:ext cx="4230876" cy="138709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 + True = __ </a:t>
            </a:r>
            <a:endParaRPr kumimoji="0" lang="zh-TW" altLang="en-US"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9" name="矩形 8"/>
          <p:cNvSpPr/>
          <p:nvPr/>
        </p:nvSpPr>
        <p:spPr>
          <a:xfrm>
            <a:off x="6661659" y="4057650"/>
            <a:ext cx="4230876" cy="138709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 + '3' = __ </a:t>
            </a:r>
            <a:endParaRPr kumimoji="0" lang="zh-TW" altLang="en-US" sz="48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11" name="文字方塊 10"/>
          <p:cNvSpPr txBox="1"/>
          <p:nvPr/>
        </p:nvSpPr>
        <p:spPr>
          <a:xfrm>
            <a:off x="3876675" y="2330862"/>
            <a:ext cx="112395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5</a:t>
            </a:r>
            <a:endParaRPr kumimoji="0" lang="zh-TW" altLang="en-US"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12" name="文字方塊 11"/>
          <p:cNvSpPr txBox="1"/>
          <p:nvPr/>
        </p:nvSpPr>
        <p:spPr>
          <a:xfrm>
            <a:off x="9525000" y="2330862"/>
            <a:ext cx="127635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5.0</a:t>
            </a:r>
            <a:endParaRPr kumimoji="0" lang="zh-TW" altLang="en-US"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13" name="文字方塊 12"/>
          <p:cNvSpPr txBox="1"/>
          <p:nvPr/>
        </p:nvSpPr>
        <p:spPr>
          <a:xfrm>
            <a:off x="4314825" y="4157642"/>
            <a:ext cx="112395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3</a:t>
            </a:r>
            <a:endParaRPr kumimoji="0" lang="zh-TW" altLang="en-US"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
        <p:nvSpPr>
          <p:cNvPr id="14" name="文字方塊 13"/>
          <p:cNvSpPr txBox="1"/>
          <p:nvPr/>
        </p:nvSpPr>
        <p:spPr>
          <a:xfrm>
            <a:off x="9401175" y="4157642"/>
            <a:ext cx="112395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endParaRPr kumimoji="0" lang="zh-TW" altLang="en-US" sz="60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226462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1+#ppt_w/2"/>
                                          </p:val>
                                        </p:tav>
                                        <p:tav tm="100000">
                                          <p:val>
                                            <p:strVal val="#ppt_x"/>
                                          </p:val>
                                        </p:tav>
                                      </p:tavLst>
                                    </p:anim>
                                    <p:anim calcmode="lin" valueType="num">
                                      <p:cBhvr additive="base">
                                        <p:cTn id="4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p:bldP spid="12" grpId="0"/>
      <p:bldP spid="13" grpId="0"/>
      <p:bldP spid="14"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資料型別轉換</a:t>
            </a:r>
          </a:p>
        </p:txBody>
      </p:sp>
      <p:sp>
        <p:nvSpPr>
          <p:cNvPr id="3" name="內容版面配置區 2"/>
          <p:cNvSpPr>
            <a:spLocks noGrp="1"/>
          </p:cNvSpPr>
          <p:nvPr>
            <p:ph idx="1"/>
          </p:nvPr>
        </p:nvSpPr>
        <p:spPr/>
        <p:txBody>
          <a:bodyPr/>
          <a:lstStyle/>
          <a:p>
            <a:r>
              <a:rPr lang="zh-TW" altLang="en-US" dirty="0"/>
              <a:t>如果系統</a:t>
            </a:r>
            <a:r>
              <a:rPr lang="zh-TW" altLang="en-US" dirty="0">
                <a:solidFill>
                  <a:schemeClr val="accent4"/>
                </a:solidFill>
              </a:rPr>
              <a:t>無法自動</a:t>
            </a:r>
            <a:r>
              <a:rPr lang="zh-TW" altLang="en-US" dirty="0"/>
              <a:t>進行資料型別轉換，就需要手動強制轉換。</a:t>
            </a:r>
            <a:endParaRPr lang="en-US" altLang="zh-TW" dirty="0"/>
          </a:p>
          <a:p>
            <a:pPr lvl="1"/>
            <a:endParaRPr lang="en-US" altLang="zh-TW" dirty="0"/>
          </a:p>
          <a:p>
            <a:r>
              <a:rPr lang="en-US" altLang="zh-TW" dirty="0"/>
              <a:t>Python </a:t>
            </a:r>
            <a:r>
              <a:rPr lang="zh-TW" altLang="en-US" dirty="0"/>
              <a:t>強制資料型別轉換命令有：</a:t>
            </a:r>
            <a:endParaRPr lang="en-US" altLang="zh-TW" dirty="0"/>
          </a:p>
          <a:p>
            <a:pPr lvl="1"/>
            <a:r>
              <a:rPr lang="en-US" altLang="zh-TW" dirty="0">
                <a:latin typeface="Consolas" panose="020B0609020204030204" pitchFamily="49" charset="0"/>
              </a:rPr>
              <a:t>int()</a:t>
            </a:r>
            <a:r>
              <a:rPr lang="zh-TW" altLang="en-US" dirty="0"/>
              <a:t>     </a:t>
            </a:r>
            <a:r>
              <a:rPr lang="en-US" altLang="zh-TW" dirty="0">
                <a:sym typeface="Wingdings" panose="05000000000000000000" pitchFamily="2" charset="2"/>
              </a:rPr>
              <a:t> </a:t>
            </a:r>
            <a:r>
              <a:rPr lang="zh-TW" altLang="en-US" dirty="0"/>
              <a:t>轉換為</a:t>
            </a:r>
            <a:r>
              <a:rPr lang="zh-TW" altLang="en-US" dirty="0">
                <a:solidFill>
                  <a:schemeClr val="accent4"/>
                </a:solidFill>
              </a:rPr>
              <a:t>整數</a:t>
            </a:r>
            <a:r>
              <a:rPr lang="zh-TW" altLang="en-US" dirty="0"/>
              <a:t>型別</a:t>
            </a:r>
            <a:endParaRPr lang="en-US" altLang="zh-TW" dirty="0"/>
          </a:p>
          <a:p>
            <a:pPr lvl="1"/>
            <a:r>
              <a:rPr lang="en-US" altLang="zh-TW" dirty="0">
                <a:latin typeface="Consolas" panose="020B0609020204030204" pitchFamily="49" charset="0"/>
              </a:rPr>
              <a:t>float()</a:t>
            </a:r>
            <a:r>
              <a:rPr lang="zh-TW" altLang="en-US" dirty="0"/>
              <a:t> </a:t>
            </a:r>
            <a:r>
              <a:rPr lang="en-US" altLang="zh-TW" dirty="0">
                <a:sym typeface="Wingdings" panose="05000000000000000000" pitchFamily="2" charset="2"/>
              </a:rPr>
              <a:t> </a:t>
            </a:r>
            <a:r>
              <a:rPr lang="zh-TW" altLang="en-US" dirty="0"/>
              <a:t>轉換為</a:t>
            </a:r>
            <a:r>
              <a:rPr lang="zh-TW" altLang="en-US" dirty="0">
                <a:solidFill>
                  <a:schemeClr val="accent4"/>
                </a:solidFill>
              </a:rPr>
              <a:t>浮點數</a:t>
            </a:r>
            <a:r>
              <a:rPr lang="zh-TW" altLang="en-US" dirty="0"/>
              <a:t>型別</a:t>
            </a:r>
            <a:endParaRPr lang="en-US" altLang="zh-TW" dirty="0"/>
          </a:p>
          <a:p>
            <a:pPr lvl="1"/>
            <a:r>
              <a:rPr lang="en-US" altLang="zh-TW" dirty="0">
                <a:latin typeface="Consolas" panose="020B0609020204030204" pitchFamily="49" charset="0"/>
              </a:rPr>
              <a:t>bool()</a:t>
            </a:r>
            <a:r>
              <a:rPr lang="en-US" altLang="zh-TW" dirty="0"/>
              <a:t>   </a:t>
            </a:r>
            <a:r>
              <a:rPr lang="en-US" altLang="zh-TW" dirty="0">
                <a:sym typeface="Wingdings" panose="05000000000000000000" pitchFamily="2" charset="2"/>
              </a:rPr>
              <a:t> </a:t>
            </a:r>
            <a:r>
              <a:rPr lang="zh-TW" altLang="en-US" dirty="0">
                <a:sym typeface="Wingdings" panose="05000000000000000000" pitchFamily="2" charset="2"/>
              </a:rPr>
              <a:t>轉換為</a:t>
            </a:r>
            <a:r>
              <a:rPr lang="zh-TW" altLang="en-US" dirty="0">
                <a:solidFill>
                  <a:schemeClr val="accent4"/>
                </a:solidFill>
                <a:sym typeface="Wingdings" panose="05000000000000000000" pitchFamily="2" charset="2"/>
              </a:rPr>
              <a:t>布林</a:t>
            </a:r>
            <a:r>
              <a:rPr lang="zh-TW" altLang="en-US" dirty="0">
                <a:sym typeface="Wingdings" panose="05000000000000000000" pitchFamily="2" charset="2"/>
              </a:rPr>
              <a:t>型</a:t>
            </a:r>
            <a:r>
              <a:rPr lang="zh-TW" altLang="en-US" dirty="0"/>
              <a:t>別</a:t>
            </a:r>
            <a:endParaRPr lang="en-US" altLang="zh-TW" dirty="0"/>
          </a:p>
          <a:p>
            <a:pPr lvl="1"/>
            <a:r>
              <a:rPr lang="en-US" altLang="zh-TW" dirty="0">
                <a:latin typeface="Consolas" panose="020B0609020204030204" pitchFamily="49" charset="0"/>
              </a:rPr>
              <a:t>str()</a:t>
            </a:r>
            <a:r>
              <a:rPr lang="zh-TW" altLang="en-US" dirty="0"/>
              <a:t>     </a:t>
            </a:r>
            <a:r>
              <a:rPr lang="en-US" altLang="zh-TW" dirty="0">
                <a:sym typeface="Wingdings" panose="05000000000000000000" pitchFamily="2" charset="2"/>
              </a:rPr>
              <a:t> </a:t>
            </a:r>
            <a:r>
              <a:rPr lang="zh-TW" altLang="en-US" dirty="0"/>
              <a:t>轉換為</a:t>
            </a:r>
            <a:r>
              <a:rPr lang="zh-TW" altLang="en-US" dirty="0">
                <a:solidFill>
                  <a:schemeClr val="accent4"/>
                </a:solidFill>
              </a:rPr>
              <a:t>字串</a:t>
            </a:r>
            <a:r>
              <a:rPr lang="zh-TW" altLang="en-US" dirty="0"/>
              <a:t>型別</a:t>
            </a:r>
          </a:p>
          <a:p>
            <a:endParaRPr lang="zh-TW" altLang="en-US"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406336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B706DB-A645-47BC-8904-E263FC8F744F}"/>
              </a:ext>
            </a:extLst>
          </p:cNvPr>
          <p:cNvSpPr>
            <a:spLocks noGrp="1"/>
          </p:cNvSpPr>
          <p:nvPr>
            <p:ph type="title"/>
          </p:nvPr>
        </p:nvSpPr>
        <p:spPr/>
        <p:txBody>
          <a:bodyPr/>
          <a:lstStyle/>
          <a:p>
            <a:r>
              <a:rPr lang="zh-TW" altLang="en-US" dirty="0"/>
              <a:t>範例</a:t>
            </a:r>
          </a:p>
        </p:txBody>
      </p:sp>
      <p:sp>
        <p:nvSpPr>
          <p:cNvPr id="4" name="投影片編號版面配置區 3">
            <a:extLst>
              <a:ext uri="{FF2B5EF4-FFF2-40B4-BE49-F238E27FC236}">
                <a16:creationId xmlns:a16="http://schemas.microsoft.com/office/drawing/2014/main" id="{DEE12956-CB89-4452-BB52-52657B361C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69CBD112-B920-4EE1-B4E2-9B67330F6B0F}"/>
              </a:ext>
            </a:extLst>
          </p:cNvPr>
          <p:cNvPicPr>
            <a:picLocks noChangeAspect="1"/>
          </p:cNvPicPr>
          <p:nvPr/>
        </p:nvPicPr>
        <p:blipFill>
          <a:blip r:embed="rId2"/>
          <a:stretch>
            <a:fillRect/>
          </a:stretch>
        </p:blipFill>
        <p:spPr>
          <a:xfrm>
            <a:off x="1374437" y="1721029"/>
            <a:ext cx="8691751" cy="2861481"/>
          </a:xfrm>
          <a:prstGeom prst="rect">
            <a:avLst/>
          </a:prstGeom>
        </p:spPr>
      </p:pic>
      <p:pic>
        <p:nvPicPr>
          <p:cNvPr id="8" name="圖片 7">
            <a:extLst>
              <a:ext uri="{FF2B5EF4-FFF2-40B4-BE49-F238E27FC236}">
                <a16:creationId xmlns:a16="http://schemas.microsoft.com/office/drawing/2014/main" id="{CDA052C1-3415-4510-9ADF-0782A0D3387F}"/>
              </a:ext>
            </a:extLst>
          </p:cNvPr>
          <p:cNvPicPr>
            <a:picLocks noChangeAspect="1"/>
          </p:cNvPicPr>
          <p:nvPr/>
        </p:nvPicPr>
        <p:blipFill>
          <a:blip r:embed="rId3"/>
          <a:stretch>
            <a:fillRect/>
          </a:stretch>
        </p:blipFill>
        <p:spPr>
          <a:xfrm>
            <a:off x="7671741" y="3952513"/>
            <a:ext cx="3329268" cy="2518137"/>
          </a:xfrm>
          <a:prstGeom prst="rect">
            <a:avLst/>
          </a:prstGeom>
          <a:ln w="12700">
            <a:solidFill>
              <a:schemeClr val="bg1"/>
            </a:solidFill>
          </a:ln>
        </p:spPr>
      </p:pic>
    </p:spTree>
    <p:extLst>
      <p:ext uri="{BB962C8B-B14F-4D97-AF65-F5344CB8AC3E}">
        <p14:creationId xmlns:p14="http://schemas.microsoft.com/office/powerpoint/2010/main" val="7167826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試試看</a:t>
            </a: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3348D53D-63B3-47E3-BB4F-343091648FF1}"/>
              </a:ext>
            </a:extLst>
          </p:cNvPr>
          <p:cNvPicPr>
            <a:picLocks noChangeAspect="1"/>
          </p:cNvPicPr>
          <p:nvPr/>
        </p:nvPicPr>
        <p:blipFill>
          <a:blip r:embed="rId2"/>
          <a:stretch>
            <a:fillRect/>
          </a:stretch>
        </p:blipFill>
        <p:spPr>
          <a:xfrm>
            <a:off x="2956314" y="2011196"/>
            <a:ext cx="6279371" cy="3086212"/>
          </a:xfrm>
          <a:prstGeom prst="rect">
            <a:avLst/>
          </a:prstGeom>
        </p:spPr>
      </p:pic>
      <p:pic>
        <p:nvPicPr>
          <p:cNvPr id="6" name="圖片 5">
            <a:extLst>
              <a:ext uri="{FF2B5EF4-FFF2-40B4-BE49-F238E27FC236}">
                <a16:creationId xmlns:a16="http://schemas.microsoft.com/office/drawing/2014/main" id="{0A28F7B9-D23D-45A7-B73F-4F1075D17B89}"/>
              </a:ext>
            </a:extLst>
          </p:cNvPr>
          <p:cNvPicPr>
            <a:picLocks noChangeAspect="1"/>
          </p:cNvPicPr>
          <p:nvPr/>
        </p:nvPicPr>
        <p:blipFill>
          <a:blip r:embed="rId3"/>
          <a:stretch>
            <a:fillRect/>
          </a:stretch>
        </p:blipFill>
        <p:spPr>
          <a:xfrm>
            <a:off x="2038290" y="5508404"/>
            <a:ext cx="8115419" cy="365859"/>
          </a:xfrm>
          <a:prstGeom prst="rect">
            <a:avLst/>
          </a:prstGeom>
        </p:spPr>
      </p:pic>
      <p:sp>
        <p:nvSpPr>
          <p:cNvPr id="3" name="語音泡泡: 圓角矩形 2">
            <a:extLst>
              <a:ext uri="{FF2B5EF4-FFF2-40B4-BE49-F238E27FC236}">
                <a16:creationId xmlns:a16="http://schemas.microsoft.com/office/drawing/2014/main" id="{7FA34062-4385-417A-B6ED-DBB1C1CBF100}"/>
              </a:ext>
            </a:extLst>
          </p:cNvPr>
          <p:cNvSpPr/>
          <p:nvPr/>
        </p:nvSpPr>
        <p:spPr>
          <a:xfrm>
            <a:off x="9353550" y="2983865"/>
            <a:ext cx="2190750" cy="754380"/>
          </a:xfrm>
          <a:prstGeom prst="wedgeRoundRectCallout">
            <a:avLst>
              <a:gd name="adj1" fmla="val -132538"/>
              <a:gd name="adj2" fmla="val 44318"/>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解</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1</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r>
              <a:rPr kumimoji="0" lang="en-US" altLang="zh-TW"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rPr>
              <a:t>str(34)</a:t>
            </a:r>
            <a:endParaRPr kumimoji="0" lang="zh-TW" altLang="en-US"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endParaRPr>
          </a:p>
        </p:txBody>
      </p:sp>
      <p:sp>
        <p:nvSpPr>
          <p:cNvPr id="7" name="語音泡泡: 圓角矩形 6">
            <a:extLst>
              <a:ext uri="{FF2B5EF4-FFF2-40B4-BE49-F238E27FC236}">
                <a16:creationId xmlns:a16="http://schemas.microsoft.com/office/drawing/2014/main" id="{1A6296DA-FFD1-460C-BBB5-73C91E49B574}"/>
              </a:ext>
            </a:extLst>
          </p:cNvPr>
          <p:cNvSpPr/>
          <p:nvPr/>
        </p:nvSpPr>
        <p:spPr>
          <a:xfrm>
            <a:off x="563880" y="4004945"/>
            <a:ext cx="2274569" cy="754380"/>
          </a:xfrm>
          <a:prstGeom prst="wedgeRoundRectCallout">
            <a:avLst>
              <a:gd name="adj1" fmla="val 183984"/>
              <a:gd name="adj2" fmla="val -61742"/>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解</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r>
              <a:rPr kumimoji="0" lang="en-US" altLang="zh-TW"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rPr>
              <a:t>int(num)</a:t>
            </a:r>
            <a:endParaRPr kumimoji="0" lang="zh-TW" altLang="en-US"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endParaRPr>
          </a:p>
        </p:txBody>
      </p:sp>
      <p:sp>
        <p:nvSpPr>
          <p:cNvPr id="8" name="語音泡泡: 圓角矩形 7">
            <a:extLst>
              <a:ext uri="{FF2B5EF4-FFF2-40B4-BE49-F238E27FC236}">
                <a16:creationId xmlns:a16="http://schemas.microsoft.com/office/drawing/2014/main" id="{3F02A2EA-F195-4266-B413-916791C1FBAA}"/>
              </a:ext>
            </a:extLst>
          </p:cNvPr>
          <p:cNvSpPr/>
          <p:nvPr/>
        </p:nvSpPr>
        <p:spPr>
          <a:xfrm>
            <a:off x="9353549" y="3972877"/>
            <a:ext cx="2774655" cy="754380"/>
          </a:xfrm>
          <a:prstGeom prst="wedgeRoundRectCallout">
            <a:avLst>
              <a:gd name="adj1" fmla="val -78863"/>
              <a:gd name="adj2" fmla="val 37529"/>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解</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2</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r>
              <a:rPr kumimoji="0" lang="en-US" altLang="zh-TW"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rPr>
              <a:t>str(result)</a:t>
            </a:r>
            <a:endParaRPr kumimoji="0" lang="zh-TW" altLang="en-US" sz="2400" b="0" i="0" u="none" strike="noStrike" kern="1200" cap="none" spc="0" normalizeH="0" baseline="0" noProof="0" dirty="0">
              <a:ln>
                <a:noFill/>
              </a:ln>
              <a:solidFill>
                <a:prstClr val="white"/>
              </a:solidFill>
              <a:effectLst/>
              <a:uLnTx/>
              <a:uFillTx/>
              <a:latin typeface="Consolas" panose="020B0609020204030204" pitchFamily="49" charset="0"/>
              <a:ea typeface="微軟正黑體" panose="020B0604030504040204" pitchFamily="34" charset="-120"/>
              <a:cs typeface="+mn-cs"/>
            </a:endParaRPr>
          </a:p>
        </p:txBody>
      </p:sp>
    </p:spTree>
    <p:extLst>
      <p:ext uri="{BB962C8B-B14F-4D97-AF65-F5344CB8AC3E}">
        <p14:creationId xmlns:p14="http://schemas.microsoft.com/office/powerpoint/2010/main" val="180098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98FF7A-8FEA-403F-BA86-B850BC2F86BC}"/>
              </a:ext>
            </a:extLst>
          </p:cNvPr>
          <p:cNvSpPr>
            <a:spLocks noGrp="1"/>
          </p:cNvSpPr>
          <p:nvPr>
            <p:ph type="title"/>
          </p:nvPr>
        </p:nvSpPr>
        <p:spPr/>
        <p:txBody>
          <a:bodyPr/>
          <a:lstStyle/>
          <a:p>
            <a:r>
              <a:rPr lang="zh-TW" altLang="en-US" dirty="0"/>
              <a:t>轉換為布林型別</a:t>
            </a:r>
          </a:p>
        </p:txBody>
      </p:sp>
      <p:sp>
        <p:nvSpPr>
          <p:cNvPr id="3" name="內容版面配置區 2">
            <a:extLst>
              <a:ext uri="{FF2B5EF4-FFF2-40B4-BE49-F238E27FC236}">
                <a16:creationId xmlns:a16="http://schemas.microsoft.com/office/drawing/2014/main" id="{CC38DBE6-EDE3-44BD-A6CD-7D7EC918CD6F}"/>
              </a:ext>
            </a:extLst>
          </p:cNvPr>
          <p:cNvSpPr>
            <a:spLocks noGrp="1"/>
          </p:cNvSpPr>
          <p:nvPr>
            <p:ph idx="1"/>
          </p:nvPr>
        </p:nvSpPr>
        <p:spPr/>
        <p:txBody>
          <a:bodyPr/>
          <a:lstStyle/>
          <a:p>
            <a:r>
              <a:rPr lang="zh-TW" altLang="en-US" dirty="0"/>
              <a:t>類似整數 </a:t>
            </a:r>
            <a:r>
              <a:rPr lang="en-US" altLang="zh-TW" dirty="0"/>
              <a:t>0 </a:t>
            </a:r>
            <a:r>
              <a:rPr lang="zh-TW" altLang="en-US" dirty="0"/>
              <a:t>轉換成布林值時會變成 </a:t>
            </a:r>
            <a:r>
              <a:rPr lang="en-US" altLang="zh-TW" dirty="0"/>
              <a:t>False</a:t>
            </a:r>
            <a:r>
              <a:rPr lang="zh-TW" altLang="en-US" dirty="0"/>
              <a:t>，稱為 </a:t>
            </a:r>
            <a:r>
              <a:rPr lang="en-US" altLang="zh-TW" dirty="0" err="1">
                <a:solidFill>
                  <a:schemeClr val="accent4"/>
                </a:solidFill>
              </a:rPr>
              <a:t>Falsy</a:t>
            </a:r>
            <a:r>
              <a:rPr lang="en-US" altLang="zh-TW" dirty="0">
                <a:solidFill>
                  <a:schemeClr val="accent4"/>
                </a:solidFill>
              </a:rPr>
              <a:t> value</a:t>
            </a:r>
            <a:r>
              <a:rPr lang="zh-TW" altLang="en-US" dirty="0"/>
              <a:t>。</a:t>
            </a:r>
            <a:endParaRPr lang="en-US" altLang="zh-TW" dirty="0"/>
          </a:p>
          <a:p>
            <a:pPr lvl="1"/>
            <a:r>
              <a:rPr lang="zh-TW" altLang="en-US" dirty="0"/>
              <a:t>其它常見型別的有</a:t>
            </a:r>
            <a:r>
              <a:rPr lang="zh-TW" altLang="en-US" dirty="0">
                <a:solidFill>
                  <a:schemeClr val="accent4"/>
                </a:solidFill>
              </a:rPr>
              <a:t>浮點數 </a:t>
            </a:r>
            <a:r>
              <a:rPr lang="en-US" altLang="zh-TW" dirty="0">
                <a:solidFill>
                  <a:schemeClr val="accent4"/>
                </a:solidFill>
              </a:rPr>
              <a:t>0.0</a:t>
            </a:r>
            <a:r>
              <a:rPr lang="zh-TW" altLang="en-US" dirty="0">
                <a:solidFill>
                  <a:schemeClr val="accent4"/>
                </a:solidFill>
              </a:rPr>
              <a:t>、複數 </a:t>
            </a:r>
            <a:r>
              <a:rPr lang="en-US" altLang="zh-TW" dirty="0">
                <a:solidFill>
                  <a:schemeClr val="accent4"/>
                </a:solidFill>
              </a:rPr>
              <a:t>0 </a:t>
            </a:r>
            <a:r>
              <a:rPr lang="en-US" altLang="zh-TW">
                <a:solidFill>
                  <a:schemeClr val="accent4"/>
                </a:solidFill>
              </a:rPr>
              <a:t>+ 0j</a:t>
            </a:r>
            <a:r>
              <a:rPr lang="zh-TW" altLang="en-US">
                <a:solidFill>
                  <a:schemeClr val="accent4"/>
                </a:solidFill>
              </a:rPr>
              <a:t>、</a:t>
            </a:r>
            <a:r>
              <a:rPr lang="zh-TW" altLang="en-US" dirty="0">
                <a:solidFill>
                  <a:schemeClr val="accent4"/>
                </a:solidFill>
              </a:rPr>
              <a:t>空字串</a:t>
            </a:r>
            <a:r>
              <a:rPr lang="en-US" altLang="zh-TW" dirty="0">
                <a:solidFill>
                  <a:schemeClr val="accent4"/>
                </a:solidFill>
              </a:rPr>
              <a:t>""</a:t>
            </a:r>
            <a:r>
              <a:rPr lang="zh-TW" altLang="en-US" dirty="0">
                <a:solidFill>
                  <a:schemeClr val="accent4"/>
                </a:solidFill>
              </a:rPr>
              <a:t>（或</a:t>
            </a:r>
            <a:r>
              <a:rPr lang="en-US" altLang="zh-TW" dirty="0">
                <a:solidFill>
                  <a:schemeClr val="accent4"/>
                </a:solidFill>
              </a:rPr>
              <a:t>''</a:t>
            </a:r>
            <a:r>
              <a:rPr lang="zh-TW" altLang="en-US" dirty="0">
                <a:solidFill>
                  <a:schemeClr val="accent4"/>
                </a:solidFill>
              </a:rPr>
              <a:t>）、</a:t>
            </a:r>
            <a:r>
              <a:rPr lang="en-US" altLang="zh-TW" dirty="0">
                <a:solidFill>
                  <a:schemeClr val="accent4"/>
                </a:solidFill>
              </a:rPr>
              <a:t>None</a:t>
            </a:r>
            <a:r>
              <a:rPr lang="zh-TW" altLang="en-US" dirty="0"/>
              <a:t> 等，其餘大多在轉換成布林值時會得到 </a:t>
            </a:r>
            <a:r>
              <a:rPr lang="en-US" altLang="zh-TW" dirty="0"/>
              <a:t>True</a:t>
            </a:r>
            <a:r>
              <a:rPr lang="zh-TW" altLang="en-US" dirty="0"/>
              <a:t> 的結果。</a:t>
            </a:r>
          </a:p>
        </p:txBody>
      </p:sp>
      <p:sp>
        <p:nvSpPr>
          <p:cNvPr id="4" name="投影片編號版面配置區 3">
            <a:extLst>
              <a:ext uri="{FF2B5EF4-FFF2-40B4-BE49-F238E27FC236}">
                <a16:creationId xmlns:a16="http://schemas.microsoft.com/office/drawing/2014/main" id="{4DA3F94A-DD02-4269-85FF-BCCEA0BD1F5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DB5F26D7-CEA5-43ED-B93D-2B33F4CC6FF4}"/>
              </a:ext>
            </a:extLst>
          </p:cNvPr>
          <p:cNvPicPr>
            <a:picLocks noChangeAspect="1"/>
          </p:cNvPicPr>
          <p:nvPr/>
        </p:nvPicPr>
        <p:blipFill>
          <a:blip r:embed="rId2"/>
          <a:stretch>
            <a:fillRect/>
          </a:stretch>
        </p:blipFill>
        <p:spPr>
          <a:xfrm>
            <a:off x="2293380" y="3817968"/>
            <a:ext cx="4677048" cy="1964077"/>
          </a:xfrm>
          <a:prstGeom prst="rect">
            <a:avLst/>
          </a:prstGeom>
        </p:spPr>
      </p:pic>
      <p:pic>
        <p:nvPicPr>
          <p:cNvPr id="8" name="圖片 7">
            <a:extLst>
              <a:ext uri="{FF2B5EF4-FFF2-40B4-BE49-F238E27FC236}">
                <a16:creationId xmlns:a16="http://schemas.microsoft.com/office/drawing/2014/main" id="{C83964AA-6222-4CA1-A1B1-5B44EE087C50}"/>
              </a:ext>
            </a:extLst>
          </p:cNvPr>
          <p:cNvPicPr>
            <a:picLocks noChangeAspect="1"/>
          </p:cNvPicPr>
          <p:nvPr/>
        </p:nvPicPr>
        <p:blipFill>
          <a:blip r:embed="rId3"/>
          <a:stretch>
            <a:fillRect/>
          </a:stretch>
        </p:blipFill>
        <p:spPr>
          <a:xfrm>
            <a:off x="7412952" y="3992301"/>
            <a:ext cx="1289613" cy="1615410"/>
          </a:xfrm>
          <a:prstGeom prst="rect">
            <a:avLst/>
          </a:prstGeom>
        </p:spPr>
      </p:pic>
    </p:spTree>
    <p:extLst>
      <p:ext uri="{BB962C8B-B14F-4D97-AF65-F5344CB8AC3E}">
        <p14:creationId xmlns:p14="http://schemas.microsoft.com/office/powerpoint/2010/main" val="427471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5BC84A-5C77-4C70-931C-5A70B4C8F01E}"/>
              </a:ext>
            </a:extLst>
          </p:cNvPr>
          <p:cNvSpPr>
            <a:spLocks noGrp="1"/>
          </p:cNvSpPr>
          <p:nvPr>
            <p:ph type="title"/>
          </p:nvPr>
        </p:nvSpPr>
        <p:spPr/>
        <p:txBody>
          <a:bodyPr/>
          <a:lstStyle/>
          <a:p>
            <a:r>
              <a:rPr lang="zh-TW" altLang="en-US" dirty="0"/>
              <a:t>轉換為字串型別</a:t>
            </a:r>
          </a:p>
        </p:txBody>
      </p:sp>
      <p:sp>
        <p:nvSpPr>
          <p:cNvPr id="4" name="投影片編號版面配置區 3">
            <a:extLst>
              <a:ext uri="{FF2B5EF4-FFF2-40B4-BE49-F238E27FC236}">
                <a16:creationId xmlns:a16="http://schemas.microsoft.com/office/drawing/2014/main" id="{806B666E-36AA-4555-BC4C-684F3DB99B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6" name="圖片 5">
            <a:extLst>
              <a:ext uri="{FF2B5EF4-FFF2-40B4-BE49-F238E27FC236}">
                <a16:creationId xmlns:a16="http://schemas.microsoft.com/office/drawing/2014/main" id="{1C8A9DE6-29D3-466E-8E3B-A1B388344968}"/>
              </a:ext>
            </a:extLst>
          </p:cNvPr>
          <p:cNvPicPr>
            <a:picLocks noChangeAspect="1"/>
          </p:cNvPicPr>
          <p:nvPr/>
        </p:nvPicPr>
        <p:blipFill>
          <a:blip r:embed="rId2"/>
          <a:stretch>
            <a:fillRect/>
          </a:stretch>
        </p:blipFill>
        <p:spPr>
          <a:xfrm>
            <a:off x="1139736" y="1957962"/>
            <a:ext cx="9912528" cy="1930866"/>
          </a:xfrm>
          <a:prstGeom prst="rect">
            <a:avLst/>
          </a:prstGeom>
        </p:spPr>
      </p:pic>
      <p:pic>
        <p:nvPicPr>
          <p:cNvPr id="8" name="圖片 7">
            <a:extLst>
              <a:ext uri="{FF2B5EF4-FFF2-40B4-BE49-F238E27FC236}">
                <a16:creationId xmlns:a16="http://schemas.microsoft.com/office/drawing/2014/main" id="{4EDECF1D-FE59-48A2-90FF-D15124BD2520}"/>
              </a:ext>
            </a:extLst>
          </p:cNvPr>
          <p:cNvPicPr>
            <a:picLocks noChangeAspect="1"/>
          </p:cNvPicPr>
          <p:nvPr/>
        </p:nvPicPr>
        <p:blipFill>
          <a:blip r:embed="rId3"/>
          <a:stretch>
            <a:fillRect/>
          </a:stretch>
        </p:blipFill>
        <p:spPr>
          <a:xfrm>
            <a:off x="2200534" y="4178933"/>
            <a:ext cx="7790932" cy="2012317"/>
          </a:xfrm>
          <a:prstGeom prst="rect">
            <a:avLst/>
          </a:prstGeom>
        </p:spPr>
      </p:pic>
      <p:sp>
        <p:nvSpPr>
          <p:cNvPr id="9" name="語音泡泡: 圓角矩形 8">
            <a:extLst>
              <a:ext uri="{FF2B5EF4-FFF2-40B4-BE49-F238E27FC236}">
                <a16:creationId xmlns:a16="http://schemas.microsoft.com/office/drawing/2014/main" id="{4548E7FD-D2CA-4863-AE89-D24BB42A5FCB}"/>
              </a:ext>
            </a:extLst>
          </p:cNvPr>
          <p:cNvSpPr/>
          <p:nvPr/>
        </p:nvSpPr>
        <p:spPr>
          <a:xfrm>
            <a:off x="4335516" y="5762930"/>
            <a:ext cx="3857297" cy="693682"/>
          </a:xfrm>
          <a:prstGeom prst="wedgeRoundRectCallout">
            <a:avLst>
              <a:gd name="adj1" fmla="val -75601"/>
              <a:gd name="adj2" fmla="val -72349"/>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有發現多一個 </a:t>
            </a:r>
            <a:r>
              <a:rPr kumimoji="0" lang="en-US" altLang="zh-TW"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a:t>
            </a:r>
            <a:r>
              <a:rPr kumimoji="0" lang="zh-TW" altLang="en-US" sz="2400" b="0" i="0" u="none" strike="noStrike" kern="1200" cap="none" spc="0" normalizeH="0" baseline="0" noProof="0" dirty="0">
                <a:ln>
                  <a:noFill/>
                </a:ln>
                <a:solidFill>
                  <a:prstClr val="white"/>
                </a:solidFill>
                <a:effectLst/>
                <a:uLnTx/>
                <a:uFillTx/>
                <a:latin typeface="Arial" panose="020B0604020202020204"/>
                <a:ea typeface="微軟正黑體" panose="020B0604030504040204" pitchFamily="34" charset="-120"/>
                <a:cs typeface="+mn-cs"/>
              </a:rPr>
              <a:t> 號嗎？</a:t>
            </a:r>
          </a:p>
        </p:txBody>
      </p:sp>
    </p:spTree>
    <p:extLst>
      <p:ext uri="{BB962C8B-B14F-4D97-AF65-F5344CB8AC3E}">
        <p14:creationId xmlns:p14="http://schemas.microsoft.com/office/powerpoint/2010/main" val="367971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主題</a:t>
            </a:r>
          </a:p>
        </p:txBody>
      </p:sp>
      <p:sp>
        <p:nvSpPr>
          <p:cNvPr id="3" name="內容版面配置區 2"/>
          <p:cNvSpPr>
            <a:spLocks noGrp="1"/>
          </p:cNvSpPr>
          <p:nvPr>
            <p:ph idx="1"/>
          </p:nvPr>
        </p:nvSpPr>
        <p:spPr/>
        <p:txBody>
          <a:bodyPr>
            <a:normAutofit/>
          </a:bodyPr>
          <a:lstStyle/>
          <a:p>
            <a:r>
              <a:rPr lang="zh-TW" altLang="en-US" dirty="0"/>
              <a:t>變數與資料型別</a:t>
            </a:r>
            <a:endParaRPr lang="en-US" altLang="zh-TW" dirty="0"/>
          </a:p>
          <a:p>
            <a:pPr lvl="1"/>
            <a:r>
              <a:rPr lang="zh-TW" altLang="en-US" dirty="0"/>
              <a:t>變數與命名規則</a:t>
            </a:r>
            <a:endParaRPr lang="en-US" altLang="zh-TW" dirty="0"/>
          </a:p>
          <a:p>
            <a:pPr lvl="1"/>
            <a:r>
              <a:rPr lang="zh-TW" altLang="en-US" dirty="0"/>
              <a:t>數值、布林與字串資料型別</a:t>
            </a:r>
            <a:endParaRPr lang="en-US" altLang="zh-TW" dirty="0"/>
          </a:p>
          <a:p>
            <a:pPr lvl="1"/>
            <a:r>
              <a:rPr lang="zh-TW" altLang="en-US" dirty="0"/>
              <a:t>資料型別轉換</a:t>
            </a:r>
            <a:endParaRPr lang="en-US" altLang="zh-TW" dirty="0"/>
          </a:p>
          <a:p>
            <a:pPr lvl="1"/>
            <a:r>
              <a:rPr lang="zh-TW" altLang="en-US" dirty="0">
                <a:solidFill>
                  <a:schemeClr val="accent2"/>
                </a:solidFill>
              </a:rPr>
              <a:t>註解</a:t>
            </a:r>
            <a:endParaRPr lang="en-US" altLang="zh-TW" dirty="0">
              <a:solidFill>
                <a:schemeClr val="accent2"/>
              </a:solidFill>
            </a:endParaRPr>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spTree>
    <p:extLst>
      <p:ext uri="{BB962C8B-B14F-4D97-AF65-F5344CB8AC3E}">
        <p14:creationId xmlns:p14="http://schemas.microsoft.com/office/powerpoint/2010/main" val="370802416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A92617-9CAF-4E56-A14B-76A572F1532C}"/>
              </a:ext>
            </a:extLst>
          </p:cNvPr>
          <p:cNvSpPr>
            <a:spLocks noGrp="1"/>
          </p:cNvSpPr>
          <p:nvPr>
            <p:ph type="title"/>
          </p:nvPr>
        </p:nvSpPr>
        <p:spPr/>
        <p:txBody>
          <a:bodyPr/>
          <a:lstStyle/>
          <a:p>
            <a:r>
              <a:rPr lang="zh-TW" altLang="en-US" dirty="0"/>
              <a:t>註解</a:t>
            </a:r>
            <a:r>
              <a:rPr lang="en-US" altLang="zh-TW" dirty="0"/>
              <a:t>(comment)</a:t>
            </a:r>
            <a:endParaRPr lang="zh-TW" altLang="en-US" dirty="0"/>
          </a:p>
        </p:txBody>
      </p:sp>
      <p:sp>
        <p:nvSpPr>
          <p:cNvPr id="3" name="內容版面配置區 2">
            <a:extLst>
              <a:ext uri="{FF2B5EF4-FFF2-40B4-BE49-F238E27FC236}">
                <a16:creationId xmlns:a16="http://schemas.microsoft.com/office/drawing/2014/main" id="{0E89CB1F-1377-4BEC-8E60-EA9A9024FB08}"/>
              </a:ext>
            </a:extLst>
          </p:cNvPr>
          <p:cNvSpPr>
            <a:spLocks noGrp="1"/>
          </p:cNvSpPr>
          <p:nvPr>
            <p:ph idx="1"/>
          </p:nvPr>
        </p:nvSpPr>
        <p:spPr/>
        <p:txBody>
          <a:bodyPr/>
          <a:lstStyle/>
          <a:p>
            <a:r>
              <a:rPr lang="zh-TW" altLang="en-US" dirty="0"/>
              <a:t>註解是在程式碼中「不會被執行的文字敘述」</a:t>
            </a:r>
            <a:endParaRPr lang="en-US" altLang="zh-TW" dirty="0"/>
          </a:p>
          <a:p>
            <a:pPr lvl="1"/>
            <a:r>
              <a:rPr lang="zh-TW" altLang="en-US" dirty="0"/>
              <a:t>主要用來</a:t>
            </a:r>
            <a:r>
              <a:rPr lang="zh-TW" altLang="en-US" dirty="0">
                <a:solidFill>
                  <a:schemeClr val="accent4"/>
                </a:solidFill>
              </a:rPr>
              <a:t>輔助說明程式碼</a:t>
            </a:r>
            <a:r>
              <a:rPr lang="zh-TW" altLang="en-US" dirty="0"/>
              <a:t>的內容</a:t>
            </a:r>
            <a:endParaRPr lang="en-US" altLang="zh-TW" dirty="0"/>
          </a:p>
          <a:p>
            <a:pPr lvl="1"/>
            <a:endParaRPr lang="en-US" altLang="zh-TW" dirty="0"/>
          </a:p>
          <a:p>
            <a:pPr lvl="1"/>
            <a:r>
              <a:rPr lang="zh-TW" altLang="en-US" dirty="0"/>
              <a:t>也是最通用的</a:t>
            </a:r>
            <a:r>
              <a:rPr lang="zh-TW" altLang="en-US" dirty="0">
                <a:solidFill>
                  <a:schemeClr val="accent4"/>
                </a:solidFill>
              </a:rPr>
              <a:t>除錯</a:t>
            </a:r>
            <a:r>
              <a:rPr lang="en-US" altLang="zh-TW" dirty="0"/>
              <a:t>(debug)</a:t>
            </a:r>
            <a:r>
              <a:rPr lang="zh-TW" altLang="en-US" dirty="0"/>
              <a:t>手段</a:t>
            </a:r>
            <a:endParaRPr lang="en-US" altLang="zh-TW" dirty="0"/>
          </a:p>
        </p:txBody>
      </p:sp>
      <p:sp>
        <p:nvSpPr>
          <p:cNvPr id="4" name="投影片編號版面配置區 3">
            <a:extLst>
              <a:ext uri="{FF2B5EF4-FFF2-40B4-BE49-F238E27FC236}">
                <a16:creationId xmlns:a16="http://schemas.microsoft.com/office/drawing/2014/main" id="{E5378A99-042E-4BBF-BDC2-93B6C1F200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5" name="圖片 4">
            <a:extLst>
              <a:ext uri="{FF2B5EF4-FFF2-40B4-BE49-F238E27FC236}">
                <a16:creationId xmlns:a16="http://schemas.microsoft.com/office/drawing/2014/main" id="{EFB1DAF1-9604-4C49-A228-D81A3F223BE6}"/>
              </a:ext>
            </a:extLst>
          </p:cNvPr>
          <p:cNvPicPr>
            <a:picLocks noChangeAspect="1"/>
          </p:cNvPicPr>
          <p:nvPr/>
        </p:nvPicPr>
        <p:blipFill>
          <a:blip r:embed="rId2"/>
          <a:stretch>
            <a:fillRect/>
          </a:stretch>
        </p:blipFill>
        <p:spPr>
          <a:xfrm>
            <a:off x="3040352" y="4233945"/>
            <a:ext cx="6111295" cy="1957305"/>
          </a:xfrm>
          <a:prstGeom prst="rect">
            <a:avLst/>
          </a:prstGeom>
        </p:spPr>
      </p:pic>
    </p:spTree>
    <p:extLst>
      <p:ext uri="{BB962C8B-B14F-4D97-AF65-F5344CB8AC3E}">
        <p14:creationId xmlns:p14="http://schemas.microsoft.com/office/powerpoint/2010/main" val="137632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Python </a:t>
            </a:r>
            <a:r>
              <a:rPr lang="zh-TW" altLang="en-US" dirty="0"/>
              <a:t>的註解</a:t>
            </a:r>
          </a:p>
        </p:txBody>
      </p:sp>
      <p:sp>
        <p:nvSpPr>
          <p:cNvPr id="3" name="內容版面配置區 2"/>
          <p:cNvSpPr>
            <a:spLocks noGrp="1"/>
          </p:cNvSpPr>
          <p:nvPr>
            <p:ph idx="1"/>
          </p:nvPr>
        </p:nvSpPr>
        <p:spPr/>
        <p:txBody>
          <a:bodyPr/>
          <a:lstStyle/>
          <a:p>
            <a:r>
              <a:rPr lang="zh-TW" altLang="en-US" dirty="0"/>
              <a:t>每個程式語言用來表示註解的符號不盡相同</a:t>
            </a:r>
            <a:endParaRPr lang="en-US" altLang="zh-TW" dirty="0"/>
          </a:p>
          <a:p>
            <a:pPr lvl="1"/>
            <a:r>
              <a:rPr lang="en-US" altLang="zh-TW" dirty="0"/>
              <a:t>Python</a:t>
            </a:r>
            <a:r>
              <a:rPr lang="zh-TW" altLang="en-US" dirty="0"/>
              <a:t> 使用一個井字號</a:t>
            </a:r>
            <a:r>
              <a:rPr lang="en-US" altLang="zh-TW" dirty="0"/>
              <a:t>(</a:t>
            </a:r>
            <a:r>
              <a:rPr lang="zh-TW" altLang="en-US" dirty="0"/>
              <a:t> </a:t>
            </a:r>
            <a:r>
              <a:rPr lang="en-US" altLang="zh-TW" dirty="0">
                <a:latin typeface="Consolas" panose="020B0609020204030204" pitchFamily="49" charset="0"/>
              </a:rPr>
              <a:t>#</a:t>
            </a:r>
            <a:r>
              <a:rPr lang="en-US" altLang="zh-TW" dirty="0"/>
              <a:t> )</a:t>
            </a:r>
            <a:r>
              <a:rPr lang="zh-TW" altLang="en-US" dirty="0"/>
              <a:t>做為</a:t>
            </a:r>
            <a:r>
              <a:rPr lang="zh-TW" altLang="en-US" dirty="0">
                <a:solidFill>
                  <a:schemeClr val="accent4"/>
                </a:solidFill>
              </a:rPr>
              <a:t>單行註解</a:t>
            </a:r>
            <a:r>
              <a:rPr lang="zh-TW" altLang="en-US" dirty="0"/>
              <a:t>，而</a:t>
            </a:r>
            <a:r>
              <a:rPr lang="zh-TW" altLang="en-US" dirty="0">
                <a:solidFill>
                  <a:schemeClr val="accent4"/>
                </a:solidFill>
              </a:rPr>
              <a:t>多行註解</a:t>
            </a:r>
            <a:r>
              <a:rPr lang="zh-TW" altLang="en-US" dirty="0"/>
              <a:t>則用成對的三個雙引號</a:t>
            </a:r>
            <a:r>
              <a:rPr lang="en-US" altLang="zh-TW" dirty="0"/>
              <a:t>(</a:t>
            </a:r>
            <a:r>
              <a:rPr lang="en-US" altLang="zh-TW" dirty="0">
                <a:latin typeface="Consolas" panose="020B0609020204030204" pitchFamily="49" charset="0"/>
              </a:rPr>
              <a:t>"""</a:t>
            </a:r>
            <a:r>
              <a:rPr lang="en-US" altLang="zh-TW" dirty="0"/>
              <a:t>)</a:t>
            </a:r>
            <a:r>
              <a:rPr lang="zh-TW" altLang="en-US" dirty="0"/>
              <a:t>或三個單引號</a:t>
            </a:r>
            <a:r>
              <a:rPr lang="en-US" altLang="zh-TW" dirty="0"/>
              <a:t>(</a:t>
            </a:r>
            <a:r>
              <a:rPr lang="en-US" altLang="zh-TW" dirty="0">
                <a:latin typeface="Consolas" panose="020B0609020204030204" pitchFamily="49" charset="0"/>
              </a:rPr>
              <a:t>'''</a:t>
            </a:r>
            <a:r>
              <a:rPr lang="en-US" altLang="zh-TW" dirty="0"/>
              <a:t>)</a:t>
            </a:r>
            <a:r>
              <a:rPr lang="zh-TW" altLang="en-US" dirty="0"/>
              <a:t>。</a:t>
            </a:r>
          </a:p>
          <a:p>
            <a:endParaRPr lang="zh-TW" altLang="en-US" dirty="0"/>
          </a:p>
        </p:txBody>
      </p:sp>
      <p:sp>
        <p:nvSpPr>
          <p:cNvPr id="4" name="投影片編號版面配置區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pic>
        <p:nvPicPr>
          <p:cNvPr id="7" name="圖片 6">
            <a:extLst>
              <a:ext uri="{FF2B5EF4-FFF2-40B4-BE49-F238E27FC236}">
                <a16:creationId xmlns:a16="http://schemas.microsoft.com/office/drawing/2014/main" id="{B54195D8-784C-4BBC-A744-8A359E371798}"/>
              </a:ext>
            </a:extLst>
          </p:cNvPr>
          <p:cNvPicPr>
            <a:picLocks noChangeAspect="1"/>
          </p:cNvPicPr>
          <p:nvPr/>
        </p:nvPicPr>
        <p:blipFill>
          <a:blip r:embed="rId2"/>
          <a:stretch>
            <a:fillRect/>
          </a:stretch>
        </p:blipFill>
        <p:spPr>
          <a:xfrm>
            <a:off x="1917288" y="3718329"/>
            <a:ext cx="6152434" cy="2472921"/>
          </a:xfrm>
          <a:prstGeom prst="rect">
            <a:avLst/>
          </a:prstGeom>
        </p:spPr>
      </p:pic>
      <p:pic>
        <p:nvPicPr>
          <p:cNvPr id="9" name="圖片 8">
            <a:extLst>
              <a:ext uri="{FF2B5EF4-FFF2-40B4-BE49-F238E27FC236}">
                <a16:creationId xmlns:a16="http://schemas.microsoft.com/office/drawing/2014/main" id="{EC6F7CCA-3583-4EA4-B1DD-CEDFFD7E28F9}"/>
              </a:ext>
            </a:extLst>
          </p:cNvPr>
          <p:cNvPicPr>
            <a:picLocks noChangeAspect="1"/>
          </p:cNvPicPr>
          <p:nvPr/>
        </p:nvPicPr>
        <p:blipFill>
          <a:blip r:embed="rId3"/>
          <a:stretch>
            <a:fillRect/>
          </a:stretch>
        </p:blipFill>
        <p:spPr>
          <a:xfrm>
            <a:off x="8480079" y="4651464"/>
            <a:ext cx="1231682" cy="606650"/>
          </a:xfrm>
          <a:prstGeom prst="rect">
            <a:avLst/>
          </a:prstGeom>
        </p:spPr>
      </p:pic>
    </p:spTree>
    <p:extLst>
      <p:ext uri="{BB962C8B-B14F-4D97-AF65-F5344CB8AC3E}">
        <p14:creationId xmlns:p14="http://schemas.microsoft.com/office/powerpoint/2010/main" val="28530735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常用操作</a:t>
            </a:r>
          </a:p>
        </p:txBody>
      </p:sp>
      <p:sp>
        <p:nvSpPr>
          <p:cNvPr id="3" name="內容版面配置區 2"/>
          <p:cNvSpPr>
            <a:spLocks noGrp="1"/>
          </p:cNvSpPr>
          <p:nvPr>
            <p:ph idx="1"/>
          </p:nvPr>
        </p:nvSpPr>
        <p:spPr/>
        <p:txBody>
          <a:bodyPr/>
          <a:lstStyle/>
          <a:p>
            <a:r>
              <a:rPr lang="zh-TW" altLang="en-US" dirty="0"/>
              <a:t>快速註解多行</a:t>
            </a:r>
            <a:endParaRPr lang="en-US" altLang="zh-TW" dirty="0"/>
          </a:p>
          <a:p>
            <a:pPr lvl="1"/>
            <a:r>
              <a:rPr lang="zh-TW" altLang="en-US" dirty="0"/>
              <a:t>先選取要註解的多行，再用組合鍵達成。</a:t>
            </a:r>
            <a:endParaRPr lang="en-US" altLang="zh-TW" dirty="0"/>
          </a:p>
          <a:p>
            <a:pPr lvl="1"/>
            <a:r>
              <a:rPr lang="en-US" altLang="zh-TW" dirty="0"/>
              <a:t>Spyder :《Ctrl + 1》</a:t>
            </a:r>
          </a:p>
          <a:p>
            <a:pPr lvl="1"/>
            <a:endParaRPr lang="en-US" altLang="zh-TW" dirty="0"/>
          </a:p>
          <a:p>
            <a:pPr lvl="1"/>
            <a:r>
              <a:rPr lang="en-US" altLang="zh-TW" dirty="0"/>
              <a:t>VS code:《Ctrl + /》</a:t>
            </a:r>
          </a:p>
        </p:txBody>
      </p:sp>
      <p:sp>
        <p:nvSpPr>
          <p:cNvPr id="4" name="投影片編號版面配置區 3"/>
          <p:cNvSpPr>
            <a:spLocks noGrp="1"/>
          </p:cNvSpPr>
          <p:nvPr>
            <p:ph type="sldNum" sz="quarter" idx="12"/>
          </p:nvPr>
        </p:nvSpPr>
        <p:spPr>
          <a:xfrm>
            <a:off x="9124950" y="64706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B59302-35AD-44E9-AC3C-8D1DAE3511F1}" type="slidenum">
              <a:rPr kumimoji="0" lang="zh-TW" altLang="en-US" sz="1800" b="0" i="0" u="none" strike="noStrike" kern="1200" cap="none" spc="0" normalizeH="0" baseline="0" noProof="0" smtClean="0">
                <a:ln>
                  <a:noFill/>
                </a:ln>
                <a:solidFill>
                  <a:prstClr val="black">
                    <a:lumMod val="75000"/>
                    <a:lumOff val="25000"/>
                  </a:prstClr>
                </a:solidFill>
                <a:effectLst/>
                <a:uLnTx/>
                <a:uFillTx/>
                <a:latin typeface="Arial" panose="020B0604020202020204"/>
                <a:ea typeface="微軟正黑體" panose="020B0604030504040204" pitchFamily="34"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zh-TW" altLang="en-US" sz="1800" b="0" i="0" u="none" strike="noStrike" kern="1200" cap="none" spc="0" normalizeH="0" baseline="0" noProof="0" dirty="0">
              <a:ln>
                <a:noFill/>
              </a:ln>
              <a:solidFill>
                <a:prstClr val="black">
                  <a:lumMod val="75000"/>
                  <a:lumOff val="25000"/>
                </a:prstClr>
              </a:solidFill>
              <a:effectLst/>
              <a:uLnTx/>
              <a:uFillTx/>
              <a:latin typeface="Arial" panose="020B0604020202020204"/>
              <a:ea typeface="微軟正黑體" panose="020B0604030504040204" pitchFamily="34" charset="-120"/>
              <a:cs typeface="+mn-cs"/>
            </a:endParaRPr>
          </a:p>
        </p:txBody>
      </p:sp>
      <p:grpSp>
        <p:nvGrpSpPr>
          <p:cNvPr id="8" name="群組 7">
            <a:extLst>
              <a:ext uri="{FF2B5EF4-FFF2-40B4-BE49-F238E27FC236}">
                <a16:creationId xmlns:a16="http://schemas.microsoft.com/office/drawing/2014/main" id="{9510E866-58B9-498F-8C7B-190D169E176A}"/>
              </a:ext>
            </a:extLst>
          </p:cNvPr>
          <p:cNvGrpSpPr/>
          <p:nvPr/>
        </p:nvGrpSpPr>
        <p:grpSpPr>
          <a:xfrm>
            <a:off x="6623899" y="2881204"/>
            <a:ext cx="4215166" cy="1963125"/>
            <a:chOff x="6623899" y="2881204"/>
            <a:chExt cx="4215166" cy="1963125"/>
          </a:xfrm>
        </p:grpSpPr>
        <p:pic>
          <p:nvPicPr>
            <p:cNvPr id="7" name="圖片 6">
              <a:extLst>
                <a:ext uri="{FF2B5EF4-FFF2-40B4-BE49-F238E27FC236}">
                  <a16:creationId xmlns:a16="http://schemas.microsoft.com/office/drawing/2014/main" id="{A479BCBF-B2F1-4F3D-986C-C3DC2D11BD8D}"/>
                </a:ext>
              </a:extLst>
            </p:cNvPr>
            <p:cNvPicPr>
              <a:picLocks noChangeAspect="1"/>
            </p:cNvPicPr>
            <p:nvPr/>
          </p:nvPicPr>
          <p:blipFill rotWithShape="1">
            <a:blip r:embed="rId2"/>
            <a:srcRect t="20798"/>
            <a:stretch/>
          </p:blipFill>
          <p:spPr>
            <a:xfrm>
              <a:off x="6623900" y="2881204"/>
              <a:ext cx="4215165" cy="1550345"/>
            </a:xfrm>
            <a:prstGeom prst="rect">
              <a:avLst/>
            </a:prstGeom>
          </p:spPr>
        </p:pic>
        <p:sp>
          <p:nvSpPr>
            <p:cNvPr id="5" name="文字方塊 4">
              <a:extLst>
                <a:ext uri="{FF2B5EF4-FFF2-40B4-BE49-F238E27FC236}">
                  <a16:creationId xmlns:a16="http://schemas.microsoft.com/office/drawing/2014/main" id="{EAD78DE7-7100-4649-8662-7B89F4F93025}"/>
                </a:ext>
              </a:extLst>
            </p:cNvPr>
            <p:cNvSpPr txBox="1"/>
            <p:nvPr/>
          </p:nvSpPr>
          <p:spPr>
            <a:xfrm>
              <a:off x="6623899" y="4444219"/>
              <a:ext cx="421516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prstClr val="black">
                      <a:lumMod val="65000"/>
                      <a:lumOff val="35000"/>
                    </a:prstClr>
                  </a:solidFill>
                  <a:effectLst/>
                  <a:uLnTx/>
                  <a:uFillTx/>
                  <a:latin typeface="Arial" panose="020B0604020202020204"/>
                  <a:ea typeface="微軟正黑體" panose="020B0604030504040204" pitchFamily="34" charset="-120"/>
                  <a:cs typeface="+mn-cs"/>
                </a:rPr>
                <a:t>去除註解：再一次</a:t>
              </a:r>
              <a:r>
                <a:rPr kumimoji="0" lang="en-US" altLang="zh-TW" sz="2000" b="0" i="0" u="none" strike="noStrike" kern="1200" cap="none" spc="0" normalizeH="0" baseline="0" noProof="0" dirty="0">
                  <a:ln>
                    <a:noFill/>
                  </a:ln>
                  <a:solidFill>
                    <a:prstClr val="black">
                      <a:lumMod val="65000"/>
                      <a:lumOff val="35000"/>
                    </a:prstClr>
                  </a:solidFill>
                  <a:effectLst/>
                  <a:uLnTx/>
                  <a:uFillTx/>
                  <a:latin typeface="Arial" panose="020B0604020202020204"/>
                  <a:ea typeface="微軟正黑體" panose="020B0604030504040204" pitchFamily="34" charset="-120"/>
                  <a:cs typeface="+mn-cs"/>
                </a:rPr>
                <a:t>《Ctrl + 1》</a:t>
              </a:r>
            </a:p>
          </p:txBody>
        </p:sp>
      </p:grpSp>
      <p:grpSp>
        <p:nvGrpSpPr>
          <p:cNvPr id="10" name="群組 9">
            <a:extLst>
              <a:ext uri="{FF2B5EF4-FFF2-40B4-BE49-F238E27FC236}">
                <a16:creationId xmlns:a16="http://schemas.microsoft.com/office/drawing/2014/main" id="{07C333AF-2902-4E7F-93C2-8627CF1AD1B9}"/>
              </a:ext>
            </a:extLst>
          </p:cNvPr>
          <p:cNvGrpSpPr/>
          <p:nvPr/>
        </p:nvGrpSpPr>
        <p:grpSpPr>
          <a:xfrm>
            <a:off x="1515489" y="4431550"/>
            <a:ext cx="3368932" cy="2345156"/>
            <a:chOff x="1515489" y="4431550"/>
            <a:chExt cx="3368932" cy="2345156"/>
          </a:xfrm>
        </p:grpSpPr>
        <p:pic>
          <p:nvPicPr>
            <p:cNvPr id="6" name="圖片 5">
              <a:extLst>
                <a:ext uri="{FF2B5EF4-FFF2-40B4-BE49-F238E27FC236}">
                  <a16:creationId xmlns:a16="http://schemas.microsoft.com/office/drawing/2014/main" id="{50644D6D-7057-43D7-889E-BE80CE2AAEA8}"/>
                </a:ext>
              </a:extLst>
            </p:cNvPr>
            <p:cNvPicPr>
              <a:picLocks noChangeAspect="1"/>
            </p:cNvPicPr>
            <p:nvPr/>
          </p:nvPicPr>
          <p:blipFill>
            <a:blip r:embed="rId3"/>
            <a:stretch>
              <a:fillRect/>
            </a:stretch>
          </p:blipFill>
          <p:spPr>
            <a:xfrm>
              <a:off x="1515489" y="4431550"/>
              <a:ext cx="3368932" cy="1945046"/>
            </a:xfrm>
            <a:prstGeom prst="rect">
              <a:avLst/>
            </a:prstGeom>
          </p:spPr>
        </p:pic>
        <p:sp>
          <p:nvSpPr>
            <p:cNvPr id="9" name="文字方塊 8">
              <a:extLst>
                <a:ext uri="{FF2B5EF4-FFF2-40B4-BE49-F238E27FC236}">
                  <a16:creationId xmlns:a16="http://schemas.microsoft.com/office/drawing/2014/main" id="{B41F5AF8-06D2-487F-95E8-EB1186813B4E}"/>
                </a:ext>
              </a:extLst>
            </p:cNvPr>
            <p:cNvSpPr txBox="1"/>
            <p:nvPr/>
          </p:nvSpPr>
          <p:spPr>
            <a:xfrm>
              <a:off x="1515489" y="6376596"/>
              <a:ext cx="336893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prstClr val="black">
                      <a:lumMod val="65000"/>
                      <a:lumOff val="35000"/>
                    </a:prstClr>
                  </a:solidFill>
                  <a:effectLst/>
                  <a:uLnTx/>
                  <a:uFillTx/>
                  <a:latin typeface="Arial" panose="020B0604020202020204"/>
                  <a:ea typeface="微軟正黑體" panose="020B0604030504040204" pitchFamily="34" charset="-120"/>
                  <a:cs typeface="+mn-cs"/>
                </a:rPr>
                <a:t>去除註解：再一次</a:t>
              </a:r>
              <a:r>
                <a:rPr kumimoji="0" lang="en-US" altLang="zh-TW" sz="2000" b="0" i="0" u="none" strike="noStrike" kern="1200" cap="none" spc="0" normalizeH="0" baseline="0" noProof="0" dirty="0">
                  <a:ln>
                    <a:noFill/>
                  </a:ln>
                  <a:solidFill>
                    <a:prstClr val="black">
                      <a:lumMod val="65000"/>
                      <a:lumOff val="35000"/>
                    </a:prstClr>
                  </a:solidFill>
                  <a:effectLst/>
                  <a:uLnTx/>
                  <a:uFillTx/>
                  <a:latin typeface="Arial" panose="020B0604020202020204"/>
                  <a:ea typeface="微軟正黑體" panose="020B0604030504040204" pitchFamily="34" charset="-120"/>
                  <a:cs typeface="+mn-cs"/>
                </a:rPr>
                <a:t>《Ctrl + /》</a:t>
              </a:r>
            </a:p>
          </p:txBody>
        </p:sp>
      </p:grpSp>
    </p:spTree>
    <p:extLst>
      <p:ext uri="{BB962C8B-B14F-4D97-AF65-F5344CB8AC3E}">
        <p14:creationId xmlns:p14="http://schemas.microsoft.com/office/powerpoint/2010/main" val="333236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佈景主題">
  <a:themeElements>
    <a:clrScheme name="Metro配色">
      <a:dk1>
        <a:sysClr val="windowText" lastClr="000000"/>
      </a:dk1>
      <a:lt1>
        <a:sysClr val="window" lastClr="FFFFFF"/>
      </a:lt1>
      <a:dk2>
        <a:srgbClr val="2A7EA3"/>
      </a:dk2>
      <a:lt2>
        <a:srgbClr val="FFE26A"/>
      </a:lt2>
      <a:accent1>
        <a:srgbClr val="5B9BD5"/>
      </a:accent1>
      <a:accent2>
        <a:srgbClr val="ED7D31"/>
      </a:accent2>
      <a:accent3>
        <a:srgbClr val="75C3B5"/>
      </a:accent3>
      <a:accent4>
        <a:srgbClr val="F2635F"/>
      </a:accent4>
      <a:accent5>
        <a:srgbClr val="139AAF"/>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noFill/>
        </a:ln>
      </a:spPr>
      <a:bodyPr rtlCol="0" anchor="ctr"/>
      <a:lstStyle>
        <a:defPPr algn="ctr">
          <a:defRPr sz="2400"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6561</Words>
  <Application>Microsoft Office PowerPoint</Application>
  <PresentationFormat>寬螢幕</PresentationFormat>
  <Paragraphs>831</Paragraphs>
  <Slides>131</Slides>
  <Notes>10</Notes>
  <HiddenSlides>0</HiddenSlides>
  <MMClips>0</MMClips>
  <ScaleCrop>false</ScaleCrop>
  <HeadingPairs>
    <vt:vector size="6" baseType="variant">
      <vt:variant>
        <vt:lpstr>使用字型</vt:lpstr>
      </vt:variant>
      <vt:variant>
        <vt:i4>16</vt:i4>
      </vt:variant>
      <vt:variant>
        <vt:lpstr>佈景主題</vt:lpstr>
      </vt:variant>
      <vt:variant>
        <vt:i4>1</vt:i4>
      </vt:variant>
      <vt:variant>
        <vt:lpstr>投影片標題</vt:lpstr>
      </vt:variant>
      <vt:variant>
        <vt:i4>131</vt:i4>
      </vt:variant>
    </vt:vector>
  </HeadingPairs>
  <TitlesOfParts>
    <vt:vector size="148" baseType="lpstr">
      <vt:lpstr>inherit</vt:lpstr>
      <vt:lpstr>Radio Canada Big</vt:lpstr>
      <vt:lpstr>Roboto Flex</vt:lpstr>
      <vt:lpstr>source-serif-pro</vt:lpstr>
      <vt:lpstr>Swis721 Md BT</vt:lpstr>
      <vt:lpstr>system-ui</vt:lpstr>
      <vt:lpstr>華康中特圓體</vt:lpstr>
      <vt:lpstr>華康細圓體</vt:lpstr>
      <vt:lpstr>微軟正黑體</vt:lpstr>
      <vt:lpstr>Arial</vt:lpstr>
      <vt:lpstr>Calibri</vt:lpstr>
      <vt:lpstr>Consolas</vt:lpstr>
      <vt:lpstr>Swis721 Lt BT</vt:lpstr>
      <vt:lpstr>Tahoma</vt:lpstr>
      <vt:lpstr>Times New Roman</vt:lpstr>
      <vt:lpstr>Wingdings</vt:lpstr>
      <vt:lpstr>Office 佈景主題</vt:lpstr>
      <vt:lpstr>Py_Week01 Python 程式設計 變數與資料型別</vt:lpstr>
      <vt:lpstr>主題</vt:lpstr>
      <vt:lpstr>程式語言(1/2)</vt:lpstr>
      <vt:lpstr>程式語言(2/2)</vt:lpstr>
      <vt:lpstr>Python 簡介(1/3)</vt:lpstr>
      <vt:lpstr>Python 簡介(2/3)</vt:lpstr>
      <vt:lpstr>Python 簡介(3/3)</vt:lpstr>
      <vt:lpstr>Python 特色(1/2)</vt:lpstr>
      <vt:lpstr>Python 特色(2/2)</vt:lpstr>
      <vt:lpstr>TIOBE Index</vt:lpstr>
      <vt:lpstr>PowerPoint 簡報</vt:lpstr>
      <vt:lpstr>PowerPoint 簡報</vt:lpstr>
      <vt:lpstr>PowerPoint 簡報</vt:lpstr>
      <vt:lpstr>PowerPoint 簡報</vt:lpstr>
      <vt:lpstr>PowerPoint 簡報</vt:lpstr>
      <vt:lpstr>PowerPoint 簡報</vt:lpstr>
      <vt:lpstr>PowerPoint 簡報</vt:lpstr>
      <vt:lpstr>PowerPoint 簡報</vt:lpstr>
      <vt:lpstr>主題</vt:lpstr>
      <vt:lpstr>整合式開發環境(IDE)</vt:lpstr>
      <vt:lpstr>Python IDE (1/2)</vt:lpstr>
      <vt:lpstr>Python IDE (2/2)</vt:lpstr>
      <vt:lpstr>Python IDE: Anaconda</vt:lpstr>
      <vt:lpstr>主題</vt:lpstr>
      <vt:lpstr>下載最新版 Anaconda</vt:lpstr>
      <vt:lpstr>下載較舊的 Anaconda (1/2)</vt:lpstr>
      <vt:lpstr>下載較舊的 Anaconda (2/2)</vt:lpstr>
      <vt:lpstr>PowerPoint 簡報</vt:lpstr>
      <vt:lpstr>安裝完成後的操作項目(1/2)</vt:lpstr>
      <vt:lpstr>安裝完成後的操作項目(2/2)</vt:lpstr>
      <vt:lpstr>主題</vt:lpstr>
      <vt:lpstr>啟動 Spyder</vt:lpstr>
      <vt:lpstr>PowerPoint 簡報</vt:lpstr>
      <vt:lpstr>語法亮度</vt:lpstr>
      <vt:lpstr>Spyder 的操作(1/2)</vt:lpstr>
      <vt:lpstr>Spyder 的操作(2/2)</vt:lpstr>
      <vt:lpstr>主題</vt:lpstr>
      <vt:lpstr>Jupyter Notebook (1/3)</vt:lpstr>
      <vt:lpstr>Jupyter Notebook (2/3)</vt:lpstr>
      <vt:lpstr>Jupyter Notebook (3/3)</vt:lpstr>
      <vt:lpstr>主題</vt:lpstr>
      <vt:lpstr>Visual Studio Code (VS Code)</vt:lpstr>
      <vt:lpstr>VS Code 特點</vt:lpstr>
      <vt:lpstr>主題</vt:lpstr>
      <vt:lpstr>線上 VS Code</vt:lpstr>
      <vt:lpstr>安裝 VS Code (1/7)</vt:lpstr>
      <vt:lpstr>安裝 VS Code (2/7)</vt:lpstr>
      <vt:lpstr>安裝 VS Code (3/7)</vt:lpstr>
      <vt:lpstr>安裝 VS Code (4/7)</vt:lpstr>
      <vt:lpstr>安裝 VS Code (5/7)</vt:lpstr>
      <vt:lpstr>安裝 VS Code (6/7)</vt:lpstr>
      <vt:lpstr>安裝 VS Code (7/7)</vt:lpstr>
      <vt:lpstr>PowerPoint 簡報</vt:lpstr>
      <vt:lpstr>電腦技能基金會(CSF)</vt:lpstr>
      <vt:lpstr>Python 程式設計 https://www.python.org/</vt:lpstr>
      <vt:lpstr>PowerPoint 簡報</vt:lpstr>
      <vt:lpstr>主題</vt:lpstr>
      <vt:lpstr>運算思維(Computational Thinking)</vt:lpstr>
      <vt:lpstr>運算思維(1/5)</vt:lpstr>
      <vt:lpstr>運算思維(2/5)</vt:lpstr>
      <vt:lpstr>運算思維(3/5)</vt:lpstr>
      <vt:lpstr>運算思維(4/5)</vt:lpstr>
      <vt:lpstr>運算思維(5/5)</vt:lpstr>
      <vt:lpstr>主題</vt:lpstr>
      <vt:lpstr>除錯(debug)</vt:lpstr>
      <vt:lpstr>程式設計的錯誤類型</vt:lpstr>
      <vt:lpstr>語法錯誤(1/2)</vt:lpstr>
      <vt:lpstr>語法錯誤(2/2)</vt:lpstr>
      <vt:lpstr>執行期間錯誤(1/2)</vt:lpstr>
      <vt:lpstr>執行期間錯誤(2/2)</vt:lpstr>
      <vt:lpstr>邏輯錯誤(1/2)</vt:lpstr>
      <vt:lpstr>邏輯錯誤(2/2)</vt:lpstr>
      <vt:lpstr>主題</vt:lpstr>
      <vt:lpstr>生成式 AI (1/2)</vt:lpstr>
      <vt:lpstr>生成式 AI (2/2)</vt:lpstr>
      <vt:lpstr>ChatGPT (1/2)</vt:lpstr>
      <vt:lpstr>ChatGPT (2/2)</vt:lpstr>
      <vt:lpstr>測試 ChatGPT</vt:lpstr>
      <vt:lpstr>程式設計師飯碗不保!?</vt:lpstr>
      <vt:lpstr>使用 ChatGPT (1/2)</vt:lpstr>
      <vt:lpstr>使用 ChatGPT (2/2)</vt:lpstr>
      <vt:lpstr>主題</vt:lpstr>
      <vt:lpstr>PowerPoint 簡報</vt:lpstr>
      <vt:lpstr>PowerPoint 簡報</vt:lpstr>
      <vt:lpstr>變數(variable)</vt:lpstr>
      <vt:lpstr>記憶體階層(memory hierarchy)</vt:lpstr>
      <vt:lpstr>主題</vt:lpstr>
      <vt:lpstr>命名變數(1/2)</vt:lpstr>
      <vt:lpstr>命名變數(2/2)</vt:lpstr>
      <vt:lpstr>Python 常見的保留字</vt:lpstr>
      <vt:lpstr>這些變數名稱合法嗎？</vt:lpstr>
      <vt:lpstr>特別注意</vt:lpstr>
      <vt:lpstr>善用編輯器功能</vt:lpstr>
      <vt:lpstr>支援 Unicode</vt:lpstr>
      <vt:lpstr>範例</vt:lpstr>
      <vt:lpstr>命名習慣(naming convention)</vt:lpstr>
      <vt:lpstr>常用的命名方式</vt:lpstr>
      <vt:lpstr>常數的命名</vt:lpstr>
      <vt:lpstr>主題</vt:lpstr>
      <vt:lpstr>Python 基本資料型別(1/4)</vt:lpstr>
      <vt:lpstr>查看資料型別</vt:lpstr>
      <vt:lpstr>Python 基本資料型別(2/4)</vt:lpstr>
      <vt:lpstr>整數</vt:lpstr>
      <vt:lpstr>浮點數(1/5)</vt:lpstr>
      <vt:lpstr>浮點數(2/5)</vt:lpstr>
      <vt:lpstr>浮點數(3/5)</vt:lpstr>
      <vt:lpstr>浮點數(4/5)</vt:lpstr>
      <vt:lpstr>浮點數(5/5)</vt:lpstr>
      <vt:lpstr>Python 基本資料型別(3/4)</vt:lpstr>
      <vt:lpstr>Python 基本資料型別(4/4)</vt:lpstr>
      <vt:lpstr>字串範例</vt:lpstr>
      <vt:lpstr>跳脫字元(escape character)(1/2)</vt:lpstr>
      <vt:lpstr>跳脫字元(2/2)</vt:lpstr>
      <vt:lpstr>等號（=）</vt:lpstr>
      <vt:lpstr>範例</vt:lpstr>
      <vt:lpstr>Pythonic</vt:lpstr>
      <vt:lpstr>宣告(declaration)</vt:lpstr>
      <vt:lpstr>Python 變數不需宣告就可使用</vt:lpstr>
      <vt:lpstr>斷行</vt:lpstr>
      <vt:lpstr>刪除變數</vt:lpstr>
      <vt:lpstr>主題</vt:lpstr>
      <vt:lpstr>為何要資料型別轉換？</vt:lpstr>
      <vt:lpstr>資料型別轉換</vt:lpstr>
      <vt:lpstr>範例</vt:lpstr>
      <vt:lpstr>試試看</vt:lpstr>
      <vt:lpstr>轉換為布林型別</vt:lpstr>
      <vt:lpstr>轉換為字串型別</vt:lpstr>
      <vt:lpstr>主題</vt:lpstr>
      <vt:lpstr>註解(comment)</vt:lpstr>
      <vt:lpstr>Python 的註解</vt:lpstr>
      <vt:lpstr>常用操作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2023-12-30T06:06:10Z</dcterms:created>
  <dcterms:modified xsi:type="dcterms:W3CDTF">2026-10-25T01:30:36Z</dcterms:modified>
</cp:coreProperties>
</file>