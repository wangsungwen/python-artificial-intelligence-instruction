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2" r:id="rId3"/>
  </p:sldMasterIdLst>
  <p:notesMasterIdLst>
    <p:notesMasterId r:id="rId99"/>
  </p:notesMasterIdLst>
  <p:sldIdLst>
    <p:sldId id="256" r:id="rId4"/>
    <p:sldId id="803" r:id="rId5"/>
    <p:sldId id="804" r:id="rId6"/>
    <p:sldId id="805" r:id="rId7"/>
    <p:sldId id="806" r:id="rId8"/>
    <p:sldId id="807" r:id="rId9"/>
    <p:sldId id="257" r:id="rId10"/>
    <p:sldId id="258" r:id="rId11"/>
    <p:sldId id="259" r:id="rId12"/>
    <p:sldId id="283" r:id="rId13"/>
    <p:sldId id="260" r:id="rId14"/>
    <p:sldId id="261" r:id="rId15"/>
    <p:sldId id="262" r:id="rId16"/>
    <p:sldId id="26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  <p:sldId id="296" r:id="rId30"/>
    <p:sldId id="297" r:id="rId31"/>
    <p:sldId id="267" r:id="rId32"/>
    <p:sldId id="341" r:id="rId33"/>
    <p:sldId id="342" r:id="rId34"/>
    <p:sldId id="343" r:id="rId35"/>
    <p:sldId id="344" r:id="rId36"/>
    <p:sldId id="345" r:id="rId37"/>
    <p:sldId id="346" r:id="rId38"/>
    <p:sldId id="347" r:id="rId39"/>
    <p:sldId id="348" r:id="rId40"/>
    <p:sldId id="378" r:id="rId41"/>
    <p:sldId id="352" r:id="rId42"/>
    <p:sldId id="353" r:id="rId43"/>
    <p:sldId id="376" r:id="rId44"/>
    <p:sldId id="354" r:id="rId45"/>
    <p:sldId id="356" r:id="rId46"/>
    <p:sldId id="357" r:id="rId47"/>
    <p:sldId id="379" r:id="rId48"/>
    <p:sldId id="358" r:id="rId49"/>
    <p:sldId id="359" r:id="rId50"/>
    <p:sldId id="360" r:id="rId51"/>
    <p:sldId id="361" r:id="rId52"/>
    <p:sldId id="362" r:id="rId53"/>
    <p:sldId id="380" r:id="rId54"/>
    <p:sldId id="377" r:id="rId55"/>
    <p:sldId id="782" r:id="rId56"/>
    <p:sldId id="783" r:id="rId57"/>
    <p:sldId id="784" r:id="rId58"/>
    <p:sldId id="785" r:id="rId59"/>
    <p:sldId id="799" r:id="rId60"/>
    <p:sldId id="800" r:id="rId61"/>
    <p:sldId id="367" r:id="rId62"/>
    <p:sldId id="368" r:id="rId63"/>
    <p:sldId id="381" r:id="rId64"/>
    <p:sldId id="369" r:id="rId65"/>
    <p:sldId id="370" r:id="rId66"/>
    <p:sldId id="382" r:id="rId67"/>
    <p:sldId id="371" r:id="rId68"/>
    <p:sldId id="383" r:id="rId69"/>
    <p:sldId id="384" r:id="rId70"/>
    <p:sldId id="372" r:id="rId71"/>
    <p:sldId id="373" r:id="rId72"/>
    <p:sldId id="374" r:id="rId73"/>
    <p:sldId id="375" r:id="rId74"/>
    <p:sldId id="801" r:id="rId75"/>
    <p:sldId id="385" r:id="rId76"/>
    <p:sldId id="386" r:id="rId77"/>
    <p:sldId id="387" r:id="rId78"/>
    <p:sldId id="802" r:id="rId79"/>
    <p:sldId id="388" r:id="rId80"/>
    <p:sldId id="264" r:id="rId81"/>
    <p:sldId id="265" r:id="rId82"/>
    <p:sldId id="266" r:id="rId83"/>
    <p:sldId id="268" r:id="rId84"/>
    <p:sldId id="269" r:id="rId85"/>
    <p:sldId id="270" r:id="rId86"/>
    <p:sldId id="271" r:id="rId87"/>
    <p:sldId id="272" r:id="rId88"/>
    <p:sldId id="273" r:id="rId89"/>
    <p:sldId id="274" r:id="rId90"/>
    <p:sldId id="275" r:id="rId91"/>
    <p:sldId id="276" r:id="rId92"/>
    <p:sldId id="277" r:id="rId93"/>
    <p:sldId id="278" r:id="rId94"/>
    <p:sldId id="279" r:id="rId95"/>
    <p:sldId id="280" r:id="rId96"/>
    <p:sldId id="281" r:id="rId97"/>
    <p:sldId id="282" r:id="rId9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64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theme" Target="theme/theme1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103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notesMaster" Target="notesMasters/notesMaster1.xml"/><Relationship Id="rId10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本週目標：能開啟 Notebook 並依序執行儲存格；能用變數、數值與字串完成計算；能根據錯誤訊息修正簡單程式</a:t>
            </a:r>
          </a:p>
          <a:p>
            <a:r>
              <a:t>教材對照：CH01PPT 第1章；CH02PPT 第2章；CH03PPT 第3章</a:t>
            </a:r>
          </a:p>
          <a:p>
            <a:r>
              <a:t>完整180分鐘流程見逐字講稿。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294E5-A606-3231-8DDF-246467B60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7D479-BF61-86BD-9C03-6779688B7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B03B2-B55A-618F-C720-FECE61BE7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2FEBD-C28B-3ED0-1656-C271114958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07109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D1C80-B991-71C2-0AEF-1BFB4FA5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3952-E944-AA96-6B72-4F655C2B6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2C2A5-2C7C-F77E-15EB-F6E063D85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F76D-32F7-EFD4-2224-3D17880278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1491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我們先休息十分鐘。離開座位前請儲存，不必關閉核心。若剛才有錯誤，請把出錯的格子留著，我會在休息時協助。回來後會把文字形式的數字轉成可以計算的資料。</a:t>
            </a:r>
          </a:p>
          <a:p>
            <a:endParaRPr/>
          </a:p>
          <a:p>
            <a:r>
              <a:t>活動：儲存檔案、伸展與休息。</a:t>
            </a:r>
          </a:p>
          <a:p>
            <a:r>
              <a:t>參考答案：回座後找得到本週檔案。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DCEDC2-7442-DE37-B12F-ADA90CC65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033" y="136526"/>
            <a:ext cx="11821584" cy="6581775"/>
          </a:xfrm>
          <a:prstGeom prst="rect">
            <a:avLst/>
          </a:prstGeom>
          <a:solidFill>
            <a:schemeClr val="bg1">
              <a:alpha val="50195"/>
            </a:schemeClr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algn="ctr" eaLnBrk="1" hangingPunct="1">
              <a:defRPr/>
            </a:pPr>
            <a:endParaRPr lang="zh-TW" altLang="en-US">
              <a:ea typeface="微軟正黑體" pitchFamily="34" charset="-120"/>
              <a:cs typeface="+mn-cs"/>
            </a:endParaRPr>
          </a:p>
        </p:txBody>
      </p:sp>
      <p:sp>
        <p:nvSpPr>
          <p:cNvPr id="25293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07484" y="2130426"/>
            <a:ext cx="9751483" cy="147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25293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07484" y="3886200"/>
            <a:ext cx="9751483" cy="1752600"/>
          </a:xfrm>
        </p:spPr>
        <p:txBody>
          <a:bodyPr/>
          <a:lstStyle>
            <a:lvl1pPr marL="0" indent="0">
              <a:buClr>
                <a:srgbClr val="FFFFFF"/>
              </a:buClr>
              <a:buFontTx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3373D6A-153A-14C7-1D7B-37DC3BEE3A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D81FF66-83C1-965F-E6CC-AFDC165191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DDE3681-FF4E-6794-5538-9E4B05BCB0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5E89BBE-EF13-445E-BD27-A1138AC41EA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3222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E0F58E6-E7DA-C7B6-CF97-337A4742C8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A5BFC69-864D-C9BF-1CB4-33B7FFF98D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A29BDF5-025E-888C-486D-6D4C576CFF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0B0221-6946-4814-8681-F91DA653F00B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44376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9C968E8-5B29-7D36-1510-897FD1649C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651C8ED-BF8A-B791-3FB8-1DE444B8E1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B65DFF1-0059-8A06-0137-E603624D2D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2CDFB2A-32DE-4551-8A76-A0D98DEC2216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76019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7484" y="1600201"/>
            <a:ext cx="5382683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3367" y="1600201"/>
            <a:ext cx="5382684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37CE54F-41E8-1A2A-FED3-F3C6F8358F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33096B0-B96F-624D-0110-C1488FEC784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553792E-3020-99B4-11E8-A5394B985B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6F6D06E-4E45-44EB-805B-5F0BEFD2A6A2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1477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3DE96FA1-798E-6D0E-90E2-C4EBDDF176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C09012AB-1971-62E3-3D7E-A477FBFB2F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A3DFC07-4C22-33A2-C4CB-542BF097F0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4A9ED24-10B7-4D24-A620-38CF7057EC2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0418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1588125-5E1E-F947-6AC0-BD4CF3ADDB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EAF891D-56BC-C648-19D6-44D71CD415F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D8EC77D-27F2-E13B-3158-24A2D90486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2196213-0C1B-475C-A78D-3397D875BE9A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80250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CEAAD443-936D-0820-BD63-A9E0C97F1C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1437791F-339E-F5AD-FCE1-057B6F851A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BA0BB5E-8DB5-D114-3788-46761B801CB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FCF7C0-2044-4088-9992-C1C5CFAEABC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6769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293432F-7BD9-E02E-B7DC-FE583C9542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C97691F-8D0F-F706-C6A0-21946C8DD8A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C5E105BD-B2DD-D984-5AF3-7A50078518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1104EB-CB67-4137-ABAE-A07BA7E2414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80727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2ADF27A-5858-6F1E-D5BF-7F9DC226DF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97FBE4-0DD1-B315-DB12-DAF8F4E5B9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08CC6D54-26D2-F25E-EFCA-4F4B7C4FCF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9477638-4C3E-4362-9A2A-81B9010760C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364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6C15F57A-09D9-4B72-5714-000B2BAA79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028185F-0074-1AA0-5076-4AD19CB080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3D49201-A543-2175-A028-2569FF3542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B3ECDC-9E56-4B71-8E3D-78868F3ED16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8952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4967" y="274639"/>
            <a:ext cx="2741084" cy="624998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7484" y="274639"/>
            <a:ext cx="8024283" cy="624998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90A2BCE-A210-72A7-0945-881E41C2269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E85D5FC-99BA-C1C6-8CEC-63092639F0A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F3029DE0-1A7B-2834-39E9-26FDBAC260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E61FA68-09FB-4CE7-A8F1-C6CAC3BBA6D3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922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書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785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9"/>
          <p:cNvSpPr>
            <a:spLocks noGrp="1"/>
          </p:cNvSpPr>
          <p:nvPr>
            <p:ph type="body" sz="quarter" idx="17"/>
          </p:nvPr>
        </p:nvSpPr>
        <p:spPr>
          <a:xfrm>
            <a:off x="1142966" y="4286256"/>
            <a:ext cx="10763325" cy="1143008"/>
          </a:xfrm>
          <a:noFill/>
          <a:ln w="12700" cap="rnd">
            <a:noFill/>
            <a:round/>
          </a:ln>
          <a:effectLst/>
        </p:spPr>
        <p:txBody>
          <a:bodyPr lIns="0" tIns="0" rIns="0" bIns="0" numCol="2" anchor="ctr" anchorCtr="0">
            <a:noAutofit/>
          </a:bodyPr>
          <a:lstStyle>
            <a:lvl1pPr>
              <a:lnSpc>
                <a:spcPts val="2400"/>
              </a:lnSpc>
              <a:spcBef>
                <a:spcPts val="500"/>
              </a:spcBef>
              <a:defRPr kumimoji="0" lang="zh-TW" altLang="en-US" sz="2000" b="1" u="none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+mj-ea"/>
                <a:cs typeface="+mn-cs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6"/>
          </p:nvPr>
        </p:nvSpPr>
        <p:spPr>
          <a:xfrm>
            <a:off x="4667240" y="1142984"/>
            <a:ext cx="7143800" cy="1565366"/>
          </a:xfrm>
          <a:noFill/>
          <a:ln w="15875" cap="rnd">
            <a:noFill/>
            <a:round/>
          </a:ln>
          <a:effectLst/>
        </p:spPr>
        <p:txBody>
          <a:bodyPr lIns="144000" tIns="72000" rIns="288000" anchor="ctr" anchorCtr="0">
            <a:noAutofit/>
          </a:bodyPr>
          <a:lstStyle>
            <a:lvl1pPr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文字版面配置區 13"/>
          <p:cNvSpPr>
            <a:spLocks noGrp="1"/>
          </p:cNvSpPr>
          <p:nvPr>
            <p:ph type="body" sz="quarter" idx="15" hasCustomPrompt="1"/>
          </p:nvPr>
        </p:nvSpPr>
        <p:spPr>
          <a:xfrm>
            <a:off x="1428717" y="3357562"/>
            <a:ext cx="10382323" cy="714380"/>
          </a:xfrm>
          <a:effectLst/>
        </p:spPr>
        <p:txBody>
          <a:bodyPr anchor="ctr" anchorCtr="0">
            <a:noAutofit/>
          </a:bodyPr>
          <a:lstStyle>
            <a:lvl1pPr algn="l">
              <a:lnSpc>
                <a:spcPts val="4800"/>
              </a:lnSpc>
              <a:spcBef>
                <a:spcPts val="0"/>
              </a:spcBef>
              <a:defRPr sz="4400" b="1" u="none" cap="none" spc="0" baseline="0">
                <a:ln w="15875">
                  <a:noFill/>
                  <a:prstDash val="solid"/>
                </a:ln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pPr lvl="0"/>
            <a:r>
              <a:rPr lang="zh-TW" altLang="en-US" dirty="0"/>
              <a:t>按一以輯母片文字樣式</a:t>
            </a:r>
          </a:p>
        </p:txBody>
      </p:sp>
      <p:sp>
        <p:nvSpPr>
          <p:cNvPr id="11" name="矩形 10"/>
          <p:cNvSpPr/>
          <p:nvPr userDrawn="1"/>
        </p:nvSpPr>
        <p:spPr>
          <a:xfrm flipV="1">
            <a:off x="95293" y="2857496"/>
            <a:ext cx="12000000" cy="3000396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7" name="矩形 16"/>
          <p:cNvSpPr/>
          <p:nvPr userDrawn="1"/>
        </p:nvSpPr>
        <p:spPr>
          <a:xfrm flipV="1">
            <a:off x="1007435" y="2564936"/>
            <a:ext cx="3143272" cy="288000"/>
          </a:xfrm>
          <a:prstGeom prst="rect">
            <a:avLst/>
          </a:prstGeom>
          <a:solidFill>
            <a:srgbClr val="0070C0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4" name="文字版面配置區 13"/>
          <p:cNvSpPr>
            <a:spLocks noGrp="1"/>
          </p:cNvSpPr>
          <p:nvPr>
            <p:ph type="body" sz="quarter" idx="14"/>
          </p:nvPr>
        </p:nvSpPr>
        <p:spPr>
          <a:xfrm>
            <a:off x="1402931" y="2065408"/>
            <a:ext cx="2400267" cy="863526"/>
          </a:xfrm>
        </p:spPr>
        <p:txBody>
          <a:bodyPr anchor="ctr" anchorCtr="0">
            <a:noAutofit/>
          </a:bodyPr>
          <a:lstStyle>
            <a:lvl1pPr>
              <a:lnSpc>
                <a:spcPts val="4800"/>
              </a:lnSpc>
              <a:spcBef>
                <a:spcPts val="0"/>
              </a:spcBef>
              <a:defRPr sz="10000" b="1" u="none" cap="none" spc="0" baseline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defRPr>
            </a:lvl1pPr>
          </a:lstStyle>
          <a:p>
            <a:pPr lvl="0"/>
            <a:r>
              <a:rPr lang="zh-TW" altLang="en-US" dirty="0"/>
              <a:t>按</a:t>
            </a:r>
          </a:p>
        </p:txBody>
      </p:sp>
    </p:spTree>
    <p:extLst>
      <p:ext uri="{BB962C8B-B14F-4D97-AF65-F5344CB8AC3E}">
        <p14:creationId xmlns:p14="http://schemas.microsoft.com/office/powerpoint/2010/main" val="22425586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X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1364512"/>
            <a:ext cx="11040000" cy="5160832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/>
            </a:lvl4pPr>
            <a:lvl5pPr>
              <a:lnSpc>
                <a:spcPts val="2800"/>
              </a:lnSpc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26955"/>
            <a:ext cx="772165" cy="646331"/>
            <a:chOff x="8286776" y="6126954"/>
            <a:chExt cx="579124" cy="646331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0070C0">
                <a:alpha val="9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26954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  <p:sp>
        <p:nvSpPr>
          <p:cNvPr id="8" name="標題版面配置區 21"/>
          <p:cNvSpPr>
            <a:spLocks noGrp="1"/>
          </p:cNvSpPr>
          <p:nvPr>
            <p:ph type="title"/>
          </p:nvPr>
        </p:nvSpPr>
        <p:spPr>
          <a:xfrm>
            <a:off x="563915" y="764704"/>
            <a:ext cx="11100704" cy="576064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717156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/>
            </a:lvl4pPr>
            <a:lvl5pPr>
              <a:lnSpc>
                <a:spcPts val="2800"/>
              </a:lnSpc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361177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60558"/>
            <a:ext cx="772165" cy="652819"/>
            <a:chOff x="8286776" y="6160557"/>
            <a:chExt cx="579124" cy="652819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786CAE">
                <a:alpha val="9098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67045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98148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100834"/>
            <a:ext cx="11040000" cy="540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>
              <a:defRPr>
                <a:solidFill>
                  <a:srgbClr val="C67A48"/>
                </a:solidFill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1030783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5999" y="648000"/>
            <a:ext cx="5423991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648000"/>
            <a:ext cx="5281083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9756816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007999"/>
            <a:ext cx="5423989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1008000"/>
            <a:ext cx="5280000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9847314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範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268072"/>
            <a:ext cx="10752667" cy="1728880"/>
          </a:xfrm>
          <a:ln w="19050" cmpd="sng">
            <a:gradFill>
              <a:gsLst>
                <a:gs pos="0">
                  <a:schemeClr val="bg1"/>
                </a:gs>
                <a:gs pos="68000">
                  <a:srgbClr val="EB5405"/>
                </a:gs>
                <a:gs pos="100000">
                  <a:srgbClr val="EB5405"/>
                </a:gs>
              </a:gsLst>
              <a:lin ang="4200000" scaled="0"/>
            </a:gradFill>
          </a:ln>
        </p:spPr>
        <p:txBody>
          <a:bodyPr wrap="square" lIns="252000" tIns="360000" rIns="180000" bIns="72000">
            <a:noAutofit/>
          </a:bodyPr>
          <a:lstStyle>
            <a:lvl1pPr>
              <a:lnSpc>
                <a:spcPts val="2400"/>
              </a:lnSpc>
              <a:spcBef>
                <a:spcPts val="600"/>
              </a:spcBef>
              <a:defRPr sz="1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987971"/>
            <a:ext cx="4420350" cy="488201"/>
          </a:xfrm>
          <a:gradFill flip="none" rotWithShape="1">
            <a:gsLst>
              <a:gs pos="0">
                <a:schemeClr val="bg1"/>
              </a:gs>
              <a:gs pos="50000">
                <a:srgbClr val="EB5405"/>
              </a:gs>
              <a:gs pos="100000">
                <a:schemeClr val="accent6"/>
              </a:gs>
            </a:gsLst>
            <a:lin ang="14400000" scaled="0"/>
            <a:tileRect/>
          </a:gradFill>
          <a:ln w="19050"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wrap="none" lIns="180000" tIns="72000" rIns="5400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4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136120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484785"/>
            <a:ext cx="10752667" cy="3189921"/>
          </a:xfrm>
          <a:ln w="19050" cmpd="sng">
            <a:gradFill>
              <a:gsLst>
                <a:gs pos="0">
                  <a:schemeClr val="bg1"/>
                </a:gs>
                <a:gs pos="68000">
                  <a:srgbClr val="BE2856"/>
                </a:gs>
                <a:gs pos="100000">
                  <a:srgbClr val="3D3B5F"/>
                </a:gs>
              </a:gsLst>
              <a:lin ang="4200000" scaled="0"/>
            </a:gradFill>
          </a:ln>
        </p:spPr>
        <p:txBody>
          <a:bodyPr lIns="252000" tIns="360000" rIns="180000" bIns="72000">
            <a:spAutoFit/>
          </a:bodyPr>
          <a:lstStyle>
            <a:lvl1pPr>
              <a:lnSpc>
                <a:spcPts val="2400"/>
              </a:lnSpc>
              <a:defRPr sz="2200" b="0">
                <a:solidFill>
                  <a:schemeClr val="tx1"/>
                </a:solidFill>
              </a:defRPr>
            </a:lvl1pPr>
            <a:lvl2pPr>
              <a:defRPr>
                <a:solidFill>
                  <a:srgbClr val="8FC32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5pPr>
              <a:buClr>
                <a:srgbClr val="B5D14F"/>
              </a:buClr>
              <a:buFont typeface="Wingdings" pitchFamily="2" charset="2"/>
              <a:buChar char="n"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zh-TW" altLang="en-US" dirty="0"/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1196753"/>
            <a:ext cx="6240693" cy="504056"/>
          </a:xfrm>
          <a:gradFill flip="none" rotWithShape="1"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14400000" scaled="0"/>
            <a:tileRect/>
          </a:gra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lIns="180000" tIns="720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8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grpSp>
        <p:nvGrpSpPr>
          <p:cNvPr id="17" name="群組 16"/>
          <p:cNvGrpSpPr/>
          <p:nvPr userDrawn="1"/>
        </p:nvGrpSpPr>
        <p:grpSpPr>
          <a:xfrm>
            <a:off x="856549" y="6200930"/>
            <a:ext cx="1399024" cy="503533"/>
            <a:chOff x="899592" y="6237835"/>
            <a:chExt cx="1049268" cy="503533"/>
          </a:xfrm>
        </p:grpSpPr>
        <p:sp>
          <p:nvSpPr>
            <p:cNvPr id="18" name="弧形向右箭號 17"/>
            <p:cNvSpPr/>
            <p:nvPr/>
          </p:nvSpPr>
          <p:spPr>
            <a:xfrm rot="612716">
              <a:off x="899592" y="6237835"/>
              <a:ext cx="440592" cy="503533"/>
            </a:xfrm>
            <a:prstGeom prst="curvedRightArrow">
              <a:avLst/>
            </a:prstGeom>
            <a:gradFill>
              <a:gsLst>
                <a:gs pos="0">
                  <a:schemeClr val="bg1"/>
                </a:gs>
                <a:gs pos="50000">
                  <a:srgbClr val="BE2856"/>
                </a:gs>
                <a:gs pos="100000">
                  <a:srgbClr val="3D3B5F"/>
                </a:gs>
              </a:gsLst>
              <a:lin ang="3600000" scaled="0"/>
            </a:gradFill>
            <a:ln w="952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19" name="文字方塊 18"/>
            <p:cNvSpPr txBox="1"/>
            <p:nvPr/>
          </p:nvSpPr>
          <p:spPr>
            <a:xfrm>
              <a:off x="940748" y="6304512"/>
              <a:ext cx="1008112" cy="307777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txBody>
            <a:bodyPr wrap="square" rtlCol="0">
              <a:spAutoFit/>
            </a:bodyPr>
            <a:lstStyle/>
            <a:p>
              <a:r>
                <a:rPr lang="zh-TW" altLang="en-US" sz="1400" b="1" dirty="0">
                  <a:solidFill>
                    <a:srgbClr val="3D3B5F"/>
                  </a:solidFill>
                </a:rPr>
                <a:t>續下頁</a:t>
              </a:r>
            </a:p>
          </p:txBody>
        </p:sp>
      </p:grpSp>
      <p:cxnSp>
        <p:nvCxnSpPr>
          <p:cNvPr id="8" name="直線單箭頭接點 7"/>
          <p:cNvCxnSpPr/>
          <p:nvPr userDrawn="1"/>
        </p:nvCxnSpPr>
        <p:spPr>
          <a:xfrm>
            <a:off x="2639616" y="6021288"/>
            <a:ext cx="480053" cy="648072"/>
          </a:xfrm>
          <a:prstGeom prst="straightConnector1">
            <a:avLst/>
          </a:prstGeom>
          <a:ln>
            <a:solidFill>
              <a:srgbClr val="BE2856"/>
            </a:solidFill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直線接點 8"/>
          <p:cNvCxnSpPr/>
          <p:nvPr userDrawn="1"/>
        </p:nvCxnSpPr>
        <p:spPr>
          <a:xfrm>
            <a:off x="3503712" y="6237312"/>
            <a:ext cx="2976331" cy="0"/>
          </a:xfrm>
          <a:prstGeom prst="line">
            <a:avLst/>
          </a:prstGeom>
          <a:ln w="38100" cmpd="sng">
            <a:solidFill>
              <a:srgbClr val="BE28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 userDrawn="1"/>
        </p:nvSpPr>
        <p:spPr>
          <a:xfrm>
            <a:off x="7056107" y="5949280"/>
            <a:ext cx="480053" cy="432048"/>
          </a:xfrm>
          <a:prstGeom prst="rect">
            <a:avLst/>
          </a:prstGeom>
          <a:solidFill>
            <a:srgbClr val="4679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1" name="矩形 10"/>
          <p:cNvSpPr/>
          <p:nvPr userDrawn="1"/>
        </p:nvSpPr>
        <p:spPr>
          <a:xfrm>
            <a:off x="7824192" y="5949280"/>
            <a:ext cx="480053" cy="432048"/>
          </a:xfrm>
          <a:prstGeom prst="rect">
            <a:avLst/>
          </a:prstGeom>
          <a:solidFill>
            <a:srgbClr val="8F3B8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grpSp>
        <p:nvGrpSpPr>
          <p:cNvPr id="16" name="群組 15"/>
          <p:cNvGrpSpPr/>
          <p:nvPr userDrawn="1"/>
        </p:nvGrpSpPr>
        <p:grpSpPr>
          <a:xfrm>
            <a:off x="8976320" y="5605201"/>
            <a:ext cx="772165" cy="646331"/>
            <a:chOff x="6732240" y="5605200"/>
            <a:chExt cx="579124" cy="646331"/>
          </a:xfrm>
          <a:solidFill>
            <a:srgbClr val="8FC320"/>
          </a:solidFill>
        </p:grpSpPr>
        <p:sp>
          <p:nvSpPr>
            <p:cNvPr id="12" name="橢圓形圖說文字 11"/>
            <p:cNvSpPr/>
            <p:nvPr userDrawn="1"/>
          </p:nvSpPr>
          <p:spPr>
            <a:xfrm flipH="1">
              <a:off x="6732240" y="5622113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13" name="文字方塊 12"/>
            <p:cNvSpPr txBox="1"/>
            <p:nvPr userDrawn="1"/>
          </p:nvSpPr>
          <p:spPr>
            <a:xfrm>
              <a:off x="6778800" y="5605200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bg2"/>
                  </a:solidFill>
                </a:rPr>
                <a:t>回</a:t>
              </a:r>
              <a:endParaRPr lang="en-US" altLang="zh-TW" sz="2400" b="1" dirty="0">
                <a:solidFill>
                  <a:schemeClr val="bg2"/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bg2"/>
                  </a:solidFill>
                </a:rPr>
                <a:t>首頁</a:t>
              </a:r>
            </a:p>
          </p:txBody>
        </p:sp>
      </p:grpSp>
      <p:sp>
        <p:nvSpPr>
          <p:cNvPr id="20" name="文字版面配置區 4"/>
          <p:cNvSpPr>
            <a:spLocks noGrp="1"/>
          </p:cNvSpPr>
          <p:nvPr>
            <p:ph type="body" sz="quarter" idx="10"/>
          </p:nvPr>
        </p:nvSpPr>
        <p:spPr>
          <a:xfrm>
            <a:off x="10224459" y="6021288"/>
            <a:ext cx="1665600" cy="468000"/>
          </a:xfrm>
          <a:gradFill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3600000" scaled="0"/>
          </a:gradFill>
          <a:ln>
            <a:solidFill>
              <a:schemeClr val="bg1"/>
            </a:solidFill>
          </a:ln>
          <a:effectLst>
            <a:outerShdw blurRad="25400" dist="12700" dir="13500000" algn="br" rotWithShape="0">
              <a:prstClr val="black">
                <a:alpha val="40000"/>
              </a:prstClr>
            </a:outerShdw>
          </a:effectLst>
        </p:spPr>
        <p:txBody>
          <a:bodyPr lIns="90000" tIns="0">
            <a:noAutofit/>
          </a:bodyPr>
          <a:lstStyle>
            <a:lvl1pPr algn="r">
              <a:spcBef>
                <a:spcPts val="0"/>
              </a:spcBef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zh-TW" altLang="en-US" dirty="0"/>
              <a:t>按一下以編輯母片文字</a:t>
            </a:r>
          </a:p>
        </p:txBody>
      </p:sp>
    </p:spTree>
    <p:extLst>
      <p:ext uri="{BB962C8B-B14F-4D97-AF65-F5344CB8AC3E}">
        <p14:creationId xmlns:p14="http://schemas.microsoft.com/office/powerpoint/2010/main" val="3459771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image" Target="../media/image4.jpg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">
            <a:extLst>
              <a:ext uri="{FF2B5EF4-FFF2-40B4-BE49-F238E27FC236}">
                <a16:creationId xmlns:a16="http://schemas.microsoft.com/office/drawing/2014/main" id="{23DDD26E-FAF2-C23E-A255-470120E9F6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3"/>
            </p:custDataLst>
          </p:nvPr>
        </p:nvSpPr>
        <p:spPr bwMode="auto">
          <a:xfrm>
            <a:off x="607485" y="274638"/>
            <a:ext cx="1096856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4">
            <a:extLst>
              <a:ext uri="{FF2B5EF4-FFF2-40B4-BE49-F238E27FC236}">
                <a16:creationId xmlns:a16="http://schemas.microsoft.com/office/drawing/2014/main" id="{63143ADF-3A28-F803-3C53-A720B70B9A94}"/>
              </a:ext>
            </a:extLst>
          </p:cNvPr>
          <p:cNvSpPr>
            <a:spLocks noGrp="1" noChangeArrowheads="1"/>
          </p:cNvSpPr>
          <p:nvPr>
            <p:ph type="body" idx="1"/>
            <p:custDataLst>
              <p:tags r:id="rId14"/>
            </p:custDataLst>
          </p:nvPr>
        </p:nvSpPr>
        <p:spPr bwMode="auto">
          <a:xfrm>
            <a:off x="607485" y="1600201"/>
            <a:ext cx="10968567" cy="4924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251909" name="Rectangle 5">
            <a:extLst>
              <a:ext uri="{FF2B5EF4-FFF2-40B4-BE49-F238E27FC236}">
                <a16:creationId xmlns:a16="http://schemas.microsoft.com/office/drawing/2014/main" id="{84380CA8-2F1B-1E1F-8150-C4BF4AC3919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0" name="Rectangle 6">
            <a:extLst>
              <a:ext uri="{FF2B5EF4-FFF2-40B4-BE49-F238E27FC236}">
                <a16:creationId xmlns:a16="http://schemas.microsoft.com/office/drawing/2014/main" id="{77BA2969-D67C-04B6-C188-9B54FE52D3E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1" name="Rectangle 7">
            <a:extLst>
              <a:ext uri="{FF2B5EF4-FFF2-40B4-BE49-F238E27FC236}">
                <a16:creationId xmlns:a16="http://schemas.microsoft.com/office/drawing/2014/main" id="{3471EB0E-B2FD-AAE6-F276-C390204AE09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ea typeface="微軟正黑體" panose="020B0604030504040204" pitchFamily="34" charset="-120"/>
              </a:defRPr>
            </a:lvl1pPr>
          </a:lstStyle>
          <a:p>
            <a:fld id="{58D92CB3-E8EF-4A3B-8BF1-0A3CF45DDC3B}" type="slidenum">
              <a:rPr lang="zh-TW" altLang="en-US"/>
              <a:pPr/>
              <a:t>‹#›</a:t>
            </a:fld>
            <a:endParaRPr lang="en-US" altLang="zh-TW"/>
          </a:p>
        </p:txBody>
      </p:sp>
      <p:pic>
        <p:nvPicPr>
          <p:cNvPr id="2055" name="圖片 10">
            <a:extLst>
              <a:ext uri="{FF2B5EF4-FFF2-40B4-BE49-F238E27FC236}">
                <a16:creationId xmlns:a16="http://schemas.microsoft.com/office/drawing/2014/main" id="{74F3254D-32FA-8DDD-01C2-A5FF90B18E6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34" y="6607175"/>
            <a:ext cx="751417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矩形: 圓角 5">
            <a:extLst>
              <a:ext uri="{FF2B5EF4-FFF2-40B4-BE49-F238E27FC236}">
                <a16:creationId xmlns:a16="http://schemas.microsoft.com/office/drawing/2014/main" id="{15EBB5E9-BC0F-3654-3261-9ECCD786CC59}"/>
              </a:ext>
            </a:extLst>
          </p:cNvPr>
          <p:cNvSpPr/>
          <p:nvPr/>
        </p:nvSpPr>
        <p:spPr>
          <a:xfrm>
            <a:off x="0" y="0"/>
            <a:ext cx="12192000" cy="344488"/>
          </a:xfrm>
          <a:prstGeom prst="roundRect">
            <a:avLst>
              <a:gd name="adj" fmla="val 0"/>
            </a:avLst>
          </a:prstGeom>
          <a:solidFill>
            <a:srgbClr val="FAC4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0" bIns="0" anchor="ctr"/>
          <a:lstStyle/>
          <a:p>
            <a:pPr>
              <a:defRPr/>
            </a:pP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看圖學</a:t>
            </a:r>
            <a:r>
              <a:rPr lang="en-US" altLang="zh-TW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Python</a:t>
            </a: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人工智慧程式設計</a:t>
            </a:r>
          </a:p>
        </p:txBody>
      </p:sp>
      <p:sp>
        <p:nvSpPr>
          <p:cNvPr id="13" name="手繪多邊形: 圖案 63">
            <a:hlinkClick r:id="" action="ppaction://hlinkshowjump?jump=endshow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277EF12-C1FE-99A3-FFBA-3EFAC7E24D1A}"/>
              </a:ext>
            </a:extLst>
          </p:cNvPr>
          <p:cNvSpPr>
            <a:spLocks noChangeAspect="1"/>
          </p:cNvSpPr>
          <p:nvPr/>
        </p:nvSpPr>
        <p:spPr>
          <a:xfrm>
            <a:off x="11675533" y="6472239"/>
            <a:ext cx="431800" cy="325437"/>
          </a:xfrm>
          <a:custGeom>
            <a:avLst/>
            <a:gdLst>
              <a:gd name="connsiteX0" fmla="*/ 99522 w 323852"/>
              <a:gd name="connsiteY0" fmla="*/ 50326 h 323852"/>
              <a:gd name="connsiteX1" fmla="*/ 50326 w 323852"/>
              <a:gd name="connsiteY1" fmla="*/ 99522 h 323852"/>
              <a:gd name="connsiteX2" fmla="*/ 112640 w 323852"/>
              <a:gd name="connsiteY2" fmla="*/ 162018 h 323852"/>
              <a:gd name="connsiteX3" fmla="*/ 50326 w 323852"/>
              <a:gd name="connsiteY3" fmla="*/ 224332 h 323852"/>
              <a:gd name="connsiteX4" fmla="*/ 99522 w 323852"/>
              <a:gd name="connsiteY4" fmla="*/ 273528 h 323852"/>
              <a:gd name="connsiteX5" fmla="*/ 161836 w 323852"/>
              <a:gd name="connsiteY5" fmla="*/ 211214 h 323852"/>
              <a:gd name="connsiteX6" fmla="*/ 224332 w 323852"/>
              <a:gd name="connsiteY6" fmla="*/ 273528 h 323852"/>
              <a:gd name="connsiteX7" fmla="*/ 273528 w 323852"/>
              <a:gd name="connsiteY7" fmla="*/ 224332 h 323852"/>
              <a:gd name="connsiteX8" fmla="*/ 211214 w 323852"/>
              <a:gd name="connsiteY8" fmla="*/ 162018 h 323852"/>
              <a:gd name="connsiteX9" fmla="*/ 273528 w 323852"/>
              <a:gd name="connsiteY9" fmla="*/ 99522 h 323852"/>
              <a:gd name="connsiteX10" fmla="*/ 224332 w 323852"/>
              <a:gd name="connsiteY10" fmla="*/ 50326 h 323852"/>
              <a:gd name="connsiteX11" fmla="*/ 161836 w 323852"/>
              <a:gd name="connsiteY11" fmla="*/ 112640 h 323852"/>
              <a:gd name="connsiteX12" fmla="*/ 161926 w 323852"/>
              <a:gd name="connsiteY12" fmla="*/ 0 h 323852"/>
              <a:gd name="connsiteX13" fmla="*/ 323852 w 323852"/>
              <a:gd name="connsiteY13" fmla="*/ 161926 h 323852"/>
              <a:gd name="connsiteX14" fmla="*/ 161926 w 323852"/>
              <a:gd name="connsiteY14" fmla="*/ 323852 h 323852"/>
              <a:gd name="connsiteX15" fmla="*/ 0 w 323852"/>
              <a:gd name="connsiteY15" fmla="*/ 161926 h 323852"/>
              <a:gd name="connsiteX16" fmla="*/ 161926 w 323852"/>
              <a:gd name="connsiteY16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3852" h="323852">
                <a:moveTo>
                  <a:pt x="99522" y="50326"/>
                </a:moveTo>
                <a:lnTo>
                  <a:pt x="50326" y="99522"/>
                </a:lnTo>
                <a:lnTo>
                  <a:pt x="112640" y="162018"/>
                </a:lnTo>
                <a:lnTo>
                  <a:pt x="50326" y="224332"/>
                </a:lnTo>
                <a:lnTo>
                  <a:pt x="99522" y="273528"/>
                </a:lnTo>
                <a:lnTo>
                  <a:pt x="161836" y="211214"/>
                </a:lnTo>
                <a:lnTo>
                  <a:pt x="224332" y="273528"/>
                </a:lnTo>
                <a:lnTo>
                  <a:pt x="273528" y="224332"/>
                </a:lnTo>
                <a:lnTo>
                  <a:pt x="211214" y="162018"/>
                </a:lnTo>
                <a:lnTo>
                  <a:pt x="273528" y="99522"/>
                </a:lnTo>
                <a:lnTo>
                  <a:pt x="224332" y="50326"/>
                </a:lnTo>
                <a:lnTo>
                  <a:pt x="161836" y="112640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sp>
        <p:nvSpPr>
          <p:cNvPr id="14" name="手繪多邊形: 圖案 60">
            <a:hlinkClick r:id="" action="ppaction://hlinkshowjump?jump=firstslide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7E876445-D92D-7688-4795-DC0553814883}"/>
              </a:ext>
            </a:extLst>
          </p:cNvPr>
          <p:cNvSpPr>
            <a:spLocks noChangeAspect="1"/>
          </p:cNvSpPr>
          <p:nvPr/>
        </p:nvSpPr>
        <p:spPr>
          <a:xfrm>
            <a:off x="11150600" y="6462714"/>
            <a:ext cx="431800" cy="325437"/>
          </a:xfrm>
          <a:custGeom>
            <a:avLst/>
            <a:gdLst>
              <a:gd name="connsiteX0" fmla="*/ 162075 w 323852"/>
              <a:gd name="connsiteY0" fmla="*/ 49606 h 323852"/>
              <a:gd name="connsiteX1" fmla="*/ 44826 w 323852"/>
              <a:gd name="connsiteY1" fmla="*/ 166706 h 323852"/>
              <a:gd name="connsiteX2" fmla="*/ 88440 w 323852"/>
              <a:gd name="connsiteY2" fmla="*/ 166706 h 323852"/>
              <a:gd name="connsiteX3" fmla="*/ 88440 w 323852"/>
              <a:gd name="connsiteY3" fmla="*/ 274247 h 323852"/>
              <a:gd name="connsiteX4" fmla="*/ 140418 w 323852"/>
              <a:gd name="connsiteY4" fmla="*/ 274247 h 323852"/>
              <a:gd name="connsiteX5" fmla="*/ 140418 w 323852"/>
              <a:gd name="connsiteY5" fmla="*/ 207482 h 323852"/>
              <a:gd name="connsiteX6" fmla="*/ 183732 w 323852"/>
              <a:gd name="connsiteY6" fmla="*/ 207482 h 323852"/>
              <a:gd name="connsiteX7" fmla="*/ 183732 w 323852"/>
              <a:gd name="connsiteY7" fmla="*/ 274247 h 323852"/>
              <a:gd name="connsiteX8" fmla="*/ 234069 w 323852"/>
              <a:gd name="connsiteY8" fmla="*/ 274247 h 323852"/>
              <a:gd name="connsiteX9" fmla="*/ 234069 w 323852"/>
              <a:gd name="connsiteY9" fmla="*/ 166706 h 323852"/>
              <a:gd name="connsiteX10" fmla="*/ 279026 w 323852"/>
              <a:gd name="connsiteY10" fmla="*/ 166706 h 323852"/>
              <a:gd name="connsiteX11" fmla="*/ 161926 w 323852"/>
              <a:gd name="connsiteY11" fmla="*/ 0 h 323852"/>
              <a:gd name="connsiteX12" fmla="*/ 323852 w 323852"/>
              <a:gd name="connsiteY12" fmla="*/ 161926 h 323852"/>
              <a:gd name="connsiteX13" fmla="*/ 161926 w 323852"/>
              <a:gd name="connsiteY13" fmla="*/ 323852 h 323852"/>
              <a:gd name="connsiteX14" fmla="*/ 0 w 323852"/>
              <a:gd name="connsiteY14" fmla="*/ 161926 h 323852"/>
              <a:gd name="connsiteX15" fmla="*/ 161926 w 323852"/>
              <a:gd name="connsiteY15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3852" h="323852">
                <a:moveTo>
                  <a:pt x="162075" y="49606"/>
                </a:moveTo>
                <a:lnTo>
                  <a:pt x="44826" y="166706"/>
                </a:lnTo>
                <a:lnTo>
                  <a:pt x="88440" y="166706"/>
                </a:lnTo>
                <a:lnTo>
                  <a:pt x="88440" y="274247"/>
                </a:lnTo>
                <a:lnTo>
                  <a:pt x="140418" y="274247"/>
                </a:lnTo>
                <a:lnTo>
                  <a:pt x="140418" y="207482"/>
                </a:lnTo>
                <a:lnTo>
                  <a:pt x="183732" y="207482"/>
                </a:lnTo>
                <a:lnTo>
                  <a:pt x="183732" y="274247"/>
                </a:lnTo>
                <a:lnTo>
                  <a:pt x="234069" y="274247"/>
                </a:lnTo>
                <a:lnTo>
                  <a:pt x="234069" y="166706"/>
                </a:lnTo>
                <a:lnTo>
                  <a:pt x="279026" y="166706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1910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812800" y="836712"/>
            <a:ext cx="10871200" cy="576064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816864" y="1484784"/>
            <a:ext cx="10871200" cy="4526280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lvl="0" eaLnBrk="1" latinLnBrk="0" hangingPunct="1"/>
            <a:r>
              <a:rPr kumimoji="0" lang="zh-TW" altLang="en-US" dirty="0"/>
              <a:t>按一下以編輯母片文字樣式</a:t>
            </a:r>
          </a:p>
          <a:p>
            <a:pPr lvl="1" eaLnBrk="1" latinLnBrk="0" hangingPunct="1"/>
            <a:r>
              <a:rPr kumimoji="0" lang="zh-TW" altLang="en-US" dirty="0"/>
              <a:t>第二層</a:t>
            </a:r>
          </a:p>
          <a:p>
            <a:pPr lvl="2" eaLnBrk="1" latinLnBrk="0" hangingPunct="1"/>
            <a:r>
              <a:rPr kumimoji="0" lang="zh-TW" altLang="en-US" dirty="0"/>
              <a:t>第三層</a:t>
            </a:r>
          </a:p>
          <a:p>
            <a:pPr lvl="3" eaLnBrk="1" latinLnBrk="0" hangingPunct="1"/>
            <a:r>
              <a:rPr kumimoji="0" lang="zh-TW" altLang="en-US" dirty="0"/>
              <a:t>第四層</a:t>
            </a:r>
            <a:endParaRPr kumimoji="0" lang="en-US" altLang="zh-TW" dirty="0"/>
          </a:p>
          <a:p>
            <a:pPr lvl="4" eaLnBrk="1" latinLnBrk="0" hangingPunct="1"/>
            <a:r>
              <a:rPr kumimoji="0" lang="zh-TW" altLang="en-US" dirty="0"/>
              <a:t>第五層</a:t>
            </a:r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6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1502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txStyles>
    <p:titleStyle>
      <a:lvl1pPr marL="216000" indent="-216000" algn="l" rtl="0" eaLnBrk="1" latinLnBrk="0" hangingPunct="1">
        <a:lnSpc>
          <a:spcPts val="3400"/>
        </a:lnSpc>
        <a:spcBef>
          <a:spcPct val="0"/>
        </a:spcBef>
        <a:buSzPct val="8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j-cs"/>
        </a:defRPr>
      </a:lvl1pPr>
    </p:titleStyle>
    <p:bodyStyle>
      <a:lvl1pPr marL="0" indent="0" algn="l" rtl="0" eaLnBrk="1" latinLnBrk="0" hangingPunct="1">
        <a:lnSpc>
          <a:spcPct val="150000"/>
        </a:lnSpc>
        <a:spcBef>
          <a:spcPts val="0"/>
        </a:spcBef>
        <a:buClr>
          <a:schemeClr val="accent3">
            <a:lumMod val="75000"/>
          </a:schemeClr>
        </a:buClr>
        <a:buSzPct val="10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n-cs"/>
        </a:defRPr>
      </a:lvl1pPr>
      <a:lvl2pPr marL="0" indent="0" algn="l" rtl="0" eaLnBrk="1" latinLnBrk="0" hangingPunct="1">
        <a:lnSpc>
          <a:spcPct val="100000"/>
        </a:lnSpc>
        <a:spcBef>
          <a:spcPts val="1200"/>
        </a:spcBef>
        <a:buClr>
          <a:schemeClr val="accent3">
            <a:lumMod val="75000"/>
          </a:schemeClr>
        </a:buClr>
        <a:buSzPct val="90000"/>
        <a:buFontTx/>
        <a:buNone/>
        <a:defRPr kumimoji="0" sz="2800" b="1" kern="1200">
          <a:solidFill>
            <a:srgbClr val="8FC320"/>
          </a:solidFill>
          <a:latin typeface="+mj-ea"/>
          <a:ea typeface="+mj-ea"/>
          <a:cs typeface="+mn-cs"/>
        </a:defRPr>
      </a:lvl2pPr>
      <a:lvl3pPr marL="360000" indent="-360000" algn="l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rgbClr val="AE2A7F"/>
        </a:buClr>
        <a:buSzPct val="90000"/>
        <a:buFontTx/>
        <a:buNone/>
        <a:defRPr kumimoji="0" sz="2500" b="1" u="dottedHeavy" kern="1200" baseline="0">
          <a:solidFill>
            <a:srgbClr val="C67A48"/>
          </a:solidFill>
          <a:latin typeface="+mj-ea"/>
          <a:ea typeface="+mj-ea"/>
          <a:cs typeface="+mn-cs"/>
        </a:defRPr>
      </a:lvl3pPr>
      <a:lvl4pPr marL="0" indent="-288000" algn="l" rtl="0" eaLnBrk="1" latinLnBrk="0" hangingPunct="1">
        <a:lnSpc>
          <a:spcPts val="2800"/>
        </a:lnSpc>
        <a:spcBef>
          <a:spcPts val="800"/>
        </a:spcBef>
        <a:spcAft>
          <a:spcPts val="0"/>
        </a:spcAft>
        <a:buClr>
          <a:srgbClr val="AE2A7F"/>
        </a:buClr>
        <a:buSzPct val="90000"/>
        <a:buFontTx/>
        <a:buNone/>
        <a:defRPr kumimoji="0"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360000" marR="0" indent="-342900" algn="l" defTabSz="914400" rtl="0" eaLnBrk="1" fontAlgn="auto" latinLnBrk="0" hangingPunct="1">
        <a:lnSpc>
          <a:spcPts val="2800"/>
        </a:lnSpc>
        <a:spcBef>
          <a:spcPts val="600"/>
        </a:spcBef>
        <a:spcAft>
          <a:spcPts val="0"/>
        </a:spcAft>
        <a:buClrTx/>
        <a:buSzPct val="100000"/>
        <a:buFont typeface="+mj-lt"/>
        <a:buAutoNum type="arabicPeriod"/>
        <a:tabLst/>
        <a:defRPr kumimoji="0" sz="1800" b="0" kern="1200">
          <a:solidFill>
            <a:schemeClr val="tx1"/>
          </a:solidFill>
          <a:latin typeface="+mj-ea"/>
          <a:ea typeface="+mj-ea"/>
          <a:cs typeface="+mn-cs"/>
        </a:defRPr>
      </a:lvl5pPr>
      <a:lvl6pPr marL="360000" indent="-342000" algn="l" rtl="0" eaLnBrk="1" latinLnBrk="0" hangingPunct="1">
        <a:lnSpc>
          <a:spcPct val="100000"/>
        </a:lnSpc>
        <a:spcBef>
          <a:spcPts val="600"/>
        </a:spcBef>
        <a:buClr>
          <a:srgbClr val="C67A48"/>
        </a:buClr>
        <a:buFont typeface="Wingdings" pitchFamily="2" charset="2"/>
        <a:buChar char="n"/>
        <a:defRPr kumimoji="0" sz="1800" kern="1200" baseline="0">
          <a:solidFill>
            <a:schemeClr val="tx1"/>
          </a:solidFill>
          <a:latin typeface="+mn-ea"/>
          <a:ea typeface="+mn-ea"/>
          <a:cs typeface="+mn-cs"/>
        </a:defRPr>
      </a:lvl6pPr>
      <a:lvl7pPr marL="936000" indent="-228600" algn="l" rtl="0" eaLnBrk="1" latinLnBrk="0" hangingPunct="1">
        <a:spcBef>
          <a:spcPts val="600"/>
        </a:spcBef>
        <a:buClrTx/>
        <a:buFont typeface="Wingdings" pitchFamily="2" charset="2"/>
        <a:buChar char="n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eaLnBrk="1" latinLnBrk="0" hangingPunct="1">
        <a:spcBef>
          <a:spcPct val="20000"/>
        </a:spcBef>
        <a:buClr>
          <a:schemeClr val="accent3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eaLnBrk="1" latinLnBrk="0" hangingPunct="1">
        <a:spcBef>
          <a:spcPct val="20000"/>
        </a:spcBef>
        <a:buClr>
          <a:schemeClr val="accent4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code.visualstudio.com/" TargetMode="External"/><Relationship Id="rId3" Type="http://schemas.openxmlformats.org/officeDocument/2006/relationships/image" Target="../media/image5.jpeg"/><Relationship Id="rId7" Type="http://schemas.openxmlformats.org/officeDocument/2006/relationships/hyperlink" Target="https://thonny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ythontutor.com/" TargetMode="External"/><Relationship Id="rId5" Type="http://schemas.openxmlformats.org/officeDocument/2006/relationships/hyperlink" Target="https://www.learnpython.org/" TargetMode="External"/><Relationship Id="rId4" Type="http://schemas.openxmlformats.org/officeDocument/2006/relationships/hyperlink" Target="https://docs.python.org/zh-tw/3.10/index.html" TargetMode="External"/><Relationship Id="rId9" Type="http://schemas.openxmlformats.org/officeDocument/2006/relationships/hyperlink" Target="https://colab.research.google.com/?hl=zh-tw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uido_van_Rossum" TargetMode="External"/><Relationship Id="rId2" Type="http://schemas.openxmlformats.org/officeDocument/2006/relationships/hyperlink" Target="https://steam.oxxostudio.tw/category/python/info/index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hyperlink" Target="https://www.googleadservices.com/pagead/aclk?sa=L&amp;ai=CoHw14eLWaumxC5O32roPyIjowA7146f_iQHo97nH0xb6z5uj6Q4QASCZ8rhLYJ8BoAG16rH8P8gBAakCpBlI45-glT6oAwHIA8kEqgSgAk_Q0DNYzxXqN0DSuNqekYuaohD6LRmuIn7eb5tZWDZf9lUtNFjhgTbL4j_lZWPhjC9yPnlYopxySNizs4hhEs7xfY_ppWNv5MCLrd5rVYtmCugiD0IAFbcyAWPAmuv-kT8LN_GT04HR18Qgha6KbcC1dVHcnQ3sV-p7FcyMtOtGHPhlFRaEh6u6YyJhimIK25ki5zoOHcnqrNxJr4-sMbyeRe-HSsDw3O4v3j0bQitGJAMeK0k1VHqJYj4ypI86B1HuMJ7cy1ibwBrpssghN0kdiCFEguD_y2zSm-gcJmk7eDaKSsDzrXzTFbgtFDZ6c4v2fAmMLxEkCLtbecatbLLSiIzxkepT9-PZlqtdPOlswfrNDk_vs1oUCAg_krxYqcAEwOSA7YQGiAWPk7fKWqAGAoAHtaKC3BqoB6fMsQKoB6a-G6gHzM6xAqgH89EbqAeW2BuoB6qbsQKoB_7osQKoB47OG6gHk9gbqAfw4BuoB-6WsQKoB_6esQKoB6--sQKoB5_hsQKoB6brsQKoB9XJG6gH2baxAqgHmgaoB_-esQKoB9-fsQKoB_jCsQKoB_vCsQLYBwHSCDoIhOGAQBABGJ4DMgiLwoCOgICACDoUmtCAgICABJDAgICAoKiAAqiBgBhIvf3BOliC9aG71seXA2ABsQlk_Xh27r-NzIAKAZgLAcgLAaoNAlRXyA0B6g0TCPerorvWx5cDFZObVgEdSAQa6PANAogOCdgTDNAVAcoWAgoA-BYBgBcBshcQGAEqCjUxMDA1NTMwNTVQBroXAjgBqhgXCQAAAAAAXPVAEgo1MTAwNTUzMDU1GAGyGAkSArBTGAIiAQDQGAHCGQIIAQ&amp;ae=1&amp;gclid=EAIaIQobChMIqaaiu9bHlwMVk5tWAR1IBBroEAEYASAAEgI3WvD_BwE&amp;num=1&amp;cid=CAQS5AEAQM4h3PYttSifV6z7XoOmyrqBlMNeo09xQW9a9xfcf-q3ueM7piTp44Sy3Nnf-jwv3pTpW6VPIfgo2UsNm-EBYZk-2FTpk0ZZdpsRm_O-bt65ZzlQMDm0aLNROW3qq45wrrngfIeSIAE0hwiH3VyqQ8Wb4ZFjr8aKwiBwpUFsMCng1bykmfmaOY4TF_62uOL3hcwesbRePFLjnNmV6Mig71peN72UmzV5bRBx6eRSIFXqGJaZzUtpu5emmipxW7t6HIMBJm0rps3-MqKeziKYpznX9Qhea_q4j0Q0Nd-9bIG5IzMYAQ&amp;sig=AOD64_3y9uBgK1_YH57nzKsJsjFnRdIiqw&amp;rf=2&amp;nb=2&amp;adurl=https://go.dinorungames.com/jsp/redirect/landing_pages/68647917/index.jsp%3Futm_campaign%3D24315283855%26rpeb%3D0000000101_us_cpa%26gad_source%3D5%26gad_campaignid%3D24315283855%26gclid%3DEAIaIQobChMIqaaiu9bHlwMVk5tWAR1IBBroEAEYASAAEgI3WvD_BwE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insights.stackoverflow.com/survey/2020#technology-most-loved-dreaded-and-wanted-languages-wanted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steam.oxxostudio.tw/category/python/info/online-editor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olab.research.google.com/notebooks/welcome.ipynb?hl=zh_tw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hyperlink" Target="https://steam.oxxostudio.tw/category/python/info/virtualenv.html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hyperlink" Target="https://steam.oxxostudio.tw/category/python/example/guess-number.html" TargetMode="External"/><Relationship Id="rId18" Type="http://schemas.openxmlformats.org/officeDocument/2006/relationships/hyperlink" Target="https://steam.oxxostudio.tw/category/python/example/id-number.html" TargetMode="External"/><Relationship Id="rId26" Type="http://schemas.openxmlformats.org/officeDocument/2006/relationships/hyperlink" Target="https://steam.oxxostudio.tw/category/python/example/prime-factor.html" TargetMode="External"/><Relationship Id="rId39" Type="http://schemas.openxmlformats.org/officeDocument/2006/relationships/hyperlink" Target="https://steam.oxxostudio.tw/category/python/example/files-rename.html" TargetMode="External"/><Relationship Id="rId21" Type="http://schemas.openxmlformats.org/officeDocument/2006/relationships/hyperlink" Target="https://steam.oxxostudio.tw/category/python/example/roman.html" TargetMode="External"/><Relationship Id="rId34" Type="http://schemas.openxmlformats.org/officeDocument/2006/relationships/hyperlink" Target="https://steam.oxxostudio.tw/category/python/example/matplotlib-index.html" TargetMode="External"/><Relationship Id="rId42" Type="http://schemas.openxmlformats.org/officeDocument/2006/relationships/hyperlink" Target="https://steam.oxxostudio.tw/category/python/example/excel-read.html" TargetMode="External"/><Relationship Id="rId47" Type="http://schemas.openxmlformats.org/officeDocument/2006/relationships/hyperlink" Target="https://steam.oxxostudio.tw/category/python/example/psutil.html" TargetMode="External"/><Relationship Id="rId50" Type="http://schemas.openxmlformats.org/officeDocument/2006/relationships/hyperlink" Target="https://steam.oxxostudio.tw/category/python/example/ping-ip.html" TargetMode="External"/><Relationship Id="rId7" Type="http://schemas.openxmlformats.org/officeDocument/2006/relationships/hyperlink" Target="https://steam.oxxostudio.tw/category/python/example/find-center.html" TargetMode="External"/><Relationship Id="rId2" Type="http://schemas.openxmlformats.org/officeDocument/2006/relationships/hyperlink" Target="https://steam.oxxostudio.tw/category/python/example/electricity-bill.html" TargetMode="External"/><Relationship Id="rId16" Type="http://schemas.openxmlformats.org/officeDocument/2006/relationships/hyperlink" Target="https://steam.oxxostudio.tw/category/python/example/bmi.html" TargetMode="External"/><Relationship Id="rId29" Type="http://schemas.openxmlformats.org/officeDocument/2006/relationships/hyperlink" Target="https://steam.oxxostudio.tw/category/python/example/hcf.html" TargetMode="External"/><Relationship Id="rId11" Type="http://schemas.openxmlformats.org/officeDocument/2006/relationships/hyperlink" Target="https://steam.oxxostudio.tw/category/python/example/star-pyramid.html" TargetMode="External"/><Relationship Id="rId24" Type="http://schemas.openxmlformats.org/officeDocument/2006/relationships/hyperlink" Target="https://steam.oxxostudio.tw/category/python/example/fibonacci.html" TargetMode="External"/><Relationship Id="rId32" Type="http://schemas.openxmlformats.org/officeDocument/2006/relationships/hyperlink" Target="https://steam.oxxostudio.tw/category/python/ai/opencv-index.html" TargetMode="External"/><Relationship Id="rId37" Type="http://schemas.openxmlformats.org/officeDocument/2006/relationships/hyperlink" Target="https://steam.oxxostudio.tw/category/python/example/screenshot.html" TargetMode="External"/><Relationship Id="rId40" Type="http://schemas.openxmlformats.org/officeDocument/2006/relationships/hyperlink" Target="https://steam.oxxostudio.tw/category/python/example/pdfplumber.html" TargetMode="External"/><Relationship Id="rId45" Type="http://schemas.openxmlformats.org/officeDocument/2006/relationships/hyperlink" Target="https://steam.oxxostudio.tw/category/python/example/qrcode.html" TargetMode="External"/><Relationship Id="rId5" Type="http://schemas.openxmlformats.org/officeDocument/2006/relationships/hyperlink" Target="https://steam.oxxostudio.tw/category/python/example/check-year.html" TargetMode="External"/><Relationship Id="rId15" Type="http://schemas.openxmlformats.org/officeDocument/2006/relationships/hyperlink" Target="https://steam.oxxostudio.tw/category/python/example/clock.html" TargetMode="External"/><Relationship Id="rId23" Type="http://schemas.openxmlformats.org/officeDocument/2006/relationships/hyperlink" Target="https://steam.oxxostudio.tw/category/python/example/sum.html" TargetMode="External"/><Relationship Id="rId28" Type="http://schemas.openxmlformats.org/officeDocument/2006/relationships/hyperlink" Target="https://steam.oxxostudio.tw/category/python/example/lcm.html" TargetMode="External"/><Relationship Id="rId36" Type="http://schemas.openxmlformats.org/officeDocument/2006/relationships/hyperlink" Target="https://steam.oxxostudio.tw/category/python/tkinter/index.html" TargetMode="External"/><Relationship Id="rId49" Type="http://schemas.openxmlformats.org/officeDocument/2006/relationships/hyperlink" Target="https://steam.oxxostudio.tw/category/python/example/ip.html" TargetMode="External"/><Relationship Id="rId10" Type="http://schemas.openxmlformats.org/officeDocument/2006/relationships/hyperlink" Target="https://steam.oxxostudio.tw/category/python/example/progress-bar.html" TargetMode="External"/><Relationship Id="rId19" Type="http://schemas.openxmlformats.org/officeDocument/2006/relationships/hyperlink" Target="https://steam.oxxostudio.tw/category/python/example/id-number-check.html" TargetMode="External"/><Relationship Id="rId31" Type="http://schemas.openxmlformats.org/officeDocument/2006/relationships/hyperlink" Target="https://steam.oxxostudio.tw/category/python/example/line-bot.html" TargetMode="External"/><Relationship Id="rId44" Type="http://schemas.openxmlformats.org/officeDocument/2006/relationships/hyperlink" Target="https://steam.oxxostudio.tw/category/python/example/excel-csv.html" TargetMode="External"/><Relationship Id="rId4" Type="http://schemas.openxmlformats.org/officeDocument/2006/relationships/hyperlink" Target="https://steam.oxxostudio.tw/category/python/example/inch-cm.html" TargetMode="External"/><Relationship Id="rId9" Type="http://schemas.openxmlformats.org/officeDocument/2006/relationships/hyperlink" Target="https://steam.oxxostudio.tw/category/python/example/lots-numbers.html" TargetMode="External"/><Relationship Id="rId14" Type="http://schemas.openxmlformats.org/officeDocument/2006/relationships/hyperlink" Target="https://steam.oxxostudio.tw/category/python/example/guess-number-ab.html" TargetMode="External"/><Relationship Id="rId22" Type="http://schemas.openxmlformats.org/officeDocument/2006/relationships/hyperlink" Target="https://steam.oxxostudio.tw/category/python/example/arithmetics.html" TargetMode="External"/><Relationship Id="rId27" Type="http://schemas.openxmlformats.org/officeDocument/2006/relationships/hyperlink" Target="https://steam.oxxostudio.tw/category/python/example/find-prime.html" TargetMode="External"/><Relationship Id="rId30" Type="http://schemas.openxmlformats.org/officeDocument/2006/relationships/hyperlink" Target="https://steam.oxxostudio.tw/category/python/spider/spider.html" TargetMode="External"/><Relationship Id="rId35" Type="http://schemas.openxmlformats.org/officeDocument/2006/relationships/hyperlink" Target="https://steam.oxxostudio.tw/category/python/numpy/numpy.html" TargetMode="External"/><Relationship Id="rId43" Type="http://schemas.openxmlformats.org/officeDocument/2006/relationships/hyperlink" Target="https://steam.oxxostudio.tw/category/python/example/excel-write.html" TargetMode="External"/><Relationship Id="rId48" Type="http://schemas.openxmlformats.org/officeDocument/2006/relationships/hyperlink" Target="https://steam.oxxostudio.tw/category/python/example/screen-size.html" TargetMode="External"/><Relationship Id="rId8" Type="http://schemas.openxmlformats.org/officeDocument/2006/relationships/hyperlink" Target="https://steam.oxxostudio.tw/category/python/example/remove-blank.html" TargetMode="External"/><Relationship Id="rId3" Type="http://schemas.openxmlformats.org/officeDocument/2006/relationships/hyperlink" Target="https://steam.oxxostudio.tw/category/python/example/c-f.html" TargetMode="External"/><Relationship Id="rId12" Type="http://schemas.openxmlformats.org/officeDocument/2006/relationships/hyperlink" Target="https://steam.oxxostudio.tw/category/python/example/numbers-pyramid.html" TargetMode="External"/><Relationship Id="rId17" Type="http://schemas.openxmlformats.org/officeDocument/2006/relationships/hyperlink" Target="https://steam.oxxostudio.tw/category/python/example/count-age.html" TargetMode="External"/><Relationship Id="rId25" Type="http://schemas.openxmlformats.org/officeDocument/2006/relationships/hyperlink" Target="https://steam.oxxostudio.tw/category/python/example/9x9-table.html" TargetMode="External"/><Relationship Id="rId33" Type="http://schemas.openxmlformats.org/officeDocument/2006/relationships/hyperlink" Target="https://steam.oxxostudio.tw/category/python/ai/ai-index.html" TargetMode="External"/><Relationship Id="rId38" Type="http://schemas.openxmlformats.org/officeDocument/2006/relationships/hyperlink" Target="https://steam.oxxostudio.tw/category/python/example/send-screenshot.html" TargetMode="External"/><Relationship Id="rId46" Type="http://schemas.openxmlformats.org/officeDocument/2006/relationships/hyperlink" Target="https://steam.oxxostudio.tw/category/python/example/barcode.html" TargetMode="External"/><Relationship Id="rId20" Type="http://schemas.openxmlformats.org/officeDocument/2006/relationships/hyperlink" Target="https://steam.oxxostudio.tw/category/python/example/invoice.html" TargetMode="External"/><Relationship Id="rId41" Type="http://schemas.openxmlformats.org/officeDocument/2006/relationships/hyperlink" Target="https://steam.oxxostudio.tw/category/python/example/pdf-merge-split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eam.oxxostudio.tw/category/python/example/find-no-repeat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gif"/><Relationship Id="rId3" Type="http://schemas.openxmlformats.org/officeDocument/2006/relationships/slide" Target="slide39.xml"/><Relationship Id="rId7" Type="http://schemas.openxmlformats.org/officeDocument/2006/relationships/slide" Target="slide68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59.xml"/><Relationship Id="rId5" Type="http://schemas.openxmlformats.org/officeDocument/2006/relationships/slide" Target="slide50.xml"/><Relationship Id="rId4" Type="http://schemas.openxmlformats.org/officeDocument/2006/relationships/slide" Target="slide4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440FFFF-59F2-413D-A645-6FA503C98E97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rPr>
              <a:t>第 1 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869B30-EE2F-413B-BABF-EE78F54499CD}"/>
              </a:ext>
            </a:extLst>
          </p:cNvPr>
          <p:cNvSpPr>
            <a:spLocks noGrp="1"/>
          </p:cNvSpPr>
          <p:nvPr/>
        </p:nvSpPr>
        <p:spPr>
          <a:xfrm>
            <a:off x="685800" y="1876425"/>
            <a:ext cx="1076325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 </a:t>
            </a:r>
            <a:r>
              <a:rPr lang="zh-TW" altLang="en-US" sz="43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程式設計</a:t>
            </a:r>
            <a:endParaRPr sz="4350" b="1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8DEACC-BC8C-4726-8064-82C4D6441992}"/>
              </a:ext>
            </a:extLst>
          </p:cNvPr>
          <p:cNvSpPr>
            <a:spLocks noGrp="1"/>
          </p:cNvSpPr>
          <p:nvPr/>
        </p:nvSpPr>
        <p:spPr>
          <a:xfrm>
            <a:off x="685800" y="2668997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2175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https://www.python.org/</a:t>
            </a:r>
            <a:endParaRPr sz="2175" b="0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6" name="圖片 5" descr="檔案:Python.svg - 維基大典">
            <a:extLst>
              <a:ext uri="{FF2B5EF4-FFF2-40B4-BE49-F238E27FC236}">
                <a16:creationId xmlns:a16="http://schemas.microsoft.com/office/drawing/2014/main" id="{8F212446-834E-6A15-A9B1-0CB2C0340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669" y="412955"/>
            <a:ext cx="2546555" cy="254655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FA556A7-D1EF-9853-F808-2CBE8F1B52E8}"/>
              </a:ext>
            </a:extLst>
          </p:cNvPr>
          <p:cNvSpPr txBox="1"/>
          <p:nvPr/>
        </p:nvSpPr>
        <p:spPr>
          <a:xfrm>
            <a:off x="685800" y="330517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buNone/>
            </a:pPr>
            <a:r>
              <a:rPr lang="zh-TW" altLang="zh-TW" sz="1800" b="1" i="1" dirty="0">
                <a:solidFill>
                  <a:srgbClr val="FFFF00"/>
                </a:solidFill>
                <a:effectLst/>
                <a:latin typeface="+mn-lt"/>
                <a:ea typeface="inherit"/>
              </a:rPr>
              <a:t>官方中文版教程</a:t>
            </a:r>
            <a:endParaRPr lang="zh-TW" altLang="zh-TW" sz="1800" b="0" i="1" dirty="0">
              <a:solidFill>
                <a:srgbClr val="FFFF00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zh-TW" altLang="zh-TW" sz="1800" b="0" i="0" u="sng" dirty="0">
                <a:solidFill>
                  <a:srgbClr val="FFFF00"/>
                </a:solidFill>
                <a:effectLst/>
                <a:latin typeface="+mn-lt"/>
                <a:hlinkClick r:id="rId4"/>
              </a:rPr>
              <a:t>https://docs.python.org/zh-tw/3.10/index.html</a:t>
            </a:r>
            <a:endParaRPr lang="zh-TW" altLang="zh-TW" sz="1500" b="0" i="0" dirty="0">
              <a:solidFill>
                <a:srgbClr val="FFFF00"/>
              </a:solidFill>
              <a:effectLst/>
              <a:latin typeface="source-serif-pro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04F813A-BF4B-D6BD-3E32-F106E7D708E1}"/>
              </a:ext>
            </a:extLst>
          </p:cNvPr>
          <p:cNvSpPr txBox="1"/>
          <p:nvPr/>
        </p:nvSpPr>
        <p:spPr>
          <a:xfrm>
            <a:off x="685800" y="409774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i="1" spc="-5" dirty="0" err="1">
                <a:solidFill>
                  <a:srgbClr val="FFFF00"/>
                </a:solidFill>
                <a:effectLst/>
                <a:latin typeface="+mn-lt"/>
                <a:ea typeface="inherit"/>
              </a:rPr>
              <a:t>Learnpython</a:t>
            </a:r>
            <a:endParaRPr lang="en-US" altLang="zh-TW" sz="1800" b="1" i="1" spc="-5" dirty="0">
              <a:solidFill>
                <a:srgbClr val="FFFF00"/>
              </a:solidFill>
              <a:effectLst/>
              <a:latin typeface="+mn-lt"/>
              <a:ea typeface="inherit"/>
            </a:endParaRPr>
          </a:p>
          <a:p>
            <a:r>
              <a:rPr lang="en-US" altLang="zh-TW" dirty="0">
                <a:solidFill>
                  <a:srgbClr val="FFFF00"/>
                </a:solidFill>
                <a:hlinkClick r:id="rId5"/>
              </a:rPr>
              <a:t>https://www.learnpython.org/</a:t>
            </a:r>
            <a:endParaRPr lang="zh-TW" altLang="en-US" dirty="0">
              <a:solidFill>
                <a:srgbClr val="FF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05F9591-AAE0-5DEF-2028-D50AD4D3B31F}"/>
              </a:ext>
            </a:extLst>
          </p:cNvPr>
          <p:cNvSpPr txBox="1"/>
          <p:nvPr/>
        </p:nvSpPr>
        <p:spPr>
          <a:xfrm>
            <a:off x="685800" y="489031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800" b="1" i="0" dirty="0">
                <a:solidFill>
                  <a:srgbClr val="FFFF00"/>
                </a:solidFill>
                <a:effectLst/>
                <a:latin typeface="+mn-lt"/>
              </a:rPr>
              <a:t>Visualize code execution</a:t>
            </a:r>
            <a:endParaRPr lang="en-US" altLang="zh-TW" sz="1800" b="1" i="0" dirty="0">
              <a:solidFill>
                <a:srgbClr val="FFFF00"/>
              </a:solidFill>
              <a:effectLst/>
              <a:latin typeface="+mn-lt"/>
            </a:endParaRPr>
          </a:p>
          <a:p>
            <a:r>
              <a:rPr lang="en-US" altLang="zh-TW" dirty="0">
                <a:solidFill>
                  <a:srgbClr val="FFFF00"/>
                </a:solidFill>
                <a:latin typeface="Radio Canada Big"/>
                <a:hlinkClick r:id="rId6"/>
              </a:rPr>
              <a:t>https://pythontutor.com/</a:t>
            </a:r>
            <a:endParaRPr lang="zh-TW" altLang="zh-TW" i="0" dirty="0">
              <a:solidFill>
                <a:srgbClr val="FFFF00"/>
              </a:solidFill>
              <a:effectLst/>
              <a:latin typeface="Radio Canada Big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B27295F-8B53-84EA-3C0A-30D89294279E}"/>
              </a:ext>
            </a:extLst>
          </p:cNvPr>
          <p:cNvSpPr txBox="1"/>
          <p:nvPr/>
        </p:nvSpPr>
        <p:spPr>
          <a:xfrm>
            <a:off x="5876925" y="3263388"/>
            <a:ext cx="38124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zh-TW" altLang="zh-TW" b="1" i="0" dirty="0">
                <a:solidFill>
                  <a:srgbClr val="FFFF00"/>
                </a:solidFill>
                <a:effectLst/>
                <a:latin typeface="+mn-lt"/>
              </a:rPr>
              <a:t>Thonny</a:t>
            </a:r>
          </a:p>
          <a:p>
            <a:pPr indent="0" algn="l">
              <a:buNone/>
            </a:pPr>
            <a:r>
              <a:rPr lang="zh-TW" altLang="zh-TW" b="0" i="0" dirty="0">
                <a:solidFill>
                  <a:srgbClr val="FFFF00"/>
                </a:solidFill>
                <a:effectLst/>
                <a:latin typeface="+mn-lt"/>
              </a:rPr>
              <a:t>Python IDE for beginners</a:t>
            </a:r>
          </a:p>
          <a:p>
            <a:pPr>
              <a:buNone/>
            </a:pPr>
            <a:r>
              <a:rPr lang="en-US" altLang="zh-TW" dirty="0">
                <a:solidFill>
                  <a:srgbClr val="FFFF00"/>
                </a:solidFill>
                <a:hlinkClick r:id="rId7"/>
              </a:rPr>
              <a:t>https://thonny.org/</a:t>
            </a:r>
            <a:br>
              <a:rPr lang="zh-TW" altLang="zh-TW" dirty="0">
                <a:solidFill>
                  <a:srgbClr val="FFFF00"/>
                </a:solidFill>
                <a:hlinkClick r:id="rId7"/>
              </a:rPr>
            </a:br>
            <a:endParaRPr lang="zh-TW" altLang="en-US" dirty="0">
              <a:solidFill>
                <a:srgbClr val="FFFF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AA25897-CC6B-C2DB-9693-0EA3F0ABECFF}"/>
              </a:ext>
            </a:extLst>
          </p:cNvPr>
          <p:cNvSpPr txBox="1"/>
          <p:nvPr/>
        </p:nvSpPr>
        <p:spPr>
          <a:xfrm>
            <a:off x="5876925" y="439128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zh-TW" altLang="zh-TW" dirty="0">
                <a:solidFill>
                  <a:srgbClr val="FFFF00"/>
                </a:solidFill>
              </a:rPr>
              <a:t> VS Code</a:t>
            </a:r>
            <a:endParaRPr lang="en-US" altLang="zh-TW" sz="1800" b="1" i="0" spc="-60" dirty="0">
              <a:solidFill>
                <a:srgbClr val="FFFF00"/>
              </a:solidFill>
              <a:effectLst/>
              <a:latin typeface="+mn-lt"/>
            </a:endParaRPr>
          </a:p>
          <a:p>
            <a:pPr indent="0">
              <a:lnSpc>
                <a:spcPct val="100000"/>
              </a:lnSpc>
              <a:buNone/>
            </a:pPr>
            <a:r>
              <a:rPr lang="zh-TW" altLang="zh-TW" sz="1800" b="1" i="0" spc="-60" dirty="0">
                <a:solidFill>
                  <a:srgbClr val="FFFF00"/>
                </a:solidFill>
                <a:effectLst/>
                <a:latin typeface="+mn-lt"/>
              </a:rPr>
              <a:t>The open source AI code editor</a:t>
            </a:r>
            <a:endParaRPr lang="en-US" altLang="zh-TW" sz="1800" b="1" i="0" spc="-60" dirty="0">
              <a:solidFill>
                <a:srgbClr val="FFFF00"/>
              </a:solidFill>
              <a:effectLst/>
              <a:latin typeface="+mn-lt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altLang="zh-TW" spc="-60" dirty="0">
                <a:solidFill>
                  <a:srgbClr val="FFFF00"/>
                </a:solidFill>
                <a:latin typeface="system-ui"/>
                <a:hlinkClick r:id="rId8"/>
              </a:rPr>
              <a:t>https://code.visualstudio.com/</a:t>
            </a:r>
            <a:endParaRPr lang="zh-TW" altLang="zh-TW" i="0" spc="-60" dirty="0">
              <a:solidFill>
                <a:srgbClr val="FFFF00"/>
              </a:solidFill>
              <a:effectLst/>
              <a:latin typeface="system-ui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2A69974-1385-F4E8-CC74-7F10A76B83AB}"/>
              </a:ext>
            </a:extLst>
          </p:cNvPr>
          <p:cNvSpPr txBox="1"/>
          <p:nvPr/>
        </p:nvSpPr>
        <p:spPr>
          <a:xfrm>
            <a:off x="5876925" y="560815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1" dirty="0">
                <a:solidFill>
                  <a:srgbClr val="FFFF00"/>
                </a:solidFill>
              </a:rPr>
              <a:t>Google Colab</a:t>
            </a:r>
            <a:endParaRPr lang="en-US" altLang="zh-TW" b="1" dirty="0">
              <a:solidFill>
                <a:srgbClr val="FFFF00"/>
              </a:solidFill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zh-TW" altLang="en-US" dirty="0">
                <a:solidFill>
                  <a:srgbClr val="467886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https://colab.research.google.com/?hl=zh-tw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7096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C257230-F5EC-2CD3-C3C7-8EDBD463511A}"/>
              </a:ext>
            </a:extLst>
          </p:cNvPr>
          <p:cNvSpPr txBox="1"/>
          <p:nvPr/>
        </p:nvSpPr>
        <p:spPr>
          <a:xfrm>
            <a:off x="366251" y="561859"/>
            <a:ext cx="60960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關於 Python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Python 是目前世界上最流行的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程式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語言之一，也是相當容易入門且功能強大的程式語言。它除了可以透過簡單邏輯進行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程式設計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，更具備有高效能的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資料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結構處理能力。Python 簡單易懂的程式語法，結合由 C 語言建構的特性，使得 Python 能跨平台開發，也幾乎能在所有作業系統中運作。 </a:t>
            </a:r>
          </a:p>
          <a:p>
            <a:pPr algn="l" rtl="0" fontAlgn="auto">
              <a:buNone/>
            </a:pPr>
            <a:r>
              <a:rPr lang="zh-TW" altLang="zh-TW" dirty="0">
                <a:solidFill>
                  <a:schemeClr val="tx1"/>
                </a:solidFill>
                <a:effectLst/>
                <a:latin typeface="+mn-lt"/>
              </a:rPr>
              <a:t>學習腳本語言</a:t>
            </a:r>
          </a:p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Python 名稱的由來 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在 1989 年，一位荷蘭的程式設計師吉多。范羅蘇姆 ( 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" tooltip="Guido van Rossum"/>
              </a:rPr>
              <a:t>Guido van Rossum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 )，在 1989 年的聖誕節期間，花了三個月的時間，創造出一套以 ABC 程式語言為基礎，作為替代 Unix shell 和 C 語言進行系統管理的程式語言：Python。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范羅蘇姆是 BBC 電視劇 Monty Python's Flying Circus ( 蒙提派森的飛行馬戲團 ) 的愛好者，於是他就將這套程式語言命名為 Python，由於 Python 是「蟒蛇」的英文，所以在許多教學或文件中，都會使用一藍一黃的蟒蛇圖案作為 Python 的形象代表。</a:t>
            </a:r>
            <a:endParaRPr lang="zh-TW" altLang="zh-TW" sz="1800" b="0" i="0" dirty="0">
              <a:solidFill>
                <a:srgbClr val="333333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4" name="圖片 3" descr="Python 教學 - 關於 Python">
            <a:extLst>
              <a:ext uri="{FF2B5EF4-FFF2-40B4-BE49-F238E27FC236}">
                <a16:creationId xmlns:a16="http://schemas.microsoft.com/office/drawing/2014/main" id="{E1DBDA5E-4C4B-A456-6297-5640044FF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561" y="671050"/>
            <a:ext cx="5147188" cy="514718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53EA57D6-6A96-8B2F-F7EB-438F4A8BCC2F}"/>
              </a:ext>
            </a:extLst>
          </p:cNvPr>
          <p:cNvSpPr txBox="1"/>
          <p:nvPr/>
        </p:nvSpPr>
        <p:spPr>
          <a:xfrm>
            <a:off x="1776494" y="6111475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linkClick r:id="rId5"/>
              </a:rPr>
              <a:t>DINO RUN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AB37B625-A0FB-5FC8-F642-9B026E2813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833" y="5872074"/>
            <a:ext cx="3283974" cy="848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Python 教學 - 關於 Python">
            <a:extLst>
              <a:ext uri="{FF2B5EF4-FFF2-40B4-BE49-F238E27FC236}">
                <a16:creationId xmlns:a16="http://schemas.microsoft.com/office/drawing/2014/main" id="{D99F40F2-17A6-6EA4-E7BF-0641D8166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54764"/>
            <a:ext cx="7620000" cy="262962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B7BD7BD-1E13-14C0-AB83-056D1650D260}"/>
              </a:ext>
            </a:extLst>
          </p:cNvPr>
          <p:cNvSpPr txBox="1"/>
          <p:nvPr/>
        </p:nvSpPr>
        <p:spPr>
          <a:xfrm>
            <a:off x="408039" y="457968"/>
            <a:ext cx="11651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>
                <a:solidFill>
                  <a:schemeClr val="tx1"/>
                </a:solidFill>
                <a:effectLst/>
                <a:latin typeface="+mn-lt"/>
              </a:rPr>
              <a:t>下圖是 stackoverflow.com ( </a:t>
            </a:r>
            <a:r>
              <a:rPr lang="zh-TW" altLang="zh-TW" sz="1800" b="0" i="0">
                <a:solidFill>
                  <a:schemeClr val="tx1"/>
                </a:solidFill>
                <a:effectLst/>
                <a:latin typeface="+mn-lt"/>
                <a:hlinkClick r:id="rId3" tooltip="參考連結"/>
              </a:rPr>
              <a:t>參考連結</a:t>
            </a:r>
            <a:r>
              <a:rPr lang="zh-TW" altLang="zh-TW" sz="1800" b="0" i="0">
                <a:solidFill>
                  <a:schemeClr val="tx1"/>
                </a:solidFill>
                <a:effectLst/>
                <a:latin typeface="+mn-lt"/>
              </a:rPr>
              <a:t> ) 調查開發者最喜愛以及最想學的程式語言，Python 分別位居第三名和第一名 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FF99943-CBFF-52C5-ECA0-320303D2D54C}"/>
              </a:ext>
            </a:extLst>
          </p:cNvPr>
          <p:cNvSpPr txBox="1"/>
          <p:nvPr/>
        </p:nvSpPr>
        <p:spPr>
          <a:xfrm>
            <a:off x="580103" y="3911854"/>
            <a:ext cx="1103179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600" b="1" i="0" dirty="0">
                <a:solidFill>
                  <a:schemeClr val="tx1"/>
                </a:solidFill>
                <a:effectLst/>
                <a:latin typeface="+mn-lt"/>
              </a:rPr>
              <a:t>Python 可以做什麼？ </a:t>
            </a:r>
          </a:p>
          <a:p>
            <a:pPr marL="0" marR="0" indent="0" algn="just" latinLnBrk="1">
              <a:buNone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Python 的應用相當廣泛，例如 Google、Youtube、IG 和 Netflix，都大量地使用了 Python，下方列出 Python 常見的應用領域：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網路爬蟲與擷取資訊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數據處理分析與視覺化應用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機器學習與人工智慧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自動化測試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網站開發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軟體開發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商業應用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600" b="0" i="0" dirty="0">
                <a:solidFill>
                  <a:schemeClr val="tx1"/>
                </a:solidFill>
                <a:effectLst/>
                <a:latin typeface="+mn-lt"/>
              </a:rPr>
              <a:t>多媒體應用</a:t>
            </a:r>
            <a:endParaRPr lang="zh-TW" altLang="zh-TW" sz="1600" b="0" i="0" dirty="0">
              <a:solidFill>
                <a:srgbClr val="000000"/>
              </a:solidFill>
              <a:effectLst/>
              <a:latin typeface="inherit"/>
            </a:endParaRPr>
          </a:p>
        </p:txBody>
      </p:sp>
    </p:spTree>
    <p:extLst>
      <p:ext uri="{BB962C8B-B14F-4D97-AF65-F5344CB8AC3E}">
        <p14:creationId xmlns:p14="http://schemas.microsoft.com/office/powerpoint/2010/main" val="3349408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86F663E-BA14-094D-F864-96F09700FC27}"/>
              </a:ext>
            </a:extLst>
          </p:cNvPr>
          <p:cNvSpPr txBox="1"/>
          <p:nvPr/>
        </p:nvSpPr>
        <p:spPr>
          <a:xfrm>
            <a:off x="973394" y="392035"/>
            <a:ext cx="10835148" cy="1341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使用 Google Colab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通常在學 Python 時最難入門的，就是編輯環境的安裝，不僅要安裝 Python，還得安裝一個好用的編輯器，幸好 Google 提供了一個強大又免費的線上編輯器 Colaboratory ( 簡稱 Colab )，讓使用者可以只用瀏覽器，就能撰寫與執行 Python 程式。</a:t>
            </a:r>
            <a:endParaRPr lang="zh-TW" altLang="zh-TW" sz="1200" b="0" i="0" dirty="0">
              <a:solidFill>
                <a:srgbClr val="333333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327CFE5-D1C8-501D-B6CB-49D4901AABE5}"/>
              </a:ext>
            </a:extLst>
          </p:cNvPr>
          <p:cNvSpPr txBox="1"/>
          <p:nvPr/>
        </p:nvSpPr>
        <p:spPr>
          <a:xfrm>
            <a:off x="973394" y="2202515"/>
            <a:ext cx="6096000" cy="342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關於 Google Colab 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Google Colab ( Colaboratory ) 是一個在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雲端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運行的編輯環境，由 Google 提供一個雲端虛擬主機，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支援 Python 程式及機器學習 TensorFlow 演算法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，Colab 目的在提供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教育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訓練以及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教學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研究，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不用下載或安裝，就可直接編輯 Python，並使用 Python 的資源庫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，大幅降低初學者的入門門檻，不用耗費太多時間在環境的安裝與設定。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在 Colab 裡編輯的程式碼，預設直接儲存在開發者的 Google Drive 雲端硬碟中，執行時由虛擬主機提供強大的運算能力，並不會用到本機的資源。但要如果程式閒置一段時間，會被停止並回收運算資源。</a:t>
            </a:r>
            <a:endParaRPr lang="zh-TW" altLang="zh-TW" sz="1800" b="0" i="0" dirty="0">
              <a:solidFill>
                <a:srgbClr val="333333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7" name="圖片 6" descr="Python 教學 - 使用 Google Colab">
            <a:extLst>
              <a:ext uri="{FF2B5EF4-FFF2-40B4-BE49-F238E27FC236}">
                <a16:creationId xmlns:a16="http://schemas.microsoft.com/office/drawing/2014/main" id="{33CC0E41-3539-D437-1593-DB4883DF6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394" y="2678669"/>
            <a:ext cx="4892270" cy="2703460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AB705EE-DF3F-3F0F-9212-765448D2796B}"/>
              </a:ext>
            </a:extLst>
          </p:cNvPr>
          <p:cNvSpPr txBox="1"/>
          <p:nvPr/>
        </p:nvSpPr>
        <p:spPr>
          <a:xfrm>
            <a:off x="973394" y="5958038"/>
            <a:ext cx="718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4"/>
              </a:rPr>
              <a:t>https://colab.research.google.com/notebooks/welcome.ipynb?hl=zh_tw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0452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96A252F-4E8C-A2A3-A336-1C2857AC786F}"/>
              </a:ext>
            </a:extLst>
          </p:cNvPr>
          <p:cNvSpPr txBox="1"/>
          <p:nvPr/>
        </p:nvSpPr>
        <p:spPr>
          <a:xfrm>
            <a:off x="658759" y="323210"/>
            <a:ext cx="11218607" cy="1341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使用 Python 虛擬環境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在本機安裝 Python 或 Python 套件時，往往會遇到</a:t>
            </a:r>
            <a:r>
              <a:rPr lang="zh-TW" altLang="zh-TW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 電腦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環境中多個版本的 Python 互相干擾的狀況，為了避免這種狀況，可以使用「Python 虛擬環境」，透過虛擬環境建置一個「乾淨」的操作環境，就可以順利的執行程式，或安裝各種函式庫或套件。</a:t>
            </a:r>
            <a:endParaRPr lang="zh-TW" altLang="zh-TW" sz="1200" b="0" i="0" dirty="0">
              <a:solidFill>
                <a:srgbClr val="333333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3C8C4FA-842C-C63A-ADB0-83D4CE90EF8D}"/>
              </a:ext>
            </a:extLst>
          </p:cNvPr>
          <p:cNvSpPr txBox="1"/>
          <p:nvPr/>
        </p:nvSpPr>
        <p:spPr>
          <a:xfrm>
            <a:off x="658759" y="1796341"/>
            <a:ext cx="11110454" cy="1482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安裝 Python 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如果已經安裝過 Anaconda，應該就已經順利將 Python 安裝到電腦中，如果沒有安裝過，可以前往 Python 的網站，根據自己的作業系統下載 Python 並安裝。</a:t>
            </a:r>
          </a:p>
          <a:p>
            <a:pPr marL="0" marR="0" indent="0" algn="l" latinLnBrk="1">
              <a:spcAft>
                <a:spcPts val="1500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Python 下載：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" tooltip="https://www.python.org/downloads/"/>
              </a:rPr>
              <a:t>https://www.python.org/downloads/</a:t>
            </a:r>
            <a:endParaRPr lang="zh-TW" altLang="zh-TW" sz="1200" b="0" i="0" dirty="0">
              <a:solidFill>
                <a:srgbClr val="333333"/>
              </a:solidFill>
              <a:effectLst/>
              <a:latin typeface="inheri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2B95E0D-4870-86E8-991E-F4B0822EE4BC}"/>
              </a:ext>
            </a:extLst>
          </p:cNvPr>
          <p:cNvSpPr txBox="1"/>
          <p:nvPr/>
        </p:nvSpPr>
        <p:spPr>
          <a:xfrm>
            <a:off x="658759" y="3536811"/>
            <a:ext cx="11110454" cy="787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安裝 virtualenv </a:t>
            </a:r>
          </a:p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建立一個資料夾，使用開啟命令提示字元進入該資料夾，輸入下方指令安裝 virtualenv。</a:t>
            </a:r>
            <a:endParaRPr lang="zh-TW" altLang="zh-TW" sz="1200" b="0" i="0" dirty="0">
              <a:solidFill>
                <a:srgbClr val="333333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F99762-A1F9-085C-FA40-BB3CA9A2E93B}"/>
              </a:ext>
            </a:extLst>
          </p:cNvPr>
          <p:cNvSpPr txBox="1"/>
          <p:nvPr/>
        </p:nvSpPr>
        <p:spPr>
          <a:xfrm>
            <a:off x="658759" y="4366598"/>
            <a:ext cx="6096000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26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pip install virtualenv</a:t>
            </a:r>
          </a:p>
          <a:p>
            <a:pPr>
              <a:buNone/>
            </a:pPr>
            <a:br>
              <a:rPr lang="zh-TW" altLang="zh-TW" dirty="0"/>
            </a:b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E9AE8A-278E-CA55-2451-A4E574E8E185}"/>
              </a:ext>
            </a:extLst>
          </p:cNvPr>
          <p:cNvSpPr txBox="1"/>
          <p:nvPr/>
        </p:nvSpPr>
        <p:spPr>
          <a:xfrm>
            <a:off x="658759" y="4868707"/>
            <a:ext cx="11110454" cy="106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 latinLnBrk="1">
              <a:spcAft>
                <a:spcPts val="11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安裝完成後，在同樣的資料夾裡，輸入下方指令，建立虛擬環境的資料夾 ( test 為資料夾名稱 )。</a:t>
            </a:r>
          </a:p>
          <a:p>
            <a:pPr>
              <a:buNone/>
            </a:pPr>
            <a:br>
              <a:rPr lang="zh-TW" altLang="zh-TW" dirty="0"/>
            </a:b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A759352-C44F-C33A-20A3-41B80BB5F11D}"/>
              </a:ext>
            </a:extLst>
          </p:cNvPr>
          <p:cNvSpPr txBox="1"/>
          <p:nvPr/>
        </p:nvSpPr>
        <p:spPr>
          <a:xfrm>
            <a:off x="658759" y="5270789"/>
            <a:ext cx="6096000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26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virtualenv test</a:t>
            </a:r>
          </a:p>
          <a:p>
            <a:pPr>
              <a:buNone/>
            </a:pPr>
            <a:br>
              <a:rPr lang="zh-TW" altLang="zh-TW" dirty="0"/>
            </a:b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3B90297-AF5A-9109-E415-BD1DEBEFEAF3}"/>
              </a:ext>
            </a:extLst>
          </p:cNvPr>
          <p:cNvSpPr txBox="1"/>
          <p:nvPr/>
        </p:nvSpPr>
        <p:spPr>
          <a:xfrm>
            <a:off x="658759" y="58484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進入 Python 虛擬環境 </a:t>
            </a:r>
            <a:endParaRPr lang="zh-TW" altLang="zh-TW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0BBC3EA-7163-E6B2-D07D-E7E951345CBD}"/>
              </a:ext>
            </a:extLst>
          </p:cNvPr>
          <p:cNvSpPr txBox="1"/>
          <p:nvPr/>
        </p:nvSpPr>
        <p:spPr>
          <a:xfrm>
            <a:off x="658759" y="62177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Windows：</a:t>
            </a:r>
            <a:r>
              <a:rPr lang="zh-TW" altLang="zh-TW" dirty="0"/>
              <a:t>test\Scripts\activate</a:t>
            </a:r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A54A635-1E60-8E7E-AD43-AB9FA734ADAB}"/>
              </a:ext>
            </a:extLst>
          </p:cNvPr>
          <p:cNvSpPr txBox="1"/>
          <p:nvPr/>
        </p:nvSpPr>
        <p:spPr>
          <a:xfrm>
            <a:off x="5673213" y="583208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離開虛擬環境 </a:t>
            </a:r>
            <a:endParaRPr lang="zh-TW" altLang="zh-TW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5CAECFB-39EF-DDC7-EDC2-45317D1521C3}"/>
              </a:ext>
            </a:extLst>
          </p:cNvPr>
          <p:cNvSpPr txBox="1"/>
          <p:nvPr/>
        </p:nvSpPr>
        <p:spPr>
          <a:xfrm>
            <a:off x="5673213" y="62177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2625"/>
              </a:spcAft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deactivate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04243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AD43C356-4AD9-48A3-FF3F-B0C4147395D8}"/>
              </a:ext>
            </a:extLst>
          </p:cNvPr>
          <p:cNvSpPr txBox="1"/>
          <p:nvPr/>
        </p:nvSpPr>
        <p:spPr>
          <a:xfrm>
            <a:off x="521110" y="2872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Python 基礎範例 </a:t>
            </a:r>
            <a:endParaRPr lang="zh-TW" altLang="zh-TW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993259-5CA2-183A-71EC-7E6D52B2AD9B}"/>
              </a:ext>
            </a:extLst>
          </p:cNvPr>
          <p:cNvSpPr txBox="1"/>
          <p:nvPr/>
        </p:nvSpPr>
        <p:spPr>
          <a:xfrm>
            <a:off x="521110" y="761883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" tooltip="電費試算"/>
              </a:rPr>
              <a:t>電費試算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" tooltip="攝氏/華氏轉換"/>
              </a:rPr>
              <a:t>攝氏/華氏轉換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" tooltip="公分/英吋換算"/>
              </a:rPr>
              <a:t>公分/英吋換算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5" tooltip="判斷平年與閏年"/>
              </a:rPr>
              <a:t>判斷平年與閏年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6" tooltip="找出不重複字元"/>
              </a:rPr>
              <a:t>找出不重複字元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7" tooltip="找出中間的字元"/>
              </a:rPr>
              <a:t>找出中間的字元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8" tooltip="去除中英文夾雜的空白"/>
              </a:rPr>
              <a:t>去除中英文夾雜的空白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9" tooltip="大樂透電腦選號"/>
              </a:rPr>
              <a:t>大樂透電腦選號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0" tooltip="下載進度條"/>
              </a:rPr>
              <a:t>下載進度條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1" tooltip="星號金字塔"/>
              </a:rPr>
              <a:t>星號金字塔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2" tooltip="數字金字塔"/>
              </a:rPr>
              <a:t>數字金字塔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3" tooltip="猜數字 ( 猜大猜小 )"/>
              </a:rPr>
              <a:t>猜數字 ( 猜大猜小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4" tooltip="猜數字 ( 幾 A 幾 B )"/>
              </a:rPr>
              <a:t>猜數字 ( 幾 A 幾 B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5" tooltip="簡單時鐘 ( 世界時間 )"/>
              </a:rPr>
              <a:t>簡單時鐘 ( 世界時間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6" tooltip="計算 BMI 數值"/>
              </a:rPr>
              <a:t>計算 BMI 數值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7" tooltip="計算年紀 ( 幾歲幾個月幾天 )"/>
              </a:rPr>
              <a:t>計算年紀 ( 幾歲幾個月幾天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8" tooltip="產生身分證字號 ( 隨機 )"/>
              </a:rPr>
              <a:t>產生身分證字號 ( 隨機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19" tooltip="檢查身分證字號"/>
              </a:rPr>
              <a:t>檢查身分證字號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0" tooltip="統一發票對獎"/>
              </a:rPr>
              <a:t>統一發票對獎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1" tooltip="羅馬數字轉換"/>
              </a:rPr>
              <a:t>羅馬數字轉換</a:t>
            </a:r>
            <a:endParaRPr lang="zh-TW" altLang="zh-TW" sz="1200" b="0" i="0" dirty="0">
              <a:solidFill>
                <a:srgbClr val="000000"/>
              </a:solidFill>
              <a:effectLst/>
              <a:latin typeface="inheri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D07E6A-83AE-EAA3-7BBC-09C565E45261}"/>
              </a:ext>
            </a:extLst>
          </p:cNvPr>
          <p:cNvSpPr txBox="1"/>
          <p:nvPr/>
        </p:nvSpPr>
        <p:spPr>
          <a:xfrm>
            <a:off x="3814917" y="332388"/>
            <a:ext cx="2802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Python 數學範例 </a:t>
            </a:r>
            <a:endParaRPr lang="zh-TW" altLang="zh-TW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BA90E21-2685-9533-83CE-3B03970B1452}"/>
              </a:ext>
            </a:extLst>
          </p:cNvPr>
          <p:cNvSpPr txBox="1"/>
          <p:nvPr/>
        </p:nvSpPr>
        <p:spPr>
          <a:xfrm>
            <a:off x="3814917" y="746824"/>
            <a:ext cx="30676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2" tooltip="兩個數字的四則運算"/>
              </a:rPr>
              <a:t>兩個數字的四則運算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3" tooltip="計算多個數字的總和"/>
              </a:rPr>
              <a:t>計算多個數字的總和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4" tooltip="費波那契數列 ( 費氏數列 )"/>
              </a:rPr>
              <a:t>費波那契數列 ( 費氏數列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5" tooltip="九九乘法表"/>
              </a:rPr>
              <a:t>九九乘法表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6" tooltip="質因數分解"/>
              </a:rPr>
              <a:t>質因數分解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7" tooltip="快速找出質數"/>
              </a:rPr>
              <a:t>快速找出質數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8" tooltip="最小公倍數 ( 多個數字 )"/>
              </a:rPr>
              <a:t>最小公倍數 ( 多個數字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29" tooltip="最大公因數 ( 多個數字 )"/>
              </a:rPr>
              <a:t>最大公因數 ( 多個數字 )</a:t>
            </a:r>
            <a:endParaRPr lang="zh-TW" altLang="zh-TW" sz="1200" b="0" i="0" dirty="0">
              <a:solidFill>
                <a:srgbClr val="000000"/>
              </a:solidFill>
              <a:effectLst/>
              <a:latin typeface="inheri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DB8E59-E57D-2B8A-605A-680C5E82BD8A}"/>
              </a:ext>
            </a:extLst>
          </p:cNvPr>
          <p:cNvSpPr txBox="1"/>
          <p:nvPr/>
        </p:nvSpPr>
        <p:spPr>
          <a:xfrm>
            <a:off x="3814917" y="3711560"/>
            <a:ext cx="2920181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0" tooltip="Python 網路爬蟲教學"/>
              </a:rPr>
              <a:t>Python 網路爬蟲教學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1" tooltip="LINE BOT 教學"/>
              </a:rPr>
              <a:t>LINE BOT 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2" tooltip="OpenCV 教學"/>
              </a:rPr>
              <a:t>OpenCV 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3" tooltip="AI 影像辨識教學"/>
              </a:rPr>
              <a:t>AI 影像辨識教學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4" tooltip="matplotlib 圖表教學"/>
              </a:rPr>
              <a:t>matplotlib 圖表教學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5" tooltip="NumPy 教學"/>
              </a:rPr>
              <a:t>NumPy 教學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6" tooltip="Tkinter 介面設計教學"/>
              </a:rPr>
              <a:t>Tkinter 介面設計教學</a:t>
            </a:r>
            <a:endParaRPr lang="en-US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endParaRPr lang="zh-TW" altLang="zh-TW" sz="1200" b="0" i="0" dirty="0">
              <a:solidFill>
                <a:srgbClr val="000000"/>
              </a:solidFill>
              <a:effectLst/>
              <a:latin typeface="inherit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C14E561-9E0B-B5C4-1555-66B51D320516}"/>
              </a:ext>
            </a:extLst>
          </p:cNvPr>
          <p:cNvSpPr txBox="1"/>
          <p:nvPr/>
        </p:nvSpPr>
        <p:spPr>
          <a:xfrm>
            <a:off x="3814917" y="3244334"/>
            <a:ext cx="2136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Python </a:t>
            </a:r>
            <a:r>
              <a:rPr lang="zh-TW" altLang="en-US" sz="1800" b="1" i="0" dirty="0">
                <a:solidFill>
                  <a:schemeClr val="tx1"/>
                </a:solidFill>
                <a:effectLst/>
                <a:latin typeface="+mn-lt"/>
              </a:rPr>
              <a:t>實用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範例 </a:t>
            </a:r>
            <a:endParaRPr lang="zh-TW" altLang="zh-TW" sz="1800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B126193-B7AA-C576-A113-A68D3832D67F}"/>
              </a:ext>
            </a:extLst>
          </p:cNvPr>
          <p:cNvSpPr txBox="1"/>
          <p:nvPr/>
        </p:nvSpPr>
        <p:spPr>
          <a:xfrm>
            <a:off x="7098890" y="693607"/>
            <a:ext cx="480797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7" tooltip="定時自動螢幕截圖"/>
              </a:rPr>
              <a:t>定時自動螢幕截圖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8" tooltip="定LINE Notify 傳送螢幕截圖"/>
              </a:rPr>
              <a:t>定LINE Notify 傳送螢幕截圖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39" tooltip="批次重新命名檔案"/>
              </a:rPr>
              <a:t>批次重新命名檔案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0" tooltip="讀取 PDF 內容"/>
              </a:rPr>
              <a:t>讀取 PDF 內容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1" tooltip="PDF 拆分、合併、插入、刪除、反轉"/>
              </a:rPr>
              <a:t>PDF 拆分、合併、插入、刪除、反轉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2" tooltip="讀取 EXCEL 內容"/>
              </a:rPr>
              <a:t>讀取 EXCEL 內容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3" tooltip="寫入資料到 EXCEL"/>
              </a:rPr>
              <a:t>寫入資料到 EXCEL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4" tooltip="CSV 寫入 EXCEL"/>
              </a:rPr>
              <a:t>CSV 寫入 EXCEL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5" tooltip="產生 QRCode ( 個性化 QRCode )"/>
              </a:rPr>
              <a:t>產生 QRCode ( 個性化 QRCode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6" tooltip="產生 BarCode ( 條碼 )"/>
              </a:rPr>
              <a:t>產生 BarCode ( 條碼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7" tooltip="讀取電腦資訊 ( 硬碟容量、CPU、RAM...等 )"/>
              </a:rPr>
              <a:t>讀取電腦資訊 ( 硬碟容量、CPU、RAM...等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8" tooltip="偵測電腦螢幕解析度 ( 長、寬 )"/>
              </a:rPr>
              <a:t>偵測電腦螢幕解析度 ( 長、寬 )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49" tooltip="查詢電腦對內與對外 IP"/>
              </a:rPr>
              <a:t>查詢電腦對內與對外 IP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hlinkClick r:id="rId50" tooltip="查詢網站 IP、ping IP"/>
              </a:rPr>
              <a:t>查詢網站 IP、ping IP</a:t>
            </a:r>
            <a:endParaRPr lang="zh-TW" altLang="zh-TW" sz="1200" b="0" i="0" dirty="0">
              <a:solidFill>
                <a:srgbClr val="000000"/>
              </a:solidFill>
              <a:effectLst/>
              <a:latin typeface="inherit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E747616-B3B7-9347-9C60-76735B38701B}"/>
              </a:ext>
            </a:extLst>
          </p:cNvPr>
          <p:cNvSpPr txBox="1"/>
          <p:nvPr/>
        </p:nvSpPr>
        <p:spPr>
          <a:xfrm>
            <a:off x="7098890" y="287283"/>
            <a:ext cx="4424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125"/>
              </a:spcAft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Python 實際應用 </a:t>
            </a:r>
            <a:endParaRPr lang="zh-TW" altLang="zh-TW" b="1" i="0" dirty="0">
              <a:solidFill>
                <a:srgbClr val="000000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81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9720D9C-B7CF-4FDE-AE1F-F4323EAA777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000–010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B1FB4B-B91B-4859-9363-1C28826F5702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E4B4B7-1E07-4575-AF07-BD4BEEC62B8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4A81C9-83ED-43FB-A0C7-1EEB35D8D8F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程式是明確且有順序的指令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7C386E-424A-401A-821A-AC79BF7171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C0A4C9B-8E40-42FD-9173-08577E23AE45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本週成果是一張可重算的訂單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E3D2F-2C66-439D-A4D8-8D237491467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B83D37-0E00-4B31-A39A-A098D2F79D65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先預測，再執行，再解釋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F9CFE4-F0E1-4C81-B2F1-212C74DDFD0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24511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B0A7FDA-CEE1-43EA-B202-D21CFFE86BA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52C0C4-BC93-4423-8978-18AE3875096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F5A1BA-742C-4CC6-937E-5B397F7EDC1B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兩人一組，用三句話說明買飲料的輸入、處理與輸出。每人打開本週實作檔。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0E6EC6-1672-43C3-9950-1C7912D5C6D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A5DA5-E00A-45A5-93B5-716ADF28E36B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輸入：單價35、杯數3；處理：35乘3；輸出：105元。</a:t>
            </a:r>
          </a:p>
        </p:txBody>
      </p:sp>
    </p:spTree>
    <p:extLst>
      <p:ext uri="{BB962C8B-B14F-4D97-AF65-F5344CB8AC3E}">
        <p14:creationId xmlns:p14="http://schemas.microsoft.com/office/powerpoint/2010/main" val="279715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E4B0017-0406-4C1F-8D21-B26838CACFF1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DD8C0A2-A391-4C40-B084-8C9873522898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CH01PPT.ppt 第 12 頁</a:t>
            </a:r>
          </a:p>
        </p:txBody>
      </p:sp>
    </p:spTree>
    <p:extLst>
      <p:ext uri="{BB962C8B-B14F-4D97-AF65-F5344CB8AC3E}">
        <p14:creationId xmlns:p14="http://schemas.microsoft.com/office/powerpoint/2010/main" val="1183431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A1B8C-6F99-D7FC-BFC5-2093C3C3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B8B733E-6CBB-5C30-1B41-9313EB736303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A93693-D0BB-8788-911F-D0D5D15ED99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</a:t>
            </a:r>
            <a:r>
              <a:rPr lang="en-US"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PPT.ppt 第 2 頁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A019582-1532-8458-0136-0920D958D9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0"/>
          <a:stretch>
            <a:fillRect/>
          </a:stretch>
        </p:blipFill>
        <p:spPr>
          <a:xfrm>
            <a:off x="2298353" y="542925"/>
            <a:ext cx="8195902" cy="615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69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7BF7A13-F549-4B29-B98E-52AFB00D74A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010–025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6727C0-7F4D-4D4D-93C5-E3F8263E9FD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45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3B45C2-EC3F-4D69-AB1B-4791BEDE74F9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7A8F9C-3EF4-4A33-A92C-34B1C0747D9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文字格放說明，程式格放 Python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66ED31-D404-4116-9FCD-755D11979F52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C4F4A6-C3C5-4BAE-84A8-378EB7165196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Shift+Enter 執行並移到下一格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D63859-BBA3-4BF5-9258-0E2F13BA3428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B2700B-5EFA-4124-85F3-12C4FDE686F9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儲存檔案與核心記憶是不同的事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C5FFEB-709E-4E26-A599-96D98B20AC63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875A8E9-4982-EF99-7CD3-90131B7F5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484736"/>
            <a:ext cx="5509046" cy="294426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3FB91C7-7123-B947-2693-507D6A240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28" y="3429000"/>
            <a:ext cx="5509047" cy="32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291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B3647EC-BB34-43F6-B4D6-0FCBCDA2AAF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674657-9788-4D8A-ABDA-B1866EF9B7A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2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3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30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6865639-0ECC-47AB-BD6B-968D44C764A3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print("你好，Python！")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print("今天開始學寫程式")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046B0D-5B4E-4FD1-B48D-3F696FB3A219}"/>
              </a:ext>
            </a:extLst>
          </p:cNvPr>
          <p:cNvSpPr>
            <a:spLocks noGrp="1"/>
          </p:cNvSpPr>
          <p:nvPr/>
        </p:nvSpPr>
        <p:spPr>
          <a:xfrm>
            <a:off x="685801" y="5095875"/>
            <a:ext cx="4200832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 err="1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執行示範，修改問候語並儲存。請同桌指出程式格與輸出區的差別</a:t>
            </a: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AD56C5-4C3F-4BF2-A0A6-1FB4CDC6589A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W1-02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C23B93D-40B4-45EF-DF50-016F57324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633" y="1895475"/>
            <a:ext cx="7011008" cy="405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669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D6CBBCDE-93DD-4F7B-86D1-4021A812BD2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025–045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06EFB8-736A-4E51-B4E8-7625774334AB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D77A46-1140-4ED5-BA45-3AA13BDC280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93E969-B6F5-4E5B-8692-832DE23B3537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字串要加引號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284C54-EC35-4F42-8D0E-03F3B12568A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21D8B48-499D-467B-9313-AEBD53BFE6C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數值可直接運算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423FBB5-8E54-4C01-B20D-0624BF8A7002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95BB51-9006-4535-AA62-80337660DC7D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print 可以輸出多個值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678383-8BCF-4C8A-8A73-6DDE86731E3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053236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D035277-FCBB-4DD2-A19F-064BE71D705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ED86ED-937C-4A26-8D23-3D2043BCD58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CA5488-91DD-41CB-AE8F-DF5F1058E6E2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print(2 + 3)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print("2 + 3")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print("飲料", 35)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5A6EEC-D4B2-4E4E-86F9-C432C4ACDF5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先寫預測，再執行。新增一行，同時輸出商品名稱與數值35。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44D0F1-C528-44CD-AD7B-67767EB6CBF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W1-03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A693A47-D81C-D4E1-AA5D-CFE97620D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717" y="1290637"/>
            <a:ext cx="6325148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97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7EE905-8D2F-A25C-31C4-E4263F71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5D6C3168-565C-C6BA-4873-CE80762B851A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>
                <a:solidFill>
                  <a:srgbClr val="0000FF"/>
                </a:solidFill>
              </a:rPr>
              <a:t>Python</a:t>
            </a:r>
            <a:r>
              <a:rPr lang="zh-TW" altLang="en-US" kern="0" dirty="0">
                <a:solidFill>
                  <a:srgbClr val="0000FF"/>
                </a:solidFill>
              </a:rPr>
              <a:t>文字值</a:t>
            </a:r>
            <a:endParaRPr lang="zh-TW" altLang="en-US" kern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4A442F6-A66C-351B-6ED8-1AE14D3CB059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>
                <a:solidFill>
                  <a:srgbClr val="0000FF"/>
                </a:solidFill>
              </a:rPr>
              <a:t>字串文字值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數值文字值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布林文字值</a:t>
            </a:r>
          </a:p>
        </p:txBody>
      </p:sp>
    </p:spTree>
    <p:extLst>
      <p:ext uri="{BB962C8B-B14F-4D97-AF65-F5344CB8AC3E}">
        <p14:creationId xmlns:p14="http://schemas.microsoft.com/office/powerpoint/2010/main" val="3816016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C8BA6349-37EB-4720-2324-DEF968186561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60801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文字值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7E4947C-4106-D9FF-7D3A-D55B265F1B8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93357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文字值（</a:t>
            </a:r>
            <a:r>
              <a:rPr lang="en-US" altLang="zh-TW" kern="0"/>
              <a:t>Literals</a:t>
            </a:r>
            <a:r>
              <a:rPr lang="zh-TW" altLang="en-US" kern="0"/>
              <a:t>、也稱字面值）或稱常數值（</a:t>
            </a:r>
            <a:r>
              <a:rPr lang="en-US" altLang="zh-TW" kern="0"/>
              <a:t>Constants</a:t>
            </a:r>
            <a:r>
              <a:rPr lang="zh-TW" altLang="en-US" kern="0"/>
              <a:t>），這是一種文字表面顯示的值，即撰寫程式碼時直接使用鍵盤輸入的值。在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ch2-2-2.py</a:t>
            </a:r>
            <a:r>
              <a:rPr lang="zh-TW" altLang="en-US" kern="0"/>
              <a:t>輸出的整數</a:t>
            </a:r>
            <a:r>
              <a:rPr lang="en-US" altLang="zh-TW" kern="0"/>
              <a:t>100</a:t>
            </a:r>
            <a:r>
              <a:rPr lang="zh-TW" altLang="en-US" kern="0"/>
              <a:t>、浮點數</a:t>
            </a:r>
            <a:r>
              <a:rPr lang="en-US" altLang="zh-TW" kern="0"/>
              <a:t>123.5</a:t>
            </a:r>
            <a:r>
              <a:rPr lang="zh-TW" altLang="en-US" kern="0"/>
              <a:t>和字串</a:t>
            </a:r>
            <a:r>
              <a:rPr lang="en-US" altLang="zh-TW" kern="0"/>
              <a:t>"</a:t>
            </a:r>
            <a:r>
              <a:rPr lang="zh-TW" altLang="en-US" kern="0"/>
              <a:t>陳會安</a:t>
            </a:r>
            <a:r>
              <a:rPr lang="en-US" altLang="zh-TW" kern="0"/>
              <a:t>"</a:t>
            </a:r>
            <a:r>
              <a:rPr lang="zh-TW" altLang="en-US" kern="0"/>
              <a:t>等，都是文字值，如下圖所示：</a:t>
            </a:r>
            <a:endParaRPr lang="zh-TW" altLang="en-US" kern="0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1447DEDE-24DD-0FEE-FACB-F7DE34E20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612" y="4049713"/>
            <a:ext cx="6969125" cy="2160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89618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A632CE2-CA9A-12B1-7856-0522FAC85266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571654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r>
              <a:rPr lang="en-US" altLang="zh-TW" kern="0" dirty="0"/>
              <a:t>-</a:t>
            </a:r>
            <a:r>
              <a:rPr lang="zh-TW" altLang="en-US" kern="0" dirty="0"/>
              <a:t>說明</a:t>
            </a:r>
            <a:endParaRPr lang="en-US" altLang="zh-TW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60E8AD16-3B19-1EC5-31E7-740558230AC9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1757516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字串文字值（</a:t>
            </a:r>
            <a:r>
              <a:rPr lang="en-US" altLang="zh-TW" kern="0"/>
              <a:t>String Literals</a:t>
            </a:r>
            <a:r>
              <a:rPr lang="zh-TW" altLang="en-US" kern="0"/>
              <a:t>）就是字串，字串是</a:t>
            </a:r>
            <a:r>
              <a:rPr lang="en-US" altLang="zh-TW" kern="0"/>
              <a:t>0</a:t>
            </a:r>
            <a:r>
              <a:rPr lang="zh-TW" altLang="en-US" kern="0"/>
              <a:t>或多個使用「</a:t>
            </a:r>
            <a:r>
              <a:rPr lang="en-US" altLang="zh-TW" kern="0"/>
              <a:t>'</a:t>
            </a:r>
            <a:r>
              <a:rPr lang="zh-TW" altLang="en-US" kern="0"/>
              <a:t>」單引號或「</a:t>
            </a:r>
            <a:r>
              <a:rPr lang="en-US" altLang="zh-TW" kern="0"/>
              <a:t>"</a:t>
            </a:r>
            <a:r>
              <a:rPr lang="zh-TW" altLang="en-US" kern="0"/>
              <a:t>」雙引號括起的一序列</a:t>
            </a:r>
            <a:r>
              <a:rPr lang="en-US" altLang="zh-TW" kern="0"/>
              <a:t>Unicode</a:t>
            </a:r>
            <a:r>
              <a:rPr lang="zh-TW" altLang="en-US" kern="0"/>
              <a:t>字元，如下所示：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"</a:t>
            </a:r>
            <a:r>
              <a:rPr lang="zh-TW" altLang="en-US" kern="0">
                <a:solidFill>
                  <a:srgbClr val="FF3399"/>
                </a:solidFill>
              </a:rPr>
              <a:t>學習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語言程式設計</a:t>
            </a:r>
            <a:r>
              <a:rPr lang="en-US" altLang="zh-TW" kern="0">
                <a:solidFill>
                  <a:srgbClr val="FF3399"/>
                </a:solidFill>
              </a:rPr>
              <a:t>"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'Hello World!'</a:t>
            </a:r>
          </a:p>
          <a:p>
            <a:endParaRPr lang="zh-TW" altLang="en-US" kern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F22AED8-AABC-31CB-0AAC-880CACE9B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7096" y="4091141"/>
            <a:ext cx="5651500" cy="215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89598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4E7F9D54-5E1B-F352-E15B-893D6369442A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34551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en-US" altLang="zh-TW" sz="2800" kern="0" dirty="0">
                <a:ea typeface="新細明體" panose="02020500000000000000" pitchFamily="18" charset="-120"/>
              </a:rPr>
              <a:t>Escape</a:t>
            </a:r>
            <a:r>
              <a:rPr lang="zh-TW" altLang="en-US" sz="2800" kern="0" dirty="0">
                <a:ea typeface="新細明體" panose="02020500000000000000" pitchFamily="18" charset="-120"/>
              </a:rPr>
              <a:t>逸出字元（</a:t>
            </a:r>
            <a:r>
              <a:rPr lang="en-US" altLang="zh-TW" sz="2800" kern="0" dirty="0">
                <a:ea typeface="新細明體" panose="02020500000000000000" pitchFamily="18" charset="-120"/>
              </a:rPr>
              <a:t>Escape Characters</a:t>
            </a:r>
            <a:r>
              <a:rPr lang="zh-TW" altLang="en-US" sz="2800" kern="0" dirty="0">
                <a:ea typeface="新細明體" panose="02020500000000000000" pitchFamily="18" charset="-120"/>
              </a:rPr>
              <a:t>）</a:t>
            </a:r>
            <a:endParaRPr lang="zh-TW" altLang="en-US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32BE3DCE-0B33-1CA4-2B22-E8EEC9038401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1531374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提供</a:t>
            </a:r>
            <a:r>
              <a:rPr lang="en-US" altLang="zh-TW" kern="0"/>
              <a:t>Escape</a:t>
            </a:r>
            <a:r>
              <a:rPr lang="zh-TW" altLang="en-US" kern="0"/>
              <a:t>逸出字元來輸入特殊字元，這是一些使用「</a:t>
            </a:r>
            <a:r>
              <a:rPr lang="en-US" altLang="zh-TW" kern="0"/>
              <a:t>\</a:t>
            </a:r>
            <a:r>
              <a:rPr lang="zh-TW" altLang="en-US" kern="0"/>
              <a:t>」符號開頭的字元，如下表所示：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B10B0A4-AD23-1015-1BA1-C3948A5C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668646"/>
              </p:ext>
            </p:extLst>
          </p:nvPr>
        </p:nvGraphicFramePr>
        <p:xfrm>
          <a:off x="2459831" y="2510396"/>
          <a:ext cx="7272338" cy="4002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65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6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19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Escape</a:t>
                      </a: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逸出字元</a:t>
                      </a: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\b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\f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Form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換頁字元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Line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）換行或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NL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New Line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）新行字元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\r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Carriage Return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Enter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\t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定位字元，即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Tab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\'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'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」單引號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\"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"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」雙引號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\\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」符號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228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AF6395-2C44-D941-3B09-780533CCBB96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zh-TW" altLang="en-US" sz="2800" kern="0" dirty="0"/>
              <a:t>使用八進位和十六進位值表示</a:t>
            </a:r>
            <a:r>
              <a:rPr lang="en-US" altLang="zh-TW" sz="2800" kern="0" dirty="0"/>
              <a:t>ASCII</a:t>
            </a:r>
            <a:r>
              <a:rPr lang="zh-TW" altLang="en-US" sz="2800" kern="0" dirty="0"/>
              <a:t>字元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26527B-1CDE-1BF4-C2A3-7EF89EFEFB1D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ASCII</a:t>
            </a:r>
            <a:r>
              <a:rPr lang="zh-TW" altLang="en-US" kern="0"/>
              <a:t>字元也可以使用</a:t>
            </a:r>
            <a:r>
              <a:rPr lang="en-US" altLang="zh-TW" kern="0"/>
              <a:t>Escape</a:t>
            </a:r>
            <a:r>
              <a:rPr lang="zh-TW" altLang="en-US" kern="0"/>
              <a:t>逸出字元來表示，即「</a:t>
            </a:r>
            <a:r>
              <a:rPr lang="en-US" altLang="zh-TW" kern="0"/>
              <a:t>\x</a:t>
            </a:r>
            <a:r>
              <a:rPr lang="zh-TW" altLang="en-US" kern="0"/>
              <a:t>」字串開頭的</a:t>
            </a:r>
            <a:r>
              <a:rPr lang="en-US" altLang="zh-TW" kern="0"/>
              <a:t>2</a:t>
            </a:r>
            <a:r>
              <a:rPr lang="zh-TW" altLang="en-US" kern="0"/>
              <a:t>個十六進位數字或「</a:t>
            </a:r>
            <a:r>
              <a:rPr lang="en-US" altLang="zh-TW" kern="0"/>
              <a:t>\</a:t>
            </a:r>
            <a:r>
              <a:rPr lang="zh-TW" altLang="en-US" kern="0"/>
              <a:t>」字串開頭</a:t>
            </a:r>
            <a:r>
              <a:rPr lang="en-US" altLang="zh-TW" kern="0"/>
              <a:t>3</a:t>
            </a:r>
            <a:r>
              <a:rPr lang="zh-TW" altLang="en-US" kern="0"/>
              <a:t>個八進位數字來表示</a:t>
            </a:r>
            <a:r>
              <a:rPr lang="en-US" altLang="zh-TW" kern="0"/>
              <a:t>ASCII</a:t>
            </a:r>
            <a:r>
              <a:rPr lang="zh-TW" altLang="en-US" kern="0"/>
              <a:t>字元碼，如下所示：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'\x61'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'\101'</a:t>
            </a:r>
          </a:p>
          <a:p>
            <a:r>
              <a:rPr lang="zh-TW" altLang="en-US" kern="0"/>
              <a:t>上述表示法，筆者整理如下表所示：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8260E8E-5E64-66B7-5D5B-811C60520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02541"/>
              </p:ext>
            </p:extLst>
          </p:nvPr>
        </p:nvGraphicFramePr>
        <p:xfrm>
          <a:off x="2243930" y="4285456"/>
          <a:ext cx="7704137" cy="19446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6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7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ASCII</a:t>
                      </a: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字元碼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是八進位值的字元常數，例如：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\040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是十六進位值的字元常數，例如：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\x20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4005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2905-4E5C-1D11-E13F-AA470700724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整數文字值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378345-5DDB-4C0F-FA92-EB388B7274B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整數文字值是指資料是整數值，沒有小數點，其資料長度可以是任何長度，視記憶體空間而定。例如：一些整數文字值的範例，如下所示：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1    100    122     56789</a:t>
            </a:r>
          </a:p>
          <a:p>
            <a:r>
              <a:rPr lang="zh-TW" altLang="en-US" kern="0"/>
              <a:t>上述整數值是</a:t>
            </a:r>
            <a:r>
              <a:rPr lang="en-US" altLang="zh-TW" kern="0"/>
              <a:t>10</a:t>
            </a:r>
            <a:r>
              <a:rPr lang="zh-TW" altLang="en-US" kern="0"/>
              <a:t>進位值，也是我們習慣使用的數字系統，</a:t>
            </a:r>
            <a:r>
              <a:rPr lang="en-US" altLang="zh-TW" kern="0"/>
              <a:t>Python</a:t>
            </a:r>
            <a:r>
              <a:rPr lang="zh-TW" altLang="en-US" kern="0"/>
              <a:t>語言支援二進位、八進位和十六進位的數字系統，此時的數值需要加上數字系統的字首（十進位並不需要），如下表所示：</a:t>
            </a:r>
          </a:p>
          <a:p>
            <a:endParaRPr lang="zh-TW" altLang="en-US" kern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7B27A2C-34ED-3A79-E137-194618AA3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764" y="4878228"/>
            <a:ext cx="7370703" cy="182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255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76F9E-8761-A1CC-78F0-654C0CCF247F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浮點數文字值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EA9CF1-0D75-C9EF-06BE-25E0E944B56E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浮點數文字值是指數值資料是整數加上小數，其精確度可以到小數點下</a:t>
            </a:r>
            <a:r>
              <a:rPr lang="en-US" altLang="zh-TW" kern="0"/>
              <a:t>15</a:t>
            </a:r>
            <a:r>
              <a:rPr lang="zh-TW" altLang="en-US" kern="0"/>
              <a:t>位，基本上，整數和浮點數的差異就是小數點，</a:t>
            </a:r>
            <a:r>
              <a:rPr lang="en-US" altLang="zh-TW" kern="0"/>
              <a:t>5</a:t>
            </a:r>
            <a:r>
              <a:rPr lang="zh-TW" altLang="en-US" kern="0"/>
              <a:t>是整數；</a:t>
            </a:r>
            <a:r>
              <a:rPr lang="en-US" altLang="zh-TW" kern="0"/>
              <a:t>5.0</a:t>
            </a:r>
            <a:r>
              <a:rPr lang="zh-TW" altLang="en-US" kern="0"/>
              <a:t>是浮點數，例如：一些浮點數文字值的範例（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ch2-5-2a.py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1.0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55.22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455330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93237C-F954-ED3E-B919-6438A52468BF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441787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布林文字值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A3CA015-1B9C-0E8E-25FA-B9899F5AC7FD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1767349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語言的布林（</a:t>
            </a:r>
            <a:r>
              <a:rPr lang="en-US" altLang="zh-TW" kern="0"/>
              <a:t>Boolean</a:t>
            </a:r>
            <a:r>
              <a:rPr lang="zh-TW" altLang="en-US" kern="0"/>
              <a:t>）文字值是使用</a:t>
            </a:r>
            <a:r>
              <a:rPr lang="en-US" altLang="zh-TW" kern="0"/>
              <a:t>True</a:t>
            </a:r>
            <a:r>
              <a:rPr lang="zh-TW" altLang="en-US" kern="0"/>
              <a:t>和</a:t>
            </a:r>
            <a:r>
              <a:rPr lang="en-US" altLang="zh-TW" kern="0"/>
              <a:t>False</a:t>
            </a:r>
            <a:r>
              <a:rPr lang="zh-TW" altLang="en-US" kern="0"/>
              <a:t>關鍵字來表示（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ch2-5-3.py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True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False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1279089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8FE4DE-F9B6-2C5A-D5F8-DD4507ED2960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5141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72FA060-5F97-84A6-D35E-81949C9F8B89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570703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defRPr/>
            </a:pPr>
            <a:r>
              <a:rPr lang="en-US" altLang="zh-TW" kern="0"/>
              <a:t>Python</a:t>
            </a:r>
            <a:r>
              <a:rPr lang="zh-TW" altLang="en-US" kern="0"/>
              <a:t>程式是使用程式敘述（</a:t>
            </a:r>
            <a:r>
              <a:rPr lang="en-US" altLang="zh-TW" kern="0"/>
              <a:t>Statements</a:t>
            </a:r>
            <a:r>
              <a:rPr lang="zh-TW" altLang="en-US" kern="0"/>
              <a:t>）所組成，一行程式敘述如同英文的一個句子，內含多個運算式、運算子或關鍵字，這就是</a:t>
            </a:r>
            <a:r>
              <a:rPr lang="en-US" altLang="zh-TW" kern="0"/>
              <a:t>Python</a:t>
            </a:r>
            <a:r>
              <a:rPr lang="zh-TW" altLang="en-US" kern="0"/>
              <a:t>直譯器可以執行的程式碼。</a:t>
            </a:r>
          </a:p>
          <a:p>
            <a:pPr marL="0" indent="0">
              <a:buFontTx/>
              <a:buNone/>
              <a:defRPr/>
            </a:pPr>
            <a:r>
              <a:rPr lang="zh-TW" altLang="en-US" u="sng" kern="0"/>
              <a:t>程式敘述的範例</a:t>
            </a:r>
          </a:p>
          <a:p>
            <a:pPr>
              <a:defRPr/>
            </a:pPr>
            <a:r>
              <a:rPr lang="zh-TW" altLang="en-US" kern="0"/>
              <a:t>一些</a:t>
            </a:r>
            <a:r>
              <a:rPr lang="en-US" altLang="zh-TW" kern="0"/>
              <a:t>Python</a:t>
            </a:r>
            <a:r>
              <a:rPr lang="zh-TW" altLang="en-US" kern="0"/>
              <a:t>程式敘述的範例，如下所示：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c = 2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a = b * c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print("</a:t>
            </a:r>
            <a:r>
              <a:rPr lang="zh-TW" altLang="en-US" kern="0">
                <a:solidFill>
                  <a:srgbClr val="FF3399"/>
                </a:solidFill>
              </a:rPr>
              <a:t>第一個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程式</a:t>
            </a:r>
            <a:r>
              <a:rPr lang="en-US" altLang="zh-TW" kern="0">
                <a:solidFill>
                  <a:srgbClr val="FF3399"/>
                </a:solidFill>
              </a:rPr>
              <a:t>")</a:t>
            </a:r>
          </a:p>
          <a:p>
            <a:pPr>
              <a:defRPr/>
            </a:pPr>
            <a:r>
              <a:rPr lang="zh-TW" altLang="en-US" kern="0"/>
              <a:t>上述第</a:t>
            </a:r>
            <a:r>
              <a:rPr lang="en-US" altLang="zh-TW" kern="0"/>
              <a:t>1</a:t>
            </a:r>
            <a:r>
              <a:rPr lang="zh-TW" altLang="en-US" kern="0"/>
              <a:t>行和第</a:t>
            </a:r>
            <a:r>
              <a:rPr lang="en-US" altLang="zh-TW" kern="0"/>
              <a:t>2</a:t>
            </a:r>
            <a:r>
              <a:rPr lang="zh-TW" altLang="en-US" kern="0"/>
              <a:t>行程式碼是指定變數初值，第</a:t>
            </a:r>
            <a:r>
              <a:rPr lang="en-US" altLang="zh-TW" kern="0"/>
              <a:t>3</a:t>
            </a:r>
            <a:r>
              <a:rPr lang="zh-TW" altLang="en-US" kern="0"/>
              <a:t>行是指定敘述的運算式，第</a:t>
            </a:r>
            <a:r>
              <a:rPr lang="en-US" altLang="zh-TW" kern="0"/>
              <a:t>4</a:t>
            </a:r>
            <a:r>
              <a:rPr lang="zh-TW" altLang="en-US" kern="0"/>
              <a:t>行是呼叫</a:t>
            </a:r>
            <a:r>
              <a:rPr lang="en-US" altLang="zh-TW" kern="0"/>
              <a:t>print()</a:t>
            </a:r>
            <a:r>
              <a:rPr lang="zh-TW" altLang="en-US" kern="0"/>
              <a:t>函數。</a:t>
            </a:r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4126847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88425B2F-3E8D-2F81-0CCC-3290BE268DDD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1" y="123640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FontTx/>
              <a:buNone/>
              <a:defRPr/>
            </a:pPr>
            <a:r>
              <a:rPr lang="zh-TW" altLang="en-US" u="sng" kern="0"/>
              <a:t>「</a:t>
            </a:r>
            <a:r>
              <a:rPr lang="en-US" altLang="zh-TW" u="sng" kern="0"/>
              <a:t>;</a:t>
            </a:r>
            <a:r>
              <a:rPr lang="zh-TW" altLang="en-US" u="sng" kern="0"/>
              <a:t>」分號</a:t>
            </a:r>
          </a:p>
          <a:p>
            <a:pPr>
              <a:defRPr/>
            </a:pPr>
            <a:r>
              <a:rPr lang="zh-TW" altLang="en-US" kern="0"/>
              <a:t>大部分程式語言：</a:t>
            </a:r>
            <a:r>
              <a:rPr lang="en-US" altLang="zh-TW" kern="0"/>
              <a:t>C/C++</a:t>
            </a:r>
            <a:r>
              <a:rPr lang="zh-TW" altLang="en-US" kern="0"/>
              <a:t>、</a:t>
            </a:r>
            <a:r>
              <a:rPr lang="en-US" altLang="zh-TW" kern="0"/>
              <a:t>Java</a:t>
            </a:r>
            <a:r>
              <a:rPr lang="zh-TW" altLang="en-US" kern="0"/>
              <a:t>和</a:t>
            </a:r>
            <a:r>
              <a:rPr lang="en-US" altLang="zh-TW" kern="0"/>
              <a:t>C#</a:t>
            </a:r>
            <a:r>
              <a:rPr lang="zh-TW" altLang="en-US" kern="0"/>
              <a:t>等語言的「</a:t>
            </a:r>
            <a:r>
              <a:rPr lang="en-US" altLang="zh-TW" kern="0"/>
              <a:t>;</a:t>
            </a:r>
            <a:r>
              <a:rPr lang="zh-TW" altLang="en-US" kern="0"/>
              <a:t>」分號代表程式敘述的結束，告訴直譯器</a:t>
            </a:r>
            <a:r>
              <a:rPr lang="en-US" altLang="zh-TW" kern="0"/>
              <a:t>/</a:t>
            </a:r>
            <a:r>
              <a:rPr lang="zh-TW" altLang="en-US" kern="0"/>
              <a:t>編譯器已經到達程式敘述的最後，請注意！</a:t>
            </a:r>
            <a:r>
              <a:rPr lang="en-US" altLang="zh-TW" kern="0"/>
              <a:t>Python</a:t>
            </a:r>
            <a:r>
              <a:rPr lang="zh-TW" altLang="en-US" kern="0"/>
              <a:t>語言並不需要在程式敘述最後加上「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」分號，如果習慣在程式敘述最後加上「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」分號，也不會有錯誤，如下所示：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d = 5;</a:t>
            </a:r>
          </a:p>
          <a:p>
            <a:pPr>
              <a:defRPr/>
            </a:pPr>
            <a:r>
              <a:rPr lang="zh-TW" altLang="en-US" kern="0"/>
              <a:t>在</a:t>
            </a:r>
            <a:r>
              <a:rPr lang="en-US" altLang="zh-TW" kern="0"/>
              <a:t>Python</a:t>
            </a:r>
            <a:r>
              <a:rPr lang="zh-TW" altLang="en-US" kern="0"/>
              <a:t>語言使用「</a:t>
            </a:r>
            <a:r>
              <a:rPr lang="en-US" altLang="zh-TW" kern="0"/>
              <a:t>;</a:t>
            </a:r>
            <a:r>
              <a:rPr lang="zh-TW" altLang="en-US" kern="0"/>
              <a:t>」分號的主要目的是在同一行程式碼撰寫多個程式敘述，如下所示：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10; c = 4; a = b * c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B6595B-1C2B-0232-0BDC-3E93A2DE5971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0" y="264806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</p:spTree>
    <p:extLst>
      <p:ext uri="{BB962C8B-B14F-4D97-AF65-F5344CB8AC3E}">
        <p14:creationId xmlns:p14="http://schemas.microsoft.com/office/powerpoint/2010/main" val="1031146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BEC0354C-F943-2C18-39FB-3FBF65686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程式區塊（</a:t>
            </a:r>
            <a:r>
              <a:rPr lang="en-US" altLang="zh-TW" kern="0" dirty="0"/>
              <a:t>Blocks</a:t>
            </a:r>
            <a:r>
              <a:rPr lang="zh-TW" altLang="en-US" kern="0" dirty="0"/>
              <a:t>）是由多個程式敘述所組成，大部分程式語言是使用</a:t>
            </a:r>
            <a:r>
              <a:rPr lang="en-US" altLang="zh-TW" kern="0" dirty="0"/>
              <a:t>"{"</a:t>
            </a:r>
            <a:r>
              <a:rPr lang="zh-TW" altLang="en-US" kern="0" dirty="0"/>
              <a:t>和</a:t>
            </a:r>
            <a:r>
              <a:rPr lang="en-US" altLang="zh-TW" kern="0" dirty="0"/>
              <a:t>"}"</a:t>
            </a:r>
            <a:r>
              <a:rPr lang="zh-TW" altLang="en-US" kern="0" dirty="0"/>
              <a:t>大括號（</a:t>
            </a:r>
            <a:r>
              <a:rPr lang="en-US" altLang="zh-TW" kern="0" dirty="0"/>
              <a:t>Braces</a:t>
            </a:r>
            <a:r>
              <a:rPr lang="zh-TW" altLang="en-US" kern="0" dirty="0"/>
              <a:t>）包圍來建立程式區塊。</a:t>
            </a:r>
            <a:r>
              <a:rPr lang="en-US" altLang="zh-TW" kern="0" dirty="0"/>
              <a:t>Python</a:t>
            </a:r>
            <a:r>
              <a:rPr lang="zh-TW" altLang="en-US" kern="0" dirty="0"/>
              <a:t>語言的程式區塊是使用縮排，當多行程式敘述擁有相同數量的空白字元縮排時，就屬於同一個程式區塊，通常是使用「</a:t>
            </a:r>
            <a:r>
              <a:rPr lang="en-US" altLang="zh-TW" kern="0" dirty="0"/>
              <a:t>4</a:t>
            </a:r>
            <a:r>
              <a:rPr lang="zh-TW" altLang="en-US" kern="0" dirty="0"/>
              <a:t>」個空白字元或</a:t>
            </a:r>
            <a:r>
              <a:rPr lang="en-US" altLang="zh-TW" kern="0" dirty="0"/>
              <a:t>1</a:t>
            </a:r>
            <a:r>
              <a:rPr lang="zh-TW" altLang="en-US" kern="0" dirty="0"/>
              <a:t>個</a:t>
            </a:r>
            <a:r>
              <a:rPr lang="en-US" altLang="zh-TW" kern="0" dirty="0"/>
              <a:t>Tab</a:t>
            </a:r>
            <a:r>
              <a:rPr lang="zh-TW" altLang="en-US" kern="0" dirty="0"/>
              <a:t>鍵。</a:t>
            </a:r>
          </a:p>
          <a:p>
            <a:r>
              <a:rPr lang="en-US" altLang="zh-TW" kern="0" dirty="0"/>
              <a:t>Python</a:t>
            </a:r>
            <a:r>
              <a:rPr lang="zh-TW" altLang="en-US" kern="0" dirty="0"/>
              <a:t>程式區塊是從第</a:t>
            </a:r>
            <a:r>
              <a:rPr lang="en-US" altLang="zh-TW" kern="0" dirty="0"/>
              <a:t>1</a:t>
            </a:r>
            <a:r>
              <a:rPr lang="zh-TW" altLang="en-US" kern="0" dirty="0"/>
              <a:t>個縮排的程式敘述開始，到第</a:t>
            </a:r>
            <a:r>
              <a:rPr lang="en-US" altLang="zh-TW" kern="0" dirty="0"/>
              <a:t>1</a:t>
            </a:r>
            <a:r>
              <a:rPr lang="zh-TW" altLang="en-US" kern="0" dirty="0"/>
              <a:t>個沒有縮排的程式敘述的前一行為止，如下所示：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for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in range(1, 11):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print(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)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if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== 5 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    break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迴圈結束</a:t>
            </a:r>
            <a:r>
              <a:rPr lang="en-US" altLang="zh-TW" kern="0" dirty="0">
                <a:solidFill>
                  <a:srgbClr val="FF3399"/>
                </a:solidFill>
              </a:rPr>
              <a:t>")</a:t>
            </a:r>
          </a:p>
          <a:p>
            <a:endParaRPr lang="zh-TW" altLang="en-US" kern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01A792-5A69-D1BA-F954-3055AB3BA2B2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2120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程式區塊</a:t>
            </a:r>
          </a:p>
        </p:txBody>
      </p:sp>
    </p:spTree>
    <p:extLst>
      <p:ext uri="{BB962C8B-B14F-4D97-AF65-F5344CB8AC3E}">
        <p14:creationId xmlns:p14="http://schemas.microsoft.com/office/powerpoint/2010/main" val="1339739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F8E6A6C-0A5B-56E9-6260-72C03F46BEFE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5405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程式註解</a:t>
            </a:r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8B62FA87-C3E9-3564-BBB9-B2F1C8C2F3E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程式註解（</a:t>
            </a:r>
            <a:r>
              <a:rPr lang="en-US" altLang="zh-TW" kern="0" dirty="0"/>
              <a:t>Comments</a:t>
            </a:r>
            <a:r>
              <a:rPr lang="zh-TW" altLang="en-US" kern="0" dirty="0"/>
              <a:t>）是程式中十分重要的部分，可以提供程式內容的進一步說明，良好的註解文字不但能夠了解程式目的，並且在程式維護上，也可以提供更多的資訊。</a:t>
            </a:r>
          </a:p>
          <a:p>
            <a:r>
              <a:rPr lang="zh-TW" altLang="en-US" kern="0" dirty="0"/>
              <a:t>基本上，程式註解是給程式設計者閱讀的內容，</a:t>
            </a:r>
            <a:r>
              <a:rPr lang="en-US" altLang="zh-TW" kern="0" dirty="0"/>
              <a:t>Python</a:t>
            </a:r>
            <a:r>
              <a:rPr lang="zh-TW" altLang="en-US" kern="0" dirty="0"/>
              <a:t>直譯器在直譯原始程式碼時會忽略註解文字和多餘的空白字元。</a:t>
            </a:r>
          </a:p>
          <a:p>
            <a:endParaRPr lang="zh-TW" altLang="en-US" kern="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353954A-4FF4-0E00-1592-4569B8DCBA62}"/>
              </a:ext>
            </a:extLst>
          </p:cNvPr>
          <p:cNvSpPr txBox="1"/>
          <p:nvPr/>
        </p:nvSpPr>
        <p:spPr>
          <a:xfrm>
            <a:off x="2222091" y="392066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語言的單行註解</a:t>
            </a:r>
            <a:endParaRPr lang="zh-TW" altLang="en-US" dirty="0"/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B2BF7A6-4FF9-EB9B-C676-4C87B633B99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4538643"/>
            <a:ext cx="8226425" cy="216555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語言的單行註解是在程式中以「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」符號開始的行，或程式行位在「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」符號後的文字內容都是註解文字，如下所示：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第一個</a:t>
            </a:r>
            <a:r>
              <a:rPr lang="en-US" altLang="zh-TW" kern="0" dirty="0">
                <a:solidFill>
                  <a:srgbClr val="FF3399"/>
                </a:solidFill>
              </a:rPr>
              <a:t>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")   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1081558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2627BB6-E192-5607-C0F4-42105D116300}"/>
              </a:ext>
            </a:extLst>
          </p:cNvPr>
          <p:cNvSpPr txBox="1"/>
          <p:nvPr/>
        </p:nvSpPr>
        <p:spPr>
          <a:xfrm>
            <a:off x="1917291" y="69211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語言的多行註解</a:t>
            </a:r>
            <a:endParaRPr lang="zh-TW" altLang="en-US" dirty="0"/>
          </a:p>
        </p:txBody>
      </p:sp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8F113567-72BF-E2B7-BAE6-ED1B37132EFD}"/>
              </a:ext>
            </a:extLst>
          </p:cNvPr>
          <p:cNvSpPr txBox="1">
            <a:spLocks noChangeArrowheads="1"/>
          </p:cNvSpPr>
          <p:nvPr/>
        </p:nvSpPr>
        <p:spPr>
          <a:xfrm>
            <a:off x="1917291" y="1559468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語言的程式註解可以跨過很多行，這是使用「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」和「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"</a:t>
            </a:r>
            <a:r>
              <a:rPr lang="zh-TW" altLang="en-US" kern="0" dirty="0"/>
              <a:t>」符號）或「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'</a:t>
            </a:r>
            <a:r>
              <a:rPr lang="zh-TW" altLang="en-US" kern="0" dirty="0"/>
              <a:t>」符號）括起的文字內容，例如：我們可以在</a:t>
            </a:r>
            <a:r>
              <a:rPr lang="en-US" altLang="zh-TW" kern="0" dirty="0"/>
              <a:t>Python</a:t>
            </a:r>
            <a:r>
              <a:rPr lang="zh-TW" altLang="en-US" kern="0" dirty="0"/>
              <a:t>程式開頭加上程式檔名稱的註解文字，如下所示：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''' 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: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榴名</a:t>
            </a:r>
            <a:r>
              <a:rPr lang="en-US" altLang="zh-TW" kern="0" dirty="0">
                <a:solidFill>
                  <a:srgbClr val="FF3399"/>
                </a:solidFill>
              </a:rPr>
              <a:t>: ch2-6.py '''</a:t>
            </a:r>
          </a:p>
          <a:p>
            <a:r>
              <a:rPr lang="zh-TW" altLang="en-US" kern="0" dirty="0"/>
              <a:t>上述註解文字是位在「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」符號中的文字內容。使用「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」符號的多行註解，如下所示：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""" ---------------------------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程式範例</a:t>
            </a:r>
            <a:r>
              <a:rPr lang="en-US" altLang="zh-TW" kern="0" dirty="0">
                <a:solidFill>
                  <a:srgbClr val="FF3399"/>
                </a:solidFill>
              </a:rPr>
              <a:t>: ch2-6.py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------------------------------ """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2080129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EF4E8A-08E2-2746-7835-9C04C9D7FC7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47128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太長的程式碼</a:t>
            </a:r>
            <a:endParaRPr lang="en-US" altLang="zh-TW" sz="2800" kern="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A11EE8A-96EE-3A83-0D78-E7A091C5F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79684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語言的程式碼行如果太長，基於程式編排的需求，太長的程式碼並不容易閱讀，我們可以分割成多行來編排。請在程式碼該行的最後加上「</a:t>
            </a:r>
            <a:r>
              <a:rPr lang="en-US" altLang="zh-TW" kern="0"/>
              <a:t>\</a:t>
            </a:r>
            <a:r>
              <a:rPr lang="zh-TW" altLang="en-US" kern="0"/>
              <a:t>」符號（</a:t>
            </a:r>
            <a:r>
              <a:rPr lang="en-US" altLang="zh-TW" kern="0"/>
              <a:t>Line Splicing</a:t>
            </a:r>
            <a:r>
              <a:rPr lang="zh-TW" altLang="en-US" kern="0"/>
              <a:t>），將程式碼分成數行來編排，如下所示：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sum = 1 + 2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3 + 4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5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444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59A9355-011F-4BCD-B7EC-5CEF608827C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W1-05   060–070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226A36-2703-4741-B9F9-410711643081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休息與存檔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CB2C6F-1983-4B67-9055-D9A2D93D441F}"/>
              </a:ext>
            </a:extLst>
          </p:cNvPr>
          <p:cNvSpPr>
            <a:spLocks noGrp="1"/>
          </p:cNvSpPr>
          <p:nvPr/>
        </p:nvSpPr>
        <p:spPr>
          <a:xfrm>
            <a:off x="647700" y="2619375"/>
            <a:ext cx="104775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 10 分鐘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C60B56-AE55-4658-8FA9-4F6AB4FF9D65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10001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先儲存，再離開座位</a:t>
            </a:r>
          </a:p>
        </p:txBody>
      </p:sp>
    </p:spTree>
    <p:extLst>
      <p:ext uri="{BB962C8B-B14F-4D97-AF65-F5344CB8AC3E}">
        <p14:creationId xmlns:p14="http://schemas.microsoft.com/office/powerpoint/2010/main" val="1608500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12204CCA-9B04-9B0A-4827-03D0A4A3A6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chemeClr val="hlink"/>
                </a:solidFill>
              </a:rPr>
              <a:t>變數、運算式與運算子</a:t>
            </a:r>
          </a:p>
        </p:txBody>
      </p:sp>
      <p:sp>
        <p:nvSpPr>
          <p:cNvPr id="5123" name="Rectangle 4">
            <a:extLst>
              <a:ext uri="{FF2B5EF4-FFF2-40B4-BE49-F238E27FC236}">
                <a16:creationId xmlns:a16="http://schemas.microsoft.com/office/drawing/2014/main" id="{884516E4-2C72-D79F-6E97-5655D15A7B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hlinkClick r:id="rId2" action="ppaction://hlinksldjump"/>
              </a:rPr>
              <a:t>程式語言的變數</a:t>
            </a:r>
            <a:endParaRPr lang="zh-TW" altLang="en-US" dirty="0"/>
          </a:p>
          <a:p>
            <a:pPr eaLnBrk="1" hangingPunct="1"/>
            <a:r>
              <a:rPr lang="zh-TW" altLang="en-US" dirty="0">
                <a:hlinkClick r:id="rId3" action="ppaction://hlinksldjump"/>
              </a:rPr>
              <a:t>在程式使用變數</a:t>
            </a:r>
            <a:endParaRPr lang="zh-TW" altLang="en-US" dirty="0"/>
          </a:p>
          <a:p>
            <a:pPr eaLnBrk="1" hangingPunct="1"/>
            <a:r>
              <a:rPr lang="zh-TW" altLang="en-US" dirty="0">
                <a:hlinkClick r:id="rId4" action="ppaction://hlinksldjump"/>
              </a:rPr>
              <a:t>變數的資料型態和型態轉換函數</a:t>
            </a:r>
            <a:endParaRPr lang="zh-TW" altLang="en-US" dirty="0"/>
          </a:p>
          <a:p>
            <a:pPr eaLnBrk="1" hangingPunct="1"/>
            <a:r>
              <a:rPr lang="zh-TW" altLang="en-US" dirty="0">
                <a:hlinkClick r:id="rId5" action="ppaction://hlinksldjump"/>
              </a:rPr>
              <a:t>讓使用者輸入變數值</a:t>
            </a:r>
            <a:endParaRPr lang="zh-TW" altLang="en-US" dirty="0"/>
          </a:p>
          <a:p>
            <a:pPr eaLnBrk="1" hangingPunct="1"/>
            <a:r>
              <a:rPr lang="zh-TW" altLang="en-US" dirty="0">
                <a:hlinkClick r:id="rId6" action="ppaction://hlinksldjump"/>
              </a:rPr>
              <a:t>認識運算式和運算子</a:t>
            </a:r>
            <a:endParaRPr lang="zh-TW" altLang="en-US" dirty="0"/>
          </a:p>
          <a:p>
            <a:pPr eaLnBrk="1" hangingPunct="1"/>
            <a:r>
              <a:rPr lang="zh-TW" altLang="en-US" dirty="0">
                <a:hlinkClick r:id="rId7" action="ppaction://hlinksldjump"/>
              </a:rPr>
              <a:t>在程式使用運算子</a:t>
            </a:r>
            <a:endParaRPr lang="zh-TW" altLang="en-US" dirty="0"/>
          </a:p>
          <a:p>
            <a:pPr eaLnBrk="1" hangingPunct="1"/>
            <a:endParaRPr lang="zh-TW" altLang="en-US" dirty="0"/>
          </a:p>
          <a:p>
            <a:pPr eaLnBrk="1" hangingPunct="1"/>
            <a:endParaRPr lang="en-US" altLang="zh-TW" dirty="0"/>
          </a:p>
          <a:p>
            <a:pPr eaLnBrk="1" hangingPunct="1"/>
            <a:endParaRPr lang="zh-TW" altLang="en-US" dirty="0"/>
          </a:p>
        </p:txBody>
      </p:sp>
      <p:pic>
        <p:nvPicPr>
          <p:cNvPr id="5124" name="Picture 3" descr="Gif07">
            <a:extLst>
              <a:ext uri="{FF2B5EF4-FFF2-40B4-BE49-F238E27FC236}">
                <a16:creationId xmlns:a16="http://schemas.microsoft.com/office/drawing/2014/main" id="{88555153-73B9-A853-1ED6-3E3ED100FE4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8526" y="5013325"/>
            <a:ext cx="2735263" cy="1093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5A10452-1988-7B63-8BF2-180E3F040A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程式語言的變數</a:t>
            </a:r>
            <a:endParaRPr lang="zh-TW" altLang="en-US" dirty="0"/>
          </a:p>
        </p:txBody>
      </p:sp>
      <p:sp>
        <p:nvSpPr>
          <p:cNvPr id="6147" name="Rectangle 4">
            <a:extLst>
              <a:ext uri="{FF2B5EF4-FFF2-40B4-BE49-F238E27FC236}">
                <a16:creationId xmlns:a16="http://schemas.microsoft.com/office/drawing/2014/main" id="{0EFEF654-55BC-AF1D-0396-69B6EF5E20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認識變數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使用變數前的準備工作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 dirty="0">
                <a:solidFill>
                  <a:srgbClr val="0000FF"/>
                </a:solidFill>
              </a:rPr>
              <a:t>Python</a:t>
            </a:r>
            <a:r>
              <a:rPr lang="zh-TW" altLang="en-US" dirty="0">
                <a:solidFill>
                  <a:srgbClr val="0000FF"/>
                </a:solidFill>
              </a:rPr>
              <a:t>語言的命名規則</a:t>
            </a:r>
          </a:p>
        </p:txBody>
      </p:sp>
      <p:pic>
        <p:nvPicPr>
          <p:cNvPr id="6148" name="Picture 3" descr="note">
            <a:extLst>
              <a:ext uri="{FF2B5EF4-FFF2-40B4-BE49-F238E27FC236}">
                <a16:creationId xmlns:a16="http://schemas.microsoft.com/office/drawing/2014/main" id="{B781CD65-593F-F53F-9379-475DF8773B3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0F6BF511-A225-A4B3-F051-1E84A2658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認識變數</a:t>
            </a:r>
            <a:r>
              <a:rPr lang="en-US" altLang="en-US" dirty="0"/>
              <a:t>–</a:t>
            </a:r>
            <a:r>
              <a:rPr lang="en-US" altLang="zh-TW" dirty="0"/>
              <a:t> </a:t>
            </a:r>
            <a:r>
              <a:rPr lang="zh-TW" altLang="en-US" dirty="0"/>
              <a:t>說明</a:t>
            </a:r>
          </a:p>
        </p:txBody>
      </p:sp>
      <p:sp>
        <p:nvSpPr>
          <p:cNvPr id="7171" name="Rectangle 6">
            <a:extLst>
              <a:ext uri="{FF2B5EF4-FFF2-40B4-BE49-F238E27FC236}">
                <a16:creationId xmlns:a16="http://schemas.microsoft.com/office/drawing/2014/main" id="{11B1CBE5-643D-22C7-AF90-989B663624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電腦程式在執行時常常需要記住一些資料，所以在程式語言會提供一個地方，用來記得執行時的一些資料，這個地方就是「變數」（</a:t>
            </a:r>
            <a:r>
              <a:rPr lang="en-US" altLang="zh-TW"/>
              <a:t>variables</a:t>
            </a:r>
            <a:r>
              <a:rPr lang="zh-TW" altLang="en-US"/>
              <a:t>）。</a:t>
            </a:r>
          </a:p>
          <a:p>
            <a:pPr eaLnBrk="1" hangingPunct="1"/>
            <a:r>
              <a:rPr lang="zh-TW" altLang="en-US"/>
              <a:t>例如：去商店買東西時，為了比較價格，我們會記下商品價格，同樣的，程式是使用變數儲存這些執行時需記住的資料，也就是將這些值儲存至變數，當變數擁有儲存值後，就可以在需要的地方取出變數值，例如：執行數學運算和比較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AC2B46D-05BD-377D-DFC4-E12B398E0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認識變數</a:t>
            </a:r>
            <a:r>
              <a:rPr lang="en-US" altLang="en-US" dirty="0"/>
              <a:t>–</a:t>
            </a:r>
            <a:r>
              <a:rPr lang="en-US" altLang="zh-TW" dirty="0"/>
              <a:t> </a:t>
            </a:r>
            <a:r>
              <a:rPr lang="zh-TW" altLang="en-US" dirty="0"/>
              <a:t>變數是儲存在哪裡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C8DFE2E6-D84C-558A-A322-A69C79CD4E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問題是，這些需記住的資料是儲存在哪裡，答案就是電腦的「記憶體」（</a:t>
            </a:r>
            <a:r>
              <a:rPr lang="en-US" altLang="zh-TW"/>
              <a:t>memory</a:t>
            </a:r>
            <a:r>
              <a:rPr lang="zh-TW" altLang="en-US"/>
              <a:t>），變數是一個名稱，用來代表電腦記憶體空間的一個位址，如下圖所示：</a:t>
            </a:r>
          </a:p>
        </p:txBody>
      </p:sp>
      <p:pic>
        <p:nvPicPr>
          <p:cNvPr id="8196" name="Picture 4" descr="Ch03-1-01">
            <a:extLst>
              <a:ext uri="{FF2B5EF4-FFF2-40B4-BE49-F238E27FC236}">
                <a16:creationId xmlns:a16="http://schemas.microsoft.com/office/drawing/2014/main" id="{AE1A3005-9CC1-0998-0B9B-18E73121E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89" y="3068639"/>
            <a:ext cx="6624637" cy="281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C4757721-3CA3-265B-3063-A6CF59B5C8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認識變數</a:t>
            </a:r>
            <a:r>
              <a:rPr lang="en-US" altLang="en-US" dirty="0"/>
              <a:t>–</a:t>
            </a:r>
            <a:r>
              <a:rPr lang="en-US" altLang="zh-TW" dirty="0"/>
              <a:t> </a:t>
            </a:r>
            <a:r>
              <a:rPr lang="zh-TW" altLang="en-US" dirty="0"/>
              <a:t>變數的基本操作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FA95E81-7AAC-6B95-983F-029019E81C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變數只有兩種操作，如下所示：</a:t>
            </a:r>
          </a:p>
          <a:p>
            <a:pPr lvl="1" eaLnBrk="1" hangingPunct="1"/>
            <a:r>
              <a:rPr lang="zh-TW" altLang="en-US" b="1"/>
              <a:t>在變數存入新值：</a:t>
            </a:r>
            <a:r>
              <a:rPr lang="zh-TW" altLang="en-US"/>
              <a:t>指定變數成為一個全新值，我們並不能如同盒子一般，只取出部分金額。因為變數只能指定成一個新值，如果需要減掉一個值，其操作是先讀取變數值，在減掉後，再將變數指定成最後運算結果的新值。</a:t>
            </a:r>
          </a:p>
          <a:p>
            <a:pPr lvl="1" eaLnBrk="1" hangingPunct="1"/>
            <a:r>
              <a:rPr lang="zh-TW" altLang="en-US" b="1"/>
              <a:t>讀取變數值：</a:t>
            </a:r>
            <a:r>
              <a:rPr lang="zh-TW" altLang="en-US"/>
              <a:t>取得目前變數的值，讀取變數值，並不會更改變數目前儲存的值。</a:t>
            </a:r>
          </a:p>
        </p:txBody>
      </p:sp>
      <p:pic>
        <p:nvPicPr>
          <p:cNvPr id="9220" name="Picture 4" descr="Ch03-1-02">
            <a:extLst>
              <a:ext uri="{FF2B5EF4-FFF2-40B4-BE49-F238E27FC236}">
                <a16:creationId xmlns:a16="http://schemas.microsoft.com/office/drawing/2014/main" id="{4706B561-5C10-137B-8B39-B269D82B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626" y="4652964"/>
            <a:ext cx="2447925" cy="195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5B606B54-57EB-70BA-AE48-FB3579C49B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使用變數前的準備工作</a:t>
            </a:r>
            <a:r>
              <a:rPr lang="en-US" altLang="zh-TW" dirty="0"/>
              <a:t>– </a:t>
            </a:r>
            <a:r>
              <a:rPr lang="zh-TW" altLang="en-US" dirty="0"/>
              <a:t>說明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771BBF29-E83B-CC3F-AF3F-CF672F0A69E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程式語言的變數如同是一個擁有名稱的盒子，能夠暫時儲存程式執行時所需的資料，也就是記住這些資料。方形和圓柱形的兩個盒子，盒子名稱是變數名稱</a:t>
            </a:r>
            <a:r>
              <a:rPr lang="en-US" altLang="zh-TW"/>
              <a:t>height</a:t>
            </a:r>
            <a:r>
              <a:rPr lang="zh-TW" altLang="en-US"/>
              <a:t>和</a:t>
            </a:r>
            <a:r>
              <a:rPr lang="en-US" altLang="zh-TW"/>
              <a:t>name</a:t>
            </a:r>
            <a:r>
              <a:rPr lang="zh-TW" altLang="en-US"/>
              <a:t>，在盒子儲存的資料</a:t>
            </a:r>
            <a:r>
              <a:rPr lang="en-US" altLang="zh-TW"/>
              <a:t>100</a:t>
            </a:r>
            <a:r>
              <a:rPr lang="zh-TW" altLang="en-US"/>
              <a:t>和</a:t>
            </a:r>
            <a:r>
              <a:rPr lang="en-US" altLang="zh-TW"/>
              <a:t>'A'</a:t>
            </a:r>
            <a:r>
              <a:rPr lang="zh-TW" altLang="en-US"/>
              <a:t>是常數值。現在回到盒子本身，盒子形狀和尺寸決定儲存的資料種類，對比程式語言，形狀和尺寸是變數的「資料型態」（</a:t>
            </a:r>
            <a:r>
              <a:rPr lang="en-US" altLang="zh-TW"/>
              <a:t>data types</a:t>
            </a:r>
            <a:r>
              <a:rPr lang="zh-TW" altLang="en-US"/>
              <a:t>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10244" name="Picture 4" descr="Ch03-2-1-01">
            <a:extLst>
              <a:ext uri="{FF2B5EF4-FFF2-40B4-BE49-F238E27FC236}">
                <a16:creationId xmlns:a16="http://schemas.microsoft.com/office/drawing/2014/main" id="{AAA5DF63-16C7-BE59-BB04-3C2CBDD1D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6" y="4437064"/>
            <a:ext cx="5616575" cy="188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395A5C5E-5480-47D9-AA74-680007FFC7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使用變數前的準備工作</a:t>
            </a:r>
            <a:r>
              <a:rPr lang="en-US" altLang="zh-TW" dirty="0"/>
              <a:t>– </a:t>
            </a:r>
            <a:r>
              <a:rPr lang="zh-TW" altLang="en-US" dirty="0"/>
              <a:t>內容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A53A3798-037A-B2C6-BBF7-763B15D7D2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如果程式語言是</a:t>
            </a:r>
            <a:r>
              <a:rPr lang="zh-TW" altLang="en-US">
                <a:solidFill>
                  <a:srgbClr val="0000FF"/>
                </a:solidFill>
              </a:rPr>
              <a:t>靜態</a:t>
            </a:r>
            <a:r>
              <a:rPr lang="zh-TW" altLang="en-US"/>
              <a:t>語言，例如：</a:t>
            </a:r>
            <a:r>
              <a:rPr lang="en-US" altLang="zh-TW"/>
              <a:t>C/C++</a:t>
            </a:r>
            <a:r>
              <a:rPr lang="zh-TW" altLang="en-US"/>
              <a:t>和</a:t>
            </a:r>
            <a:r>
              <a:rPr lang="en-US" altLang="zh-TW"/>
              <a:t>Java</a:t>
            </a:r>
            <a:r>
              <a:rPr lang="zh-TW" altLang="en-US"/>
              <a:t>，當變數指定資料型態後，就表示只能儲存這種型態的資料，如同圓形盒子放不進相同直徑的方形物品，我們只能放進方形盒子。</a:t>
            </a:r>
            <a:r>
              <a:rPr lang="en-US" altLang="zh-TW"/>
              <a:t>Python</a:t>
            </a:r>
            <a:r>
              <a:rPr lang="zh-TW" altLang="en-US"/>
              <a:t>是</a:t>
            </a:r>
            <a:r>
              <a:rPr lang="zh-TW" altLang="en-US">
                <a:solidFill>
                  <a:srgbClr val="0000FF"/>
                </a:solidFill>
              </a:rPr>
              <a:t>動態</a:t>
            </a:r>
            <a:r>
              <a:rPr lang="zh-TW" altLang="en-US"/>
              <a:t>語言，變數的資料型態是可以更改的，當變數指定成其他資料型態的文字值時，變數的資料型態也會一併更改成文字值的資料型態。</a:t>
            </a:r>
          </a:p>
          <a:p>
            <a:pPr eaLnBrk="1" hangingPunct="1"/>
            <a:r>
              <a:rPr lang="zh-TW" altLang="en-US"/>
              <a:t>所以，程式語言在使用變數前，需要</a:t>
            </a:r>
            <a:r>
              <a:rPr lang="en-US" altLang="zh-TW"/>
              <a:t>2</a:t>
            </a:r>
            <a:r>
              <a:rPr lang="zh-TW" altLang="en-US"/>
              <a:t>項準備工作，如下所示：</a:t>
            </a:r>
          </a:p>
          <a:p>
            <a:pPr lvl="1" eaLnBrk="1" hangingPunct="1"/>
            <a:r>
              <a:rPr lang="zh-TW" altLang="en-US"/>
              <a:t>替變數命名：即上述</a:t>
            </a:r>
            <a:r>
              <a:rPr lang="en-US" altLang="zh-TW"/>
              <a:t>name</a:t>
            </a:r>
            <a:r>
              <a:rPr lang="zh-TW" altLang="en-US"/>
              <a:t>和</a:t>
            </a:r>
            <a:r>
              <a:rPr lang="en-US" altLang="zh-TW"/>
              <a:t>height</a:t>
            </a:r>
            <a:r>
              <a:rPr lang="zh-TW" altLang="en-US"/>
              <a:t>等變數名稱。</a:t>
            </a:r>
          </a:p>
          <a:p>
            <a:pPr lvl="1" eaLnBrk="1" hangingPunct="1"/>
            <a:r>
              <a:rPr lang="zh-TW" altLang="en-US"/>
              <a:t>決定變數的資料型態：即變數儲存什麼樣的值，即整數或字串等。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E22676D-F1AD-2695-36C6-5FD4675BB0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Python</a:t>
            </a:r>
            <a:r>
              <a:rPr lang="zh-TW" altLang="en-US" dirty="0"/>
              <a:t>語言的命名規則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DED6654F-F1F7-5581-597D-7D0100BAF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程式設計者在程式碼自行命名的元素，稱為識別字（</a:t>
            </a:r>
            <a:r>
              <a:rPr lang="en-US" altLang="zh-TW"/>
              <a:t>Identifier</a:t>
            </a:r>
            <a:r>
              <a:rPr lang="zh-TW" altLang="en-US"/>
              <a:t>），例如：變數名稱，關鍵字（</a:t>
            </a:r>
            <a:r>
              <a:rPr lang="en-US" altLang="zh-TW"/>
              <a:t>Keywords</a:t>
            </a:r>
            <a:r>
              <a:rPr lang="zh-TW" altLang="en-US"/>
              <a:t>）是一些對直譯器</a:t>
            </a:r>
            <a:r>
              <a:rPr lang="en-US" altLang="zh-TW"/>
              <a:t>/</a:t>
            </a:r>
            <a:r>
              <a:rPr lang="zh-TW" altLang="en-US"/>
              <a:t>編譯器來說擁有特殊意義的名稱，在命名時，我們需要避開這些名稱。</a:t>
            </a:r>
          </a:p>
          <a:p>
            <a:pPr eaLnBrk="1" hangingPunct="1"/>
            <a:r>
              <a:rPr lang="zh-TW" altLang="en-US"/>
              <a:t>識別字名稱（</a:t>
            </a:r>
            <a:r>
              <a:rPr lang="en-US" altLang="zh-TW"/>
              <a:t>Identifier Names</a:t>
            </a:r>
            <a:r>
              <a:rPr lang="zh-TW" altLang="en-US"/>
              <a:t>）是指</a:t>
            </a:r>
            <a:r>
              <a:rPr lang="en-US" altLang="zh-TW"/>
              <a:t>Python</a:t>
            </a:r>
            <a:r>
              <a:rPr lang="zh-TW" altLang="en-US"/>
              <a:t>語言的變數、函數、類別或其他識別字的名稱，程式設計者在撰寫程式時，需要替這些識別字命名。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FD6BB90A-3C0F-6461-1D5A-67F08746D3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Python</a:t>
            </a:r>
            <a:r>
              <a:rPr lang="zh-TW" altLang="en-US" dirty="0"/>
              <a:t>語言的命名規則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F6935515-5902-383C-6225-7C6F0F573A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語言的命名規則，如下所示：</a:t>
            </a:r>
          </a:p>
          <a:p>
            <a:pPr lvl="1" eaLnBrk="1" hangingPunct="1"/>
            <a:r>
              <a:rPr lang="zh-TW" altLang="en-US"/>
              <a:t>名稱是一個合法識別字，識別字是使用英文字母或「</a:t>
            </a:r>
            <a:r>
              <a:rPr lang="en-US" altLang="zh-TW"/>
              <a:t>_</a:t>
            </a:r>
            <a:r>
              <a:rPr lang="zh-TW" altLang="en-US"/>
              <a:t>」底線開頭（不可以使用數字開頭），不限長度，包含字母、數字和底線「</a:t>
            </a:r>
            <a:r>
              <a:rPr lang="en-US" altLang="zh-TW"/>
              <a:t>_</a:t>
            </a:r>
            <a:r>
              <a:rPr lang="zh-TW" altLang="en-US"/>
              <a:t>」字元組成的名稱。</a:t>
            </a:r>
          </a:p>
          <a:p>
            <a:pPr lvl="1" eaLnBrk="1" hangingPunct="1"/>
            <a:r>
              <a:rPr lang="zh-TW" altLang="en-US"/>
              <a:t>名稱區分英文字母大小寫，例如：</a:t>
            </a:r>
            <a:r>
              <a:rPr lang="en-US" altLang="zh-TW"/>
              <a:t>total</a:t>
            </a:r>
            <a:r>
              <a:rPr lang="zh-TW" altLang="en-US"/>
              <a:t>、</a:t>
            </a:r>
            <a:r>
              <a:rPr lang="en-US" altLang="zh-TW"/>
              <a:t>Total</a:t>
            </a:r>
            <a:r>
              <a:rPr lang="zh-TW" altLang="en-US"/>
              <a:t>和</a:t>
            </a:r>
            <a:r>
              <a:rPr lang="en-US" altLang="zh-TW"/>
              <a:t>TOTAL</a:t>
            </a:r>
            <a:r>
              <a:rPr lang="zh-TW" altLang="en-US"/>
              <a:t>屬於不同的識別字。</a:t>
            </a:r>
          </a:p>
          <a:p>
            <a:pPr lvl="1" eaLnBrk="1" hangingPunct="1"/>
            <a:r>
              <a:rPr lang="zh-TW" altLang="en-US"/>
              <a:t>名稱不能使用</a:t>
            </a:r>
            <a:r>
              <a:rPr lang="en-US" altLang="zh-TW"/>
              <a:t>Python</a:t>
            </a:r>
            <a:r>
              <a:rPr lang="zh-TW" altLang="en-US"/>
              <a:t>關鍵字，因為這些字對於直譯器擁有特殊意義。</a:t>
            </a:r>
            <a:r>
              <a:rPr lang="en-US" altLang="zh-TW"/>
              <a:t>Python</a:t>
            </a:r>
            <a:r>
              <a:rPr lang="zh-TW" altLang="en-US"/>
              <a:t>語言的關鍵字可以在互動環境輸入</a:t>
            </a:r>
            <a:r>
              <a:rPr lang="en-US" altLang="zh-TW"/>
              <a:t>help("keywords")</a:t>
            </a:r>
            <a:r>
              <a:rPr lang="zh-TW" altLang="en-US"/>
              <a:t>指令來查詢。</a:t>
            </a:r>
            <a:endParaRPr lang="en-US" altLang="zh-TW"/>
          </a:p>
          <a:p>
            <a:pPr lvl="1" eaLnBrk="1" hangingPunct="1"/>
            <a:r>
              <a:rPr lang="zh-TW" altLang="en-US"/>
              <a:t>有效範圍（</a:t>
            </a:r>
            <a:r>
              <a:rPr lang="en-US" altLang="zh-TW"/>
              <a:t>Scope</a:t>
            </a:r>
            <a:r>
              <a:rPr lang="zh-TW" altLang="en-US"/>
              <a:t>）是指在有效範圍的程式碼中名稱必須是唯一，例如：在程式中可以使用相同的變數名稱，不過變數名稱需要位在不同的範圍，詳細的範圍說明請參閱第</a:t>
            </a:r>
            <a:r>
              <a:rPr lang="en-US" altLang="zh-TW"/>
              <a:t>6-6-1</a:t>
            </a:r>
            <a:r>
              <a:rPr lang="zh-TW" altLang="en-US"/>
              <a:t>節。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E863377-C10C-222E-BF95-ED38808D2F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在程式使用變數</a:t>
            </a:r>
            <a:endParaRPr lang="zh-TW" alt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4FF275F9-F98D-85B2-EB37-DDC3D0D005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指定和輸出變數值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指定成其他文字值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指定成其他變數值</a:t>
            </a:r>
          </a:p>
        </p:txBody>
      </p:sp>
      <p:pic>
        <p:nvPicPr>
          <p:cNvPr id="14340" name="Picture 4" descr="note">
            <a:extLst>
              <a:ext uri="{FF2B5EF4-FFF2-40B4-BE49-F238E27FC236}">
                <a16:creationId xmlns:a16="http://schemas.microsoft.com/office/drawing/2014/main" id="{D162AD25-CED2-39AB-BDAE-65B20CA4134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6C2E5CC7-9243-19B2-8288-4E04641B23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在程式使用變數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5C804B5D-DAB1-E215-B993-F5EC0D301B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變數不用預先宣告，當需要變數時，直接指定變數值即可，如果習慣宣告變數，可以在程式開頭將變數指定成</a:t>
            </a:r>
            <a:r>
              <a:rPr lang="en-US" altLang="zh-TW" dirty="0"/>
              <a:t>None</a:t>
            </a:r>
            <a:r>
              <a:rPr lang="zh-TW" altLang="en-US" dirty="0"/>
              <a:t>，</a:t>
            </a:r>
            <a:r>
              <a:rPr lang="en-US" altLang="zh-TW" dirty="0"/>
              <a:t>None</a:t>
            </a:r>
            <a:r>
              <a:rPr lang="zh-TW" altLang="en-US" dirty="0"/>
              <a:t>關鍵字表示變數並沒有值，如下所示：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None</a:t>
            </a:r>
          </a:p>
          <a:p>
            <a:pPr lvl="1" eaLnBrk="1" hangingPunct="1">
              <a:buFontTx/>
              <a:buNone/>
              <a:defRPr/>
            </a:pPr>
            <a:endParaRPr lang="en-US" altLang="zh-TW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標題 1">
            <a:extLst>
              <a:ext uri="{FF2B5EF4-FFF2-40B4-BE49-F238E27FC236}">
                <a16:creationId xmlns:a16="http://schemas.microsoft.com/office/drawing/2014/main" id="{4608E60A-A2F3-66D1-0E82-3A98948F6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指定和輸出變數值</a:t>
            </a:r>
            <a:endParaRPr lang="zh-TW" altLang="en-US" dirty="0">
              <a:ea typeface="新細明體" panose="02020500000000000000" pitchFamily="18" charset="-120"/>
            </a:endParaRPr>
          </a:p>
        </p:txBody>
      </p:sp>
      <p:sp>
        <p:nvSpPr>
          <p:cNvPr id="16387" name="內容版面配置區 2">
            <a:extLst>
              <a:ext uri="{FF2B5EF4-FFF2-40B4-BE49-F238E27FC236}">
                <a16:creationId xmlns:a16="http://schemas.microsoft.com/office/drawing/2014/main" id="{2E5A81F2-62E6-D6BB-8D63-F61EC589CA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在使用指定敘述指定變數值，變數名稱如同是一個盒子，指定的變數值就是將值放入盒子，和決定盒子的資料型態，如下圖所示：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16388" name="Picture 4">
            <a:extLst>
              <a:ext uri="{FF2B5EF4-FFF2-40B4-BE49-F238E27FC236}">
                <a16:creationId xmlns:a16="http://schemas.microsoft.com/office/drawing/2014/main" id="{45785577-898D-8722-25AA-4272CD36D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5" y="3141664"/>
            <a:ext cx="5175250" cy="306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A2058AC2-BDE8-2999-B518-9B25A878DD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指定和輸出變數值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CB29F797-B3DE-CDC7-CEC8-20E85DABCC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zh-TW" altLang="en-US" dirty="0"/>
              <a:t>當使用「</a:t>
            </a:r>
            <a:r>
              <a:rPr lang="en-US" altLang="zh-TW" dirty="0"/>
              <a:t>=</a:t>
            </a:r>
            <a:r>
              <a:rPr lang="zh-TW" altLang="en-US" dirty="0"/>
              <a:t>」等號指定變數</a:t>
            </a:r>
            <a:r>
              <a:rPr lang="en-US" altLang="zh-TW" dirty="0"/>
              <a:t>score</a:t>
            </a:r>
            <a:r>
              <a:rPr lang="zh-TW" altLang="en-US" dirty="0"/>
              <a:t>的值</a:t>
            </a:r>
            <a:r>
              <a:rPr lang="en-US" altLang="zh-TW" dirty="0"/>
              <a:t>20</a:t>
            </a:r>
            <a:r>
              <a:rPr lang="zh-TW" altLang="en-US" dirty="0"/>
              <a:t>，就是將文字值</a:t>
            </a:r>
            <a:r>
              <a:rPr lang="en-US" altLang="zh-TW" dirty="0"/>
              <a:t>20</a:t>
            </a:r>
            <a:r>
              <a:rPr lang="zh-TW" altLang="en-US" dirty="0"/>
              <a:t>放入盒子，同時決定變數的資料型態是整數，如下所示：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20</a:t>
            </a:r>
          </a:p>
          <a:p>
            <a:pPr eaLnBrk="1" hangingPunct="1">
              <a:defRPr/>
            </a:pPr>
            <a:r>
              <a:rPr lang="zh-TW" altLang="en-US" dirty="0"/>
              <a:t>上述程式碼指定變數</a:t>
            </a:r>
            <a:r>
              <a:rPr lang="en-US" altLang="zh-TW" dirty="0"/>
              <a:t>score</a:t>
            </a:r>
            <a:r>
              <a:rPr lang="zh-TW" altLang="en-US" dirty="0"/>
              <a:t>值是</a:t>
            </a:r>
            <a:r>
              <a:rPr lang="en-US" altLang="zh-TW" dirty="0"/>
              <a:t>20</a:t>
            </a:r>
            <a:r>
              <a:rPr lang="zh-TW" altLang="en-US" dirty="0"/>
              <a:t>，變數</a:t>
            </a:r>
            <a:r>
              <a:rPr lang="en-US" altLang="zh-TW" dirty="0"/>
              <a:t>score</a:t>
            </a:r>
            <a:r>
              <a:rPr lang="zh-TW" altLang="en-US" dirty="0"/>
              <a:t>因為指定文字值</a:t>
            </a:r>
            <a:r>
              <a:rPr lang="en-US" altLang="zh-TW" dirty="0"/>
              <a:t>20</a:t>
            </a:r>
            <a:r>
              <a:rPr lang="zh-TW" altLang="en-US" dirty="0"/>
              <a:t>，所以記得文字值</a:t>
            </a:r>
            <a:r>
              <a:rPr lang="en-US" altLang="zh-TW" dirty="0"/>
              <a:t>20</a:t>
            </a:r>
            <a:r>
              <a:rPr lang="zh-TW" altLang="en-US" dirty="0"/>
              <a:t>且決定是整數型態，其基本語法如下所示：</a:t>
            </a:r>
          </a:p>
          <a:p>
            <a:pPr marL="457200" lvl="1" indent="0" eaLnBrk="1" hangingPunct="1">
              <a:buNone/>
              <a:defRPr/>
            </a:pPr>
            <a:r>
              <a:rPr lang="zh-TW" altLang="en-US" dirty="0">
                <a:solidFill>
                  <a:srgbClr val="C00000"/>
                </a:solidFill>
              </a:rPr>
              <a:t>變數 </a:t>
            </a:r>
            <a:r>
              <a:rPr lang="en-US" altLang="zh-TW" dirty="0">
                <a:solidFill>
                  <a:srgbClr val="C00000"/>
                </a:solidFill>
              </a:rPr>
              <a:t>= </a:t>
            </a:r>
            <a:r>
              <a:rPr lang="zh-TW" altLang="en-US" dirty="0">
                <a:solidFill>
                  <a:srgbClr val="C00000"/>
                </a:solidFill>
              </a:rPr>
              <a:t>資料</a:t>
            </a:r>
          </a:p>
          <a:p>
            <a:pPr eaLnBrk="1" hangingPunct="1">
              <a:defRPr/>
            </a:pPr>
            <a:r>
              <a:rPr lang="zh-TW" altLang="en-US" dirty="0"/>
              <a:t>上述「</a:t>
            </a:r>
            <a:r>
              <a:rPr lang="en-US" altLang="zh-TW" dirty="0"/>
              <a:t>=</a:t>
            </a:r>
            <a:r>
              <a:rPr lang="zh-TW" altLang="en-US" dirty="0"/>
              <a:t>」等號就是指定敘述，可以：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「將右邊資料的文字值指定給左邊的變數，在左邊變數儲存的值就是右邊資料的文字值。」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348771A9-5E32-21D3-FD71-C05A2E430F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指定成其他文字值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383D970A-02A8-BAFE-0C36-D77EAAC2C9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變數是執行程式時暫存儲存資料的地方，當建立</a:t>
            </a:r>
            <a:r>
              <a:rPr lang="en-US" altLang="zh-TW"/>
              <a:t>Python</a:t>
            </a:r>
            <a:r>
              <a:rPr lang="zh-TW" altLang="en-US"/>
              <a:t>變數後，例如：變數</a:t>
            </a:r>
            <a:r>
              <a:rPr lang="en-US" altLang="zh-TW"/>
              <a:t>score</a:t>
            </a:r>
            <a:r>
              <a:rPr lang="zh-TW" altLang="en-US"/>
              <a:t>和指定值</a:t>
            </a:r>
            <a:r>
              <a:rPr lang="en-US" altLang="zh-TW"/>
              <a:t>20</a:t>
            </a:r>
            <a:r>
              <a:rPr lang="zh-TW" altLang="en-US"/>
              <a:t>後，我們可以隨時再次使用指定敘述「</a:t>
            </a:r>
            <a:r>
              <a:rPr lang="en-US" altLang="zh-TW"/>
              <a:t>=</a:t>
            </a:r>
            <a:r>
              <a:rPr lang="zh-TW" altLang="en-US"/>
              <a:t>」等號來更改變數值，如下所示：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30</a:t>
            </a:r>
          </a:p>
        </p:txBody>
      </p:sp>
      <p:pic>
        <p:nvPicPr>
          <p:cNvPr id="18436" name="Picture 4">
            <a:extLst>
              <a:ext uri="{FF2B5EF4-FFF2-40B4-BE49-F238E27FC236}">
                <a16:creationId xmlns:a16="http://schemas.microsoft.com/office/drawing/2014/main" id="{BB3240B5-679E-EE2A-7646-856F72940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289" y="2997200"/>
            <a:ext cx="4389437" cy="368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16A1CE00-C303-C4D8-0313-94C435472F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指定成其他文字值</a:t>
            </a:r>
          </a:p>
        </p:txBody>
      </p:sp>
      <p:sp>
        <p:nvSpPr>
          <p:cNvPr id="19459" name="內容版面配置區 1">
            <a:extLst>
              <a:ext uri="{FF2B5EF4-FFF2-40B4-BE49-F238E27FC236}">
                <a16:creationId xmlns:a16="http://schemas.microsoft.com/office/drawing/2014/main" id="{7FF307E6-B141-3D3D-0A9C-139ACFA7A5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變數也可以隨時更改成其他資料型態的文字值，例如：浮點數</a:t>
            </a:r>
            <a:r>
              <a:rPr lang="en-US" altLang="zh-TW"/>
              <a:t>98.5</a:t>
            </a:r>
            <a:r>
              <a:rPr lang="zh-TW" altLang="en-US"/>
              <a:t>，此時不只更改</a:t>
            </a:r>
            <a:r>
              <a:rPr lang="en-US" altLang="zh-TW"/>
              <a:t>score</a:t>
            </a:r>
            <a:r>
              <a:rPr lang="zh-TW" altLang="en-US"/>
              <a:t>變數的值，同時更改資料型態成為浮點數，如下所示：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98.5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標題 1">
            <a:extLst>
              <a:ext uri="{FF2B5EF4-FFF2-40B4-BE49-F238E27FC236}">
                <a16:creationId xmlns:a16="http://schemas.microsoft.com/office/drawing/2014/main" id="{D452F23F-13C4-0C8A-5085-E8FC9C4413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ea typeface="新細明體" panose="02020500000000000000" pitchFamily="18" charset="-120"/>
              </a:rPr>
              <a:t>指定成其他變數值</a:t>
            </a:r>
          </a:p>
        </p:txBody>
      </p:sp>
      <p:sp>
        <p:nvSpPr>
          <p:cNvPr id="20483" name="內容版面配置區 2">
            <a:extLst>
              <a:ext uri="{FF2B5EF4-FFF2-40B4-BE49-F238E27FC236}">
                <a16:creationId xmlns:a16="http://schemas.microsoft.com/office/drawing/2014/main" id="{263FD576-09D2-4C40-B02F-64D0B52B38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變數除了可以使用指定敘述「</a:t>
            </a:r>
            <a:r>
              <a:rPr lang="en-US" altLang="zh-TW"/>
              <a:t>=</a:t>
            </a:r>
            <a:r>
              <a:rPr lang="zh-TW" altLang="en-US"/>
              <a:t>」等號更新成其他文字值，我們還可以將變數指定成其他變數值，就是更改成其他變數儲存的文字值，例如：在建立整數變數</a:t>
            </a:r>
            <a:r>
              <a:rPr lang="en-US" altLang="zh-TW"/>
              <a:t>score</a:t>
            </a:r>
            <a:r>
              <a:rPr lang="zh-TW" altLang="en-US"/>
              <a:t>的值</a:t>
            </a:r>
            <a:r>
              <a:rPr lang="en-US" altLang="zh-TW"/>
              <a:t>20</a:t>
            </a:r>
            <a:r>
              <a:rPr lang="zh-TW" altLang="en-US"/>
              <a:t>後，使用指定敘述來指定變數</a:t>
            </a:r>
            <a:r>
              <a:rPr lang="en-US" altLang="zh-TW"/>
              <a:t>score2</a:t>
            </a:r>
            <a:r>
              <a:rPr lang="zh-TW" altLang="en-US"/>
              <a:t>的值是</a:t>
            </a:r>
            <a:r>
              <a:rPr lang="en-US" altLang="zh-TW"/>
              <a:t>score</a:t>
            </a:r>
            <a:r>
              <a:rPr lang="zh-TW" altLang="en-US"/>
              <a:t>變數儲存的值，如下所示：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 = 20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score2 = score</a:t>
            </a:r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20484" name="Picture 2">
            <a:extLst>
              <a:ext uri="{FF2B5EF4-FFF2-40B4-BE49-F238E27FC236}">
                <a16:creationId xmlns:a16="http://schemas.microsoft.com/office/drawing/2014/main" id="{C82DDB2F-3C8F-A172-DAB8-C143E2005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838" y="3284539"/>
            <a:ext cx="4679950" cy="348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AB04BFE-1F81-DF45-C4DA-D983E06107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變數的資料型態和型態轉換函數</a:t>
            </a:r>
            <a:endParaRPr lang="zh-TW" altLang="en-US" dirty="0"/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6E710F78-D42F-7780-5E03-11589E2C6B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取得變數的資料型態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資料型態轉換函數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endParaRPr lang="zh-TW" altLang="en-US" dirty="0">
              <a:solidFill>
                <a:srgbClr val="0000FF"/>
              </a:solidFill>
            </a:endParaRPr>
          </a:p>
        </p:txBody>
      </p:sp>
      <p:pic>
        <p:nvPicPr>
          <p:cNvPr id="21508" name="Picture 4" descr="note">
            <a:extLst>
              <a:ext uri="{FF2B5EF4-FFF2-40B4-BE49-F238E27FC236}">
                <a16:creationId xmlns:a16="http://schemas.microsoft.com/office/drawing/2014/main" id="{4E5611B0-6E2C-B202-4467-6D7C05D3391B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E84D964D-3C6B-BCD5-510D-01D96B05B7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變數的資料型態和型態轉換函數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DBA10D0E-A15F-2677-8E1C-05293E7A29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變數儲存的值決定變數目前的資料型態，當指定變數的文字值時，就決定變數的資料型態，例如：在第</a:t>
            </a:r>
            <a:r>
              <a:rPr lang="en-US" altLang="zh-TW"/>
              <a:t>2-5</a:t>
            </a:r>
            <a:r>
              <a:rPr lang="zh-TW" altLang="en-US"/>
              <a:t>節的字串、數值和布林文字值，就是對應字串（</a:t>
            </a:r>
            <a:r>
              <a:rPr lang="en-US" altLang="zh-TW"/>
              <a:t>String</a:t>
            </a:r>
            <a:r>
              <a:rPr lang="zh-TW" altLang="en-US"/>
              <a:t>）、數值（</a:t>
            </a:r>
            <a:r>
              <a:rPr lang="en-US" altLang="zh-TW"/>
              <a:t>Number</a:t>
            </a:r>
            <a:r>
              <a:rPr lang="zh-TW" altLang="en-US"/>
              <a:t>）和布林（</a:t>
            </a:r>
            <a:r>
              <a:rPr lang="en-US" altLang="zh-TW"/>
              <a:t>Boolean</a:t>
            </a:r>
            <a:r>
              <a:rPr lang="zh-TW" altLang="en-US"/>
              <a:t>）資料型態。</a:t>
            </a:r>
          </a:p>
          <a:p>
            <a:pPr eaLnBrk="1" hangingPunct="1"/>
            <a:r>
              <a:rPr lang="zh-TW" altLang="en-US"/>
              <a:t>除此之外，</a:t>
            </a:r>
            <a:r>
              <a:rPr lang="en-US" altLang="zh-TW"/>
              <a:t>Python</a:t>
            </a:r>
            <a:r>
              <a:rPr lang="zh-TW" altLang="en-US"/>
              <a:t>還提供多種容器型態（</a:t>
            </a:r>
            <a:r>
              <a:rPr lang="en-US" altLang="zh-TW"/>
              <a:t>Contains Type</a:t>
            </a:r>
            <a:r>
              <a:rPr lang="zh-TW" altLang="en-US"/>
              <a:t>），例如：串列（</a:t>
            </a:r>
            <a:r>
              <a:rPr lang="en-US" altLang="zh-TW"/>
              <a:t>List</a:t>
            </a:r>
            <a:r>
              <a:rPr lang="zh-TW" altLang="en-US"/>
              <a:t>）、元組（</a:t>
            </a:r>
            <a:r>
              <a:rPr lang="en-US" altLang="zh-TW"/>
              <a:t>Tuple</a:t>
            </a:r>
            <a:r>
              <a:rPr lang="zh-TW" altLang="en-US"/>
              <a:t>）合（</a:t>
            </a:r>
            <a:r>
              <a:rPr lang="en-US" altLang="zh-TW"/>
              <a:t>Set</a:t>
            </a:r>
            <a:r>
              <a:rPr lang="zh-TW" altLang="en-US"/>
              <a:t>）和字典（</a:t>
            </a:r>
            <a:r>
              <a:rPr lang="en-US" altLang="zh-TW"/>
              <a:t>Dictionary</a:t>
            </a:r>
            <a:r>
              <a:rPr lang="zh-TW" altLang="en-US"/>
              <a:t>），進一步字串和容器型態的說明請參閱第</a:t>
            </a:r>
            <a:r>
              <a:rPr lang="en-US" altLang="zh-TW"/>
              <a:t>7</a:t>
            </a:r>
            <a:r>
              <a:rPr lang="zh-TW" altLang="en-US"/>
              <a:t>章。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0AC5871E-22FA-D9E4-7D71-9E55165198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取得變數的資料型態</a:t>
            </a:r>
          </a:p>
        </p:txBody>
      </p:sp>
      <p:sp>
        <p:nvSpPr>
          <p:cNvPr id="23555" name="內容版面配置區 1">
            <a:extLst>
              <a:ext uri="{FF2B5EF4-FFF2-40B4-BE49-F238E27FC236}">
                <a16:creationId xmlns:a16="http://schemas.microsoft.com/office/drawing/2014/main" id="{C3A02BD0-C22D-243C-D74B-3D9D339414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可以使用</a:t>
            </a:r>
            <a:r>
              <a:rPr lang="en-US" altLang="zh-TW"/>
              <a:t>type()</a:t>
            </a:r>
            <a:r>
              <a:rPr lang="zh-TW" altLang="en-US"/>
              <a:t>函數取得目前變數的資料型態，如下所示：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20 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</a:t>
            </a:r>
            <a:r>
              <a:rPr lang="zh-TW" altLang="en-US">
                <a:solidFill>
                  <a:srgbClr val="FF3399"/>
                </a:solidFill>
              </a:rPr>
              <a:t>變數</a:t>
            </a:r>
            <a:r>
              <a:rPr lang="en-US" altLang="zh-TW">
                <a:solidFill>
                  <a:srgbClr val="FF3399"/>
                </a:solidFill>
              </a:rPr>
              <a:t>score</a:t>
            </a:r>
            <a:r>
              <a:rPr lang="zh-TW" altLang="en-US">
                <a:solidFill>
                  <a:srgbClr val="FF3399"/>
                </a:solidFill>
              </a:rPr>
              <a:t>值是</a:t>
            </a:r>
            <a:r>
              <a:rPr lang="en-US" altLang="zh-TW">
                <a:solidFill>
                  <a:srgbClr val="FF3399"/>
                </a:solidFill>
              </a:rPr>
              <a:t>:", score, type(score))</a:t>
            </a:r>
          </a:p>
          <a:p>
            <a:pPr eaLnBrk="1" hangingPunct="1"/>
            <a:r>
              <a:rPr lang="zh-TW" altLang="en-US"/>
              <a:t>上述變數</a:t>
            </a:r>
            <a:r>
              <a:rPr lang="en-US" altLang="zh-TW"/>
              <a:t>score</a:t>
            </a:r>
            <a:r>
              <a:rPr lang="zh-TW" altLang="en-US"/>
              <a:t>是整數，可以呼叫</a:t>
            </a:r>
            <a:r>
              <a:rPr lang="en-US" altLang="zh-TW"/>
              <a:t>type(a)</a:t>
            </a:r>
            <a:r>
              <a:rPr lang="zh-TW" altLang="en-US"/>
              <a:t>取得變數</a:t>
            </a:r>
            <a:r>
              <a:rPr lang="en-US" altLang="zh-TW"/>
              <a:t>a</a:t>
            </a:r>
            <a:r>
              <a:rPr lang="zh-TW" altLang="en-US"/>
              <a:t>資料型態的物件</a:t>
            </a:r>
            <a:r>
              <a:rPr lang="en-US" altLang="zh-TW"/>
              <a:t>&lt;class 'int'&gt;</a:t>
            </a:r>
            <a:r>
              <a:rPr lang="zh-TW" altLang="en-US"/>
              <a:t>，請注意！</a:t>
            </a:r>
            <a:r>
              <a:rPr lang="en-US" altLang="zh-TW"/>
              <a:t>Python</a:t>
            </a:r>
            <a:r>
              <a:rPr lang="zh-TW" altLang="en-US"/>
              <a:t>所有東西都是</a:t>
            </a:r>
            <a:r>
              <a:rPr lang="en-US" altLang="zh-TW"/>
              <a:t>class</a:t>
            </a:r>
            <a:r>
              <a:rPr lang="zh-TW" altLang="en-US"/>
              <a:t>類別的物件。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AAAA4AE-88E9-DE63-5D23-32CBC1DEEE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資料型態轉換函數</a:t>
            </a:r>
            <a:endParaRPr lang="en-US" altLang="zh-TW" dirty="0"/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D871F2F8-898F-27A3-11FD-25E566758F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不會自動轉換變數</a:t>
            </a:r>
            <a:r>
              <a:rPr lang="en-US" altLang="zh-TW"/>
              <a:t>/</a:t>
            </a:r>
            <a:r>
              <a:rPr lang="zh-TW" altLang="en-US"/>
              <a:t>文字值的資料型態，我們需要自行使用內建型態轉換函數來轉換變數</a:t>
            </a:r>
            <a:r>
              <a:rPr lang="en-US" altLang="zh-TW"/>
              <a:t>/</a:t>
            </a:r>
            <a:r>
              <a:rPr lang="zh-TW" altLang="en-US"/>
              <a:t>文字值成所需的資料型態，如下表所示：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D4E70A-E173-5B02-1EF6-B37CAD2603C3}"/>
              </a:ext>
            </a:extLst>
          </p:cNvPr>
          <p:cNvGraphicFramePr>
            <a:graphicFrameLocks noGrp="1"/>
          </p:cNvGraphicFramePr>
          <p:nvPr/>
        </p:nvGraphicFramePr>
        <p:xfrm>
          <a:off x="2351088" y="2924176"/>
          <a:ext cx="7561262" cy="338455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{22838BEF-8BB2-4498-84A7-C5851F593DF1}</a:tableStyleId>
              </a:tblPr>
              <a:tblGrid>
                <a:gridCol w="2133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型態轉換函數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str()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將任何資料型態的參數轉換成字串型態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937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將參數轉換成整數資料型態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參數如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果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字串內容只能是數字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如果是浮點數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轉換成整數會損失精確度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478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float()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將參數轉換成浮點數資料型態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字串內容只可以是數字和小數點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3505BFC-B30D-90AF-ED6D-51C82B013D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讓使用者輸入變數值</a:t>
            </a:r>
            <a:br>
              <a:rPr lang="zh-TW" altLang="en-US" dirty="0"/>
            </a:br>
            <a:r>
              <a:rPr lang="zh-TW" altLang="en-US" sz="2800" dirty="0"/>
              <a:t>從鍵盤輸入字串資料</a:t>
            </a:r>
            <a:endParaRPr lang="zh-TW" altLang="en-US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1E9E6635-762B-CEDB-6FDB-2F668AC8B9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可以讓使用者以鍵盤輸入變數值，這就是第</a:t>
            </a:r>
            <a:r>
              <a:rPr lang="en-US" altLang="zh-TW"/>
              <a:t>2-3-2</a:t>
            </a:r>
            <a:r>
              <a:rPr lang="zh-TW" altLang="en-US"/>
              <a:t>節的主控台輸入，我們是使用</a:t>
            </a:r>
            <a:r>
              <a:rPr lang="en-US" altLang="zh-TW"/>
              <a:t>input()</a:t>
            </a:r>
            <a:r>
              <a:rPr lang="zh-TW" altLang="en-US"/>
              <a:t>函數讓使用者輸入字串文字值。</a:t>
            </a:r>
          </a:p>
          <a:p>
            <a:pPr eaLnBrk="1" hangingPunct="1"/>
            <a:r>
              <a:rPr lang="zh-TW" altLang="en-US"/>
              <a:t>當變數值可以讓使用者自行使用鍵盤來輸入時，我們建立的</a:t>
            </a:r>
            <a:r>
              <a:rPr lang="en-US" altLang="zh-TW"/>
              <a:t>Python</a:t>
            </a:r>
            <a:r>
              <a:rPr lang="zh-TW" altLang="en-US"/>
              <a:t>程式就擁有更多的彈性，因為變數存入的值是在執行</a:t>
            </a:r>
            <a:r>
              <a:rPr lang="en-US" altLang="zh-TW"/>
              <a:t>Python</a:t>
            </a:r>
            <a:r>
              <a:rPr lang="zh-TW" altLang="en-US"/>
              <a:t>程式時，才讓使用者自行從鍵盤輸入，而不是撰寫</a:t>
            </a:r>
            <a:r>
              <a:rPr lang="en-US" altLang="zh-TW"/>
              <a:t>Python</a:t>
            </a:r>
            <a:r>
              <a:rPr lang="zh-TW" altLang="en-US"/>
              <a:t>程式碼來指定其值。</a:t>
            </a:r>
          </a:p>
          <a:p>
            <a:pPr marL="400050" lvl="1" indent="0" eaLnBrk="1" hangingPunct="1">
              <a:buNone/>
            </a:pPr>
            <a:endParaRPr lang="zh-TW" altLang="en-US">
              <a:solidFill>
                <a:srgbClr val="FF3399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2A261C53-7B71-0E90-DE7B-59C1D14ACB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讓使用者輸入變數值</a:t>
            </a:r>
            <a:br>
              <a:rPr lang="zh-TW" altLang="en-US" dirty="0"/>
            </a:br>
            <a:r>
              <a:rPr lang="zh-TW" altLang="en-US" sz="2800" dirty="0"/>
              <a:t>從鍵盤輸入字串資料</a:t>
            </a:r>
            <a:endParaRPr lang="zh-TW" altLang="en-US" dirty="0"/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9F8DEB1C-AE47-455E-4B91-3870A7CED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程式是呼叫</a:t>
            </a:r>
            <a:r>
              <a:rPr lang="en-US" altLang="zh-TW"/>
              <a:t>input()</a:t>
            </a:r>
            <a:r>
              <a:rPr lang="zh-TW" altLang="en-US"/>
              <a:t>函數來輸入字串資料型態的資料，如下所示：</a:t>
            </a:r>
          </a:p>
          <a:p>
            <a:pPr marL="40005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input("</a:t>
            </a:r>
            <a:r>
              <a:rPr lang="zh-TW" altLang="en-US">
                <a:solidFill>
                  <a:srgbClr val="FF3399"/>
                </a:solidFill>
              </a:rPr>
              <a:t>請輸入整數值</a:t>
            </a:r>
            <a:r>
              <a:rPr lang="en-US" altLang="zh-TW">
                <a:solidFill>
                  <a:srgbClr val="FF3399"/>
                </a:solidFill>
              </a:rPr>
              <a:t>==&gt; ")  # </a:t>
            </a:r>
            <a:r>
              <a:rPr lang="zh-TW" altLang="en-US">
                <a:solidFill>
                  <a:srgbClr val="FF3399"/>
                </a:solidFill>
              </a:rPr>
              <a:t>輸入字串文字值</a:t>
            </a:r>
          </a:p>
        </p:txBody>
      </p:sp>
      <p:pic>
        <p:nvPicPr>
          <p:cNvPr id="26628" name="Picture 4">
            <a:extLst>
              <a:ext uri="{FF2B5EF4-FFF2-40B4-BE49-F238E27FC236}">
                <a16:creationId xmlns:a16="http://schemas.microsoft.com/office/drawing/2014/main" id="{3F2443C4-3D08-1A58-DC4B-ACC0F07FD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613" y="3213100"/>
            <a:ext cx="5783262" cy="291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標題 1">
            <a:extLst>
              <a:ext uri="{FF2B5EF4-FFF2-40B4-BE49-F238E27FC236}">
                <a16:creationId xmlns:a16="http://schemas.microsoft.com/office/drawing/2014/main" id="{35F0F9A1-64AF-B267-A28A-3C50C56452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讓使用者輸入變數值</a:t>
            </a:r>
            <a:br>
              <a:rPr lang="zh-TW" altLang="en-US" dirty="0"/>
            </a:br>
            <a:r>
              <a:rPr lang="zh-TW" altLang="en-US" sz="2800" dirty="0"/>
              <a:t>從鍵盤輸入數值資料</a:t>
            </a:r>
            <a:endParaRPr lang="zh-TW" altLang="en-US" dirty="0">
              <a:ea typeface="新細明體" panose="02020500000000000000" pitchFamily="18" charset="-120"/>
            </a:endParaRPr>
          </a:p>
        </p:txBody>
      </p:sp>
      <p:sp>
        <p:nvSpPr>
          <p:cNvPr id="27651" name="內容版面配置區 2">
            <a:extLst>
              <a:ext uri="{FF2B5EF4-FFF2-40B4-BE49-F238E27FC236}">
                <a16:creationId xmlns:a16="http://schemas.microsoft.com/office/drawing/2014/main" id="{982707C1-0D02-7221-263D-FF71291105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請注意！</a:t>
            </a:r>
            <a:r>
              <a:rPr lang="en-US" altLang="zh-TW"/>
              <a:t>input()</a:t>
            </a:r>
            <a:r>
              <a:rPr lang="zh-TW" altLang="en-US"/>
              <a:t>函數只能輸入字串文字值，我們需要使用第</a:t>
            </a:r>
            <a:r>
              <a:rPr lang="en-US" altLang="zh-TW"/>
              <a:t>3-3-2</a:t>
            </a:r>
            <a:r>
              <a:rPr lang="zh-TW" altLang="en-US"/>
              <a:t>節的</a:t>
            </a:r>
            <a:r>
              <a:rPr lang="en-US" altLang="zh-TW"/>
              <a:t>int()</a:t>
            </a:r>
            <a:r>
              <a:rPr lang="zh-TW" altLang="en-US"/>
              <a:t>和</a:t>
            </a:r>
            <a:r>
              <a:rPr lang="en-US" altLang="zh-TW"/>
              <a:t>float()</a:t>
            </a:r>
            <a:r>
              <a:rPr lang="zh-TW" altLang="en-US"/>
              <a:t>資料型態轉換函數來轉換成整數變數</a:t>
            </a:r>
            <a:r>
              <a:rPr lang="en-US" altLang="zh-TW"/>
              <a:t>score2</a:t>
            </a:r>
            <a:r>
              <a:rPr lang="zh-TW" altLang="en-US"/>
              <a:t>和浮點數變數</a:t>
            </a:r>
            <a:r>
              <a:rPr lang="en-US" altLang="zh-TW"/>
              <a:t>score3</a:t>
            </a:r>
            <a:r>
              <a:rPr lang="zh-TW" altLang="en-US"/>
              <a:t>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score2 = int(score)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score3 = float(score)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r>
              <a:rPr lang="en-US" altLang="zh-TW" dirty="0"/>
              <a:t>print </a:t>
            </a:r>
            <a:r>
              <a:rPr lang="zh-TW" altLang="en-US" dirty="0"/>
              <a:t>輸出命令</a:t>
            </a:r>
          </a:p>
          <a:p>
            <a:pPr lvl="3"/>
            <a:r>
              <a:rPr lang="en-US" altLang="zh-TW" dirty="0"/>
              <a:t>print </a:t>
            </a:r>
            <a:r>
              <a:rPr lang="zh-TW" altLang="en-US" dirty="0"/>
              <a:t>命令能列印指定項目的內容，語法為：</a:t>
            </a:r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4">
              <a:buFont typeface="Wingdings" panose="05000000000000000000" pitchFamily="2" charset="2"/>
              <a:buChar char="n"/>
            </a:pPr>
            <a:r>
              <a:rPr lang="zh-TW" altLang="en-US" b="1" dirty="0"/>
              <a:t>項目</a:t>
            </a:r>
            <a:r>
              <a:rPr lang="en-US" altLang="zh-TW" b="1" dirty="0"/>
              <a:t>1,</a:t>
            </a:r>
            <a:r>
              <a:rPr lang="zh-TW" altLang="en-US" b="1" dirty="0"/>
              <a:t>項目</a:t>
            </a:r>
            <a:r>
              <a:rPr lang="en-US" altLang="zh-TW" b="1" dirty="0"/>
              <a:t>2,……</a:t>
            </a:r>
            <a:r>
              <a:rPr lang="zh-TW" altLang="en-US" dirty="0"/>
              <a:t>：</a:t>
            </a:r>
            <a:r>
              <a:rPr lang="en-US" altLang="zh-TW" dirty="0"/>
              <a:t>print </a:t>
            </a:r>
            <a:r>
              <a:rPr lang="zh-TW" altLang="en-US" dirty="0"/>
              <a:t>命令可以一次列印多個項目資料，項目之間以逗號「</a:t>
            </a:r>
            <a:r>
              <a:rPr lang="en-US" altLang="zh-TW" dirty="0"/>
              <a:t>,</a:t>
            </a:r>
            <a:r>
              <a:rPr lang="zh-TW" altLang="en-US" dirty="0"/>
              <a:t>」分開。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b="1" dirty="0" err="1"/>
              <a:t>sep</a:t>
            </a:r>
            <a:r>
              <a:rPr lang="zh-TW" altLang="en-US" dirty="0"/>
              <a:t>：分隔字元，如果列印多個項目，項目之間以分隔符號區隔，預設值為一個空白字元 </a:t>
            </a:r>
            <a:r>
              <a:rPr lang="en-US" altLang="zh-TW" dirty="0"/>
              <a:t>(" ")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b="1" dirty="0"/>
              <a:t>end</a:t>
            </a:r>
            <a:r>
              <a:rPr lang="zh-TW" altLang="en-US" dirty="0"/>
              <a:t>：結束字元，列印完畢後自動加入的字元，預設值為換列字元 </a:t>
            </a:r>
            <a:r>
              <a:rPr lang="en-US" altLang="zh-TW" dirty="0"/>
              <a:t>("\n")</a:t>
            </a:r>
            <a:r>
              <a:rPr lang="zh-TW" altLang="en-US" dirty="0"/>
              <a:t>，所以下一次執行 </a:t>
            </a:r>
            <a:r>
              <a:rPr lang="en-US" altLang="zh-TW" dirty="0"/>
              <a:t>print </a:t>
            </a:r>
            <a:r>
              <a:rPr lang="zh-TW" altLang="en-US" dirty="0"/>
              <a:t>命令會列印在下一列。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輸出與輸入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0" y="2420888"/>
            <a:ext cx="7497464" cy="379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042741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2"/>
            <a:r>
              <a:rPr lang="zh-TW" altLang="en-US" dirty="0"/>
              <a:t>「</a:t>
            </a:r>
            <a:r>
              <a:rPr lang="en-US" altLang="zh-TW" dirty="0"/>
              <a:t>%</a:t>
            </a:r>
            <a:r>
              <a:rPr lang="zh-TW" altLang="en-US" dirty="0"/>
              <a:t>」字串格式化</a:t>
            </a:r>
          </a:p>
          <a:p>
            <a:pPr lvl="3"/>
            <a:r>
              <a:rPr lang="en-US" altLang="zh-TW" dirty="0"/>
              <a:t>print </a:t>
            </a:r>
            <a:r>
              <a:rPr lang="zh-TW" altLang="en-US" dirty="0"/>
              <a:t>命令支援字串格式化功能，語法為：</a:t>
            </a:r>
            <a:endParaRPr lang="en-US" altLang="zh-TW" dirty="0"/>
          </a:p>
          <a:p>
            <a:pPr lvl="3"/>
            <a:r>
              <a:rPr lang="zh-TW" altLang="en-US" dirty="0"/>
              <a:t>常用的參數有：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025" y="1196752"/>
            <a:ext cx="3598143" cy="369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5" y="2204864"/>
            <a:ext cx="6505153" cy="2441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07214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3"/>
            <a:r>
              <a:rPr lang="zh-TW" altLang="en-US" dirty="0"/>
              <a:t>即以「</a:t>
            </a:r>
            <a:r>
              <a:rPr lang="en-US" altLang="zh-TW" dirty="0"/>
              <a:t>%s</a:t>
            </a:r>
            <a:r>
              <a:rPr lang="zh-TW" altLang="en-US" dirty="0"/>
              <a:t>」代表字串、「</a:t>
            </a:r>
            <a:r>
              <a:rPr lang="en-US" altLang="zh-TW" dirty="0"/>
              <a:t>%d</a:t>
            </a:r>
            <a:r>
              <a:rPr lang="zh-TW" altLang="en-US" dirty="0"/>
              <a:t>」代表整數、「</a:t>
            </a:r>
            <a:r>
              <a:rPr lang="en-US" altLang="zh-TW" dirty="0"/>
              <a:t>%f</a:t>
            </a:r>
            <a:r>
              <a:rPr lang="zh-TW" altLang="en-US" dirty="0"/>
              <a:t>」代表浮點數，字串格式化方式可以精確控制列印位置，讓輸出的資料整齊排列，例如：</a:t>
            </a:r>
            <a:endParaRPr lang="en-US" altLang="zh-TW" dirty="0"/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%5d</a:t>
            </a:r>
            <a:r>
              <a:rPr lang="zh-TW" altLang="en-US" dirty="0"/>
              <a:t>：固定列印 </a:t>
            </a:r>
            <a:r>
              <a:rPr lang="en-US" altLang="zh-TW" dirty="0"/>
              <a:t>5 </a:t>
            </a:r>
            <a:r>
              <a:rPr lang="zh-TW" altLang="en-US" dirty="0"/>
              <a:t>個字元，若少於 </a:t>
            </a:r>
            <a:r>
              <a:rPr lang="en-US" altLang="zh-TW" dirty="0"/>
              <a:t>5 </a:t>
            </a:r>
            <a:r>
              <a:rPr lang="zh-TW" altLang="en-US" dirty="0"/>
              <a:t>位數，會在數字左方填入空白字元</a:t>
            </a:r>
            <a:r>
              <a:rPr lang="en-US" altLang="zh-TW" dirty="0"/>
              <a:t>(</a:t>
            </a:r>
            <a:r>
              <a:rPr lang="zh-TW" altLang="en-US" dirty="0"/>
              <a:t>若大於 </a:t>
            </a:r>
            <a:r>
              <a:rPr lang="en-US" altLang="zh-TW" dirty="0"/>
              <a:t>5 </a:t>
            </a:r>
            <a:r>
              <a:rPr lang="zh-TW" altLang="en-US" dirty="0"/>
              <a:t>位數則會全部列印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%5s</a:t>
            </a:r>
            <a:r>
              <a:rPr lang="zh-TW" altLang="en-US" dirty="0"/>
              <a:t>：固定列印 </a:t>
            </a:r>
            <a:r>
              <a:rPr lang="en-US" altLang="zh-TW" dirty="0"/>
              <a:t>5 </a:t>
            </a:r>
            <a:r>
              <a:rPr lang="zh-TW" altLang="en-US" dirty="0"/>
              <a:t>個字元，若字串少於 </a:t>
            </a:r>
            <a:r>
              <a:rPr lang="en-US" altLang="zh-TW" dirty="0"/>
              <a:t>5 </a:t>
            </a:r>
            <a:r>
              <a:rPr lang="zh-TW" altLang="en-US" dirty="0"/>
              <a:t>個字元，會在字串左方填入空白字元 </a:t>
            </a:r>
            <a:r>
              <a:rPr lang="en-US" altLang="zh-TW" dirty="0"/>
              <a:t>(</a:t>
            </a:r>
            <a:r>
              <a:rPr lang="zh-TW" altLang="en-US" dirty="0"/>
              <a:t>若大於 </a:t>
            </a:r>
            <a:r>
              <a:rPr lang="en-US" altLang="zh-TW" dirty="0"/>
              <a:t>5 </a:t>
            </a:r>
            <a:r>
              <a:rPr lang="zh-TW" altLang="en-US" dirty="0"/>
              <a:t>個字元則會全部列印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%8.2f</a:t>
            </a:r>
            <a:r>
              <a:rPr lang="zh-TW" altLang="en-US" dirty="0"/>
              <a:t>：固定列印 </a:t>
            </a:r>
            <a:r>
              <a:rPr lang="en-US" altLang="zh-TW" dirty="0"/>
              <a:t>8 </a:t>
            </a:r>
            <a:r>
              <a:rPr lang="zh-TW" altLang="en-US" dirty="0"/>
              <a:t>個字元 </a:t>
            </a:r>
            <a:r>
              <a:rPr lang="en-US" altLang="zh-TW" dirty="0"/>
              <a:t>(</a:t>
            </a:r>
            <a:r>
              <a:rPr lang="zh-TW" altLang="en-US" dirty="0"/>
              <a:t>含小數點</a:t>
            </a:r>
            <a:r>
              <a:rPr lang="en-US" altLang="zh-TW" dirty="0"/>
              <a:t>)</a:t>
            </a:r>
            <a:r>
              <a:rPr lang="zh-TW" altLang="en-US" dirty="0"/>
              <a:t>，小數固定列印 </a:t>
            </a:r>
            <a:r>
              <a:rPr lang="en-US" altLang="zh-TW" dirty="0"/>
              <a:t>2 </a:t>
            </a:r>
            <a:r>
              <a:rPr lang="zh-TW" altLang="en-US" dirty="0"/>
              <a:t>位數。若整數少於 </a:t>
            </a:r>
            <a:r>
              <a:rPr lang="en-US" altLang="zh-TW" dirty="0"/>
              <a:t>5 </a:t>
            </a:r>
            <a:r>
              <a:rPr lang="zh-TW" altLang="en-US" dirty="0"/>
              <a:t>位數 </a:t>
            </a:r>
            <a:r>
              <a:rPr lang="en-US" altLang="zh-TW" dirty="0"/>
              <a:t>(8-3=5)</a:t>
            </a:r>
            <a:r>
              <a:rPr lang="zh-TW" altLang="en-US" dirty="0"/>
              <a:t>，會在數字左方填入空白字元 ；若小數少於 </a:t>
            </a:r>
            <a:r>
              <a:rPr lang="en-US" altLang="zh-TW" dirty="0"/>
              <a:t>2 </a:t>
            </a:r>
            <a:r>
              <a:rPr lang="zh-TW" altLang="en-US" dirty="0"/>
              <a:t>位數，會在數字右方填入「</a:t>
            </a:r>
            <a:r>
              <a:rPr lang="en-US" altLang="zh-TW" dirty="0"/>
              <a:t>0</a:t>
            </a:r>
            <a:r>
              <a:rPr lang="zh-TW" altLang="en-US" dirty="0"/>
              <a:t>」字元。</a:t>
            </a:r>
          </a:p>
        </p:txBody>
      </p:sp>
    </p:spTree>
    <p:extLst>
      <p:ext uri="{BB962C8B-B14F-4D97-AF65-F5344CB8AC3E}">
        <p14:creationId xmlns:p14="http://schemas.microsoft.com/office/powerpoint/2010/main" val="18565338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2"/>
            <a:r>
              <a:rPr lang="zh-TW" altLang="en-US" dirty="0"/>
              <a:t>「</a:t>
            </a:r>
            <a:r>
              <a:rPr lang="en-US" altLang="zh-TW" dirty="0"/>
              <a:t>format</a:t>
            </a:r>
            <a:r>
              <a:rPr lang="zh-TW" altLang="en-US" dirty="0"/>
              <a:t>」字串格式化</a:t>
            </a:r>
          </a:p>
          <a:p>
            <a:pPr lvl="3"/>
            <a:r>
              <a:rPr lang="zh-TW" altLang="en-US" dirty="0"/>
              <a:t>字串的 </a:t>
            </a:r>
            <a:r>
              <a:rPr lang="en-US" altLang="zh-TW" dirty="0"/>
              <a:t>format </a:t>
            </a:r>
            <a:r>
              <a:rPr lang="zh-TW" altLang="en-US" dirty="0"/>
              <a:t>方法也可將輸出資料格式化，以一對大括號「</a:t>
            </a:r>
            <a:r>
              <a:rPr lang="en-US" altLang="zh-TW" dirty="0"/>
              <a:t>{}</a:t>
            </a:r>
            <a:r>
              <a:rPr lang="zh-TW" altLang="en-US" dirty="0"/>
              <a:t>」表示參數的位置，語法為：</a:t>
            </a:r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一年二班有三位同學，請設計程式幫老師以 </a:t>
            </a:r>
            <a:r>
              <a:rPr lang="en-US" altLang="zh-TW" dirty="0"/>
              <a:t>print </a:t>
            </a:r>
            <a:r>
              <a:rPr lang="zh-TW" altLang="en-US" dirty="0"/>
              <a:t>命令的字串格式化方式整齊列印出班級成績單。</a:t>
            </a:r>
            <a:r>
              <a:rPr lang="en-US" altLang="zh-TW" dirty="0"/>
              <a:t>(&lt;format.py&gt;)</a:t>
            </a:r>
            <a:endParaRPr lang="zh-TW" alt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1664" y="1772817"/>
            <a:ext cx="4061246" cy="377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99" y="2118401"/>
            <a:ext cx="8312655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3990" y="3731488"/>
            <a:ext cx="666946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02C8BCB-A725-4E2A-B18E-DB2A56973902}"/>
              </a:ext>
            </a:extLst>
          </p:cNvPr>
          <p:cNvSpPr txBox="1"/>
          <p:nvPr/>
        </p:nvSpPr>
        <p:spPr>
          <a:xfrm>
            <a:off x="575999" y="5516235"/>
            <a:ext cx="9577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print("姓名   座號  國文  數學  英文")</a:t>
            </a:r>
          </a:p>
          <a:p>
            <a:r>
              <a:rPr lang="zh-TW" altLang="en-US" dirty="0"/>
              <a:t>print("%3s  %2d   %3d   %3d   %3d" % ("林大明", 1, 100, 87, 79))</a:t>
            </a:r>
          </a:p>
          <a:p>
            <a:r>
              <a:rPr lang="zh-TW" altLang="en-US" dirty="0"/>
              <a:t>print("%3s  %2d   %3d   %3d   %3d" % ("陳阿中", 2, 74, 88, 100))</a:t>
            </a:r>
          </a:p>
          <a:p>
            <a:r>
              <a:rPr lang="zh-TW" altLang="en-US" dirty="0"/>
              <a:t>print("%3s  %2d   %3d   %3d   %3d" % ("張小英", 11, 82, 65, 8))</a:t>
            </a:r>
          </a:p>
        </p:txBody>
      </p:sp>
    </p:spTree>
    <p:extLst>
      <p:ext uri="{BB962C8B-B14F-4D97-AF65-F5344CB8AC3E}">
        <p14:creationId xmlns:p14="http://schemas.microsoft.com/office/powerpoint/2010/main" val="42033596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r>
              <a:rPr lang="en-US" altLang="zh-TW" dirty="0"/>
              <a:t>input </a:t>
            </a:r>
            <a:r>
              <a:rPr lang="zh-TW" altLang="en-US" dirty="0"/>
              <a:t>輸入命令</a:t>
            </a:r>
            <a:endParaRPr lang="en-US" altLang="zh-TW" dirty="0"/>
          </a:p>
          <a:p>
            <a:pPr lvl="3"/>
            <a:r>
              <a:rPr lang="en-US" altLang="zh-TW" dirty="0"/>
              <a:t>input </a:t>
            </a:r>
            <a:r>
              <a:rPr lang="zh-TW" altLang="en-US" dirty="0"/>
              <a:t>命令的語法為：</a:t>
            </a:r>
            <a:endParaRPr lang="en-US" altLang="zh-TW" dirty="0"/>
          </a:p>
          <a:p>
            <a:pPr lvl="3"/>
            <a:r>
              <a:rPr lang="zh-TW" altLang="en-US" dirty="0"/>
              <a:t>「提示字串」是輸出一段提示訊息，告知使用者如何輸入。輸入資料時，當使用者按下 </a:t>
            </a:r>
            <a:r>
              <a:rPr lang="en-US" altLang="zh-TW" dirty="0"/>
              <a:t>Enter </a:t>
            </a:r>
            <a:r>
              <a:rPr lang="zh-TW" altLang="en-US" dirty="0"/>
              <a:t>鍵後就視為輸入結束，</a:t>
            </a:r>
            <a:r>
              <a:rPr lang="en-US" altLang="zh-TW" dirty="0"/>
              <a:t>input </a:t>
            </a:r>
            <a:r>
              <a:rPr lang="zh-TW" altLang="en-US" dirty="0"/>
              <a:t>命令會將使用者輸入的資料存入變數中。</a:t>
            </a:r>
            <a:endParaRPr lang="en-US" altLang="zh-TW" dirty="0"/>
          </a:p>
          <a:p>
            <a:pPr lvl="2"/>
            <a:r>
              <a:rPr lang="zh-TW" altLang="en-US" dirty="0"/>
              <a:t>輸入資料的型態為字串</a:t>
            </a:r>
          </a:p>
          <a:p>
            <a:pPr lvl="3"/>
            <a:r>
              <a:rPr lang="zh-TW" altLang="en-US" dirty="0"/>
              <a:t>使用 </a:t>
            </a:r>
            <a:r>
              <a:rPr lang="en-US" altLang="zh-TW" dirty="0"/>
              <a:t>input </a:t>
            </a:r>
            <a:r>
              <a:rPr lang="zh-TW" altLang="en-US" dirty="0"/>
              <a:t>命令時，使用者輸入的資料型態為字串。初學者最容易產生的錯誤是當使用者輸入數字型態的資料時，程式設計者會將其視為數值資料型態而直接進行數值運算，於是發生資料型態不符合的錯誤。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0905" y="1340768"/>
            <a:ext cx="3240360" cy="3481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617774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endParaRPr lang="en-US" altLang="zh-TW" dirty="0"/>
          </a:p>
          <a:p>
            <a:pPr lvl="4"/>
            <a:endParaRPr lang="en-US" altLang="zh-TW" dirty="0"/>
          </a:p>
          <a:p>
            <a:pPr lvl="3"/>
            <a:r>
              <a:rPr lang="zh-TW" altLang="en-US" dirty="0"/>
              <a:t>小林剛考完第一次段考，設計程式讓小林輸入國文、英文及數學成績後為其計算成績總分。</a:t>
            </a:r>
            <a:r>
              <a:rPr lang="en-US" altLang="zh-TW" dirty="0"/>
              <a:t>(&lt;input.py&gt;)</a:t>
            </a:r>
            <a:endParaRPr lang="zh-TW" alt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4" y="692696"/>
            <a:ext cx="8244408" cy="999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220" y="2272504"/>
            <a:ext cx="6669558" cy="1958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EDA2BEFF-2697-4142-9FD2-BD1CA3DABC52}"/>
              </a:ext>
            </a:extLst>
          </p:cNvPr>
          <p:cNvSpPr txBox="1"/>
          <p:nvPr/>
        </p:nvSpPr>
        <p:spPr>
          <a:xfrm>
            <a:off x="3047999" y="462780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chinese = int(input("請輸入國文成績: "))</a:t>
            </a:r>
          </a:p>
          <a:p>
            <a:r>
              <a:rPr lang="zh-TW" altLang="en-US" dirty="0"/>
              <a:t>math = int(input("請輸入數學成績: "))</a:t>
            </a:r>
          </a:p>
          <a:p>
            <a:r>
              <a:rPr lang="zh-TW" altLang="en-US" dirty="0"/>
              <a:t>english = int(input("請輸入英文成績: "))</a:t>
            </a:r>
          </a:p>
          <a:p>
            <a:r>
              <a:rPr lang="zh-TW" altLang="en-US" dirty="0"/>
              <a:t>total = chinese + math + english</a:t>
            </a:r>
          </a:p>
          <a:p>
            <a:r>
              <a:rPr lang="zh-TW" altLang="en-US" dirty="0"/>
              <a:t>print("你的成績總分為：" + str(total))</a:t>
            </a:r>
          </a:p>
        </p:txBody>
      </p:sp>
    </p:spTree>
    <p:extLst>
      <p:ext uri="{BB962C8B-B14F-4D97-AF65-F5344CB8AC3E}">
        <p14:creationId xmlns:p14="http://schemas.microsoft.com/office/powerpoint/2010/main" val="4962508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846D9378-0C83-35C0-1EA4-D391A89B01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認識運算式和運算子</a:t>
            </a: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3B8F97DE-5059-1E58-41EF-FAE3289E11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關於運算式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輸出運算式的運算結果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執行不同種類運算元的運算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讓使用者輸入值來執行運算</a:t>
            </a:r>
          </a:p>
        </p:txBody>
      </p:sp>
      <p:pic>
        <p:nvPicPr>
          <p:cNvPr id="28676" name="Picture 4" descr="note">
            <a:extLst>
              <a:ext uri="{FF2B5EF4-FFF2-40B4-BE49-F238E27FC236}">
                <a16:creationId xmlns:a16="http://schemas.microsoft.com/office/drawing/2014/main" id="{BA8F0DC1-A2A8-59F3-2948-DE2921EA605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7659A352-2991-ABF1-2616-8CE3737C7C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關於運算式</a:t>
            </a:r>
          </a:p>
        </p:txBody>
      </p:sp>
      <p:sp>
        <p:nvSpPr>
          <p:cNvPr id="29699" name="內容版面配置區 1">
            <a:extLst>
              <a:ext uri="{FF2B5EF4-FFF2-40B4-BE49-F238E27FC236}">
                <a16:creationId xmlns:a16="http://schemas.microsoft.com/office/drawing/2014/main" id="{F1F9869C-8779-816A-6DF2-BDBAE9F72D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運算式（</a:t>
            </a:r>
            <a:r>
              <a:rPr lang="en-US" altLang="zh-TW"/>
              <a:t>Expressions</a:t>
            </a:r>
            <a:r>
              <a:rPr lang="zh-TW" altLang="en-US"/>
              <a:t>）是由一序列運算子（</a:t>
            </a:r>
            <a:r>
              <a:rPr lang="en-US" altLang="zh-TW"/>
              <a:t>Operators</a:t>
            </a:r>
            <a:r>
              <a:rPr lang="zh-TW" altLang="en-US"/>
              <a:t>）和運算元（</a:t>
            </a:r>
            <a:r>
              <a:rPr lang="en-US" altLang="zh-TW"/>
              <a:t>Operands</a:t>
            </a:r>
            <a:r>
              <a:rPr lang="zh-TW" altLang="en-US"/>
              <a:t>）所組成，可以在程式中執行所需的運算任務（即執行資料處理），如下圖所示：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29700" name="Picture 5">
            <a:extLst>
              <a:ext uri="{FF2B5EF4-FFF2-40B4-BE49-F238E27FC236}">
                <a16:creationId xmlns:a16="http://schemas.microsoft.com/office/drawing/2014/main" id="{F56E055A-7C93-7583-8AEA-A99CF4516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3068639"/>
            <a:ext cx="537210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ACC9A81D-E4C6-651D-F763-A217C392A7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關於運算式</a:t>
            </a:r>
          </a:p>
        </p:txBody>
      </p:sp>
      <p:sp>
        <p:nvSpPr>
          <p:cNvPr id="30723" name="內容版面配置區 1">
            <a:extLst>
              <a:ext uri="{FF2B5EF4-FFF2-40B4-BE49-F238E27FC236}">
                <a16:creationId xmlns:a16="http://schemas.microsoft.com/office/drawing/2014/main" id="{1A149973-01AE-ECB4-15CE-5D568329AE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運算子依運算元的個數分成二種，如下所示：</a:t>
            </a:r>
          </a:p>
          <a:p>
            <a:pPr lvl="1" eaLnBrk="1" hangingPunct="1"/>
            <a:r>
              <a:rPr lang="zh-TW" altLang="en-US"/>
              <a:t>單元運算子（</a:t>
            </a:r>
            <a:r>
              <a:rPr lang="en-US" altLang="zh-TW"/>
              <a:t>Unary Operator</a:t>
            </a:r>
            <a:r>
              <a:rPr lang="zh-TW" altLang="en-US"/>
              <a:t>）：只有一個運算元，例如：正號或負號，如下所示：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-15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+10</a:t>
            </a:r>
          </a:p>
          <a:p>
            <a:pPr lvl="1" eaLnBrk="1" hangingPunct="1"/>
            <a:r>
              <a:rPr lang="zh-TW" altLang="en-US"/>
              <a:t>二元運算子（</a:t>
            </a:r>
            <a:r>
              <a:rPr lang="en-US" altLang="zh-TW"/>
              <a:t>Binary Operator</a:t>
            </a:r>
            <a:r>
              <a:rPr lang="zh-TW" altLang="en-US"/>
              <a:t>）：擁有位在左右的兩個運算元，</a:t>
            </a:r>
            <a:r>
              <a:rPr lang="en-US" altLang="zh-TW"/>
              <a:t>Python</a:t>
            </a:r>
            <a:r>
              <a:rPr lang="zh-TW" altLang="en-US"/>
              <a:t>運算子大部分是二元運算子，如下所示：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5 + 10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10 - 2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5FE65CDB-C054-F5A0-47B3-853FD93D7A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輸出運算式的運算結果</a:t>
            </a:r>
          </a:p>
        </p:txBody>
      </p:sp>
      <p:sp>
        <p:nvSpPr>
          <p:cNvPr id="31747" name="內容版面配置區 1">
            <a:extLst>
              <a:ext uri="{FF2B5EF4-FFF2-40B4-BE49-F238E27FC236}">
                <a16:creationId xmlns:a16="http://schemas.microsoft.com/office/drawing/2014/main" id="{2B40AC46-8CAD-9B2E-4CEC-BBF7994A42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的</a:t>
            </a:r>
            <a:r>
              <a:rPr lang="en-US" altLang="zh-TW"/>
              <a:t>print()</a:t>
            </a:r>
            <a:r>
              <a:rPr lang="zh-TW" altLang="en-US"/>
              <a:t>函數可以在電腦螢幕輸出執行結果，同樣的，我們可以輸出運算式的運算結果，如下圖所示：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31748" name="Picture 20">
            <a:extLst>
              <a:ext uri="{FF2B5EF4-FFF2-40B4-BE49-F238E27FC236}">
                <a16:creationId xmlns:a16="http://schemas.microsoft.com/office/drawing/2014/main" id="{4AD65CCA-BE71-2380-3AD3-7C101700C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964" y="2767013"/>
            <a:ext cx="6943725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4F894C7-F492-B539-5E07-5E126CB63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2</a:t>
            </a:r>
            <a:r>
              <a:rPr lang="zh-TW" altLang="en-US" sz="2800" dirty="0"/>
              <a:t>個運算元都是變數</a:t>
            </a:r>
            <a:endParaRPr lang="zh-TW" altLang="en-US" dirty="0"/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15F052EC-1502-DB2B-8479-41C84C3F31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加法運算式的</a:t>
            </a:r>
            <a:r>
              <a:rPr lang="en-US" altLang="zh-TW" dirty="0"/>
              <a:t>2</a:t>
            </a:r>
            <a:r>
              <a:rPr lang="zh-TW" altLang="en-US" dirty="0"/>
              <a:t>個運算元可以是</a:t>
            </a:r>
            <a:r>
              <a:rPr lang="en-US" altLang="zh-TW" dirty="0"/>
              <a:t>2</a:t>
            </a:r>
            <a:r>
              <a:rPr lang="zh-TW" altLang="en-US" dirty="0"/>
              <a:t>個變數，例如：計算分數的總和，如下所示：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score2 = 67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total = score1 + score2   # </a:t>
            </a:r>
            <a:r>
              <a:rPr lang="zh-TW" altLang="en-US" dirty="0">
                <a:solidFill>
                  <a:srgbClr val="FF3399"/>
                </a:solidFill>
              </a:rPr>
              <a:t>加法運算式</a:t>
            </a:r>
          </a:p>
          <a:p>
            <a:pPr eaLnBrk="1" hangingPunct="1">
              <a:defRPr/>
            </a:pPr>
            <a:r>
              <a:rPr lang="zh-TW" altLang="en-US" dirty="0"/>
              <a:t>上述運算式「</a:t>
            </a:r>
            <a:r>
              <a:rPr lang="en-US" altLang="zh-TW" dirty="0"/>
              <a:t>score1+score2</a:t>
            </a:r>
            <a:r>
              <a:rPr lang="zh-TW" altLang="en-US" dirty="0"/>
              <a:t>」的</a:t>
            </a:r>
            <a:r>
              <a:rPr lang="en-US" altLang="zh-TW" dirty="0"/>
              <a:t>2</a:t>
            </a:r>
            <a:r>
              <a:rPr lang="zh-TW" altLang="en-US" dirty="0"/>
              <a:t>個運算元都是變數，「</a:t>
            </a:r>
            <a:r>
              <a:rPr lang="en-US" altLang="zh-TW" dirty="0"/>
              <a:t>total = score1+score2</a:t>
            </a:r>
            <a:r>
              <a:rPr lang="zh-TW" altLang="en-US" dirty="0"/>
              <a:t>」運算式的意義是：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「取出變數</a:t>
            </a:r>
            <a:r>
              <a:rPr lang="en-US" altLang="zh-TW" b="1" dirty="0"/>
              <a:t>score1</a:t>
            </a:r>
            <a:r>
              <a:rPr lang="zh-TW" altLang="en-US" b="1" dirty="0"/>
              <a:t>儲存的值</a:t>
            </a:r>
            <a:r>
              <a:rPr lang="en-US" altLang="zh-TW" b="1" dirty="0"/>
              <a:t>56</a:t>
            </a:r>
            <a:r>
              <a:rPr lang="zh-TW" altLang="en-US" b="1" dirty="0"/>
              <a:t>，和取出變數</a:t>
            </a:r>
            <a:r>
              <a:rPr lang="en-US" altLang="zh-TW" b="1" dirty="0"/>
              <a:t>score2</a:t>
            </a:r>
            <a:r>
              <a:rPr lang="zh-TW" altLang="en-US" b="1" dirty="0"/>
              <a:t>儲存的值</a:t>
            </a:r>
            <a:r>
              <a:rPr lang="en-US" altLang="zh-TW" b="1" dirty="0"/>
              <a:t>67</a:t>
            </a:r>
            <a:r>
              <a:rPr lang="zh-TW" altLang="en-US" b="1" dirty="0"/>
              <a:t>後，將</a:t>
            </a:r>
            <a:r>
              <a:rPr lang="en-US" altLang="zh-TW" b="1" dirty="0"/>
              <a:t>2</a:t>
            </a:r>
            <a:r>
              <a:rPr lang="zh-TW" altLang="en-US" b="1" dirty="0"/>
              <a:t>個常數值相加</a:t>
            </a:r>
            <a:r>
              <a:rPr lang="en-US" altLang="zh-TW" b="1" dirty="0"/>
              <a:t>56+67</a:t>
            </a:r>
            <a:r>
              <a:rPr lang="zh-TW" altLang="en-US" b="1" dirty="0"/>
              <a:t>後，再將運算結果</a:t>
            </a:r>
            <a:r>
              <a:rPr lang="en-US" altLang="zh-TW" b="1" dirty="0"/>
              <a:t>123</a:t>
            </a:r>
            <a:r>
              <a:rPr lang="zh-TW" altLang="en-US" b="1" dirty="0"/>
              <a:t>存入變數</a:t>
            </a:r>
            <a:r>
              <a:rPr lang="en-US" altLang="zh-TW" b="1" dirty="0"/>
              <a:t>total</a:t>
            </a:r>
            <a:r>
              <a:rPr lang="zh-TW" altLang="en-US" b="1" dirty="0"/>
              <a:t>。」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13164CBD-462B-9D3B-F790-45CD3DADE3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2</a:t>
            </a:r>
            <a:r>
              <a:rPr lang="zh-TW" altLang="en-US" sz="2800" dirty="0"/>
              <a:t>個運算元都是變數</a:t>
            </a:r>
            <a:endParaRPr lang="zh-TW" altLang="en-US" dirty="0"/>
          </a:p>
        </p:txBody>
      </p:sp>
      <p:sp>
        <p:nvSpPr>
          <p:cNvPr id="33795" name="內容版面配置區 1">
            <a:extLst>
              <a:ext uri="{FF2B5EF4-FFF2-40B4-BE49-F238E27FC236}">
                <a16:creationId xmlns:a16="http://schemas.microsoft.com/office/drawing/2014/main" id="{D35FECFE-3DC2-FD9F-B6BC-43A03384C9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33796" name="Picture 2">
            <a:extLst>
              <a:ext uri="{FF2B5EF4-FFF2-40B4-BE49-F238E27FC236}">
                <a16:creationId xmlns:a16="http://schemas.microsoft.com/office/drawing/2014/main" id="{FA3BEBED-65F1-BD86-2AEF-51CB9C3A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2060575"/>
            <a:ext cx="5942012" cy="3671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BB29947-C007-55A9-4F4F-9BF5063636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1</a:t>
            </a:r>
            <a:r>
              <a:rPr lang="zh-TW" altLang="en-US" sz="2800" dirty="0"/>
              <a:t>個運算元是變數；</a:t>
            </a:r>
            <a:r>
              <a:rPr lang="en-US" altLang="zh-TW" sz="2800" dirty="0"/>
              <a:t>1</a:t>
            </a:r>
            <a:r>
              <a:rPr lang="zh-TW" altLang="en-US" sz="2800" dirty="0"/>
              <a:t>個運算元是文字值</a:t>
            </a:r>
            <a:endParaRPr lang="zh-TW" altLang="en-US" dirty="0"/>
          </a:p>
        </p:txBody>
      </p:sp>
      <p:sp>
        <p:nvSpPr>
          <p:cNvPr id="34819" name="內容版面配置區 1">
            <a:extLst>
              <a:ext uri="{FF2B5EF4-FFF2-40B4-BE49-F238E27FC236}">
                <a16:creationId xmlns:a16="http://schemas.microsoft.com/office/drawing/2014/main" id="{807B3348-A084-A98F-1FC3-46F6A448B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加法運算式的</a:t>
            </a:r>
            <a:r>
              <a:rPr lang="en-US" altLang="zh-TW"/>
              <a:t>2</a:t>
            </a:r>
            <a:r>
              <a:rPr lang="zh-TW" altLang="en-US"/>
              <a:t>個運算元可以其中一個是變數；另一個是文字值，例如：調整變數</a:t>
            </a:r>
            <a:r>
              <a:rPr lang="en-US" altLang="zh-TW"/>
              <a:t>score1</a:t>
            </a:r>
            <a:r>
              <a:rPr lang="zh-TW" altLang="en-US"/>
              <a:t>的分數，將它加</a:t>
            </a:r>
            <a:r>
              <a:rPr lang="en-US" altLang="zh-TW"/>
              <a:t>10</a:t>
            </a:r>
            <a:r>
              <a:rPr lang="zh-TW" altLang="en-US"/>
              <a:t>分，如下所示：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score1 + 10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上述運算式「</a:t>
            </a:r>
            <a:r>
              <a:rPr lang="en-US" altLang="zh-TW"/>
              <a:t>score1+10</a:t>
            </a:r>
            <a:r>
              <a:rPr lang="zh-TW" altLang="en-US"/>
              <a:t>」的第</a:t>
            </a:r>
            <a:r>
              <a:rPr lang="en-US" altLang="zh-TW"/>
              <a:t>1</a:t>
            </a:r>
            <a:r>
              <a:rPr lang="zh-TW" altLang="en-US"/>
              <a:t>個運算元是變數；第</a:t>
            </a:r>
            <a:r>
              <a:rPr lang="en-US" altLang="zh-TW"/>
              <a:t>2</a:t>
            </a:r>
            <a:r>
              <a:rPr lang="zh-TW" altLang="en-US"/>
              <a:t>個是文字值，「</a:t>
            </a:r>
            <a:r>
              <a:rPr lang="en-US" altLang="zh-TW"/>
              <a:t>score1 = score1+10</a:t>
            </a:r>
            <a:r>
              <a:rPr lang="zh-TW" altLang="en-US"/>
              <a:t>」運算式的意義是：</a:t>
            </a:r>
          </a:p>
          <a:p>
            <a:pPr eaLnBrk="1" hangingPunct="1">
              <a:buFontTx/>
              <a:buNone/>
            </a:pPr>
            <a:r>
              <a:rPr lang="zh-TW" altLang="en-US" b="1"/>
              <a:t>「取出變數</a:t>
            </a:r>
            <a:r>
              <a:rPr lang="en-US" altLang="zh-TW" b="1"/>
              <a:t>score1</a:t>
            </a:r>
            <a:r>
              <a:rPr lang="zh-TW" altLang="en-US" b="1"/>
              <a:t>儲存的值</a:t>
            </a:r>
            <a:r>
              <a:rPr lang="en-US" altLang="zh-TW" b="1"/>
              <a:t>56</a:t>
            </a:r>
            <a:r>
              <a:rPr lang="zh-TW" altLang="en-US" b="1"/>
              <a:t>，加上文字值</a:t>
            </a:r>
            <a:r>
              <a:rPr lang="en-US" altLang="zh-TW" b="1"/>
              <a:t>10</a:t>
            </a:r>
            <a:r>
              <a:rPr lang="zh-TW" altLang="en-US" b="1"/>
              <a:t>後，再將運算結果</a:t>
            </a:r>
            <a:r>
              <a:rPr lang="en-US" altLang="zh-TW" b="1"/>
              <a:t>56+10=66</a:t>
            </a:r>
            <a:r>
              <a:rPr lang="zh-TW" altLang="en-US" b="1"/>
              <a:t>存入變數</a:t>
            </a:r>
            <a:r>
              <a:rPr lang="en-US" altLang="zh-TW" b="1"/>
              <a:t>score1</a:t>
            </a:r>
            <a:r>
              <a:rPr lang="zh-TW" altLang="en-US" b="1"/>
              <a:t>。」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64CE32B1-7050-12B7-E0D6-F3DF8961FC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1</a:t>
            </a:r>
            <a:r>
              <a:rPr lang="zh-TW" altLang="en-US" sz="2800" dirty="0"/>
              <a:t>個運算元是變數；</a:t>
            </a:r>
            <a:r>
              <a:rPr lang="en-US" altLang="zh-TW" sz="2800" dirty="0"/>
              <a:t>1</a:t>
            </a:r>
            <a:r>
              <a:rPr lang="zh-TW" altLang="en-US" sz="2800" dirty="0"/>
              <a:t>個運算元是文字值</a:t>
            </a:r>
            <a:endParaRPr lang="zh-TW" altLang="en-US" dirty="0"/>
          </a:p>
        </p:txBody>
      </p:sp>
      <p:sp>
        <p:nvSpPr>
          <p:cNvPr id="35843" name="內容版面配置區 2">
            <a:extLst>
              <a:ext uri="{FF2B5EF4-FFF2-40B4-BE49-F238E27FC236}">
                <a16:creationId xmlns:a16="http://schemas.microsoft.com/office/drawing/2014/main" id="{B2607474-8E7C-A48F-2942-628186E996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/>
          </a:p>
        </p:txBody>
      </p:sp>
      <p:pic>
        <p:nvPicPr>
          <p:cNvPr id="35844" name="Picture 2">
            <a:extLst>
              <a:ext uri="{FF2B5EF4-FFF2-40B4-BE49-F238E27FC236}">
                <a16:creationId xmlns:a16="http://schemas.microsoft.com/office/drawing/2014/main" id="{D6BC19B5-2192-87F8-B0A2-71228139E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414" y="1844676"/>
            <a:ext cx="6353175" cy="403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標題 1">
            <a:extLst>
              <a:ext uri="{FF2B5EF4-FFF2-40B4-BE49-F238E27FC236}">
                <a16:creationId xmlns:a16="http://schemas.microsoft.com/office/drawing/2014/main" id="{8E6BA385-46CE-878D-F831-FB72E51C2C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讓使用者輸入值來執行運算</a:t>
            </a:r>
          </a:p>
        </p:txBody>
      </p:sp>
      <p:sp>
        <p:nvSpPr>
          <p:cNvPr id="36867" name="內容版面配置區 2">
            <a:extLst>
              <a:ext uri="{FF2B5EF4-FFF2-40B4-BE49-F238E27FC236}">
                <a16:creationId xmlns:a16="http://schemas.microsoft.com/office/drawing/2014/main" id="{A9E1B9ED-D526-56E4-4595-72D2F5E8DC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當運算式的運算元是變數，我們只需更改變數值，就可以產生不同的運算結果，如下所示：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total = score1 + score2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上述運算元變數</a:t>
            </a:r>
            <a:r>
              <a:rPr lang="en-US" altLang="zh-TW"/>
              <a:t>score1</a:t>
            </a:r>
            <a:r>
              <a:rPr lang="zh-TW" altLang="en-US"/>
              <a:t>和</a:t>
            </a:r>
            <a:r>
              <a:rPr lang="en-US" altLang="zh-TW"/>
              <a:t>score2</a:t>
            </a:r>
            <a:r>
              <a:rPr lang="zh-TW" altLang="en-US"/>
              <a:t>的值如果不同，</a:t>
            </a:r>
            <a:r>
              <a:rPr lang="en-US" altLang="zh-TW"/>
              <a:t>total</a:t>
            </a:r>
            <a:r>
              <a:rPr lang="zh-TW" altLang="en-US"/>
              <a:t>變數的運算結果就會不同，</a:t>
            </a:r>
            <a:r>
              <a:rPr lang="en-US" altLang="zh-TW"/>
              <a:t>Python</a:t>
            </a:r>
            <a:r>
              <a:rPr lang="zh-TW" altLang="en-US"/>
              <a:t>程式可以使用</a:t>
            </a:r>
            <a:r>
              <a:rPr lang="en-US" altLang="zh-TW"/>
              <a:t>input()</a:t>
            </a:r>
            <a:r>
              <a:rPr lang="zh-TW" altLang="en-US"/>
              <a:t>函數，讓使用者自行輸入變數值來執行運算，只需輸入不同值，就可以得到不同的加法運算結果。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F3266852-A3B3-DE9A-51D4-C7D5D62E9E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在程式使用運算子</a:t>
            </a:r>
            <a:endParaRPr lang="zh-TW" altLang="en-US" dirty="0"/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A98E98DA-F2C9-5334-929C-87B36E9B0E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運算子的優先順序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算術運算子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指定運算子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更多的指定敘述</a:t>
            </a:r>
          </a:p>
        </p:txBody>
      </p:sp>
      <p:pic>
        <p:nvPicPr>
          <p:cNvPr id="37892" name="Picture 4" descr="note">
            <a:extLst>
              <a:ext uri="{FF2B5EF4-FFF2-40B4-BE49-F238E27FC236}">
                <a16:creationId xmlns:a16="http://schemas.microsoft.com/office/drawing/2014/main" id="{BB3476D6-B7EA-3A1F-AB42-20AF9D41DFF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6524D936-68BE-F822-3E42-91A015D3C8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運算子的優先順序</a:t>
            </a:r>
            <a:br>
              <a:rPr lang="zh-TW" altLang="en-US" dirty="0"/>
            </a:br>
            <a:r>
              <a:rPr lang="zh-TW" altLang="en-US" sz="2800" dirty="0"/>
              <a:t>優先順序（</a:t>
            </a:r>
            <a:r>
              <a:rPr lang="en-US" altLang="zh-TW" sz="2800" dirty="0"/>
              <a:t>Precedence</a:t>
            </a:r>
            <a:r>
              <a:rPr lang="zh-TW" altLang="en-US" sz="2800" dirty="0"/>
              <a:t>）</a:t>
            </a:r>
            <a:endParaRPr lang="zh-TW" altLang="en-US" dirty="0"/>
          </a:p>
        </p:txBody>
      </p:sp>
      <p:sp>
        <p:nvSpPr>
          <p:cNvPr id="38915" name="內容版面配置區 1">
            <a:extLst>
              <a:ext uri="{FF2B5EF4-FFF2-40B4-BE49-F238E27FC236}">
                <a16:creationId xmlns:a16="http://schemas.microsoft.com/office/drawing/2014/main" id="{2DAADB07-795F-AD43-D01B-1C3FF4CE46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運算子的優先順序決定運算式中運算子的執行順序，可以讓擁有多運算子的運算式得到相同的運算結果。</a:t>
            </a:r>
          </a:p>
          <a:p>
            <a:pPr eaLnBrk="1" hangingPunct="1"/>
            <a:r>
              <a:rPr lang="zh-TW" altLang="en-US"/>
              <a:t>當同一</a:t>
            </a:r>
            <a:r>
              <a:rPr lang="en-US" altLang="zh-TW"/>
              <a:t>Python</a:t>
            </a:r>
            <a:r>
              <a:rPr lang="zh-TW" altLang="en-US"/>
              <a:t>運算式使用多個運算子時，為了讓運算式能夠得到相同的運算結果，運算式是以運算子預設的優先順序來進行運算，也就是熟知的「先乘除後加減」口訣，如下所示：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a + b * 2</a:t>
            </a:r>
          </a:p>
          <a:p>
            <a:pPr eaLnBrk="1" hangingPunct="1"/>
            <a:r>
              <a:rPr lang="zh-TW" altLang="en-US"/>
              <a:t>上述運算式因為運算子的優先順序「*」大於「</a:t>
            </a:r>
            <a:r>
              <a:rPr lang="en-US" altLang="zh-TW"/>
              <a:t>+</a:t>
            </a:r>
            <a:r>
              <a:rPr lang="zh-TW" altLang="en-US"/>
              <a:t>」，所以先計算</a:t>
            </a:r>
            <a:r>
              <a:rPr lang="en-US" altLang="zh-TW"/>
              <a:t>b*2</a:t>
            </a:r>
            <a:r>
              <a:rPr lang="zh-TW" altLang="en-US"/>
              <a:t>後才和</a:t>
            </a:r>
            <a:r>
              <a:rPr lang="en-US" altLang="zh-TW"/>
              <a:t>a</a:t>
            </a:r>
            <a:r>
              <a:rPr lang="zh-TW" altLang="en-US"/>
              <a:t>相加。如果需要，在運算式可以使用括號推翻預設的運算子優先順序，例如：改變上述運算式的運算順序，先執行加法運算後，才是乘法，如下所示：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(a + b) *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36542CD3-7388-D904-30F6-0E72A77F0D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運算子的優先順序</a:t>
            </a:r>
            <a:br>
              <a:rPr lang="zh-TW" altLang="en-US" dirty="0"/>
            </a:br>
            <a:r>
              <a:rPr lang="en-US" altLang="zh-TW" sz="2800" dirty="0"/>
              <a:t>Python</a:t>
            </a:r>
            <a:r>
              <a:rPr lang="zh-TW" altLang="en-US" sz="2800" dirty="0"/>
              <a:t>運算子的優先順序</a:t>
            </a:r>
            <a:endParaRPr lang="zh-TW" altLang="en-US" dirty="0"/>
          </a:p>
        </p:txBody>
      </p:sp>
      <p:graphicFrame>
        <p:nvGraphicFramePr>
          <p:cNvPr id="3" name="內容版面配置區 2">
            <a:extLst>
              <a:ext uri="{FF2B5EF4-FFF2-40B4-BE49-F238E27FC236}">
                <a16:creationId xmlns:a16="http://schemas.microsoft.com/office/drawing/2014/main" id="{05FACD0D-B45A-8981-9ADC-8C371DED33B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135188" y="1427163"/>
          <a:ext cx="8070850" cy="5353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3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()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括號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~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正號、負號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算術運算子的乘法、除法、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和餘數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算術運算子加法和減法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&gt;&gt;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位元運算子左移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右移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&amp;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^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|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001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 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 not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!=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成員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識別和關係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於等於、不等於和等於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2AAC2D11-21FC-12E1-FC8C-630DE8F8B1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算術運算子</a:t>
            </a:r>
          </a:p>
        </p:txBody>
      </p:sp>
      <p:sp>
        <p:nvSpPr>
          <p:cNvPr id="40963" name="內容版面配置區 1">
            <a:extLst>
              <a:ext uri="{FF2B5EF4-FFF2-40B4-BE49-F238E27FC236}">
                <a16:creationId xmlns:a16="http://schemas.microsoft.com/office/drawing/2014/main" id="{DBD7AC3F-DD45-AFFC-97D5-042CD04AA1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算術運算子（</a:t>
            </a:r>
            <a:r>
              <a:rPr lang="en-US" altLang="zh-TW"/>
              <a:t>Arithmetic Operators</a:t>
            </a:r>
            <a:r>
              <a:rPr lang="zh-TW" altLang="en-US"/>
              <a:t>）可以建立數學的算術運算式（</a:t>
            </a:r>
            <a:r>
              <a:rPr lang="en-US" altLang="zh-TW"/>
              <a:t>Arithmetic Expressions</a:t>
            </a:r>
            <a:r>
              <a:rPr lang="zh-TW" altLang="en-US"/>
              <a:t>），其說明如下表所示： </a:t>
            </a:r>
          </a:p>
          <a:p>
            <a:pPr eaLnBrk="1" hangingPunct="1"/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D3ACD06-8210-3039-569E-A773D070A800}"/>
              </a:ext>
            </a:extLst>
          </p:cNvPr>
          <p:cNvGraphicFramePr>
            <a:graphicFrameLocks noGrp="1"/>
          </p:cNvGraphicFramePr>
          <p:nvPr/>
        </p:nvGraphicFramePr>
        <p:xfrm>
          <a:off x="2135188" y="2873375"/>
          <a:ext cx="7993062" cy="3833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1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8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運算式範例</a:t>
                      </a: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負號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* 2 = 14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 2 = 3.5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// 2 = 3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7 % 2 = 1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+ 2 = 9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– 2 = 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2 ** 3 = 8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3">
            <a:extLst>
              <a:ext uri="{FF2B5EF4-FFF2-40B4-BE49-F238E27FC236}">
                <a16:creationId xmlns:a16="http://schemas.microsoft.com/office/drawing/2014/main" id="{12320A3D-4F24-4B1D-8A94-21B631C5CAD3}"/>
              </a:ext>
            </a:extLst>
          </p:cNvPr>
          <p:cNvSpPr txBox="1">
            <a:spLocks/>
          </p:cNvSpPr>
          <p:nvPr/>
        </p:nvSpPr>
        <p:spPr bwMode="auto">
          <a:xfrm>
            <a:off x="575999" y="1113063"/>
            <a:ext cx="11040000" cy="57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梯形面積</a:t>
            </a:r>
            <a:r>
              <a:rPr lang="en-US" altLang="zh-TW" dirty="0"/>
              <a:t>=(</a:t>
            </a:r>
            <a:r>
              <a:rPr lang="zh-TW" altLang="en-US" dirty="0"/>
              <a:t>上底</a:t>
            </a:r>
            <a:r>
              <a:rPr lang="en-US" altLang="zh-TW" dirty="0"/>
              <a:t>+</a:t>
            </a:r>
            <a:r>
              <a:rPr lang="zh-TW" altLang="en-US" dirty="0"/>
              <a:t>下底</a:t>
            </a:r>
            <a:r>
              <a:rPr lang="en-US" altLang="zh-TW" dirty="0"/>
              <a:t>)*</a:t>
            </a:r>
            <a:r>
              <a:rPr lang="zh-TW" altLang="en-US" dirty="0"/>
              <a:t>高</a:t>
            </a:r>
            <a:r>
              <a:rPr lang="en-US" altLang="zh-TW" dirty="0"/>
              <a:t>/2</a:t>
            </a:r>
            <a:r>
              <a:rPr lang="zh-TW" altLang="en-US" dirty="0"/>
              <a:t>，阿全有一塊梯形土地，設計程式讓阿全輸入梯形土地的上底、下底及高後計算梯形面積。</a:t>
            </a:r>
            <a:r>
              <a:rPr lang="en-US" altLang="zh-TW" dirty="0"/>
              <a:t>(&lt;arith.py&gt;)</a:t>
            </a:r>
            <a:endParaRPr lang="zh-TW" altLang="en-US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80BC305-B5E3-4E92-B623-E59FAC7F9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3" y="585226"/>
            <a:ext cx="8208912" cy="1055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AC3B7E97-36D5-4A32-949C-A08769E48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4096" y="2323910"/>
            <a:ext cx="6323806" cy="1820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2AB775-A2F8-4C1E-8B75-505C0870DF2B}"/>
              </a:ext>
            </a:extLst>
          </p:cNvPr>
          <p:cNvSpPr txBox="1"/>
          <p:nvPr/>
        </p:nvSpPr>
        <p:spPr>
          <a:xfrm>
            <a:off x="2934096" y="4402831"/>
            <a:ext cx="612808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top = float(input("請輸入梯形上底長度："))</a:t>
            </a:r>
          </a:p>
          <a:p>
            <a:r>
              <a:rPr lang="zh-TW" altLang="en-US" dirty="0"/>
              <a:t>bottom = float(input("請輸入梯形下底長度："))</a:t>
            </a:r>
          </a:p>
          <a:p>
            <a:r>
              <a:rPr lang="zh-TW" altLang="en-US" dirty="0"/>
              <a:t>height = float(input("請輸入梯形高度："))</a:t>
            </a:r>
          </a:p>
          <a:p>
            <a:r>
              <a:rPr lang="zh-TW" altLang="en-US" dirty="0"/>
              <a:t>area = (top + bottom) * height / 2</a:t>
            </a:r>
          </a:p>
          <a:p>
            <a:r>
              <a:rPr lang="zh-TW" altLang="en-US" dirty="0"/>
              <a:t>print("梯形的面積為：" + str(area))</a:t>
            </a:r>
          </a:p>
        </p:txBody>
      </p:sp>
    </p:spTree>
    <p:extLst>
      <p:ext uri="{BB962C8B-B14F-4D97-AF65-F5344CB8AC3E}">
        <p14:creationId xmlns:p14="http://schemas.microsoft.com/office/powerpoint/2010/main" val="36466456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標題 1">
            <a:extLst>
              <a:ext uri="{FF2B5EF4-FFF2-40B4-BE49-F238E27FC236}">
                <a16:creationId xmlns:a16="http://schemas.microsoft.com/office/drawing/2014/main" id="{7DC2636C-326F-931C-866B-7C6FD61BEA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1987" name="內容版面配置區 2">
            <a:extLst>
              <a:ext uri="{FF2B5EF4-FFF2-40B4-BE49-F238E27FC236}">
                <a16:creationId xmlns:a16="http://schemas.microsoft.com/office/drawing/2014/main" id="{5B2562A2-5EB3-4B7A-1C2A-87C639F9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指定運算式（</a:t>
            </a:r>
            <a:r>
              <a:rPr lang="en-US" altLang="zh-TW"/>
              <a:t>Assignment Expressions</a:t>
            </a:r>
            <a:r>
              <a:rPr lang="zh-TW" altLang="en-US"/>
              <a:t>）就是指定敘述，這是使用「</a:t>
            </a:r>
            <a:r>
              <a:rPr lang="en-US" altLang="zh-TW"/>
              <a:t>=</a:t>
            </a:r>
            <a:r>
              <a:rPr lang="zh-TW" altLang="en-US"/>
              <a:t>」等號指定運算子來建立運算式，請注意！這是指定或稱為指派；並沒有相等或等於的意思，其目的如下所以：</a:t>
            </a:r>
          </a:p>
          <a:p>
            <a:pPr eaLnBrk="1" hangingPunct="1"/>
            <a:r>
              <a:rPr lang="zh-TW" altLang="en-US"/>
              <a:t>「將右邊運算元或運算式運算結果的文字值，存入位在左邊的變數。」</a:t>
            </a:r>
          </a:p>
          <a:p>
            <a:pPr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」等號左邊是用來指定值的變數；右邊可以是變數、文字值或運算式，在本章之前已經說明很多現成的範例。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標題 1">
            <a:extLst>
              <a:ext uri="{FF2B5EF4-FFF2-40B4-BE49-F238E27FC236}">
                <a16:creationId xmlns:a16="http://schemas.microsoft.com/office/drawing/2014/main" id="{57D38D46-C36B-D826-23FE-8C550B88AA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3011" name="內容版面配置區 2">
            <a:extLst>
              <a:ext uri="{FF2B5EF4-FFF2-40B4-BE49-F238E27FC236}">
                <a16:creationId xmlns:a16="http://schemas.microsoft.com/office/drawing/2014/main" id="{888D6BB6-5BE2-A259-5170-38C417274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在這一節準備說明</a:t>
            </a:r>
            <a:r>
              <a:rPr lang="en-US" altLang="zh-TW"/>
              <a:t>Python</a:t>
            </a:r>
            <a:r>
              <a:rPr lang="zh-TW" altLang="en-US"/>
              <a:t>指定運算式的簡化寫法，其條件如下所示：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」等號的右邊是二元運算式，擁有</a:t>
            </a:r>
            <a:r>
              <a:rPr lang="en-US" altLang="zh-TW"/>
              <a:t>2</a:t>
            </a:r>
            <a:r>
              <a:rPr lang="zh-TW" altLang="en-US"/>
              <a:t>個運算元。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」等號的左邊的變數和第</a:t>
            </a:r>
            <a:r>
              <a:rPr lang="en-US" altLang="zh-TW"/>
              <a:t>1</a:t>
            </a:r>
            <a:r>
              <a:rPr lang="zh-TW" altLang="en-US"/>
              <a:t>個運算元相同。</a:t>
            </a:r>
          </a:p>
          <a:p>
            <a:pPr eaLnBrk="1" hangingPunct="1"/>
            <a:r>
              <a:rPr lang="zh-TW" altLang="en-US"/>
              <a:t>例如：滿足上述條件的指定運算式，如下所示：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= x + y</a:t>
            </a:r>
          </a:p>
          <a:p>
            <a:pPr eaLnBrk="1" hangingPunct="1"/>
            <a:r>
              <a:rPr lang="zh-TW" altLang="en-US"/>
              <a:t>可以改用「</a:t>
            </a:r>
            <a:r>
              <a:rPr lang="en-US" altLang="zh-TW"/>
              <a:t>+=</a:t>
            </a:r>
            <a:r>
              <a:rPr lang="zh-TW" altLang="en-US"/>
              <a:t>」運算子來改寫此運算式，就是指定運算式的簡化寫法，如下所示：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+= y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標題 1">
            <a:extLst>
              <a:ext uri="{FF2B5EF4-FFF2-40B4-BE49-F238E27FC236}">
                <a16:creationId xmlns:a16="http://schemas.microsoft.com/office/drawing/2014/main" id="{1ED0AEF8-5486-8CF0-5283-1E75C6DC85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4035" name="內容版面配置區 2">
            <a:extLst>
              <a:ext uri="{FF2B5EF4-FFF2-40B4-BE49-F238E27FC236}">
                <a16:creationId xmlns:a16="http://schemas.microsoft.com/office/drawing/2014/main" id="{D647BE01-4F89-8C15-407E-B2666E1575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各種簡化或稱縮寫表示的指定運算式和運算子說明，如下表所示：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88F9EFF-3299-7DC2-A61B-67E08728CA60}"/>
              </a:ext>
            </a:extLst>
          </p:cNvPr>
          <p:cNvGraphicFramePr>
            <a:graphicFrameLocks noGrp="1"/>
          </p:cNvGraphicFramePr>
          <p:nvPr/>
        </p:nvGraphicFramePr>
        <p:xfrm>
          <a:off x="2208213" y="2565401"/>
          <a:ext cx="7997826" cy="41417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5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1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21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指定運算子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範例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相當的運算式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N/A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指定敘述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x+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+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-=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-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%=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%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895F7748-B35A-457E-8443-6530610A27F0}"/>
              </a:ext>
            </a:extLst>
          </p:cNvPr>
          <p:cNvSpPr txBox="1">
            <a:spLocks/>
          </p:cNvSpPr>
          <p:nvPr/>
        </p:nvSpPr>
        <p:spPr bwMode="auto">
          <a:xfrm>
            <a:off x="576000" y="1241877"/>
            <a:ext cx="11040000" cy="57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複利公式為：本金*</a:t>
            </a:r>
            <a:r>
              <a:rPr lang="en-US" altLang="zh-TW" dirty="0"/>
              <a:t>(1+</a:t>
            </a:r>
            <a:r>
              <a:rPr lang="zh-TW" altLang="en-US" dirty="0"/>
              <a:t>利率</a:t>
            </a:r>
            <a:r>
              <a:rPr lang="en-US" altLang="zh-TW" dirty="0"/>
              <a:t>)</a:t>
            </a:r>
            <a:r>
              <a:rPr lang="zh-TW" altLang="en-US" dirty="0"/>
              <a:t>年，目前存款年利率為 </a:t>
            </a:r>
            <a:r>
              <a:rPr lang="en-US" altLang="zh-TW" dirty="0"/>
              <a:t>2%</a:t>
            </a:r>
            <a:r>
              <a:rPr lang="zh-TW" altLang="en-US" dirty="0"/>
              <a:t>，以複利計算。阿輝在銀行有一筆存款，設計程式讓阿輝輸入存款本金後，以複合指定運算子計算 </a:t>
            </a:r>
            <a:r>
              <a:rPr lang="en-US" altLang="zh-TW" dirty="0"/>
              <a:t>6</a:t>
            </a:r>
            <a:r>
              <a:rPr lang="zh-TW" altLang="en-US" dirty="0"/>
              <a:t>年後的本金。</a:t>
            </a:r>
            <a:r>
              <a:rPr lang="en-US" altLang="zh-TW" dirty="0"/>
              <a:t>(&lt;complex.py&gt;)</a:t>
            </a:r>
            <a:endParaRPr lang="zh-TW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968ADDC-68FE-429B-BBE2-7F1BAECA1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5" y="749343"/>
            <a:ext cx="8208912" cy="985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4B8AFC76-5683-468B-94C7-8E54C66EB5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9541" y="2603428"/>
            <a:ext cx="7366645" cy="15184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91481-B378-44FA-A59F-1C9964266424}"/>
              </a:ext>
            </a:extLst>
          </p:cNvPr>
          <p:cNvSpPr txBox="1"/>
          <p:nvPr/>
        </p:nvSpPr>
        <p:spPr>
          <a:xfrm>
            <a:off x="2679541" y="4361547"/>
            <a:ext cx="61280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deposit = int(input("請輸入本金存款金額："))</a:t>
            </a:r>
          </a:p>
          <a:p>
            <a:r>
              <a:rPr lang="zh-TW" altLang="en-US" dirty="0"/>
              <a:t>times = 1.02 ** 6</a:t>
            </a:r>
          </a:p>
          <a:p>
            <a:r>
              <a:rPr lang="zh-TW" altLang="en-US" dirty="0"/>
              <a:t>deposit *= times</a:t>
            </a:r>
          </a:p>
          <a:p>
            <a:r>
              <a:rPr lang="zh-TW" altLang="en-US" dirty="0"/>
              <a:t>print("6 年後存款為：" + str(deposit))</a:t>
            </a:r>
          </a:p>
        </p:txBody>
      </p:sp>
    </p:spTree>
    <p:extLst>
      <p:ext uri="{BB962C8B-B14F-4D97-AF65-F5344CB8AC3E}">
        <p14:creationId xmlns:p14="http://schemas.microsoft.com/office/powerpoint/2010/main" val="6846169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標題 1">
            <a:extLst>
              <a:ext uri="{FF2B5EF4-FFF2-40B4-BE49-F238E27FC236}">
                <a16:creationId xmlns:a16="http://schemas.microsoft.com/office/drawing/2014/main" id="{E6D4BFE2-A963-3989-BAF3-5DA927FC9C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更多的指定敘述</a:t>
            </a:r>
          </a:p>
        </p:txBody>
      </p:sp>
      <p:sp>
        <p:nvSpPr>
          <p:cNvPr id="45059" name="內容版面配置區 2">
            <a:extLst>
              <a:ext uri="{FF2B5EF4-FFF2-40B4-BE49-F238E27FC236}">
                <a16:creationId xmlns:a16="http://schemas.microsoft.com/office/drawing/2014/main" id="{7FCC9D45-55DD-5126-21BE-593D2FE25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zh-TW" altLang="en-US" u="sng"/>
              <a:t>多重指定敘述：</a:t>
            </a:r>
            <a:r>
              <a:rPr lang="en-US" altLang="zh-TW" u="sng"/>
              <a:t>ch3-6-4.py</a:t>
            </a:r>
          </a:p>
          <a:p>
            <a:pPr marL="0" indent="0" eaLnBrk="1" hangingPunct="1"/>
            <a:r>
              <a:rPr lang="zh-TW" altLang="en-US"/>
              <a:t>多重指定敘述（</a:t>
            </a:r>
            <a:r>
              <a:rPr lang="en-US" altLang="zh-TW"/>
              <a:t>Multiple Assignments</a:t>
            </a:r>
            <a:r>
              <a:rPr lang="zh-TW" altLang="en-US"/>
              <a:t>）可以在一行指定敘述同時指定多個變數值，如下所示：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score2 = score3 = 25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print(score1, score2, score3)</a:t>
            </a:r>
          </a:p>
          <a:p>
            <a:pPr marL="0" indent="0" eaLnBrk="1" hangingPunct="1">
              <a:buNone/>
            </a:pPr>
            <a:r>
              <a:rPr lang="zh-TW" altLang="en-US" u="sng"/>
              <a:t>同時指定敘述：</a:t>
            </a:r>
            <a:r>
              <a:rPr lang="en-US" altLang="zh-TW" u="sng"/>
              <a:t>ch3-6-4a.py</a:t>
            </a:r>
          </a:p>
          <a:p>
            <a:pPr marL="0" indent="0" eaLnBrk="1" hangingPunct="1"/>
            <a:r>
              <a:rPr lang="zh-TW" altLang="en-US"/>
              <a:t>同時指定敘述（</a:t>
            </a:r>
            <a:r>
              <a:rPr lang="en-US" altLang="zh-TW"/>
              <a:t>Simultaneous Assignments</a:t>
            </a:r>
            <a:r>
              <a:rPr lang="zh-TW" altLang="en-US"/>
              <a:t>）的「</a:t>
            </a:r>
            <a:r>
              <a:rPr lang="en-US" altLang="zh-TW"/>
              <a:t>=</a:t>
            </a:r>
            <a:r>
              <a:rPr lang="zh-TW" altLang="en-US"/>
              <a:t>」等號左右邊是使用「</a:t>
            </a:r>
            <a:r>
              <a:rPr lang="en-US" altLang="zh-TW"/>
              <a:t>,</a:t>
            </a:r>
            <a:r>
              <a:rPr lang="zh-TW" altLang="en-US"/>
              <a:t>」逗號分隔的多個變數和值，如下所示：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x, y = 1, 2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print("X =", x, "Y =", y)</a:t>
            </a:r>
          </a:p>
          <a:p>
            <a:pPr marL="0" indent="0" eaLnBrk="1" hangingPunct="1"/>
            <a:endParaRPr lang="zh-TW" alt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4843313D-8C2D-4120-B6AD-698359BD609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045–060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5A7F01-1592-4E7A-B348-D609C898F840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2FBDF2-4A33-463A-B729-EB54999E3B31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1C63CA-1E57-452B-A8AF-7BD0B9C74212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等號右邊先算，再交給左邊名稱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A32CE9-2C9F-4A04-919D-EE2AC936433C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7B0476-5FEE-4CB9-8DF9-0877581F11CD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名稱區分大小寫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F64B99-A296-444D-BA23-D52A24BC8AF3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6F5B0A-95D5-4C8C-8320-93C480ADBA61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更新變數後要重跑依賴它的計算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525406-C98E-479B-9E21-6D840F07D55E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4180284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137EC13-E92A-46E8-9E77-3F34886BCBA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9E50F2-6D90-4A79-822E-4E374F18BE8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313D4DC-6FCE-4985-A68A-D89E9D41649A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print(total)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2BCF62-95CB-4023-9345-A54138646E5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440731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把price改為40，quantity改為4，重新計算；說明為什麼總價變了。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62AFAE-F83C-48A0-8B20-5003EBDB56F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D0BE734-9475-6B92-B4D7-D872AC72B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321" y="685800"/>
            <a:ext cx="6378493" cy="245385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02B45255-09AA-E808-AFB3-EABC1F9A6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701" y="3322306"/>
            <a:ext cx="6386113" cy="278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9963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09B96A-9061-47EC-8D7C-8439204F2D24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W1-04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20437" y="738187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0F00F1C-297E-49DB-B2F0-823FDF50272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5 頁</a:t>
            </a:r>
          </a:p>
        </p:txBody>
      </p:sp>
    </p:spTree>
    <p:extLst>
      <p:ext uri="{BB962C8B-B14F-4D97-AF65-F5344CB8AC3E}">
        <p14:creationId xmlns:p14="http://schemas.microsoft.com/office/powerpoint/2010/main" val="32042454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0F9A3154-1F74-4934-86BF-473290258AA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070–090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21CFA0-FDF9-4D2E-9F6D-DDE9E078B73A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A7BCFA-EFD4-4DF1-B23D-4BA5651E57A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590C79-B670-42BE-BC67-8E3C284E14A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int 整數，float 小數，str 文字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EEE947-7D12-4FA2-96DD-F8BAF7B4546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6440EA-B936-4329-A0B2-5DF58CD0DA79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input 回傳字串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A130C0-E668-4531-9AA2-85BD4C88CC46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BD308E-93C2-4408-B8EB-EDB0CEED1157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先確認輸入格式，再轉換型態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D88C01-927C-4EB9-ABBE-8452537DF2B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2878811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F35D09B-C1DB-4066-9FE7-D9B5F4E0181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F73787-557A-496A-ADDA-EEEB06458EA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380F88-7EDA-419E-BBC6-CE89854D16F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raw_quantity = "3"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int(raw_quantity)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print(type(raw_quantity).__name__, type(quantity).__name__)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print("3" * 2, int("3") * 2)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interactive = False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if interactive: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quantity = int(input("杯數（整數）："))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print(quantity)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02D680-70C8-4B76-ADBA-1904DF102E5A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把文字杯數改成"4"並轉型，接著比較"3" * 2與int("3") * 2。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30318E-41D7-4EAB-99C0-47DE1911C7E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W1-06</a:t>
            </a:r>
          </a:p>
        </p:txBody>
      </p:sp>
    </p:spTree>
    <p:extLst>
      <p:ext uri="{BB962C8B-B14F-4D97-AF65-F5344CB8AC3E}">
        <p14:creationId xmlns:p14="http://schemas.microsoft.com/office/powerpoint/2010/main" val="19875646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E654698-0327-4874-8DD3-CBA8C3ECFD12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W1-06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A04D8F7-125E-4EF7-BFC3-DABBD46AFDA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23 頁</a:t>
            </a:r>
          </a:p>
        </p:txBody>
      </p:sp>
    </p:spTree>
    <p:extLst>
      <p:ext uri="{BB962C8B-B14F-4D97-AF65-F5344CB8AC3E}">
        <p14:creationId xmlns:p14="http://schemas.microsoft.com/office/powerpoint/2010/main" val="146296276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42576F3-D998-421A-88FF-7CB5D90AC87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090–110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3B7CB0-785D-4CFC-BDD3-225BB0006633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5B494B-1A45-4457-B01C-AD2B197BABE5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B10496-FD4C-4F13-9DC1-BC5EFF5ED2C1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乘除先於加減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1EF134-DAFF-4468-96E1-436052B742B0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E3CD00-BFAD-4B21-867E-9003534E9AAF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括號明確指定順序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7C0C580-0E8D-486C-A419-8BE507DDCBE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3C0C23-8164-4C66-AF24-15447B73E9A3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// 求整數商，% 求餘數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639315-7164-4D12-9DF7-0FB36090AA2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70862177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5F9F030-690A-4C5A-ABFA-72C6D24A338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9921AE-D0B3-464E-B3F9-58C138EC46A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2054FE-CF6B-4EAD-9468-4E57E68E7B0C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200 -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total, "找零", change)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print("整袋", 10 // 3, "剩餘", 10 %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2DF4B9-7111-4409-853F-910683BC3D0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計算5杯每杯30元，付200元的找零。再算17顆糖每袋5顆的袋數與剩餘。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079042-CC7D-43D9-A216-6D7632EE3A4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W1-07</a:t>
            </a:r>
          </a:p>
        </p:txBody>
      </p:sp>
    </p:spTree>
    <p:extLst>
      <p:ext uri="{BB962C8B-B14F-4D97-AF65-F5344CB8AC3E}">
        <p14:creationId xmlns:p14="http://schemas.microsoft.com/office/powerpoint/2010/main" val="18373942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A9920E7-6AF5-4F17-BBA3-1CA51B5D9A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110–125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1F7E71-87DB-4C3E-B358-48FC969FCF5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76E96A-3823-4EC6-9BD5-731CD8F77F7A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F0030-DEE7-4C55-BE58-CB7553A1656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由錯誤最後一行看種類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B40CB8-07F0-40A6-949B-98F93656049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EDE237-DA10-4765-8622-FCC62E9CD3E8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NameError 常是名稱尚未定義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3A32A5-5905-4A31-8C34-8AF92A15F4A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931AC8-A7C8-4A85-953E-93122E2B224E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每次只修改一個地方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E77CC-16F9-47CE-A948-8C68B263416C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9326342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C53C36-9C48-4468-99AD-FC15A20F7E1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94C90A-B46C-4D85-987B-DE934E8CF82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2A5405-D198-4593-993E-3864EE8170C1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price *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1D4F5E-BF58-420E-88D4-A879C424EA61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修正prcie拼字與"總價" + 105的混用。說出錯誤種類與修正理由。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D777EC-BB45-4F29-BAB6-DDB851042D4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W1-08</a:t>
            </a:r>
          </a:p>
        </p:txBody>
      </p:sp>
    </p:spTree>
    <p:extLst>
      <p:ext uri="{BB962C8B-B14F-4D97-AF65-F5344CB8AC3E}">
        <p14:creationId xmlns:p14="http://schemas.microsoft.com/office/powerpoint/2010/main" val="81598946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5A35928-96A7-46E0-9C1F-27211166B8D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125–140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61D620-12A4-40FF-B364-8CC074ECEA8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E0B4B1-BC50-4A2E-8424-109B0EE0CF88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C72290A-23D0-4337-B204-A1143BED701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f 字串把變數放進大括號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88CD21-B0ED-4810-882D-7D45B35719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FD6F51-7131-4410-B896-84097A4E4C9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小數位數可用 :.2f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7E849C-009D-4499-9A21-8BEBC0D0714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2CA953-1520-4CAF-9E66-DB3FD6039604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輸出應包含單位與標籤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1406D5-316D-45B5-BBFB-C6DC5D3E5809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685450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44CF8ED-8B25-48D5-B39E-F1182BE1885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92C308-F251-411A-8ECE-88F2AD477D4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840D97-7208-4B9D-90C6-A598535DCCDF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item = "紅茶"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print(f"{item} {quantity}杯，總價{total}元")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print(f"平均單價 {total / quantity:.2f} 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CA33DC-CEB6-4066-B609-0C94D2B710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使用f字串列印4杯每杯35元，共140元的完整訂單。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B1EE29-9619-44AB-A012-30125BB1482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W1-09</a:t>
            </a:r>
          </a:p>
        </p:txBody>
      </p:sp>
    </p:spTree>
    <p:extLst>
      <p:ext uri="{BB962C8B-B14F-4D97-AF65-F5344CB8AC3E}">
        <p14:creationId xmlns:p14="http://schemas.microsoft.com/office/powerpoint/2010/main" val="175138479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230DA6C-781B-411D-8105-7E5A0E6FBF9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140–160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BFA63-2564-4796-8C9D-8587861AA127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F991894-7043-465F-915E-E3713D7F6D8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B81D13-FDDF-4B01-AE4C-7A61202F768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輸入以變數設定即可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FCDCB8-6A22-4D59-B466-F634EF3A46BF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E06AD7-5CE5-4816-BB1A-D1923C252207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總價與找零分開計算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215DF8-7976-4938-9AE1-40ECEF52F2B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E69B39-ED98-40D1-8381-7709E2CBD912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兩組測試確認可重算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87BE78-81A0-4BAF-BFE3-3B0ED2E63235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1379371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FF2EA9-C88A-4860-85F7-7CC14B7AFAC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C0B0A0-F83A-48D6-8BBF-0C79681050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8F4099-22E7-4535-B018-9B993946943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price, quantity, paid = 35, 3, 200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paid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print(f"紅茶 {quantity}杯，總價{total}元，找零{change}元")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9B08EB-5FF4-4295-837D-BEFD93258666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完成專題格；先測試35、3、200，再測試40、2、100。加上自己的品項。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C754BB-A130-4A22-B01D-5B504AB8AAE1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W1-10</a:t>
            </a:r>
          </a:p>
        </p:txBody>
      </p:sp>
    </p:spTree>
    <p:extLst>
      <p:ext uri="{BB962C8B-B14F-4D97-AF65-F5344CB8AC3E}">
        <p14:creationId xmlns:p14="http://schemas.microsoft.com/office/powerpoint/2010/main" val="17155859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E754CC03-E963-4DAD-B147-BA686A54B69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160–170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E54E2-A4DA-4F12-9407-9BD610FF7C6D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689543-C2FE-4E39-88B6-5FDDAD7434A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1010DE-04A0-4CC0-B9B6-790DBF54E70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重新啟動核心後全部執行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85E75C-9920-4469-A8EC-CE3E23F4654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C61DD4-2C8B-4A00-9B63-C932F41CCC84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能解釋每個變數的用途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E78579-3A47-4420-8E7A-3481291E47E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D82651-8502-43DA-8D26-04B87F2BF4C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保留兩組測試紀錄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2FEF2-3849-49BE-8E1B-769B5C30E71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78422094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C71BC07-A046-4046-8AD4-79F1BC125BE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DDF08E-3637-46E7-8AD2-4C21644AB6F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A4066D-E3BD-4857-9CA3-2F3986C9B604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每人用60秒說明，教師抽查兩組結果。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DD85E2-5F46-4466-AB45-334CE371A1A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B4C07A-F047-4E8E-AAB2-5236532F4DC4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能從乾淨核心重跑，且total不是手寫固定答案。</a:t>
            </a:r>
          </a:p>
        </p:txBody>
      </p:sp>
    </p:spTree>
    <p:extLst>
      <p:ext uri="{BB962C8B-B14F-4D97-AF65-F5344CB8AC3E}">
        <p14:creationId xmlns:p14="http://schemas.microsoft.com/office/powerpoint/2010/main" val="125208678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A841AF7-E5C7-4E1D-8DE1-2AD0305137E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170–180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E4AC4E-C33E-4EA7-8B1E-9798DFD70E18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5DB13B-EFC1-4AAE-B211-724D3D0B194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3C3B16-9499-407D-B6F4-ACE7BE948A1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文字"5"與數值5的差別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3A51965-73B7-4BD9-9C29-0F6669E9579B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96EC82-424E-4232-9A57-854D8362D2C3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改價格後為何要重算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7A3B23-30D8-44F3-9655-A388E2169274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6C380F-D16C-441F-8F81-5741E632360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下週加入折扣條件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7CB939-AEFF-4990-B819-307969C21D6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8516527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C7989AE-B022-453C-BC6E-8E608FE74C7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DE8944-BACB-4F52-98DB-48ACE2243BE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700616-B420-4B07-A67C-F295CCD9EF7D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提交Notebook；課後做20元筆3支與15元本子2本的訂單。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B15F79-C727-4F0D-AAB6-1F1CC984049E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F3CE8C-D977-4674-BAB7-75C573CD3412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離堂：str、int轉型、不會自動重算、修改quantity再執行。課後總價90元。</a:t>
            </a:r>
          </a:p>
        </p:txBody>
      </p:sp>
    </p:spTree>
    <p:extLst>
      <p:ext uri="{BB962C8B-B14F-4D97-AF65-F5344CB8AC3E}">
        <p14:creationId xmlns:p14="http://schemas.microsoft.com/office/powerpoint/2010/main" val="1229083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ext"/>
</p:tagLst>
</file>

<file path=ppt/theme/_rels/them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06498007">
  <a:themeElements>
    <a:clrScheme name="3_Default Design 2">
      <a:dk1>
        <a:srgbClr val="000000"/>
      </a:dk1>
      <a:lt1>
        <a:srgbClr val="FFFFFF"/>
      </a:lt1>
      <a:dk2>
        <a:srgbClr val="000000"/>
      </a:dk2>
      <a:lt2>
        <a:srgbClr val="828282"/>
      </a:lt2>
      <a:accent1>
        <a:srgbClr val="A14D1D"/>
      </a:accent1>
      <a:accent2>
        <a:srgbClr val="85416B"/>
      </a:accent2>
      <a:accent3>
        <a:srgbClr val="FFFFFF"/>
      </a:accent3>
      <a:accent4>
        <a:srgbClr val="000000"/>
      </a:accent4>
      <a:accent5>
        <a:srgbClr val="CDB2AB"/>
      </a:accent5>
      <a:accent6>
        <a:srgbClr val="783A60"/>
      </a:accent6>
      <a:hlink>
        <a:srgbClr val="862D2D"/>
      </a:hlink>
      <a:folHlink>
        <a:srgbClr val="735427"/>
      </a:folHlink>
    </a:clrScheme>
    <a:fontScheme name="3_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lnDef>
  </a:objectDefaults>
  <a:extraClrSchemeLst>
    <a:extraClrScheme>
      <a:clrScheme name="3_Default Design 1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2121"/>
        </a:accent1>
        <a:accent2>
          <a:srgbClr val="99001E"/>
        </a:accent2>
        <a:accent3>
          <a:srgbClr val="FFFFFF"/>
        </a:accent3>
        <a:accent4>
          <a:srgbClr val="000000"/>
        </a:accent4>
        <a:accent5>
          <a:srgbClr val="D0ABAB"/>
        </a:accent5>
        <a:accent6>
          <a:srgbClr val="8A001A"/>
        </a:accent6>
        <a:hlink>
          <a:srgbClr val="8C0000"/>
        </a:hlink>
        <a:folHlink>
          <a:srgbClr val="800F2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2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14D1D"/>
        </a:accent1>
        <a:accent2>
          <a:srgbClr val="85416B"/>
        </a:accent2>
        <a:accent3>
          <a:srgbClr val="FFFFFF"/>
        </a:accent3>
        <a:accent4>
          <a:srgbClr val="000000"/>
        </a:accent4>
        <a:accent5>
          <a:srgbClr val="CDB2AB"/>
        </a:accent5>
        <a:accent6>
          <a:srgbClr val="783A60"/>
        </a:accent6>
        <a:hlink>
          <a:srgbClr val="862D2D"/>
        </a:hlink>
        <a:folHlink>
          <a:srgbClr val="73542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396C80"/>
        </a:accent1>
        <a:accent2>
          <a:srgbClr val="943E3E"/>
        </a:accent2>
        <a:accent3>
          <a:srgbClr val="FFFFFF"/>
        </a:accent3>
        <a:accent4>
          <a:srgbClr val="000000"/>
        </a:accent4>
        <a:accent5>
          <a:srgbClr val="AEBAC0"/>
        </a:accent5>
        <a:accent6>
          <a:srgbClr val="863737"/>
        </a:accent6>
        <a:hlink>
          <a:srgbClr val="3A3474"/>
        </a:hlink>
        <a:folHlink>
          <a:srgbClr val="48542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806F2B"/>
        </a:accent1>
        <a:accent2>
          <a:srgbClr val="3C7331"/>
        </a:accent2>
        <a:accent3>
          <a:srgbClr val="FFFFFF"/>
        </a:accent3>
        <a:accent4>
          <a:srgbClr val="000000"/>
        </a:accent4>
        <a:accent5>
          <a:srgbClr val="C0BBAC"/>
        </a:accent5>
        <a:accent6>
          <a:srgbClr val="35682B"/>
        </a:accent6>
        <a:hlink>
          <a:srgbClr val="862D2D"/>
        </a:hlink>
        <a:folHlink>
          <a:srgbClr val="4039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CC8500"/>
        </a:accent1>
        <a:accent2>
          <a:srgbClr val="C2940A"/>
        </a:accent2>
        <a:accent3>
          <a:srgbClr val="FFFFFF"/>
        </a:accent3>
        <a:accent4>
          <a:srgbClr val="000000"/>
        </a:accent4>
        <a:accent5>
          <a:srgbClr val="E2C2AA"/>
        </a:accent5>
        <a:accent6>
          <a:srgbClr val="B08608"/>
        </a:accent6>
        <a:hlink>
          <a:srgbClr val="A66C00"/>
        </a:hlink>
        <a:folHlink>
          <a:srgbClr val="99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B29800"/>
        </a:accent1>
        <a:accent2>
          <a:srgbClr val="C97C3C"/>
        </a:accent2>
        <a:accent3>
          <a:srgbClr val="FFFFFF"/>
        </a:accent3>
        <a:accent4>
          <a:srgbClr val="000000"/>
        </a:accent4>
        <a:accent5>
          <a:srgbClr val="D5CAAA"/>
        </a:accent5>
        <a:accent6>
          <a:srgbClr val="B67035"/>
        </a:accent6>
        <a:hlink>
          <a:srgbClr val="A66C00"/>
        </a:hlink>
        <a:folHlink>
          <a:srgbClr val="BF4F4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7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2B9FD9"/>
        </a:accent1>
        <a:accent2>
          <a:srgbClr val="CC8500"/>
        </a:accent2>
        <a:accent3>
          <a:srgbClr val="FFFFFF"/>
        </a:accent3>
        <a:accent4>
          <a:srgbClr val="000000"/>
        </a:accent4>
        <a:accent5>
          <a:srgbClr val="ACCDE9"/>
        </a:accent5>
        <a:accent6>
          <a:srgbClr val="B97800"/>
        </a:accent6>
        <a:hlink>
          <a:srgbClr val="8A73BF"/>
        </a:hlink>
        <a:folHlink>
          <a:srgbClr val="2E994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8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7AB236"/>
        </a:accent1>
        <a:accent2>
          <a:srgbClr val="CC527E"/>
        </a:accent2>
        <a:accent3>
          <a:srgbClr val="FFFFFF"/>
        </a:accent3>
        <a:accent4>
          <a:srgbClr val="000000"/>
        </a:accent4>
        <a:accent5>
          <a:srgbClr val="BED5AE"/>
        </a:accent5>
        <a:accent6>
          <a:srgbClr val="B94972"/>
        </a:accent6>
        <a:hlink>
          <a:srgbClr val="4D6BBF"/>
        </a:hlink>
        <a:folHlink>
          <a:srgbClr val="A66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9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9905"/>
        </a:accent1>
        <a:accent2>
          <a:srgbClr val="4D8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457E00"/>
        </a:accent6>
        <a:hlink>
          <a:srgbClr val="008004"/>
        </a:hlink>
        <a:folHlink>
          <a:srgbClr val="3F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0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678C"/>
        </a:accent1>
        <a:accent2>
          <a:srgbClr val="5E8000"/>
        </a:accent2>
        <a:accent3>
          <a:srgbClr val="FFFFFF"/>
        </a:accent3>
        <a:accent4>
          <a:srgbClr val="000000"/>
        </a:accent4>
        <a:accent5>
          <a:srgbClr val="AAB8C5"/>
        </a:accent5>
        <a:accent6>
          <a:srgbClr val="547300"/>
        </a:accent6>
        <a:hlink>
          <a:srgbClr val="006E04"/>
        </a:hlink>
        <a:folHlink>
          <a:srgbClr val="66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1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A65821"/>
        </a:accent1>
        <a:accent2>
          <a:srgbClr val="008004"/>
        </a:accent2>
        <a:accent3>
          <a:srgbClr val="FFFFFF"/>
        </a:accent3>
        <a:accent4>
          <a:srgbClr val="000000"/>
        </a:accent4>
        <a:accent5>
          <a:srgbClr val="D0B4AB"/>
        </a:accent5>
        <a:accent6>
          <a:srgbClr val="007303"/>
        </a:accent6>
        <a:hlink>
          <a:srgbClr val="8C2A60"/>
        </a:hlink>
        <a:folHlink>
          <a:srgbClr val="6733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2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2403E"/>
        </a:accent1>
        <a:accent2>
          <a:srgbClr val="2D8064"/>
        </a:accent2>
        <a:accent3>
          <a:srgbClr val="FFFFFF"/>
        </a:accent3>
        <a:accent4>
          <a:srgbClr val="000000"/>
        </a:accent4>
        <a:accent5>
          <a:srgbClr val="D5AFAF"/>
        </a:accent5>
        <a:accent6>
          <a:srgbClr val="28735A"/>
        </a:accent6>
        <a:hlink>
          <a:srgbClr val="4D3F8C"/>
        </a:hlink>
        <a:folHlink>
          <a:srgbClr val="006E0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0052C0"/>
        </a:accent1>
        <a:accent2>
          <a:srgbClr val="3239BF"/>
        </a:accent2>
        <a:accent3>
          <a:srgbClr val="FFFFFF"/>
        </a:accent3>
        <a:accent4>
          <a:srgbClr val="000000"/>
        </a:accent4>
        <a:accent5>
          <a:srgbClr val="AAB3DC"/>
        </a:accent5>
        <a:accent6>
          <a:srgbClr val="2C33AD"/>
        </a:accent6>
        <a:hlink>
          <a:srgbClr val="004299"/>
        </a:hlink>
        <a:folHlink>
          <a:srgbClr val="282D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759B2"/>
        </a:accent1>
        <a:accent2>
          <a:srgbClr val="00708C"/>
        </a:accent2>
        <a:accent3>
          <a:srgbClr val="FFFFFF"/>
        </a:accent3>
        <a:accent4>
          <a:srgbClr val="000000"/>
        </a:accent4>
        <a:accent5>
          <a:srgbClr val="B8B5D5"/>
        </a:accent5>
        <a:accent6>
          <a:srgbClr val="00657E"/>
        </a:accent6>
        <a:hlink>
          <a:srgbClr val="0048A6"/>
        </a:hlink>
        <a:folHlink>
          <a:srgbClr val="742E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8500"/>
        </a:accent1>
        <a:accent2>
          <a:srgbClr val="2462B2"/>
        </a:accent2>
        <a:accent3>
          <a:srgbClr val="FFFFFF"/>
        </a:accent3>
        <a:accent4>
          <a:srgbClr val="000000"/>
        </a:accent4>
        <a:accent5>
          <a:srgbClr val="D0C2AA"/>
        </a:accent5>
        <a:accent6>
          <a:srgbClr val="2058A1"/>
        </a:accent6>
        <a:hlink>
          <a:srgbClr val="546E00"/>
        </a:hlink>
        <a:folHlink>
          <a:srgbClr val="8031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28000"/>
        </a:accent1>
        <a:accent2>
          <a:srgbClr val="8C5200"/>
        </a:accent2>
        <a:accent3>
          <a:srgbClr val="FFFFFF"/>
        </a:accent3>
        <a:accent4>
          <a:srgbClr val="000000"/>
        </a:accent4>
        <a:accent5>
          <a:srgbClr val="B7C0AA"/>
        </a:accent5>
        <a:accent6>
          <a:srgbClr val="7E4900"/>
        </a:accent6>
        <a:hlink>
          <a:srgbClr val="911D65"/>
        </a:hlink>
        <a:folHlink>
          <a:srgbClr val="00459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Medi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古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  <a:blipFill>
          <a:blip xmlns:r="http://schemas.openxmlformats.org/officeDocument/2006/relationships" r:embed="rId2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9664</Words>
  <Application>Microsoft Office PowerPoint</Application>
  <DocSecurity>0</DocSecurity>
  <PresentationFormat>寬螢幕</PresentationFormat>
  <Paragraphs>922</Paragraphs>
  <Slides>95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95</vt:i4>
      </vt:variant>
    </vt:vector>
  </HeadingPairs>
  <TitlesOfParts>
    <vt:vector size="110" baseType="lpstr">
      <vt:lpstr>inherit</vt:lpstr>
      <vt:lpstr>Radio Canada Big</vt:lpstr>
      <vt:lpstr>source-serif-pro</vt:lpstr>
      <vt:lpstr>system-ui</vt:lpstr>
      <vt:lpstr>微軟正黑體</vt:lpstr>
      <vt:lpstr>微軟正黑體</vt:lpstr>
      <vt:lpstr>新細明體</vt:lpstr>
      <vt:lpstr>Arial</vt:lpstr>
      <vt:lpstr>Arial Black</vt:lpstr>
      <vt:lpstr>Calibri</vt:lpstr>
      <vt:lpstr>Tahoma</vt:lpstr>
      <vt:lpstr>Wingdings</vt:lpstr>
      <vt:lpstr>ChatGPT</vt:lpstr>
      <vt:lpstr>1_06498007</vt:lpstr>
      <vt:lpstr>Median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變數、運算式與運算子</vt:lpstr>
      <vt:lpstr>程式語言的變數</vt:lpstr>
      <vt:lpstr>認識變數– 說明</vt:lpstr>
      <vt:lpstr>認識變數– 變數是儲存在哪裡</vt:lpstr>
      <vt:lpstr>認識變數– 變數的基本操作</vt:lpstr>
      <vt:lpstr>使用變數前的準備工作– 說明</vt:lpstr>
      <vt:lpstr>使用變數前的準備工作– 內容</vt:lpstr>
      <vt:lpstr>Python語言的命名規則</vt:lpstr>
      <vt:lpstr>Python語言的命名規則</vt:lpstr>
      <vt:lpstr>在程式使用變數</vt:lpstr>
      <vt:lpstr>在程式使用變數</vt:lpstr>
      <vt:lpstr>指定和輸出變數值</vt:lpstr>
      <vt:lpstr>指定和輸出變數值</vt:lpstr>
      <vt:lpstr>指定成其他文字值</vt:lpstr>
      <vt:lpstr>指定成其他文字值</vt:lpstr>
      <vt:lpstr>指定成其他變數值</vt:lpstr>
      <vt:lpstr>變數的資料型態和型態轉換函數</vt:lpstr>
      <vt:lpstr>變數的資料型態和型態轉換函數</vt:lpstr>
      <vt:lpstr>取得變數的資料型態</vt:lpstr>
      <vt:lpstr>資料型態轉換函數</vt:lpstr>
      <vt:lpstr>讓使用者輸入變數值 從鍵盤輸入字串資料</vt:lpstr>
      <vt:lpstr>讓使用者輸入變數值 從鍵盤輸入字串資料</vt:lpstr>
      <vt:lpstr>讓使用者輸入變數值 從鍵盤輸入數值資料</vt:lpstr>
      <vt:lpstr>輸出與輸入</vt:lpstr>
      <vt:lpstr>PowerPoint 簡報</vt:lpstr>
      <vt:lpstr>PowerPoint 簡報</vt:lpstr>
      <vt:lpstr>PowerPoint 簡報</vt:lpstr>
      <vt:lpstr>PowerPoint 簡報</vt:lpstr>
      <vt:lpstr>PowerPoint 簡報</vt:lpstr>
      <vt:lpstr>認識運算式和運算子</vt:lpstr>
      <vt:lpstr>關於運算式</vt:lpstr>
      <vt:lpstr>關於運算式</vt:lpstr>
      <vt:lpstr>輸出運算式的運算結果</vt:lpstr>
      <vt:lpstr>執行不同種類運算元的運算 2個運算元都是變數</vt:lpstr>
      <vt:lpstr>執行不同種類運算元的運算 2個運算元都是變數</vt:lpstr>
      <vt:lpstr>執行不同種類運算元的運算 1個運算元是變數；1個運算元是文字值</vt:lpstr>
      <vt:lpstr>執行不同種類運算元的運算 1個運算元是變數；1個運算元是文字值</vt:lpstr>
      <vt:lpstr>讓使用者輸入值來執行運算</vt:lpstr>
      <vt:lpstr>在程式使用運算子</vt:lpstr>
      <vt:lpstr>運算子的優先順序 優先順序（Precedence）</vt:lpstr>
      <vt:lpstr>運算子的優先順序 Python運算子的優先順序</vt:lpstr>
      <vt:lpstr>算術運算子</vt:lpstr>
      <vt:lpstr>PowerPoint 簡報</vt:lpstr>
      <vt:lpstr>指定運算子</vt:lpstr>
      <vt:lpstr>指定運算子</vt:lpstr>
      <vt:lpstr>指定運算子</vt:lpstr>
      <vt:lpstr>PowerPoint 簡報</vt:lpstr>
      <vt:lpstr>更多的指定敘述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王頌文</cp:lastModifiedBy>
  <cp:revision>22</cp:revision>
  <dcterms:created xsi:type="dcterms:W3CDTF">2026-10-07T23:28:36Z</dcterms:created>
  <dcterms:modified xsi:type="dcterms:W3CDTF">2026-10-20T03:56:35Z</dcterms:modified>
</cp:coreProperties>
</file>