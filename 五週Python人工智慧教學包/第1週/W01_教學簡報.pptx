
<file path=[Content_Types].xml><?xml version="1.0" encoding="utf-8"?>
<Types xmlns="http://schemas.openxmlformats.org/package/2006/content-types">
  <Default Extension="gif" ContentType="image/gif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slides/slide68.xml" ContentType="application/vnd.openxmlformats-officedocument.presentationml.slide+xml"/>
  <Override PartName="/ppt/slides/slide69.xml" ContentType="application/vnd.openxmlformats-officedocument.presentationml.slide+xml"/>
  <Override PartName="/ppt/slides/slide70.xml" ContentType="application/vnd.openxmlformats-officedocument.presentationml.slide+xml"/>
  <Override PartName="/ppt/slides/slide71.xml" ContentType="application/vnd.openxmlformats-officedocument.presentationml.slide+xml"/>
  <Override PartName="/ppt/slides/slide72.xml" ContentType="application/vnd.openxmlformats-officedocument.presentationml.slide+xml"/>
  <Override PartName="/ppt/slides/slide73.xml" ContentType="application/vnd.openxmlformats-officedocument.presentationml.slide+xml"/>
  <Override PartName="/ppt/slides/slide74.xml" ContentType="application/vnd.openxmlformats-officedocument.presentationml.slide+xml"/>
  <Override PartName="/ppt/slides/slide75.xml" ContentType="application/vnd.openxmlformats-officedocument.presentationml.slide+xml"/>
  <Override PartName="/ppt/slides/slide76.xml" ContentType="application/vnd.openxmlformats-officedocument.presentationml.slide+xml"/>
  <Override PartName="/ppt/slides/slide77.xml" ContentType="application/vnd.openxmlformats-officedocument.presentationml.slide+xml"/>
  <Override PartName="/ppt/slides/slide78.xml" ContentType="application/vnd.openxmlformats-officedocument.presentationml.slide+xml"/>
  <Override PartName="/ppt/slides/slide79.xml" ContentType="application/vnd.openxmlformats-officedocument.presentationml.slide+xml"/>
  <Override PartName="/ppt/slides/slide80.xml" ContentType="application/vnd.openxmlformats-officedocument.presentationml.slide+xml"/>
  <Override PartName="/ppt/slides/slide81.xml" ContentType="application/vnd.openxmlformats-officedocument.presentationml.slide+xml"/>
  <Override PartName="/ppt/slides/slide82.xml" ContentType="application/vnd.openxmlformats-officedocument.presentationml.slide+xml"/>
  <Override PartName="/ppt/slides/slide83.xml" ContentType="application/vnd.openxmlformats-officedocument.presentationml.slide+xml"/>
  <Override PartName="/ppt/slides/slide84.xml" ContentType="application/vnd.openxmlformats-officedocument.presentationml.slide+xml"/>
  <Override PartName="/ppt/slides/slide85.xml" ContentType="application/vnd.openxmlformats-officedocument.presentationml.slide+xml"/>
  <Override PartName="/ppt/slides/slide86.xml" ContentType="application/vnd.openxmlformats-officedocument.presentationml.slide+xml"/>
  <Override PartName="/ppt/slides/slide87.xml" ContentType="application/vnd.openxmlformats-officedocument.presentationml.slide+xml"/>
  <Override PartName="/ppt/slides/slide88.xml" ContentType="application/vnd.openxmlformats-officedocument.presentationml.slide+xml"/>
  <Override PartName="/ppt/slides/slide89.xml" ContentType="application/vnd.openxmlformats-officedocument.presentationml.slide+xml"/>
  <Override PartName="/ppt/slides/slide90.xml" ContentType="application/vnd.openxmlformats-officedocument.presentationml.slide+xml"/>
  <Override PartName="/ppt/slides/slide91.xml" ContentType="application/vnd.openxmlformats-officedocument.presentationml.slide+xml"/>
  <Override PartName="/ppt/slides/slide92.xml" ContentType="application/vnd.openxmlformats-officedocument.presentationml.slide+xml"/>
  <Override PartName="/ppt/slides/slide93.xml" ContentType="application/vnd.openxmlformats-officedocument.presentationml.slide+xml"/>
  <Override PartName="/ppt/slides/slide94.xml" ContentType="application/vnd.openxmlformats-officedocument.presentationml.slide+xml"/>
  <Override PartName="/ppt/slides/slide95.xml" ContentType="application/vnd.openxmlformats-officedocument.presentationml.slide+xml"/>
  <Override PartName="/ppt/slides/slide9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tags/tag1.xml" ContentType="application/vnd.openxmlformats-officedocument.presentationml.tags+xml"/>
  <Override PartName="/ppt/tags/tag2.xml" ContentType="application/vnd.openxmlformats-officedocument.presentationml.tags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theme/theme3.xml" ContentType="application/vnd.openxmlformats-officedocument.theme+xml"/>
  <Override PartName="/ppt/theme/theme4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  <p:sldMasterId id="2147483650" r:id="rId2"/>
    <p:sldMasterId id="2147483662" r:id="rId3"/>
  </p:sldMasterIdLst>
  <p:notesMasterIdLst>
    <p:notesMasterId r:id="rId100"/>
  </p:notesMasterIdLst>
  <p:sldIdLst>
    <p:sldId id="256" r:id="rId4"/>
    <p:sldId id="803" r:id="rId5"/>
    <p:sldId id="804" r:id="rId6"/>
    <p:sldId id="805" r:id="rId7"/>
    <p:sldId id="806" r:id="rId8"/>
    <p:sldId id="807" r:id="rId9"/>
    <p:sldId id="257" r:id="rId10"/>
    <p:sldId id="258" r:id="rId11"/>
    <p:sldId id="259" r:id="rId12"/>
    <p:sldId id="283" r:id="rId13"/>
    <p:sldId id="260" r:id="rId14"/>
    <p:sldId id="261" r:id="rId15"/>
    <p:sldId id="262" r:id="rId16"/>
    <p:sldId id="263" r:id="rId17"/>
    <p:sldId id="284" r:id="rId18"/>
    <p:sldId id="285" r:id="rId19"/>
    <p:sldId id="286" r:id="rId20"/>
    <p:sldId id="287" r:id="rId21"/>
    <p:sldId id="288" r:id="rId22"/>
    <p:sldId id="289" r:id="rId23"/>
    <p:sldId id="290" r:id="rId24"/>
    <p:sldId id="291" r:id="rId25"/>
    <p:sldId id="292" r:id="rId26"/>
    <p:sldId id="293" r:id="rId27"/>
    <p:sldId id="294" r:id="rId28"/>
    <p:sldId id="295" r:id="rId29"/>
    <p:sldId id="296" r:id="rId30"/>
    <p:sldId id="297" r:id="rId31"/>
    <p:sldId id="267" r:id="rId32"/>
    <p:sldId id="298" r:id="rId33"/>
    <p:sldId id="341" r:id="rId34"/>
    <p:sldId id="342" r:id="rId35"/>
    <p:sldId id="343" r:id="rId36"/>
    <p:sldId id="344" r:id="rId37"/>
    <p:sldId id="345" r:id="rId38"/>
    <p:sldId id="346" r:id="rId39"/>
    <p:sldId id="347" r:id="rId40"/>
    <p:sldId id="348" r:id="rId41"/>
    <p:sldId id="378" r:id="rId42"/>
    <p:sldId id="352" r:id="rId43"/>
    <p:sldId id="353" r:id="rId44"/>
    <p:sldId id="376" r:id="rId45"/>
    <p:sldId id="354" r:id="rId46"/>
    <p:sldId id="356" r:id="rId47"/>
    <p:sldId id="357" r:id="rId48"/>
    <p:sldId id="379" r:id="rId49"/>
    <p:sldId id="358" r:id="rId50"/>
    <p:sldId id="359" r:id="rId51"/>
    <p:sldId id="360" r:id="rId52"/>
    <p:sldId id="361" r:id="rId53"/>
    <p:sldId id="362" r:id="rId54"/>
    <p:sldId id="380" r:id="rId55"/>
    <p:sldId id="377" r:id="rId56"/>
    <p:sldId id="782" r:id="rId57"/>
    <p:sldId id="783" r:id="rId58"/>
    <p:sldId id="784" r:id="rId59"/>
    <p:sldId id="785" r:id="rId60"/>
    <p:sldId id="799" r:id="rId61"/>
    <p:sldId id="800" r:id="rId62"/>
    <p:sldId id="367" r:id="rId63"/>
    <p:sldId id="368" r:id="rId64"/>
    <p:sldId id="381" r:id="rId65"/>
    <p:sldId id="369" r:id="rId66"/>
    <p:sldId id="370" r:id="rId67"/>
    <p:sldId id="382" r:id="rId68"/>
    <p:sldId id="371" r:id="rId69"/>
    <p:sldId id="383" r:id="rId70"/>
    <p:sldId id="384" r:id="rId71"/>
    <p:sldId id="372" r:id="rId72"/>
    <p:sldId id="373" r:id="rId73"/>
    <p:sldId id="374" r:id="rId74"/>
    <p:sldId id="375" r:id="rId75"/>
    <p:sldId id="801" r:id="rId76"/>
    <p:sldId id="385" r:id="rId77"/>
    <p:sldId id="386" r:id="rId78"/>
    <p:sldId id="387" r:id="rId79"/>
    <p:sldId id="802" r:id="rId80"/>
    <p:sldId id="388" r:id="rId81"/>
    <p:sldId id="264" r:id="rId82"/>
    <p:sldId id="265" r:id="rId83"/>
    <p:sldId id="266" r:id="rId84"/>
    <p:sldId id="268" r:id="rId85"/>
    <p:sldId id="269" r:id="rId86"/>
    <p:sldId id="270" r:id="rId87"/>
    <p:sldId id="271" r:id="rId88"/>
    <p:sldId id="272" r:id="rId89"/>
    <p:sldId id="273" r:id="rId90"/>
    <p:sldId id="274" r:id="rId91"/>
    <p:sldId id="275" r:id="rId92"/>
    <p:sldId id="276" r:id="rId93"/>
    <p:sldId id="277" r:id="rId94"/>
    <p:sldId id="278" r:id="rId95"/>
    <p:sldId id="279" r:id="rId96"/>
    <p:sldId id="280" r:id="rId97"/>
    <p:sldId id="281" r:id="rId98"/>
    <p:sldId id="282" r:id="rId99"/>
  </p:sldIdLst>
  <p:sldSz cx="12192000" cy="6858000"/>
  <p:notesSz cx="6858000" cy="9144000"/>
  <p:defaultTextStyle>
    <a:defPPr>
      <a:defRPr lang="zh-TW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764" autoAdjust="0"/>
  </p:normalViewPr>
  <p:slideViewPr>
    <p:cSldViewPr snapToGrid="0">
      <p:cViewPr varScale="1">
        <p:scale>
          <a:sx n="78" d="100"/>
          <a:sy n="78" d="100"/>
        </p:scale>
        <p:origin x="878" y="6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26" Type="http://schemas.openxmlformats.org/officeDocument/2006/relationships/slide" Target="slides/slide23.xml"/><Relationship Id="rId21" Type="http://schemas.openxmlformats.org/officeDocument/2006/relationships/slide" Target="slides/slide18.xml"/><Relationship Id="rId42" Type="http://schemas.openxmlformats.org/officeDocument/2006/relationships/slide" Target="slides/slide39.xml"/><Relationship Id="rId47" Type="http://schemas.openxmlformats.org/officeDocument/2006/relationships/slide" Target="slides/slide44.xml"/><Relationship Id="rId63" Type="http://schemas.openxmlformats.org/officeDocument/2006/relationships/slide" Target="slides/slide60.xml"/><Relationship Id="rId68" Type="http://schemas.openxmlformats.org/officeDocument/2006/relationships/slide" Target="slides/slide65.xml"/><Relationship Id="rId84" Type="http://schemas.openxmlformats.org/officeDocument/2006/relationships/slide" Target="slides/slide81.xml"/><Relationship Id="rId89" Type="http://schemas.openxmlformats.org/officeDocument/2006/relationships/slide" Target="slides/slide86.xml"/><Relationship Id="rId16" Type="http://schemas.openxmlformats.org/officeDocument/2006/relationships/slide" Target="slides/slide13.xml"/><Relationship Id="rId11" Type="http://schemas.openxmlformats.org/officeDocument/2006/relationships/slide" Target="slides/slide8.xml"/><Relationship Id="rId32" Type="http://schemas.openxmlformats.org/officeDocument/2006/relationships/slide" Target="slides/slide29.xml"/><Relationship Id="rId37" Type="http://schemas.openxmlformats.org/officeDocument/2006/relationships/slide" Target="slides/slide34.xml"/><Relationship Id="rId53" Type="http://schemas.openxmlformats.org/officeDocument/2006/relationships/slide" Target="slides/slide50.xml"/><Relationship Id="rId58" Type="http://schemas.openxmlformats.org/officeDocument/2006/relationships/slide" Target="slides/slide55.xml"/><Relationship Id="rId74" Type="http://schemas.openxmlformats.org/officeDocument/2006/relationships/slide" Target="slides/slide71.xml"/><Relationship Id="rId79" Type="http://schemas.openxmlformats.org/officeDocument/2006/relationships/slide" Target="slides/slide76.xml"/><Relationship Id="rId102" Type="http://schemas.openxmlformats.org/officeDocument/2006/relationships/viewProps" Target="viewProps.xml"/><Relationship Id="rId5" Type="http://schemas.openxmlformats.org/officeDocument/2006/relationships/slide" Target="slides/slide2.xml"/><Relationship Id="rId90" Type="http://schemas.openxmlformats.org/officeDocument/2006/relationships/slide" Target="slides/slide87.xml"/><Relationship Id="rId95" Type="http://schemas.openxmlformats.org/officeDocument/2006/relationships/slide" Target="slides/slide92.xml"/><Relationship Id="rId22" Type="http://schemas.openxmlformats.org/officeDocument/2006/relationships/slide" Target="slides/slide19.xml"/><Relationship Id="rId27" Type="http://schemas.openxmlformats.org/officeDocument/2006/relationships/slide" Target="slides/slide24.xml"/><Relationship Id="rId43" Type="http://schemas.openxmlformats.org/officeDocument/2006/relationships/slide" Target="slides/slide40.xml"/><Relationship Id="rId48" Type="http://schemas.openxmlformats.org/officeDocument/2006/relationships/slide" Target="slides/slide45.xml"/><Relationship Id="rId64" Type="http://schemas.openxmlformats.org/officeDocument/2006/relationships/slide" Target="slides/slide61.xml"/><Relationship Id="rId69" Type="http://schemas.openxmlformats.org/officeDocument/2006/relationships/slide" Target="slides/slide66.xml"/><Relationship Id="rId80" Type="http://schemas.openxmlformats.org/officeDocument/2006/relationships/slide" Target="slides/slide77.xml"/><Relationship Id="rId85" Type="http://schemas.openxmlformats.org/officeDocument/2006/relationships/slide" Target="slides/slide82.xml"/><Relationship Id="rId12" Type="http://schemas.openxmlformats.org/officeDocument/2006/relationships/slide" Target="slides/slide9.xml"/><Relationship Id="rId17" Type="http://schemas.openxmlformats.org/officeDocument/2006/relationships/slide" Target="slides/slide14.xml"/><Relationship Id="rId25" Type="http://schemas.openxmlformats.org/officeDocument/2006/relationships/slide" Target="slides/slide22.xml"/><Relationship Id="rId33" Type="http://schemas.openxmlformats.org/officeDocument/2006/relationships/slide" Target="slides/slide30.xml"/><Relationship Id="rId38" Type="http://schemas.openxmlformats.org/officeDocument/2006/relationships/slide" Target="slides/slide35.xml"/><Relationship Id="rId46" Type="http://schemas.openxmlformats.org/officeDocument/2006/relationships/slide" Target="slides/slide43.xml"/><Relationship Id="rId59" Type="http://schemas.openxmlformats.org/officeDocument/2006/relationships/slide" Target="slides/slide56.xml"/><Relationship Id="rId67" Type="http://schemas.openxmlformats.org/officeDocument/2006/relationships/slide" Target="slides/slide64.xml"/><Relationship Id="rId103" Type="http://schemas.openxmlformats.org/officeDocument/2006/relationships/theme" Target="theme/theme1.xml"/><Relationship Id="rId20" Type="http://schemas.openxmlformats.org/officeDocument/2006/relationships/slide" Target="slides/slide17.xml"/><Relationship Id="rId41" Type="http://schemas.openxmlformats.org/officeDocument/2006/relationships/slide" Target="slides/slide38.xml"/><Relationship Id="rId54" Type="http://schemas.openxmlformats.org/officeDocument/2006/relationships/slide" Target="slides/slide51.xml"/><Relationship Id="rId62" Type="http://schemas.openxmlformats.org/officeDocument/2006/relationships/slide" Target="slides/slide59.xml"/><Relationship Id="rId70" Type="http://schemas.openxmlformats.org/officeDocument/2006/relationships/slide" Target="slides/slide67.xml"/><Relationship Id="rId75" Type="http://schemas.openxmlformats.org/officeDocument/2006/relationships/slide" Target="slides/slide72.xml"/><Relationship Id="rId83" Type="http://schemas.openxmlformats.org/officeDocument/2006/relationships/slide" Target="slides/slide80.xml"/><Relationship Id="rId88" Type="http://schemas.openxmlformats.org/officeDocument/2006/relationships/slide" Target="slides/slide85.xml"/><Relationship Id="rId91" Type="http://schemas.openxmlformats.org/officeDocument/2006/relationships/slide" Target="slides/slide88.xml"/><Relationship Id="rId96" Type="http://schemas.openxmlformats.org/officeDocument/2006/relationships/slide" Target="slides/slide93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3.xml"/><Relationship Id="rId15" Type="http://schemas.openxmlformats.org/officeDocument/2006/relationships/slide" Target="slides/slide12.xml"/><Relationship Id="rId23" Type="http://schemas.openxmlformats.org/officeDocument/2006/relationships/slide" Target="slides/slide20.xml"/><Relationship Id="rId28" Type="http://schemas.openxmlformats.org/officeDocument/2006/relationships/slide" Target="slides/slide25.xml"/><Relationship Id="rId36" Type="http://schemas.openxmlformats.org/officeDocument/2006/relationships/slide" Target="slides/slide33.xml"/><Relationship Id="rId49" Type="http://schemas.openxmlformats.org/officeDocument/2006/relationships/slide" Target="slides/slide46.xml"/><Relationship Id="rId57" Type="http://schemas.openxmlformats.org/officeDocument/2006/relationships/slide" Target="slides/slide54.xml"/><Relationship Id="rId10" Type="http://schemas.openxmlformats.org/officeDocument/2006/relationships/slide" Target="slides/slide7.xml"/><Relationship Id="rId31" Type="http://schemas.openxmlformats.org/officeDocument/2006/relationships/slide" Target="slides/slide28.xml"/><Relationship Id="rId44" Type="http://schemas.openxmlformats.org/officeDocument/2006/relationships/slide" Target="slides/slide41.xml"/><Relationship Id="rId52" Type="http://schemas.openxmlformats.org/officeDocument/2006/relationships/slide" Target="slides/slide49.xml"/><Relationship Id="rId60" Type="http://schemas.openxmlformats.org/officeDocument/2006/relationships/slide" Target="slides/slide57.xml"/><Relationship Id="rId65" Type="http://schemas.openxmlformats.org/officeDocument/2006/relationships/slide" Target="slides/slide62.xml"/><Relationship Id="rId73" Type="http://schemas.openxmlformats.org/officeDocument/2006/relationships/slide" Target="slides/slide70.xml"/><Relationship Id="rId78" Type="http://schemas.openxmlformats.org/officeDocument/2006/relationships/slide" Target="slides/slide75.xml"/><Relationship Id="rId81" Type="http://schemas.openxmlformats.org/officeDocument/2006/relationships/slide" Target="slides/slide78.xml"/><Relationship Id="rId86" Type="http://schemas.openxmlformats.org/officeDocument/2006/relationships/slide" Target="slides/slide83.xml"/><Relationship Id="rId94" Type="http://schemas.openxmlformats.org/officeDocument/2006/relationships/slide" Target="slides/slide91.xml"/><Relationship Id="rId99" Type="http://schemas.openxmlformats.org/officeDocument/2006/relationships/slide" Target="slides/slide96.xml"/><Relationship Id="rId101" Type="http://schemas.openxmlformats.org/officeDocument/2006/relationships/presProps" Target="presProps.xml"/><Relationship Id="rId4" Type="http://schemas.openxmlformats.org/officeDocument/2006/relationships/slide" Target="slides/slide1.xml"/><Relationship Id="rId9" Type="http://schemas.openxmlformats.org/officeDocument/2006/relationships/slide" Target="slides/slide6.xml"/><Relationship Id="rId13" Type="http://schemas.openxmlformats.org/officeDocument/2006/relationships/slide" Target="slides/slide10.xml"/><Relationship Id="rId18" Type="http://schemas.openxmlformats.org/officeDocument/2006/relationships/slide" Target="slides/slide15.xml"/><Relationship Id="rId39" Type="http://schemas.openxmlformats.org/officeDocument/2006/relationships/slide" Target="slides/slide36.xml"/><Relationship Id="rId34" Type="http://schemas.openxmlformats.org/officeDocument/2006/relationships/slide" Target="slides/slide31.xml"/><Relationship Id="rId50" Type="http://schemas.openxmlformats.org/officeDocument/2006/relationships/slide" Target="slides/slide47.xml"/><Relationship Id="rId55" Type="http://schemas.openxmlformats.org/officeDocument/2006/relationships/slide" Target="slides/slide52.xml"/><Relationship Id="rId76" Type="http://schemas.openxmlformats.org/officeDocument/2006/relationships/slide" Target="slides/slide73.xml"/><Relationship Id="rId97" Type="http://schemas.openxmlformats.org/officeDocument/2006/relationships/slide" Target="slides/slide94.xml"/><Relationship Id="rId104" Type="http://schemas.openxmlformats.org/officeDocument/2006/relationships/tableStyles" Target="tableStyles.xml"/><Relationship Id="rId7" Type="http://schemas.openxmlformats.org/officeDocument/2006/relationships/slide" Target="slides/slide4.xml"/><Relationship Id="rId71" Type="http://schemas.openxmlformats.org/officeDocument/2006/relationships/slide" Target="slides/slide68.xml"/><Relationship Id="rId92" Type="http://schemas.openxmlformats.org/officeDocument/2006/relationships/slide" Target="slides/slide89.xml"/><Relationship Id="rId2" Type="http://schemas.openxmlformats.org/officeDocument/2006/relationships/slideMaster" Target="slideMasters/slideMaster2.xml"/><Relationship Id="rId29" Type="http://schemas.openxmlformats.org/officeDocument/2006/relationships/slide" Target="slides/slide26.xml"/><Relationship Id="rId24" Type="http://schemas.openxmlformats.org/officeDocument/2006/relationships/slide" Target="slides/slide21.xml"/><Relationship Id="rId40" Type="http://schemas.openxmlformats.org/officeDocument/2006/relationships/slide" Target="slides/slide37.xml"/><Relationship Id="rId45" Type="http://schemas.openxmlformats.org/officeDocument/2006/relationships/slide" Target="slides/slide42.xml"/><Relationship Id="rId66" Type="http://schemas.openxmlformats.org/officeDocument/2006/relationships/slide" Target="slides/slide63.xml"/><Relationship Id="rId87" Type="http://schemas.openxmlformats.org/officeDocument/2006/relationships/slide" Target="slides/slide84.xml"/><Relationship Id="rId61" Type="http://schemas.openxmlformats.org/officeDocument/2006/relationships/slide" Target="slides/slide58.xml"/><Relationship Id="rId82" Type="http://schemas.openxmlformats.org/officeDocument/2006/relationships/slide" Target="slides/slide79.xml"/><Relationship Id="rId19" Type="http://schemas.openxmlformats.org/officeDocument/2006/relationships/slide" Target="slides/slide16.xml"/><Relationship Id="rId14" Type="http://schemas.openxmlformats.org/officeDocument/2006/relationships/slide" Target="slides/slide11.xml"/><Relationship Id="rId30" Type="http://schemas.openxmlformats.org/officeDocument/2006/relationships/slide" Target="slides/slide27.xml"/><Relationship Id="rId35" Type="http://schemas.openxmlformats.org/officeDocument/2006/relationships/slide" Target="slides/slide32.xml"/><Relationship Id="rId56" Type="http://schemas.openxmlformats.org/officeDocument/2006/relationships/slide" Target="slides/slide53.xml"/><Relationship Id="rId77" Type="http://schemas.openxmlformats.org/officeDocument/2006/relationships/slide" Target="slides/slide74.xml"/><Relationship Id="rId100" Type="http://schemas.openxmlformats.org/officeDocument/2006/relationships/notesMaster" Target="notesMasters/notesMaster1.xml"/><Relationship Id="rId8" Type="http://schemas.openxmlformats.org/officeDocument/2006/relationships/slide" Target="slides/slide5.xml"/><Relationship Id="rId51" Type="http://schemas.openxmlformats.org/officeDocument/2006/relationships/slide" Target="slides/slide48.xml"/><Relationship Id="rId72" Type="http://schemas.openxmlformats.org/officeDocument/2006/relationships/slide" Target="slides/slide69.xml"/><Relationship Id="rId93" Type="http://schemas.openxmlformats.org/officeDocument/2006/relationships/slide" Target="slides/slide90.xml"/><Relationship Id="rId98" Type="http://schemas.openxmlformats.org/officeDocument/2006/relationships/slide" Target="slides/slide95.xml"/><Relationship Id="rId3" Type="http://schemas.openxmlformats.org/officeDocument/2006/relationships/slideMaster" Target="slideMasters/slideMaster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4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"/>
          <p:cNvSpPr>
            <a:spLocks noGrp="1"/>
          </p:cNvSpPr>
          <p:nvPr>
            <p:ph type="hdr" sz="quarter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3" name="Date Placeholder"/>
          <p:cNvSpPr>
            <a:spLocks noGrp="1"/>
          </p:cNvSpPr>
          <p:nvPr>
            <p:ph type="dt" sz="quarter" idx="1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4" name="Slide Image Placeholder"/>
          <p:cNvSpPr>
            <a:spLocks noGrp="1" noRot="1" noChangeAspect="1"/>
          </p:cNvSpPr>
          <p:nvPr>
            <p:ph type="sldImg" idx="2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5" name="Notes Placeholder"/>
          <p:cNvSpPr>
            <a:spLocks noGrp="1"/>
          </p:cNvSpPr>
          <p:nvPr>
            <p:ph type="body" sz="quarter" idx="3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6" name="Footer Placeholder"/>
          <p:cNvSpPr>
            <a:spLocks noGrp="1"/>
          </p:cNvSpPr>
          <p:nvPr>
            <p:ph type="ftr" sz="quarter" idx="4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7" name="Slide Number Placeholder"/>
          <p:cNvSpPr>
            <a:spLocks noGrp="1"/>
          </p:cNvSpPr>
          <p:nvPr>
            <p:ph type="sldNum" sz="quarter" idx="5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/>
    </a:lvl1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9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0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1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2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3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4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5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6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7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8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9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0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1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2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3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4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5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本週目標：能開啟 Notebook 並依序執行儲存格；能用變數、數值與字串完成計算；能根據錯誤訊息修正簡單程式</a:t>
            </a:r>
          </a:p>
          <a:p>
            <a:r>
              <a:t>教材對照：CH01PPT 第1章；CH02PPT 第2章；CH03PPT 第3章</a:t>
            </a:r>
          </a:p>
          <a:p>
            <a:r>
              <a:t>完整180分鐘流程見逐字講稿。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大家好，這門課從沒有寫過程式開始。請先想像，你要請一位不懂你的習慣的人幫你買飲料。只說買平常那杯，他很難完成；你必須交代品項、數量和付款金額。寫程式也是把工作交代清楚。今天我們要完成一張會自動重算的訂單。五週後，會把相同的拆解方法用到影像與分類。現在不用背語法，請先練習把輸入、處理和輸出分開說明。輸入是單價與杯數，處理是相乘，輸出是總價。</a:t>
            </a:r>
          </a:p>
          <a:p>
            <a:endParaRPr/>
          </a:p>
          <a:p>
            <a:r>
              <a:t>活動：兩人一組，用三句話說明買飲料的輸入、處理與輸出。每人打開本週實作檔。</a:t>
            </a:r>
          </a:p>
          <a:p>
            <a:r>
              <a:t>參考答案：輸入：單價35、杯數3；處理：35乘3；輸出：105元。</a:t>
            </a:r>
          </a:p>
          <a:p>
            <a:endParaRPr/>
          </a:p>
          <a:p>
            <a:r>
              <a:t>教材來源：CH01PPT 第1章；CH02PPT 第2章；CH03PPT 第3章</a:t>
            </a:r>
          </a:p>
          <a:p>
            <a:r>
              <a:t>直接引用 CH01PPT.ppt 第12頁。先辨認開始、處理與判斷符號；分支語法留待第2週。</a:t>
            </a:r>
          </a:p>
          <a:p>
            <a:r>
              <a:t>完整程式與解答見同週Notebook。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大家好，這門課從沒有寫過程式開始。請先想像，你要請一位不懂你的習慣的人幫你買飲料。只說買平常那杯，他很難完成；你必須交代品項、數量和付款金額。寫程式也是把工作交代清楚。今天我們要完成一張會自動重算的訂單。五週後，會把相同的拆解方法用到影像與分類。現在不用背語法，請先練習把輸入、處理和輸出分開說明。輸入是單價與杯數，處理是相乘，輸出是總價。</a:t>
            </a:r>
          </a:p>
          <a:p>
            <a:endParaRPr/>
          </a:p>
          <a:p>
            <a:r>
              <a:t>活動：兩人一組，用三句話說明買飲料的輸入、處理與輸出。每人打開本週實作檔。</a:t>
            </a:r>
          </a:p>
          <a:p>
            <a:r>
              <a:t>參考答案：輸入：單價35、杯數3；處理：35乘3；輸出：105元。</a:t>
            </a:r>
          </a:p>
          <a:p>
            <a:endParaRPr/>
          </a:p>
          <a:p>
            <a:r>
              <a:t>教材來源：CH01PPT 第1章；CH02PPT 第2章；CH03PPT 第3章</a:t>
            </a:r>
          </a:p>
          <a:p>
            <a:r>
              <a:t>直接引用 CH01PPT.ppt 第12頁。先辨認開始、處理與判斷符號；分支語法留待第2週。</a:t>
            </a:r>
          </a:p>
          <a:p>
            <a:r>
              <a:t>完整程式與解答見同週Notebook。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大家好，這門課從沒有寫過程式開始。請先想像，你要請一位不懂你的習慣的人幫你買飲料。只說買平常那杯，他很難完成；你必須交代品項、數量和付款金額。寫程式也是把工作交代清楚。今天我們要完成一張會自動重算的訂單。五週後，會把相同的拆解方法用到影像與分類。現在不用背語法，請先練習把輸入、處理和輸出分開說明。輸入是單價與杯數，處理是相乘，輸出是總價。</a:t>
            </a:r>
          </a:p>
          <a:p>
            <a:endParaRPr/>
          </a:p>
          <a:p>
            <a:r>
              <a:t>活動：兩人一組，用三句話說明買飲料的輸入、處理與輸出。每人打開本週實作檔。</a:t>
            </a:r>
          </a:p>
          <a:p>
            <a:r>
              <a:t>參考答案：輸入：單價35、杯數3；處理：35乘3；輸出：105元。</a:t>
            </a:r>
          </a:p>
          <a:p>
            <a:endParaRPr/>
          </a:p>
          <a:p>
            <a:r>
              <a:t>教材來源：CH01PPT 第1章；CH02PPT 第2章；CH03PPT 第3章</a:t>
            </a:r>
          </a:p>
          <a:p>
            <a:r>
              <a:t>直接引用 CH01PPT.ppt 第12頁。先辨認開始、處理與判斷符號；分支語法留待第2週。</a:t>
            </a:r>
          </a:p>
          <a:p>
            <a:r>
              <a:t>完整程式與解答見同週Notebook。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C0294E5-A606-3231-8DDF-246467B60A6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4EF7D479-BF61-86BD-9C03-6779688B709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83EB03B2-B55A-618F-C720-FECE61BE734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大家好，這門課從沒有寫過程式開始。請先想像，你要請一位不懂你的習慣的人幫你買飲料。只說買平常那杯，他很難完成；你必須交代品項、數量和付款金額。寫程式也是把工作交代清楚。今天我們要完成一張會自動重算的訂單。五週後，會把相同的拆解方法用到影像與分類。現在不用背語法，請先練習把輸入、處理和輸出分開說明。輸入是單價與杯數，處理是相乘，輸出是總價。</a:t>
            </a:r>
          </a:p>
          <a:p>
            <a:endParaRPr/>
          </a:p>
          <a:p>
            <a:r>
              <a:t>活動：兩人一組，用三句話說明買飲料的輸入、處理與輸出。每人打開本週實作檔。</a:t>
            </a:r>
          </a:p>
          <a:p>
            <a:r>
              <a:t>參考答案：輸入：單價35、杯數3；處理：35乘3；輸出：105元。</a:t>
            </a:r>
          </a:p>
          <a:p>
            <a:endParaRPr/>
          </a:p>
          <a:p>
            <a:r>
              <a:t>教材來源：CH01PPT 第1章；CH02PPT 第2章；CH03PPT 第3章</a:t>
            </a:r>
          </a:p>
          <a:p>
            <a:r>
              <a:t>直接引用 CH01PPT.ppt 第12頁。先辨認開始、處理與判斷符號；分支語法留待第2週。</a:t>
            </a:r>
          </a:p>
          <a:p>
            <a:r>
              <a:t>完整程式與解答見同週Notebook。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A72FEBD-C28B-3ED0-1656-C271114958B1}"/>
              </a:ext>
            </a:extLst>
          </p:cNvPr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1810710949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畫面中一個一個方框叫儲存格。文字格是給人看的說明，程式格是交給 Python 執行的指令。請點第一個程式格，按 Shift 加 Enter。看到問候文字就代表指令成功執行。左邊的數字代表執行次序，不一定等於畫面的排列順序。核心會暫時記住變數，關閉後可能消失，所以交作業前我們會重新啟動核心，從上到下全部執行一次。請先另存成含自己姓名的檔案，接著把問候語改成自己的名字。</a:t>
            </a:r>
          </a:p>
          <a:p>
            <a:endParaRPr/>
          </a:p>
          <a:p>
            <a:r>
              <a:t>活動：執行示範，修改問候語並儲存。請同桌指出程式格與輸出區的差別。</a:t>
            </a:r>
          </a:p>
          <a:p>
            <a:r>
              <a:t>參考答案：會出現兩行文字；修改後只要重跑該格就能看到新的問候語。</a:t>
            </a:r>
          </a:p>
          <a:p>
            <a:endParaRPr/>
          </a:p>
          <a:p>
            <a:r>
              <a:t>教材來源：CH01PPT 第1章；CH02PPT 第2章；CH03PPT 第3章</a:t>
            </a:r>
          </a:p>
          <a:p>
            <a:r>
              <a:t>完整程式與解答見同週Notebook。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畫面中一個一個方框叫儲存格。文字格是給人看的說明，程式格是交給 Python 執行的指令。請點第一個程式格，按 Shift 加 Enter。看到問候文字就代表指令成功執行。左邊的數字代表執行次序，不一定等於畫面的排列順序。核心會暫時記住變數，關閉後可能消失，所以交作業前我們會重新啟動核心，從上到下全部執行一次。請先另存成含自己姓名的檔案，接著把問候語改成自己的名字。</a:t>
            </a:r>
          </a:p>
          <a:p>
            <a:endParaRPr/>
          </a:p>
          <a:p>
            <a:r>
              <a:t>活動：執行示範，修改問候語並儲存。請同桌指出程式格與輸出區的差別。</a:t>
            </a:r>
          </a:p>
          <a:p>
            <a:r>
              <a:t>參考答案：會出現兩行文字；修改後只要重跑該格就能看到新的問候語。</a:t>
            </a:r>
          </a:p>
          <a:p>
            <a:endParaRPr/>
          </a:p>
          <a:p>
            <a:r>
              <a:t>教材來源：CH01PPT 第1章；CH02PPT 第2章；CH03PPT 第3章</a:t>
            </a:r>
          </a:p>
          <a:p>
            <a:r>
              <a:t>完整程式與解答見同週Notebook。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請先不要執行，看看二加三會得到什麼。接著看引號裡的二加三，你覺得會一樣嗎？引號告訴 Python，這是一段文字，請保留它的樣子。因此第一個會算出五，第二個會顯示二加三。數字五與文字五看起來很像，但用途不同。數字可以拿來計算，文字適合拿來做姓名或商品名稱。print 的括號裡可以放數個項目，用逗號分開。請注意使用英文半形引號和括號，中文標點通常不能取代程式符號。</a:t>
            </a:r>
          </a:p>
          <a:p>
            <a:endParaRPr/>
          </a:p>
          <a:p>
            <a:r>
              <a:t>活動：先寫預測，再執行。新增一行，同時輸出商品名稱與數值35。</a:t>
            </a:r>
          </a:p>
          <a:p>
            <a:r>
              <a:t>參考答案：第一行5，第二行2 + 3，第三行飲料 35。</a:t>
            </a:r>
          </a:p>
          <a:p>
            <a:endParaRPr/>
          </a:p>
          <a:p>
            <a:r>
              <a:t>教材來源：CH01PPT 第1章；CH02PPT 第2章；CH03PPT 第3章</a:t>
            </a:r>
          </a:p>
          <a:p>
            <a:r>
              <a:t>完整程式與解答見同週Notebook。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請先不要執行，看看二加三會得到什麼。接著看引號裡的二加三，你覺得會一樣嗎？引號告訴 Python，這是一段文字，請保留它的樣子。因此第一個會算出五，第二個會顯示二加三。數字五與文字五看起來很像，但用途不同。數字可以拿來計算，文字適合拿來做姓名或商品名稱。print 的括號裡可以放數個項目，用逗號分開。請注意使用英文半形引號和括號，中文標點通常不能取代程式符號。</a:t>
            </a:r>
          </a:p>
          <a:p>
            <a:endParaRPr/>
          </a:p>
          <a:p>
            <a:r>
              <a:t>活動：先寫預測，再執行。新增一行，同時輸出商品名稱與數值35。</a:t>
            </a:r>
          </a:p>
          <a:p>
            <a:r>
              <a:t>參考答案：第一行5，第二行2 + 3，第三行飲料 35。</a:t>
            </a:r>
          </a:p>
          <a:p>
            <a:endParaRPr/>
          </a:p>
          <a:p>
            <a:r>
              <a:t>教材來源：CH01PPT 第1章；CH02PPT 第2章；CH03PPT 第3章</a:t>
            </a:r>
          </a:p>
          <a:p>
            <a:r>
              <a:t>完整程式與解答見同週Notebook。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2BD1C80-B991-71C2-0AEF-1BFB4FA5F91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39A23952-E944-AA96-6B72-4F655C2B6D1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6782C2A5-2C7C-F77E-15EB-F6E063D85B9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請先不要執行，看看二加三會得到什麼。接著看引號裡的二加三，你覺得會一樣嗎？引號告訴 Python，這是一段文字，請保留它的樣子。因此第一個會算出五，第二個會顯示二加三。數字五與文字五看起來很像，但用途不同。數字可以拿來計算，文字適合拿來做姓名或商品名稱。print 的括號裡可以放數個項目，用逗號分開。請注意使用英文半形引號和括號，中文標點通常不能取代程式符號。</a:t>
            </a:r>
          </a:p>
          <a:p>
            <a:endParaRPr/>
          </a:p>
          <a:p>
            <a:r>
              <a:t>活動：先寫預測，再執行。新增一行，同時輸出商品名稱與數值35。</a:t>
            </a:r>
          </a:p>
          <a:p>
            <a:r>
              <a:t>參考答案：第一行5，第二行2 + 3，第三行飲料 35。</a:t>
            </a:r>
          </a:p>
          <a:p>
            <a:endParaRPr/>
          </a:p>
          <a:p>
            <a:r>
              <a:t>教材來源：CH01PPT 第1章；CH02PPT 第2章；CH03PPT 第3章</a:t>
            </a:r>
          </a:p>
          <a:p>
            <a:r>
              <a:t>完整程式與解答見同週Notebook。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673F76D-32F7-EFD4-2224-3D17880278CB}"/>
              </a:ext>
            </a:extLst>
          </p:cNvPr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1721491384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我們先休息十分鐘。離開座位前請儲存，不必關閉核心。若剛才有錯誤，請把出錯的格子留著，我會在休息時協助。回來後會把文字形式的數字轉成可以計算的資料。</a:t>
            </a:r>
          </a:p>
          <a:p>
            <a:endParaRPr/>
          </a:p>
          <a:p>
            <a:r>
              <a:t>活動：儲存檔案、伸展與休息。</a:t>
            </a:r>
          </a:p>
          <a:p>
            <a:r>
              <a:t>參考答案：回座後找得到本週檔案。</a:t>
            </a:r>
          </a:p>
          <a:p>
            <a:endParaRPr/>
          </a:p>
          <a:p>
            <a:r>
              <a:t>教材來源：CH01PPT 第1章；CH02PPT 第2章；CH03PPT 第3章</a:t>
            </a:r>
          </a:p>
          <a:p>
            <a:r>
              <a:t>完整程式與解答見同週Notebook。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現在我們替資料取名字。price 等於三十五，表示讓 price 這個名稱指向三十五。這個等號是指定，不是在問兩邊是否相同。執行 total 等於 price 乘 quantity 時，Python 會先算右邊，再把結果交給 total。如果之後只改 price，已經算好的 total 不會自動重算。這就像紙上已經寫下的答案，你改了題目，還必須再算一次。請把單價改成四十，重跑整格，觀察總價。命名可以使用英文字母、數字與底線，但不要以數字開頭。</a:t>
            </a:r>
          </a:p>
          <a:p>
            <a:endParaRPr/>
          </a:p>
          <a:p>
            <a:r>
              <a:t>活動：把price改為40，quantity改為4，重新計算；說明為什麼總價變了。</a:t>
            </a:r>
          </a:p>
          <a:p>
            <a:r>
              <a:t>參考答案：40乘4等於160。變數更新後重新執行乘法，total才得到新值。</a:t>
            </a:r>
          </a:p>
          <a:p>
            <a:endParaRPr/>
          </a:p>
          <a:p>
            <a:r>
              <a:t>教材來源：CH01PPT 第1章；CH02PPT 第2章；CH03PPT 第3章</a:t>
            </a:r>
          </a:p>
          <a:p>
            <a:r>
              <a:t>直接引用 CH03PPT.ppt 第5頁。用原教材盒子圖說明讀取與指定，再提醒變數更新不會自動重算其他變數。</a:t>
            </a:r>
          </a:p>
          <a:p>
            <a:r>
              <a:t>完整程式與解答見同週Notebook。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現在我們替資料取名字。price 等於三十五，表示讓 price 這個名稱指向三十五。這個等號是指定，不是在問兩邊是否相同。執行 total 等於 price 乘 quantity 時，Python 會先算右邊，再把結果交給 total。如果之後只改 price，已經算好的 total 不會自動重算。這就像紙上已經寫下的答案，你改了題目，還必須再算一次。請把單價改成四十，重跑整格，觀察總價。命名可以使用英文字母、數字與底線，但不要以數字開頭。</a:t>
            </a:r>
          </a:p>
          <a:p>
            <a:endParaRPr/>
          </a:p>
          <a:p>
            <a:r>
              <a:t>活動：把price改為40，quantity改為4，重新計算；說明為什麼總價變了。</a:t>
            </a:r>
          </a:p>
          <a:p>
            <a:r>
              <a:t>參考答案：40乘4等於160。變數更新後重新執行乘法，total才得到新值。</a:t>
            </a:r>
          </a:p>
          <a:p>
            <a:endParaRPr/>
          </a:p>
          <a:p>
            <a:r>
              <a:t>教材來源：CH01PPT 第1章；CH02PPT 第2章；CH03PPT 第3章</a:t>
            </a:r>
          </a:p>
          <a:p>
            <a:r>
              <a:t>直接引用 CH03PPT.ppt 第5頁。用原教材盒子圖說明讀取與指定，再提醒變數更新不會自動重算其他變數。</a:t>
            </a:r>
          </a:p>
          <a:p>
            <a:r>
              <a:t>完整程式與解答見同週Notebook。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現在我們替資料取名字。price 等於三十五，表示讓 price 這個名稱指向三十五。這個等號是指定，不是在問兩邊是否相同。執行 total 等於 price 乘 quantity 時，Python 會先算右邊，再把結果交給 total。如果之後只改 price，已經算好的 total 不會自動重算。這就像紙上已經寫下的答案，你改了題目，還必須再算一次。請把單價改成四十，重跑整格，觀察總價。命名可以使用英文字母、數字與底線，但不要以數字開頭。</a:t>
            </a:r>
          </a:p>
          <a:p>
            <a:endParaRPr/>
          </a:p>
          <a:p>
            <a:r>
              <a:t>活動：把price改為40，quantity改為4，重新計算；說明為什麼總價變了。</a:t>
            </a:r>
          </a:p>
          <a:p>
            <a:r>
              <a:t>參考答案：40乘4等於160。變數更新後重新執行乘法，total才得到新值。</a:t>
            </a:r>
          </a:p>
          <a:p>
            <a:endParaRPr/>
          </a:p>
          <a:p>
            <a:r>
              <a:t>教材來源：CH01PPT 第1章；CH02PPT 第2章；CH03PPT 第3章</a:t>
            </a:r>
          </a:p>
          <a:p>
            <a:r>
              <a:t>直接引用 CH03PPT.ppt 第5頁。用原教材盒子圖說明讀取與指定，再提醒變數更新不會自動重算其他變數。</a:t>
            </a:r>
          </a:p>
          <a:p>
            <a:r>
              <a:t>完整程式與解答見同週Notebook。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訂單的杯數可能來自使用者輸入。input 收到的內容一律是文字，即使你輸入的是三，也要用 int 轉成整數才能當杯數。今天主流程先用字串三模擬輸入，這樣全部執行時不會停下等待。下方另有互動輸入開關，想實際輸入的人可以打開。請看 type 的結果，它告訴我們目前是哪一種資料。小數例如三十五點五用 float。若把三杯直接交給 int，會出現 ValueError，因為它不是整數格式。現在先約定只輸入純數字，第三週會處理錯誤輸入。</a:t>
            </a:r>
          </a:p>
          <a:p>
            <a:endParaRPr/>
          </a:p>
          <a:p>
            <a:r>
              <a:t>活動：把文字杯數改成"4"並轉型，接著比較"3" * 2與int("3") * 2。</a:t>
            </a:r>
          </a:p>
          <a:p>
            <a:r>
              <a:t>參考答案：前者是文字33，後者是數值6。</a:t>
            </a:r>
          </a:p>
          <a:p>
            <a:endParaRPr/>
          </a:p>
          <a:p>
            <a:r>
              <a:t>教材來源：CH01PPT 第1章；CH02PPT 第2章；CH03PPT 第3章</a:t>
            </a:r>
          </a:p>
          <a:p>
            <a:r>
              <a:t>直接引用 CH03PPT.ppt 第23頁。對照int與float；本課先用文字模擬輸入，再以互動開關體驗input。</a:t>
            </a:r>
          </a:p>
          <a:p>
            <a:r>
              <a:t>完整程式與解答見同週Notebook。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訂單的杯數可能來自使用者輸入。input 收到的內容一律是文字，即使你輸入的是三，也要用 int 轉成整數才能當杯數。今天主流程先用字串三模擬輸入，這樣全部執行時不會停下等待。下方另有互動輸入開關，想實際輸入的人可以打開。請看 type 的結果，它告訴我們目前是哪一種資料。小數例如三十五點五用 float。若把三杯直接交給 int，會出現 ValueError，因為它不是整數格式。現在先約定只輸入純數字，第三週會處理錯誤輸入。</a:t>
            </a:r>
          </a:p>
          <a:p>
            <a:endParaRPr/>
          </a:p>
          <a:p>
            <a:r>
              <a:t>活動：把文字杯數改成"4"並轉型，接著比較"3" * 2與int("3") * 2。</a:t>
            </a:r>
          </a:p>
          <a:p>
            <a:r>
              <a:t>參考答案：前者是文字33，後者是數值6。</a:t>
            </a:r>
          </a:p>
          <a:p>
            <a:endParaRPr/>
          </a:p>
          <a:p>
            <a:r>
              <a:t>教材來源：CH01PPT 第1章；CH02PPT 第2章；CH03PPT 第3章</a:t>
            </a:r>
          </a:p>
          <a:p>
            <a:r>
              <a:t>直接引用 CH03PPT.ppt 第23頁。對照int與float；本課先用文字模擬輸入，再以互動開關體驗input。</a:t>
            </a:r>
          </a:p>
          <a:p>
            <a:r>
              <a:t>完整程式與解答見同週Notebook。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訂單的杯數可能來自使用者輸入。input 收到的內容一律是文字，即使你輸入的是三，也要用 int 轉成整數才能當杯數。今天主流程先用字串三模擬輸入，這樣全部執行時不會停下等待。下方另有互動輸入開關，想實際輸入的人可以打開。請看 type 的結果，它告訴我們目前是哪一種資料。小數例如三十五點五用 float。若把三杯直接交給 int，會出現 ValueError，因為它不是整數格式。現在先約定只輸入純數字，第三週會處理錯誤輸入。</a:t>
            </a:r>
          </a:p>
          <a:p>
            <a:endParaRPr/>
          </a:p>
          <a:p>
            <a:r>
              <a:t>活動：把文字杯數改成"4"並轉型，接著比較"3" * 2與int("3") * 2。</a:t>
            </a:r>
          </a:p>
          <a:p>
            <a:r>
              <a:t>參考答案：前者是文字33，後者是數值6。</a:t>
            </a:r>
          </a:p>
          <a:p>
            <a:endParaRPr/>
          </a:p>
          <a:p>
            <a:r>
              <a:t>教材來源：CH01PPT 第1章；CH02PPT 第2章；CH03PPT 第3章</a:t>
            </a:r>
          </a:p>
          <a:p>
            <a:r>
              <a:t>直接引用 CH03PPT.ppt 第23頁。對照int與float；本課先用文字模擬輸入，再以互動開關體驗input。</a:t>
            </a:r>
          </a:p>
          <a:p>
            <a:r>
              <a:t>完整程式與解答見同週Notebook。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我們把付錢的情境拆成兩步，先求總價，再求找零。付款減去總價就是找零。若要分裝，十個物品每盒三個，十除以三會有小數；整數除法得到三盒，餘數得到剩下一個。請特別注意，Python 裡兩條斜線表示整數除法，一個百分號表示餘數，這個符號在這裡不是百分比。較複雜的式子請加上括號，讓自己和同學都看得出先算哪一部分。接著請你改付款金額，確認答案是否合理。</a:t>
            </a:r>
          </a:p>
          <a:p>
            <a:endParaRPr/>
          </a:p>
          <a:p>
            <a:r>
              <a:t>活動：計算5杯每杯30元，付200元的找零。再算17顆糖每袋5顆的袋數與剩餘。</a:t>
            </a:r>
          </a:p>
          <a:p>
            <a:r>
              <a:t>參考答案：總價150、找零50；3袋、剩2顆。</a:t>
            </a:r>
          </a:p>
          <a:p>
            <a:endParaRPr/>
          </a:p>
          <a:p>
            <a:r>
              <a:t>教材來源：CH01PPT 第1章；CH02PPT 第2章；CH03PPT 第3章</a:t>
            </a:r>
          </a:p>
          <a:p>
            <a:r>
              <a:t>完整程式與解答見同週Notebook。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我們把付錢的情境拆成兩步，先求總價，再求找零。付款減去總價就是找零。若要分裝，十個物品每盒三個，十除以三會有小數；整數除法得到三盒，餘數得到剩下一個。請特別注意，Python 裡兩條斜線表示整數除法，一個百分號表示餘數，這個符號在這裡不是百分比。較複雜的式子請加上括號，讓自己和同學都看得出先算哪一部分。接著請你改付款金額，確認答案是否合理。</a:t>
            </a:r>
          </a:p>
          <a:p>
            <a:endParaRPr/>
          </a:p>
          <a:p>
            <a:r>
              <a:t>活動：計算5杯每杯30元，付200元的找零。再算17顆糖每袋5顆的袋數與剩餘。</a:t>
            </a:r>
          </a:p>
          <a:p>
            <a:r>
              <a:t>參考答案：總價150、找零50；3袋、剩2顆。</a:t>
            </a:r>
          </a:p>
          <a:p>
            <a:endParaRPr/>
          </a:p>
          <a:p>
            <a:r>
              <a:t>教材來源：CH01PPT 第1章；CH02PPT 第2章；CH03PPT 第3章</a:t>
            </a:r>
          </a:p>
          <a:p>
            <a:r>
              <a:t>完整程式與解答見同週Notebook。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出現錯誤不代表你不適合寫程式。錯誤訊息是 Python 告訴你它在哪一步無法繼續。今天先看兩種情況：名字拼錯會找不到變數，文字與數字直接相加可能不合規則。請先看最後一行，再回頭找標示的程式行。下面用文字呈現錯誤範例，避免全部執行時中斷。你可以另開一格試錯，修好後再保留正確版本。除錯時一次改一件事，否則即使修好了，也不知道是哪個修改有效。</a:t>
            </a:r>
          </a:p>
          <a:p>
            <a:endParaRPr/>
          </a:p>
          <a:p>
            <a:r>
              <a:t>活動：修正prcie拼字與"總價" + 105的混用。說出錯誤種類與修正理由。</a:t>
            </a:r>
          </a:p>
          <a:p>
            <a:r>
              <a:t>參考答案：prcie改成price；改用print("總價", 105)或先將數值轉成字串。</a:t>
            </a:r>
          </a:p>
          <a:p>
            <a:endParaRPr/>
          </a:p>
          <a:p>
            <a:r>
              <a:t>教材來源：CH01PPT 第1章；CH02PPT 第2章；CH03PPT 第3章</a:t>
            </a:r>
          </a:p>
          <a:p>
            <a:r>
              <a:t>完整程式與解答見同週Notebook。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出現錯誤不代表你不適合寫程式。錯誤訊息是 Python 告訴你它在哪一步無法繼續。今天先看兩種情況：名字拼錯會找不到變數，文字與數字直接相加可能不合規則。請先看最後一行，再回頭找標示的程式行。下面用文字呈現錯誤範例，避免全部執行時中斷。你可以另開一格試錯，修好後再保留正確版本。除錯時一次改一件事，否則即使修好了，也不知道是哪個修改有效。</a:t>
            </a:r>
          </a:p>
          <a:p>
            <a:endParaRPr/>
          </a:p>
          <a:p>
            <a:r>
              <a:t>活動：修正prcie拼字與"總價" + 105的混用。說出錯誤種類與修正理由。</a:t>
            </a:r>
          </a:p>
          <a:p>
            <a:r>
              <a:t>參考答案：prcie改成price；改用print("總價", 105)或先將數值轉成字串。</a:t>
            </a:r>
          </a:p>
          <a:p>
            <a:endParaRPr/>
          </a:p>
          <a:p>
            <a:r>
              <a:t>教材來源：CH01PPT 第1章；CH02PPT 第2章；CH03PPT 第3章</a:t>
            </a:r>
          </a:p>
          <a:p>
            <a:r>
              <a:t>完整程式與解答見同週Notebook。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程式算對以後，還要讓使用者看得懂。單獨顯示一百零五，不知道是價格還是杯數。我們使用 f 字串，把變數放進大括號，旁邊寫清楚標籤和單位。小數格式點二 f，表示顯示到小數點後兩位，這主要控制畫面的呈現。請你先指出哪一段是固定文字，哪一段會隨變數改變。今天金額採整數元；往後處理真實帳務，還需要另外定義進位規則。</a:t>
            </a:r>
          </a:p>
          <a:p>
            <a:endParaRPr/>
          </a:p>
          <a:p>
            <a:r>
              <a:t>活動：使用f字串列印4杯每杯35元，共140元的完整訂單。</a:t>
            </a:r>
          </a:p>
          <a:p>
            <a:r>
              <a:t>參考答案：例如：紅茶 4杯，總價140元。</a:t>
            </a:r>
          </a:p>
          <a:p>
            <a:endParaRPr/>
          </a:p>
          <a:p>
            <a:r>
              <a:t>教材來源：CH01PPT 第1章；CH02PPT 第2章；CH03PPT 第3章</a:t>
            </a:r>
          </a:p>
          <a:p>
            <a:r>
              <a:t>完整程式與解答見同週Notebook。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程式算對以後，還要讓使用者看得懂。單獨顯示一百零五，不知道是價格還是杯數。我們使用 f 字串，把變數放進大括號，旁邊寫清楚標籤和單位。小數格式點二 f，表示顯示到小數點後兩位，這主要控制畫面的呈現。請你先指出哪一段是固定文字，哪一段會隨變數改變。今天金額採整數元；往後處理真實帳務，還需要另外定義進位規則。</a:t>
            </a:r>
          </a:p>
          <a:p>
            <a:endParaRPr/>
          </a:p>
          <a:p>
            <a:r>
              <a:t>活動：使用f字串列印4杯每杯35元，共140元的完整訂單。</a:t>
            </a:r>
          </a:p>
          <a:p>
            <a:r>
              <a:t>參考答案：例如：紅茶 4杯，總價140元。</a:t>
            </a:r>
          </a:p>
          <a:p>
            <a:endParaRPr/>
          </a:p>
          <a:p>
            <a:r>
              <a:t>教材來源：CH01PPT 第1章；CH02PPT 第2章；CH03PPT 第3章</a:t>
            </a:r>
          </a:p>
          <a:p>
            <a:r>
              <a:t>完整程式與解答見同週Notebook。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接下來二十分鐘請完成自己的訂單。先用註解寫出你準備做的步驟，再寫程式。第一組資料是單價三十五、三杯、付款兩百，請算出總價一百零五、找零九十五。第二組改成四十元、兩杯、付款一百，結果應該是八十與二十。做完的人請和同桌交換檢查，請對方只改輸入就能重算。若你卡住，先保留商品名稱和單價，確定可以輸出，再增加杯數與找零。最後請用一句話說明指定運算的方向。</a:t>
            </a:r>
          </a:p>
          <a:p>
            <a:endParaRPr/>
          </a:p>
          <a:p>
            <a:r>
              <a:t>活動：完成專題格；先測試35、3、200，再測試40、2、100。加上自己的品項。</a:t>
            </a:r>
          </a:p>
          <a:p>
            <a:r>
              <a:t>參考答案：測試A：105、95；測試B：80、20。輸出須含品項、杯數、總價、找零。</a:t>
            </a:r>
          </a:p>
          <a:p>
            <a:endParaRPr/>
          </a:p>
          <a:p>
            <a:r>
              <a:t>教材來源：CH01PPT 第1章；CH02PPT 第2章；CH03PPT 第3章</a:t>
            </a:r>
          </a:p>
          <a:p>
            <a:r>
              <a:t>完整程式與解答見同週Notebook。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接下來二十分鐘請完成自己的訂單。先用註解寫出你準備做的步驟，再寫程式。第一組資料是單價三十五、三杯、付款兩百，請算出總價一百零五、找零九十五。第二組改成四十元、兩杯、付款一百，結果應該是八十與二十。做完的人請和同桌交換檢查，請對方只改輸入就能重算。若你卡住，先保留商品名稱和單價，確定可以輸出，再增加杯數與找零。最後請用一句話說明指定運算的方向。</a:t>
            </a:r>
          </a:p>
          <a:p>
            <a:endParaRPr/>
          </a:p>
          <a:p>
            <a:r>
              <a:t>活動：完成專題格；先測試35、3、200，再測試40、2、100。加上自己的品項。</a:t>
            </a:r>
          </a:p>
          <a:p>
            <a:r>
              <a:t>參考答案：測試A：105、95；測試B：80、20。輸出須含品項、杯數、總價、找零。</a:t>
            </a:r>
          </a:p>
          <a:p>
            <a:endParaRPr/>
          </a:p>
          <a:p>
            <a:r>
              <a:t>教材來源：CH01PPT 第1章；CH02PPT 第2章；CH03PPT 第3章</a:t>
            </a:r>
          </a:p>
          <a:p>
            <a:r>
              <a:t>完整程式與解答見同週Notebook。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請先儲存，再使用重新啟動核心並全部執行。這一步是確認你的程式沒有依賴某個早已執行、但後來刪掉的格子。接著請同桌問你三個問題：哪個是輸入，哪一行進行計算，哪一行負責輸出。回答時請指著程式說，不只念答案。若第二組資料出現第一組答案，就要檢查是不是沒有重算。今天的及格標準是兩組都正確，且你能解釋變數的角色。</a:t>
            </a:r>
          </a:p>
          <a:p>
            <a:endParaRPr/>
          </a:p>
          <a:p>
            <a:r>
              <a:t>活動：每人用60秒說明，教師抽查兩組結果。</a:t>
            </a:r>
          </a:p>
          <a:p>
            <a:r>
              <a:t>參考答案：能從乾淨核心重跑，且total不是手寫固定答案。</a:t>
            </a:r>
          </a:p>
          <a:p>
            <a:endParaRPr/>
          </a:p>
          <a:p>
            <a:r>
              <a:t>教材來源：CH01PPT 第1章；CH02PPT 第2章；CH03PPT 第3章</a:t>
            </a:r>
          </a:p>
          <a:p>
            <a:r>
              <a:t>完整程式與解答見同週Notebook。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請先儲存，再使用重新啟動核心並全部執行。這一步是確認你的程式沒有依賴某個早已執行、但後來刪掉的格子。接著請同桌問你三個問題：哪個是輸入，哪一行進行計算，哪一行負責輸出。回答時請指著程式說，不只念答案。若第二組資料出現第一組答案，就要檢查是不是沒有重算。今天的及格標準是兩組都正確，且你能解釋變數的角色。</a:t>
            </a:r>
          </a:p>
          <a:p>
            <a:endParaRPr/>
          </a:p>
          <a:p>
            <a:r>
              <a:t>活動：每人用60秒說明，教師抽查兩組結果。</a:t>
            </a:r>
          </a:p>
          <a:p>
            <a:r>
              <a:t>參考答案：能從乾淨核心重跑，且total不是手寫固定答案。</a:t>
            </a:r>
          </a:p>
          <a:p>
            <a:endParaRPr/>
          </a:p>
          <a:p>
            <a:r>
              <a:t>教材來源：CH01PPT 第1章；CH02PPT 第2章；CH03PPT 第3章</a:t>
            </a:r>
          </a:p>
          <a:p>
            <a:r>
              <a:t>完整程式與解答見同週Notebook。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最後請不看筆記回答：input 收到的五是什麼型態？要拿來算杯數怎麼做？第二題，改了 price 但沒重跑 total，總價會自動改嗎？第三題，把三杯改成四杯，程式哪裡需要調整？課後請做文具訂單，兩項商品各有單價與數量，計算總價。下週會加入滿額折扣，讓程式依情況做不同的事。</a:t>
            </a:r>
          </a:p>
          <a:p>
            <a:endParaRPr/>
          </a:p>
          <a:p>
            <a:r>
              <a:t>活動：提交Notebook；課後做20元筆3支與15元本子2本的訂單。</a:t>
            </a:r>
          </a:p>
          <a:p>
            <a:r>
              <a:t>參考答案：離堂：str、int轉型、不會自動重算、修改quantity再執行。課後總價90元。</a:t>
            </a:r>
          </a:p>
          <a:p>
            <a:endParaRPr/>
          </a:p>
          <a:p>
            <a:r>
              <a:t>教材來源：CH01PPT 第1章；CH02PPT 第2章；CH03PPT 第3章</a:t>
            </a:r>
          </a:p>
          <a:p>
            <a:r>
              <a:t>完整程式與解答見同週Notebook。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最後請不看筆記回答：input 收到的五是什麼型態？要拿來算杯數怎麼做？第二題，改了 price 但沒重跑 total，總價會自動改嗎？第三題，把三杯改成四杯，程式哪裡需要調整？課後請做文具訂單，兩項商品各有單價與數量，計算總價。下週會加入滿額折扣，讓程式依情況做不同的事。</a:t>
            </a:r>
          </a:p>
          <a:p>
            <a:endParaRPr/>
          </a:p>
          <a:p>
            <a:r>
              <a:t>活動：提交Notebook；課後做20元筆3支與15元本子2本的訂單。</a:t>
            </a:r>
          </a:p>
          <a:p>
            <a:r>
              <a:t>參考答案：離堂：str、int轉型、不會自動重算、修改quantity再執行。課後總價90元。</a:t>
            </a:r>
          </a:p>
          <a:p>
            <a:endParaRPr/>
          </a:p>
          <a:p>
            <a:r>
              <a:t>教材來源：CH01PPT 第1章；CH02PPT 第2章；CH03PPT 第3章</a:t>
            </a:r>
          </a:p>
          <a:p>
            <a:r>
              <a:t>完整程式與解答見同週Notebook。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slideMaster" Target="../slideMasters/slideMaster3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slideMaster" Target="../slideMasters/slideMaster3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標題投影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>
            <a:extLst>
              <a:ext uri="{FF2B5EF4-FFF2-40B4-BE49-F238E27FC236}">
                <a16:creationId xmlns:a16="http://schemas.microsoft.com/office/drawing/2014/main" id="{B5DCEDC2-7442-DE37-B12F-ADA90CC65F23}"/>
              </a:ext>
            </a:extLst>
          </p:cNvPr>
          <p:cNvSpPr>
            <a:spLocks noChangeArrowheads="1"/>
          </p:cNvSpPr>
          <p:nvPr/>
        </p:nvSpPr>
        <p:spPr bwMode="auto">
          <a:xfrm>
            <a:off x="182033" y="136526"/>
            <a:ext cx="11821584" cy="6581775"/>
          </a:xfrm>
          <a:prstGeom prst="rect">
            <a:avLst/>
          </a:prstGeom>
          <a:solidFill>
            <a:schemeClr val="bg1">
              <a:alpha val="50195"/>
            </a:schemeClr>
          </a:solidFill>
          <a:ln>
            <a:noFill/>
          </a:ln>
          <a:effectLst/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ea typeface="新細明體" charset="-12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ea typeface="新細明體" charset="-12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ea typeface="新細明體" charset="-12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ea typeface="新細明體" charset="-12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ea typeface="新細明體" charset="-12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新細明體" charset="-12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新細明體" charset="-12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新細明體" charset="-12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新細明體" charset="-120"/>
              </a:defRPr>
            </a:lvl9pPr>
          </a:lstStyle>
          <a:p>
            <a:pPr algn="ctr" eaLnBrk="1" hangingPunct="1">
              <a:defRPr/>
            </a:pPr>
            <a:endParaRPr lang="zh-TW" altLang="en-US">
              <a:ea typeface="微軟正黑體" pitchFamily="34" charset="-120"/>
              <a:cs typeface="+mn-cs"/>
            </a:endParaRPr>
          </a:p>
        </p:txBody>
      </p:sp>
      <p:sp>
        <p:nvSpPr>
          <p:cNvPr id="252931" name="Rectangle 3"/>
          <p:cNvSpPr>
            <a:spLocks noGrp="1" noChangeArrowheads="1"/>
          </p:cNvSpPr>
          <p:nvPr>
            <p:ph type="ctrTitle"/>
          </p:nvPr>
        </p:nvSpPr>
        <p:spPr>
          <a:xfrm>
            <a:off x="607484" y="2130426"/>
            <a:ext cx="9751483" cy="1470025"/>
          </a:xfrm>
        </p:spPr>
        <p:txBody>
          <a:bodyPr/>
          <a:lstStyle>
            <a:lvl1pPr>
              <a:defRPr/>
            </a:lvl1pPr>
          </a:lstStyle>
          <a:p>
            <a:pPr lvl="0"/>
            <a:r>
              <a:rPr lang="zh-TW" altLang="en-US" noProof="0"/>
              <a:t>按一下以編輯母片標題樣式</a:t>
            </a:r>
          </a:p>
        </p:txBody>
      </p:sp>
      <p:sp>
        <p:nvSpPr>
          <p:cNvPr id="252932" name="Rectangle 4"/>
          <p:cNvSpPr>
            <a:spLocks noGrp="1" noChangeArrowheads="1"/>
          </p:cNvSpPr>
          <p:nvPr>
            <p:ph type="subTitle" idx="1"/>
          </p:nvPr>
        </p:nvSpPr>
        <p:spPr>
          <a:xfrm>
            <a:off x="607484" y="3886200"/>
            <a:ext cx="9751483" cy="1752600"/>
          </a:xfrm>
        </p:spPr>
        <p:txBody>
          <a:bodyPr/>
          <a:lstStyle>
            <a:lvl1pPr marL="0" indent="0">
              <a:buClr>
                <a:srgbClr val="FFFFFF"/>
              </a:buClr>
              <a:buFontTx/>
              <a:buNone/>
              <a:defRPr/>
            </a:lvl1pPr>
          </a:lstStyle>
          <a:p>
            <a:pPr lvl="0"/>
            <a:r>
              <a:rPr lang="zh-TW" altLang="en-US" noProof="0"/>
              <a:t>按一下以編輯母片副標題樣式</a:t>
            </a:r>
          </a:p>
        </p:txBody>
      </p:sp>
      <p:sp>
        <p:nvSpPr>
          <p:cNvPr id="3" name="Rectangle 5">
            <a:extLst>
              <a:ext uri="{FF2B5EF4-FFF2-40B4-BE49-F238E27FC236}">
                <a16:creationId xmlns:a16="http://schemas.microsoft.com/office/drawing/2014/main" id="{53373D6A-153A-14C7-1D7B-37DC3BEE3A20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TW"/>
          </a:p>
        </p:txBody>
      </p:sp>
      <p:sp>
        <p:nvSpPr>
          <p:cNvPr id="4" name="Rectangle 6">
            <a:extLst>
              <a:ext uri="{FF2B5EF4-FFF2-40B4-BE49-F238E27FC236}">
                <a16:creationId xmlns:a16="http://schemas.microsoft.com/office/drawing/2014/main" id="{0D81FF66-83C1-965F-E6CC-AFDC165191D0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TW"/>
          </a:p>
        </p:txBody>
      </p:sp>
      <p:sp>
        <p:nvSpPr>
          <p:cNvPr id="5" name="Rectangle 7">
            <a:extLst>
              <a:ext uri="{FF2B5EF4-FFF2-40B4-BE49-F238E27FC236}">
                <a16:creationId xmlns:a16="http://schemas.microsoft.com/office/drawing/2014/main" id="{4DDE3681-FF4E-6794-5538-9E4B05BCB0DB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85E89BBE-EF13-445E-BD27-A1138AC41EA0}" type="slidenum">
              <a:rPr lang="zh-TW" altLang="en-US"/>
              <a:pPr/>
              <a:t>‹#›</a:t>
            </a:fld>
            <a:endParaRPr lang="en-US" altLang="zh-TW"/>
          </a:p>
        </p:txBody>
      </p:sp>
    </p:spTree>
    <p:extLst>
      <p:ext uri="{BB962C8B-B14F-4D97-AF65-F5344CB8AC3E}">
        <p14:creationId xmlns:p14="http://schemas.microsoft.com/office/powerpoint/2010/main" val="93222248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標題及物件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Rectangle 5">
            <a:extLst>
              <a:ext uri="{FF2B5EF4-FFF2-40B4-BE49-F238E27FC236}">
                <a16:creationId xmlns:a16="http://schemas.microsoft.com/office/drawing/2014/main" id="{DE0F58E6-E7DA-C7B6-CF97-337A4742C845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TW"/>
          </a:p>
        </p:txBody>
      </p:sp>
      <p:sp>
        <p:nvSpPr>
          <p:cNvPr id="5" name="Rectangle 6">
            <a:extLst>
              <a:ext uri="{FF2B5EF4-FFF2-40B4-BE49-F238E27FC236}">
                <a16:creationId xmlns:a16="http://schemas.microsoft.com/office/drawing/2014/main" id="{9A5BFC69-864D-C9BF-1CB4-33B7FFF98D40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TW"/>
          </a:p>
        </p:txBody>
      </p:sp>
      <p:sp>
        <p:nvSpPr>
          <p:cNvPr id="6" name="Rectangle 7">
            <a:extLst>
              <a:ext uri="{FF2B5EF4-FFF2-40B4-BE49-F238E27FC236}">
                <a16:creationId xmlns:a16="http://schemas.microsoft.com/office/drawing/2014/main" id="{CA29BDF5-025E-888C-486D-6D4C576CFF15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490B0221-6946-4814-8681-F91DA653F00B}" type="slidenum">
              <a:rPr lang="zh-TW" altLang="en-US"/>
              <a:pPr/>
              <a:t>‹#›</a:t>
            </a:fld>
            <a:endParaRPr lang="en-US" altLang="zh-TW"/>
          </a:p>
        </p:txBody>
      </p:sp>
    </p:spTree>
    <p:extLst>
      <p:ext uri="{BB962C8B-B14F-4D97-AF65-F5344CB8AC3E}">
        <p14:creationId xmlns:p14="http://schemas.microsoft.com/office/powerpoint/2010/main" val="194437662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章節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963084" y="4406901"/>
            <a:ext cx="103632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文字版面配置區 2"/>
          <p:cNvSpPr>
            <a:spLocks noGrp="1"/>
          </p:cNvSpPr>
          <p:nvPr>
            <p:ph type="body" idx="1"/>
          </p:nvPr>
        </p:nvSpPr>
        <p:spPr>
          <a:xfrm>
            <a:off x="963084" y="2906713"/>
            <a:ext cx="103632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4" name="Rectangle 5">
            <a:extLst>
              <a:ext uri="{FF2B5EF4-FFF2-40B4-BE49-F238E27FC236}">
                <a16:creationId xmlns:a16="http://schemas.microsoft.com/office/drawing/2014/main" id="{59C968E8-5B29-7D36-1510-897FD1649CDD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TW"/>
          </a:p>
        </p:txBody>
      </p:sp>
      <p:sp>
        <p:nvSpPr>
          <p:cNvPr id="5" name="Rectangle 6">
            <a:extLst>
              <a:ext uri="{FF2B5EF4-FFF2-40B4-BE49-F238E27FC236}">
                <a16:creationId xmlns:a16="http://schemas.microsoft.com/office/drawing/2014/main" id="{8651C8ED-BF8A-B791-3FB8-1DE444B8E17C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TW"/>
          </a:p>
        </p:txBody>
      </p:sp>
      <p:sp>
        <p:nvSpPr>
          <p:cNvPr id="6" name="Rectangle 7">
            <a:extLst>
              <a:ext uri="{FF2B5EF4-FFF2-40B4-BE49-F238E27FC236}">
                <a16:creationId xmlns:a16="http://schemas.microsoft.com/office/drawing/2014/main" id="{5B65DFF1-0059-8A06-0137-E603624D2DF7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B2CDFB2A-32DE-4551-8A76-A0D98DEC2216}" type="slidenum">
              <a:rPr lang="zh-TW" altLang="en-US"/>
              <a:pPr/>
              <a:t>‹#›</a:t>
            </a:fld>
            <a:endParaRPr lang="en-US" altLang="zh-TW"/>
          </a:p>
        </p:txBody>
      </p:sp>
    </p:spTree>
    <p:extLst>
      <p:ext uri="{BB962C8B-B14F-4D97-AF65-F5344CB8AC3E}">
        <p14:creationId xmlns:p14="http://schemas.microsoft.com/office/powerpoint/2010/main" val="107601938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兩項物件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內容版面配置區 2"/>
          <p:cNvSpPr>
            <a:spLocks noGrp="1"/>
          </p:cNvSpPr>
          <p:nvPr>
            <p:ph sz="half" idx="1"/>
          </p:nvPr>
        </p:nvSpPr>
        <p:spPr>
          <a:xfrm>
            <a:off x="607484" y="1600201"/>
            <a:ext cx="5382683" cy="4924425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內容版面配置區 3"/>
          <p:cNvSpPr>
            <a:spLocks noGrp="1"/>
          </p:cNvSpPr>
          <p:nvPr>
            <p:ph sz="half" idx="2"/>
          </p:nvPr>
        </p:nvSpPr>
        <p:spPr>
          <a:xfrm>
            <a:off x="6193367" y="1600201"/>
            <a:ext cx="5382684" cy="4924425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5" name="Rectangle 5">
            <a:extLst>
              <a:ext uri="{FF2B5EF4-FFF2-40B4-BE49-F238E27FC236}">
                <a16:creationId xmlns:a16="http://schemas.microsoft.com/office/drawing/2014/main" id="{E37CE54F-41E8-1A2A-FED3-F3C6F8358F47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TW"/>
          </a:p>
        </p:txBody>
      </p:sp>
      <p:sp>
        <p:nvSpPr>
          <p:cNvPr id="6" name="Rectangle 6">
            <a:extLst>
              <a:ext uri="{FF2B5EF4-FFF2-40B4-BE49-F238E27FC236}">
                <a16:creationId xmlns:a16="http://schemas.microsoft.com/office/drawing/2014/main" id="{533096B0-B96F-624D-0110-C1488FEC7845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TW"/>
          </a:p>
        </p:txBody>
      </p:sp>
      <p:sp>
        <p:nvSpPr>
          <p:cNvPr id="7" name="Rectangle 7">
            <a:extLst>
              <a:ext uri="{FF2B5EF4-FFF2-40B4-BE49-F238E27FC236}">
                <a16:creationId xmlns:a16="http://schemas.microsoft.com/office/drawing/2014/main" id="{5553792E-3020-99B4-11E8-A5394B985BE3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F6F6D06E-4E45-44EB-805B-5F0BEFD2A6A2}" type="slidenum">
              <a:rPr lang="zh-TW" altLang="en-US"/>
              <a:pPr/>
              <a:t>‹#›</a:t>
            </a:fld>
            <a:endParaRPr lang="en-US" altLang="zh-TW"/>
          </a:p>
        </p:txBody>
      </p:sp>
    </p:spTree>
    <p:extLst>
      <p:ext uri="{BB962C8B-B14F-4D97-AF65-F5344CB8AC3E}">
        <p14:creationId xmlns:p14="http://schemas.microsoft.com/office/powerpoint/2010/main" val="155147717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對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9728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文字版面配置區 2"/>
          <p:cNvSpPr>
            <a:spLocks noGrp="1"/>
          </p:cNvSpPr>
          <p:nvPr>
            <p:ph type="body" idx="1"/>
          </p:nvPr>
        </p:nvSpPr>
        <p:spPr>
          <a:xfrm>
            <a:off x="609600" y="1535113"/>
            <a:ext cx="5386917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4" name="內容版面配置區 3"/>
          <p:cNvSpPr>
            <a:spLocks noGrp="1"/>
          </p:cNvSpPr>
          <p:nvPr>
            <p:ph sz="half" idx="2"/>
          </p:nvPr>
        </p:nvSpPr>
        <p:spPr>
          <a:xfrm>
            <a:off x="609600" y="2174875"/>
            <a:ext cx="5386917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5" name="文字版面配置區 4"/>
          <p:cNvSpPr>
            <a:spLocks noGrp="1"/>
          </p:cNvSpPr>
          <p:nvPr>
            <p:ph type="body" sz="quarter" idx="3"/>
          </p:nvPr>
        </p:nvSpPr>
        <p:spPr>
          <a:xfrm>
            <a:off x="6193368" y="1535113"/>
            <a:ext cx="5389033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6" name="內容版面配置區 5"/>
          <p:cNvSpPr>
            <a:spLocks noGrp="1"/>
          </p:cNvSpPr>
          <p:nvPr>
            <p:ph sz="quarter" idx="4"/>
          </p:nvPr>
        </p:nvSpPr>
        <p:spPr>
          <a:xfrm>
            <a:off x="6193368" y="2174875"/>
            <a:ext cx="5389033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7" name="Rectangle 5">
            <a:extLst>
              <a:ext uri="{FF2B5EF4-FFF2-40B4-BE49-F238E27FC236}">
                <a16:creationId xmlns:a16="http://schemas.microsoft.com/office/drawing/2014/main" id="{3DE96FA1-798E-6D0E-90E2-C4EBDDF176D3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TW"/>
          </a:p>
        </p:txBody>
      </p:sp>
      <p:sp>
        <p:nvSpPr>
          <p:cNvPr id="8" name="Rectangle 6">
            <a:extLst>
              <a:ext uri="{FF2B5EF4-FFF2-40B4-BE49-F238E27FC236}">
                <a16:creationId xmlns:a16="http://schemas.microsoft.com/office/drawing/2014/main" id="{C09012AB-1971-62E3-3D7E-A477FBFB2FA8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TW"/>
          </a:p>
        </p:txBody>
      </p:sp>
      <p:sp>
        <p:nvSpPr>
          <p:cNvPr id="9" name="Rectangle 7">
            <a:extLst>
              <a:ext uri="{FF2B5EF4-FFF2-40B4-BE49-F238E27FC236}">
                <a16:creationId xmlns:a16="http://schemas.microsoft.com/office/drawing/2014/main" id="{EA3DFC07-4C22-33A2-C4CB-542BF097F0AC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24A9ED24-10B7-4D24-A620-38CF7057EC20}" type="slidenum">
              <a:rPr lang="zh-TW" altLang="en-US"/>
              <a:pPr/>
              <a:t>‹#›</a:t>
            </a:fld>
            <a:endParaRPr lang="en-US" altLang="zh-TW"/>
          </a:p>
        </p:txBody>
      </p:sp>
    </p:spTree>
    <p:extLst>
      <p:ext uri="{BB962C8B-B14F-4D97-AF65-F5344CB8AC3E}">
        <p14:creationId xmlns:p14="http://schemas.microsoft.com/office/powerpoint/2010/main" val="250418063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只有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Rectangle 5">
            <a:extLst>
              <a:ext uri="{FF2B5EF4-FFF2-40B4-BE49-F238E27FC236}">
                <a16:creationId xmlns:a16="http://schemas.microsoft.com/office/drawing/2014/main" id="{91588125-5E1E-F947-6AC0-BD4CF3ADDB5B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TW"/>
          </a:p>
        </p:txBody>
      </p:sp>
      <p:sp>
        <p:nvSpPr>
          <p:cNvPr id="4" name="Rectangle 6">
            <a:extLst>
              <a:ext uri="{FF2B5EF4-FFF2-40B4-BE49-F238E27FC236}">
                <a16:creationId xmlns:a16="http://schemas.microsoft.com/office/drawing/2014/main" id="{9EAF891D-56BC-C648-19D6-44D71CD415FA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TW"/>
          </a:p>
        </p:txBody>
      </p:sp>
      <p:sp>
        <p:nvSpPr>
          <p:cNvPr id="5" name="Rectangle 7">
            <a:extLst>
              <a:ext uri="{FF2B5EF4-FFF2-40B4-BE49-F238E27FC236}">
                <a16:creationId xmlns:a16="http://schemas.microsoft.com/office/drawing/2014/main" id="{6D8EC77D-27F2-E13B-3158-24A2D90486E5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92196213-0C1B-475C-A78D-3397D875BE9A}" type="slidenum">
              <a:rPr lang="zh-TW" altLang="en-US"/>
              <a:pPr/>
              <a:t>‹#›</a:t>
            </a:fld>
            <a:endParaRPr lang="en-US" altLang="zh-TW"/>
          </a:p>
        </p:txBody>
      </p:sp>
    </p:spTree>
    <p:extLst>
      <p:ext uri="{BB962C8B-B14F-4D97-AF65-F5344CB8AC3E}">
        <p14:creationId xmlns:p14="http://schemas.microsoft.com/office/powerpoint/2010/main" val="358025056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5">
            <a:extLst>
              <a:ext uri="{FF2B5EF4-FFF2-40B4-BE49-F238E27FC236}">
                <a16:creationId xmlns:a16="http://schemas.microsoft.com/office/drawing/2014/main" id="{CEAAD443-936D-0820-BD63-A9E0C97F1CAD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TW"/>
          </a:p>
        </p:txBody>
      </p:sp>
      <p:sp>
        <p:nvSpPr>
          <p:cNvPr id="3" name="Rectangle 6">
            <a:extLst>
              <a:ext uri="{FF2B5EF4-FFF2-40B4-BE49-F238E27FC236}">
                <a16:creationId xmlns:a16="http://schemas.microsoft.com/office/drawing/2014/main" id="{1437791F-339E-F5AD-FCE1-057B6F851AFE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TW"/>
          </a:p>
        </p:txBody>
      </p:sp>
      <p:sp>
        <p:nvSpPr>
          <p:cNvPr id="4" name="Rectangle 7">
            <a:extLst>
              <a:ext uri="{FF2B5EF4-FFF2-40B4-BE49-F238E27FC236}">
                <a16:creationId xmlns:a16="http://schemas.microsoft.com/office/drawing/2014/main" id="{FBA0BB5E-8DB5-D114-3788-46761B801CB4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64FCF7C0-2044-4088-9992-C1C5CFAEABC7}" type="slidenum">
              <a:rPr lang="zh-TW" altLang="en-US"/>
              <a:pPr/>
              <a:t>‹#›</a:t>
            </a:fld>
            <a:endParaRPr lang="en-US" altLang="zh-TW"/>
          </a:p>
        </p:txBody>
      </p:sp>
    </p:spTree>
    <p:extLst>
      <p:ext uri="{BB962C8B-B14F-4D97-AF65-F5344CB8AC3E}">
        <p14:creationId xmlns:p14="http://schemas.microsoft.com/office/powerpoint/2010/main" val="268676911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含標題的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609601" y="273050"/>
            <a:ext cx="4011084" cy="1162050"/>
          </a:xfrm>
        </p:spPr>
        <p:txBody>
          <a:bodyPr/>
          <a:lstStyle>
            <a:lvl1pPr algn="l">
              <a:defRPr sz="2000" b="1"/>
            </a:lvl1pPr>
          </a:lstStyle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>
          <a:xfrm>
            <a:off x="4766733" y="273051"/>
            <a:ext cx="6815667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文字版面配置區 3"/>
          <p:cNvSpPr>
            <a:spLocks noGrp="1"/>
          </p:cNvSpPr>
          <p:nvPr>
            <p:ph type="body" sz="half" idx="2"/>
          </p:nvPr>
        </p:nvSpPr>
        <p:spPr>
          <a:xfrm>
            <a:off x="609601" y="1435101"/>
            <a:ext cx="4011084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5" name="Rectangle 5">
            <a:extLst>
              <a:ext uri="{FF2B5EF4-FFF2-40B4-BE49-F238E27FC236}">
                <a16:creationId xmlns:a16="http://schemas.microsoft.com/office/drawing/2014/main" id="{6293432F-7BD9-E02E-B7DC-FE583C954208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TW"/>
          </a:p>
        </p:txBody>
      </p:sp>
      <p:sp>
        <p:nvSpPr>
          <p:cNvPr id="6" name="Rectangle 6">
            <a:extLst>
              <a:ext uri="{FF2B5EF4-FFF2-40B4-BE49-F238E27FC236}">
                <a16:creationId xmlns:a16="http://schemas.microsoft.com/office/drawing/2014/main" id="{CC97691F-8D0F-F706-C6A0-21946C8DD8A9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TW"/>
          </a:p>
        </p:txBody>
      </p:sp>
      <p:sp>
        <p:nvSpPr>
          <p:cNvPr id="7" name="Rectangle 7">
            <a:extLst>
              <a:ext uri="{FF2B5EF4-FFF2-40B4-BE49-F238E27FC236}">
                <a16:creationId xmlns:a16="http://schemas.microsoft.com/office/drawing/2014/main" id="{C5E105BD-B2DD-D984-5AF3-7A50078518E8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D61104EB-CB67-4137-ABAE-A07BA7E24141}" type="slidenum">
              <a:rPr lang="zh-TW" altLang="en-US"/>
              <a:pPr/>
              <a:t>‹#›</a:t>
            </a:fld>
            <a:endParaRPr lang="en-US" altLang="zh-TW"/>
          </a:p>
        </p:txBody>
      </p:sp>
    </p:spTree>
    <p:extLst>
      <p:ext uri="{BB962C8B-B14F-4D97-AF65-F5344CB8AC3E}">
        <p14:creationId xmlns:p14="http://schemas.microsoft.com/office/powerpoint/2010/main" val="138072752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含標題的圖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2389717" y="4800600"/>
            <a:ext cx="7315200" cy="566738"/>
          </a:xfrm>
        </p:spPr>
        <p:txBody>
          <a:bodyPr/>
          <a:lstStyle>
            <a:lvl1pPr algn="l">
              <a:defRPr sz="2000" b="1"/>
            </a:lvl1pPr>
          </a:lstStyle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圖片版面配置區 2"/>
          <p:cNvSpPr>
            <a:spLocks noGrp="1"/>
          </p:cNvSpPr>
          <p:nvPr>
            <p:ph type="pic" idx="1"/>
          </p:nvPr>
        </p:nvSpPr>
        <p:spPr>
          <a:xfrm>
            <a:off x="2389717" y="612775"/>
            <a:ext cx="73152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r>
              <a:rPr lang="zh-TW" altLang="en-US" noProof="0"/>
              <a:t>按一下圖示以新增圖片</a:t>
            </a:r>
          </a:p>
        </p:txBody>
      </p:sp>
      <p:sp>
        <p:nvSpPr>
          <p:cNvPr id="4" name="文字版面配置區 3"/>
          <p:cNvSpPr>
            <a:spLocks noGrp="1"/>
          </p:cNvSpPr>
          <p:nvPr>
            <p:ph type="body" sz="half" idx="2"/>
          </p:nvPr>
        </p:nvSpPr>
        <p:spPr>
          <a:xfrm>
            <a:off x="2389717" y="5367338"/>
            <a:ext cx="73152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5" name="Rectangle 5">
            <a:extLst>
              <a:ext uri="{FF2B5EF4-FFF2-40B4-BE49-F238E27FC236}">
                <a16:creationId xmlns:a16="http://schemas.microsoft.com/office/drawing/2014/main" id="{A2ADF27A-5858-6F1E-D5BF-7F9DC226DFCC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TW"/>
          </a:p>
        </p:txBody>
      </p:sp>
      <p:sp>
        <p:nvSpPr>
          <p:cNvPr id="6" name="Rectangle 6">
            <a:extLst>
              <a:ext uri="{FF2B5EF4-FFF2-40B4-BE49-F238E27FC236}">
                <a16:creationId xmlns:a16="http://schemas.microsoft.com/office/drawing/2014/main" id="{F297FBE4-0DD1-B315-DB12-DAF8F4E5B952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TW"/>
          </a:p>
        </p:txBody>
      </p:sp>
      <p:sp>
        <p:nvSpPr>
          <p:cNvPr id="7" name="Rectangle 7">
            <a:extLst>
              <a:ext uri="{FF2B5EF4-FFF2-40B4-BE49-F238E27FC236}">
                <a16:creationId xmlns:a16="http://schemas.microsoft.com/office/drawing/2014/main" id="{08CC6D54-26D2-F25E-EFCA-4F4B7C4FCF75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29477638-4C3E-4362-9A2A-81B9010760C1}" type="slidenum">
              <a:rPr lang="zh-TW" altLang="en-US"/>
              <a:pPr/>
              <a:t>‹#›</a:t>
            </a:fld>
            <a:endParaRPr lang="en-US" altLang="zh-TW"/>
          </a:p>
        </p:txBody>
      </p:sp>
    </p:spTree>
    <p:extLst>
      <p:ext uri="{BB962C8B-B14F-4D97-AF65-F5344CB8AC3E}">
        <p14:creationId xmlns:p14="http://schemas.microsoft.com/office/powerpoint/2010/main" val="17364495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標題及直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直排文字版面配置區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Rectangle 5">
            <a:extLst>
              <a:ext uri="{FF2B5EF4-FFF2-40B4-BE49-F238E27FC236}">
                <a16:creationId xmlns:a16="http://schemas.microsoft.com/office/drawing/2014/main" id="{6C15F57A-09D9-4B72-5714-000B2BAA790F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TW"/>
          </a:p>
        </p:txBody>
      </p:sp>
      <p:sp>
        <p:nvSpPr>
          <p:cNvPr id="5" name="Rectangle 6">
            <a:extLst>
              <a:ext uri="{FF2B5EF4-FFF2-40B4-BE49-F238E27FC236}">
                <a16:creationId xmlns:a16="http://schemas.microsoft.com/office/drawing/2014/main" id="{8028185F-0074-1AA0-5076-4AD19CB0803E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TW"/>
          </a:p>
        </p:txBody>
      </p:sp>
      <p:sp>
        <p:nvSpPr>
          <p:cNvPr id="6" name="Rectangle 7">
            <a:extLst>
              <a:ext uri="{FF2B5EF4-FFF2-40B4-BE49-F238E27FC236}">
                <a16:creationId xmlns:a16="http://schemas.microsoft.com/office/drawing/2014/main" id="{E3D49201-A543-2175-A028-2569FF354233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5FB3ECDC-9E56-4B71-8E3D-78868F3ED161}" type="slidenum">
              <a:rPr lang="zh-TW" altLang="en-US"/>
              <a:pPr/>
              <a:t>‹#›</a:t>
            </a:fld>
            <a:endParaRPr lang="en-US" altLang="zh-TW"/>
          </a:p>
        </p:txBody>
      </p:sp>
    </p:spTree>
    <p:extLst>
      <p:ext uri="{BB962C8B-B14F-4D97-AF65-F5344CB8AC3E}">
        <p14:creationId xmlns:p14="http://schemas.microsoft.com/office/powerpoint/2010/main" val="2278952173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直排標題及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直排標題 1"/>
          <p:cNvSpPr>
            <a:spLocks noGrp="1"/>
          </p:cNvSpPr>
          <p:nvPr>
            <p:ph type="title" orient="vert"/>
          </p:nvPr>
        </p:nvSpPr>
        <p:spPr>
          <a:xfrm>
            <a:off x="8834967" y="274639"/>
            <a:ext cx="2741084" cy="6249987"/>
          </a:xfrm>
        </p:spPr>
        <p:txBody>
          <a:bodyPr vert="eaVert"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直排文字版面配置區 2"/>
          <p:cNvSpPr>
            <a:spLocks noGrp="1"/>
          </p:cNvSpPr>
          <p:nvPr>
            <p:ph type="body" orient="vert" idx="1"/>
          </p:nvPr>
        </p:nvSpPr>
        <p:spPr>
          <a:xfrm>
            <a:off x="607484" y="274639"/>
            <a:ext cx="8024283" cy="6249987"/>
          </a:xfrm>
        </p:spPr>
        <p:txBody>
          <a:bodyPr vert="eaVert"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Rectangle 5">
            <a:extLst>
              <a:ext uri="{FF2B5EF4-FFF2-40B4-BE49-F238E27FC236}">
                <a16:creationId xmlns:a16="http://schemas.microsoft.com/office/drawing/2014/main" id="{A90A2BCE-A210-72A7-0945-881E41C22697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TW"/>
          </a:p>
        </p:txBody>
      </p:sp>
      <p:sp>
        <p:nvSpPr>
          <p:cNvPr id="5" name="Rectangle 6">
            <a:extLst>
              <a:ext uri="{FF2B5EF4-FFF2-40B4-BE49-F238E27FC236}">
                <a16:creationId xmlns:a16="http://schemas.microsoft.com/office/drawing/2014/main" id="{DE85D5FC-99BA-C1C6-8CEC-63092639F0A4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TW"/>
          </a:p>
        </p:txBody>
      </p:sp>
      <p:sp>
        <p:nvSpPr>
          <p:cNvPr id="6" name="Rectangle 7">
            <a:extLst>
              <a:ext uri="{FF2B5EF4-FFF2-40B4-BE49-F238E27FC236}">
                <a16:creationId xmlns:a16="http://schemas.microsoft.com/office/drawing/2014/main" id="{F3029DE0-1A7B-2834-39E9-26FDBAC26070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8E61FA68-09FB-4CE7-A8F1-C6CAC3BBA6D3}" type="slidenum">
              <a:rPr lang="zh-TW" altLang="en-US"/>
              <a:pPr/>
              <a:t>‹#›</a:t>
            </a:fld>
            <a:endParaRPr lang="en-US" altLang="zh-TW"/>
          </a:p>
        </p:txBody>
      </p:sp>
    </p:spTree>
    <p:extLst>
      <p:ext uri="{BB962C8B-B14F-4D97-AF65-F5344CB8AC3E}">
        <p14:creationId xmlns:p14="http://schemas.microsoft.com/office/powerpoint/2010/main" val="3329226469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書名頁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075785317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章名頁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文字版面配置區 9"/>
          <p:cNvSpPr>
            <a:spLocks noGrp="1"/>
          </p:cNvSpPr>
          <p:nvPr>
            <p:ph type="body" sz="quarter" idx="17"/>
          </p:nvPr>
        </p:nvSpPr>
        <p:spPr>
          <a:xfrm>
            <a:off x="1142966" y="4286256"/>
            <a:ext cx="10763325" cy="1143008"/>
          </a:xfrm>
          <a:noFill/>
          <a:ln w="12700" cap="rnd">
            <a:noFill/>
            <a:round/>
          </a:ln>
          <a:effectLst/>
        </p:spPr>
        <p:txBody>
          <a:bodyPr lIns="0" tIns="0" rIns="0" bIns="0" numCol="2" anchor="ctr" anchorCtr="0">
            <a:noAutofit/>
          </a:bodyPr>
          <a:lstStyle>
            <a:lvl1pPr>
              <a:lnSpc>
                <a:spcPts val="2400"/>
              </a:lnSpc>
              <a:spcBef>
                <a:spcPts val="500"/>
              </a:spcBef>
              <a:defRPr kumimoji="0" lang="zh-TW" altLang="en-US" sz="2000" b="1" u="none" kern="1200" baseline="0" dirty="0">
                <a:solidFill>
                  <a:schemeClr val="tx1">
                    <a:lumMod val="65000"/>
                    <a:lumOff val="35000"/>
                  </a:schemeClr>
                </a:solidFill>
                <a:latin typeface="Arial" pitchFamily="34" charset="0"/>
                <a:ea typeface="+mj-ea"/>
                <a:cs typeface="+mn-cs"/>
              </a:defRPr>
            </a:lvl1pPr>
          </a:lstStyle>
          <a:p>
            <a:pPr lvl="0"/>
            <a:r>
              <a:rPr lang="zh-TW" altLang="en-US" dirty="0"/>
              <a:t>按一下以編輯母片文字樣式</a:t>
            </a:r>
          </a:p>
        </p:txBody>
      </p:sp>
      <p:sp>
        <p:nvSpPr>
          <p:cNvPr id="10" name="文字版面配置區 9"/>
          <p:cNvSpPr>
            <a:spLocks noGrp="1"/>
          </p:cNvSpPr>
          <p:nvPr>
            <p:ph type="body" sz="quarter" idx="16"/>
          </p:nvPr>
        </p:nvSpPr>
        <p:spPr>
          <a:xfrm>
            <a:off x="4667240" y="1142984"/>
            <a:ext cx="7143800" cy="1565366"/>
          </a:xfrm>
          <a:noFill/>
          <a:ln w="15875" cap="rnd">
            <a:noFill/>
            <a:round/>
          </a:ln>
          <a:effectLst/>
        </p:spPr>
        <p:txBody>
          <a:bodyPr lIns="144000" tIns="72000" rIns="288000" anchor="ctr" anchorCtr="0">
            <a:noAutofit/>
          </a:bodyPr>
          <a:lstStyle>
            <a:lvl1pPr>
              <a:lnSpc>
                <a:spcPts val="2300"/>
              </a:lnSpc>
              <a:spcBef>
                <a:spcPts val="0"/>
              </a:spcBef>
              <a:spcAft>
                <a:spcPts val="600"/>
              </a:spcAft>
              <a:defRPr sz="1600" b="0">
                <a:solidFill>
                  <a:schemeClr val="tx1"/>
                </a:solidFill>
              </a:defRPr>
            </a:lvl1pPr>
          </a:lstStyle>
          <a:p>
            <a:pPr lvl="0"/>
            <a:r>
              <a:rPr lang="zh-TW" altLang="en-US" dirty="0"/>
              <a:t>按一下以編輯母片文字樣式</a:t>
            </a:r>
          </a:p>
        </p:txBody>
      </p:sp>
      <p:sp>
        <p:nvSpPr>
          <p:cNvPr id="15" name="文字版面配置區 13"/>
          <p:cNvSpPr>
            <a:spLocks noGrp="1"/>
          </p:cNvSpPr>
          <p:nvPr>
            <p:ph type="body" sz="quarter" idx="15" hasCustomPrompt="1"/>
          </p:nvPr>
        </p:nvSpPr>
        <p:spPr>
          <a:xfrm>
            <a:off x="1428717" y="3357562"/>
            <a:ext cx="10382323" cy="714380"/>
          </a:xfrm>
          <a:effectLst/>
        </p:spPr>
        <p:txBody>
          <a:bodyPr anchor="ctr" anchorCtr="0">
            <a:noAutofit/>
          </a:bodyPr>
          <a:lstStyle>
            <a:lvl1pPr algn="l">
              <a:lnSpc>
                <a:spcPts val="4800"/>
              </a:lnSpc>
              <a:spcBef>
                <a:spcPts val="0"/>
              </a:spcBef>
              <a:defRPr sz="4400" b="1" u="none" cap="none" spc="0" baseline="0">
                <a:ln w="15875">
                  <a:noFill/>
                  <a:prstDash val="solid"/>
                </a:ln>
                <a:solidFill>
                  <a:schemeClr val="tx2">
                    <a:lumMod val="60000"/>
                    <a:lumOff val="40000"/>
                  </a:schemeClr>
                </a:solidFill>
                <a:effectLst/>
              </a:defRPr>
            </a:lvl1pPr>
          </a:lstStyle>
          <a:p>
            <a:pPr lvl="0"/>
            <a:r>
              <a:rPr lang="zh-TW" altLang="en-US" dirty="0"/>
              <a:t>按一以輯母片文字樣式</a:t>
            </a:r>
          </a:p>
        </p:txBody>
      </p:sp>
      <p:sp>
        <p:nvSpPr>
          <p:cNvPr id="11" name="矩形 10"/>
          <p:cNvSpPr/>
          <p:nvPr userDrawn="1"/>
        </p:nvSpPr>
        <p:spPr>
          <a:xfrm flipV="1">
            <a:off x="95293" y="2857496"/>
            <a:ext cx="12000000" cy="3000396"/>
          </a:xfrm>
          <a:prstGeom prst="rect">
            <a:avLst/>
          </a:prstGeom>
          <a:noFill/>
          <a:ln w="76200">
            <a:solidFill>
              <a:srgbClr val="0070C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sz="1800"/>
          </a:p>
        </p:txBody>
      </p:sp>
      <p:sp>
        <p:nvSpPr>
          <p:cNvPr id="17" name="矩形 16"/>
          <p:cNvSpPr/>
          <p:nvPr userDrawn="1"/>
        </p:nvSpPr>
        <p:spPr>
          <a:xfrm flipV="1">
            <a:off x="1007435" y="2564936"/>
            <a:ext cx="3143272" cy="288000"/>
          </a:xfrm>
          <a:prstGeom prst="rect">
            <a:avLst/>
          </a:prstGeom>
          <a:solidFill>
            <a:srgbClr val="0070C0"/>
          </a:solidFill>
          <a:ln w="38100">
            <a:solidFill>
              <a:srgbClr val="0070C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sz="1800"/>
          </a:p>
        </p:txBody>
      </p:sp>
      <p:sp>
        <p:nvSpPr>
          <p:cNvPr id="14" name="文字版面配置區 13"/>
          <p:cNvSpPr>
            <a:spLocks noGrp="1"/>
          </p:cNvSpPr>
          <p:nvPr>
            <p:ph type="body" sz="quarter" idx="14"/>
          </p:nvPr>
        </p:nvSpPr>
        <p:spPr>
          <a:xfrm>
            <a:off x="1402931" y="2065408"/>
            <a:ext cx="2400267" cy="863526"/>
          </a:xfrm>
        </p:spPr>
        <p:txBody>
          <a:bodyPr anchor="ctr" anchorCtr="0">
            <a:noAutofit/>
          </a:bodyPr>
          <a:lstStyle>
            <a:lvl1pPr>
              <a:lnSpc>
                <a:spcPts val="4800"/>
              </a:lnSpc>
              <a:spcBef>
                <a:spcPts val="0"/>
              </a:spcBef>
              <a:defRPr sz="10000" b="1" u="none" cap="none" spc="0" baseline="0">
                <a:ln w="19050">
                  <a:solidFill>
                    <a:schemeClr val="tx2">
                      <a:tint val="1000"/>
                    </a:schemeClr>
                  </a:solidFill>
                  <a:prstDash val="solid"/>
                </a:ln>
                <a:solidFill>
                  <a:schemeClr val="tx1">
                    <a:lumMod val="65000"/>
                    <a:lumOff val="35000"/>
                  </a:schemeClr>
                </a:solidFill>
                <a:effectLst>
                  <a:outerShdw blurRad="50000" dist="50800" dir="7500000" algn="tl">
                    <a:srgbClr val="000000">
                      <a:shade val="5000"/>
                      <a:alpha val="35000"/>
                    </a:srgbClr>
                  </a:outerShdw>
                </a:effectLst>
              </a:defRPr>
            </a:lvl1pPr>
          </a:lstStyle>
          <a:p>
            <a:pPr lvl="0"/>
            <a:r>
              <a:rPr lang="zh-TW" altLang="en-US" dirty="0"/>
              <a:t>按</a:t>
            </a:r>
          </a:p>
        </p:txBody>
      </p:sp>
    </p:spTree>
    <p:extLst>
      <p:ext uri="{BB962C8B-B14F-4D97-AF65-F5344CB8AC3E}">
        <p14:creationId xmlns:p14="http://schemas.microsoft.com/office/powerpoint/2010/main" val="2242558670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XX章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內容版面配置區 4"/>
          <p:cNvSpPr>
            <a:spLocks noGrp="1"/>
          </p:cNvSpPr>
          <p:nvPr>
            <p:ph sz="quarter" idx="10"/>
          </p:nvPr>
        </p:nvSpPr>
        <p:spPr>
          <a:xfrm>
            <a:off x="575999" y="1364512"/>
            <a:ext cx="11040000" cy="5160832"/>
          </a:xfrm>
        </p:spPr>
        <p:txBody>
          <a:bodyPr/>
          <a:lstStyle>
            <a:lvl2pPr>
              <a:defRPr kumimoji="0" lang="zh-TW" altLang="en-US" sz="2800" b="1" kern="1200" dirty="0" smtClean="0">
                <a:solidFill>
                  <a:schemeClr val="accent5">
                    <a:lumMod val="75000"/>
                  </a:schemeClr>
                </a:solidFill>
                <a:latin typeface="+mj-ea"/>
                <a:ea typeface="+mj-ea"/>
                <a:cs typeface="+mn-cs"/>
              </a:defRPr>
            </a:lvl2pPr>
            <a:lvl3pPr marL="0" indent="0">
              <a:defRPr kumimoji="0" lang="zh-TW" altLang="en-US" sz="2500" b="1" u="dottedHeavy" kern="1200" baseline="0" dirty="0" smtClean="0">
                <a:solidFill>
                  <a:srgbClr val="C67A48"/>
                </a:solidFill>
                <a:latin typeface="+mj-ea"/>
                <a:ea typeface="+mj-ea"/>
                <a:cs typeface="+mn-cs"/>
              </a:defRPr>
            </a:lvl3pPr>
            <a:lvl4pPr>
              <a:lnSpc>
                <a:spcPts val="2800"/>
              </a:lnSpc>
              <a:spcAft>
                <a:spcPts val="200"/>
              </a:spcAft>
              <a:defRPr/>
            </a:lvl4pPr>
            <a:lvl5pPr>
              <a:lnSpc>
                <a:spcPts val="2800"/>
              </a:lnSpc>
              <a:defRPr/>
            </a:lvl5pPr>
          </a:lstStyle>
          <a:p>
            <a:pPr lvl="0"/>
            <a:r>
              <a:rPr lang="zh-TW" altLang="en-US" dirty="0"/>
              <a:t>按一下以編輯母片文字樣式</a:t>
            </a:r>
          </a:p>
          <a:p>
            <a:pPr marL="0" lvl="1" indent="0" algn="l" rtl="0" eaLnBrk="1" latinLnBrk="0" hangingPunct="1">
              <a:lnSpc>
                <a:spcPct val="100000"/>
              </a:lnSpc>
              <a:spcBef>
                <a:spcPts val="1200"/>
              </a:spcBef>
              <a:buClr>
                <a:schemeClr val="accent3">
                  <a:lumMod val="75000"/>
                </a:schemeClr>
              </a:buClr>
              <a:buSzPct val="90000"/>
              <a:buFontTx/>
              <a:buNone/>
            </a:pPr>
            <a:r>
              <a:rPr lang="zh-TW" altLang="en-US" dirty="0"/>
              <a:t>第二層</a:t>
            </a:r>
          </a:p>
          <a:p>
            <a:pPr marL="360000" lvl="2" indent="-360000" algn="l" rtl="0" eaLnBrk="1" latinLnBrk="0" hangingPunct="1">
              <a:lnSpc>
                <a:spcPct val="100000"/>
              </a:lnSpc>
              <a:spcBef>
                <a:spcPts val="1200"/>
              </a:spcBef>
              <a:spcAft>
                <a:spcPts val="200"/>
              </a:spcAft>
              <a:buClr>
                <a:srgbClr val="AE2A7F"/>
              </a:buClr>
              <a:buSzPct val="90000"/>
              <a:buFontTx/>
              <a:buNone/>
            </a:pPr>
            <a:r>
              <a:rPr lang="zh-TW" altLang="en-US" dirty="0"/>
              <a:t>第三層</a:t>
            </a:r>
          </a:p>
          <a:p>
            <a:pPr lvl="3"/>
            <a:r>
              <a:rPr lang="zh-TW" altLang="en-US" dirty="0"/>
              <a:t>第四層</a:t>
            </a:r>
          </a:p>
          <a:p>
            <a:pPr lvl="4"/>
            <a:r>
              <a:rPr lang="zh-TW" altLang="en-US" dirty="0"/>
              <a:t>第五層</a:t>
            </a:r>
          </a:p>
        </p:txBody>
      </p:sp>
      <p:grpSp>
        <p:nvGrpSpPr>
          <p:cNvPr id="7" name="群組 6"/>
          <p:cNvGrpSpPr/>
          <p:nvPr userDrawn="1"/>
        </p:nvGrpSpPr>
        <p:grpSpPr>
          <a:xfrm>
            <a:off x="11049035" y="6126955"/>
            <a:ext cx="772165" cy="646331"/>
            <a:chOff x="8286776" y="6126954"/>
            <a:chExt cx="579124" cy="646331"/>
          </a:xfrm>
        </p:grpSpPr>
        <p:sp>
          <p:nvSpPr>
            <p:cNvPr id="4" name="橢圓形圖說文字 3"/>
            <p:cNvSpPr/>
            <p:nvPr/>
          </p:nvSpPr>
          <p:spPr>
            <a:xfrm flipH="1">
              <a:off x="8286776" y="6160557"/>
              <a:ext cx="579124" cy="579126"/>
            </a:xfrm>
            <a:prstGeom prst="wedgeEllipseCallout">
              <a:avLst>
                <a:gd name="adj1" fmla="val -47623"/>
                <a:gd name="adj2" fmla="val 46426"/>
              </a:avLst>
            </a:prstGeom>
            <a:solidFill>
              <a:srgbClr val="0070C0">
                <a:alpha val="91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 sz="1800" dirty="0">
                <a:solidFill>
                  <a:srgbClr val="B5D14F"/>
                </a:solidFill>
              </a:endParaRPr>
            </a:p>
          </p:txBody>
        </p:sp>
        <p:sp>
          <p:nvSpPr>
            <p:cNvPr id="6" name="文字方塊 5">
              <a:hlinkClick r:id="rId2" action="ppaction://hlinksldjump"/>
            </p:cNvPr>
            <p:cNvSpPr txBox="1"/>
            <p:nvPr/>
          </p:nvSpPr>
          <p:spPr>
            <a:xfrm>
              <a:off x="8327600" y="6126954"/>
              <a:ext cx="497475" cy="64633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>
                <a:lnSpc>
                  <a:spcPct val="100000"/>
                </a:lnSpc>
              </a:pPr>
              <a:r>
                <a:rPr lang="zh-TW" altLang="en-US" sz="2400" b="1" dirty="0">
                  <a:solidFill>
                    <a:schemeClr val="accent3">
                      <a:lumMod val="20000"/>
                      <a:lumOff val="80000"/>
                    </a:schemeClr>
                  </a:solidFill>
                </a:rPr>
                <a:t>回</a:t>
              </a:r>
              <a:endParaRPr lang="en-US" altLang="zh-TW" sz="2400" b="1" dirty="0">
                <a:solidFill>
                  <a:schemeClr val="accent3">
                    <a:lumMod val="20000"/>
                    <a:lumOff val="80000"/>
                  </a:schemeClr>
                </a:solidFill>
              </a:endParaRPr>
            </a:p>
            <a:p>
              <a:r>
                <a:rPr lang="zh-TW" altLang="en-US" sz="1800" b="1" baseline="20000" dirty="0">
                  <a:solidFill>
                    <a:schemeClr val="accent3">
                      <a:lumMod val="20000"/>
                      <a:lumOff val="80000"/>
                    </a:schemeClr>
                  </a:solidFill>
                </a:rPr>
                <a:t>首頁</a:t>
              </a:r>
            </a:p>
          </p:txBody>
        </p:sp>
      </p:grpSp>
      <p:sp>
        <p:nvSpPr>
          <p:cNvPr id="8" name="標題版面配置區 21"/>
          <p:cNvSpPr>
            <a:spLocks noGrp="1"/>
          </p:cNvSpPr>
          <p:nvPr>
            <p:ph type="title"/>
          </p:nvPr>
        </p:nvSpPr>
        <p:spPr>
          <a:xfrm>
            <a:off x="563915" y="764704"/>
            <a:ext cx="11100704" cy="576064"/>
          </a:xfrm>
          <a:prstGeom prst="rect">
            <a:avLst/>
          </a:prstGeom>
        </p:spPr>
        <p:txBody>
          <a:bodyPr vert="horz" anchor="ctr">
            <a:normAutofit/>
          </a:bodyPr>
          <a:lstStyle/>
          <a:p>
            <a:r>
              <a:rPr kumimoji="0" lang="zh-TW" altLang="en-US" dirty="0"/>
              <a:t>按一下以編輯母片標題樣式</a:t>
            </a:r>
            <a:endParaRPr kumimoji="0" lang="en-US" dirty="0"/>
          </a:p>
        </p:txBody>
      </p:sp>
    </p:spTree>
    <p:extLst>
      <p:ext uri="{BB962C8B-B14F-4D97-AF65-F5344CB8AC3E}">
        <p14:creationId xmlns:p14="http://schemas.microsoft.com/office/powerpoint/2010/main" val="1271715618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內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內容版面配置區 4"/>
          <p:cNvSpPr>
            <a:spLocks noGrp="1"/>
          </p:cNvSpPr>
          <p:nvPr>
            <p:ph sz="quarter" idx="10"/>
          </p:nvPr>
        </p:nvSpPr>
        <p:spPr>
          <a:xfrm>
            <a:off x="575999" y="741600"/>
            <a:ext cx="11040000" cy="5760000"/>
          </a:xfrm>
        </p:spPr>
        <p:txBody>
          <a:bodyPr/>
          <a:lstStyle>
            <a:lvl2pPr>
              <a:defRPr kumimoji="0" lang="zh-TW" altLang="en-US" sz="2800" b="1" kern="1200" dirty="0" smtClean="0">
                <a:solidFill>
                  <a:schemeClr val="accent5">
                    <a:lumMod val="75000"/>
                  </a:schemeClr>
                </a:solidFill>
                <a:latin typeface="+mj-ea"/>
                <a:ea typeface="+mj-ea"/>
                <a:cs typeface="+mn-cs"/>
              </a:defRPr>
            </a:lvl2pPr>
            <a:lvl3pPr marL="0" indent="0">
              <a:defRPr kumimoji="0" lang="zh-TW" altLang="en-US" sz="2500" b="1" u="dottedHeavy" kern="1200" baseline="0" dirty="0" smtClean="0">
                <a:solidFill>
                  <a:srgbClr val="C67A48"/>
                </a:solidFill>
                <a:latin typeface="+mj-ea"/>
                <a:ea typeface="+mj-ea"/>
                <a:cs typeface="+mn-cs"/>
              </a:defRPr>
            </a:lvl3pPr>
            <a:lvl4pPr>
              <a:lnSpc>
                <a:spcPts val="2800"/>
              </a:lnSpc>
              <a:spcAft>
                <a:spcPts val="200"/>
              </a:spcAft>
              <a:defRPr/>
            </a:lvl4pPr>
            <a:lvl5pPr>
              <a:lnSpc>
                <a:spcPts val="2800"/>
              </a:lnSpc>
              <a:defRPr/>
            </a:lvl5pPr>
          </a:lstStyle>
          <a:p>
            <a:pPr lvl="0"/>
            <a:r>
              <a:rPr lang="zh-TW" altLang="en-US" dirty="0"/>
              <a:t>按一下以編輯母片文字樣式</a:t>
            </a:r>
          </a:p>
          <a:p>
            <a:pPr marL="0" lvl="1" indent="0" algn="l" rtl="0" eaLnBrk="1" latinLnBrk="0" hangingPunct="1">
              <a:lnSpc>
                <a:spcPct val="100000"/>
              </a:lnSpc>
              <a:spcBef>
                <a:spcPts val="1200"/>
              </a:spcBef>
              <a:buClr>
                <a:schemeClr val="accent3">
                  <a:lumMod val="75000"/>
                </a:schemeClr>
              </a:buClr>
              <a:buSzPct val="90000"/>
              <a:buFontTx/>
              <a:buNone/>
            </a:pPr>
            <a:r>
              <a:rPr lang="zh-TW" altLang="en-US" dirty="0"/>
              <a:t>第二層</a:t>
            </a:r>
          </a:p>
          <a:p>
            <a:pPr marL="360000" lvl="2" indent="-360000" algn="l" rtl="0" eaLnBrk="1" latinLnBrk="0" hangingPunct="1">
              <a:lnSpc>
                <a:spcPct val="100000"/>
              </a:lnSpc>
              <a:spcBef>
                <a:spcPts val="1200"/>
              </a:spcBef>
              <a:spcAft>
                <a:spcPts val="200"/>
              </a:spcAft>
              <a:buClr>
                <a:srgbClr val="AE2A7F"/>
              </a:buClr>
              <a:buSzPct val="90000"/>
              <a:buFontTx/>
              <a:buNone/>
            </a:pPr>
            <a:r>
              <a:rPr lang="zh-TW" altLang="en-US" dirty="0"/>
              <a:t>第三層</a:t>
            </a:r>
          </a:p>
          <a:p>
            <a:pPr lvl="3"/>
            <a:r>
              <a:rPr lang="zh-TW" altLang="en-US" dirty="0"/>
              <a:t>第四層</a:t>
            </a:r>
          </a:p>
          <a:p>
            <a:pPr lvl="4"/>
            <a:r>
              <a:rPr lang="zh-TW" altLang="en-US" dirty="0"/>
              <a:t>第五層</a:t>
            </a:r>
          </a:p>
        </p:txBody>
      </p:sp>
    </p:spTree>
    <p:extLst>
      <p:ext uri="{BB962C8B-B14F-4D97-AF65-F5344CB8AC3E}">
        <p14:creationId xmlns:p14="http://schemas.microsoft.com/office/powerpoint/2010/main" val="2361177506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標題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內容版面配置區 4"/>
          <p:cNvSpPr>
            <a:spLocks noGrp="1"/>
          </p:cNvSpPr>
          <p:nvPr>
            <p:ph sz="quarter" idx="10"/>
          </p:nvPr>
        </p:nvSpPr>
        <p:spPr>
          <a:xfrm>
            <a:off x="575999" y="741600"/>
            <a:ext cx="11040000" cy="5760000"/>
          </a:xfrm>
        </p:spPr>
        <p:txBody>
          <a:bodyPr/>
          <a:lstStyle>
            <a:lvl2pPr>
              <a:defRPr kumimoji="0" lang="zh-TW" altLang="en-US" sz="2800" b="1" kern="1200" dirty="0" smtClean="0">
                <a:solidFill>
                  <a:schemeClr val="accent5">
                    <a:lumMod val="75000"/>
                  </a:schemeClr>
                </a:solidFill>
                <a:latin typeface="+mj-ea"/>
                <a:ea typeface="+mj-ea"/>
                <a:cs typeface="+mn-cs"/>
              </a:defRPr>
            </a:lvl2pPr>
            <a:lvl3pPr marL="0" indent="0">
              <a:defRPr kumimoji="0" lang="zh-TW" altLang="en-US" sz="2500" b="1" u="dottedHeavy" kern="1200" baseline="0" dirty="0" smtClean="0">
                <a:solidFill>
                  <a:srgbClr val="C67A48"/>
                </a:solidFill>
                <a:latin typeface="+mj-ea"/>
                <a:ea typeface="+mj-ea"/>
                <a:cs typeface="+mn-cs"/>
              </a:defRPr>
            </a:lvl3pPr>
            <a:lvl4pPr>
              <a:spcAft>
                <a:spcPts val="200"/>
              </a:spcAft>
              <a:defRPr/>
            </a:lvl4pPr>
          </a:lstStyle>
          <a:p>
            <a:pPr lvl="0"/>
            <a:r>
              <a:rPr lang="zh-TW" altLang="en-US" dirty="0"/>
              <a:t>按一下以編輯母片文字樣式</a:t>
            </a:r>
          </a:p>
          <a:p>
            <a:pPr marL="0" lvl="1" indent="0" algn="l" rtl="0" eaLnBrk="1" latinLnBrk="0" hangingPunct="1">
              <a:lnSpc>
                <a:spcPct val="100000"/>
              </a:lnSpc>
              <a:spcBef>
                <a:spcPts val="1200"/>
              </a:spcBef>
              <a:buClr>
                <a:schemeClr val="accent3">
                  <a:lumMod val="75000"/>
                </a:schemeClr>
              </a:buClr>
              <a:buSzPct val="90000"/>
              <a:buFontTx/>
              <a:buNone/>
            </a:pPr>
            <a:r>
              <a:rPr lang="zh-TW" altLang="en-US" dirty="0"/>
              <a:t>第二層</a:t>
            </a:r>
          </a:p>
          <a:p>
            <a:pPr marL="360000" lvl="2" indent="-360000" algn="l" rtl="0" eaLnBrk="1" latinLnBrk="0" hangingPunct="1">
              <a:lnSpc>
                <a:spcPct val="100000"/>
              </a:lnSpc>
              <a:spcBef>
                <a:spcPts val="1200"/>
              </a:spcBef>
              <a:spcAft>
                <a:spcPts val="200"/>
              </a:spcAft>
              <a:buClr>
                <a:srgbClr val="AE2A7F"/>
              </a:buClr>
              <a:buSzPct val="90000"/>
              <a:buFontTx/>
              <a:buNone/>
            </a:pPr>
            <a:r>
              <a:rPr lang="zh-TW" altLang="en-US" dirty="0"/>
              <a:t>第三層</a:t>
            </a:r>
          </a:p>
          <a:p>
            <a:pPr lvl="3"/>
            <a:r>
              <a:rPr lang="zh-TW" altLang="en-US" dirty="0"/>
              <a:t>第四層</a:t>
            </a:r>
          </a:p>
          <a:p>
            <a:pPr lvl="4"/>
            <a:r>
              <a:rPr lang="zh-TW" altLang="en-US" dirty="0"/>
              <a:t>第五層</a:t>
            </a:r>
          </a:p>
        </p:txBody>
      </p:sp>
      <p:grpSp>
        <p:nvGrpSpPr>
          <p:cNvPr id="7" name="群組 6"/>
          <p:cNvGrpSpPr/>
          <p:nvPr userDrawn="1"/>
        </p:nvGrpSpPr>
        <p:grpSpPr>
          <a:xfrm>
            <a:off x="11049035" y="6160558"/>
            <a:ext cx="772165" cy="652819"/>
            <a:chOff x="8286776" y="6160557"/>
            <a:chExt cx="579124" cy="652819"/>
          </a:xfrm>
        </p:grpSpPr>
        <p:sp>
          <p:nvSpPr>
            <p:cNvPr id="4" name="橢圓形圖說文字 3"/>
            <p:cNvSpPr/>
            <p:nvPr/>
          </p:nvSpPr>
          <p:spPr>
            <a:xfrm flipH="1">
              <a:off x="8286776" y="6160557"/>
              <a:ext cx="579124" cy="579126"/>
            </a:xfrm>
            <a:prstGeom prst="wedgeEllipseCallout">
              <a:avLst>
                <a:gd name="adj1" fmla="val -47623"/>
                <a:gd name="adj2" fmla="val 46426"/>
              </a:avLst>
            </a:prstGeom>
            <a:solidFill>
              <a:srgbClr val="786CAE">
                <a:alpha val="9098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 sz="1800" dirty="0">
                <a:solidFill>
                  <a:srgbClr val="B5D14F"/>
                </a:solidFill>
              </a:endParaRPr>
            </a:p>
          </p:txBody>
        </p:sp>
        <p:sp>
          <p:nvSpPr>
            <p:cNvPr id="6" name="文字方塊 5">
              <a:hlinkClick r:id="rId2" action="ppaction://hlinksldjump"/>
            </p:cNvPr>
            <p:cNvSpPr txBox="1"/>
            <p:nvPr/>
          </p:nvSpPr>
          <p:spPr>
            <a:xfrm>
              <a:off x="8327600" y="6167045"/>
              <a:ext cx="497475" cy="64633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>
                <a:lnSpc>
                  <a:spcPct val="100000"/>
                </a:lnSpc>
              </a:pPr>
              <a:r>
                <a:rPr lang="zh-TW" altLang="en-US" sz="2400" b="1" dirty="0">
                  <a:solidFill>
                    <a:schemeClr val="accent3">
                      <a:lumMod val="20000"/>
                      <a:lumOff val="80000"/>
                    </a:schemeClr>
                  </a:solidFill>
                </a:rPr>
                <a:t>回</a:t>
              </a:r>
              <a:endParaRPr lang="en-US" altLang="zh-TW" sz="2400" b="1" dirty="0">
                <a:solidFill>
                  <a:schemeClr val="accent3">
                    <a:lumMod val="20000"/>
                    <a:lumOff val="80000"/>
                  </a:schemeClr>
                </a:solidFill>
              </a:endParaRPr>
            </a:p>
            <a:p>
              <a:r>
                <a:rPr lang="zh-TW" altLang="en-US" sz="1800" b="1" baseline="20000" dirty="0">
                  <a:solidFill>
                    <a:schemeClr val="accent3">
                      <a:lumMod val="20000"/>
                      <a:lumOff val="80000"/>
                    </a:schemeClr>
                  </a:solidFill>
                </a:rPr>
                <a:t>首頁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1339814839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內容版面配置區 3"/>
          <p:cNvSpPr>
            <a:spLocks noGrp="1"/>
          </p:cNvSpPr>
          <p:nvPr>
            <p:ph sz="quarter" idx="10"/>
          </p:nvPr>
        </p:nvSpPr>
        <p:spPr>
          <a:xfrm>
            <a:off x="576000" y="1100834"/>
            <a:ext cx="11040000" cy="5400000"/>
          </a:xfrm>
        </p:spPr>
        <p:txBody>
          <a:bodyPr/>
          <a:lstStyle>
            <a:lvl2pPr>
              <a:defRPr kumimoji="0" lang="zh-TW" altLang="en-US" sz="2800" b="1" kern="1200" dirty="0" smtClean="0">
                <a:solidFill>
                  <a:schemeClr val="accent5">
                    <a:lumMod val="75000"/>
                  </a:schemeClr>
                </a:solidFill>
                <a:latin typeface="+mj-ea"/>
                <a:ea typeface="+mj-ea"/>
                <a:cs typeface="+mn-cs"/>
              </a:defRPr>
            </a:lvl2pPr>
            <a:lvl3pPr>
              <a:defRPr>
                <a:solidFill>
                  <a:srgbClr val="C67A48"/>
                </a:solidFill>
              </a:defRPr>
            </a:lvl3pPr>
            <a:lvl4pPr>
              <a:spcAft>
                <a:spcPts val="200"/>
              </a:spcAft>
              <a:defRPr/>
            </a:lvl4pPr>
          </a:lstStyle>
          <a:p>
            <a:pPr lvl="0"/>
            <a:r>
              <a:rPr lang="zh-TW" altLang="en-US" dirty="0"/>
              <a:t>按一下以編輯母片文字樣式</a:t>
            </a:r>
          </a:p>
          <a:p>
            <a:pPr marL="0" lvl="1" indent="0" algn="l" rtl="0" eaLnBrk="1" latinLnBrk="0" hangingPunct="1">
              <a:lnSpc>
                <a:spcPct val="100000"/>
              </a:lnSpc>
              <a:spcBef>
                <a:spcPts val="1200"/>
              </a:spcBef>
              <a:buClr>
                <a:schemeClr val="accent3">
                  <a:lumMod val="75000"/>
                </a:schemeClr>
              </a:buClr>
              <a:buSzPct val="90000"/>
              <a:buFontTx/>
              <a:buNone/>
            </a:pPr>
            <a:r>
              <a:rPr lang="zh-TW" altLang="en-US" dirty="0"/>
              <a:t>第二層</a:t>
            </a:r>
          </a:p>
          <a:p>
            <a:pPr lvl="2"/>
            <a:r>
              <a:rPr lang="zh-TW" altLang="en-US" dirty="0"/>
              <a:t>第三層</a:t>
            </a:r>
          </a:p>
          <a:p>
            <a:pPr lvl="3"/>
            <a:r>
              <a:rPr lang="zh-TW" altLang="en-US" dirty="0"/>
              <a:t>第四層</a:t>
            </a:r>
          </a:p>
          <a:p>
            <a:pPr lvl="4"/>
            <a:r>
              <a:rPr lang="zh-TW" altLang="en-US" dirty="0"/>
              <a:t>第五層</a:t>
            </a:r>
          </a:p>
        </p:txBody>
      </p:sp>
    </p:spTree>
    <p:extLst>
      <p:ext uri="{BB962C8B-B14F-4D97-AF65-F5344CB8AC3E}">
        <p14:creationId xmlns:p14="http://schemas.microsoft.com/office/powerpoint/2010/main" val="1103078377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標題文字_雙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內容版面配置區 3"/>
          <p:cNvSpPr>
            <a:spLocks noGrp="1"/>
          </p:cNvSpPr>
          <p:nvPr>
            <p:ph sz="quarter" idx="10"/>
          </p:nvPr>
        </p:nvSpPr>
        <p:spPr>
          <a:xfrm>
            <a:off x="575999" y="648000"/>
            <a:ext cx="5423991" cy="5760000"/>
          </a:xfrm>
        </p:spPr>
        <p:txBody>
          <a:bodyPr/>
          <a:lstStyle>
            <a:lvl2pPr>
              <a:defRPr>
                <a:solidFill>
                  <a:schemeClr val="accent5">
                    <a:lumMod val="75000"/>
                  </a:schemeClr>
                </a:solidFill>
              </a:defRPr>
            </a:lvl2pPr>
            <a:lvl3pPr>
              <a:defRPr>
                <a:solidFill>
                  <a:srgbClr val="00B050"/>
                </a:solidFill>
              </a:defRPr>
            </a:lvl3pPr>
          </a:lstStyle>
          <a:p>
            <a:pPr lvl="0"/>
            <a:r>
              <a:rPr lang="zh-TW" altLang="en-US" dirty="0"/>
              <a:t>按一下以編輯母片文字樣式</a:t>
            </a:r>
          </a:p>
          <a:p>
            <a:pPr lvl="1"/>
            <a:r>
              <a:rPr lang="zh-TW" altLang="en-US" dirty="0"/>
              <a:t>第二層</a:t>
            </a:r>
          </a:p>
          <a:p>
            <a:pPr lvl="2"/>
            <a:r>
              <a:rPr lang="zh-TW" altLang="en-US" dirty="0"/>
              <a:t>第三層</a:t>
            </a:r>
          </a:p>
          <a:p>
            <a:pPr lvl="3"/>
            <a:r>
              <a:rPr lang="zh-TW" altLang="en-US" dirty="0"/>
              <a:t>第四層</a:t>
            </a:r>
          </a:p>
          <a:p>
            <a:pPr lvl="4"/>
            <a:r>
              <a:rPr lang="zh-TW" altLang="en-US" dirty="0"/>
              <a:t>第五層</a:t>
            </a:r>
          </a:p>
        </p:txBody>
      </p:sp>
      <p:sp>
        <p:nvSpPr>
          <p:cNvPr id="5" name="內容版面配置區 4"/>
          <p:cNvSpPr>
            <a:spLocks noGrp="1"/>
          </p:cNvSpPr>
          <p:nvPr>
            <p:ph sz="quarter" idx="11"/>
          </p:nvPr>
        </p:nvSpPr>
        <p:spPr>
          <a:xfrm>
            <a:off x="6096000" y="648000"/>
            <a:ext cx="5281083" cy="5760000"/>
          </a:xfrm>
        </p:spPr>
        <p:txBody>
          <a:bodyPr/>
          <a:lstStyle>
            <a:lvl2pPr>
              <a:defRPr>
                <a:solidFill>
                  <a:schemeClr val="accent5">
                    <a:lumMod val="75000"/>
                  </a:schemeClr>
                </a:solidFill>
              </a:defRPr>
            </a:lvl2pPr>
            <a:lvl3pPr>
              <a:defRPr>
                <a:solidFill>
                  <a:srgbClr val="00B050"/>
                </a:solidFill>
              </a:defRPr>
            </a:lvl3pPr>
          </a:lstStyle>
          <a:p>
            <a:pPr lvl="0"/>
            <a:r>
              <a:rPr lang="zh-TW" altLang="en-US" dirty="0"/>
              <a:t>按一下以編輯母片文字樣式</a:t>
            </a:r>
          </a:p>
          <a:p>
            <a:pPr lvl="1"/>
            <a:r>
              <a:rPr lang="zh-TW" altLang="en-US" dirty="0"/>
              <a:t>第二層</a:t>
            </a:r>
          </a:p>
          <a:p>
            <a:pPr lvl="2"/>
            <a:r>
              <a:rPr lang="zh-TW" altLang="en-US" dirty="0"/>
              <a:t>第三層</a:t>
            </a:r>
          </a:p>
          <a:p>
            <a:pPr lvl="3"/>
            <a:r>
              <a:rPr lang="zh-TW" altLang="en-US" dirty="0"/>
              <a:t>第四層</a:t>
            </a:r>
          </a:p>
          <a:p>
            <a:pPr lvl="4"/>
            <a:r>
              <a:rPr lang="zh-TW" altLang="en-US" dirty="0"/>
              <a:t>第五層</a:t>
            </a:r>
          </a:p>
        </p:txBody>
      </p:sp>
    </p:spTree>
    <p:extLst>
      <p:ext uri="{BB962C8B-B14F-4D97-AF65-F5344CB8AC3E}">
        <p14:creationId xmlns:p14="http://schemas.microsoft.com/office/powerpoint/2010/main" val="975681611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文字_雙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內容版面配置區 3"/>
          <p:cNvSpPr>
            <a:spLocks noGrp="1"/>
          </p:cNvSpPr>
          <p:nvPr>
            <p:ph sz="quarter" idx="10"/>
          </p:nvPr>
        </p:nvSpPr>
        <p:spPr>
          <a:xfrm>
            <a:off x="576000" y="1007999"/>
            <a:ext cx="5423989" cy="5400000"/>
          </a:xfrm>
        </p:spPr>
        <p:txBody>
          <a:bodyPr/>
          <a:lstStyle>
            <a:lvl2pPr>
              <a:defRPr>
                <a:solidFill>
                  <a:schemeClr val="accent5">
                    <a:lumMod val="75000"/>
                  </a:schemeClr>
                </a:solidFill>
              </a:defRPr>
            </a:lvl2pPr>
            <a:lvl3pPr>
              <a:defRPr>
                <a:solidFill>
                  <a:srgbClr val="00B050"/>
                </a:solidFill>
              </a:defRPr>
            </a:lvl3pPr>
          </a:lstStyle>
          <a:p>
            <a:pPr lvl="0"/>
            <a:r>
              <a:rPr lang="zh-TW" altLang="en-US" dirty="0"/>
              <a:t>按一下以編輯母片文字樣式</a:t>
            </a:r>
          </a:p>
          <a:p>
            <a:pPr lvl="1"/>
            <a:r>
              <a:rPr lang="zh-TW" altLang="en-US" dirty="0"/>
              <a:t>第二層</a:t>
            </a:r>
          </a:p>
          <a:p>
            <a:pPr lvl="2"/>
            <a:r>
              <a:rPr lang="zh-TW" altLang="en-US" dirty="0"/>
              <a:t>第三層</a:t>
            </a:r>
          </a:p>
          <a:p>
            <a:pPr lvl="3"/>
            <a:r>
              <a:rPr lang="zh-TW" altLang="en-US" dirty="0"/>
              <a:t>第四層</a:t>
            </a:r>
          </a:p>
          <a:p>
            <a:pPr lvl="4"/>
            <a:r>
              <a:rPr lang="zh-TW" altLang="en-US" dirty="0"/>
              <a:t>第五層</a:t>
            </a:r>
          </a:p>
        </p:txBody>
      </p:sp>
      <p:sp>
        <p:nvSpPr>
          <p:cNvPr id="5" name="內容版面配置區 4"/>
          <p:cNvSpPr>
            <a:spLocks noGrp="1"/>
          </p:cNvSpPr>
          <p:nvPr>
            <p:ph sz="quarter" idx="11"/>
          </p:nvPr>
        </p:nvSpPr>
        <p:spPr>
          <a:xfrm>
            <a:off x="6096000" y="1008000"/>
            <a:ext cx="5280000" cy="5400000"/>
          </a:xfrm>
        </p:spPr>
        <p:txBody>
          <a:bodyPr/>
          <a:lstStyle>
            <a:lvl2pPr>
              <a:defRPr>
                <a:solidFill>
                  <a:schemeClr val="accent5">
                    <a:lumMod val="75000"/>
                  </a:schemeClr>
                </a:solidFill>
              </a:defRPr>
            </a:lvl2pPr>
            <a:lvl3pPr>
              <a:defRPr>
                <a:solidFill>
                  <a:srgbClr val="00B050"/>
                </a:solidFill>
              </a:defRPr>
            </a:lvl3pPr>
          </a:lstStyle>
          <a:p>
            <a:pPr lvl="0"/>
            <a:r>
              <a:rPr lang="zh-TW" altLang="en-US" dirty="0"/>
              <a:t>按一下以編輯母片文字樣式</a:t>
            </a:r>
          </a:p>
          <a:p>
            <a:pPr lvl="1"/>
            <a:r>
              <a:rPr lang="zh-TW" altLang="en-US" dirty="0"/>
              <a:t>第二層</a:t>
            </a:r>
          </a:p>
          <a:p>
            <a:pPr lvl="2"/>
            <a:r>
              <a:rPr lang="zh-TW" altLang="en-US" dirty="0"/>
              <a:t>第三層</a:t>
            </a:r>
          </a:p>
          <a:p>
            <a:pPr lvl="3"/>
            <a:r>
              <a:rPr lang="zh-TW" altLang="en-US" dirty="0"/>
              <a:t>第四層</a:t>
            </a:r>
          </a:p>
          <a:p>
            <a:pPr lvl="4"/>
            <a:r>
              <a:rPr lang="zh-TW" altLang="en-US" dirty="0"/>
              <a:t>第五層</a:t>
            </a:r>
          </a:p>
        </p:txBody>
      </p:sp>
    </p:spTree>
    <p:extLst>
      <p:ext uri="{BB962C8B-B14F-4D97-AF65-F5344CB8AC3E}">
        <p14:creationId xmlns:p14="http://schemas.microsoft.com/office/powerpoint/2010/main" val="3984731463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範例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內容版面配置區 6"/>
          <p:cNvSpPr>
            <a:spLocks noGrp="1"/>
          </p:cNvSpPr>
          <p:nvPr>
            <p:ph sz="quarter" idx="13"/>
          </p:nvPr>
        </p:nvSpPr>
        <p:spPr>
          <a:xfrm>
            <a:off x="719667" y="1268072"/>
            <a:ext cx="10752667" cy="1728880"/>
          </a:xfrm>
          <a:ln w="19050" cmpd="sng">
            <a:gradFill>
              <a:gsLst>
                <a:gs pos="0">
                  <a:schemeClr val="bg1"/>
                </a:gs>
                <a:gs pos="68000">
                  <a:srgbClr val="EB5405"/>
                </a:gs>
                <a:gs pos="100000">
                  <a:srgbClr val="EB5405"/>
                </a:gs>
              </a:gsLst>
              <a:lin ang="4200000" scaled="0"/>
            </a:gradFill>
          </a:ln>
        </p:spPr>
        <p:txBody>
          <a:bodyPr wrap="square" lIns="252000" tIns="360000" rIns="180000" bIns="72000">
            <a:noAutofit/>
          </a:bodyPr>
          <a:lstStyle>
            <a:lvl1pPr>
              <a:lnSpc>
                <a:spcPts val="2400"/>
              </a:lnSpc>
              <a:spcBef>
                <a:spcPts val="600"/>
              </a:spcBef>
              <a:defRPr sz="1800" b="0">
                <a:solidFill>
                  <a:schemeClr val="tx1"/>
                </a:solidFill>
              </a:defRPr>
            </a:lvl1pPr>
            <a:lvl2pPr>
              <a:spcBef>
                <a:spcPts val="0"/>
              </a:spcBef>
              <a:defRPr/>
            </a:lvl2pPr>
            <a:lvl3pPr>
              <a:spcBef>
                <a:spcPts val="0"/>
              </a:spcBef>
              <a:defRPr/>
            </a:lvl3pPr>
          </a:lstStyle>
          <a:p>
            <a:pPr lvl="0"/>
            <a:r>
              <a:rPr lang="zh-TW" altLang="en-US" dirty="0"/>
              <a:t>按一下以編輯母片文字樣式</a:t>
            </a:r>
          </a:p>
        </p:txBody>
      </p:sp>
      <p:sp>
        <p:nvSpPr>
          <p:cNvPr id="6" name="文字版面配置區 8"/>
          <p:cNvSpPr>
            <a:spLocks noGrp="1"/>
          </p:cNvSpPr>
          <p:nvPr>
            <p:ph type="body" sz="quarter" idx="12"/>
          </p:nvPr>
        </p:nvSpPr>
        <p:spPr>
          <a:xfrm>
            <a:off x="623392" y="987971"/>
            <a:ext cx="4420350" cy="488201"/>
          </a:xfrm>
          <a:gradFill flip="none" rotWithShape="1">
            <a:gsLst>
              <a:gs pos="0">
                <a:schemeClr val="bg1"/>
              </a:gs>
              <a:gs pos="50000">
                <a:srgbClr val="EB5405"/>
              </a:gs>
              <a:gs pos="100000">
                <a:schemeClr val="accent6"/>
              </a:gs>
            </a:gsLst>
            <a:lin ang="14400000" scaled="0"/>
            <a:tileRect/>
          </a:gradFill>
          <a:ln w="19050"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none"/>
        </p:style>
        <p:txBody>
          <a:bodyPr wrap="none" lIns="180000" tIns="72000" rIns="540000" anchor="ctr">
            <a:spAutoFit/>
          </a:bodyPr>
          <a:lstStyle>
            <a:lvl1pPr algn="l">
              <a:lnSpc>
                <a:spcPct val="100000"/>
              </a:lnSpc>
              <a:spcBef>
                <a:spcPts val="0"/>
              </a:spcBef>
              <a:defRPr sz="2400" b="1" i="0" u="none" baseline="0">
                <a:solidFill>
                  <a:schemeClr val="bg1"/>
                </a:solidFill>
                <a:latin typeface="Arial Black" pitchFamily="34" charset="0"/>
                <a:ea typeface="+mj-ea"/>
              </a:defRPr>
            </a:lvl1pPr>
          </a:lstStyle>
          <a:p>
            <a:pPr lvl="0"/>
            <a:r>
              <a:rPr lang="zh-TW" altLang="en-US" dirty="0"/>
              <a:t>按一下以編輯母片文字樣式</a:t>
            </a:r>
          </a:p>
        </p:txBody>
      </p:sp>
    </p:spTree>
    <p:extLst>
      <p:ext uri="{BB962C8B-B14F-4D97-AF65-F5344CB8AC3E}">
        <p14:creationId xmlns:p14="http://schemas.microsoft.com/office/powerpoint/2010/main" val="1813612071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圖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內容版面配置區 6"/>
          <p:cNvSpPr>
            <a:spLocks noGrp="1"/>
          </p:cNvSpPr>
          <p:nvPr>
            <p:ph sz="quarter" idx="13"/>
          </p:nvPr>
        </p:nvSpPr>
        <p:spPr>
          <a:xfrm>
            <a:off x="719667" y="1484785"/>
            <a:ext cx="10752667" cy="3189921"/>
          </a:xfrm>
          <a:ln w="19050" cmpd="sng">
            <a:gradFill>
              <a:gsLst>
                <a:gs pos="0">
                  <a:schemeClr val="bg1"/>
                </a:gs>
                <a:gs pos="68000">
                  <a:srgbClr val="BE2856"/>
                </a:gs>
                <a:gs pos="100000">
                  <a:srgbClr val="3D3B5F"/>
                </a:gs>
              </a:gsLst>
              <a:lin ang="4200000" scaled="0"/>
            </a:gradFill>
          </a:ln>
        </p:spPr>
        <p:txBody>
          <a:bodyPr lIns="252000" tIns="360000" rIns="180000" bIns="72000">
            <a:spAutoFit/>
          </a:bodyPr>
          <a:lstStyle>
            <a:lvl1pPr>
              <a:lnSpc>
                <a:spcPts val="2400"/>
              </a:lnSpc>
              <a:defRPr sz="2200" b="0">
                <a:solidFill>
                  <a:schemeClr val="tx1"/>
                </a:solidFill>
              </a:defRPr>
            </a:lvl1pPr>
            <a:lvl2pPr>
              <a:defRPr>
                <a:solidFill>
                  <a:srgbClr val="8FC320"/>
                </a:solidFill>
              </a:defRPr>
            </a:lvl2pPr>
            <a:lvl3pPr>
              <a:defRPr>
                <a:solidFill>
                  <a:srgbClr val="00B050"/>
                </a:solidFill>
              </a:defRPr>
            </a:lvl3pPr>
            <a:lvl5pPr>
              <a:buClr>
                <a:srgbClr val="B5D14F"/>
              </a:buClr>
              <a:buFont typeface="Wingdings" pitchFamily="2" charset="2"/>
              <a:buChar char="n"/>
              <a:defRPr/>
            </a:lvl5pPr>
          </a:lstStyle>
          <a:p>
            <a:pPr lvl="0"/>
            <a:r>
              <a:rPr lang="zh-TW" altLang="en-US" dirty="0"/>
              <a:t>按一下以編輯母片文字樣式</a:t>
            </a:r>
          </a:p>
          <a:p>
            <a:pPr lvl="1"/>
            <a:r>
              <a:rPr lang="zh-TW" altLang="en-US" dirty="0"/>
              <a:t>第二層</a:t>
            </a:r>
          </a:p>
          <a:p>
            <a:pPr lvl="2"/>
            <a:r>
              <a:rPr lang="zh-TW" altLang="en-US" dirty="0"/>
              <a:t>第三層</a:t>
            </a:r>
          </a:p>
          <a:p>
            <a:pPr lvl="3"/>
            <a:r>
              <a:rPr lang="zh-TW" altLang="en-US" dirty="0"/>
              <a:t>第四層</a:t>
            </a:r>
          </a:p>
          <a:p>
            <a:pPr lvl="4"/>
            <a:r>
              <a:rPr lang="zh-TW" altLang="en-US" dirty="0"/>
              <a:t>第五層</a:t>
            </a:r>
            <a:endParaRPr lang="en-US" altLang="zh-TW" dirty="0"/>
          </a:p>
          <a:p>
            <a:pPr lvl="4"/>
            <a:endParaRPr lang="zh-TW" altLang="en-US" dirty="0"/>
          </a:p>
        </p:txBody>
      </p:sp>
      <p:sp>
        <p:nvSpPr>
          <p:cNvPr id="6" name="文字版面配置區 8"/>
          <p:cNvSpPr>
            <a:spLocks noGrp="1"/>
          </p:cNvSpPr>
          <p:nvPr>
            <p:ph type="body" sz="quarter" idx="12"/>
          </p:nvPr>
        </p:nvSpPr>
        <p:spPr>
          <a:xfrm>
            <a:off x="623392" y="1196753"/>
            <a:ext cx="6240693" cy="504056"/>
          </a:xfrm>
          <a:gradFill flip="none" rotWithShape="1">
            <a:gsLst>
              <a:gs pos="0">
                <a:schemeClr val="bg1"/>
              </a:gs>
              <a:gs pos="50000">
                <a:srgbClr val="BE2856"/>
              </a:gs>
              <a:gs pos="100000">
                <a:srgbClr val="3D3B5F"/>
              </a:gs>
            </a:gsLst>
            <a:lin ang="14400000" scaled="0"/>
            <a:tileRect/>
          </a:gradFill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none"/>
        </p:style>
        <p:txBody>
          <a:bodyPr lIns="180000" tIns="72000" anchor="ctr">
            <a:noAutofit/>
          </a:bodyPr>
          <a:lstStyle>
            <a:lvl1pPr algn="l">
              <a:lnSpc>
                <a:spcPct val="100000"/>
              </a:lnSpc>
              <a:spcBef>
                <a:spcPts val="0"/>
              </a:spcBef>
              <a:defRPr sz="2800" b="1" i="0" u="none" baseline="0">
                <a:solidFill>
                  <a:schemeClr val="bg1"/>
                </a:solidFill>
                <a:latin typeface="Arial Black" pitchFamily="34" charset="0"/>
                <a:ea typeface="+mj-ea"/>
              </a:defRPr>
            </a:lvl1pPr>
          </a:lstStyle>
          <a:p>
            <a:pPr lvl="0"/>
            <a:r>
              <a:rPr lang="zh-TW" altLang="en-US" dirty="0"/>
              <a:t>按一下以編輯母片文字樣式</a:t>
            </a:r>
          </a:p>
        </p:txBody>
      </p:sp>
      <p:grpSp>
        <p:nvGrpSpPr>
          <p:cNvPr id="17" name="群組 16"/>
          <p:cNvGrpSpPr/>
          <p:nvPr userDrawn="1"/>
        </p:nvGrpSpPr>
        <p:grpSpPr>
          <a:xfrm>
            <a:off x="856549" y="6200930"/>
            <a:ext cx="1399024" cy="503533"/>
            <a:chOff x="899592" y="6237835"/>
            <a:chExt cx="1049268" cy="503533"/>
          </a:xfrm>
        </p:grpSpPr>
        <p:sp>
          <p:nvSpPr>
            <p:cNvPr id="18" name="弧形向右箭號 17"/>
            <p:cNvSpPr/>
            <p:nvPr/>
          </p:nvSpPr>
          <p:spPr>
            <a:xfrm rot="612716">
              <a:off x="899592" y="6237835"/>
              <a:ext cx="440592" cy="503533"/>
            </a:xfrm>
            <a:prstGeom prst="curvedRightArrow">
              <a:avLst/>
            </a:prstGeom>
            <a:gradFill>
              <a:gsLst>
                <a:gs pos="0">
                  <a:schemeClr val="bg1"/>
                </a:gs>
                <a:gs pos="50000">
                  <a:srgbClr val="BE2856"/>
                </a:gs>
                <a:gs pos="100000">
                  <a:srgbClr val="3D3B5F"/>
                </a:gs>
              </a:gsLst>
              <a:lin ang="3600000" scaled="0"/>
            </a:gradFill>
            <a:ln w="9525">
              <a:solidFill>
                <a:schemeClr val="bg1"/>
              </a:solidFill>
            </a:ln>
            <a:effectLst>
              <a:outerShdw blurRad="63500" sx="102000" sy="102000" algn="ctr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 sz="1800">
                <a:solidFill>
                  <a:schemeClr val="tx1"/>
                </a:solidFill>
              </a:endParaRPr>
            </a:p>
          </p:txBody>
        </p:sp>
        <p:sp>
          <p:nvSpPr>
            <p:cNvPr id="19" name="文字方塊 18"/>
            <p:cNvSpPr txBox="1"/>
            <p:nvPr/>
          </p:nvSpPr>
          <p:spPr>
            <a:xfrm>
              <a:off x="940748" y="6304512"/>
              <a:ext cx="1008112" cy="307777"/>
            </a:xfrm>
            <a:prstGeom prst="rect">
              <a:avLst/>
            </a:prstGeom>
            <a:noFill/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  <a:scene3d>
              <a:camera prst="orthographicFront"/>
              <a:lightRig rig="threePt" dir="t"/>
            </a:scene3d>
            <a:sp3d>
              <a:bevelT prst="relaxedInset"/>
            </a:sp3d>
          </p:spPr>
          <p:txBody>
            <a:bodyPr wrap="square" rtlCol="0">
              <a:spAutoFit/>
            </a:bodyPr>
            <a:lstStyle/>
            <a:p>
              <a:r>
                <a:rPr lang="zh-TW" altLang="en-US" sz="1400" b="1" dirty="0">
                  <a:solidFill>
                    <a:srgbClr val="3D3B5F"/>
                  </a:solidFill>
                </a:rPr>
                <a:t>續下頁</a:t>
              </a:r>
            </a:p>
          </p:txBody>
        </p:sp>
      </p:grpSp>
      <p:cxnSp>
        <p:nvCxnSpPr>
          <p:cNvPr id="8" name="直線單箭頭接點 7"/>
          <p:cNvCxnSpPr/>
          <p:nvPr userDrawn="1"/>
        </p:nvCxnSpPr>
        <p:spPr>
          <a:xfrm>
            <a:off x="2639616" y="6021288"/>
            <a:ext cx="480053" cy="648072"/>
          </a:xfrm>
          <a:prstGeom prst="straightConnector1">
            <a:avLst/>
          </a:prstGeom>
          <a:ln>
            <a:solidFill>
              <a:srgbClr val="BE2856"/>
            </a:solidFill>
            <a:tailEnd type="arrow"/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cxnSp>
        <p:nvCxnSpPr>
          <p:cNvPr id="9" name="直線接點 8"/>
          <p:cNvCxnSpPr/>
          <p:nvPr userDrawn="1"/>
        </p:nvCxnSpPr>
        <p:spPr>
          <a:xfrm>
            <a:off x="3503712" y="6237312"/>
            <a:ext cx="2976331" cy="0"/>
          </a:xfrm>
          <a:prstGeom prst="line">
            <a:avLst/>
          </a:prstGeom>
          <a:ln w="38100" cmpd="sng">
            <a:solidFill>
              <a:srgbClr val="BE285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矩形 9"/>
          <p:cNvSpPr/>
          <p:nvPr userDrawn="1"/>
        </p:nvSpPr>
        <p:spPr>
          <a:xfrm>
            <a:off x="7056107" y="5949280"/>
            <a:ext cx="480053" cy="432048"/>
          </a:xfrm>
          <a:prstGeom prst="rect">
            <a:avLst/>
          </a:prstGeom>
          <a:solidFill>
            <a:srgbClr val="46799E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sz="1800"/>
          </a:p>
        </p:txBody>
      </p:sp>
      <p:sp>
        <p:nvSpPr>
          <p:cNvPr id="11" name="矩形 10"/>
          <p:cNvSpPr/>
          <p:nvPr userDrawn="1"/>
        </p:nvSpPr>
        <p:spPr>
          <a:xfrm>
            <a:off x="7824192" y="5949280"/>
            <a:ext cx="480053" cy="432048"/>
          </a:xfrm>
          <a:prstGeom prst="rect">
            <a:avLst/>
          </a:prstGeom>
          <a:solidFill>
            <a:srgbClr val="8F3B8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sz="1800"/>
          </a:p>
        </p:txBody>
      </p:sp>
      <p:grpSp>
        <p:nvGrpSpPr>
          <p:cNvPr id="16" name="群組 15"/>
          <p:cNvGrpSpPr/>
          <p:nvPr userDrawn="1"/>
        </p:nvGrpSpPr>
        <p:grpSpPr>
          <a:xfrm>
            <a:off x="8976320" y="5605201"/>
            <a:ext cx="772165" cy="646331"/>
            <a:chOff x="6732240" y="5605200"/>
            <a:chExt cx="579124" cy="646331"/>
          </a:xfrm>
          <a:solidFill>
            <a:srgbClr val="8FC320"/>
          </a:solidFill>
        </p:grpSpPr>
        <p:sp>
          <p:nvSpPr>
            <p:cNvPr id="12" name="橢圓形圖說文字 11"/>
            <p:cNvSpPr/>
            <p:nvPr userDrawn="1"/>
          </p:nvSpPr>
          <p:spPr>
            <a:xfrm flipH="1">
              <a:off x="6732240" y="5622113"/>
              <a:ext cx="579124" cy="579126"/>
            </a:xfrm>
            <a:prstGeom prst="wedgeEllipseCallout">
              <a:avLst>
                <a:gd name="adj1" fmla="val -47623"/>
                <a:gd name="adj2" fmla="val 46426"/>
              </a:avLst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 sz="1800" dirty="0">
                <a:solidFill>
                  <a:srgbClr val="B5D14F"/>
                </a:solidFill>
              </a:endParaRPr>
            </a:p>
          </p:txBody>
        </p:sp>
        <p:sp>
          <p:nvSpPr>
            <p:cNvPr id="13" name="文字方塊 12"/>
            <p:cNvSpPr txBox="1"/>
            <p:nvPr userDrawn="1"/>
          </p:nvSpPr>
          <p:spPr>
            <a:xfrm>
              <a:off x="6778800" y="5605200"/>
              <a:ext cx="497475" cy="64633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>
                <a:lnSpc>
                  <a:spcPct val="100000"/>
                </a:lnSpc>
              </a:pPr>
              <a:r>
                <a:rPr lang="zh-TW" altLang="en-US" sz="2400" b="1" dirty="0">
                  <a:solidFill>
                    <a:schemeClr val="bg2"/>
                  </a:solidFill>
                </a:rPr>
                <a:t>回</a:t>
              </a:r>
              <a:endParaRPr lang="en-US" altLang="zh-TW" sz="2400" b="1" dirty="0">
                <a:solidFill>
                  <a:schemeClr val="bg2"/>
                </a:solidFill>
              </a:endParaRPr>
            </a:p>
            <a:p>
              <a:r>
                <a:rPr lang="zh-TW" altLang="en-US" sz="1800" b="1" baseline="20000" dirty="0">
                  <a:solidFill>
                    <a:schemeClr val="bg2"/>
                  </a:solidFill>
                </a:rPr>
                <a:t>首頁</a:t>
              </a:r>
            </a:p>
          </p:txBody>
        </p:sp>
      </p:grpSp>
      <p:sp>
        <p:nvSpPr>
          <p:cNvPr id="20" name="文字版面配置區 4"/>
          <p:cNvSpPr>
            <a:spLocks noGrp="1"/>
          </p:cNvSpPr>
          <p:nvPr>
            <p:ph type="body" sz="quarter" idx="10"/>
          </p:nvPr>
        </p:nvSpPr>
        <p:spPr>
          <a:xfrm>
            <a:off x="10224459" y="6021288"/>
            <a:ext cx="1665600" cy="468000"/>
          </a:xfrm>
          <a:gradFill>
            <a:gsLst>
              <a:gs pos="0">
                <a:schemeClr val="bg1"/>
              </a:gs>
              <a:gs pos="50000">
                <a:srgbClr val="BE2856"/>
              </a:gs>
              <a:gs pos="100000">
                <a:srgbClr val="3D3B5F"/>
              </a:gs>
            </a:gsLst>
            <a:lin ang="3600000" scaled="0"/>
          </a:gradFill>
          <a:ln>
            <a:solidFill>
              <a:schemeClr val="bg1"/>
            </a:solidFill>
          </a:ln>
          <a:effectLst>
            <a:outerShdw blurRad="25400" dist="12700" dir="13500000" algn="br" rotWithShape="0">
              <a:prstClr val="black">
                <a:alpha val="40000"/>
              </a:prstClr>
            </a:outerShdw>
          </a:effectLst>
        </p:spPr>
        <p:txBody>
          <a:bodyPr lIns="90000" tIns="0">
            <a:noAutofit/>
          </a:bodyPr>
          <a:lstStyle>
            <a:lvl1pPr algn="r">
              <a:spcBef>
                <a:spcPts val="0"/>
              </a:spcBef>
              <a:defRPr sz="1600">
                <a:solidFill>
                  <a:schemeClr val="bg1"/>
                </a:solidFill>
              </a:defRPr>
            </a:lvl1pPr>
          </a:lstStyle>
          <a:p>
            <a:pPr lvl="0"/>
            <a:r>
              <a:rPr lang="zh-TW" altLang="en-US" dirty="0"/>
              <a:t>按一下以編輯母片文字</a:t>
            </a:r>
          </a:p>
        </p:txBody>
      </p:sp>
    </p:spTree>
    <p:extLst>
      <p:ext uri="{BB962C8B-B14F-4D97-AF65-F5344CB8AC3E}">
        <p14:creationId xmlns:p14="http://schemas.microsoft.com/office/powerpoint/2010/main" val="345977196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9.xml"/><Relationship Id="rId13" Type="http://schemas.openxmlformats.org/officeDocument/2006/relationships/tags" Target="../tags/tag1.xml"/><Relationship Id="rId3" Type="http://schemas.openxmlformats.org/officeDocument/2006/relationships/slideLayout" Target="../slideLayouts/slideLayout4.xml"/><Relationship Id="rId7" Type="http://schemas.openxmlformats.org/officeDocument/2006/relationships/slideLayout" Target="../slideLayouts/slideLayout8.xml"/><Relationship Id="rId12" Type="http://schemas.openxmlformats.org/officeDocument/2006/relationships/theme" Target="../theme/theme2.xml"/><Relationship Id="rId2" Type="http://schemas.openxmlformats.org/officeDocument/2006/relationships/slideLayout" Target="../slideLayouts/slideLayout3.xml"/><Relationship Id="rId1" Type="http://schemas.openxmlformats.org/officeDocument/2006/relationships/slideLayout" Target="../slideLayouts/slideLayout2.xml"/><Relationship Id="rId6" Type="http://schemas.openxmlformats.org/officeDocument/2006/relationships/slideLayout" Target="../slideLayouts/slideLayout7.xml"/><Relationship Id="rId11" Type="http://schemas.openxmlformats.org/officeDocument/2006/relationships/slideLayout" Target="../slideLayouts/slideLayout12.xml"/><Relationship Id="rId5" Type="http://schemas.openxmlformats.org/officeDocument/2006/relationships/slideLayout" Target="../slideLayouts/slideLayout6.xml"/><Relationship Id="rId15" Type="http://schemas.openxmlformats.org/officeDocument/2006/relationships/image" Target="../media/image1.png"/><Relationship Id="rId10" Type="http://schemas.openxmlformats.org/officeDocument/2006/relationships/slideLayout" Target="../slideLayouts/slideLayout11.xml"/><Relationship Id="rId4" Type="http://schemas.openxmlformats.org/officeDocument/2006/relationships/slideLayout" Target="../slideLayouts/slideLayout5.xml"/><Relationship Id="rId9" Type="http://schemas.openxmlformats.org/officeDocument/2006/relationships/slideLayout" Target="../slideLayouts/slideLayout10.xml"/><Relationship Id="rId14" Type="http://schemas.openxmlformats.org/officeDocument/2006/relationships/tags" Target="../tags/tag2.xml"/></Relationships>
</file>

<file path=ppt/slideMasters/_rels/slideMaster3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20.xml"/><Relationship Id="rId3" Type="http://schemas.openxmlformats.org/officeDocument/2006/relationships/slideLayout" Target="../slideLayouts/slideLayout15.xml"/><Relationship Id="rId7" Type="http://schemas.openxmlformats.org/officeDocument/2006/relationships/slideLayout" Target="../slideLayouts/slideLayout19.xml"/><Relationship Id="rId12" Type="http://schemas.openxmlformats.org/officeDocument/2006/relationships/image" Target="../media/image4.jpg"/><Relationship Id="rId2" Type="http://schemas.openxmlformats.org/officeDocument/2006/relationships/slideLayout" Target="../slideLayouts/slideLayout14.xml"/><Relationship Id="rId1" Type="http://schemas.openxmlformats.org/officeDocument/2006/relationships/slideLayout" Target="../slideLayouts/slideLayout13.xml"/><Relationship Id="rId6" Type="http://schemas.openxmlformats.org/officeDocument/2006/relationships/slideLayout" Target="../slideLayouts/slideLayout18.xml"/><Relationship Id="rId11" Type="http://schemas.openxmlformats.org/officeDocument/2006/relationships/theme" Target="../theme/theme3.xml"/><Relationship Id="rId5" Type="http://schemas.openxmlformats.org/officeDocument/2006/relationships/slideLayout" Target="../slideLayouts/slideLayout17.xml"/><Relationship Id="rId10" Type="http://schemas.openxmlformats.org/officeDocument/2006/relationships/slideLayout" Target="../slideLayouts/slideLayout22.xml"/><Relationship Id="rId4" Type="http://schemas.openxmlformats.org/officeDocument/2006/relationships/slideLayout" Target="../slideLayouts/slideLayout16.xml"/><Relationship Id="rId9" Type="http://schemas.openxmlformats.org/officeDocument/2006/relationships/slideLayout" Target="../slideLayouts/slideLayout2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Master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txStyles>
    <p:titleStyle>
      <a:lvl1pPr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Rectangle 3">
            <a:extLst>
              <a:ext uri="{FF2B5EF4-FFF2-40B4-BE49-F238E27FC236}">
                <a16:creationId xmlns:a16="http://schemas.microsoft.com/office/drawing/2014/main" id="{23DDD26E-FAF2-C23E-A255-470120E9F68F}"/>
              </a:ext>
            </a:extLst>
          </p:cNvPr>
          <p:cNvSpPr>
            <a:spLocks noGrp="1" noChangeArrowheads="1"/>
          </p:cNvSpPr>
          <p:nvPr>
            <p:ph type="title"/>
            <p:custDataLst>
              <p:tags r:id="rId13"/>
            </p:custDataLst>
          </p:nvPr>
        </p:nvSpPr>
        <p:spPr bwMode="auto">
          <a:xfrm>
            <a:off x="607485" y="274638"/>
            <a:ext cx="10968567" cy="11430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7AA1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/>
          <a:p>
            <a:pPr lvl="0"/>
            <a:r>
              <a:rPr lang="zh-TW" altLang="en-US"/>
              <a:t>按一下以編輯母片標題樣式</a:t>
            </a:r>
          </a:p>
        </p:txBody>
      </p:sp>
      <p:sp>
        <p:nvSpPr>
          <p:cNvPr id="2051" name="Rectangle 4">
            <a:extLst>
              <a:ext uri="{FF2B5EF4-FFF2-40B4-BE49-F238E27FC236}">
                <a16:creationId xmlns:a16="http://schemas.microsoft.com/office/drawing/2014/main" id="{63143ADF-3A28-F803-3C53-A720B70B9A94}"/>
              </a:ext>
            </a:extLst>
          </p:cNvPr>
          <p:cNvSpPr>
            <a:spLocks noGrp="1" noChangeArrowheads="1"/>
          </p:cNvSpPr>
          <p:nvPr>
            <p:ph type="body" idx="1"/>
            <p:custDataLst>
              <p:tags r:id="rId14"/>
            </p:custDataLst>
          </p:nvPr>
        </p:nvSpPr>
        <p:spPr bwMode="auto">
          <a:xfrm>
            <a:off x="607485" y="1600201"/>
            <a:ext cx="10968567" cy="49244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7AA1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zh-TW" altLang="en-US"/>
              <a:t>按一下以編輯母片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251909" name="Rectangle 5">
            <a:extLst>
              <a:ext uri="{FF2B5EF4-FFF2-40B4-BE49-F238E27FC236}">
                <a16:creationId xmlns:a16="http://schemas.microsoft.com/office/drawing/2014/main" id="{84380CA8-2F1B-1E1F-8150-C4BF4AC39195}"/>
              </a:ext>
            </a:extLst>
          </p:cNvPr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609600" y="6245225"/>
            <a:ext cx="2844800" cy="476250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l" eaLnBrk="1" hangingPunct="1">
              <a:defRPr sz="1400">
                <a:latin typeface="Arial" charset="0"/>
                <a:ea typeface="微軟正黑體" panose="020B0604030504040204" pitchFamily="34" charset="-120"/>
                <a:cs typeface="Arial" charset="0"/>
              </a:defRPr>
            </a:lvl1pPr>
          </a:lstStyle>
          <a:p>
            <a:pPr>
              <a:defRPr/>
            </a:pPr>
            <a:endParaRPr lang="en-US" altLang="zh-TW"/>
          </a:p>
        </p:txBody>
      </p:sp>
      <p:sp>
        <p:nvSpPr>
          <p:cNvPr id="251910" name="Rectangle 6">
            <a:extLst>
              <a:ext uri="{FF2B5EF4-FFF2-40B4-BE49-F238E27FC236}">
                <a16:creationId xmlns:a16="http://schemas.microsoft.com/office/drawing/2014/main" id="{77BA2969-D67C-04B6-C188-9B54FE52D3EA}"/>
              </a:ext>
            </a:extLst>
          </p:cNvPr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4165600" y="6245225"/>
            <a:ext cx="3860800" cy="476250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ctr" eaLnBrk="1" hangingPunct="1">
              <a:defRPr sz="1400">
                <a:latin typeface="Arial" charset="0"/>
                <a:ea typeface="微軟正黑體" panose="020B0604030504040204" pitchFamily="34" charset="-120"/>
                <a:cs typeface="Arial" charset="0"/>
              </a:defRPr>
            </a:lvl1pPr>
          </a:lstStyle>
          <a:p>
            <a:pPr>
              <a:defRPr/>
            </a:pPr>
            <a:endParaRPr lang="en-US" altLang="zh-TW"/>
          </a:p>
        </p:txBody>
      </p:sp>
      <p:sp>
        <p:nvSpPr>
          <p:cNvPr id="251911" name="Rectangle 7">
            <a:extLst>
              <a:ext uri="{FF2B5EF4-FFF2-40B4-BE49-F238E27FC236}">
                <a16:creationId xmlns:a16="http://schemas.microsoft.com/office/drawing/2014/main" id="{3471EB0E-B2FD-AAE6-F276-C390204AE09B}"/>
              </a:ext>
            </a:extLst>
          </p:cNvPr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8737600" y="6245225"/>
            <a:ext cx="2844800" cy="476250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 eaLnBrk="1" hangingPunct="1">
              <a:defRPr sz="1400">
                <a:ea typeface="微軟正黑體" panose="020B0604030504040204" pitchFamily="34" charset="-120"/>
              </a:defRPr>
            </a:lvl1pPr>
          </a:lstStyle>
          <a:p>
            <a:fld id="{58D92CB3-E8EF-4A3B-8BF1-0A3CF45DDC3B}" type="slidenum">
              <a:rPr lang="zh-TW" altLang="en-US"/>
              <a:pPr/>
              <a:t>‹#›</a:t>
            </a:fld>
            <a:endParaRPr lang="en-US" altLang="zh-TW"/>
          </a:p>
        </p:txBody>
      </p:sp>
      <p:pic>
        <p:nvPicPr>
          <p:cNvPr id="2055" name="圖片 10">
            <a:extLst>
              <a:ext uri="{FF2B5EF4-FFF2-40B4-BE49-F238E27FC236}">
                <a16:creationId xmlns:a16="http://schemas.microsoft.com/office/drawing/2014/main" id="{74F3254D-32FA-8DDD-01C2-A5FF90B18E6A}"/>
              </a:ext>
            </a:extLst>
          </p:cNvPr>
          <p:cNvPicPr>
            <a:picLocks noChangeAspect="1"/>
          </p:cNvPicPr>
          <p:nvPr/>
        </p:nvPicPr>
        <p:blipFill>
          <a:blip r:embed="rId1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8534" y="6607175"/>
            <a:ext cx="751417" cy="1651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2" name="矩形: 圓角 5">
            <a:extLst>
              <a:ext uri="{FF2B5EF4-FFF2-40B4-BE49-F238E27FC236}">
                <a16:creationId xmlns:a16="http://schemas.microsoft.com/office/drawing/2014/main" id="{15EBB5E9-BC0F-3654-3261-9ECCD786CC59}"/>
              </a:ext>
            </a:extLst>
          </p:cNvPr>
          <p:cNvSpPr/>
          <p:nvPr/>
        </p:nvSpPr>
        <p:spPr>
          <a:xfrm>
            <a:off x="0" y="0"/>
            <a:ext cx="12192000" cy="344488"/>
          </a:xfrm>
          <a:prstGeom prst="roundRect">
            <a:avLst>
              <a:gd name="adj" fmla="val 0"/>
            </a:avLst>
          </a:prstGeom>
          <a:solidFill>
            <a:srgbClr val="FAC498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2000" tIns="0" rIns="0" bIns="0" anchor="ctr"/>
          <a:lstStyle/>
          <a:p>
            <a:pPr>
              <a:defRPr/>
            </a:pPr>
            <a:r>
              <a:rPr lang="zh-TW" altLang="en-US" sz="1600" dirty="0">
                <a:solidFill>
                  <a:schemeClr val="tx1"/>
                </a:solidFill>
                <a:latin typeface="微軟正黑體" pitchFamily="34" charset="-120"/>
                <a:ea typeface="微軟正黑體" pitchFamily="34" charset="-120"/>
              </a:rPr>
              <a:t>看圖學</a:t>
            </a:r>
            <a:r>
              <a:rPr lang="en-US" altLang="zh-TW" sz="1600" dirty="0">
                <a:solidFill>
                  <a:schemeClr val="tx1"/>
                </a:solidFill>
                <a:latin typeface="微軟正黑體" pitchFamily="34" charset="-120"/>
                <a:ea typeface="微軟正黑體" pitchFamily="34" charset="-120"/>
              </a:rPr>
              <a:t>Python</a:t>
            </a:r>
            <a:r>
              <a:rPr lang="zh-TW" altLang="en-US" sz="1600" dirty="0">
                <a:solidFill>
                  <a:schemeClr val="tx1"/>
                </a:solidFill>
                <a:latin typeface="微軟正黑體" pitchFamily="34" charset="-120"/>
                <a:ea typeface="微軟正黑體" pitchFamily="34" charset="-120"/>
              </a:rPr>
              <a:t>人工智慧程式設計</a:t>
            </a:r>
          </a:p>
        </p:txBody>
      </p:sp>
      <p:sp>
        <p:nvSpPr>
          <p:cNvPr id="13" name="手繪多邊形: 圖案 63">
            <a:hlinkClick r:id="" action="ppaction://hlinkshowjump?jump=endshow"/>
            <a:hlinkHover r:id="" action="ppaction://noaction" highlightClick="1"/>
            <a:extLst>
              <a:ext uri="{FF2B5EF4-FFF2-40B4-BE49-F238E27FC236}">
                <a16:creationId xmlns:a16="http://schemas.microsoft.com/office/drawing/2014/main" id="{2277EF12-C1FE-99A3-FFBA-3EFAC7E24D1A}"/>
              </a:ext>
            </a:extLst>
          </p:cNvPr>
          <p:cNvSpPr>
            <a:spLocks noChangeAspect="1"/>
          </p:cNvSpPr>
          <p:nvPr/>
        </p:nvSpPr>
        <p:spPr>
          <a:xfrm>
            <a:off x="11675533" y="6472239"/>
            <a:ext cx="431800" cy="325437"/>
          </a:xfrm>
          <a:custGeom>
            <a:avLst/>
            <a:gdLst>
              <a:gd name="connsiteX0" fmla="*/ 99522 w 323852"/>
              <a:gd name="connsiteY0" fmla="*/ 50326 h 323852"/>
              <a:gd name="connsiteX1" fmla="*/ 50326 w 323852"/>
              <a:gd name="connsiteY1" fmla="*/ 99522 h 323852"/>
              <a:gd name="connsiteX2" fmla="*/ 112640 w 323852"/>
              <a:gd name="connsiteY2" fmla="*/ 162018 h 323852"/>
              <a:gd name="connsiteX3" fmla="*/ 50326 w 323852"/>
              <a:gd name="connsiteY3" fmla="*/ 224332 h 323852"/>
              <a:gd name="connsiteX4" fmla="*/ 99522 w 323852"/>
              <a:gd name="connsiteY4" fmla="*/ 273528 h 323852"/>
              <a:gd name="connsiteX5" fmla="*/ 161836 w 323852"/>
              <a:gd name="connsiteY5" fmla="*/ 211214 h 323852"/>
              <a:gd name="connsiteX6" fmla="*/ 224332 w 323852"/>
              <a:gd name="connsiteY6" fmla="*/ 273528 h 323852"/>
              <a:gd name="connsiteX7" fmla="*/ 273528 w 323852"/>
              <a:gd name="connsiteY7" fmla="*/ 224332 h 323852"/>
              <a:gd name="connsiteX8" fmla="*/ 211214 w 323852"/>
              <a:gd name="connsiteY8" fmla="*/ 162018 h 323852"/>
              <a:gd name="connsiteX9" fmla="*/ 273528 w 323852"/>
              <a:gd name="connsiteY9" fmla="*/ 99522 h 323852"/>
              <a:gd name="connsiteX10" fmla="*/ 224332 w 323852"/>
              <a:gd name="connsiteY10" fmla="*/ 50326 h 323852"/>
              <a:gd name="connsiteX11" fmla="*/ 161836 w 323852"/>
              <a:gd name="connsiteY11" fmla="*/ 112640 h 323852"/>
              <a:gd name="connsiteX12" fmla="*/ 161926 w 323852"/>
              <a:gd name="connsiteY12" fmla="*/ 0 h 323852"/>
              <a:gd name="connsiteX13" fmla="*/ 323852 w 323852"/>
              <a:gd name="connsiteY13" fmla="*/ 161926 h 323852"/>
              <a:gd name="connsiteX14" fmla="*/ 161926 w 323852"/>
              <a:gd name="connsiteY14" fmla="*/ 323852 h 323852"/>
              <a:gd name="connsiteX15" fmla="*/ 0 w 323852"/>
              <a:gd name="connsiteY15" fmla="*/ 161926 h 323852"/>
              <a:gd name="connsiteX16" fmla="*/ 161926 w 323852"/>
              <a:gd name="connsiteY16" fmla="*/ 0 h 32385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</a:cxnLst>
            <a:rect l="l" t="t" r="r" b="b"/>
            <a:pathLst>
              <a:path w="323852" h="323852">
                <a:moveTo>
                  <a:pt x="99522" y="50326"/>
                </a:moveTo>
                <a:lnTo>
                  <a:pt x="50326" y="99522"/>
                </a:lnTo>
                <a:lnTo>
                  <a:pt x="112640" y="162018"/>
                </a:lnTo>
                <a:lnTo>
                  <a:pt x="50326" y="224332"/>
                </a:lnTo>
                <a:lnTo>
                  <a:pt x="99522" y="273528"/>
                </a:lnTo>
                <a:lnTo>
                  <a:pt x="161836" y="211214"/>
                </a:lnTo>
                <a:lnTo>
                  <a:pt x="224332" y="273528"/>
                </a:lnTo>
                <a:lnTo>
                  <a:pt x="273528" y="224332"/>
                </a:lnTo>
                <a:lnTo>
                  <a:pt x="211214" y="162018"/>
                </a:lnTo>
                <a:lnTo>
                  <a:pt x="273528" y="99522"/>
                </a:lnTo>
                <a:lnTo>
                  <a:pt x="224332" y="50326"/>
                </a:lnTo>
                <a:lnTo>
                  <a:pt x="161836" y="112640"/>
                </a:lnTo>
                <a:close/>
                <a:moveTo>
                  <a:pt x="161926" y="0"/>
                </a:moveTo>
                <a:cubicBezTo>
                  <a:pt x="251355" y="0"/>
                  <a:pt x="323852" y="72497"/>
                  <a:pt x="323852" y="161926"/>
                </a:cubicBezTo>
                <a:cubicBezTo>
                  <a:pt x="323852" y="251355"/>
                  <a:pt x="251355" y="323852"/>
                  <a:pt x="161926" y="323852"/>
                </a:cubicBezTo>
                <a:cubicBezTo>
                  <a:pt x="72497" y="323852"/>
                  <a:pt x="0" y="251355"/>
                  <a:pt x="0" y="161926"/>
                </a:cubicBezTo>
                <a:cubicBezTo>
                  <a:pt x="0" y="72497"/>
                  <a:pt x="72497" y="0"/>
                  <a:pt x="161926" y="0"/>
                </a:cubicBezTo>
                <a:close/>
              </a:path>
            </a:pathLst>
          </a:custGeom>
          <a:solidFill>
            <a:srgbClr val="F67E1A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TW" altLang="en-US"/>
          </a:p>
        </p:txBody>
      </p:sp>
      <p:sp>
        <p:nvSpPr>
          <p:cNvPr id="14" name="手繪多邊形: 圖案 60">
            <a:hlinkClick r:id="" action="ppaction://hlinkshowjump?jump=firstslide"/>
            <a:hlinkHover r:id="" action="ppaction://noaction" highlightClick="1"/>
            <a:extLst>
              <a:ext uri="{FF2B5EF4-FFF2-40B4-BE49-F238E27FC236}">
                <a16:creationId xmlns:a16="http://schemas.microsoft.com/office/drawing/2014/main" id="{7E876445-D92D-7688-4795-DC0553814883}"/>
              </a:ext>
            </a:extLst>
          </p:cNvPr>
          <p:cNvSpPr>
            <a:spLocks noChangeAspect="1"/>
          </p:cNvSpPr>
          <p:nvPr/>
        </p:nvSpPr>
        <p:spPr>
          <a:xfrm>
            <a:off x="11150600" y="6462714"/>
            <a:ext cx="431800" cy="325437"/>
          </a:xfrm>
          <a:custGeom>
            <a:avLst/>
            <a:gdLst>
              <a:gd name="connsiteX0" fmla="*/ 162075 w 323852"/>
              <a:gd name="connsiteY0" fmla="*/ 49606 h 323852"/>
              <a:gd name="connsiteX1" fmla="*/ 44826 w 323852"/>
              <a:gd name="connsiteY1" fmla="*/ 166706 h 323852"/>
              <a:gd name="connsiteX2" fmla="*/ 88440 w 323852"/>
              <a:gd name="connsiteY2" fmla="*/ 166706 h 323852"/>
              <a:gd name="connsiteX3" fmla="*/ 88440 w 323852"/>
              <a:gd name="connsiteY3" fmla="*/ 274247 h 323852"/>
              <a:gd name="connsiteX4" fmla="*/ 140418 w 323852"/>
              <a:gd name="connsiteY4" fmla="*/ 274247 h 323852"/>
              <a:gd name="connsiteX5" fmla="*/ 140418 w 323852"/>
              <a:gd name="connsiteY5" fmla="*/ 207482 h 323852"/>
              <a:gd name="connsiteX6" fmla="*/ 183732 w 323852"/>
              <a:gd name="connsiteY6" fmla="*/ 207482 h 323852"/>
              <a:gd name="connsiteX7" fmla="*/ 183732 w 323852"/>
              <a:gd name="connsiteY7" fmla="*/ 274247 h 323852"/>
              <a:gd name="connsiteX8" fmla="*/ 234069 w 323852"/>
              <a:gd name="connsiteY8" fmla="*/ 274247 h 323852"/>
              <a:gd name="connsiteX9" fmla="*/ 234069 w 323852"/>
              <a:gd name="connsiteY9" fmla="*/ 166706 h 323852"/>
              <a:gd name="connsiteX10" fmla="*/ 279026 w 323852"/>
              <a:gd name="connsiteY10" fmla="*/ 166706 h 323852"/>
              <a:gd name="connsiteX11" fmla="*/ 161926 w 323852"/>
              <a:gd name="connsiteY11" fmla="*/ 0 h 323852"/>
              <a:gd name="connsiteX12" fmla="*/ 323852 w 323852"/>
              <a:gd name="connsiteY12" fmla="*/ 161926 h 323852"/>
              <a:gd name="connsiteX13" fmla="*/ 161926 w 323852"/>
              <a:gd name="connsiteY13" fmla="*/ 323852 h 323852"/>
              <a:gd name="connsiteX14" fmla="*/ 0 w 323852"/>
              <a:gd name="connsiteY14" fmla="*/ 161926 h 323852"/>
              <a:gd name="connsiteX15" fmla="*/ 161926 w 323852"/>
              <a:gd name="connsiteY15" fmla="*/ 0 h 32385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</a:cxnLst>
            <a:rect l="l" t="t" r="r" b="b"/>
            <a:pathLst>
              <a:path w="323852" h="323852">
                <a:moveTo>
                  <a:pt x="162075" y="49606"/>
                </a:moveTo>
                <a:lnTo>
                  <a:pt x="44826" y="166706"/>
                </a:lnTo>
                <a:lnTo>
                  <a:pt x="88440" y="166706"/>
                </a:lnTo>
                <a:lnTo>
                  <a:pt x="88440" y="274247"/>
                </a:lnTo>
                <a:lnTo>
                  <a:pt x="140418" y="274247"/>
                </a:lnTo>
                <a:lnTo>
                  <a:pt x="140418" y="207482"/>
                </a:lnTo>
                <a:lnTo>
                  <a:pt x="183732" y="207482"/>
                </a:lnTo>
                <a:lnTo>
                  <a:pt x="183732" y="274247"/>
                </a:lnTo>
                <a:lnTo>
                  <a:pt x="234069" y="274247"/>
                </a:lnTo>
                <a:lnTo>
                  <a:pt x="234069" y="166706"/>
                </a:lnTo>
                <a:lnTo>
                  <a:pt x="279026" y="166706"/>
                </a:lnTo>
                <a:close/>
                <a:moveTo>
                  <a:pt x="161926" y="0"/>
                </a:moveTo>
                <a:cubicBezTo>
                  <a:pt x="251355" y="0"/>
                  <a:pt x="323852" y="72497"/>
                  <a:pt x="323852" y="161926"/>
                </a:cubicBezTo>
                <a:cubicBezTo>
                  <a:pt x="323852" y="251355"/>
                  <a:pt x="251355" y="323852"/>
                  <a:pt x="161926" y="323852"/>
                </a:cubicBezTo>
                <a:cubicBezTo>
                  <a:pt x="72497" y="323852"/>
                  <a:pt x="0" y="251355"/>
                  <a:pt x="0" y="161926"/>
                </a:cubicBezTo>
                <a:cubicBezTo>
                  <a:pt x="0" y="72497"/>
                  <a:pt x="72497" y="0"/>
                  <a:pt x="161926" y="0"/>
                </a:cubicBezTo>
                <a:close/>
              </a:path>
            </a:pathLst>
          </a:custGeom>
          <a:solidFill>
            <a:srgbClr val="F67E1A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69191051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51" r:id="rId1"/>
    <p:sldLayoutId id="2147483652" r:id="rId2"/>
    <p:sldLayoutId id="2147483653" r:id="rId3"/>
    <p:sldLayoutId id="2147483654" r:id="rId4"/>
    <p:sldLayoutId id="2147483655" r:id="rId5"/>
    <p:sldLayoutId id="2147483656" r:id="rId6"/>
    <p:sldLayoutId id="2147483657" r:id="rId7"/>
    <p:sldLayoutId id="2147483658" r:id="rId8"/>
    <p:sldLayoutId id="2147483659" r:id="rId9"/>
    <p:sldLayoutId id="2147483660" r:id="rId10"/>
    <p:sldLayoutId id="2147483661" r:id="rId11"/>
  </p:sldLayoutIdLst>
  <p:txStyles>
    <p:titleStyle>
      <a:lvl1pPr algn="l" rtl="0" eaLnBrk="0" fontAlgn="base" hangingPunct="0">
        <a:spcBef>
          <a:spcPct val="0"/>
        </a:spcBef>
        <a:spcAft>
          <a:spcPct val="0"/>
        </a:spcAft>
        <a:buClr>
          <a:schemeClr val="tx1"/>
        </a:buClr>
        <a:defRPr sz="3200">
          <a:solidFill>
            <a:schemeClr val="tx1"/>
          </a:solidFill>
          <a:latin typeface="微軟正黑體" pitchFamily="34" charset="-120"/>
          <a:ea typeface="微軟正黑體" pitchFamily="34" charset="-120"/>
          <a:cs typeface="+mj-cs"/>
        </a:defRPr>
      </a:lvl1pPr>
      <a:lvl2pPr algn="l" rtl="0" eaLnBrk="0" fontAlgn="base" hangingPunct="0">
        <a:spcBef>
          <a:spcPct val="0"/>
        </a:spcBef>
        <a:spcAft>
          <a:spcPct val="0"/>
        </a:spcAft>
        <a:buClr>
          <a:schemeClr val="tx1"/>
        </a:buClr>
        <a:defRPr sz="3200">
          <a:solidFill>
            <a:schemeClr val="tx1"/>
          </a:solidFill>
          <a:latin typeface="微軟正黑體" pitchFamily="34" charset="-120"/>
          <a:ea typeface="微軟正黑體" pitchFamily="34" charset="-120"/>
        </a:defRPr>
      </a:lvl2pPr>
      <a:lvl3pPr algn="l" rtl="0" eaLnBrk="0" fontAlgn="base" hangingPunct="0">
        <a:spcBef>
          <a:spcPct val="0"/>
        </a:spcBef>
        <a:spcAft>
          <a:spcPct val="0"/>
        </a:spcAft>
        <a:buClr>
          <a:schemeClr val="tx1"/>
        </a:buClr>
        <a:defRPr sz="3200">
          <a:solidFill>
            <a:schemeClr val="tx1"/>
          </a:solidFill>
          <a:latin typeface="微軟正黑體" pitchFamily="34" charset="-120"/>
          <a:ea typeface="微軟正黑體" pitchFamily="34" charset="-120"/>
        </a:defRPr>
      </a:lvl3pPr>
      <a:lvl4pPr algn="l" rtl="0" eaLnBrk="0" fontAlgn="base" hangingPunct="0">
        <a:spcBef>
          <a:spcPct val="0"/>
        </a:spcBef>
        <a:spcAft>
          <a:spcPct val="0"/>
        </a:spcAft>
        <a:buClr>
          <a:schemeClr val="tx1"/>
        </a:buClr>
        <a:defRPr sz="3200">
          <a:solidFill>
            <a:schemeClr val="tx1"/>
          </a:solidFill>
          <a:latin typeface="微軟正黑體" pitchFamily="34" charset="-120"/>
          <a:ea typeface="微軟正黑體" pitchFamily="34" charset="-120"/>
        </a:defRPr>
      </a:lvl4pPr>
      <a:lvl5pPr algn="l" rtl="0" eaLnBrk="0" fontAlgn="base" hangingPunct="0">
        <a:spcBef>
          <a:spcPct val="0"/>
        </a:spcBef>
        <a:spcAft>
          <a:spcPct val="0"/>
        </a:spcAft>
        <a:buClr>
          <a:schemeClr val="tx1"/>
        </a:buClr>
        <a:defRPr sz="3200">
          <a:solidFill>
            <a:schemeClr val="tx1"/>
          </a:solidFill>
          <a:latin typeface="微軟正黑體" pitchFamily="34" charset="-120"/>
          <a:ea typeface="微軟正黑體" pitchFamily="34" charset="-120"/>
        </a:defRPr>
      </a:lvl5pPr>
      <a:lvl6pPr marL="457200" algn="l" rtl="0" eaLnBrk="1" fontAlgn="base" hangingPunct="1">
        <a:spcBef>
          <a:spcPct val="0"/>
        </a:spcBef>
        <a:spcAft>
          <a:spcPct val="0"/>
        </a:spcAft>
        <a:buClr>
          <a:schemeClr val="tx1"/>
        </a:buClr>
        <a:defRPr sz="3200">
          <a:solidFill>
            <a:schemeClr val="tx1"/>
          </a:solidFill>
          <a:latin typeface="Arial" charset="0"/>
        </a:defRPr>
      </a:lvl6pPr>
      <a:lvl7pPr marL="914400" algn="l" rtl="0" eaLnBrk="1" fontAlgn="base" hangingPunct="1">
        <a:spcBef>
          <a:spcPct val="0"/>
        </a:spcBef>
        <a:spcAft>
          <a:spcPct val="0"/>
        </a:spcAft>
        <a:buClr>
          <a:schemeClr val="tx1"/>
        </a:buClr>
        <a:defRPr sz="3200">
          <a:solidFill>
            <a:schemeClr val="tx1"/>
          </a:solidFill>
          <a:latin typeface="Arial" charset="0"/>
        </a:defRPr>
      </a:lvl7pPr>
      <a:lvl8pPr marL="1371600" algn="l" rtl="0" eaLnBrk="1" fontAlgn="base" hangingPunct="1">
        <a:spcBef>
          <a:spcPct val="0"/>
        </a:spcBef>
        <a:spcAft>
          <a:spcPct val="0"/>
        </a:spcAft>
        <a:buClr>
          <a:schemeClr val="tx1"/>
        </a:buClr>
        <a:defRPr sz="3200">
          <a:solidFill>
            <a:schemeClr val="tx1"/>
          </a:solidFill>
          <a:latin typeface="Arial" charset="0"/>
        </a:defRPr>
      </a:lvl8pPr>
      <a:lvl9pPr marL="1828800" algn="l" rtl="0" eaLnBrk="1" fontAlgn="base" hangingPunct="1">
        <a:spcBef>
          <a:spcPct val="0"/>
        </a:spcBef>
        <a:spcAft>
          <a:spcPct val="0"/>
        </a:spcAft>
        <a:buClr>
          <a:schemeClr val="tx1"/>
        </a:buClr>
        <a:defRPr sz="3200">
          <a:solidFill>
            <a:schemeClr val="tx1"/>
          </a:solidFill>
          <a:latin typeface="Arial" charset="0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Clr>
          <a:schemeClr val="tx1"/>
        </a:buClr>
        <a:buChar char="•"/>
        <a:defRPr sz="2400">
          <a:solidFill>
            <a:schemeClr val="tx1"/>
          </a:solidFill>
          <a:latin typeface="微軟正黑體" pitchFamily="34" charset="-120"/>
          <a:ea typeface="微軟正黑體" pitchFamily="34" charset="-120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Clr>
          <a:schemeClr val="tx1"/>
        </a:buClr>
        <a:buChar char="•"/>
        <a:defRPr sz="2400">
          <a:solidFill>
            <a:schemeClr val="tx1"/>
          </a:solidFill>
          <a:latin typeface="微軟正黑體" pitchFamily="34" charset="-120"/>
          <a:ea typeface="微軟正黑體" pitchFamily="34" charset="-120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Clr>
          <a:schemeClr val="tx1"/>
        </a:buClr>
        <a:buChar char="•"/>
        <a:defRPr sz="2400">
          <a:solidFill>
            <a:schemeClr val="tx1"/>
          </a:solidFill>
          <a:latin typeface="微軟正黑體" pitchFamily="34" charset="-120"/>
          <a:ea typeface="微軟正黑體" pitchFamily="34" charset="-120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Clr>
          <a:schemeClr val="tx1"/>
        </a:buClr>
        <a:buChar char="•"/>
        <a:defRPr sz="2400">
          <a:solidFill>
            <a:schemeClr val="tx1"/>
          </a:solidFill>
          <a:latin typeface="微軟正黑體" pitchFamily="34" charset="-120"/>
          <a:ea typeface="微軟正黑體" pitchFamily="34" charset="-120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Clr>
          <a:schemeClr val="tx1"/>
        </a:buClr>
        <a:buChar char="•"/>
        <a:defRPr sz="2400">
          <a:solidFill>
            <a:schemeClr val="tx1"/>
          </a:solidFill>
          <a:latin typeface="微軟正黑體" pitchFamily="34" charset="-120"/>
          <a:ea typeface="微軟正黑體" pitchFamily="34" charset="-120"/>
        </a:defRPr>
      </a:lvl5pPr>
      <a:lvl6pPr marL="2514600" indent="-228600" algn="l" rtl="0" eaLnBrk="1" fontAlgn="base" hangingPunct="1">
        <a:spcBef>
          <a:spcPct val="20000"/>
        </a:spcBef>
        <a:spcAft>
          <a:spcPct val="0"/>
        </a:spcAft>
        <a:buClr>
          <a:schemeClr val="tx1"/>
        </a:buClr>
        <a:buChar char="•"/>
        <a:defRPr sz="2400">
          <a:solidFill>
            <a:schemeClr val="tx1"/>
          </a:solidFill>
          <a:latin typeface="+mn-lt"/>
        </a:defRPr>
      </a:lvl6pPr>
      <a:lvl7pPr marL="2971800" indent="-228600" algn="l" rtl="0" eaLnBrk="1" fontAlgn="base" hangingPunct="1">
        <a:spcBef>
          <a:spcPct val="20000"/>
        </a:spcBef>
        <a:spcAft>
          <a:spcPct val="0"/>
        </a:spcAft>
        <a:buClr>
          <a:schemeClr val="tx1"/>
        </a:buClr>
        <a:buChar char="•"/>
        <a:defRPr sz="2400">
          <a:solidFill>
            <a:schemeClr val="tx1"/>
          </a:solidFill>
          <a:latin typeface="+mn-lt"/>
        </a:defRPr>
      </a:lvl7pPr>
      <a:lvl8pPr marL="3429000" indent="-228600" algn="l" rtl="0" eaLnBrk="1" fontAlgn="base" hangingPunct="1">
        <a:spcBef>
          <a:spcPct val="20000"/>
        </a:spcBef>
        <a:spcAft>
          <a:spcPct val="0"/>
        </a:spcAft>
        <a:buClr>
          <a:schemeClr val="tx1"/>
        </a:buClr>
        <a:buChar char="•"/>
        <a:defRPr sz="2400">
          <a:solidFill>
            <a:schemeClr val="tx1"/>
          </a:solidFill>
          <a:latin typeface="+mn-lt"/>
        </a:defRPr>
      </a:lvl8pPr>
      <a:lvl9pPr marL="3886200" indent="-228600" algn="l" rtl="0" eaLnBrk="1" fontAlgn="base" hangingPunct="1">
        <a:spcBef>
          <a:spcPct val="20000"/>
        </a:spcBef>
        <a:spcAft>
          <a:spcPct val="0"/>
        </a:spcAft>
        <a:buClr>
          <a:schemeClr val="tx1"/>
        </a:buClr>
        <a:buChar char="•"/>
        <a:defRPr sz="2400">
          <a:solidFill>
            <a:schemeClr val="tx1"/>
          </a:solidFill>
          <a:latin typeface="+mn-lt"/>
        </a:defRPr>
      </a:lvl9pPr>
    </p:bodyStyle>
    <p:otherStyle>
      <a:defPPr>
        <a:defRPr lang="zh-TW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標題版面配置區 21"/>
          <p:cNvSpPr>
            <a:spLocks noGrp="1"/>
          </p:cNvSpPr>
          <p:nvPr>
            <p:ph type="title"/>
          </p:nvPr>
        </p:nvSpPr>
        <p:spPr>
          <a:xfrm>
            <a:off x="812800" y="836712"/>
            <a:ext cx="10871200" cy="576064"/>
          </a:xfrm>
          <a:prstGeom prst="rect">
            <a:avLst/>
          </a:prstGeom>
        </p:spPr>
        <p:txBody>
          <a:bodyPr vert="horz" anchor="ctr">
            <a:normAutofit/>
          </a:bodyPr>
          <a:lstStyle/>
          <a:p>
            <a:r>
              <a:rPr kumimoji="0" lang="zh-TW" altLang="en-US" dirty="0"/>
              <a:t>按一下以編輯母片標題樣式</a:t>
            </a:r>
            <a:endParaRPr kumimoji="0" lang="en-US" dirty="0"/>
          </a:p>
        </p:txBody>
      </p:sp>
      <p:sp>
        <p:nvSpPr>
          <p:cNvPr id="13" name="文字版面配置區 12"/>
          <p:cNvSpPr>
            <a:spLocks noGrp="1"/>
          </p:cNvSpPr>
          <p:nvPr>
            <p:ph type="body" idx="1"/>
          </p:nvPr>
        </p:nvSpPr>
        <p:spPr>
          <a:xfrm>
            <a:off x="816864" y="1484784"/>
            <a:ext cx="10871200" cy="4526280"/>
          </a:xfrm>
          <a:prstGeom prst="rect">
            <a:avLst/>
          </a:prstGeom>
        </p:spPr>
        <p:txBody>
          <a:bodyPr vert="horz">
            <a:noAutofit/>
          </a:bodyPr>
          <a:lstStyle/>
          <a:p>
            <a:pPr lvl="0" eaLnBrk="1" latinLnBrk="0" hangingPunct="1"/>
            <a:r>
              <a:rPr kumimoji="0" lang="zh-TW" altLang="en-US" dirty="0"/>
              <a:t>按一下以編輯母片文字樣式</a:t>
            </a:r>
          </a:p>
          <a:p>
            <a:pPr lvl="1" eaLnBrk="1" latinLnBrk="0" hangingPunct="1"/>
            <a:r>
              <a:rPr kumimoji="0" lang="zh-TW" altLang="en-US" dirty="0"/>
              <a:t>第二層</a:t>
            </a:r>
          </a:p>
          <a:p>
            <a:pPr lvl="2" eaLnBrk="1" latinLnBrk="0" hangingPunct="1"/>
            <a:r>
              <a:rPr kumimoji="0" lang="zh-TW" altLang="en-US" dirty="0"/>
              <a:t>第三層</a:t>
            </a:r>
          </a:p>
          <a:p>
            <a:pPr lvl="3" eaLnBrk="1" latinLnBrk="0" hangingPunct="1"/>
            <a:r>
              <a:rPr kumimoji="0" lang="zh-TW" altLang="en-US" dirty="0"/>
              <a:t>第四層</a:t>
            </a:r>
            <a:endParaRPr kumimoji="0" lang="en-US" altLang="zh-TW" dirty="0"/>
          </a:p>
          <a:p>
            <a:pPr lvl="4" eaLnBrk="1" latinLnBrk="0" hangingPunct="1"/>
            <a:r>
              <a:rPr kumimoji="0" lang="zh-TW" altLang="en-US" dirty="0"/>
              <a:t>第五層</a:t>
            </a:r>
            <a:endParaRPr kumimoji="0" lang="en-US" altLang="zh-TW" dirty="0"/>
          </a:p>
          <a:p>
            <a:pPr lvl="5" eaLnBrk="1" latinLnBrk="0" hangingPunct="1"/>
            <a:endParaRPr kumimoji="0" lang="en-US" altLang="zh-TW" dirty="0"/>
          </a:p>
          <a:p>
            <a:pPr lvl="5" eaLnBrk="1" latinLnBrk="0" hangingPunct="1"/>
            <a:endParaRPr kumimoji="0" lang="en-US" altLang="zh-TW" dirty="0"/>
          </a:p>
          <a:p>
            <a:pPr lvl="5" eaLnBrk="1" latinLnBrk="0" hangingPunct="1"/>
            <a:endParaRPr kumimoji="0" lang="en-US" altLang="zh-TW" dirty="0"/>
          </a:p>
          <a:p>
            <a:pPr lvl="6" eaLnBrk="1" latinLnBrk="0" hangingPunct="1"/>
            <a:endParaRPr kumimoji="0" lang="en-US" altLang="zh-TW" dirty="0"/>
          </a:p>
          <a:p>
            <a:pPr lvl="5" eaLnBrk="1" latinLnBrk="0" hangingPunct="1"/>
            <a:endParaRPr kumimoji="0" lang="en-US" altLang="zh-TW" dirty="0"/>
          </a:p>
          <a:p>
            <a:pPr lvl="5" eaLnBrk="1" latinLnBrk="0" hangingPunct="1"/>
            <a:endParaRPr kumimoji="0" lang="en-US" altLang="zh-TW" dirty="0"/>
          </a:p>
        </p:txBody>
      </p:sp>
    </p:spTree>
    <p:extLst>
      <p:ext uri="{BB962C8B-B14F-4D97-AF65-F5344CB8AC3E}">
        <p14:creationId xmlns:p14="http://schemas.microsoft.com/office/powerpoint/2010/main" val="251502002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3" r:id="rId1"/>
    <p:sldLayoutId id="2147483664" r:id="rId2"/>
    <p:sldLayoutId id="2147483665" r:id="rId3"/>
    <p:sldLayoutId id="2147483666" r:id="rId4"/>
    <p:sldLayoutId id="2147483667" r:id="rId5"/>
    <p:sldLayoutId id="2147483668" r:id="rId6"/>
    <p:sldLayoutId id="2147483669" r:id="rId7"/>
    <p:sldLayoutId id="2147483670" r:id="rId8"/>
    <p:sldLayoutId id="2147483671" r:id="rId9"/>
    <p:sldLayoutId id="2147483672" r:id="rId10"/>
  </p:sldLayoutIdLst>
  <p:txStyles>
    <p:titleStyle>
      <a:lvl1pPr marL="216000" indent="-216000" algn="l" rtl="0" eaLnBrk="1" latinLnBrk="0" hangingPunct="1">
        <a:lnSpc>
          <a:spcPts val="3400"/>
        </a:lnSpc>
        <a:spcBef>
          <a:spcPct val="0"/>
        </a:spcBef>
        <a:buSzPct val="80000"/>
        <a:buFontTx/>
        <a:buNone/>
        <a:defRPr kumimoji="0" sz="3200" b="1" u="none" kern="1200" baseline="0">
          <a:solidFill>
            <a:schemeClr val="tx1">
              <a:lumMod val="65000"/>
              <a:lumOff val="35000"/>
            </a:schemeClr>
          </a:solidFill>
          <a:latin typeface="Arial" pitchFamily="34" charset="0"/>
          <a:ea typeface="+mj-ea"/>
          <a:cs typeface="+mj-cs"/>
        </a:defRPr>
      </a:lvl1pPr>
    </p:titleStyle>
    <p:bodyStyle>
      <a:lvl1pPr marL="0" indent="0" algn="l" rtl="0" eaLnBrk="1" latinLnBrk="0" hangingPunct="1">
        <a:lnSpc>
          <a:spcPct val="150000"/>
        </a:lnSpc>
        <a:spcBef>
          <a:spcPts val="0"/>
        </a:spcBef>
        <a:buClr>
          <a:schemeClr val="accent3">
            <a:lumMod val="75000"/>
          </a:schemeClr>
        </a:buClr>
        <a:buSzPct val="100000"/>
        <a:buFontTx/>
        <a:buNone/>
        <a:defRPr kumimoji="0" sz="3200" b="1" u="none" kern="1200" baseline="0">
          <a:solidFill>
            <a:schemeClr val="tx1">
              <a:lumMod val="65000"/>
              <a:lumOff val="35000"/>
            </a:schemeClr>
          </a:solidFill>
          <a:latin typeface="Arial" pitchFamily="34" charset="0"/>
          <a:ea typeface="+mj-ea"/>
          <a:cs typeface="+mn-cs"/>
        </a:defRPr>
      </a:lvl1pPr>
      <a:lvl2pPr marL="0" indent="0" algn="l" rtl="0" eaLnBrk="1" latinLnBrk="0" hangingPunct="1">
        <a:lnSpc>
          <a:spcPct val="100000"/>
        </a:lnSpc>
        <a:spcBef>
          <a:spcPts val="1200"/>
        </a:spcBef>
        <a:buClr>
          <a:schemeClr val="accent3">
            <a:lumMod val="75000"/>
          </a:schemeClr>
        </a:buClr>
        <a:buSzPct val="90000"/>
        <a:buFontTx/>
        <a:buNone/>
        <a:defRPr kumimoji="0" sz="2800" b="1" kern="1200">
          <a:solidFill>
            <a:srgbClr val="8FC320"/>
          </a:solidFill>
          <a:latin typeface="+mj-ea"/>
          <a:ea typeface="+mj-ea"/>
          <a:cs typeface="+mn-cs"/>
        </a:defRPr>
      </a:lvl2pPr>
      <a:lvl3pPr marL="360000" indent="-360000" algn="l" rtl="0" eaLnBrk="1" latinLnBrk="0" hangingPunct="1">
        <a:lnSpc>
          <a:spcPct val="100000"/>
        </a:lnSpc>
        <a:spcBef>
          <a:spcPts val="1200"/>
        </a:spcBef>
        <a:spcAft>
          <a:spcPts val="200"/>
        </a:spcAft>
        <a:buClr>
          <a:srgbClr val="AE2A7F"/>
        </a:buClr>
        <a:buSzPct val="90000"/>
        <a:buFontTx/>
        <a:buNone/>
        <a:defRPr kumimoji="0" sz="2500" b="1" u="dottedHeavy" kern="1200" baseline="0">
          <a:solidFill>
            <a:srgbClr val="C67A48"/>
          </a:solidFill>
          <a:latin typeface="+mj-ea"/>
          <a:ea typeface="+mj-ea"/>
          <a:cs typeface="+mn-cs"/>
        </a:defRPr>
      </a:lvl3pPr>
      <a:lvl4pPr marL="0" indent="-288000" algn="l" rtl="0" eaLnBrk="1" latinLnBrk="0" hangingPunct="1">
        <a:lnSpc>
          <a:spcPts val="2800"/>
        </a:lnSpc>
        <a:spcBef>
          <a:spcPts val="800"/>
        </a:spcBef>
        <a:spcAft>
          <a:spcPts val="0"/>
        </a:spcAft>
        <a:buClr>
          <a:srgbClr val="AE2A7F"/>
        </a:buClr>
        <a:buSzPct val="90000"/>
        <a:buFontTx/>
        <a:buNone/>
        <a:defRPr kumimoji="0" sz="1800" kern="1200">
          <a:solidFill>
            <a:schemeClr val="tx1"/>
          </a:solidFill>
          <a:latin typeface="+mj-ea"/>
          <a:ea typeface="+mj-ea"/>
          <a:cs typeface="+mn-cs"/>
        </a:defRPr>
      </a:lvl4pPr>
      <a:lvl5pPr marL="360000" marR="0" indent="-342900" algn="l" defTabSz="914400" rtl="0" eaLnBrk="1" fontAlgn="auto" latinLnBrk="0" hangingPunct="1">
        <a:lnSpc>
          <a:spcPts val="2800"/>
        </a:lnSpc>
        <a:spcBef>
          <a:spcPts val="600"/>
        </a:spcBef>
        <a:spcAft>
          <a:spcPts val="0"/>
        </a:spcAft>
        <a:buClrTx/>
        <a:buSzPct val="100000"/>
        <a:buFont typeface="+mj-lt"/>
        <a:buAutoNum type="arabicPeriod"/>
        <a:tabLst/>
        <a:defRPr kumimoji="0" sz="1800" b="0" kern="1200">
          <a:solidFill>
            <a:schemeClr val="tx1"/>
          </a:solidFill>
          <a:latin typeface="+mj-ea"/>
          <a:ea typeface="+mj-ea"/>
          <a:cs typeface="+mn-cs"/>
        </a:defRPr>
      </a:lvl5pPr>
      <a:lvl6pPr marL="360000" indent="-342000" algn="l" rtl="0" eaLnBrk="1" latinLnBrk="0" hangingPunct="1">
        <a:lnSpc>
          <a:spcPct val="100000"/>
        </a:lnSpc>
        <a:spcBef>
          <a:spcPts val="600"/>
        </a:spcBef>
        <a:buClr>
          <a:srgbClr val="C67A48"/>
        </a:buClr>
        <a:buFont typeface="Wingdings" pitchFamily="2" charset="2"/>
        <a:buChar char="n"/>
        <a:defRPr kumimoji="0" sz="1800" kern="1200" baseline="0">
          <a:solidFill>
            <a:schemeClr val="tx1"/>
          </a:solidFill>
          <a:latin typeface="+mn-ea"/>
          <a:ea typeface="+mn-ea"/>
          <a:cs typeface="+mn-cs"/>
        </a:defRPr>
      </a:lvl6pPr>
      <a:lvl7pPr marL="936000" indent="-228600" algn="l" rtl="0" eaLnBrk="1" latinLnBrk="0" hangingPunct="1">
        <a:spcBef>
          <a:spcPts val="600"/>
        </a:spcBef>
        <a:buClrTx/>
        <a:buFont typeface="Wingdings" pitchFamily="2" charset="2"/>
        <a:buChar char="n"/>
        <a:defRPr kumimoji="0" sz="2000" kern="1200" baseline="0">
          <a:solidFill>
            <a:schemeClr val="tx1"/>
          </a:solidFill>
          <a:latin typeface="+mn-lt"/>
          <a:ea typeface="+mn-ea"/>
          <a:cs typeface="+mn-cs"/>
        </a:defRPr>
      </a:lvl7pPr>
      <a:lvl8pPr marL="2651760" indent="-228600" algn="l" rtl="0" eaLnBrk="1" latinLnBrk="0" hangingPunct="1">
        <a:spcBef>
          <a:spcPct val="20000"/>
        </a:spcBef>
        <a:buClr>
          <a:schemeClr val="accent3"/>
        </a:buClr>
        <a:buFont typeface="Wingdings"/>
        <a:buChar char="§"/>
        <a:defRPr kumimoji="0" sz="1800" kern="1200" baseline="0">
          <a:solidFill>
            <a:schemeClr val="tx1"/>
          </a:solidFill>
          <a:latin typeface="+mn-lt"/>
          <a:ea typeface="+mn-ea"/>
          <a:cs typeface="+mn-cs"/>
        </a:defRPr>
      </a:lvl8pPr>
      <a:lvl9pPr marL="2926080" indent="-228600" algn="l" rtl="0" eaLnBrk="1" latinLnBrk="0" hangingPunct="1">
        <a:spcBef>
          <a:spcPct val="20000"/>
        </a:spcBef>
        <a:buClr>
          <a:schemeClr val="accent4"/>
        </a:buClr>
        <a:buFont typeface="Wingdings"/>
        <a:buChar char="§"/>
        <a:defRPr kumimoji="0" sz="1800" kern="1200" baseline="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lvl1pPr marL="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hyperlink" Target="https://code.visualstudio.com/" TargetMode="External"/><Relationship Id="rId3" Type="http://schemas.openxmlformats.org/officeDocument/2006/relationships/image" Target="../media/image5.jpeg"/><Relationship Id="rId7" Type="http://schemas.openxmlformats.org/officeDocument/2006/relationships/hyperlink" Target="https://thonny.org/" TargetMode="External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6" Type="http://schemas.openxmlformats.org/officeDocument/2006/relationships/hyperlink" Target="https://pythontutor.com/" TargetMode="External"/><Relationship Id="rId5" Type="http://schemas.openxmlformats.org/officeDocument/2006/relationships/hyperlink" Target="https://www.learnpython.org/" TargetMode="External"/><Relationship Id="rId4" Type="http://schemas.openxmlformats.org/officeDocument/2006/relationships/hyperlink" Target="https://docs.python.org/zh-tw/3.10/index.html" TargetMode="External"/><Relationship Id="rId9" Type="http://schemas.openxmlformats.org/officeDocument/2006/relationships/hyperlink" Target="https://colab.research.google.com/?hl=zh-tw" TargetMode="Externa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hyperlink" Target="https://en.wikipedia.org/wiki/Guido_van_Rossum" TargetMode="External"/><Relationship Id="rId2" Type="http://schemas.openxmlformats.org/officeDocument/2006/relationships/hyperlink" Target="https://steam.oxxostudio.tw/category/python/info/index.html" TargetMode="Externa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7.jpeg"/><Relationship Id="rId5" Type="http://schemas.openxmlformats.org/officeDocument/2006/relationships/hyperlink" Target="https://www.googleadservices.com/pagead/aclk?sa=L&amp;ai=CoHw14eLWaumxC5O32roPyIjowA7146f_iQHo97nH0xb6z5uj6Q4QASCZ8rhLYJ8BoAG16rH8P8gBAakCpBlI45-glT6oAwHIA8kEqgSgAk_Q0DNYzxXqN0DSuNqekYuaohD6LRmuIn7eb5tZWDZf9lUtNFjhgTbL4j_lZWPhjC9yPnlYopxySNizs4hhEs7xfY_ppWNv5MCLrd5rVYtmCugiD0IAFbcyAWPAmuv-kT8LN_GT04HR18Qgha6KbcC1dVHcnQ3sV-p7FcyMtOtGHPhlFRaEh6u6YyJhimIK25ki5zoOHcnqrNxJr4-sMbyeRe-HSsDw3O4v3j0bQitGJAMeK0k1VHqJYj4ypI86B1HuMJ7cy1ibwBrpssghN0kdiCFEguD_y2zSm-gcJmk7eDaKSsDzrXzTFbgtFDZ6c4v2fAmMLxEkCLtbecatbLLSiIzxkepT9-PZlqtdPOlswfrNDk_vs1oUCAg_krxYqcAEwOSA7YQGiAWPk7fKWqAGAoAHtaKC3BqoB6fMsQKoB6a-G6gHzM6xAqgH89EbqAeW2BuoB6qbsQKoB_7osQKoB47OG6gHk9gbqAfw4BuoB-6WsQKoB_6esQKoB6--sQKoB5_hsQKoB6brsQKoB9XJG6gH2baxAqgHmgaoB_-esQKoB9-fsQKoB_jCsQKoB_vCsQLYBwHSCDoIhOGAQBABGJ4DMgiLwoCOgICACDoUmtCAgICABJDAgICAoKiAAqiBgBhIvf3BOliC9aG71seXA2ABsQlk_Xh27r-NzIAKAZgLAcgLAaoNAlRXyA0B6g0TCPerorvWx5cDFZObVgEdSAQa6PANAogOCdgTDNAVAcoWAgoA-BYBgBcBshcQGAEqCjUxMDA1NTMwNTVQBroXAjgBqhgXCQAAAAAAXPVAEgo1MTAwNTUzMDU1GAGyGAkSArBTGAIiAQDQGAHCGQIIAQ&amp;ae=1&amp;gclid=EAIaIQobChMIqaaiu9bHlwMVk5tWAR1IBBroEAEYASAAEgI3WvD_BwE&amp;num=1&amp;cid=CAQS5AEAQM4h3PYttSifV6z7XoOmyrqBlMNeo09xQW9a9xfcf-q3ueM7piTp44Sy3Nnf-jwv3pTpW6VPIfgo2UsNm-EBYZk-2FTpk0ZZdpsRm_O-bt65ZzlQMDm0aLNROW3qq45wrrngfIeSIAE0hwiH3VyqQ8Wb4ZFjr8aKwiBwpUFsMCng1bykmfmaOY4TF_62uOL3hcwesbRePFLjnNmV6Mig71peN72UmzV5bRBx6eRSIFXqGJaZzUtpu5emmipxW7t6HIMBJm0rps3-MqKeziKYpznX9Qhea_q4j0Q0Nd-9bIG5IzMYAQ&amp;sig=AOD64_3y9uBgK1_YH57nzKsJsjFnRdIiqw&amp;rf=2&amp;nb=2&amp;adurl=https://go.dinorungames.com/jsp/redirect/landing_pages/68647917/index.jsp%3Futm_campaign%3D24315283855%26rpeb%3D0000000101_us_cpa%26gad_source%3D5%26gad_campaignid%3D24315283855%26gclid%3DEAIaIQobChMIqaaiu9bHlwMVk5tWAR1IBBroEAEYASAAEgI3WvD_BwE" TargetMode="External"/><Relationship Id="rId4" Type="http://schemas.openxmlformats.org/officeDocument/2006/relationships/image" Target="../media/image6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hyperlink" Target="https://insights.stackoverflow.com/survey/2020#technology-most-loved-dreaded-and-wanted-languages-wanted" TargetMode="External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hyperlink" Target="https://steam.oxxostudio.tw/category/python/info/online-editor.html" TargetMode="External"/><Relationship Id="rId1" Type="http://schemas.openxmlformats.org/officeDocument/2006/relationships/slideLayout" Target="../slideLayouts/slideLayout1.xml"/><Relationship Id="rId4" Type="http://schemas.openxmlformats.org/officeDocument/2006/relationships/hyperlink" Target="https://colab.research.google.com/notebooks/welcome.ipynb?hl=zh_tw" TargetMode="Externa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python.org/downloads/" TargetMode="External"/><Relationship Id="rId2" Type="http://schemas.openxmlformats.org/officeDocument/2006/relationships/hyperlink" Target="https://steam.oxxostudio.tw/category/python/info/virtualenv.html" TargetMode="Externa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13" Type="http://schemas.openxmlformats.org/officeDocument/2006/relationships/hyperlink" Target="https://steam.oxxostudio.tw/category/python/example/guess-number.html" TargetMode="External"/><Relationship Id="rId18" Type="http://schemas.openxmlformats.org/officeDocument/2006/relationships/hyperlink" Target="https://steam.oxxostudio.tw/category/python/example/id-number.html" TargetMode="External"/><Relationship Id="rId26" Type="http://schemas.openxmlformats.org/officeDocument/2006/relationships/hyperlink" Target="https://steam.oxxostudio.tw/category/python/example/prime-factor.html" TargetMode="External"/><Relationship Id="rId39" Type="http://schemas.openxmlformats.org/officeDocument/2006/relationships/hyperlink" Target="https://steam.oxxostudio.tw/category/python/example/files-rename.html" TargetMode="External"/><Relationship Id="rId21" Type="http://schemas.openxmlformats.org/officeDocument/2006/relationships/hyperlink" Target="https://steam.oxxostudio.tw/category/python/example/roman.html" TargetMode="External"/><Relationship Id="rId34" Type="http://schemas.openxmlformats.org/officeDocument/2006/relationships/hyperlink" Target="https://steam.oxxostudio.tw/category/python/example/matplotlib-index.html" TargetMode="External"/><Relationship Id="rId42" Type="http://schemas.openxmlformats.org/officeDocument/2006/relationships/hyperlink" Target="https://steam.oxxostudio.tw/category/python/example/excel-read.html" TargetMode="External"/><Relationship Id="rId47" Type="http://schemas.openxmlformats.org/officeDocument/2006/relationships/hyperlink" Target="https://steam.oxxostudio.tw/category/python/example/psutil.html" TargetMode="External"/><Relationship Id="rId50" Type="http://schemas.openxmlformats.org/officeDocument/2006/relationships/hyperlink" Target="https://steam.oxxostudio.tw/category/python/example/ping-ip.html" TargetMode="External"/><Relationship Id="rId7" Type="http://schemas.openxmlformats.org/officeDocument/2006/relationships/hyperlink" Target="https://steam.oxxostudio.tw/category/python/example/find-center.html" TargetMode="External"/><Relationship Id="rId2" Type="http://schemas.openxmlformats.org/officeDocument/2006/relationships/hyperlink" Target="https://steam.oxxostudio.tw/category/python/example/electricity-bill.html" TargetMode="External"/><Relationship Id="rId16" Type="http://schemas.openxmlformats.org/officeDocument/2006/relationships/hyperlink" Target="https://steam.oxxostudio.tw/category/python/example/bmi.html" TargetMode="External"/><Relationship Id="rId29" Type="http://schemas.openxmlformats.org/officeDocument/2006/relationships/hyperlink" Target="https://steam.oxxostudio.tw/category/python/example/hcf.html" TargetMode="External"/><Relationship Id="rId11" Type="http://schemas.openxmlformats.org/officeDocument/2006/relationships/hyperlink" Target="https://steam.oxxostudio.tw/category/python/example/star-pyramid.html" TargetMode="External"/><Relationship Id="rId24" Type="http://schemas.openxmlformats.org/officeDocument/2006/relationships/hyperlink" Target="https://steam.oxxostudio.tw/category/python/example/fibonacci.html" TargetMode="External"/><Relationship Id="rId32" Type="http://schemas.openxmlformats.org/officeDocument/2006/relationships/hyperlink" Target="https://steam.oxxostudio.tw/category/python/ai/opencv-index.html" TargetMode="External"/><Relationship Id="rId37" Type="http://schemas.openxmlformats.org/officeDocument/2006/relationships/hyperlink" Target="https://steam.oxxostudio.tw/category/python/example/screenshot.html" TargetMode="External"/><Relationship Id="rId40" Type="http://schemas.openxmlformats.org/officeDocument/2006/relationships/hyperlink" Target="https://steam.oxxostudio.tw/category/python/example/pdfplumber.html" TargetMode="External"/><Relationship Id="rId45" Type="http://schemas.openxmlformats.org/officeDocument/2006/relationships/hyperlink" Target="https://steam.oxxostudio.tw/category/python/example/qrcode.html" TargetMode="External"/><Relationship Id="rId5" Type="http://schemas.openxmlformats.org/officeDocument/2006/relationships/hyperlink" Target="https://steam.oxxostudio.tw/category/python/example/check-year.html" TargetMode="External"/><Relationship Id="rId15" Type="http://schemas.openxmlformats.org/officeDocument/2006/relationships/hyperlink" Target="https://steam.oxxostudio.tw/category/python/example/clock.html" TargetMode="External"/><Relationship Id="rId23" Type="http://schemas.openxmlformats.org/officeDocument/2006/relationships/hyperlink" Target="https://steam.oxxostudio.tw/category/python/example/sum.html" TargetMode="External"/><Relationship Id="rId28" Type="http://schemas.openxmlformats.org/officeDocument/2006/relationships/hyperlink" Target="https://steam.oxxostudio.tw/category/python/example/lcm.html" TargetMode="External"/><Relationship Id="rId36" Type="http://schemas.openxmlformats.org/officeDocument/2006/relationships/hyperlink" Target="https://steam.oxxostudio.tw/category/python/tkinter/index.html" TargetMode="External"/><Relationship Id="rId49" Type="http://schemas.openxmlformats.org/officeDocument/2006/relationships/hyperlink" Target="https://steam.oxxostudio.tw/category/python/example/ip.html" TargetMode="External"/><Relationship Id="rId10" Type="http://schemas.openxmlformats.org/officeDocument/2006/relationships/hyperlink" Target="https://steam.oxxostudio.tw/category/python/example/progress-bar.html" TargetMode="External"/><Relationship Id="rId19" Type="http://schemas.openxmlformats.org/officeDocument/2006/relationships/hyperlink" Target="https://steam.oxxostudio.tw/category/python/example/id-number-check.html" TargetMode="External"/><Relationship Id="rId31" Type="http://schemas.openxmlformats.org/officeDocument/2006/relationships/hyperlink" Target="https://steam.oxxostudio.tw/category/python/example/line-bot.html" TargetMode="External"/><Relationship Id="rId44" Type="http://schemas.openxmlformats.org/officeDocument/2006/relationships/hyperlink" Target="https://steam.oxxostudio.tw/category/python/example/excel-csv.html" TargetMode="External"/><Relationship Id="rId4" Type="http://schemas.openxmlformats.org/officeDocument/2006/relationships/hyperlink" Target="https://steam.oxxostudio.tw/category/python/example/inch-cm.html" TargetMode="External"/><Relationship Id="rId9" Type="http://schemas.openxmlformats.org/officeDocument/2006/relationships/hyperlink" Target="https://steam.oxxostudio.tw/category/python/example/lots-numbers.html" TargetMode="External"/><Relationship Id="rId14" Type="http://schemas.openxmlformats.org/officeDocument/2006/relationships/hyperlink" Target="https://steam.oxxostudio.tw/category/python/example/guess-number-ab.html" TargetMode="External"/><Relationship Id="rId22" Type="http://schemas.openxmlformats.org/officeDocument/2006/relationships/hyperlink" Target="https://steam.oxxostudio.tw/category/python/example/arithmetics.html" TargetMode="External"/><Relationship Id="rId27" Type="http://schemas.openxmlformats.org/officeDocument/2006/relationships/hyperlink" Target="https://steam.oxxostudio.tw/category/python/example/find-prime.html" TargetMode="External"/><Relationship Id="rId30" Type="http://schemas.openxmlformats.org/officeDocument/2006/relationships/hyperlink" Target="https://steam.oxxostudio.tw/category/python/spider/spider.html" TargetMode="External"/><Relationship Id="rId35" Type="http://schemas.openxmlformats.org/officeDocument/2006/relationships/hyperlink" Target="https://steam.oxxostudio.tw/category/python/numpy/numpy.html" TargetMode="External"/><Relationship Id="rId43" Type="http://schemas.openxmlformats.org/officeDocument/2006/relationships/hyperlink" Target="https://steam.oxxostudio.tw/category/python/example/excel-write.html" TargetMode="External"/><Relationship Id="rId48" Type="http://schemas.openxmlformats.org/officeDocument/2006/relationships/hyperlink" Target="https://steam.oxxostudio.tw/category/python/example/screen-size.html" TargetMode="External"/><Relationship Id="rId8" Type="http://schemas.openxmlformats.org/officeDocument/2006/relationships/hyperlink" Target="https://steam.oxxostudio.tw/category/python/example/remove-blank.html" TargetMode="External"/><Relationship Id="rId3" Type="http://schemas.openxmlformats.org/officeDocument/2006/relationships/hyperlink" Target="https://steam.oxxostudio.tw/category/python/example/c-f.html" TargetMode="External"/><Relationship Id="rId12" Type="http://schemas.openxmlformats.org/officeDocument/2006/relationships/hyperlink" Target="https://steam.oxxostudio.tw/category/python/example/numbers-pyramid.html" TargetMode="External"/><Relationship Id="rId17" Type="http://schemas.openxmlformats.org/officeDocument/2006/relationships/hyperlink" Target="https://steam.oxxostudio.tw/category/python/example/count-age.html" TargetMode="External"/><Relationship Id="rId25" Type="http://schemas.openxmlformats.org/officeDocument/2006/relationships/hyperlink" Target="https://steam.oxxostudio.tw/category/python/example/9x9-table.html" TargetMode="External"/><Relationship Id="rId33" Type="http://schemas.openxmlformats.org/officeDocument/2006/relationships/hyperlink" Target="https://steam.oxxostudio.tw/category/python/ai/ai-index.html" TargetMode="External"/><Relationship Id="rId38" Type="http://schemas.openxmlformats.org/officeDocument/2006/relationships/hyperlink" Target="https://steam.oxxostudio.tw/category/python/example/send-screenshot.html" TargetMode="External"/><Relationship Id="rId46" Type="http://schemas.openxmlformats.org/officeDocument/2006/relationships/hyperlink" Target="https://steam.oxxostudio.tw/category/python/example/barcode.html" TargetMode="External"/><Relationship Id="rId20" Type="http://schemas.openxmlformats.org/officeDocument/2006/relationships/hyperlink" Target="https://steam.oxxostudio.tw/category/python/example/invoice.html" TargetMode="External"/><Relationship Id="rId41" Type="http://schemas.openxmlformats.org/officeDocument/2006/relationships/hyperlink" Target="https://steam.oxxostudio.tw/category/python/example/pdf-merge-split.html" TargetMode="External"/><Relationship Id="rId1" Type="http://schemas.openxmlformats.org/officeDocument/2006/relationships/slideLayout" Target="../slideLayouts/slideLayout1.xml"/><Relationship Id="rId6" Type="http://schemas.openxmlformats.org/officeDocument/2006/relationships/hyperlink" Target="https://steam.oxxostudio.tw/category/python/example/find-no-repeat.html" TargetMode="Externa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3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1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1.xml.rels><?xml version="1.0" encoding="UTF-8" standalone="yes"?>
<Relationships xmlns="http://schemas.openxmlformats.org/package/2006/relationships"><Relationship Id="rId8" Type="http://schemas.openxmlformats.org/officeDocument/2006/relationships/image" Target="../media/image19.gif"/><Relationship Id="rId3" Type="http://schemas.openxmlformats.org/officeDocument/2006/relationships/slide" Target="slide40.xml"/><Relationship Id="rId7" Type="http://schemas.openxmlformats.org/officeDocument/2006/relationships/slide" Target="slide69.xml"/><Relationship Id="rId2" Type="http://schemas.openxmlformats.org/officeDocument/2006/relationships/slide" Target="slide32.xml"/><Relationship Id="rId1" Type="http://schemas.openxmlformats.org/officeDocument/2006/relationships/slideLayout" Target="../slideLayouts/slideLayout3.xml"/><Relationship Id="rId6" Type="http://schemas.openxmlformats.org/officeDocument/2006/relationships/slide" Target="slide60.xml"/><Relationship Id="rId5" Type="http://schemas.openxmlformats.org/officeDocument/2006/relationships/slide" Target="slide51.xml"/><Relationship Id="rId4" Type="http://schemas.openxmlformats.org/officeDocument/2006/relationships/slide" Target="slide47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gif"/><Relationship Id="rId1" Type="http://schemas.openxmlformats.org/officeDocument/2006/relationships/slideLayout" Target="../slideLayouts/slideLayout3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jpeg"/><Relationship Id="rId1" Type="http://schemas.openxmlformats.org/officeDocument/2006/relationships/slideLayout" Target="../slideLayouts/slideLayout3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jpeg"/><Relationship Id="rId1" Type="http://schemas.openxmlformats.org/officeDocument/2006/relationships/slideLayout" Target="../slideLayouts/slideLayout3.xml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jpeg"/><Relationship Id="rId1" Type="http://schemas.openxmlformats.org/officeDocument/2006/relationships/slideLayout" Target="../slideLayouts/slideLayout3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4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gif"/><Relationship Id="rId1" Type="http://schemas.openxmlformats.org/officeDocument/2006/relationships/slideLayout" Target="../slideLayouts/slideLayout3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4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3.xml"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4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3.xml"/></Relationships>
</file>

<file path=ppt/slides/_rels/slide4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4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3.xml"/></Relationships>
</file>

<file path=ppt/slides/_rels/slide4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gif"/><Relationship Id="rId1" Type="http://schemas.openxmlformats.org/officeDocument/2006/relationships/slideLayout" Target="../slideLayouts/slideLayout3.xml"/></Relationships>
</file>

<file path=ppt/slides/_rels/slide4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4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5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5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5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3.xml"/></Relationships>
</file>

<file path=ppt/slides/_rels/slide5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5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8.png"/><Relationship Id="rId1" Type="http://schemas.openxmlformats.org/officeDocument/2006/relationships/slideLayout" Target="../slideLayouts/slideLayout15.xml"/></Relationships>
</file>

<file path=ppt/slides/_rels/slide5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0.png"/><Relationship Id="rId2" Type="http://schemas.openxmlformats.org/officeDocument/2006/relationships/image" Target="../media/image29.png"/><Relationship Id="rId1" Type="http://schemas.openxmlformats.org/officeDocument/2006/relationships/slideLayout" Target="../slideLayouts/slideLayout16.xml"/></Relationships>
</file>

<file path=ppt/slides/_rels/slide5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6.xml"/></Relationships>
</file>

<file path=ppt/slides/_rels/slide5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2.png"/><Relationship Id="rId2" Type="http://schemas.openxmlformats.org/officeDocument/2006/relationships/image" Target="../media/image31.png"/><Relationship Id="rId1" Type="http://schemas.openxmlformats.org/officeDocument/2006/relationships/slideLayout" Target="../slideLayouts/slideLayout16.xml"/><Relationship Id="rId4" Type="http://schemas.openxmlformats.org/officeDocument/2006/relationships/image" Target="../media/image33.png"/></Relationships>
</file>

<file path=ppt/slides/_rels/slide5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4.png"/><Relationship Id="rId1" Type="http://schemas.openxmlformats.org/officeDocument/2006/relationships/slideLayout" Target="../slideLayouts/slideLayout16.xml"/></Relationships>
</file>

<file path=ppt/slides/_rels/slide5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6.png"/><Relationship Id="rId2" Type="http://schemas.openxmlformats.org/officeDocument/2006/relationships/image" Target="../media/image35.png"/><Relationship Id="rId1" Type="http://schemas.openxmlformats.org/officeDocument/2006/relationships/slideLayout" Target="../slideLayouts/slideLayout16.xml"/></Relationships>
</file>

<file path=ppt/slides/_rels/slide6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gif"/><Relationship Id="rId1" Type="http://schemas.openxmlformats.org/officeDocument/2006/relationships/slideLayout" Target="../slideLayouts/slideLayout3.xml"/></Relationships>
</file>

<file path=ppt/slides/_rels/slide6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7.png"/><Relationship Id="rId1" Type="http://schemas.openxmlformats.org/officeDocument/2006/relationships/slideLayout" Target="../slideLayouts/slideLayout3.xml"/></Relationships>
</file>

<file path=ppt/slides/_rels/slide6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6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8.png"/><Relationship Id="rId1" Type="http://schemas.openxmlformats.org/officeDocument/2006/relationships/slideLayout" Target="../slideLayouts/slideLayout3.xml"/></Relationships>
</file>

<file path=ppt/slides/_rels/slide6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6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9.png"/><Relationship Id="rId1" Type="http://schemas.openxmlformats.org/officeDocument/2006/relationships/slideLayout" Target="../slideLayouts/slideLayout3.xml"/></Relationships>
</file>

<file path=ppt/slides/_rels/slide6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6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0.png"/><Relationship Id="rId1" Type="http://schemas.openxmlformats.org/officeDocument/2006/relationships/slideLayout" Target="../slideLayouts/slideLayout3.xml"/></Relationships>
</file>

<file path=ppt/slides/_rels/slide6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6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gif"/><Relationship Id="rId1" Type="http://schemas.openxmlformats.org/officeDocument/2006/relationships/slideLayout" Target="../slideLayouts/slideLayout3.xml"/></Relationships>
</file>

<file path=ppt/slides/_rels/slide7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7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7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7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2.png"/><Relationship Id="rId2" Type="http://schemas.openxmlformats.org/officeDocument/2006/relationships/image" Target="../media/image41.png"/><Relationship Id="rId1" Type="http://schemas.openxmlformats.org/officeDocument/2006/relationships/slideLayout" Target="../slideLayouts/slideLayout3.xml"/></Relationships>
</file>

<file path=ppt/slides/_rels/slide7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7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7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7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4.png"/><Relationship Id="rId2" Type="http://schemas.openxmlformats.org/officeDocument/2006/relationships/image" Target="../media/image43.png"/><Relationship Id="rId1" Type="http://schemas.openxmlformats.org/officeDocument/2006/relationships/slideLayout" Target="../slideLayouts/slideLayout3.xml"/></Relationships>
</file>

<file path=ppt/slides/_rels/slide7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7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80.xml.rels><?xml version="1.0" encoding="UTF-8" standalone="yes"?>
<Relationships xmlns="http://schemas.openxmlformats.org/package/2006/relationships"><Relationship Id="rId3" Type="http://schemas.openxmlformats.org/officeDocument/2006/relationships/image" Target="../media/image45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46.png"/></Relationships>
</file>

<file path=ppt/slides/_rels/slide8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7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8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_rels/slide8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/Relationships>
</file>

<file path=ppt/slides/_rels/slide8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8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/Relationships>
</file>

<file path=ppt/slides/_rels/slide8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.xml"/></Relationships>
</file>

<file path=ppt/slides/_rels/slide8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.xml"/></Relationships>
</file>

<file path=ppt/slides/_rels/slide8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1.xml"/></Relationships>
</file>

<file path=ppt/slides/_rels/slide8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1.xml"/></Relationships>
</file>

<file path=ppt/slides/_rels/slide8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1.xml"/></Relationships>
</file>

<file path=ppt/slides/_rels/slide9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1.xml"/></Relationships>
</file>

<file path=ppt/slides/_rels/slide9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1.xml"/></Relationships>
</file>

<file path=ppt/slides/_rels/slide9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1.xml"/></Relationships>
</file>

<file path=ppt/slides/_rels/slide9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1.xml"/></Relationships>
</file>

<file path=ppt/slides/_rels/slide9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1.xml"/></Relationships>
</file>

<file path=ppt/slides/_rels/slide9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1.xml"/></Relationships>
</file>

<file path=ppt/slides/_rels/slide9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2354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矩形 4">
            <a:extLst>
              <a:ext uri="{FF2B5EF4-FFF2-40B4-BE49-F238E27FC236}">
                <a16:creationId xmlns:a16="http://schemas.microsoft.com/office/drawing/2014/main" id="{D440FFFF-59F2-413D-A645-6FA503C98E97}"/>
              </a:ext>
            </a:extLst>
          </p:cNvPr>
          <p:cNvSpPr>
            <a:spLocks noGrp="1"/>
          </p:cNvSpPr>
          <p:nvPr/>
        </p:nvSpPr>
        <p:spPr>
          <a:xfrm>
            <a:off x="685800" y="742950"/>
            <a:ext cx="10668000" cy="5715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2250" b="1">
                <a:solidFill>
                  <a:srgbClr val="98D9D4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250" b="1">
                <a:solidFill>
                  <a:srgbClr val="98D9D4"/>
                </a:solidFill>
                <a:latin typeface="Microsoft JhengHei"/>
                <a:ea typeface="Microsoft JhengHei"/>
                <a:cs typeface="Microsoft JhengHei"/>
              </a:rPr>
              <a:t>第 1 週</a:t>
            </a:r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B6869B30-EE2F-413B-BABF-EE78F54499CD}"/>
              </a:ext>
            </a:extLst>
          </p:cNvPr>
          <p:cNvSpPr>
            <a:spLocks noGrp="1"/>
          </p:cNvSpPr>
          <p:nvPr/>
        </p:nvSpPr>
        <p:spPr>
          <a:xfrm>
            <a:off x="685800" y="1876425"/>
            <a:ext cx="10763250" cy="142875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4350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4350" b="1" dirty="0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rPr>
              <a:t>Python </a:t>
            </a:r>
            <a:r>
              <a:rPr lang="zh-TW" altLang="en-US" sz="4350" b="1" dirty="0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rPr>
              <a:t>程式設計</a:t>
            </a:r>
            <a:endParaRPr sz="4350" b="1" dirty="0">
              <a:solidFill>
                <a:srgbClr val="FFFFFF"/>
              </a:solidFill>
              <a:latin typeface="Microsoft JhengHei"/>
              <a:ea typeface="Microsoft JhengHei"/>
              <a:cs typeface="Microsoft JhengHei"/>
            </a:endParaRP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7A8DEACC-BC8C-4726-8064-82C4D6441992}"/>
              </a:ext>
            </a:extLst>
          </p:cNvPr>
          <p:cNvSpPr>
            <a:spLocks noGrp="1"/>
          </p:cNvSpPr>
          <p:nvPr/>
        </p:nvSpPr>
        <p:spPr>
          <a:xfrm>
            <a:off x="685800" y="2668997"/>
            <a:ext cx="10382250" cy="3810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2175" b="0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lang="en-US" sz="2175" dirty="0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rPr>
              <a:t>https://www.python.org/</a:t>
            </a:r>
            <a:endParaRPr sz="2175" b="0" dirty="0">
              <a:solidFill>
                <a:srgbClr val="FFFFFF"/>
              </a:solidFill>
              <a:latin typeface="Microsoft JhengHei"/>
              <a:ea typeface="Microsoft JhengHei"/>
              <a:cs typeface="Microsoft JhengHei"/>
            </a:endParaRPr>
          </a:p>
        </p:txBody>
      </p:sp>
      <p:pic>
        <p:nvPicPr>
          <p:cNvPr id="6" name="圖片 5" descr="檔案:Python.svg - 維基大典">
            <a:extLst>
              <a:ext uri="{FF2B5EF4-FFF2-40B4-BE49-F238E27FC236}">
                <a16:creationId xmlns:a16="http://schemas.microsoft.com/office/drawing/2014/main" id="{8F212446-834E-6A15-A9B1-0CB2C03402B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04669" y="412955"/>
            <a:ext cx="2546555" cy="2546555"/>
          </a:xfrm>
          <a:prstGeom prst="rect">
            <a:avLst/>
          </a:prstGeom>
        </p:spPr>
      </p:pic>
      <p:sp>
        <p:nvSpPr>
          <p:cNvPr id="8" name="文字方塊 7">
            <a:extLst>
              <a:ext uri="{FF2B5EF4-FFF2-40B4-BE49-F238E27FC236}">
                <a16:creationId xmlns:a16="http://schemas.microsoft.com/office/drawing/2014/main" id="{3FA556A7-D1EF-9853-F808-2CBE8F1B52E8}"/>
              </a:ext>
            </a:extLst>
          </p:cNvPr>
          <p:cNvSpPr txBox="1"/>
          <p:nvPr/>
        </p:nvSpPr>
        <p:spPr>
          <a:xfrm>
            <a:off x="685800" y="3305175"/>
            <a:ext cx="6096000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indent="0" algn="l">
              <a:lnSpc>
                <a:spcPct val="100000"/>
              </a:lnSpc>
              <a:buNone/>
            </a:pPr>
            <a:r>
              <a:rPr lang="zh-TW" altLang="zh-TW" sz="1800" b="1" i="1" dirty="0">
                <a:solidFill>
                  <a:srgbClr val="FFFF00"/>
                </a:solidFill>
                <a:effectLst/>
                <a:latin typeface="+mn-lt"/>
                <a:ea typeface="inherit"/>
              </a:rPr>
              <a:t>官方中文版教程</a:t>
            </a:r>
            <a:endParaRPr lang="zh-TW" altLang="zh-TW" sz="1800" b="0" i="1" dirty="0">
              <a:solidFill>
                <a:srgbClr val="FFFF00"/>
              </a:solidFill>
              <a:effectLst/>
              <a:latin typeface="+mn-lt"/>
            </a:endParaRPr>
          </a:p>
          <a:p>
            <a:pPr marL="0" marR="0" indent="0" algn="l">
              <a:lnSpc>
                <a:spcPct val="100000"/>
              </a:lnSpc>
              <a:buNone/>
            </a:pPr>
            <a:r>
              <a:rPr lang="zh-TW" altLang="zh-TW" sz="1800" b="0" i="0" u="sng" dirty="0">
                <a:solidFill>
                  <a:srgbClr val="FFFF00"/>
                </a:solidFill>
                <a:effectLst/>
                <a:latin typeface="+mn-lt"/>
                <a:hlinkClick r:id="rId4"/>
              </a:rPr>
              <a:t>https://docs.python.org/zh-tw/3.10/index.html</a:t>
            </a:r>
            <a:endParaRPr lang="zh-TW" altLang="zh-TW" sz="1500" b="0" i="0" dirty="0">
              <a:solidFill>
                <a:srgbClr val="FFFF00"/>
              </a:solidFill>
              <a:effectLst/>
              <a:latin typeface="source-serif-pro"/>
            </a:endParaRPr>
          </a:p>
        </p:txBody>
      </p:sp>
      <p:sp>
        <p:nvSpPr>
          <p:cNvPr id="10" name="文字方塊 9">
            <a:extLst>
              <a:ext uri="{FF2B5EF4-FFF2-40B4-BE49-F238E27FC236}">
                <a16:creationId xmlns:a16="http://schemas.microsoft.com/office/drawing/2014/main" id="{304F813A-BF4B-D6BD-3E32-F106E7D708E1}"/>
              </a:ext>
            </a:extLst>
          </p:cNvPr>
          <p:cNvSpPr txBox="1"/>
          <p:nvPr/>
        </p:nvSpPr>
        <p:spPr>
          <a:xfrm>
            <a:off x="685800" y="4097747"/>
            <a:ext cx="6096000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TW" sz="1800" b="1" i="1" spc="-5" dirty="0" err="1">
                <a:solidFill>
                  <a:srgbClr val="FFFF00"/>
                </a:solidFill>
                <a:effectLst/>
                <a:latin typeface="+mn-lt"/>
                <a:ea typeface="inherit"/>
              </a:rPr>
              <a:t>Learnpython</a:t>
            </a:r>
            <a:endParaRPr lang="en-US" altLang="zh-TW" sz="1800" b="1" i="1" spc="-5" dirty="0">
              <a:solidFill>
                <a:srgbClr val="FFFF00"/>
              </a:solidFill>
              <a:effectLst/>
              <a:latin typeface="+mn-lt"/>
              <a:ea typeface="inherit"/>
            </a:endParaRPr>
          </a:p>
          <a:p>
            <a:r>
              <a:rPr lang="en-US" altLang="zh-TW" dirty="0">
                <a:solidFill>
                  <a:srgbClr val="FFFF00"/>
                </a:solidFill>
                <a:hlinkClick r:id="rId5"/>
              </a:rPr>
              <a:t>https://www.learnpython.org/</a:t>
            </a:r>
            <a:endParaRPr lang="zh-TW" altLang="en-US" dirty="0">
              <a:solidFill>
                <a:srgbClr val="FFFF00"/>
              </a:solidFill>
            </a:endParaRPr>
          </a:p>
        </p:txBody>
      </p:sp>
      <p:sp>
        <p:nvSpPr>
          <p:cNvPr id="9" name="文字方塊 8">
            <a:extLst>
              <a:ext uri="{FF2B5EF4-FFF2-40B4-BE49-F238E27FC236}">
                <a16:creationId xmlns:a16="http://schemas.microsoft.com/office/drawing/2014/main" id="{D05F9591-AAE0-5DEF-2028-D50AD4D3B31F}"/>
              </a:ext>
            </a:extLst>
          </p:cNvPr>
          <p:cNvSpPr txBox="1"/>
          <p:nvPr/>
        </p:nvSpPr>
        <p:spPr>
          <a:xfrm>
            <a:off x="685800" y="4890319"/>
            <a:ext cx="6096000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indent="0" algn="l">
              <a:buNone/>
            </a:pPr>
            <a:r>
              <a:rPr lang="zh-TW" altLang="zh-TW" sz="1800" b="1" i="0" dirty="0">
                <a:solidFill>
                  <a:srgbClr val="FFFF00"/>
                </a:solidFill>
                <a:effectLst/>
                <a:latin typeface="+mn-lt"/>
              </a:rPr>
              <a:t>Visualize code execution</a:t>
            </a:r>
            <a:endParaRPr lang="en-US" altLang="zh-TW" sz="1800" b="1" i="0" dirty="0">
              <a:solidFill>
                <a:srgbClr val="FFFF00"/>
              </a:solidFill>
              <a:effectLst/>
              <a:latin typeface="+mn-lt"/>
            </a:endParaRPr>
          </a:p>
          <a:p>
            <a:r>
              <a:rPr lang="en-US" altLang="zh-TW" dirty="0">
                <a:solidFill>
                  <a:srgbClr val="FFFF00"/>
                </a:solidFill>
                <a:latin typeface="Radio Canada Big"/>
                <a:hlinkClick r:id="rId6"/>
              </a:rPr>
              <a:t>https://pythontutor.com/</a:t>
            </a:r>
            <a:endParaRPr lang="zh-TW" altLang="zh-TW" i="0" dirty="0">
              <a:solidFill>
                <a:srgbClr val="FFFF00"/>
              </a:solidFill>
              <a:effectLst/>
              <a:latin typeface="Radio Canada Big"/>
            </a:endParaRPr>
          </a:p>
        </p:txBody>
      </p:sp>
      <p:sp>
        <p:nvSpPr>
          <p:cNvPr id="12" name="文字方塊 11">
            <a:extLst>
              <a:ext uri="{FF2B5EF4-FFF2-40B4-BE49-F238E27FC236}">
                <a16:creationId xmlns:a16="http://schemas.microsoft.com/office/drawing/2014/main" id="{6B27295F-8B53-84EA-3C0A-30D89294279E}"/>
              </a:ext>
            </a:extLst>
          </p:cNvPr>
          <p:cNvSpPr txBox="1"/>
          <p:nvPr/>
        </p:nvSpPr>
        <p:spPr>
          <a:xfrm>
            <a:off x="5876925" y="3263388"/>
            <a:ext cx="3812458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indent="0" algn="l">
              <a:buNone/>
            </a:pPr>
            <a:r>
              <a:rPr lang="zh-TW" altLang="zh-TW" b="1" i="0" dirty="0">
                <a:solidFill>
                  <a:srgbClr val="FFFF00"/>
                </a:solidFill>
                <a:effectLst/>
                <a:latin typeface="+mn-lt"/>
              </a:rPr>
              <a:t>Thonny</a:t>
            </a:r>
          </a:p>
          <a:p>
            <a:pPr indent="0" algn="l">
              <a:buNone/>
            </a:pPr>
            <a:r>
              <a:rPr lang="zh-TW" altLang="zh-TW" b="0" i="0" dirty="0">
                <a:solidFill>
                  <a:srgbClr val="FFFF00"/>
                </a:solidFill>
                <a:effectLst/>
                <a:latin typeface="+mn-lt"/>
              </a:rPr>
              <a:t>Python IDE for beginners</a:t>
            </a:r>
          </a:p>
          <a:p>
            <a:pPr>
              <a:buNone/>
            </a:pPr>
            <a:r>
              <a:rPr lang="en-US" altLang="zh-TW" dirty="0">
                <a:solidFill>
                  <a:srgbClr val="FFFF00"/>
                </a:solidFill>
                <a:hlinkClick r:id="rId7"/>
              </a:rPr>
              <a:t>https://thonny.org/</a:t>
            </a:r>
            <a:br>
              <a:rPr lang="zh-TW" altLang="zh-TW" dirty="0">
                <a:solidFill>
                  <a:srgbClr val="FFFF00"/>
                </a:solidFill>
                <a:hlinkClick r:id="rId7"/>
              </a:rPr>
            </a:br>
            <a:endParaRPr lang="zh-TW" altLang="en-US" dirty="0">
              <a:solidFill>
                <a:srgbClr val="FFFF00"/>
              </a:solidFill>
            </a:endParaRPr>
          </a:p>
        </p:txBody>
      </p:sp>
      <p:sp>
        <p:nvSpPr>
          <p:cNvPr id="14" name="文字方塊 13">
            <a:extLst>
              <a:ext uri="{FF2B5EF4-FFF2-40B4-BE49-F238E27FC236}">
                <a16:creationId xmlns:a16="http://schemas.microsoft.com/office/drawing/2014/main" id="{1AA25897-CC6B-C2DB-9693-0EA3F0ABECFF}"/>
              </a:ext>
            </a:extLst>
          </p:cNvPr>
          <p:cNvSpPr txBox="1"/>
          <p:nvPr/>
        </p:nvSpPr>
        <p:spPr>
          <a:xfrm>
            <a:off x="5876925" y="4391287"/>
            <a:ext cx="6096000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indent="0">
              <a:lnSpc>
                <a:spcPct val="100000"/>
              </a:lnSpc>
              <a:buNone/>
            </a:pPr>
            <a:r>
              <a:rPr lang="zh-TW" altLang="zh-TW" dirty="0">
                <a:solidFill>
                  <a:srgbClr val="FFFF00"/>
                </a:solidFill>
              </a:rPr>
              <a:t> VS Code</a:t>
            </a:r>
            <a:endParaRPr lang="en-US" altLang="zh-TW" sz="1800" b="1" i="0" spc="-60" dirty="0">
              <a:solidFill>
                <a:srgbClr val="FFFF00"/>
              </a:solidFill>
              <a:effectLst/>
              <a:latin typeface="+mn-lt"/>
            </a:endParaRPr>
          </a:p>
          <a:p>
            <a:pPr indent="0">
              <a:lnSpc>
                <a:spcPct val="100000"/>
              </a:lnSpc>
              <a:buNone/>
            </a:pPr>
            <a:r>
              <a:rPr lang="zh-TW" altLang="zh-TW" sz="1800" b="1" i="0" spc="-60" dirty="0">
                <a:solidFill>
                  <a:srgbClr val="FFFF00"/>
                </a:solidFill>
                <a:effectLst/>
                <a:latin typeface="+mn-lt"/>
              </a:rPr>
              <a:t>The open source AI code editor</a:t>
            </a:r>
            <a:endParaRPr lang="en-US" altLang="zh-TW" sz="1800" b="1" i="0" spc="-60" dirty="0">
              <a:solidFill>
                <a:srgbClr val="FFFF00"/>
              </a:solidFill>
              <a:effectLst/>
              <a:latin typeface="+mn-lt"/>
            </a:endParaRPr>
          </a:p>
          <a:p>
            <a:pPr indent="0">
              <a:lnSpc>
                <a:spcPct val="100000"/>
              </a:lnSpc>
              <a:buNone/>
            </a:pPr>
            <a:r>
              <a:rPr lang="en-US" altLang="zh-TW" spc="-60" dirty="0">
                <a:solidFill>
                  <a:srgbClr val="FFFF00"/>
                </a:solidFill>
                <a:latin typeface="system-ui"/>
                <a:hlinkClick r:id="rId8"/>
              </a:rPr>
              <a:t>https://code.visualstudio.com/</a:t>
            </a:r>
            <a:endParaRPr lang="zh-TW" altLang="zh-TW" i="0" spc="-60" dirty="0">
              <a:solidFill>
                <a:srgbClr val="FFFF00"/>
              </a:solidFill>
              <a:effectLst/>
              <a:latin typeface="system-ui"/>
            </a:endParaRPr>
          </a:p>
        </p:txBody>
      </p:sp>
      <p:sp>
        <p:nvSpPr>
          <p:cNvPr id="17" name="文字方塊 16">
            <a:extLst>
              <a:ext uri="{FF2B5EF4-FFF2-40B4-BE49-F238E27FC236}">
                <a16:creationId xmlns:a16="http://schemas.microsoft.com/office/drawing/2014/main" id="{62A69974-1385-F4E8-CC74-7F10A76B83AB}"/>
              </a:ext>
            </a:extLst>
          </p:cNvPr>
          <p:cNvSpPr txBox="1"/>
          <p:nvPr/>
        </p:nvSpPr>
        <p:spPr>
          <a:xfrm>
            <a:off x="5876925" y="5608157"/>
            <a:ext cx="6096000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TW" altLang="zh-TW" b="1" dirty="0">
                <a:solidFill>
                  <a:srgbClr val="FFFF00"/>
                </a:solidFill>
              </a:rPr>
              <a:t>Google Colab</a:t>
            </a:r>
            <a:endParaRPr lang="en-US" altLang="zh-TW" b="1" dirty="0">
              <a:solidFill>
                <a:srgbClr val="FFFF00"/>
              </a:solidFill>
              <a:hlinkClick r:id="rId9">
                <a:extLst>
                  <a:ext uri="{A12FA001-AC4F-418D-AE19-62706E023703}">
                    <ahyp:hlinkClr xmlns:ahyp="http://schemas.microsoft.com/office/drawing/2018/hyperlinkcolor" val="tx"/>
                  </a:ext>
                </a:extLst>
              </a:hlinkClick>
            </a:endParaRPr>
          </a:p>
          <a:p>
            <a:r>
              <a:rPr lang="zh-TW" altLang="en-US" dirty="0">
                <a:solidFill>
                  <a:srgbClr val="467886"/>
                </a:solidFill>
                <a:hlinkClick r:id="rId9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https://colab.research.google.com/?hl=zh-tw</a:t>
            </a:r>
            <a:endParaRPr lang="zh-TW" altLang="en-US" dirty="0"/>
          </a:p>
        </p:txBody>
      </p:sp>
    </p:spTree>
    <p:extLst>
      <p:ext uri="{BB962C8B-B14F-4D97-AF65-F5344CB8AC3E}">
        <p14:creationId xmlns:p14="http://schemas.microsoft.com/office/powerpoint/2010/main" val="45709640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文字方塊 2">
            <a:extLst>
              <a:ext uri="{FF2B5EF4-FFF2-40B4-BE49-F238E27FC236}">
                <a16:creationId xmlns:a16="http://schemas.microsoft.com/office/drawing/2014/main" id="{8C257230-F5EC-2CD3-C3C7-8EDBD463511A}"/>
              </a:ext>
            </a:extLst>
          </p:cNvPr>
          <p:cNvSpPr txBox="1"/>
          <p:nvPr/>
        </p:nvSpPr>
        <p:spPr>
          <a:xfrm>
            <a:off x="366251" y="561859"/>
            <a:ext cx="6096000" cy="536557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indent="0" algn="l">
              <a:spcBef>
                <a:spcPts val="1125"/>
              </a:spcBef>
              <a:spcAft>
                <a:spcPts val="1125"/>
              </a:spcAft>
              <a:buNone/>
            </a:pPr>
            <a:r>
              <a:rPr lang="zh-TW" altLang="zh-TW" b="1" i="0" dirty="0">
                <a:solidFill>
                  <a:schemeClr val="tx1"/>
                </a:solidFill>
                <a:effectLst/>
                <a:latin typeface="+mn-lt"/>
              </a:rPr>
              <a:t>關於 Python</a:t>
            </a:r>
          </a:p>
          <a:p>
            <a:pPr marL="0" marR="0" indent="0" algn="just" latinLnBrk="1">
              <a:spcAft>
                <a:spcPts val="1125"/>
              </a:spcAft>
              <a:buNone/>
            </a:pPr>
            <a:r>
              <a:rPr lang="zh-TW" altLang="zh-TW" sz="1800" b="0" i="0" dirty="0">
                <a:solidFill>
                  <a:schemeClr val="tx1"/>
                </a:solidFill>
                <a:effectLst/>
                <a:latin typeface="+mn-lt"/>
              </a:rPr>
              <a:t>Python 是目前世界上最流行的</a:t>
            </a:r>
            <a:r>
              <a:rPr lang="zh-TW" altLang="zh-TW" sz="1800" b="0" i="0" u="none" strike="noStrike" dirty="0">
                <a:solidFill>
                  <a:schemeClr val="tx1"/>
                </a:solidFill>
                <a:effectLst/>
                <a:latin typeface="+mn-lt"/>
                <a:hlinkClick r:id="rId2"/>
              </a:rPr>
              <a:t> 程式</a:t>
            </a:r>
            <a:r>
              <a:rPr lang="zh-TW" altLang="zh-TW" sz="1800" b="0" i="0" dirty="0">
                <a:solidFill>
                  <a:schemeClr val="tx1"/>
                </a:solidFill>
                <a:effectLst/>
                <a:latin typeface="+mn-lt"/>
              </a:rPr>
              <a:t>語言之一，也是相當容易入門且功能強大的程式語言。它除了可以透過簡單邏輯進行</a:t>
            </a:r>
            <a:r>
              <a:rPr lang="zh-TW" altLang="zh-TW" sz="1800" b="0" i="0" u="none" strike="noStrike" dirty="0">
                <a:solidFill>
                  <a:schemeClr val="tx1"/>
                </a:solidFill>
                <a:effectLst/>
                <a:latin typeface="+mn-lt"/>
                <a:hlinkClick r:id="rId2"/>
              </a:rPr>
              <a:t> 程式設計</a:t>
            </a:r>
            <a:r>
              <a:rPr lang="zh-TW" altLang="zh-TW" sz="1800" b="0" i="0" dirty="0">
                <a:solidFill>
                  <a:schemeClr val="tx1"/>
                </a:solidFill>
                <a:effectLst/>
                <a:latin typeface="+mn-lt"/>
              </a:rPr>
              <a:t>，更具備有高效能的</a:t>
            </a:r>
            <a:r>
              <a:rPr lang="zh-TW" altLang="zh-TW" sz="1800" b="0" i="0" u="none" strike="noStrike" dirty="0">
                <a:solidFill>
                  <a:schemeClr val="tx1"/>
                </a:solidFill>
                <a:effectLst/>
                <a:latin typeface="+mn-lt"/>
                <a:hlinkClick r:id="rId2"/>
              </a:rPr>
              <a:t> 資料</a:t>
            </a:r>
            <a:r>
              <a:rPr lang="zh-TW" altLang="zh-TW" sz="1800" b="0" i="0" dirty="0">
                <a:solidFill>
                  <a:schemeClr val="tx1"/>
                </a:solidFill>
                <a:effectLst/>
                <a:latin typeface="+mn-lt"/>
              </a:rPr>
              <a:t>結構處理能力。Python 簡單易懂的程式語法，結合由 C 語言建構的特性，使得 Python 能跨平台開發，也幾乎能在所有作業系統中運作。 </a:t>
            </a:r>
          </a:p>
          <a:p>
            <a:pPr algn="l" rtl="0" fontAlgn="auto">
              <a:buNone/>
            </a:pPr>
            <a:r>
              <a:rPr lang="zh-TW" altLang="zh-TW" dirty="0">
                <a:solidFill>
                  <a:schemeClr val="tx1"/>
                </a:solidFill>
                <a:effectLst/>
                <a:latin typeface="+mn-lt"/>
              </a:rPr>
              <a:t>學習腳本語言</a:t>
            </a:r>
          </a:p>
          <a:p>
            <a:pPr marL="0" marR="0" indent="0" algn="l">
              <a:spcAft>
                <a:spcPts val="1125"/>
              </a:spcAft>
              <a:buNone/>
            </a:pPr>
            <a:r>
              <a:rPr lang="zh-TW" altLang="zh-TW" b="1" i="0" dirty="0">
                <a:solidFill>
                  <a:schemeClr val="tx1"/>
                </a:solidFill>
                <a:effectLst/>
                <a:latin typeface="+mn-lt"/>
              </a:rPr>
              <a:t>Python 名稱的由來 </a:t>
            </a:r>
          </a:p>
          <a:p>
            <a:pPr marL="0" marR="0" indent="0" algn="just" latinLnBrk="1">
              <a:spcAft>
                <a:spcPts val="1125"/>
              </a:spcAft>
              <a:buNone/>
            </a:pPr>
            <a:r>
              <a:rPr lang="zh-TW" altLang="zh-TW" sz="1800" b="0" i="0" dirty="0">
                <a:solidFill>
                  <a:schemeClr val="tx1"/>
                </a:solidFill>
                <a:effectLst/>
                <a:latin typeface="+mn-lt"/>
              </a:rPr>
              <a:t>在 1989 年，一位荷蘭的程式設計師吉多。范羅蘇姆 ( </a:t>
            </a:r>
            <a:r>
              <a:rPr lang="zh-TW" altLang="zh-TW" sz="1800" b="0" i="0" dirty="0">
                <a:solidFill>
                  <a:schemeClr val="tx1"/>
                </a:solidFill>
                <a:effectLst/>
                <a:latin typeface="+mn-lt"/>
                <a:hlinkClick r:id="rId3" tooltip="Guido van Rossum"/>
              </a:rPr>
              <a:t>Guido van Rossum</a:t>
            </a:r>
            <a:r>
              <a:rPr lang="zh-TW" altLang="zh-TW" sz="1800" b="0" i="0" dirty="0">
                <a:solidFill>
                  <a:schemeClr val="tx1"/>
                </a:solidFill>
                <a:effectLst/>
                <a:latin typeface="+mn-lt"/>
              </a:rPr>
              <a:t> )，在 1989 年的聖誕節期間，花了三個月的時間，創造出一套以 ABC 程式語言為基礎，作為替代 Unix shell 和 C 語言進行系統管理的程式語言：Python。</a:t>
            </a:r>
          </a:p>
          <a:p>
            <a:pPr marL="0" marR="0" indent="0" algn="just" latinLnBrk="1">
              <a:spcAft>
                <a:spcPts val="1125"/>
              </a:spcAft>
              <a:buNone/>
            </a:pPr>
            <a:r>
              <a:rPr lang="zh-TW" altLang="zh-TW" sz="1800" b="0" i="0" dirty="0">
                <a:solidFill>
                  <a:schemeClr val="tx1"/>
                </a:solidFill>
                <a:effectLst/>
                <a:latin typeface="+mn-lt"/>
              </a:rPr>
              <a:t>范羅蘇姆是 BBC 電視劇 Monty Python's Flying Circus ( 蒙提派森的飛行馬戲團 ) 的愛好者，於是他就將這套程式語言命名為 Python，由於 Python 是「蟒蛇」的英文，所以在許多教學或文件中，都會使用一藍一黃的蟒蛇圖案作為 Python 的形象代表。</a:t>
            </a:r>
            <a:endParaRPr lang="zh-TW" altLang="zh-TW" sz="1800" b="0" i="0" dirty="0">
              <a:solidFill>
                <a:srgbClr val="333333"/>
              </a:solidFill>
              <a:effectLst/>
              <a:latin typeface="Tahoma" panose="020B0604030504040204" pitchFamily="34" charset="0"/>
            </a:endParaRPr>
          </a:p>
        </p:txBody>
      </p:sp>
      <p:pic>
        <p:nvPicPr>
          <p:cNvPr id="4" name="圖片 3" descr="Python 教學 - 關於 Python">
            <a:extLst>
              <a:ext uri="{FF2B5EF4-FFF2-40B4-BE49-F238E27FC236}">
                <a16:creationId xmlns:a16="http://schemas.microsoft.com/office/drawing/2014/main" id="{E1DBDA5E-4C4B-A456-6297-5640044FF0C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678561" y="671050"/>
            <a:ext cx="5147188" cy="5147188"/>
          </a:xfrm>
          <a:prstGeom prst="rect">
            <a:avLst/>
          </a:prstGeom>
        </p:spPr>
      </p:pic>
      <p:sp>
        <p:nvSpPr>
          <p:cNvPr id="7" name="文字方塊 6">
            <a:extLst>
              <a:ext uri="{FF2B5EF4-FFF2-40B4-BE49-F238E27FC236}">
                <a16:creationId xmlns:a16="http://schemas.microsoft.com/office/drawing/2014/main" id="{53EA57D6-6A96-8B2F-F7EB-438F4A8BCC2F}"/>
              </a:ext>
            </a:extLst>
          </p:cNvPr>
          <p:cNvSpPr txBox="1"/>
          <p:nvPr/>
        </p:nvSpPr>
        <p:spPr>
          <a:xfrm>
            <a:off x="1776494" y="6111475"/>
            <a:ext cx="116089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dirty="0">
                <a:hlinkClick r:id="rId5"/>
              </a:rPr>
              <a:t>DINO RUN</a:t>
            </a:r>
            <a:endParaRPr lang="zh-TW" altLang="en-US" dirty="0"/>
          </a:p>
        </p:txBody>
      </p:sp>
      <p:pic>
        <p:nvPicPr>
          <p:cNvPr id="8" name="圖片 7">
            <a:extLst>
              <a:ext uri="{FF2B5EF4-FFF2-40B4-BE49-F238E27FC236}">
                <a16:creationId xmlns:a16="http://schemas.microsoft.com/office/drawing/2014/main" id="{AB37B625-A0FB-5FC8-F642-9B026E2813A7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057833" y="5872074"/>
            <a:ext cx="3283974" cy="84813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723717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圖片 3" descr="Python 教學 - 關於 Python">
            <a:extLst>
              <a:ext uri="{FF2B5EF4-FFF2-40B4-BE49-F238E27FC236}">
                <a16:creationId xmlns:a16="http://schemas.microsoft.com/office/drawing/2014/main" id="{D99F40F2-17A6-6EA4-E7BF-0641D816674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86000" y="1054764"/>
            <a:ext cx="7620000" cy="2629626"/>
          </a:xfrm>
          <a:prstGeom prst="rect">
            <a:avLst/>
          </a:prstGeom>
        </p:spPr>
      </p:pic>
      <p:sp>
        <p:nvSpPr>
          <p:cNvPr id="6" name="文字方塊 5">
            <a:extLst>
              <a:ext uri="{FF2B5EF4-FFF2-40B4-BE49-F238E27FC236}">
                <a16:creationId xmlns:a16="http://schemas.microsoft.com/office/drawing/2014/main" id="{0B7BD7BD-1E13-14C0-AB83-056D1650D260}"/>
              </a:ext>
            </a:extLst>
          </p:cNvPr>
          <p:cNvSpPr txBox="1"/>
          <p:nvPr/>
        </p:nvSpPr>
        <p:spPr>
          <a:xfrm>
            <a:off x="408039" y="457968"/>
            <a:ext cx="11651225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indent="0" algn="just" latinLnBrk="1">
              <a:spcAft>
                <a:spcPts val="1125"/>
              </a:spcAft>
              <a:buNone/>
            </a:pPr>
            <a:r>
              <a:rPr lang="zh-TW" altLang="zh-TW" sz="1800" b="0" i="0">
                <a:solidFill>
                  <a:schemeClr val="tx1"/>
                </a:solidFill>
                <a:effectLst/>
                <a:latin typeface="+mn-lt"/>
              </a:rPr>
              <a:t>下圖是 stackoverflow.com ( </a:t>
            </a:r>
            <a:r>
              <a:rPr lang="zh-TW" altLang="zh-TW" sz="1800" b="0" i="0">
                <a:solidFill>
                  <a:schemeClr val="tx1"/>
                </a:solidFill>
                <a:effectLst/>
                <a:latin typeface="+mn-lt"/>
                <a:hlinkClick r:id="rId3" tooltip="參考連結"/>
              </a:rPr>
              <a:t>參考連結</a:t>
            </a:r>
            <a:r>
              <a:rPr lang="zh-TW" altLang="zh-TW" sz="1800" b="0" i="0">
                <a:solidFill>
                  <a:schemeClr val="tx1"/>
                </a:solidFill>
                <a:effectLst/>
                <a:latin typeface="+mn-lt"/>
              </a:rPr>
              <a:t> ) 調查開發者最喜愛以及最想學的程式語言，Python 分別位居第三名和第一名 </a:t>
            </a:r>
            <a:endParaRPr lang="zh-TW" altLang="zh-TW" sz="1800" b="0" i="0" dirty="0">
              <a:solidFill>
                <a:schemeClr val="tx1"/>
              </a:solidFill>
              <a:effectLst/>
              <a:latin typeface="+mn-lt"/>
            </a:endParaRPr>
          </a:p>
        </p:txBody>
      </p:sp>
      <p:sp>
        <p:nvSpPr>
          <p:cNvPr id="8" name="文字方塊 7">
            <a:extLst>
              <a:ext uri="{FF2B5EF4-FFF2-40B4-BE49-F238E27FC236}">
                <a16:creationId xmlns:a16="http://schemas.microsoft.com/office/drawing/2014/main" id="{9FF99943-CBFF-52C5-ECA0-320303D2D54C}"/>
              </a:ext>
            </a:extLst>
          </p:cNvPr>
          <p:cNvSpPr txBox="1"/>
          <p:nvPr/>
        </p:nvSpPr>
        <p:spPr>
          <a:xfrm>
            <a:off x="580103" y="3911854"/>
            <a:ext cx="11031794" cy="255454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indent="0" algn="l">
              <a:buNone/>
            </a:pPr>
            <a:r>
              <a:rPr lang="zh-TW" altLang="zh-TW" sz="1600" b="1" i="0" dirty="0">
                <a:solidFill>
                  <a:schemeClr val="tx1"/>
                </a:solidFill>
                <a:effectLst/>
                <a:latin typeface="+mn-lt"/>
              </a:rPr>
              <a:t>Python 可以做什麼？ </a:t>
            </a:r>
          </a:p>
          <a:p>
            <a:pPr marL="0" marR="0" indent="0" algn="just" latinLnBrk="1">
              <a:buNone/>
            </a:pPr>
            <a:r>
              <a:rPr lang="zh-TW" altLang="zh-TW" sz="1600" b="0" i="0" dirty="0">
                <a:solidFill>
                  <a:schemeClr val="tx1"/>
                </a:solidFill>
                <a:effectLst/>
                <a:latin typeface="+mn-lt"/>
              </a:rPr>
              <a:t>Python 的應用相當廣泛，例如 Google、Youtube、IG 和 Netflix，都大量地使用了 Python，下方列出 Python 常見的應用領域：</a:t>
            </a:r>
          </a:p>
          <a:p>
            <a:pPr marL="342900" marR="0" lvl="0" indent="-342900" algn="l">
              <a:buFont typeface="Arial" panose="020B0604020202020204" pitchFamily="34" charset="0"/>
              <a:buChar char="•"/>
            </a:pPr>
            <a:r>
              <a:rPr lang="zh-TW" altLang="zh-TW" sz="1600" b="0" i="0" dirty="0">
                <a:solidFill>
                  <a:schemeClr val="tx1"/>
                </a:solidFill>
                <a:effectLst/>
                <a:latin typeface="+mn-lt"/>
              </a:rPr>
              <a:t>網路爬蟲與擷取資訊</a:t>
            </a:r>
          </a:p>
          <a:p>
            <a:pPr marL="342900" marR="0" lvl="0" indent="-342900" algn="l">
              <a:buFont typeface="Arial" panose="020B0604020202020204" pitchFamily="34" charset="0"/>
              <a:buChar char="•"/>
            </a:pPr>
            <a:r>
              <a:rPr lang="zh-TW" altLang="zh-TW" sz="1600" b="0" i="0" dirty="0">
                <a:solidFill>
                  <a:schemeClr val="tx1"/>
                </a:solidFill>
                <a:effectLst/>
                <a:latin typeface="+mn-lt"/>
              </a:rPr>
              <a:t>數據處理分析與視覺化應用</a:t>
            </a:r>
          </a:p>
          <a:p>
            <a:pPr marL="342900" marR="0" lvl="0" indent="-342900" algn="l">
              <a:buFont typeface="Arial" panose="020B0604020202020204" pitchFamily="34" charset="0"/>
              <a:buChar char="•"/>
            </a:pPr>
            <a:r>
              <a:rPr lang="zh-TW" altLang="zh-TW" sz="1600" b="0" i="0" dirty="0">
                <a:solidFill>
                  <a:schemeClr val="tx1"/>
                </a:solidFill>
                <a:effectLst/>
                <a:latin typeface="+mn-lt"/>
              </a:rPr>
              <a:t>機器學習與人工智慧</a:t>
            </a:r>
          </a:p>
          <a:p>
            <a:pPr marL="342900" marR="0" lvl="0" indent="-342900" algn="l">
              <a:buFont typeface="Arial" panose="020B0604020202020204" pitchFamily="34" charset="0"/>
              <a:buChar char="•"/>
            </a:pPr>
            <a:r>
              <a:rPr lang="zh-TW" altLang="zh-TW" sz="1600" b="0" i="0" dirty="0">
                <a:solidFill>
                  <a:schemeClr val="tx1"/>
                </a:solidFill>
                <a:effectLst/>
                <a:latin typeface="+mn-lt"/>
              </a:rPr>
              <a:t>自動化測試</a:t>
            </a:r>
          </a:p>
          <a:p>
            <a:pPr marL="342900" marR="0" lvl="0" indent="-342900" algn="l">
              <a:buFont typeface="Arial" panose="020B0604020202020204" pitchFamily="34" charset="0"/>
              <a:buChar char="•"/>
            </a:pPr>
            <a:r>
              <a:rPr lang="zh-TW" altLang="zh-TW" sz="1600" b="0" i="0" dirty="0">
                <a:solidFill>
                  <a:schemeClr val="tx1"/>
                </a:solidFill>
                <a:effectLst/>
                <a:latin typeface="+mn-lt"/>
              </a:rPr>
              <a:t>網站開發</a:t>
            </a:r>
          </a:p>
          <a:p>
            <a:pPr marL="342900" marR="0" lvl="0" indent="-342900" algn="l">
              <a:buFont typeface="Arial" panose="020B0604020202020204" pitchFamily="34" charset="0"/>
              <a:buChar char="•"/>
            </a:pPr>
            <a:r>
              <a:rPr lang="zh-TW" altLang="zh-TW" sz="1600" b="0" i="0" dirty="0">
                <a:solidFill>
                  <a:schemeClr val="tx1"/>
                </a:solidFill>
                <a:effectLst/>
                <a:latin typeface="+mn-lt"/>
              </a:rPr>
              <a:t>軟體開發</a:t>
            </a:r>
          </a:p>
          <a:p>
            <a:pPr marL="342900" marR="0" lvl="0" indent="-342900" algn="l">
              <a:buFont typeface="Arial" panose="020B0604020202020204" pitchFamily="34" charset="0"/>
              <a:buChar char="•"/>
            </a:pPr>
            <a:r>
              <a:rPr lang="zh-TW" altLang="zh-TW" sz="1600" b="0" i="0" dirty="0">
                <a:solidFill>
                  <a:schemeClr val="tx1"/>
                </a:solidFill>
                <a:effectLst/>
                <a:latin typeface="+mn-lt"/>
              </a:rPr>
              <a:t>商業應用</a:t>
            </a:r>
          </a:p>
          <a:p>
            <a:pPr marL="342900" marR="0" lvl="0" indent="-342900" algn="l">
              <a:buFont typeface="Arial" panose="020B0604020202020204" pitchFamily="34" charset="0"/>
              <a:buChar char="•"/>
            </a:pPr>
            <a:r>
              <a:rPr lang="zh-TW" altLang="zh-TW" sz="1600" b="0" i="0" dirty="0">
                <a:solidFill>
                  <a:schemeClr val="tx1"/>
                </a:solidFill>
                <a:effectLst/>
                <a:latin typeface="+mn-lt"/>
              </a:rPr>
              <a:t>多媒體應用</a:t>
            </a:r>
            <a:endParaRPr lang="zh-TW" altLang="zh-TW" sz="1600" b="0" i="0" dirty="0">
              <a:solidFill>
                <a:srgbClr val="000000"/>
              </a:solidFill>
              <a:effectLst/>
              <a:latin typeface="inherit"/>
            </a:endParaRPr>
          </a:p>
        </p:txBody>
      </p:sp>
    </p:spTree>
    <p:extLst>
      <p:ext uri="{BB962C8B-B14F-4D97-AF65-F5344CB8AC3E}">
        <p14:creationId xmlns:p14="http://schemas.microsoft.com/office/powerpoint/2010/main" val="334940847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字方塊 3">
            <a:extLst>
              <a:ext uri="{FF2B5EF4-FFF2-40B4-BE49-F238E27FC236}">
                <a16:creationId xmlns:a16="http://schemas.microsoft.com/office/drawing/2014/main" id="{286F663E-BA14-094D-F864-96F09700FC27}"/>
              </a:ext>
            </a:extLst>
          </p:cNvPr>
          <p:cNvSpPr txBox="1"/>
          <p:nvPr/>
        </p:nvSpPr>
        <p:spPr>
          <a:xfrm>
            <a:off x="973394" y="392035"/>
            <a:ext cx="10835148" cy="134139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indent="0" algn="l">
              <a:spcBef>
                <a:spcPts val="1125"/>
              </a:spcBef>
              <a:spcAft>
                <a:spcPts val="1125"/>
              </a:spcAft>
              <a:buNone/>
            </a:pPr>
            <a:r>
              <a:rPr lang="zh-TW" altLang="zh-TW" b="1" i="0" dirty="0">
                <a:solidFill>
                  <a:schemeClr val="tx1"/>
                </a:solidFill>
                <a:effectLst/>
                <a:latin typeface="+mn-lt"/>
              </a:rPr>
              <a:t>使用 Google Colab</a:t>
            </a:r>
          </a:p>
          <a:p>
            <a:pPr marL="0" marR="0" indent="0" algn="just" latinLnBrk="1">
              <a:spcAft>
                <a:spcPts val="1125"/>
              </a:spcAft>
              <a:buNone/>
            </a:pPr>
            <a:r>
              <a:rPr lang="zh-TW" altLang="zh-TW" sz="1800" b="0" i="0" dirty="0">
                <a:solidFill>
                  <a:schemeClr val="tx1"/>
                </a:solidFill>
                <a:effectLst/>
                <a:latin typeface="+mn-lt"/>
              </a:rPr>
              <a:t>通常在學 Python 時最難入門的，就是編輯環境的安裝，不僅要安裝 Python，還得安裝一個好用的編輯器，幸好 Google 提供了一個強大又免費的線上編輯器 Colaboratory ( 簡稱 Colab )，讓使用者可以只用瀏覽器，就能撰寫與執行 Python 程式。</a:t>
            </a:r>
            <a:endParaRPr lang="zh-TW" altLang="zh-TW" sz="1200" b="0" i="0" dirty="0">
              <a:solidFill>
                <a:srgbClr val="333333"/>
              </a:solidFill>
              <a:effectLst/>
              <a:latin typeface="Tahoma" panose="020B0604030504040204" pitchFamily="34" charset="0"/>
            </a:endParaRPr>
          </a:p>
        </p:txBody>
      </p:sp>
      <p:sp>
        <p:nvSpPr>
          <p:cNvPr id="6" name="文字方塊 5">
            <a:extLst>
              <a:ext uri="{FF2B5EF4-FFF2-40B4-BE49-F238E27FC236}">
                <a16:creationId xmlns:a16="http://schemas.microsoft.com/office/drawing/2014/main" id="{3327CFE5-D1C8-501D-B6CB-49D4901AABE5}"/>
              </a:ext>
            </a:extLst>
          </p:cNvPr>
          <p:cNvSpPr txBox="1"/>
          <p:nvPr/>
        </p:nvSpPr>
        <p:spPr>
          <a:xfrm>
            <a:off x="973394" y="2202515"/>
            <a:ext cx="6096000" cy="34214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indent="0" algn="l">
              <a:spcAft>
                <a:spcPts val="1125"/>
              </a:spcAft>
              <a:buNone/>
            </a:pPr>
            <a:r>
              <a:rPr lang="zh-TW" altLang="zh-TW" b="1" i="0" dirty="0">
                <a:solidFill>
                  <a:schemeClr val="tx1"/>
                </a:solidFill>
                <a:effectLst/>
                <a:latin typeface="+mn-lt"/>
              </a:rPr>
              <a:t>關於 Google Colab </a:t>
            </a:r>
          </a:p>
          <a:p>
            <a:pPr marL="0" marR="0" indent="0" algn="just" latinLnBrk="1">
              <a:spcAft>
                <a:spcPts val="1125"/>
              </a:spcAft>
              <a:buNone/>
            </a:pPr>
            <a:r>
              <a:rPr lang="zh-TW" altLang="zh-TW" sz="1800" b="0" i="0" dirty="0">
                <a:solidFill>
                  <a:schemeClr val="tx1"/>
                </a:solidFill>
                <a:effectLst/>
                <a:latin typeface="+mn-lt"/>
              </a:rPr>
              <a:t>Google Colab ( Colaboratory ) 是一個在</a:t>
            </a:r>
            <a:r>
              <a:rPr lang="zh-TW" altLang="zh-TW" sz="1800" b="0" i="0" u="none" strike="noStrike" dirty="0">
                <a:solidFill>
                  <a:schemeClr val="tx1"/>
                </a:solidFill>
                <a:effectLst/>
                <a:latin typeface="+mn-lt"/>
                <a:hlinkClick r:id="rId2"/>
              </a:rPr>
              <a:t> 雲端</a:t>
            </a:r>
            <a:r>
              <a:rPr lang="zh-TW" altLang="zh-TW" sz="1800" b="0" i="0" dirty="0">
                <a:solidFill>
                  <a:schemeClr val="tx1"/>
                </a:solidFill>
                <a:effectLst/>
                <a:latin typeface="+mn-lt"/>
              </a:rPr>
              <a:t>運行的編輯環境，由 Google 提供一個雲端虛擬主機，</a:t>
            </a:r>
            <a:r>
              <a:rPr lang="zh-TW" altLang="zh-TW" sz="1800" b="1" i="0" dirty="0">
                <a:solidFill>
                  <a:schemeClr val="tx1"/>
                </a:solidFill>
                <a:effectLst/>
                <a:latin typeface="+mn-lt"/>
              </a:rPr>
              <a:t>支援 Python 程式及機器學習 TensorFlow 演算法</a:t>
            </a:r>
            <a:r>
              <a:rPr lang="zh-TW" altLang="zh-TW" sz="1800" b="0" i="0" dirty="0">
                <a:solidFill>
                  <a:schemeClr val="tx1"/>
                </a:solidFill>
                <a:effectLst/>
                <a:latin typeface="+mn-lt"/>
              </a:rPr>
              <a:t>，Colab 目的在提供</a:t>
            </a:r>
            <a:r>
              <a:rPr lang="zh-TW" altLang="zh-TW" sz="1800" b="0" i="0" u="none" strike="noStrike" dirty="0">
                <a:solidFill>
                  <a:schemeClr val="tx1"/>
                </a:solidFill>
                <a:effectLst/>
                <a:latin typeface="+mn-lt"/>
                <a:hlinkClick r:id="rId2"/>
              </a:rPr>
              <a:t> 教育</a:t>
            </a:r>
            <a:r>
              <a:rPr lang="zh-TW" altLang="zh-TW" sz="1800" b="0" i="0" dirty="0">
                <a:solidFill>
                  <a:schemeClr val="tx1"/>
                </a:solidFill>
                <a:effectLst/>
                <a:latin typeface="+mn-lt"/>
              </a:rPr>
              <a:t>訓練以及</a:t>
            </a:r>
            <a:r>
              <a:rPr lang="zh-TW" altLang="zh-TW" sz="1800" b="0" i="0" u="none" strike="noStrike" dirty="0">
                <a:solidFill>
                  <a:schemeClr val="tx1"/>
                </a:solidFill>
                <a:effectLst/>
                <a:latin typeface="+mn-lt"/>
                <a:hlinkClick r:id="rId2"/>
              </a:rPr>
              <a:t> 教學</a:t>
            </a:r>
            <a:r>
              <a:rPr lang="zh-TW" altLang="zh-TW" sz="1800" b="0" i="0" dirty="0">
                <a:solidFill>
                  <a:schemeClr val="tx1"/>
                </a:solidFill>
                <a:effectLst/>
                <a:latin typeface="+mn-lt"/>
              </a:rPr>
              <a:t>研究，</a:t>
            </a:r>
            <a:r>
              <a:rPr lang="zh-TW" altLang="zh-TW" sz="1800" b="1" i="0" dirty="0">
                <a:solidFill>
                  <a:schemeClr val="tx1"/>
                </a:solidFill>
                <a:effectLst/>
                <a:latin typeface="+mn-lt"/>
              </a:rPr>
              <a:t>不用下載或安裝，就可直接編輯 Python，並使用 Python 的資源庫</a:t>
            </a:r>
            <a:r>
              <a:rPr lang="zh-TW" altLang="zh-TW" sz="1800" b="0" i="0" dirty="0">
                <a:solidFill>
                  <a:schemeClr val="tx1"/>
                </a:solidFill>
                <a:effectLst/>
                <a:latin typeface="+mn-lt"/>
              </a:rPr>
              <a:t>，大幅降低初學者的入門門檻，不用耗費太多時間在環境的安裝與設定。</a:t>
            </a:r>
          </a:p>
          <a:p>
            <a:pPr marL="0" marR="0" indent="0" algn="just" latinLnBrk="1">
              <a:spcAft>
                <a:spcPts val="1125"/>
              </a:spcAft>
              <a:buNone/>
            </a:pPr>
            <a:r>
              <a:rPr lang="zh-TW" altLang="zh-TW" sz="1800" b="0" i="0" dirty="0">
                <a:solidFill>
                  <a:schemeClr val="tx1"/>
                </a:solidFill>
                <a:effectLst/>
                <a:latin typeface="+mn-lt"/>
              </a:rPr>
              <a:t>在 Colab 裡編輯的程式碼，預設直接儲存在開發者的 Google Drive 雲端硬碟中，執行時由虛擬主機提供強大的運算能力，並不會用到本機的資源。但要如果程式閒置一段時間，會被停止並回收運算資源。</a:t>
            </a:r>
            <a:endParaRPr lang="zh-TW" altLang="zh-TW" sz="1800" b="0" i="0" dirty="0">
              <a:solidFill>
                <a:srgbClr val="333333"/>
              </a:solidFill>
              <a:effectLst/>
              <a:latin typeface="Tahoma" panose="020B0604030504040204" pitchFamily="34" charset="0"/>
            </a:endParaRPr>
          </a:p>
        </p:txBody>
      </p:sp>
      <p:pic>
        <p:nvPicPr>
          <p:cNvPr id="7" name="圖片 6" descr="Python 教學 - 使用 Google Colab">
            <a:extLst>
              <a:ext uri="{FF2B5EF4-FFF2-40B4-BE49-F238E27FC236}">
                <a16:creationId xmlns:a16="http://schemas.microsoft.com/office/drawing/2014/main" id="{33CC0E41-3539-D437-1593-DB4883DF695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069394" y="2678669"/>
            <a:ext cx="4892270" cy="2703460"/>
          </a:xfrm>
          <a:prstGeom prst="rect">
            <a:avLst/>
          </a:prstGeom>
        </p:spPr>
      </p:pic>
      <p:sp>
        <p:nvSpPr>
          <p:cNvPr id="9" name="文字方塊 8">
            <a:extLst>
              <a:ext uri="{FF2B5EF4-FFF2-40B4-BE49-F238E27FC236}">
                <a16:creationId xmlns:a16="http://schemas.microsoft.com/office/drawing/2014/main" id="{1AB705EE-DF3F-3F0F-9212-765448D2796B}"/>
              </a:ext>
            </a:extLst>
          </p:cNvPr>
          <p:cNvSpPr txBox="1"/>
          <p:nvPr/>
        </p:nvSpPr>
        <p:spPr>
          <a:xfrm>
            <a:off x="973394" y="5958038"/>
            <a:ext cx="718738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TW" altLang="en-US" dirty="0">
                <a:hlinkClick r:id="rId4"/>
              </a:rPr>
              <a:t>https://colab.research.google.com/notebooks/welcome.ipynb?hl=zh_tw</a:t>
            </a:r>
            <a:endParaRPr lang="zh-TW" altLang="en-US" dirty="0"/>
          </a:p>
        </p:txBody>
      </p:sp>
    </p:spTree>
    <p:extLst>
      <p:ext uri="{BB962C8B-B14F-4D97-AF65-F5344CB8AC3E}">
        <p14:creationId xmlns:p14="http://schemas.microsoft.com/office/powerpoint/2010/main" val="222045217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文字方塊 2">
            <a:extLst>
              <a:ext uri="{FF2B5EF4-FFF2-40B4-BE49-F238E27FC236}">
                <a16:creationId xmlns:a16="http://schemas.microsoft.com/office/drawing/2014/main" id="{096A252F-4E8C-A2A3-A336-1C2857AC786F}"/>
              </a:ext>
            </a:extLst>
          </p:cNvPr>
          <p:cNvSpPr txBox="1"/>
          <p:nvPr/>
        </p:nvSpPr>
        <p:spPr>
          <a:xfrm>
            <a:off x="658759" y="323210"/>
            <a:ext cx="11218607" cy="134139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indent="0" algn="l">
              <a:spcBef>
                <a:spcPts val="1125"/>
              </a:spcBef>
              <a:spcAft>
                <a:spcPts val="1125"/>
              </a:spcAft>
              <a:buNone/>
            </a:pPr>
            <a:r>
              <a:rPr lang="zh-TW" altLang="zh-TW" b="1" i="0" dirty="0">
                <a:solidFill>
                  <a:schemeClr val="tx1"/>
                </a:solidFill>
                <a:effectLst/>
                <a:latin typeface="+mn-lt"/>
              </a:rPr>
              <a:t>使用 Python 虛擬環境</a:t>
            </a:r>
          </a:p>
          <a:p>
            <a:pPr marL="0" marR="0" indent="0" algn="just" latinLnBrk="1">
              <a:spcAft>
                <a:spcPts val="1125"/>
              </a:spcAft>
              <a:buNone/>
            </a:pPr>
            <a:r>
              <a:rPr lang="zh-TW" altLang="zh-TW" sz="1800" b="0" i="0" dirty="0">
                <a:solidFill>
                  <a:schemeClr val="tx1"/>
                </a:solidFill>
                <a:effectLst/>
                <a:latin typeface="+mn-lt"/>
              </a:rPr>
              <a:t>在本機安裝 Python 或 Python 套件時，往往會遇到</a:t>
            </a:r>
            <a:r>
              <a:rPr lang="zh-TW" altLang="zh-TW" sz="1800" b="0" i="0" u="none" strike="noStrike" dirty="0">
                <a:solidFill>
                  <a:schemeClr val="tx1"/>
                </a:solidFill>
                <a:effectLst/>
                <a:latin typeface="+mn-lt"/>
                <a:hlinkClick r:id="rId2"/>
              </a:rPr>
              <a:t> 電腦</a:t>
            </a:r>
            <a:r>
              <a:rPr lang="zh-TW" altLang="zh-TW" sz="1800" b="0" i="0" dirty="0">
                <a:solidFill>
                  <a:schemeClr val="tx1"/>
                </a:solidFill>
                <a:effectLst/>
                <a:latin typeface="+mn-lt"/>
              </a:rPr>
              <a:t>環境中多個版本的 Python 互相干擾的狀況，為了避免這種狀況，可以使用「Python 虛擬環境」，透過虛擬環境建置一個「乾淨」的操作環境，就可以順利的執行程式，或安裝各種函式庫或套件。</a:t>
            </a:r>
            <a:endParaRPr lang="zh-TW" altLang="zh-TW" sz="1200" b="0" i="0" dirty="0">
              <a:solidFill>
                <a:srgbClr val="333333"/>
              </a:solidFill>
              <a:effectLst/>
              <a:latin typeface="Tahoma" panose="020B0604030504040204" pitchFamily="34" charset="0"/>
            </a:endParaRPr>
          </a:p>
        </p:txBody>
      </p:sp>
      <p:sp>
        <p:nvSpPr>
          <p:cNvPr id="5" name="文字方塊 4">
            <a:extLst>
              <a:ext uri="{FF2B5EF4-FFF2-40B4-BE49-F238E27FC236}">
                <a16:creationId xmlns:a16="http://schemas.microsoft.com/office/drawing/2014/main" id="{23C8C4FA-842C-C63A-ADB0-83D4CE90EF8D}"/>
              </a:ext>
            </a:extLst>
          </p:cNvPr>
          <p:cNvSpPr txBox="1"/>
          <p:nvPr/>
        </p:nvSpPr>
        <p:spPr>
          <a:xfrm>
            <a:off x="658759" y="1796341"/>
            <a:ext cx="11110454" cy="148245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indent="0" algn="l">
              <a:spcAft>
                <a:spcPts val="1125"/>
              </a:spcAft>
              <a:buNone/>
            </a:pPr>
            <a:r>
              <a:rPr lang="zh-TW" altLang="zh-TW" b="1" i="0" dirty="0">
                <a:solidFill>
                  <a:schemeClr val="tx1"/>
                </a:solidFill>
                <a:effectLst/>
                <a:latin typeface="+mn-lt"/>
              </a:rPr>
              <a:t>安裝 Python </a:t>
            </a:r>
          </a:p>
          <a:p>
            <a:pPr marL="0" marR="0" indent="0" algn="just" latinLnBrk="1">
              <a:spcAft>
                <a:spcPts val="1125"/>
              </a:spcAft>
              <a:buNone/>
            </a:pPr>
            <a:r>
              <a:rPr lang="zh-TW" altLang="zh-TW" sz="1800" b="0" i="0" dirty="0">
                <a:solidFill>
                  <a:schemeClr val="tx1"/>
                </a:solidFill>
                <a:effectLst/>
                <a:latin typeface="+mn-lt"/>
              </a:rPr>
              <a:t>如果已經安裝過 Anaconda，應該就已經順利將 Python 安裝到電腦中，如果沒有安裝過，可以前往 Python 的網站，根據自己的作業系統下載 Python 並安裝。</a:t>
            </a:r>
          </a:p>
          <a:p>
            <a:pPr marL="0" marR="0" indent="0" algn="l" latinLnBrk="1">
              <a:spcAft>
                <a:spcPts val="1500"/>
              </a:spcAft>
              <a:buNone/>
            </a:pPr>
            <a:r>
              <a:rPr lang="zh-TW" altLang="zh-TW" sz="1800" b="0" i="0" dirty="0">
                <a:solidFill>
                  <a:schemeClr val="tx1"/>
                </a:solidFill>
                <a:effectLst/>
                <a:latin typeface="+mn-lt"/>
              </a:rPr>
              <a:t>Python 下載：</a:t>
            </a:r>
            <a:r>
              <a:rPr lang="zh-TW" altLang="zh-TW" sz="1800" b="0" i="0" dirty="0">
                <a:solidFill>
                  <a:schemeClr val="tx1"/>
                </a:solidFill>
                <a:effectLst/>
                <a:latin typeface="+mn-lt"/>
                <a:hlinkClick r:id="rId3" tooltip="https://www.python.org/downloads/"/>
              </a:rPr>
              <a:t>https://www.python.org/downloads/</a:t>
            </a:r>
            <a:endParaRPr lang="zh-TW" altLang="zh-TW" sz="1200" b="0" i="0" dirty="0">
              <a:solidFill>
                <a:srgbClr val="333333"/>
              </a:solidFill>
              <a:effectLst/>
              <a:latin typeface="inherit"/>
            </a:endParaRPr>
          </a:p>
        </p:txBody>
      </p:sp>
      <p:sp>
        <p:nvSpPr>
          <p:cNvPr id="7" name="文字方塊 6">
            <a:extLst>
              <a:ext uri="{FF2B5EF4-FFF2-40B4-BE49-F238E27FC236}">
                <a16:creationId xmlns:a16="http://schemas.microsoft.com/office/drawing/2014/main" id="{B2B95E0D-4870-86E8-991E-F4B0822EE4BC}"/>
              </a:ext>
            </a:extLst>
          </p:cNvPr>
          <p:cNvSpPr txBox="1"/>
          <p:nvPr/>
        </p:nvSpPr>
        <p:spPr>
          <a:xfrm>
            <a:off x="658759" y="3536811"/>
            <a:ext cx="11110454" cy="78739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indent="0" algn="l">
              <a:spcAft>
                <a:spcPts val="1125"/>
              </a:spcAft>
              <a:buNone/>
            </a:pPr>
            <a:r>
              <a:rPr lang="zh-TW" altLang="zh-TW" b="1" i="0" dirty="0">
                <a:solidFill>
                  <a:schemeClr val="tx1"/>
                </a:solidFill>
                <a:effectLst/>
                <a:latin typeface="+mn-lt"/>
              </a:rPr>
              <a:t>安裝 virtualenv </a:t>
            </a:r>
          </a:p>
          <a:p>
            <a:pPr marL="0" marR="0" indent="0" algn="just" latinLnBrk="1">
              <a:spcAft>
                <a:spcPts val="1125"/>
              </a:spcAft>
              <a:buNone/>
            </a:pPr>
            <a:r>
              <a:rPr lang="zh-TW" altLang="zh-TW" sz="1800" b="0" i="0" dirty="0">
                <a:solidFill>
                  <a:schemeClr val="tx1"/>
                </a:solidFill>
                <a:effectLst/>
                <a:latin typeface="+mn-lt"/>
              </a:rPr>
              <a:t>建立一個資料夾，使用開啟命令提示字元進入該資料夾，輸入下方指令安裝 virtualenv。</a:t>
            </a:r>
            <a:endParaRPr lang="zh-TW" altLang="zh-TW" sz="1200" b="0" i="0" dirty="0">
              <a:solidFill>
                <a:srgbClr val="333333"/>
              </a:solidFill>
              <a:effectLst/>
              <a:latin typeface="Tahoma" panose="020B0604030504040204" pitchFamily="34" charset="0"/>
            </a:endParaRPr>
          </a:p>
        </p:txBody>
      </p:sp>
      <p:sp>
        <p:nvSpPr>
          <p:cNvPr id="9" name="文字方塊 8">
            <a:extLst>
              <a:ext uri="{FF2B5EF4-FFF2-40B4-BE49-F238E27FC236}">
                <a16:creationId xmlns:a16="http://schemas.microsoft.com/office/drawing/2014/main" id="{B4F99762-A1F9-085C-FA40-BB3CA9A2E93B}"/>
              </a:ext>
            </a:extLst>
          </p:cNvPr>
          <p:cNvSpPr txBox="1"/>
          <p:nvPr/>
        </p:nvSpPr>
        <p:spPr>
          <a:xfrm>
            <a:off x="658759" y="4366598"/>
            <a:ext cx="6096000" cy="11644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indent="0" algn="l">
              <a:spcAft>
                <a:spcPts val="2625"/>
              </a:spcAft>
              <a:buNone/>
            </a:pPr>
            <a:r>
              <a:rPr lang="zh-TW" altLang="zh-TW" sz="1800" b="0" i="0" dirty="0">
                <a:solidFill>
                  <a:schemeClr val="tx1"/>
                </a:solidFill>
                <a:effectLst/>
                <a:latin typeface="+mn-lt"/>
              </a:rPr>
              <a:t>pip install virtualenv</a:t>
            </a:r>
          </a:p>
          <a:p>
            <a:pPr>
              <a:buNone/>
            </a:pPr>
            <a:br>
              <a:rPr lang="zh-TW" altLang="zh-TW" dirty="0"/>
            </a:br>
            <a:endParaRPr lang="zh-TW" altLang="en-US" dirty="0"/>
          </a:p>
        </p:txBody>
      </p:sp>
      <p:sp>
        <p:nvSpPr>
          <p:cNvPr id="11" name="文字方塊 10">
            <a:extLst>
              <a:ext uri="{FF2B5EF4-FFF2-40B4-BE49-F238E27FC236}">
                <a16:creationId xmlns:a16="http://schemas.microsoft.com/office/drawing/2014/main" id="{68E9AE8A-278E-CA55-2451-A4E574E8E185}"/>
              </a:ext>
            </a:extLst>
          </p:cNvPr>
          <p:cNvSpPr txBox="1"/>
          <p:nvPr/>
        </p:nvSpPr>
        <p:spPr>
          <a:xfrm>
            <a:off x="658759" y="4868707"/>
            <a:ext cx="11110454" cy="106439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indent="0" algn="just" latinLnBrk="1">
              <a:spcAft>
                <a:spcPts val="1125"/>
              </a:spcAft>
              <a:buNone/>
            </a:pPr>
            <a:r>
              <a:rPr lang="zh-TW" altLang="zh-TW" sz="1800" b="0" i="0" dirty="0">
                <a:solidFill>
                  <a:schemeClr val="tx1"/>
                </a:solidFill>
                <a:effectLst/>
                <a:latin typeface="+mn-lt"/>
              </a:rPr>
              <a:t>安裝完成後，在同樣的資料夾裡，輸入下方指令，建立虛擬環境的資料夾 ( test 為資料夾名稱 )。</a:t>
            </a:r>
          </a:p>
          <a:p>
            <a:pPr>
              <a:buNone/>
            </a:pPr>
            <a:br>
              <a:rPr lang="zh-TW" altLang="zh-TW" dirty="0"/>
            </a:br>
            <a:endParaRPr lang="zh-TW" altLang="en-US" dirty="0"/>
          </a:p>
        </p:txBody>
      </p:sp>
      <p:sp>
        <p:nvSpPr>
          <p:cNvPr id="13" name="文字方塊 12">
            <a:extLst>
              <a:ext uri="{FF2B5EF4-FFF2-40B4-BE49-F238E27FC236}">
                <a16:creationId xmlns:a16="http://schemas.microsoft.com/office/drawing/2014/main" id="{0A759352-C44F-C33A-20A3-41B80BB5F11D}"/>
              </a:ext>
            </a:extLst>
          </p:cNvPr>
          <p:cNvSpPr txBox="1"/>
          <p:nvPr/>
        </p:nvSpPr>
        <p:spPr>
          <a:xfrm>
            <a:off x="658759" y="5270789"/>
            <a:ext cx="6096000" cy="11644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indent="0" algn="l">
              <a:spcAft>
                <a:spcPts val="2625"/>
              </a:spcAft>
              <a:buNone/>
            </a:pPr>
            <a:r>
              <a:rPr lang="zh-TW" altLang="zh-TW" sz="1800" b="0" i="0" dirty="0">
                <a:solidFill>
                  <a:schemeClr val="tx1"/>
                </a:solidFill>
                <a:effectLst/>
                <a:latin typeface="+mn-lt"/>
              </a:rPr>
              <a:t>virtualenv test</a:t>
            </a:r>
          </a:p>
          <a:p>
            <a:pPr>
              <a:buNone/>
            </a:pPr>
            <a:br>
              <a:rPr lang="zh-TW" altLang="zh-TW" dirty="0"/>
            </a:br>
            <a:endParaRPr lang="zh-TW" altLang="en-US" dirty="0"/>
          </a:p>
        </p:txBody>
      </p:sp>
      <p:sp>
        <p:nvSpPr>
          <p:cNvPr id="15" name="文字方塊 14">
            <a:extLst>
              <a:ext uri="{FF2B5EF4-FFF2-40B4-BE49-F238E27FC236}">
                <a16:creationId xmlns:a16="http://schemas.microsoft.com/office/drawing/2014/main" id="{53B90297-AF5A-9109-E415-BD1DEBEFEAF3}"/>
              </a:ext>
            </a:extLst>
          </p:cNvPr>
          <p:cNvSpPr txBox="1"/>
          <p:nvPr/>
        </p:nvSpPr>
        <p:spPr>
          <a:xfrm>
            <a:off x="658759" y="5848462"/>
            <a:ext cx="60960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indent="0" algn="l">
              <a:spcAft>
                <a:spcPts val="1125"/>
              </a:spcAft>
              <a:buNone/>
            </a:pPr>
            <a:r>
              <a:rPr lang="zh-TW" altLang="zh-TW" b="1" i="0" dirty="0">
                <a:solidFill>
                  <a:schemeClr val="tx1"/>
                </a:solidFill>
                <a:effectLst/>
                <a:latin typeface="+mn-lt"/>
              </a:rPr>
              <a:t>進入 Python 虛擬環境 </a:t>
            </a:r>
            <a:endParaRPr lang="zh-TW" altLang="zh-TW" b="1" i="0" dirty="0">
              <a:solidFill>
                <a:srgbClr val="000000"/>
              </a:solidFill>
              <a:effectLst/>
              <a:latin typeface="Tahoma" panose="020B0604030504040204" pitchFamily="34" charset="0"/>
            </a:endParaRPr>
          </a:p>
        </p:txBody>
      </p:sp>
      <p:sp>
        <p:nvSpPr>
          <p:cNvPr id="17" name="文字方塊 16">
            <a:extLst>
              <a:ext uri="{FF2B5EF4-FFF2-40B4-BE49-F238E27FC236}">
                <a16:creationId xmlns:a16="http://schemas.microsoft.com/office/drawing/2014/main" id="{60BBC3EA-7163-E6B2-D07D-E7E951345CBD}"/>
              </a:ext>
            </a:extLst>
          </p:cNvPr>
          <p:cNvSpPr txBox="1"/>
          <p:nvPr/>
        </p:nvSpPr>
        <p:spPr>
          <a:xfrm>
            <a:off x="658759" y="6217794"/>
            <a:ext cx="60960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/>
            <a:r>
              <a:rPr lang="zh-TW" altLang="zh-TW" sz="1800" b="0" i="0" dirty="0">
                <a:solidFill>
                  <a:schemeClr val="tx1"/>
                </a:solidFill>
                <a:effectLst/>
                <a:latin typeface="+mn-lt"/>
              </a:rPr>
              <a:t>Windows：</a:t>
            </a:r>
            <a:r>
              <a:rPr lang="zh-TW" altLang="zh-TW" dirty="0"/>
              <a:t>test\Scripts\activate</a:t>
            </a:r>
            <a:endParaRPr lang="zh-TW" altLang="en-US" dirty="0"/>
          </a:p>
        </p:txBody>
      </p:sp>
      <p:sp>
        <p:nvSpPr>
          <p:cNvPr id="19" name="文字方塊 18">
            <a:extLst>
              <a:ext uri="{FF2B5EF4-FFF2-40B4-BE49-F238E27FC236}">
                <a16:creationId xmlns:a16="http://schemas.microsoft.com/office/drawing/2014/main" id="{3A54A635-1E60-8E7E-AD43-AB9FA734ADAB}"/>
              </a:ext>
            </a:extLst>
          </p:cNvPr>
          <p:cNvSpPr txBox="1"/>
          <p:nvPr/>
        </p:nvSpPr>
        <p:spPr>
          <a:xfrm>
            <a:off x="5673213" y="5832087"/>
            <a:ext cx="60960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indent="0" algn="l">
              <a:spcAft>
                <a:spcPts val="1125"/>
              </a:spcAft>
              <a:buNone/>
            </a:pPr>
            <a:r>
              <a:rPr lang="zh-TW" altLang="zh-TW" b="1" i="0" dirty="0">
                <a:solidFill>
                  <a:schemeClr val="tx1"/>
                </a:solidFill>
                <a:effectLst/>
                <a:latin typeface="+mn-lt"/>
              </a:rPr>
              <a:t>離開虛擬環境 </a:t>
            </a:r>
            <a:endParaRPr lang="zh-TW" altLang="zh-TW" b="1" i="0" dirty="0">
              <a:solidFill>
                <a:srgbClr val="000000"/>
              </a:solidFill>
              <a:effectLst/>
              <a:latin typeface="Tahoma" panose="020B0604030504040204" pitchFamily="34" charset="0"/>
            </a:endParaRPr>
          </a:p>
        </p:txBody>
      </p:sp>
      <p:sp>
        <p:nvSpPr>
          <p:cNvPr id="21" name="文字方塊 20">
            <a:extLst>
              <a:ext uri="{FF2B5EF4-FFF2-40B4-BE49-F238E27FC236}">
                <a16:creationId xmlns:a16="http://schemas.microsoft.com/office/drawing/2014/main" id="{A5CAECFB-39EF-DDC7-EDC2-45317D1521C3}"/>
              </a:ext>
            </a:extLst>
          </p:cNvPr>
          <p:cNvSpPr txBox="1"/>
          <p:nvPr/>
        </p:nvSpPr>
        <p:spPr>
          <a:xfrm>
            <a:off x="5673213" y="6217794"/>
            <a:ext cx="60960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indent="0" algn="l">
              <a:spcAft>
                <a:spcPts val="2625"/>
              </a:spcAft>
              <a:buNone/>
            </a:pPr>
            <a:r>
              <a:rPr lang="zh-TW" altLang="zh-TW" sz="1800" b="0" i="0" dirty="0">
                <a:solidFill>
                  <a:schemeClr val="tx1"/>
                </a:solidFill>
                <a:effectLst/>
                <a:latin typeface="+mn-lt"/>
              </a:rPr>
              <a:t>deactivate</a:t>
            </a:r>
            <a:endParaRPr lang="zh-TW" altLang="en-US" dirty="0"/>
          </a:p>
        </p:txBody>
      </p:sp>
    </p:spTree>
    <p:extLst>
      <p:ext uri="{BB962C8B-B14F-4D97-AF65-F5344CB8AC3E}">
        <p14:creationId xmlns:p14="http://schemas.microsoft.com/office/powerpoint/2010/main" val="130424342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文字方塊 2">
            <a:extLst>
              <a:ext uri="{FF2B5EF4-FFF2-40B4-BE49-F238E27FC236}">
                <a16:creationId xmlns:a16="http://schemas.microsoft.com/office/drawing/2014/main" id="{AD43C356-4AD9-48A3-FF3F-B0C4147395D8}"/>
              </a:ext>
            </a:extLst>
          </p:cNvPr>
          <p:cNvSpPr txBox="1"/>
          <p:nvPr/>
        </p:nvSpPr>
        <p:spPr>
          <a:xfrm>
            <a:off x="521110" y="287283"/>
            <a:ext cx="60960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indent="0" algn="l">
              <a:spcAft>
                <a:spcPts val="1125"/>
              </a:spcAft>
              <a:buNone/>
            </a:pPr>
            <a:r>
              <a:rPr lang="zh-TW" altLang="zh-TW" b="1" i="0" dirty="0">
                <a:solidFill>
                  <a:schemeClr val="tx1"/>
                </a:solidFill>
                <a:effectLst/>
                <a:latin typeface="+mn-lt"/>
              </a:rPr>
              <a:t>Python 基礎範例 </a:t>
            </a:r>
            <a:endParaRPr lang="zh-TW" altLang="zh-TW" b="1" i="0" dirty="0">
              <a:solidFill>
                <a:srgbClr val="000000"/>
              </a:solidFill>
              <a:effectLst/>
              <a:latin typeface="Tahoma" panose="020B0604030504040204" pitchFamily="34" charset="0"/>
            </a:endParaRPr>
          </a:p>
        </p:txBody>
      </p:sp>
      <p:sp>
        <p:nvSpPr>
          <p:cNvPr id="5" name="文字方塊 4">
            <a:extLst>
              <a:ext uri="{FF2B5EF4-FFF2-40B4-BE49-F238E27FC236}">
                <a16:creationId xmlns:a16="http://schemas.microsoft.com/office/drawing/2014/main" id="{D5993259-5CA2-183A-71EC-7E6D52B2AD9B}"/>
              </a:ext>
            </a:extLst>
          </p:cNvPr>
          <p:cNvSpPr txBox="1"/>
          <p:nvPr/>
        </p:nvSpPr>
        <p:spPr>
          <a:xfrm>
            <a:off x="521110" y="761883"/>
            <a:ext cx="6096000" cy="37856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marR="0" lvl="0" indent="-342900" algn="l">
              <a:buFont typeface="Arial" panose="020B0604020202020204" pitchFamily="34" charset="0"/>
              <a:buChar char="•"/>
            </a:pPr>
            <a:r>
              <a:rPr lang="zh-TW" altLang="zh-TW" sz="1800" b="0" i="0" dirty="0">
                <a:solidFill>
                  <a:schemeClr val="tx1"/>
                </a:solidFill>
                <a:effectLst/>
                <a:latin typeface="+mn-lt"/>
                <a:hlinkClick r:id="rId2" tooltip="電費試算"/>
              </a:rPr>
              <a:t>電費試算</a:t>
            </a:r>
            <a:endParaRPr lang="zh-TW" altLang="zh-TW" sz="1800" b="0" i="0" dirty="0">
              <a:solidFill>
                <a:schemeClr val="tx1"/>
              </a:solidFill>
              <a:effectLst/>
              <a:latin typeface="+mn-lt"/>
            </a:endParaRPr>
          </a:p>
          <a:p>
            <a:pPr marL="342900" marR="0" lvl="0" indent="-342900" algn="l">
              <a:buFont typeface="Arial" panose="020B0604020202020204" pitchFamily="34" charset="0"/>
              <a:buChar char="•"/>
            </a:pPr>
            <a:r>
              <a:rPr lang="zh-TW" altLang="zh-TW" sz="1800" b="0" i="0" dirty="0">
                <a:solidFill>
                  <a:schemeClr val="tx1"/>
                </a:solidFill>
                <a:effectLst/>
                <a:latin typeface="+mn-lt"/>
                <a:hlinkClick r:id="rId3" tooltip="攝氏/華氏轉換"/>
              </a:rPr>
              <a:t>攝氏/華氏轉換</a:t>
            </a:r>
            <a:endParaRPr lang="zh-TW" altLang="zh-TW" sz="1800" b="0" i="0" dirty="0">
              <a:solidFill>
                <a:schemeClr val="tx1"/>
              </a:solidFill>
              <a:effectLst/>
              <a:latin typeface="+mn-lt"/>
            </a:endParaRPr>
          </a:p>
          <a:p>
            <a:pPr marL="342900" marR="0" lvl="0" indent="-342900" algn="l">
              <a:buFont typeface="Arial" panose="020B0604020202020204" pitchFamily="34" charset="0"/>
              <a:buChar char="•"/>
            </a:pPr>
            <a:r>
              <a:rPr lang="zh-TW" altLang="zh-TW" sz="1800" b="0" i="0" dirty="0">
                <a:solidFill>
                  <a:schemeClr val="tx1"/>
                </a:solidFill>
                <a:effectLst/>
                <a:latin typeface="+mn-lt"/>
                <a:hlinkClick r:id="rId4" tooltip="公分/英吋換算"/>
              </a:rPr>
              <a:t>公分/英吋換算</a:t>
            </a:r>
            <a:endParaRPr lang="zh-TW" altLang="zh-TW" sz="1800" b="0" i="0" dirty="0">
              <a:solidFill>
                <a:schemeClr val="tx1"/>
              </a:solidFill>
              <a:effectLst/>
              <a:latin typeface="+mn-lt"/>
            </a:endParaRPr>
          </a:p>
          <a:p>
            <a:pPr marL="342900" marR="0" lvl="0" indent="-342900" algn="l">
              <a:buFont typeface="Arial" panose="020B0604020202020204" pitchFamily="34" charset="0"/>
              <a:buChar char="•"/>
            </a:pPr>
            <a:r>
              <a:rPr lang="zh-TW" altLang="zh-TW" sz="1800" b="0" i="0" dirty="0">
                <a:solidFill>
                  <a:schemeClr val="tx1"/>
                </a:solidFill>
                <a:effectLst/>
                <a:latin typeface="+mn-lt"/>
                <a:hlinkClick r:id="rId5" tooltip="判斷平年與閏年"/>
              </a:rPr>
              <a:t>判斷平年與閏年</a:t>
            </a:r>
            <a:endParaRPr lang="zh-TW" altLang="zh-TW" sz="1800" b="0" i="0" dirty="0">
              <a:solidFill>
                <a:schemeClr val="tx1"/>
              </a:solidFill>
              <a:effectLst/>
              <a:latin typeface="+mn-lt"/>
            </a:endParaRPr>
          </a:p>
          <a:p>
            <a:pPr marL="342900" marR="0" lvl="0" indent="-342900" algn="l">
              <a:buFont typeface="Arial" panose="020B0604020202020204" pitchFamily="34" charset="0"/>
              <a:buChar char="•"/>
            </a:pPr>
            <a:r>
              <a:rPr lang="zh-TW" altLang="zh-TW" sz="1800" b="0" i="0" dirty="0">
                <a:solidFill>
                  <a:schemeClr val="tx1"/>
                </a:solidFill>
                <a:effectLst/>
                <a:latin typeface="+mn-lt"/>
                <a:hlinkClick r:id="rId6" tooltip="找出不重複字元"/>
              </a:rPr>
              <a:t>找出不重複字元</a:t>
            </a:r>
            <a:endParaRPr lang="zh-TW" altLang="zh-TW" sz="1800" b="0" i="0" dirty="0">
              <a:solidFill>
                <a:schemeClr val="tx1"/>
              </a:solidFill>
              <a:effectLst/>
              <a:latin typeface="+mn-lt"/>
            </a:endParaRPr>
          </a:p>
          <a:p>
            <a:pPr marL="342900" marR="0" lvl="0" indent="-342900" algn="l">
              <a:buFont typeface="Arial" panose="020B0604020202020204" pitchFamily="34" charset="0"/>
              <a:buChar char="•"/>
            </a:pPr>
            <a:r>
              <a:rPr lang="zh-TW" altLang="zh-TW" sz="1800" b="0" i="0" dirty="0">
                <a:solidFill>
                  <a:schemeClr val="tx1"/>
                </a:solidFill>
                <a:effectLst/>
                <a:latin typeface="+mn-lt"/>
                <a:hlinkClick r:id="rId7" tooltip="找出中間的字元"/>
              </a:rPr>
              <a:t>找出中間的字元</a:t>
            </a:r>
            <a:endParaRPr lang="zh-TW" altLang="zh-TW" sz="1800" b="0" i="0" dirty="0">
              <a:solidFill>
                <a:schemeClr val="tx1"/>
              </a:solidFill>
              <a:effectLst/>
              <a:latin typeface="+mn-lt"/>
            </a:endParaRPr>
          </a:p>
          <a:p>
            <a:pPr marL="342900" marR="0" lvl="0" indent="-342900" algn="l">
              <a:buFont typeface="Arial" panose="020B0604020202020204" pitchFamily="34" charset="0"/>
              <a:buChar char="•"/>
            </a:pPr>
            <a:r>
              <a:rPr lang="zh-TW" altLang="zh-TW" sz="1800" b="0" i="0" dirty="0">
                <a:solidFill>
                  <a:schemeClr val="tx1"/>
                </a:solidFill>
                <a:effectLst/>
                <a:latin typeface="+mn-lt"/>
                <a:hlinkClick r:id="rId8" tooltip="去除中英文夾雜的空白"/>
              </a:rPr>
              <a:t>去除中英文夾雜的空白</a:t>
            </a:r>
            <a:endParaRPr lang="zh-TW" altLang="zh-TW" sz="1800" b="0" i="0" dirty="0">
              <a:solidFill>
                <a:schemeClr val="tx1"/>
              </a:solidFill>
              <a:effectLst/>
              <a:latin typeface="+mn-lt"/>
            </a:endParaRPr>
          </a:p>
          <a:p>
            <a:pPr marL="342900" marR="0" lvl="0" indent="-342900" algn="l">
              <a:buFont typeface="Arial" panose="020B0604020202020204" pitchFamily="34" charset="0"/>
              <a:buChar char="•"/>
            </a:pPr>
            <a:r>
              <a:rPr lang="zh-TW" altLang="zh-TW" sz="1800" b="0" i="0" dirty="0">
                <a:solidFill>
                  <a:schemeClr val="tx1"/>
                </a:solidFill>
                <a:effectLst/>
                <a:latin typeface="+mn-lt"/>
                <a:hlinkClick r:id="rId9" tooltip="大樂透電腦選號"/>
              </a:rPr>
              <a:t>大樂透電腦選號</a:t>
            </a:r>
            <a:endParaRPr lang="zh-TW" altLang="zh-TW" sz="1800" b="0" i="0" dirty="0">
              <a:solidFill>
                <a:schemeClr val="tx1"/>
              </a:solidFill>
              <a:effectLst/>
              <a:latin typeface="+mn-lt"/>
            </a:endParaRPr>
          </a:p>
          <a:p>
            <a:pPr marL="342900" marR="0" lvl="0" indent="-342900" algn="l">
              <a:buFont typeface="Arial" panose="020B0604020202020204" pitchFamily="34" charset="0"/>
              <a:buChar char="•"/>
            </a:pPr>
            <a:r>
              <a:rPr lang="zh-TW" altLang="zh-TW" sz="1800" b="0" i="0" dirty="0">
                <a:solidFill>
                  <a:schemeClr val="tx1"/>
                </a:solidFill>
                <a:effectLst/>
                <a:latin typeface="+mn-lt"/>
                <a:hlinkClick r:id="rId10" tooltip="下載進度條"/>
              </a:rPr>
              <a:t>下載進度條</a:t>
            </a:r>
            <a:endParaRPr lang="zh-TW" altLang="zh-TW" sz="1800" b="0" i="0" dirty="0">
              <a:solidFill>
                <a:schemeClr val="tx1"/>
              </a:solidFill>
              <a:effectLst/>
              <a:latin typeface="+mn-lt"/>
            </a:endParaRPr>
          </a:p>
          <a:p>
            <a:pPr marL="342900" marR="0" lvl="0" indent="-342900" algn="l">
              <a:buFont typeface="Arial" panose="020B0604020202020204" pitchFamily="34" charset="0"/>
              <a:buChar char="•"/>
            </a:pPr>
            <a:r>
              <a:rPr lang="zh-TW" altLang="zh-TW" sz="1800" b="0" i="0" dirty="0">
                <a:solidFill>
                  <a:schemeClr val="tx1"/>
                </a:solidFill>
                <a:effectLst/>
                <a:latin typeface="+mn-lt"/>
                <a:hlinkClick r:id="rId11" tooltip="星號金字塔"/>
              </a:rPr>
              <a:t>星號金字塔</a:t>
            </a:r>
            <a:endParaRPr lang="zh-TW" altLang="zh-TW" sz="1800" b="0" i="0" dirty="0">
              <a:solidFill>
                <a:schemeClr val="tx1"/>
              </a:solidFill>
              <a:effectLst/>
              <a:latin typeface="+mn-lt"/>
            </a:endParaRPr>
          </a:p>
          <a:p>
            <a:pPr marL="342900" marR="0" lvl="0" indent="-342900" algn="l">
              <a:buFont typeface="Arial" panose="020B0604020202020204" pitchFamily="34" charset="0"/>
              <a:buChar char="•"/>
            </a:pPr>
            <a:r>
              <a:rPr lang="zh-TW" altLang="zh-TW" sz="1800" b="0" i="0" dirty="0">
                <a:solidFill>
                  <a:schemeClr val="tx1"/>
                </a:solidFill>
                <a:effectLst/>
                <a:latin typeface="+mn-lt"/>
                <a:hlinkClick r:id="rId12" tooltip="數字金字塔"/>
              </a:rPr>
              <a:t>數字金字塔</a:t>
            </a:r>
            <a:endParaRPr lang="zh-TW" altLang="zh-TW" sz="1800" b="0" i="0" dirty="0">
              <a:solidFill>
                <a:schemeClr val="tx1"/>
              </a:solidFill>
              <a:effectLst/>
              <a:latin typeface="+mn-lt"/>
            </a:endParaRPr>
          </a:p>
          <a:p>
            <a:pPr marL="342900" marR="0" lvl="0" indent="-342900" algn="l">
              <a:buFont typeface="Arial" panose="020B0604020202020204" pitchFamily="34" charset="0"/>
              <a:buChar char="•"/>
            </a:pPr>
            <a:r>
              <a:rPr lang="zh-TW" altLang="zh-TW" sz="1800" b="0" i="0" dirty="0">
                <a:solidFill>
                  <a:schemeClr val="tx1"/>
                </a:solidFill>
                <a:effectLst/>
                <a:latin typeface="+mn-lt"/>
                <a:hlinkClick r:id="rId13" tooltip="猜數字 ( 猜大猜小 )"/>
              </a:rPr>
              <a:t>猜數字 ( 猜大猜小 )</a:t>
            </a:r>
            <a:endParaRPr lang="zh-TW" altLang="zh-TW" sz="1800" b="0" i="0" dirty="0">
              <a:solidFill>
                <a:schemeClr val="tx1"/>
              </a:solidFill>
              <a:effectLst/>
              <a:latin typeface="+mn-lt"/>
            </a:endParaRPr>
          </a:p>
          <a:p>
            <a:pPr marL="342900" marR="0" lvl="0" indent="-342900" algn="l">
              <a:buFont typeface="Arial" panose="020B0604020202020204" pitchFamily="34" charset="0"/>
              <a:buChar char="•"/>
            </a:pPr>
            <a:r>
              <a:rPr lang="zh-TW" altLang="zh-TW" sz="1800" b="0" i="0" dirty="0">
                <a:solidFill>
                  <a:schemeClr val="tx1"/>
                </a:solidFill>
                <a:effectLst/>
                <a:latin typeface="+mn-lt"/>
                <a:hlinkClick r:id="rId14" tooltip="猜數字 ( 幾 A 幾 B )"/>
              </a:rPr>
              <a:t>猜數字 ( 幾 A 幾 B )</a:t>
            </a:r>
            <a:endParaRPr lang="zh-TW" altLang="zh-TW" sz="1800" b="0" i="0" dirty="0">
              <a:solidFill>
                <a:schemeClr val="tx1"/>
              </a:solidFill>
              <a:effectLst/>
              <a:latin typeface="+mn-lt"/>
            </a:endParaRPr>
          </a:p>
          <a:p>
            <a:pPr marL="342900" marR="0" lvl="0" indent="-342900" algn="l">
              <a:buFont typeface="Arial" panose="020B0604020202020204" pitchFamily="34" charset="0"/>
              <a:buChar char="•"/>
            </a:pPr>
            <a:r>
              <a:rPr lang="zh-TW" altLang="zh-TW" sz="1800" b="0" i="0" dirty="0">
                <a:solidFill>
                  <a:schemeClr val="tx1"/>
                </a:solidFill>
                <a:effectLst/>
                <a:latin typeface="+mn-lt"/>
                <a:hlinkClick r:id="rId15" tooltip="簡單時鐘 ( 世界時間 )"/>
              </a:rPr>
              <a:t>簡單時鐘 ( 世界時間 )</a:t>
            </a:r>
            <a:endParaRPr lang="zh-TW" altLang="zh-TW" sz="1800" b="0" i="0" dirty="0">
              <a:solidFill>
                <a:schemeClr val="tx1"/>
              </a:solidFill>
              <a:effectLst/>
              <a:latin typeface="+mn-lt"/>
            </a:endParaRPr>
          </a:p>
          <a:p>
            <a:pPr marL="342900" marR="0" lvl="0" indent="-342900" algn="l">
              <a:buFont typeface="Arial" panose="020B0604020202020204" pitchFamily="34" charset="0"/>
              <a:buChar char="•"/>
            </a:pPr>
            <a:r>
              <a:rPr lang="zh-TW" altLang="zh-TW" sz="1800" b="0" i="0" dirty="0">
                <a:solidFill>
                  <a:schemeClr val="tx1"/>
                </a:solidFill>
                <a:effectLst/>
                <a:latin typeface="+mn-lt"/>
                <a:hlinkClick r:id="rId16" tooltip="計算 BMI 數值"/>
              </a:rPr>
              <a:t>計算 BMI 數值</a:t>
            </a:r>
            <a:endParaRPr lang="zh-TW" altLang="zh-TW" sz="1800" b="0" i="0" dirty="0">
              <a:solidFill>
                <a:schemeClr val="tx1"/>
              </a:solidFill>
              <a:effectLst/>
              <a:latin typeface="+mn-lt"/>
            </a:endParaRPr>
          </a:p>
          <a:p>
            <a:pPr marL="342900" marR="0" lvl="0" indent="-342900" algn="l">
              <a:buFont typeface="Arial" panose="020B0604020202020204" pitchFamily="34" charset="0"/>
              <a:buChar char="•"/>
            </a:pPr>
            <a:r>
              <a:rPr lang="zh-TW" altLang="zh-TW" sz="1800" b="0" i="0" dirty="0">
                <a:solidFill>
                  <a:schemeClr val="tx1"/>
                </a:solidFill>
                <a:effectLst/>
                <a:latin typeface="+mn-lt"/>
                <a:hlinkClick r:id="rId17" tooltip="計算年紀 ( 幾歲幾個月幾天 )"/>
              </a:rPr>
              <a:t>計算年紀 ( 幾歲幾個月幾天 )</a:t>
            </a:r>
            <a:endParaRPr lang="zh-TW" altLang="zh-TW" sz="1800" b="0" i="0" dirty="0">
              <a:solidFill>
                <a:schemeClr val="tx1"/>
              </a:solidFill>
              <a:effectLst/>
              <a:latin typeface="+mn-lt"/>
            </a:endParaRPr>
          </a:p>
          <a:p>
            <a:pPr marL="342900" marR="0" lvl="0" indent="-342900" algn="l">
              <a:buFont typeface="Arial" panose="020B0604020202020204" pitchFamily="34" charset="0"/>
              <a:buChar char="•"/>
            </a:pPr>
            <a:r>
              <a:rPr lang="zh-TW" altLang="zh-TW" sz="1800" b="0" i="0" dirty="0">
                <a:solidFill>
                  <a:schemeClr val="tx1"/>
                </a:solidFill>
                <a:effectLst/>
                <a:latin typeface="+mn-lt"/>
                <a:hlinkClick r:id="rId18" tooltip="產生身分證字號 ( 隨機 )"/>
              </a:rPr>
              <a:t>產生身分證字號 ( 隨機 )</a:t>
            </a:r>
            <a:endParaRPr lang="zh-TW" altLang="zh-TW" sz="1800" b="0" i="0" dirty="0">
              <a:solidFill>
                <a:schemeClr val="tx1"/>
              </a:solidFill>
              <a:effectLst/>
              <a:latin typeface="+mn-lt"/>
            </a:endParaRPr>
          </a:p>
          <a:p>
            <a:pPr marL="342900" marR="0" lvl="0" indent="-342900" algn="l">
              <a:buFont typeface="Arial" panose="020B0604020202020204" pitchFamily="34" charset="0"/>
              <a:buChar char="•"/>
            </a:pPr>
            <a:r>
              <a:rPr lang="zh-TW" altLang="zh-TW" sz="1800" b="0" i="0" dirty="0">
                <a:solidFill>
                  <a:schemeClr val="tx1"/>
                </a:solidFill>
                <a:effectLst/>
                <a:latin typeface="+mn-lt"/>
                <a:hlinkClick r:id="rId19" tooltip="檢查身分證字號"/>
              </a:rPr>
              <a:t>檢查身分證字號</a:t>
            </a:r>
            <a:endParaRPr lang="zh-TW" altLang="zh-TW" sz="1800" b="0" i="0" dirty="0">
              <a:solidFill>
                <a:schemeClr val="tx1"/>
              </a:solidFill>
              <a:effectLst/>
              <a:latin typeface="+mn-lt"/>
            </a:endParaRPr>
          </a:p>
          <a:p>
            <a:pPr marL="342900" marR="0" lvl="0" indent="-342900" algn="l">
              <a:buFont typeface="Arial" panose="020B0604020202020204" pitchFamily="34" charset="0"/>
              <a:buChar char="•"/>
            </a:pPr>
            <a:r>
              <a:rPr lang="zh-TW" altLang="zh-TW" sz="1800" b="0" i="0" dirty="0">
                <a:solidFill>
                  <a:schemeClr val="tx1"/>
                </a:solidFill>
                <a:effectLst/>
                <a:latin typeface="+mn-lt"/>
                <a:hlinkClick r:id="rId20" tooltip="統一發票對獎"/>
              </a:rPr>
              <a:t>統一發票對獎</a:t>
            </a:r>
            <a:endParaRPr lang="zh-TW" altLang="zh-TW" sz="1800" b="0" i="0" dirty="0">
              <a:solidFill>
                <a:schemeClr val="tx1"/>
              </a:solidFill>
              <a:effectLst/>
              <a:latin typeface="+mn-lt"/>
            </a:endParaRPr>
          </a:p>
          <a:p>
            <a:pPr marL="342900" marR="0" lvl="0" indent="-342900" algn="l">
              <a:buFont typeface="Arial" panose="020B0604020202020204" pitchFamily="34" charset="0"/>
              <a:buChar char="•"/>
            </a:pPr>
            <a:r>
              <a:rPr lang="zh-TW" altLang="zh-TW" sz="1800" b="0" i="0" dirty="0">
                <a:solidFill>
                  <a:schemeClr val="tx1"/>
                </a:solidFill>
                <a:effectLst/>
                <a:latin typeface="+mn-lt"/>
                <a:hlinkClick r:id="rId21" tooltip="羅馬數字轉換"/>
              </a:rPr>
              <a:t>羅馬數字轉換</a:t>
            </a:r>
            <a:endParaRPr lang="zh-TW" altLang="zh-TW" sz="1200" b="0" i="0" dirty="0">
              <a:solidFill>
                <a:srgbClr val="000000"/>
              </a:solidFill>
              <a:effectLst/>
              <a:latin typeface="inherit"/>
            </a:endParaRPr>
          </a:p>
        </p:txBody>
      </p:sp>
      <p:sp>
        <p:nvSpPr>
          <p:cNvPr id="7" name="文字方塊 6">
            <a:extLst>
              <a:ext uri="{FF2B5EF4-FFF2-40B4-BE49-F238E27FC236}">
                <a16:creationId xmlns:a16="http://schemas.microsoft.com/office/drawing/2014/main" id="{4FD07E6A-83AE-EAA3-7BBC-09C565E45261}"/>
              </a:ext>
            </a:extLst>
          </p:cNvPr>
          <p:cNvSpPr txBox="1"/>
          <p:nvPr/>
        </p:nvSpPr>
        <p:spPr>
          <a:xfrm>
            <a:off x="3814917" y="332388"/>
            <a:ext cx="2802193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indent="0" algn="l">
              <a:spcAft>
                <a:spcPts val="1125"/>
              </a:spcAft>
              <a:buNone/>
            </a:pPr>
            <a:r>
              <a:rPr lang="zh-TW" altLang="zh-TW" b="1" i="0" dirty="0">
                <a:solidFill>
                  <a:schemeClr val="tx1"/>
                </a:solidFill>
                <a:effectLst/>
                <a:latin typeface="+mn-lt"/>
              </a:rPr>
              <a:t>Python 數學範例 </a:t>
            </a:r>
            <a:endParaRPr lang="zh-TW" altLang="zh-TW" b="1" i="0" dirty="0">
              <a:solidFill>
                <a:srgbClr val="000000"/>
              </a:solidFill>
              <a:effectLst/>
              <a:latin typeface="Tahoma" panose="020B0604030504040204" pitchFamily="34" charset="0"/>
            </a:endParaRPr>
          </a:p>
        </p:txBody>
      </p:sp>
      <p:sp>
        <p:nvSpPr>
          <p:cNvPr id="9" name="文字方塊 8">
            <a:extLst>
              <a:ext uri="{FF2B5EF4-FFF2-40B4-BE49-F238E27FC236}">
                <a16:creationId xmlns:a16="http://schemas.microsoft.com/office/drawing/2014/main" id="{ABA90E21-2685-9533-83CE-3B03970B1452}"/>
              </a:ext>
            </a:extLst>
          </p:cNvPr>
          <p:cNvSpPr txBox="1"/>
          <p:nvPr/>
        </p:nvSpPr>
        <p:spPr>
          <a:xfrm>
            <a:off x="3814917" y="746824"/>
            <a:ext cx="3067664" cy="23083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marR="0" lvl="0" indent="-342900" algn="l">
              <a:buFont typeface="Arial" panose="020B0604020202020204" pitchFamily="34" charset="0"/>
              <a:buChar char="•"/>
            </a:pPr>
            <a:r>
              <a:rPr lang="zh-TW" altLang="zh-TW" sz="1800" b="0" i="0" dirty="0">
                <a:solidFill>
                  <a:schemeClr val="tx1"/>
                </a:solidFill>
                <a:effectLst/>
                <a:latin typeface="+mn-lt"/>
                <a:hlinkClick r:id="rId22" tooltip="兩個數字的四則運算"/>
              </a:rPr>
              <a:t>兩個數字的四則運算</a:t>
            </a:r>
            <a:endParaRPr lang="zh-TW" altLang="zh-TW" sz="1800" b="0" i="0" dirty="0">
              <a:solidFill>
                <a:schemeClr val="tx1"/>
              </a:solidFill>
              <a:effectLst/>
              <a:latin typeface="+mn-lt"/>
            </a:endParaRPr>
          </a:p>
          <a:p>
            <a:pPr marL="342900" marR="0" lvl="0" indent="-342900" algn="l">
              <a:buFont typeface="Arial" panose="020B0604020202020204" pitchFamily="34" charset="0"/>
              <a:buChar char="•"/>
            </a:pPr>
            <a:r>
              <a:rPr lang="zh-TW" altLang="zh-TW" sz="1800" b="0" i="0" dirty="0">
                <a:solidFill>
                  <a:schemeClr val="tx1"/>
                </a:solidFill>
                <a:effectLst/>
                <a:latin typeface="+mn-lt"/>
                <a:hlinkClick r:id="rId23" tooltip="計算多個數字的總和"/>
              </a:rPr>
              <a:t>計算多個數字的總和</a:t>
            </a:r>
            <a:endParaRPr lang="zh-TW" altLang="zh-TW" sz="1800" b="0" i="0" dirty="0">
              <a:solidFill>
                <a:schemeClr val="tx1"/>
              </a:solidFill>
              <a:effectLst/>
              <a:latin typeface="+mn-lt"/>
            </a:endParaRPr>
          </a:p>
          <a:p>
            <a:pPr marL="342900" marR="0" lvl="0" indent="-342900" algn="l">
              <a:buFont typeface="Arial" panose="020B0604020202020204" pitchFamily="34" charset="0"/>
              <a:buChar char="•"/>
            </a:pPr>
            <a:r>
              <a:rPr lang="zh-TW" altLang="zh-TW" sz="1800" b="0" i="0" dirty="0">
                <a:solidFill>
                  <a:schemeClr val="tx1"/>
                </a:solidFill>
                <a:effectLst/>
                <a:latin typeface="+mn-lt"/>
                <a:hlinkClick r:id="rId24" tooltip="費波那契數列 ( 費氏數列 )"/>
              </a:rPr>
              <a:t>費波那契數列 ( 費氏數列 )</a:t>
            </a:r>
            <a:endParaRPr lang="zh-TW" altLang="zh-TW" sz="1800" b="0" i="0" dirty="0">
              <a:solidFill>
                <a:schemeClr val="tx1"/>
              </a:solidFill>
              <a:effectLst/>
              <a:latin typeface="+mn-lt"/>
            </a:endParaRPr>
          </a:p>
          <a:p>
            <a:pPr marL="342900" marR="0" lvl="0" indent="-342900" algn="l">
              <a:buFont typeface="Arial" panose="020B0604020202020204" pitchFamily="34" charset="0"/>
              <a:buChar char="•"/>
            </a:pPr>
            <a:r>
              <a:rPr lang="zh-TW" altLang="zh-TW" sz="1800" b="0" i="0" dirty="0">
                <a:solidFill>
                  <a:schemeClr val="tx1"/>
                </a:solidFill>
                <a:effectLst/>
                <a:latin typeface="+mn-lt"/>
                <a:hlinkClick r:id="rId25" tooltip="九九乘法表"/>
              </a:rPr>
              <a:t>九九乘法表</a:t>
            </a:r>
            <a:endParaRPr lang="zh-TW" altLang="zh-TW" sz="1800" b="0" i="0" dirty="0">
              <a:solidFill>
                <a:schemeClr val="tx1"/>
              </a:solidFill>
              <a:effectLst/>
              <a:latin typeface="+mn-lt"/>
            </a:endParaRPr>
          </a:p>
          <a:p>
            <a:pPr marL="342900" marR="0" lvl="0" indent="-342900" algn="l">
              <a:buFont typeface="Arial" panose="020B0604020202020204" pitchFamily="34" charset="0"/>
              <a:buChar char="•"/>
            </a:pPr>
            <a:r>
              <a:rPr lang="zh-TW" altLang="zh-TW" sz="1800" b="0" i="0" dirty="0">
                <a:solidFill>
                  <a:schemeClr val="tx1"/>
                </a:solidFill>
                <a:effectLst/>
                <a:latin typeface="+mn-lt"/>
                <a:hlinkClick r:id="rId26" tooltip="質因數分解"/>
              </a:rPr>
              <a:t>質因數分解</a:t>
            </a:r>
            <a:endParaRPr lang="zh-TW" altLang="zh-TW" sz="1800" b="0" i="0" dirty="0">
              <a:solidFill>
                <a:schemeClr val="tx1"/>
              </a:solidFill>
              <a:effectLst/>
              <a:latin typeface="+mn-lt"/>
            </a:endParaRPr>
          </a:p>
          <a:p>
            <a:pPr marL="342900" marR="0" lvl="0" indent="-342900" algn="l">
              <a:buFont typeface="Arial" panose="020B0604020202020204" pitchFamily="34" charset="0"/>
              <a:buChar char="•"/>
            </a:pPr>
            <a:r>
              <a:rPr lang="zh-TW" altLang="zh-TW" sz="1800" b="0" i="0" dirty="0">
                <a:solidFill>
                  <a:schemeClr val="tx1"/>
                </a:solidFill>
                <a:effectLst/>
                <a:latin typeface="+mn-lt"/>
                <a:hlinkClick r:id="rId27" tooltip="快速找出質數"/>
              </a:rPr>
              <a:t>快速找出質數</a:t>
            </a:r>
            <a:endParaRPr lang="zh-TW" altLang="zh-TW" sz="1800" b="0" i="0" dirty="0">
              <a:solidFill>
                <a:schemeClr val="tx1"/>
              </a:solidFill>
              <a:effectLst/>
              <a:latin typeface="+mn-lt"/>
            </a:endParaRPr>
          </a:p>
          <a:p>
            <a:pPr marL="342900" marR="0" lvl="0" indent="-342900" algn="l">
              <a:buFont typeface="Arial" panose="020B0604020202020204" pitchFamily="34" charset="0"/>
              <a:buChar char="•"/>
            </a:pPr>
            <a:r>
              <a:rPr lang="zh-TW" altLang="zh-TW" sz="1800" b="0" i="0" dirty="0">
                <a:solidFill>
                  <a:schemeClr val="tx1"/>
                </a:solidFill>
                <a:effectLst/>
                <a:latin typeface="+mn-lt"/>
                <a:hlinkClick r:id="rId28" tooltip="最小公倍數 ( 多個數字 )"/>
              </a:rPr>
              <a:t>最小公倍數 ( 多個數字 )</a:t>
            </a:r>
            <a:endParaRPr lang="zh-TW" altLang="zh-TW" sz="1800" b="0" i="0" dirty="0">
              <a:solidFill>
                <a:schemeClr val="tx1"/>
              </a:solidFill>
              <a:effectLst/>
              <a:latin typeface="+mn-lt"/>
            </a:endParaRPr>
          </a:p>
          <a:p>
            <a:pPr marL="342900" marR="0" lvl="0" indent="-342900" algn="l">
              <a:buFont typeface="Arial" panose="020B0604020202020204" pitchFamily="34" charset="0"/>
              <a:buChar char="•"/>
            </a:pPr>
            <a:r>
              <a:rPr lang="zh-TW" altLang="zh-TW" sz="1800" b="0" i="0" dirty="0">
                <a:solidFill>
                  <a:schemeClr val="tx1"/>
                </a:solidFill>
                <a:effectLst/>
                <a:latin typeface="+mn-lt"/>
                <a:hlinkClick r:id="rId29" tooltip="最大公因數 ( 多個數字 )"/>
              </a:rPr>
              <a:t>最大公因數 ( 多個數字 )</a:t>
            </a:r>
            <a:endParaRPr lang="zh-TW" altLang="zh-TW" sz="1200" b="0" i="0" dirty="0">
              <a:solidFill>
                <a:srgbClr val="000000"/>
              </a:solidFill>
              <a:effectLst/>
              <a:latin typeface="inherit"/>
            </a:endParaRPr>
          </a:p>
        </p:txBody>
      </p:sp>
      <p:sp>
        <p:nvSpPr>
          <p:cNvPr id="11" name="文字方塊 10">
            <a:extLst>
              <a:ext uri="{FF2B5EF4-FFF2-40B4-BE49-F238E27FC236}">
                <a16:creationId xmlns:a16="http://schemas.microsoft.com/office/drawing/2014/main" id="{C5DB8E59-E57D-2B8A-605A-680C5E82BD8A}"/>
              </a:ext>
            </a:extLst>
          </p:cNvPr>
          <p:cNvSpPr txBox="1"/>
          <p:nvPr/>
        </p:nvSpPr>
        <p:spPr>
          <a:xfrm>
            <a:off x="3814917" y="3711560"/>
            <a:ext cx="2920181" cy="221599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marR="0" lvl="0" indent="-342900" algn="l">
              <a:buFont typeface="Arial" panose="020B0604020202020204" pitchFamily="34" charset="0"/>
              <a:buChar char="•"/>
            </a:pPr>
            <a:r>
              <a:rPr lang="zh-TW" altLang="zh-TW" sz="1800" b="0" i="0" dirty="0">
                <a:solidFill>
                  <a:schemeClr val="tx1"/>
                </a:solidFill>
                <a:effectLst/>
                <a:latin typeface="+mn-lt"/>
                <a:hlinkClick r:id="rId30" tooltip="Python 網路爬蟲教學"/>
              </a:rPr>
              <a:t>Python 網路爬蟲教學</a:t>
            </a:r>
            <a:endParaRPr lang="zh-TW" altLang="zh-TW" sz="1800" b="0" i="0" dirty="0">
              <a:solidFill>
                <a:schemeClr val="tx1"/>
              </a:solidFill>
              <a:effectLst/>
              <a:latin typeface="+mn-lt"/>
            </a:endParaRPr>
          </a:p>
          <a:p>
            <a:pPr marL="342900" marR="0" lvl="0" indent="-342900" algn="l">
              <a:buFont typeface="Arial" panose="020B0604020202020204" pitchFamily="34" charset="0"/>
              <a:buChar char="•"/>
            </a:pPr>
            <a:r>
              <a:rPr lang="zh-TW" altLang="zh-TW" sz="1800" b="0" i="0" dirty="0">
                <a:solidFill>
                  <a:schemeClr val="tx1"/>
                </a:solidFill>
                <a:effectLst/>
                <a:latin typeface="+mn-lt"/>
                <a:hlinkClick r:id="rId31" tooltip="LINE BOT 教學"/>
              </a:rPr>
              <a:t>LINE BOT 教學</a:t>
            </a:r>
            <a:endParaRPr lang="zh-TW" altLang="zh-TW" sz="1800" b="0" i="0" dirty="0">
              <a:solidFill>
                <a:schemeClr val="tx1"/>
              </a:solidFill>
              <a:effectLst/>
              <a:latin typeface="+mn-lt"/>
            </a:endParaRPr>
          </a:p>
          <a:p>
            <a:pPr marL="342900" marR="0" lvl="0" indent="-342900" algn="l">
              <a:buFont typeface="Arial" panose="020B0604020202020204" pitchFamily="34" charset="0"/>
              <a:buChar char="•"/>
            </a:pPr>
            <a:r>
              <a:rPr lang="zh-TW" altLang="zh-TW" sz="1800" b="0" i="0" dirty="0">
                <a:solidFill>
                  <a:schemeClr val="tx1"/>
                </a:solidFill>
                <a:effectLst/>
                <a:latin typeface="+mn-lt"/>
                <a:hlinkClick r:id="rId32" tooltip="OpenCV 教學"/>
              </a:rPr>
              <a:t>OpenCV 教學</a:t>
            </a:r>
            <a:endParaRPr lang="zh-TW" altLang="zh-TW" sz="1800" b="0" i="0" dirty="0">
              <a:solidFill>
                <a:schemeClr val="tx1"/>
              </a:solidFill>
              <a:effectLst/>
              <a:latin typeface="+mn-lt"/>
            </a:endParaRPr>
          </a:p>
          <a:p>
            <a:pPr marL="342900" marR="0" lvl="0" indent="-342900" algn="l">
              <a:buFont typeface="Arial" panose="020B0604020202020204" pitchFamily="34" charset="0"/>
              <a:buChar char="•"/>
            </a:pPr>
            <a:r>
              <a:rPr lang="zh-TW" altLang="zh-TW" sz="1800" b="0" i="0" dirty="0">
                <a:solidFill>
                  <a:schemeClr val="tx1"/>
                </a:solidFill>
                <a:effectLst/>
                <a:latin typeface="+mn-lt"/>
                <a:hlinkClick r:id="rId33" tooltip="AI 影像辨識教學"/>
              </a:rPr>
              <a:t>AI 影像辨識教學</a:t>
            </a:r>
            <a:endParaRPr lang="zh-TW" altLang="zh-TW" sz="1800" b="0" i="0" dirty="0">
              <a:solidFill>
                <a:schemeClr val="tx1"/>
              </a:solidFill>
              <a:effectLst/>
              <a:latin typeface="+mn-lt"/>
            </a:endParaRPr>
          </a:p>
          <a:p>
            <a:pPr marL="342900" marR="0" lvl="0" indent="-342900" algn="l">
              <a:buFont typeface="Arial" panose="020B0604020202020204" pitchFamily="34" charset="0"/>
              <a:buChar char="•"/>
            </a:pPr>
            <a:r>
              <a:rPr lang="zh-TW" altLang="zh-TW" sz="1800" b="0" i="0" dirty="0">
                <a:solidFill>
                  <a:schemeClr val="tx1"/>
                </a:solidFill>
                <a:effectLst/>
                <a:latin typeface="+mn-lt"/>
                <a:hlinkClick r:id="rId34" tooltip="matplotlib 圖表教學"/>
              </a:rPr>
              <a:t>matplotlib 圖表教學</a:t>
            </a:r>
            <a:endParaRPr lang="zh-TW" altLang="zh-TW" sz="1800" b="0" i="0" dirty="0">
              <a:solidFill>
                <a:schemeClr val="tx1"/>
              </a:solidFill>
              <a:effectLst/>
              <a:latin typeface="+mn-lt"/>
            </a:endParaRPr>
          </a:p>
          <a:p>
            <a:pPr marL="342900" marR="0" lvl="0" indent="-342900" algn="l">
              <a:buFont typeface="Arial" panose="020B0604020202020204" pitchFamily="34" charset="0"/>
              <a:buChar char="•"/>
            </a:pPr>
            <a:r>
              <a:rPr lang="zh-TW" altLang="zh-TW" sz="1800" b="0" i="0" dirty="0">
                <a:solidFill>
                  <a:schemeClr val="tx1"/>
                </a:solidFill>
                <a:effectLst/>
                <a:latin typeface="+mn-lt"/>
                <a:hlinkClick r:id="rId35" tooltip="NumPy 教學"/>
              </a:rPr>
              <a:t>NumPy 教學</a:t>
            </a:r>
            <a:endParaRPr lang="zh-TW" altLang="zh-TW" sz="1800" b="0" i="0" dirty="0">
              <a:solidFill>
                <a:schemeClr val="tx1"/>
              </a:solidFill>
              <a:effectLst/>
              <a:latin typeface="+mn-lt"/>
            </a:endParaRPr>
          </a:p>
          <a:p>
            <a:pPr marL="342900" marR="0" lvl="0" indent="-342900" algn="l">
              <a:buFont typeface="Arial" panose="020B0604020202020204" pitchFamily="34" charset="0"/>
              <a:buChar char="•"/>
            </a:pPr>
            <a:r>
              <a:rPr lang="zh-TW" altLang="zh-TW" sz="1800" b="0" i="0" dirty="0">
                <a:solidFill>
                  <a:schemeClr val="tx1"/>
                </a:solidFill>
                <a:effectLst/>
                <a:latin typeface="+mn-lt"/>
                <a:hlinkClick r:id="rId36" tooltip="Tkinter 介面設計教學"/>
              </a:rPr>
              <a:t>Tkinter 介面設計教學</a:t>
            </a:r>
            <a:endParaRPr lang="en-US" altLang="zh-TW" sz="1800" b="0" i="0" dirty="0">
              <a:solidFill>
                <a:schemeClr val="tx1"/>
              </a:solidFill>
              <a:effectLst/>
              <a:latin typeface="+mn-lt"/>
            </a:endParaRPr>
          </a:p>
          <a:p>
            <a:pPr marL="342900" marR="0" lvl="0" indent="-342900" algn="l">
              <a:buFont typeface="Arial" panose="020B0604020202020204" pitchFamily="34" charset="0"/>
              <a:buChar char="•"/>
            </a:pPr>
            <a:endParaRPr lang="zh-TW" altLang="zh-TW" sz="1200" b="0" i="0" dirty="0">
              <a:solidFill>
                <a:srgbClr val="000000"/>
              </a:solidFill>
              <a:effectLst/>
              <a:latin typeface="inherit"/>
            </a:endParaRPr>
          </a:p>
        </p:txBody>
      </p:sp>
      <p:sp>
        <p:nvSpPr>
          <p:cNvPr id="13" name="文字方塊 12">
            <a:extLst>
              <a:ext uri="{FF2B5EF4-FFF2-40B4-BE49-F238E27FC236}">
                <a16:creationId xmlns:a16="http://schemas.microsoft.com/office/drawing/2014/main" id="{AC14E561-9E0B-B5C4-1555-66B51D320516}"/>
              </a:ext>
            </a:extLst>
          </p:cNvPr>
          <p:cNvSpPr txBox="1"/>
          <p:nvPr/>
        </p:nvSpPr>
        <p:spPr>
          <a:xfrm>
            <a:off x="3814917" y="3244334"/>
            <a:ext cx="2136058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indent="0" algn="l">
              <a:spcAft>
                <a:spcPts val="1125"/>
              </a:spcAft>
              <a:buNone/>
            </a:pPr>
            <a:r>
              <a:rPr lang="zh-TW" altLang="zh-TW" sz="1800" b="1" i="0" dirty="0">
                <a:solidFill>
                  <a:schemeClr val="tx1"/>
                </a:solidFill>
                <a:effectLst/>
                <a:latin typeface="+mn-lt"/>
              </a:rPr>
              <a:t>Python </a:t>
            </a:r>
            <a:r>
              <a:rPr lang="zh-TW" altLang="en-US" sz="1800" b="1" i="0" dirty="0">
                <a:solidFill>
                  <a:schemeClr val="tx1"/>
                </a:solidFill>
                <a:effectLst/>
                <a:latin typeface="+mn-lt"/>
              </a:rPr>
              <a:t>實用</a:t>
            </a:r>
            <a:r>
              <a:rPr lang="zh-TW" altLang="zh-TW" sz="1800" b="1" i="0" dirty="0">
                <a:solidFill>
                  <a:schemeClr val="tx1"/>
                </a:solidFill>
                <a:effectLst/>
                <a:latin typeface="+mn-lt"/>
              </a:rPr>
              <a:t>範例 </a:t>
            </a:r>
            <a:endParaRPr lang="zh-TW" altLang="zh-TW" sz="1800" b="1" i="0" dirty="0">
              <a:solidFill>
                <a:srgbClr val="000000"/>
              </a:solidFill>
              <a:effectLst/>
              <a:latin typeface="Tahoma" panose="020B0604030504040204" pitchFamily="34" charset="0"/>
            </a:endParaRPr>
          </a:p>
        </p:txBody>
      </p:sp>
      <p:sp>
        <p:nvSpPr>
          <p:cNvPr id="15" name="文字方塊 14">
            <a:extLst>
              <a:ext uri="{FF2B5EF4-FFF2-40B4-BE49-F238E27FC236}">
                <a16:creationId xmlns:a16="http://schemas.microsoft.com/office/drawing/2014/main" id="{8B126193-B7AA-C576-A113-A68D3832D67F}"/>
              </a:ext>
            </a:extLst>
          </p:cNvPr>
          <p:cNvSpPr txBox="1"/>
          <p:nvPr/>
        </p:nvSpPr>
        <p:spPr>
          <a:xfrm>
            <a:off x="7098890" y="693607"/>
            <a:ext cx="4807974" cy="397031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marR="0" lvl="0" indent="-342900" algn="l">
              <a:buFont typeface="Arial" panose="020B0604020202020204" pitchFamily="34" charset="0"/>
              <a:buChar char="•"/>
            </a:pPr>
            <a:r>
              <a:rPr lang="zh-TW" altLang="zh-TW" sz="1800" b="0" i="0" dirty="0">
                <a:solidFill>
                  <a:schemeClr val="tx1"/>
                </a:solidFill>
                <a:effectLst/>
                <a:latin typeface="+mn-lt"/>
                <a:hlinkClick r:id="rId37" tooltip="定時自動螢幕截圖"/>
              </a:rPr>
              <a:t>定時自動螢幕截圖</a:t>
            </a:r>
            <a:endParaRPr lang="zh-TW" altLang="zh-TW" sz="1800" b="0" i="0" dirty="0">
              <a:solidFill>
                <a:schemeClr val="tx1"/>
              </a:solidFill>
              <a:effectLst/>
              <a:latin typeface="+mn-lt"/>
            </a:endParaRPr>
          </a:p>
          <a:p>
            <a:pPr marL="342900" marR="0" lvl="0" indent="-342900" algn="l">
              <a:buFont typeface="Arial" panose="020B0604020202020204" pitchFamily="34" charset="0"/>
              <a:buChar char="•"/>
            </a:pPr>
            <a:r>
              <a:rPr lang="zh-TW" altLang="zh-TW" sz="1800" b="0" i="0" dirty="0">
                <a:solidFill>
                  <a:schemeClr val="tx1"/>
                </a:solidFill>
                <a:effectLst/>
                <a:latin typeface="+mn-lt"/>
                <a:hlinkClick r:id="rId38" tooltip="定LINE Notify 傳送螢幕截圖"/>
              </a:rPr>
              <a:t>定LINE Notify 傳送螢幕截圖</a:t>
            </a:r>
            <a:endParaRPr lang="zh-TW" altLang="zh-TW" sz="1800" b="0" i="0" dirty="0">
              <a:solidFill>
                <a:schemeClr val="tx1"/>
              </a:solidFill>
              <a:effectLst/>
              <a:latin typeface="+mn-lt"/>
            </a:endParaRPr>
          </a:p>
          <a:p>
            <a:pPr marL="342900" marR="0" lvl="0" indent="-342900" algn="l">
              <a:buFont typeface="Arial" panose="020B0604020202020204" pitchFamily="34" charset="0"/>
              <a:buChar char="•"/>
            </a:pPr>
            <a:r>
              <a:rPr lang="zh-TW" altLang="zh-TW" sz="1800" b="0" i="0" dirty="0">
                <a:solidFill>
                  <a:schemeClr val="tx1"/>
                </a:solidFill>
                <a:effectLst/>
                <a:latin typeface="+mn-lt"/>
                <a:hlinkClick r:id="rId39" tooltip="批次重新命名檔案"/>
              </a:rPr>
              <a:t>批次重新命名檔案</a:t>
            </a:r>
            <a:endParaRPr lang="zh-TW" altLang="zh-TW" sz="1800" b="0" i="0" dirty="0">
              <a:solidFill>
                <a:schemeClr val="tx1"/>
              </a:solidFill>
              <a:effectLst/>
              <a:latin typeface="+mn-lt"/>
            </a:endParaRPr>
          </a:p>
          <a:p>
            <a:pPr marL="342900" marR="0" lvl="0" indent="-342900" algn="l">
              <a:buFont typeface="Arial" panose="020B0604020202020204" pitchFamily="34" charset="0"/>
              <a:buChar char="•"/>
            </a:pPr>
            <a:r>
              <a:rPr lang="zh-TW" altLang="zh-TW" sz="1800" b="0" i="0" dirty="0">
                <a:solidFill>
                  <a:schemeClr val="tx1"/>
                </a:solidFill>
                <a:effectLst/>
                <a:latin typeface="+mn-lt"/>
                <a:hlinkClick r:id="rId40" tooltip="讀取 PDF 內容"/>
              </a:rPr>
              <a:t>讀取 PDF 內容</a:t>
            </a:r>
            <a:endParaRPr lang="zh-TW" altLang="zh-TW" sz="1800" b="0" i="0" dirty="0">
              <a:solidFill>
                <a:schemeClr val="tx1"/>
              </a:solidFill>
              <a:effectLst/>
              <a:latin typeface="+mn-lt"/>
            </a:endParaRPr>
          </a:p>
          <a:p>
            <a:pPr marL="342900" marR="0" lvl="0" indent="-342900" algn="l">
              <a:buFont typeface="Arial" panose="020B0604020202020204" pitchFamily="34" charset="0"/>
              <a:buChar char="•"/>
            </a:pPr>
            <a:r>
              <a:rPr lang="zh-TW" altLang="zh-TW" sz="1800" b="0" i="0" dirty="0">
                <a:solidFill>
                  <a:schemeClr val="tx1"/>
                </a:solidFill>
                <a:effectLst/>
                <a:latin typeface="+mn-lt"/>
                <a:hlinkClick r:id="rId41" tooltip="PDF 拆分、合併、插入、刪除、反轉"/>
              </a:rPr>
              <a:t>PDF 拆分、合併、插入、刪除、反轉</a:t>
            </a:r>
            <a:endParaRPr lang="zh-TW" altLang="zh-TW" sz="1800" b="0" i="0" dirty="0">
              <a:solidFill>
                <a:schemeClr val="tx1"/>
              </a:solidFill>
              <a:effectLst/>
              <a:latin typeface="+mn-lt"/>
            </a:endParaRPr>
          </a:p>
          <a:p>
            <a:pPr marL="342900" marR="0" lvl="0" indent="-342900" algn="l">
              <a:buFont typeface="Arial" panose="020B0604020202020204" pitchFamily="34" charset="0"/>
              <a:buChar char="•"/>
            </a:pPr>
            <a:r>
              <a:rPr lang="zh-TW" altLang="zh-TW" sz="1800" b="0" i="0" dirty="0">
                <a:solidFill>
                  <a:schemeClr val="tx1"/>
                </a:solidFill>
                <a:effectLst/>
                <a:latin typeface="+mn-lt"/>
                <a:hlinkClick r:id="rId42" tooltip="讀取 EXCEL 內容"/>
              </a:rPr>
              <a:t>讀取 EXCEL 內容</a:t>
            </a:r>
            <a:endParaRPr lang="zh-TW" altLang="zh-TW" sz="1800" b="0" i="0" dirty="0">
              <a:solidFill>
                <a:schemeClr val="tx1"/>
              </a:solidFill>
              <a:effectLst/>
              <a:latin typeface="+mn-lt"/>
            </a:endParaRPr>
          </a:p>
          <a:p>
            <a:pPr marL="342900" marR="0" lvl="0" indent="-342900" algn="l">
              <a:buFont typeface="Arial" panose="020B0604020202020204" pitchFamily="34" charset="0"/>
              <a:buChar char="•"/>
            </a:pPr>
            <a:r>
              <a:rPr lang="zh-TW" altLang="zh-TW" sz="1800" b="0" i="0" dirty="0">
                <a:solidFill>
                  <a:schemeClr val="tx1"/>
                </a:solidFill>
                <a:effectLst/>
                <a:latin typeface="+mn-lt"/>
                <a:hlinkClick r:id="rId43" tooltip="寫入資料到 EXCEL"/>
              </a:rPr>
              <a:t>寫入資料到 EXCEL</a:t>
            </a:r>
            <a:endParaRPr lang="zh-TW" altLang="zh-TW" sz="1800" b="0" i="0" dirty="0">
              <a:solidFill>
                <a:schemeClr val="tx1"/>
              </a:solidFill>
              <a:effectLst/>
              <a:latin typeface="+mn-lt"/>
            </a:endParaRPr>
          </a:p>
          <a:p>
            <a:pPr marL="342900" marR="0" lvl="0" indent="-342900" algn="l">
              <a:buFont typeface="Arial" panose="020B0604020202020204" pitchFamily="34" charset="0"/>
              <a:buChar char="•"/>
            </a:pPr>
            <a:r>
              <a:rPr lang="zh-TW" altLang="zh-TW" sz="1800" b="0" i="0" dirty="0">
                <a:solidFill>
                  <a:schemeClr val="tx1"/>
                </a:solidFill>
                <a:effectLst/>
                <a:latin typeface="+mn-lt"/>
                <a:hlinkClick r:id="rId44" tooltip="CSV 寫入 EXCEL"/>
              </a:rPr>
              <a:t>CSV 寫入 EXCEL</a:t>
            </a:r>
            <a:endParaRPr lang="zh-TW" altLang="zh-TW" sz="1800" b="0" i="0" dirty="0">
              <a:solidFill>
                <a:schemeClr val="tx1"/>
              </a:solidFill>
              <a:effectLst/>
              <a:latin typeface="+mn-lt"/>
            </a:endParaRPr>
          </a:p>
          <a:p>
            <a:pPr marL="342900" marR="0" lvl="0" indent="-342900" algn="l">
              <a:buFont typeface="Arial" panose="020B0604020202020204" pitchFamily="34" charset="0"/>
              <a:buChar char="•"/>
            </a:pPr>
            <a:r>
              <a:rPr lang="zh-TW" altLang="zh-TW" sz="1800" b="0" i="0" dirty="0">
                <a:solidFill>
                  <a:schemeClr val="tx1"/>
                </a:solidFill>
                <a:effectLst/>
                <a:latin typeface="+mn-lt"/>
                <a:hlinkClick r:id="rId45" tooltip="產生 QRCode ( 個性化 QRCode )"/>
              </a:rPr>
              <a:t>產生 QRCode ( 個性化 QRCode )</a:t>
            </a:r>
            <a:endParaRPr lang="zh-TW" altLang="zh-TW" sz="1800" b="0" i="0" dirty="0">
              <a:solidFill>
                <a:schemeClr val="tx1"/>
              </a:solidFill>
              <a:effectLst/>
              <a:latin typeface="+mn-lt"/>
            </a:endParaRPr>
          </a:p>
          <a:p>
            <a:pPr marL="342900" marR="0" lvl="0" indent="-342900" algn="l">
              <a:buFont typeface="Arial" panose="020B0604020202020204" pitchFamily="34" charset="0"/>
              <a:buChar char="•"/>
            </a:pPr>
            <a:r>
              <a:rPr lang="zh-TW" altLang="zh-TW" sz="1800" b="0" i="0" dirty="0">
                <a:solidFill>
                  <a:schemeClr val="tx1"/>
                </a:solidFill>
                <a:effectLst/>
                <a:latin typeface="+mn-lt"/>
                <a:hlinkClick r:id="rId46" tooltip="產生 BarCode ( 條碼 )"/>
              </a:rPr>
              <a:t>產生 BarCode ( 條碼 )</a:t>
            </a:r>
            <a:endParaRPr lang="zh-TW" altLang="zh-TW" sz="1800" b="0" i="0" dirty="0">
              <a:solidFill>
                <a:schemeClr val="tx1"/>
              </a:solidFill>
              <a:effectLst/>
              <a:latin typeface="+mn-lt"/>
            </a:endParaRPr>
          </a:p>
          <a:p>
            <a:pPr marL="342900" marR="0" lvl="0" indent="-342900" algn="l">
              <a:buFont typeface="Arial" panose="020B0604020202020204" pitchFamily="34" charset="0"/>
              <a:buChar char="•"/>
            </a:pPr>
            <a:r>
              <a:rPr lang="zh-TW" altLang="zh-TW" sz="1800" b="0" i="0" dirty="0">
                <a:solidFill>
                  <a:schemeClr val="tx1"/>
                </a:solidFill>
                <a:effectLst/>
                <a:latin typeface="+mn-lt"/>
                <a:hlinkClick r:id="rId47" tooltip="讀取電腦資訊 ( 硬碟容量、CPU、RAM...等 )"/>
              </a:rPr>
              <a:t>讀取電腦資訊 ( 硬碟容量、CPU、RAM...等 )</a:t>
            </a:r>
            <a:endParaRPr lang="zh-TW" altLang="zh-TW" sz="1800" b="0" i="0" dirty="0">
              <a:solidFill>
                <a:schemeClr val="tx1"/>
              </a:solidFill>
              <a:effectLst/>
              <a:latin typeface="+mn-lt"/>
            </a:endParaRPr>
          </a:p>
          <a:p>
            <a:pPr marL="342900" marR="0" lvl="0" indent="-342900" algn="l">
              <a:buFont typeface="Arial" panose="020B0604020202020204" pitchFamily="34" charset="0"/>
              <a:buChar char="•"/>
            </a:pPr>
            <a:r>
              <a:rPr lang="zh-TW" altLang="zh-TW" sz="1800" b="0" i="0" dirty="0">
                <a:solidFill>
                  <a:schemeClr val="tx1"/>
                </a:solidFill>
                <a:effectLst/>
                <a:latin typeface="+mn-lt"/>
                <a:hlinkClick r:id="rId48" tooltip="偵測電腦螢幕解析度 ( 長、寬 )"/>
              </a:rPr>
              <a:t>偵測電腦螢幕解析度 ( 長、寬 )</a:t>
            </a:r>
            <a:endParaRPr lang="zh-TW" altLang="zh-TW" sz="1800" b="0" i="0" dirty="0">
              <a:solidFill>
                <a:schemeClr val="tx1"/>
              </a:solidFill>
              <a:effectLst/>
              <a:latin typeface="+mn-lt"/>
            </a:endParaRPr>
          </a:p>
          <a:p>
            <a:pPr marL="342900" marR="0" lvl="0" indent="-342900" algn="l">
              <a:buFont typeface="Arial" panose="020B0604020202020204" pitchFamily="34" charset="0"/>
              <a:buChar char="•"/>
            </a:pPr>
            <a:r>
              <a:rPr lang="zh-TW" altLang="zh-TW" sz="1800" b="0" i="0" dirty="0">
                <a:solidFill>
                  <a:schemeClr val="tx1"/>
                </a:solidFill>
                <a:effectLst/>
                <a:latin typeface="+mn-lt"/>
                <a:hlinkClick r:id="rId49" tooltip="查詢電腦對內與對外 IP"/>
              </a:rPr>
              <a:t>查詢電腦對內與對外 IP</a:t>
            </a:r>
            <a:endParaRPr lang="zh-TW" altLang="zh-TW" sz="1800" b="0" i="0" dirty="0">
              <a:solidFill>
                <a:schemeClr val="tx1"/>
              </a:solidFill>
              <a:effectLst/>
              <a:latin typeface="+mn-lt"/>
            </a:endParaRPr>
          </a:p>
          <a:p>
            <a:pPr marL="342900" marR="0" lvl="0" indent="-342900" algn="l">
              <a:buFont typeface="Arial" panose="020B0604020202020204" pitchFamily="34" charset="0"/>
              <a:buChar char="•"/>
            </a:pPr>
            <a:r>
              <a:rPr lang="zh-TW" altLang="zh-TW" sz="1800" b="0" i="0" dirty="0">
                <a:solidFill>
                  <a:schemeClr val="tx1"/>
                </a:solidFill>
                <a:effectLst/>
                <a:latin typeface="+mn-lt"/>
                <a:hlinkClick r:id="rId50" tooltip="查詢網站 IP、ping IP"/>
              </a:rPr>
              <a:t>查詢網站 IP、ping IP</a:t>
            </a:r>
            <a:endParaRPr lang="zh-TW" altLang="zh-TW" sz="1200" b="0" i="0" dirty="0">
              <a:solidFill>
                <a:srgbClr val="000000"/>
              </a:solidFill>
              <a:effectLst/>
              <a:latin typeface="inherit"/>
            </a:endParaRPr>
          </a:p>
        </p:txBody>
      </p:sp>
      <p:sp>
        <p:nvSpPr>
          <p:cNvPr id="17" name="文字方塊 16">
            <a:extLst>
              <a:ext uri="{FF2B5EF4-FFF2-40B4-BE49-F238E27FC236}">
                <a16:creationId xmlns:a16="http://schemas.microsoft.com/office/drawing/2014/main" id="{DE747616-B3B7-9347-9C60-76735B38701B}"/>
              </a:ext>
            </a:extLst>
          </p:cNvPr>
          <p:cNvSpPr txBox="1"/>
          <p:nvPr/>
        </p:nvSpPr>
        <p:spPr>
          <a:xfrm>
            <a:off x="7098890" y="287283"/>
            <a:ext cx="4424516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indent="0" algn="l">
              <a:spcAft>
                <a:spcPts val="1125"/>
              </a:spcAft>
              <a:buNone/>
            </a:pPr>
            <a:r>
              <a:rPr lang="zh-TW" altLang="zh-TW" b="1" i="0" dirty="0">
                <a:solidFill>
                  <a:schemeClr val="tx1"/>
                </a:solidFill>
                <a:effectLst/>
                <a:latin typeface="+mn-lt"/>
              </a:rPr>
              <a:t>Python 實際應用 </a:t>
            </a:r>
            <a:endParaRPr lang="zh-TW" altLang="zh-TW" b="1" i="0" dirty="0">
              <a:solidFill>
                <a:srgbClr val="000000"/>
              </a:solidFill>
              <a:effectLst/>
              <a:latin typeface="Tahoma" panose="020B060403050404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9378142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矩形 9">
            <a:extLst>
              <a:ext uri="{FF2B5EF4-FFF2-40B4-BE49-F238E27FC236}">
                <a16:creationId xmlns:a16="http://schemas.microsoft.com/office/drawing/2014/main" id="{99720D9C-B7CF-4FDE-AE1F-F4323EAA777B}"/>
              </a:ext>
            </a:extLst>
          </p:cNvPr>
          <p:cNvSpPr>
            <a:spLocks noGrp="1"/>
          </p:cNvSpPr>
          <p:nvPr/>
        </p:nvSpPr>
        <p:spPr>
          <a:xfrm>
            <a:off x="609600" y="304800"/>
            <a:ext cx="10763250" cy="3810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650" b="1">
                <a:solidFill>
                  <a:srgbClr val="456675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650" b="1">
                <a:solidFill>
                  <a:srgbClr val="456675"/>
                </a:solidFill>
                <a:latin typeface="Microsoft JhengHei"/>
                <a:ea typeface="Microsoft JhengHei"/>
                <a:cs typeface="Microsoft JhengHei"/>
              </a:rPr>
              <a:t>W1-01   000–010 分鐘</a:t>
            </a:r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13B1FB4B-B91B-4859-9363-1C28826F5702}"/>
              </a:ext>
            </a:extLst>
          </p:cNvPr>
          <p:cNvSpPr>
            <a:spLocks noGrp="1"/>
          </p:cNvSpPr>
          <p:nvPr/>
        </p:nvSpPr>
        <p:spPr>
          <a:xfrm>
            <a:off x="609600" y="942975"/>
            <a:ext cx="10858500" cy="85725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3450" b="1">
                <a:solidFill>
                  <a:srgbClr val="17384C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3450" b="1">
                <a:solidFill>
                  <a:srgbClr val="17384C"/>
                </a:solidFill>
                <a:latin typeface="Microsoft JhengHei"/>
                <a:ea typeface="Microsoft JhengHei"/>
                <a:cs typeface="Microsoft JhengHei"/>
              </a:rPr>
              <a:t>課程起點與操作地圖</a:t>
            </a: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6EE4B4B7-1E07-4575-AF07-BD4BEEC62B82}"/>
              </a:ext>
            </a:extLst>
          </p:cNvPr>
          <p:cNvSpPr>
            <a:spLocks noGrp="1"/>
          </p:cNvSpPr>
          <p:nvPr/>
        </p:nvSpPr>
        <p:spPr>
          <a:xfrm>
            <a:off x="647700" y="2190750"/>
            <a:ext cx="619125" cy="5715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2100" b="1">
                <a:solidFill>
                  <a:srgbClr val="078078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100" b="1">
                <a:solidFill>
                  <a:srgbClr val="078078"/>
                </a:solidFill>
                <a:latin typeface="Microsoft JhengHei"/>
                <a:ea typeface="Microsoft JhengHei"/>
                <a:cs typeface="Microsoft JhengHei"/>
              </a:rPr>
              <a:t>01</a:t>
            </a:r>
          </a:p>
        </p:txBody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184A81C9-83ED-43FB-A0C7-1EEB35D8D8F8}"/>
              </a:ext>
            </a:extLst>
          </p:cNvPr>
          <p:cNvSpPr>
            <a:spLocks noGrp="1"/>
          </p:cNvSpPr>
          <p:nvPr/>
        </p:nvSpPr>
        <p:spPr>
          <a:xfrm>
            <a:off x="1476375" y="2133600"/>
            <a:ext cx="9620250" cy="9525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2550" b="0">
                <a:solidFill>
                  <a:srgbClr val="17384C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550" b="0">
                <a:solidFill>
                  <a:srgbClr val="17384C"/>
                </a:solidFill>
                <a:latin typeface="Microsoft JhengHei"/>
                <a:ea typeface="Microsoft JhengHei"/>
                <a:cs typeface="Microsoft JhengHei"/>
              </a:rPr>
              <a:t>程式是明確且有順序的指令</a:t>
            </a:r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977C386E-424A-401A-821A-AC79BF7171B1}"/>
              </a:ext>
            </a:extLst>
          </p:cNvPr>
          <p:cNvSpPr>
            <a:spLocks noGrp="1"/>
          </p:cNvSpPr>
          <p:nvPr/>
        </p:nvSpPr>
        <p:spPr>
          <a:xfrm>
            <a:off x="647700" y="3286125"/>
            <a:ext cx="619125" cy="5715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2100" b="1">
                <a:solidFill>
                  <a:srgbClr val="078078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100" b="1">
                <a:solidFill>
                  <a:srgbClr val="078078"/>
                </a:solidFill>
                <a:latin typeface="Microsoft JhengHei"/>
                <a:ea typeface="Microsoft JhengHei"/>
                <a:cs typeface="Microsoft JhengHei"/>
              </a:rPr>
              <a:t>02</a:t>
            </a:r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CC0A4C9B-8E40-42FD-9173-08577E23AE45}"/>
              </a:ext>
            </a:extLst>
          </p:cNvPr>
          <p:cNvSpPr>
            <a:spLocks noGrp="1"/>
          </p:cNvSpPr>
          <p:nvPr/>
        </p:nvSpPr>
        <p:spPr>
          <a:xfrm>
            <a:off x="1476375" y="3228975"/>
            <a:ext cx="9620250" cy="9525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2550" b="0">
                <a:solidFill>
                  <a:srgbClr val="17384C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550" b="0">
                <a:solidFill>
                  <a:srgbClr val="17384C"/>
                </a:solidFill>
                <a:latin typeface="Microsoft JhengHei"/>
                <a:ea typeface="Microsoft JhengHei"/>
                <a:cs typeface="Microsoft JhengHei"/>
              </a:rPr>
              <a:t>本週成果是一張可重算的訂單</a:t>
            </a:r>
          </a:p>
        </p:txBody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752E3D2F-2C66-439D-A4D8-8D237491467D}"/>
              </a:ext>
            </a:extLst>
          </p:cNvPr>
          <p:cNvSpPr>
            <a:spLocks noGrp="1"/>
          </p:cNvSpPr>
          <p:nvPr/>
        </p:nvSpPr>
        <p:spPr>
          <a:xfrm>
            <a:off x="647700" y="4381500"/>
            <a:ext cx="619125" cy="5715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2100" b="1">
                <a:solidFill>
                  <a:srgbClr val="078078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100" b="1">
                <a:solidFill>
                  <a:srgbClr val="078078"/>
                </a:solidFill>
                <a:latin typeface="Microsoft JhengHei"/>
                <a:ea typeface="Microsoft JhengHei"/>
                <a:cs typeface="Microsoft JhengHei"/>
              </a:rPr>
              <a:t>03</a:t>
            </a: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A6B83D37-0E00-4B31-A39A-A098D2F79D65}"/>
              </a:ext>
            </a:extLst>
          </p:cNvPr>
          <p:cNvSpPr>
            <a:spLocks noGrp="1"/>
          </p:cNvSpPr>
          <p:nvPr/>
        </p:nvSpPr>
        <p:spPr>
          <a:xfrm>
            <a:off x="1476375" y="4324350"/>
            <a:ext cx="9620250" cy="9525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2550" b="0">
                <a:solidFill>
                  <a:srgbClr val="17384C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550" b="0">
                <a:solidFill>
                  <a:srgbClr val="17384C"/>
                </a:solidFill>
                <a:latin typeface="Microsoft JhengHei"/>
                <a:ea typeface="Microsoft JhengHei"/>
                <a:cs typeface="Microsoft JhengHei"/>
              </a:rPr>
              <a:t>先預測，再執行，再解釋</a:t>
            </a: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23F9CFE4-F0E1-4C81-B2F1-212C74DDFD0F}"/>
              </a:ext>
            </a:extLst>
          </p:cNvPr>
          <p:cNvSpPr>
            <a:spLocks noGrp="1"/>
          </p:cNvSpPr>
          <p:nvPr/>
        </p:nvSpPr>
        <p:spPr>
          <a:xfrm>
            <a:off x="647700" y="5953125"/>
            <a:ext cx="10810875" cy="55245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575" b="0">
                <a:solidFill>
                  <a:srgbClr val="456675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575" b="0">
                <a:solidFill>
                  <a:srgbClr val="456675"/>
                </a:solidFill>
                <a:latin typeface="Microsoft JhengHei"/>
                <a:ea typeface="Microsoft JhengHei"/>
                <a:cs typeface="Microsoft JhengHei"/>
              </a:rPr>
              <a:t>本週作品：完成飲料訂單計算器，列出品項、杯數、總價與找零</a:t>
            </a:r>
          </a:p>
        </p:txBody>
      </p:sp>
    </p:spTree>
    <p:extLst>
      <p:ext uri="{BB962C8B-B14F-4D97-AF65-F5344CB8AC3E}">
        <p14:creationId xmlns:p14="http://schemas.microsoft.com/office/powerpoint/2010/main" val="132451114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矩形 5">
            <a:extLst>
              <a:ext uri="{FF2B5EF4-FFF2-40B4-BE49-F238E27FC236}">
                <a16:creationId xmlns:a16="http://schemas.microsoft.com/office/drawing/2014/main" id="{FB0A7FDA-CEE1-43EA-B202-D21CFFE86BAA}"/>
              </a:ext>
            </a:extLst>
          </p:cNvPr>
          <p:cNvSpPr>
            <a:spLocks noGrp="1"/>
          </p:cNvSpPr>
          <p:nvPr/>
        </p:nvSpPr>
        <p:spPr>
          <a:xfrm>
            <a:off x="609600" y="304800"/>
            <a:ext cx="10858500" cy="3810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650" b="1">
                <a:solidFill>
                  <a:srgbClr val="456675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650" b="1">
                <a:solidFill>
                  <a:srgbClr val="456675"/>
                </a:solidFill>
                <a:latin typeface="Microsoft JhengHei"/>
                <a:ea typeface="Microsoft JhengHei"/>
                <a:cs typeface="Microsoft JhengHei"/>
              </a:rPr>
              <a:t>W1-01   示範與練習</a:t>
            </a:r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0F52C0C4-BC93-4423-8978-18AE3875096B}"/>
              </a:ext>
            </a:extLst>
          </p:cNvPr>
          <p:cNvSpPr>
            <a:spLocks noGrp="1"/>
          </p:cNvSpPr>
          <p:nvPr/>
        </p:nvSpPr>
        <p:spPr>
          <a:xfrm>
            <a:off x="609600" y="895350"/>
            <a:ext cx="10858500" cy="790575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3300" b="1">
                <a:solidFill>
                  <a:srgbClr val="17384C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3300" b="1">
                <a:solidFill>
                  <a:srgbClr val="17384C"/>
                </a:solidFill>
                <a:latin typeface="Microsoft JhengHei"/>
                <a:ea typeface="Microsoft JhengHei"/>
                <a:cs typeface="Microsoft JhengHei"/>
              </a:rPr>
              <a:t>課程起點與操作地圖</a:t>
            </a: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38F5A1BA-742C-4CC6-937E-5B397F7EDC1B}"/>
              </a:ext>
            </a:extLst>
          </p:cNvPr>
          <p:cNvSpPr>
            <a:spLocks noGrp="1"/>
          </p:cNvSpPr>
          <p:nvPr/>
        </p:nvSpPr>
        <p:spPr>
          <a:xfrm>
            <a:off x="685800" y="2047875"/>
            <a:ext cx="10477500" cy="161925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2625" b="0">
                <a:solidFill>
                  <a:srgbClr val="17384C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625" b="0">
                <a:solidFill>
                  <a:srgbClr val="17384C"/>
                </a:solidFill>
                <a:latin typeface="Microsoft JhengHei"/>
                <a:ea typeface="Microsoft JhengHei"/>
                <a:cs typeface="Microsoft JhengHei"/>
              </a:rPr>
              <a:t>兩人一組，用三句話說明買飲料的輸入、處理與輸出。每人打開本週實作檔。</a:t>
            </a:r>
          </a:p>
        </p:txBody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270E6EC6-1672-43C3-9950-1C7912D5C6DA}"/>
              </a:ext>
            </a:extLst>
          </p:cNvPr>
          <p:cNvSpPr>
            <a:spLocks noGrp="1"/>
          </p:cNvSpPr>
          <p:nvPr/>
        </p:nvSpPr>
        <p:spPr>
          <a:xfrm>
            <a:off x="685800" y="4019550"/>
            <a:ext cx="10477500" cy="47625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875" b="1">
                <a:solidFill>
                  <a:srgbClr val="078078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875" b="1">
                <a:solidFill>
                  <a:srgbClr val="078078"/>
                </a:solidFill>
                <a:latin typeface="Microsoft JhengHei"/>
                <a:ea typeface="Microsoft JhengHei"/>
                <a:cs typeface="Microsoft JhengHei"/>
              </a:rPr>
              <a:t>核對重點</a:t>
            </a:r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D15A5DA5-E00A-45A5-93B5-716ADF28E36B}"/>
              </a:ext>
            </a:extLst>
          </p:cNvPr>
          <p:cNvSpPr>
            <a:spLocks noGrp="1"/>
          </p:cNvSpPr>
          <p:nvPr/>
        </p:nvSpPr>
        <p:spPr>
          <a:xfrm>
            <a:off x="685800" y="4667250"/>
            <a:ext cx="10477500" cy="1381125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2250" b="0">
                <a:solidFill>
                  <a:srgbClr val="213547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250" b="0">
                <a:solidFill>
                  <a:srgbClr val="213547"/>
                </a:solidFill>
                <a:latin typeface="Microsoft JhengHei"/>
                <a:ea typeface="Microsoft JhengHei"/>
                <a:cs typeface="Microsoft JhengHei"/>
              </a:rPr>
              <a:t>輸入：單價35、杯數3；處理：35乘3；輸出：105元。</a:t>
            </a:r>
          </a:p>
        </p:txBody>
      </p:sp>
    </p:spTree>
    <p:extLst>
      <p:ext uri="{BB962C8B-B14F-4D97-AF65-F5344CB8AC3E}">
        <p14:creationId xmlns:p14="http://schemas.microsoft.com/office/powerpoint/2010/main" val="27971521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矩形 3">
            <a:extLst>
              <a:ext uri="{FF2B5EF4-FFF2-40B4-BE49-F238E27FC236}">
                <a16:creationId xmlns:a16="http://schemas.microsoft.com/office/drawing/2014/main" id="{3E4B0017-0406-4C1F-8D21-B26838CACFF1}"/>
              </a:ext>
            </a:extLst>
          </p:cNvPr>
          <p:cNvSpPr>
            <a:spLocks noGrp="1"/>
          </p:cNvSpPr>
          <p:nvPr/>
        </p:nvSpPr>
        <p:spPr>
          <a:xfrm>
            <a:off x="285750" y="161925"/>
            <a:ext cx="11572875" cy="3810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725" b="1">
                <a:solidFill>
                  <a:srgbClr val="17384C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725" b="1">
                <a:solidFill>
                  <a:srgbClr val="17384C"/>
                </a:solidFill>
                <a:latin typeface="Microsoft JhengHei"/>
                <a:ea typeface="Microsoft JhengHei"/>
                <a:cs typeface="Microsoft JhengHei"/>
              </a:rPr>
              <a:t>W1-01   原教材圖文對照</a:t>
            </a:r>
          </a:p>
        </p:txBody>
      </p:sp>
      <p:pic>
        <p:nvPicPr>
          <p:cNvPr id="5" name="圖片 4"/>
          <p:cNvPicPr>
            <a:picLocks noChangeAspect="1"/>
          </p:cNvPicPr>
          <p:nvPr/>
        </p:nvPicPr>
        <p:blipFill>
          <a:blip r:embed="rId3"/>
          <a:stretch/>
        </p:blipFill>
        <p:spPr>
          <a:xfrm>
            <a:off x="2163763" y="590550"/>
            <a:ext cx="7874000" cy="5905500"/>
          </a:xfrm>
          <a:prstGeom prst="rect">
            <a:avLst/>
          </a:prstGeom>
        </p:spPr>
      </p:pic>
      <p:sp>
        <p:nvSpPr>
          <p:cNvPr id="3" name="矩形 2">
            <a:extLst>
              <a:ext uri="{FF2B5EF4-FFF2-40B4-BE49-F238E27FC236}">
                <a16:creationId xmlns:a16="http://schemas.microsoft.com/office/drawing/2014/main" id="{3DD8C0A2-A391-4C40-B084-8C9873522898}"/>
              </a:ext>
            </a:extLst>
          </p:cNvPr>
          <p:cNvSpPr>
            <a:spLocks noGrp="1"/>
          </p:cNvSpPr>
          <p:nvPr/>
        </p:nvSpPr>
        <p:spPr>
          <a:xfrm>
            <a:off x="285750" y="6524625"/>
            <a:ext cx="11430000" cy="238125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275" b="0">
                <a:solidFill>
                  <a:srgbClr val="456675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275" b="0">
                <a:solidFill>
                  <a:srgbClr val="456675"/>
                </a:solidFill>
                <a:latin typeface="Microsoft JhengHei"/>
                <a:ea typeface="Microsoft JhengHei"/>
                <a:cs typeface="Microsoft JhengHei"/>
              </a:rPr>
              <a:t>CH01PPT.ppt 第 12 頁</a:t>
            </a:r>
          </a:p>
        </p:txBody>
      </p:sp>
    </p:spTree>
    <p:extLst>
      <p:ext uri="{BB962C8B-B14F-4D97-AF65-F5344CB8AC3E}">
        <p14:creationId xmlns:p14="http://schemas.microsoft.com/office/powerpoint/2010/main" val="1183431985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B17A1B8C-6F99-D7FC-BFC5-2093C3C33C2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矩形 3">
            <a:extLst>
              <a:ext uri="{FF2B5EF4-FFF2-40B4-BE49-F238E27FC236}">
                <a16:creationId xmlns:a16="http://schemas.microsoft.com/office/drawing/2014/main" id="{5B8B733E-6CBB-5C30-1B41-9313EB736303}"/>
              </a:ext>
            </a:extLst>
          </p:cNvPr>
          <p:cNvSpPr>
            <a:spLocks noGrp="1"/>
          </p:cNvSpPr>
          <p:nvPr/>
        </p:nvSpPr>
        <p:spPr>
          <a:xfrm>
            <a:off x="285750" y="161925"/>
            <a:ext cx="11572875" cy="3810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725" b="1">
                <a:solidFill>
                  <a:srgbClr val="17384C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725" b="1">
                <a:solidFill>
                  <a:srgbClr val="17384C"/>
                </a:solidFill>
                <a:latin typeface="Microsoft JhengHei"/>
                <a:ea typeface="Microsoft JhengHei"/>
                <a:cs typeface="Microsoft JhengHei"/>
              </a:rPr>
              <a:t>W1-01   原教材圖文對照</a:t>
            </a: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94A93693-D0BB-8788-911F-D0D5D15ED994}"/>
              </a:ext>
            </a:extLst>
          </p:cNvPr>
          <p:cNvSpPr>
            <a:spLocks noGrp="1"/>
          </p:cNvSpPr>
          <p:nvPr/>
        </p:nvSpPr>
        <p:spPr>
          <a:xfrm>
            <a:off x="285750" y="6524625"/>
            <a:ext cx="11430000" cy="238125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275" b="0">
                <a:solidFill>
                  <a:srgbClr val="456675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275" b="0" dirty="0">
                <a:solidFill>
                  <a:srgbClr val="456675"/>
                </a:solidFill>
                <a:latin typeface="Microsoft JhengHei"/>
                <a:ea typeface="Microsoft JhengHei"/>
                <a:cs typeface="Microsoft JhengHei"/>
              </a:rPr>
              <a:t>CH0</a:t>
            </a:r>
            <a:r>
              <a:rPr lang="en-US" sz="1275" b="0" dirty="0">
                <a:solidFill>
                  <a:srgbClr val="456675"/>
                </a:solidFill>
                <a:latin typeface="Microsoft JhengHei"/>
                <a:ea typeface="Microsoft JhengHei"/>
                <a:cs typeface="Microsoft JhengHei"/>
              </a:rPr>
              <a:t>2</a:t>
            </a:r>
            <a:r>
              <a:rPr sz="1275" b="0" dirty="0">
                <a:solidFill>
                  <a:srgbClr val="456675"/>
                </a:solidFill>
                <a:latin typeface="Microsoft JhengHei"/>
                <a:ea typeface="Microsoft JhengHei"/>
                <a:cs typeface="Microsoft JhengHei"/>
              </a:rPr>
              <a:t>PPT.ppt 第 2 頁</a:t>
            </a:r>
          </a:p>
        </p:txBody>
      </p:sp>
      <p:pic>
        <p:nvPicPr>
          <p:cNvPr id="6" name="圖片 5">
            <a:extLst>
              <a:ext uri="{FF2B5EF4-FFF2-40B4-BE49-F238E27FC236}">
                <a16:creationId xmlns:a16="http://schemas.microsoft.com/office/drawing/2014/main" id="{3A019582-1532-8458-0136-0920D958D9E8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t="720"/>
          <a:stretch>
            <a:fillRect/>
          </a:stretch>
        </p:blipFill>
        <p:spPr>
          <a:xfrm>
            <a:off x="2298353" y="542925"/>
            <a:ext cx="8195902" cy="61531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27569211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矩形 9">
            <a:extLst>
              <a:ext uri="{FF2B5EF4-FFF2-40B4-BE49-F238E27FC236}">
                <a16:creationId xmlns:a16="http://schemas.microsoft.com/office/drawing/2014/main" id="{37BF7A13-F549-4B29-B98E-52AFB00D74A4}"/>
              </a:ext>
            </a:extLst>
          </p:cNvPr>
          <p:cNvSpPr>
            <a:spLocks noGrp="1"/>
          </p:cNvSpPr>
          <p:nvPr/>
        </p:nvSpPr>
        <p:spPr>
          <a:xfrm>
            <a:off x="609600" y="304800"/>
            <a:ext cx="10763250" cy="3810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650" b="1">
                <a:solidFill>
                  <a:srgbClr val="456675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650" b="1">
                <a:solidFill>
                  <a:srgbClr val="456675"/>
                </a:solidFill>
                <a:latin typeface="Microsoft JhengHei"/>
                <a:ea typeface="Microsoft JhengHei"/>
                <a:cs typeface="Microsoft JhengHei"/>
              </a:rPr>
              <a:t>W1-02   010–025 分鐘</a:t>
            </a:r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8A6727C0-7F4D-4D4D-93C5-E3F8263E9FD4}"/>
              </a:ext>
            </a:extLst>
          </p:cNvPr>
          <p:cNvSpPr>
            <a:spLocks noGrp="1"/>
          </p:cNvSpPr>
          <p:nvPr/>
        </p:nvSpPr>
        <p:spPr>
          <a:xfrm>
            <a:off x="609600" y="942975"/>
            <a:ext cx="10858500" cy="85725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3450" b="1">
                <a:solidFill>
                  <a:srgbClr val="17384C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lang="en-US" altLang="zh-TW" sz="3450" b="1" dirty="0">
                <a:solidFill>
                  <a:srgbClr val="17384C"/>
                </a:solidFill>
                <a:latin typeface="Microsoft JhengHei"/>
                <a:ea typeface="Microsoft JhengHei"/>
                <a:cs typeface="Microsoft JhengHei"/>
              </a:rPr>
              <a:t>Google </a:t>
            </a:r>
            <a:r>
              <a:rPr lang="en-US" altLang="zh-TW" sz="3450" b="1" dirty="0" err="1">
                <a:solidFill>
                  <a:srgbClr val="17384C"/>
                </a:solidFill>
                <a:latin typeface="Microsoft JhengHei"/>
                <a:ea typeface="Microsoft JhengHei"/>
                <a:cs typeface="Microsoft JhengHei"/>
              </a:rPr>
              <a:t>Colab</a:t>
            </a:r>
            <a:r>
              <a:rPr sz="3450" b="1" dirty="0">
                <a:solidFill>
                  <a:srgbClr val="17384C"/>
                </a:solidFill>
                <a:latin typeface="Microsoft JhengHei"/>
                <a:ea typeface="Microsoft JhengHei"/>
                <a:cs typeface="Microsoft JhengHei"/>
              </a:rPr>
              <a:t> </a:t>
            </a:r>
            <a:r>
              <a:rPr sz="3450" b="1" dirty="0" err="1">
                <a:solidFill>
                  <a:srgbClr val="17384C"/>
                </a:solidFill>
                <a:latin typeface="Microsoft JhengHei"/>
                <a:ea typeface="Microsoft JhengHei"/>
                <a:cs typeface="Microsoft JhengHei"/>
              </a:rPr>
              <a:t>與第一個程式</a:t>
            </a:r>
            <a:endParaRPr sz="3450" b="1" dirty="0">
              <a:solidFill>
                <a:srgbClr val="17384C"/>
              </a:solidFill>
              <a:latin typeface="Microsoft JhengHei"/>
              <a:ea typeface="Microsoft JhengHei"/>
              <a:cs typeface="Microsoft JhengHei"/>
            </a:endParaRP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BE3B45C2-EC3F-4D69-AB1B-4791BEDE74F9}"/>
              </a:ext>
            </a:extLst>
          </p:cNvPr>
          <p:cNvSpPr>
            <a:spLocks noGrp="1"/>
          </p:cNvSpPr>
          <p:nvPr/>
        </p:nvSpPr>
        <p:spPr>
          <a:xfrm>
            <a:off x="647700" y="2190750"/>
            <a:ext cx="619125" cy="5715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2100" b="1">
                <a:solidFill>
                  <a:srgbClr val="078078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100" b="1">
                <a:solidFill>
                  <a:srgbClr val="078078"/>
                </a:solidFill>
                <a:latin typeface="Microsoft JhengHei"/>
                <a:ea typeface="Microsoft JhengHei"/>
                <a:cs typeface="Microsoft JhengHei"/>
              </a:rPr>
              <a:t>01</a:t>
            </a:r>
          </a:p>
        </p:txBody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0A7A8F9C-3EF4-4A33-A92C-34B1C0747D96}"/>
              </a:ext>
            </a:extLst>
          </p:cNvPr>
          <p:cNvSpPr>
            <a:spLocks noGrp="1"/>
          </p:cNvSpPr>
          <p:nvPr/>
        </p:nvSpPr>
        <p:spPr>
          <a:xfrm>
            <a:off x="1476375" y="2133600"/>
            <a:ext cx="9620250" cy="9525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2550" b="0">
                <a:solidFill>
                  <a:srgbClr val="17384C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550" b="0">
                <a:solidFill>
                  <a:srgbClr val="17384C"/>
                </a:solidFill>
                <a:latin typeface="Microsoft JhengHei"/>
                <a:ea typeface="Microsoft JhengHei"/>
                <a:cs typeface="Microsoft JhengHei"/>
              </a:rPr>
              <a:t>文字格放說明，程式格放 Python</a:t>
            </a:r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3466ED31-D404-4116-9FCD-755D11979F52}"/>
              </a:ext>
            </a:extLst>
          </p:cNvPr>
          <p:cNvSpPr>
            <a:spLocks noGrp="1"/>
          </p:cNvSpPr>
          <p:nvPr/>
        </p:nvSpPr>
        <p:spPr>
          <a:xfrm>
            <a:off x="647700" y="3286125"/>
            <a:ext cx="619125" cy="5715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2100" b="1">
                <a:solidFill>
                  <a:srgbClr val="078078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100" b="1">
                <a:solidFill>
                  <a:srgbClr val="078078"/>
                </a:solidFill>
                <a:latin typeface="Microsoft JhengHei"/>
                <a:ea typeface="Microsoft JhengHei"/>
                <a:cs typeface="Microsoft JhengHei"/>
              </a:rPr>
              <a:t>02</a:t>
            </a:r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81C4F4A6-C3C5-4BAE-84A8-378EB7165196}"/>
              </a:ext>
            </a:extLst>
          </p:cNvPr>
          <p:cNvSpPr>
            <a:spLocks noGrp="1"/>
          </p:cNvSpPr>
          <p:nvPr/>
        </p:nvSpPr>
        <p:spPr>
          <a:xfrm>
            <a:off x="1476375" y="3228975"/>
            <a:ext cx="9620250" cy="9525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2550" b="0">
                <a:solidFill>
                  <a:srgbClr val="17384C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550" b="0">
                <a:solidFill>
                  <a:srgbClr val="17384C"/>
                </a:solidFill>
                <a:latin typeface="Microsoft JhengHei"/>
                <a:ea typeface="Microsoft JhengHei"/>
                <a:cs typeface="Microsoft JhengHei"/>
              </a:rPr>
              <a:t>Shift+Enter 執行並移到下一格</a:t>
            </a:r>
          </a:p>
        </p:txBody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64D63859-BBA3-4BF5-9258-0E2F13BA3428}"/>
              </a:ext>
            </a:extLst>
          </p:cNvPr>
          <p:cNvSpPr>
            <a:spLocks noGrp="1"/>
          </p:cNvSpPr>
          <p:nvPr/>
        </p:nvSpPr>
        <p:spPr>
          <a:xfrm>
            <a:off x="647700" y="4381500"/>
            <a:ext cx="619125" cy="5715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2100" b="1">
                <a:solidFill>
                  <a:srgbClr val="078078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100" b="1">
                <a:solidFill>
                  <a:srgbClr val="078078"/>
                </a:solidFill>
                <a:latin typeface="Microsoft JhengHei"/>
                <a:ea typeface="Microsoft JhengHei"/>
                <a:cs typeface="Microsoft JhengHei"/>
              </a:rPr>
              <a:t>03</a:t>
            </a: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00B2700B-5EFA-4124-85F3-12C4FDE686F9}"/>
              </a:ext>
            </a:extLst>
          </p:cNvPr>
          <p:cNvSpPr>
            <a:spLocks noGrp="1"/>
          </p:cNvSpPr>
          <p:nvPr/>
        </p:nvSpPr>
        <p:spPr>
          <a:xfrm>
            <a:off x="1476375" y="4324350"/>
            <a:ext cx="9620250" cy="9525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2550" b="0">
                <a:solidFill>
                  <a:srgbClr val="17384C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550" b="0">
                <a:solidFill>
                  <a:srgbClr val="17384C"/>
                </a:solidFill>
                <a:latin typeface="Microsoft JhengHei"/>
                <a:ea typeface="Microsoft JhengHei"/>
                <a:cs typeface="Microsoft JhengHei"/>
              </a:rPr>
              <a:t>儲存檔案與核心記憶是不同的事</a:t>
            </a: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7FC5FFEB-709E-4E26-A599-96D98B20AC63}"/>
              </a:ext>
            </a:extLst>
          </p:cNvPr>
          <p:cNvSpPr>
            <a:spLocks noGrp="1"/>
          </p:cNvSpPr>
          <p:nvPr/>
        </p:nvSpPr>
        <p:spPr>
          <a:xfrm>
            <a:off x="647700" y="5953125"/>
            <a:ext cx="10810875" cy="55245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575" b="0">
                <a:solidFill>
                  <a:srgbClr val="456675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575" b="0">
                <a:solidFill>
                  <a:srgbClr val="456675"/>
                </a:solidFill>
                <a:latin typeface="Microsoft JhengHei"/>
                <a:ea typeface="Microsoft JhengHei"/>
                <a:cs typeface="Microsoft JhengHei"/>
              </a:rPr>
              <a:t>本週作品：完成飲料訂單計算器，列出品項、杯數、總價與找零</a:t>
            </a:r>
          </a:p>
        </p:txBody>
      </p:sp>
      <p:pic>
        <p:nvPicPr>
          <p:cNvPr id="12" name="圖片 11">
            <a:extLst>
              <a:ext uri="{FF2B5EF4-FFF2-40B4-BE49-F238E27FC236}">
                <a16:creationId xmlns:a16="http://schemas.microsoft.com/office/drawing/2014/main" id="{D875A8E9-4982-EF99-7CD3-90131B7F5DE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40128" y="484736"/>
            <a:ext cx="5509046" cy="2944264"/>
          </a:xfrm>
          <a:prstGeom prst="rect">
            <a:avLst/>
          </a:prstGeom>
        </p:spPr>
      </p:pic>
      <p:pic>
        <p:nvPicPr>
          <p:cNvPr id="14" name="圖片 13">
            <a:extLst>
              <a:ext uri="{FF2B5EF4-FFF2-40B4-BE49-F238E27FC236}">
                <a16:creationId xmlns:a16="http://schemas.microsoft.com/office/drawing/2014/main" id="{63FB91C7-7123-B947-2693-507D6A24069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440128" y="3429000"/>
            <a:ext cx="5509047" cy="322560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68291366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矩形 5">
            <a:extLst>
              <a:ext uri="{FF2B5EF4-FFF2-40B4-BE49-F238E27FC236}">
                <a16:creationId xmlns:a16="http://schemas.microsoft.com/office/drawing/2014/main" id="{8B3647EC-BB34-43F6-B4D6-0FCBCDA2AAFD}"/>
              </a:ext>
            </a:extLst>
          </p:cNvPr>
          <p:cNvSpPr>
            <a:spLocks noGrp="1"/>
          </p:cNvSpPr>
          <p:nvPr/>
        </p:nvSpPr>
        <p:spPr>
          <a:xfrm>
            <a:off x="609600" y="304800"/>
            <a:ext cx="10858500" cy="3810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650" b="1">
                <a:solidFill>
                  <a:srgbClr val="456675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650" b="1">
                <a:solidFill>
                  <a:srgbClr val="456675"/>
                </a:solidFill>
                <a:latin typeface="Microsoft JhengHei"/>
                <a:ea typeface="Microsoft JhengHei"/>
                <a:cs typeface="Microsoft JhengHei"/>
              </a:rPr>
              <a:t>W1-02   示範與練習  程式節錄</a:t>
            </a:r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D7674657-9788-4D8A-ABDA-B1866EF9B7AF}"/>
              </a:ext>
            </a:extLst>
          </p:cNvPr>
          <p:cNvSpPr>
            <a:spLocks noGrp="1"/>
          </p:cNvSpPr>
          <p:nvPr/>
        </p:nvSpPr>
        <p:spPr>
          <a:xfrm>
            <a:off x="609600" y="895350"/>
            <a:ext cx="10858500" cy="790575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3300" b="1">
                <a:solidFill>
                  <a:srgbClr val="17384C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lang="en-US" altLang="zh-TW" sz="3200" b="1" dirty="0">
                <a:solidFill>
                  <a:srgbClr val="17384C"/>
                </a:solidFill>
                <a:latin typeface="Microsoft JhengHei"/>
                <a:ea typeface="Microsoft JhengHei"/>
                <a:cs typeface="Microsoft JhengHei"/>
              </a:rPr>
              <a:t>Google </a:t>
            </a:r>
            <a:r>
              <a:rPr lang="en-US" altLang="zh-TW" sz="3200" b="1" dirty="0" err="1">
                <a:solidFill>
                  <a:srgbClr val="17384C"/>
                </a:solidFill>
                <a:latin typeface="Microsoft JhengHei"/>
                <a:ea typeface="Microsoft JhengHei"/>
                <a:cs typeface="Microsoft JhengHei"/>
              </a:rPr>
              <a:t>Colab</a:t>
            </a:r>
            <a:r>
              <a:rPr lang="en-US" altLang="zh-TW" sz="3200" b="1" dirty="0">
                <a:solidFill>
                  <a:srgbClr val="17384C"/>
                </a:solidFill>
                <a:latin typeface="Microsoft JhengHei"/>
                <a:ea typeface="Microsoft JhengHei"/>
                <a:cs typeface="Microsoft JhengHei"/>
              </a:rPr>
              <a:t> </a:t>
            </a:r>
            <a:r>
              <a:rPr sz="3300" b="1" dirty="0" err="1">
                <a:solidFill>
                  <a:srgbClr val="17384C"/>
                </a:solidFill>
                <a:latin typeface="Microsoft JhengHei"/>
                <a:ea typeface="Microsoft JhengHei"/>
                <a:cs typeface="Microsoft JhengHei"/>
              </a:rPr>
              <a:t>與第一個程式</a:t>
            </a:r>
            <a:endParaRPr sz="3300" b="1" dirty="0">
              <a:solidFill>
                <a:srgbClr val="17384C"/>
              </a:solidFill>
              <a:latin typeface="Microsoft JhengHei"/>
              <a:ea typeface="Microsoft JhengHei"/>
              <a:cs typeface="Microsoft JhengHei"/>
            </a:endParaRP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C6865639-0ECC-47AB-BD6B-968D44C764A3}"/>
              </a:ext>
            </a:extLst>
          </p:cNvPr>
          <p:cNvSpPr>
            <a:spLocks noGrp="1"/>
          </p:cNvSpPr>
          <p:nvPr/>
        </p:nvSpPr>
        <p:spPr>
          <a:xfrm>
            <a:off x="685800" y="1914525"/>
            <a:ext cx="10477500" cy="295275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875" b="0">
                <a:solidFill>
                  <a:srgbClr val="155B70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875" b="0">
                <a:solidFill>
                  <a:srgbClr val="155B70"/>
                </a:solidFill>
                <a:latin typeface="Microsoft JhengHei"/>
                <a:ea typeface="Microsoft JhengHei"/>
                <a:cs typeface="Microsoft JhengHei"/>
              </a:rPr>
              <a:t>print("你好，Python！")</a:t>
            </a:r>
          </a:p>
          <a:p>
            <a:pPr>
              <a:defRPr sz="1875" b="0">
                <a:solidFill>
                  <a:srgbClr val="155B70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875" b="0">
                <a:solidFill>
                  <a:srgbClr val="155B70"/>
                </a:solidFill>
                <a:latin typeface="Microsoft JhengHei"/>
                <a:ea typeface="Microsoft JhengHei"/>
                <a:cs typeface="Microsoft JhengHei"/>
              </a:rPr>
              <a:t>print("今天開始學寫程式")</a:t>
            </a:r>
          </a:p>
        </p:txBody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71046B0D-5B4E-4FD1-B48D-3F696FB3A219}"/>
              </a:ext>
            </a:extLst>
          </p:cNvPr>
          <p:cNvSpPr>
            <a:spLocks noGrp="1"/>
          </p:cNvSpPr>
          <p:nvPr/>
        </p:nvSpPr>
        <p:spPr>
          <a:xfrm>
            <a:off x="685801" y="5095875"/>
            <a:ext cx="4200832" cy="89535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2100" b="0">
                <a:solidFill>
                  <a:srgbClr val="213547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100" b="0" dirty="0" err="1">
                <a:solidFill>
                  <a:srgbClr val="213547"/>
                </a:solidFill>
                <a:latin typeface="Microsoft JhengHei"/>
                <a:ea typeface="Microsoft JhengHei"/>
                <a:cs typeface="Microsoft JhengHei"/>
              </a:rPr>
              <a:t>執行示範，修改問候語並儲存。請同桌指出程式格與輸出區的差別</a:t>
            </a:r>
            <a:r>
              <a:rPr sz="2100" b="0" dirty="0">
                <a:solidFill>
                  <a:srgbClr val="213547"/>
                </a:solidFill>
                <a:latin typeface="Microsoft JhengHei"/>
                <a:ea typeface="Microsoft JhengHei"/>
                <a:cs typeface="Microsoft JhengHei"/>
              </a:rPr>
              <a:t>。</a:t>
            </a:r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2BAD56C5-4C3F-4BF2-A0A6-1FB4CDC6589A}"/>
              </a:ext>
            </a:extLst>
          </p:cNvPr>
          <p:cNvSpPr>
            <a:spLocks noGrp="1"/>
          </p:cNvSpPr>
          <p:nvPr/>
        </p:nvSpPr>
        <p:spPr>
          <a:xfrm>
            <a:off x="685800" y="6286500"/>
            <a:ext cx="10477500" cy="2667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500" b="0">
                <a:solidFill>
                  <a:srgbClr val="5D737F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500" b="0">
                <a:solidFill>
                  <a:srgbClr val="5D737F"/>
                </a:solidFill>
                <a:latin typeface="Microsoft JhengHei"/>
                <a:ea typeface="Microsoft JhengHei"/>
                <a:cs typeface="Microsoft JhengHei"/>
              </a:rPr>
              <a:t>完整程式與練習：Notebook W1-02</a:t>
            </a:r>
          </a:p>
        </p:txBody>
      </p:sp>
      <p:pic>
        <p:nvPicPr>
          <p:cNvPr id="9" name="圖片 8">
            <a:extLst>
              <a:ext uri="{FF2B5EF4-FFF2-40B4-BE49-F238E27FC236}">
                <a16:creationId xmlns:a16="http://schemas.microsoft.com/office/drawing/2014/main" id="{8C23B93D-40B4-45EF-DF50-016F57324DC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886633" y="1895475"/>
            <a:ext cx="7011008" cy="405419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03669101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矩形 9">
            <a:extLst>
              <a:ext uri="{FF2B5EF4-FFF2-40B4-BE49-F238E27FC236}">
                <a16:creationId xmlns:a16="http://schemas.microsoft.com/office/drawing/2014/main" id="{D6CBBCDE-93DD-4F7B-86D1-4021A812BD2F}"/>
              </a:ext>
            </a:extLst>
          </p:cNvPr>
          <p:cNvSpPr>
            <a:spLocks noGrp="1"/>
          </p:cNvSpPr>
          <p:nvPr/>
        </p:nvSpPr>
        <p:spPr>
          <a:xfrm>
            <a:off x="609600" y="304800"/>
            <a:ext cx="10763250" cy="3810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650" b="1">
                <a:solidFill>
                  <a:srgbClr val="456675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650" b="1">
                <a:solidFill>
                  <a:srgbClr val="456675"/>
                </a:solidFill>
                <a:latin typeface="Microsoft JhengHei"/>
                <a:ea typeface="Microsoft JhengHei"/>
                <a:cs typeface="Microsoft JhengHei"/>
              </a:rPr>
              <a:t>W1-03   025–045 分鐘</a:t>
            </a:r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9006EFB8-736A-4E51-B4E8-7625774334AB}"/>
              </a:ext>
            </a:extLst>
          </p:cNvPr>
          <p:cNvSpPr>
            <a:spLocks noGrp="1"/>
          </p:cNvSpPr>
          <p:nvPr/>
        </p:nvSpPr>
        <p:spPr>
          <a:xfrm>
            <a:off x="609600" y="942975"/>
            <a:ext cx="10858500" cy="85725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3450" b="1">
                <a:solidFill>
                  <a:srgbClr val="17384C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3450" b="1">
                <a:solidFill>
                  <a:srgbClr val="17384C"/>
                </a:solidFill>
                <a:latin typeface="Microsoft JhengHei"/>
                <a:ea typeface="Microsoft JhengHei"/>
                <a:cs typeface="Microsoft JhengHei"/>
              </a:rPr>
              <a:t>文字與數字</a:t>
            </a: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76D77A46-1140-4ED5-BA45-3AA13BDC280E}"/>
              </a:ext>
            </a:extLst>
          </p:cNvPr>
          <p:cNvSpPr>
            <a:spLocks noGrp="1"/>
          </p:cNvSpPr>
          <p:nvPr/>
        </p:nvSpPr>
        <p:spPr>
          <a:xfrm>
            <a:off x="647700" y="2190750"/>
            <a:ext cx="619125" cy="5715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2100" b="1">
                <a:solidFill>
                  <a:srgbClr val="078078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100" b="1">
                <a:solidFill>
                  <a:srgbClr val="078078"/>
                </a:solidFill>
                <a:latin typeface="Microsoft JhengHei"/>
                <a:ea typeface="Microsoft JhengHei"/>
                <a:cs typeface="Microsoft JhengHei"/>
              </a:rPr>
              <a:t>01</a:t>
            </a:r>
          </a:p>
        </p:txBody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6A93E969-B6F5-4E5B-8692-832DE23B3537}"/>
              </a:ext>
            </a:extLst>
          </p:cNvPr>
          <p:cNvSpPr>
            <a:spLocks noGrp="1"/>
          </p:cNvSpPr>
          <p:nvPr/>
        </p:nvSpPr>
        <p:spPr>
          <a:xfrm>
            <a:off x="1476375" y="2133600"/>
            <a:ext cx="9620250" cy="9525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2550" b="0">
                <a:solidFill>
                  <a:srgbClr val="17384C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550" b="0">
                <a:solidFill>
                  <a:srgbClr val="17384C"/>
                </a:solidFill>
                <a:latin typeface="Microsoft JhengHei"/>
                <a:ea typeface="Microsoft JhengHei"/>
                <a:cs typeface="Microsoft JhengHei"/>
              </a:rPr>
              <a:t>字串要加引號</a:t>
            </a:r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BF284C54-EC35-4F42-8D0E-03F3B12568A1}"/>
              </a:ext>
            </a:extLst>
          </p:cNvPr>
          <p:cNvSpPr>
            <a:spLocks noGrp="1"/>
          </p:cNvSpPr>
          <p:nvPr/>
        </p:nvSpPr>
        <p:spPr>
          <a:xfrm>
            <a:off x="647700" y="3286125"/>
            <a:ext cx="619125" cy="5715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2100" b="1">
                <a:solidFill>
                  <a:srgbClr val="078078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100" b="1">
                <a:solidFill>
                  <a:srgbClr val="078078"/>
                </a:solidFill>
                <a:latin typeface="Microsoft JhengHei"/>
                <a:ea typeface="Microsoft JhengHei"/>
                <a:cs typeface="Microsoft JhengHei"/>
              </a:rPr>
              <a:t>02</a:t>
            </a:r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C21D8B48-499D-467B-9313-AEBD53BFE6C2}"/>
              </a:ext>
            </a:extLst>
          </p:cNvPr>
          <p:cNvSpPr>
            <a:spLocks noGrp="1"/>
          </p:cNvSpPr>
          <p:nvPr/>
        </p:nvSpPr>
        <p:spPr>
          <a:xfrm>
            <a:off x="1476375" y="3228975"/>
            <a:ext cx="9620250" cy="9525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2550" b="0">
                <a:solidFill>
                  <a:srgbClr val="17384C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550" b="0">
                <a:solidFill>
                  <a:srgbClr val="17384C"/>
                </a:solidFill>
                <a:latin typeface="Microsoft JhengHei"/>
                <a:ea typeface="Microsoft JhengHei"/>
                <a:cs typeface="Microsoft JhengHei"/>
              </a:rPr>
              <a:t>數值可直接運算</a:t>
            </a:r>
          </a:p>
        </p:txBody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D423FBB5-8E54-4C01-B20D-0624BF8A7002}"/>
              </a:ext>
            </a:extLst>
          </p:cNvPr>
          <p:cNvSpPr>
            <a:spLocks noGrp="1"/>
          </p:cNvSpPr>
          <p:nvPr/>
        </p:nvSpPr>
        <p:spPr>
          <a:xfrm>
            <a:off x="647700" y="4381500"/>
            <a:ext cx="619125" cy="5715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2100" b="1">
                <a:solidFill>
                  <a:srgbClr val="078078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100" b="1">
                <a:solidFill>
                  <a:srgbClr val="078078"/>
                </a:solidFill>
                <a:latin typeface="Microsoft JhengHei"/>
                <a:ea typeface="Microsoft JhengHei"/>
                <a:cs typeface="Microsoft JhengHei"/>
              </a:rPr>
              <a:t>03</a:t>
            </a: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F095BB51-9006-4535-AA62-80337660DC7D}"/>
              </a:ext>
            </a:extLst>
          </p:cNvPr>
          <p:cNvSpPr>
            <a:spLocks noGrp="1"/>
          </p:cNvSpPr>
          <p:nvPr/>
        </p:nvSpPr>
        <p:spPr>
          <a:xfrm>
            <a:off x="1476375" y="4324350"/>
            <a:ext cx="9620250" cy="9525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2550" b="0">
                <a:solidFill>
                  <a:srgbClr val="17384C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550" b="0">
                <a:solidFill>
                  <a:srgbClr val="17384C"/>
                </a:solidFill>
                <a:latin typeface="Microsoft JhengHei"/>
                <a:ea typeface="Microsoft JhengHei"/>
                <a:cs typeface="Microsoft JhengHei"/>
              </a:rPr>
              <a:t>print 可以輸出多個值</a:t>
            </a: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BB678383-8BCF-4C8A-8A73-6DDE86731E34}"/>
              </a:ext>
            </a:extLst>
          </p:cNvPr>
          <p:cNvSpPr>
            <a:spLocks noGrp="1"/>
          </p:cNvSpPr>
          <p:nvPr/>
        </p:nvSpPr>
        <p:spPr>
          <a:xfrm>
            <a:off x="647700" y="5953125"/>
            <a:ext cx="10810875" cy="55245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575" b="0">
                <a:solidFill>
                  <a:srgbClr val="456675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575" b="0">
                <a:solidFill>
                  <a:srgbClr val="456675"/>
                </a:solidFill>
                <a:latin typeface="Microsoft JhengHei"/>
                <a:ea typeface="Microsoft JhengHei"/>
                <a:cs typeface="Microsoft JhengHei"/>
              </a:rPr>
              <a:t>本週作品：完成飲料訂單計算器，列出品項、杯數、總價與找零</a:t>
            </a:r>
          </a:p>
        </p:txBody>
      </p:sp>
    </p:spTree>
    <p:extLst>
      <p:ext uri="{BB962C8B-B14F-4D97-AF65-F5344CB8AC3E}">
        <p14:creationId xmlns:p14="http://schemas.microsoft.com/office/powerpoint/2010/main" val="1053236124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矩形 5">
            <a:extLst>
              <a:ext uri="{FF2B5EF4-FFF2-40B4-BE49-F238E27FC236}">
                <a16:creationId xmlns:a16="http://schemas.microsoft.com/office/drawing/2014/main" id="{4D035277-FCBB-4DD2-A19F-064BE71D7056}"/>
              </a:ext>
            </a:extLst>
          </p:cNvPr>
          <p:cNvSpPr>
            <a:spLocks noGrp="1"/>
          </p:cNvSpPr>
          <p:nvPr/>
        </p:nvSpPr>
        <p:spPr>
          <a:xfrm>
            <a:off x="609600" y="304800"/>
            <a:ext cx="10858500" cy="3810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650" b="1">
                <a:solidFill>
                  <a:srgbClr val="456675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650" b="1">
                <a:solidFill>
                  <a:srgbClr val="456675"/>
                </a:solidFill>
                <a:latin typeface="Microsoft JhengHei"/>
                <a:ea typeface="Microsoft JhengHei"/>
                <a:cs typeface="Microsoft JhengHei"/>
              </a:rPr>
              <a:t>W1-03   示範與練習  程式節錄</a:t>
            </a:r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DEED86ED-937C-4A26-8D23-3D2043BCD589}"/>
              </a:ext>
            </a:extLst>
          </p:cNvPr>
          <p:cNvSpPr>
            <a:spLocks noGrp="1"/>
          </p:cNvSpPr>
          <p:nvPr/>
        </p:nvSpPr>
        <p:spPr>
          <a:xfrm>
            <a:off x="609600" y="895350"/>
            <a:ext cx="10858500" cy="790575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3300" b="1">
                <a:solidFill>
                  <a:srgbClr val="17384C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3300" b="1">
                <a:solidFill>
                  <a:srgbClr val="17384C"/>
                </a:solidFill>
                <a:latin typeface="Microsoft JhengHei"/>
                <a:ea typeface="Microsoft JhengHei"/>
                <a:cs typeface="Microsoft JhengHei"/>
              </a:rPr>
              <a:t>文字與數字</a:t>
            </a: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D7CA5488-91DD-41CB-AE8F-DF5F1058E6E2}"/>
              </a:ext>
            </a:extLst>
          </p:cNvPr>
          <p:cNvSpPr>
            <a:spLocks noGrp="1"/>
          </p:cNvSpPr>
          <p:nvPr/>
        </p:nvSpPr>
        <p:spPr>
          <a:xfrm>
            <a:off x="685800" y="1914525"/>
            <a:ext cx="10477500" cy="295275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875" b="0">
                <a:solidFill>
                  <a:srgbClr val="155B70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875" b="0">
                <a:solidFill>
                  <a:srgbClr val="155B70"/>
                </a:solidFill>
                <a:latin typeface="Microsoft JhengHei"/>
                <a:ea typeface="Microsoft JhengHei"/>
                <a:cs typeface="Microsoft JhengHei"/>
              </a:rPr>
              <a:t>print(2 + 3)</a:t>
            </a:r>
          </a:p>
          <a:p>
            <a:pPr>
              <a:defRPr sz="1875" b="0">
                <a:solidFill>
                  <a:srgbClr val="155B70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875" b="0">
                <a:solidFill>
                  <a:srgbClr val="155B70"/>
                </a:solidFill>
                <a:latin typeface="Microsoft JhengHei"/>
                <a:ea typeface="Microsoft JhengHei"/>
                <a:cs typeface="Microsoft JhengHei"/>
              </a:rPr>
              <a:t>print("2 + 3")</a:t>
            </a:r>
          </a:p>
          <a:p>
            <a:pPr>
              <a:defRPr sz="1875" b="0">
                <a:solidFill>
                  <a:srgbClr val="155B70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875" b="0">
                <a:solidFill>
                  <a:srgbClr val="155B70"/>
                </a:solidFill>
                <a:latin typeface="Microsoft JhengHei"/>
                <a:ea typeface="Microsoft JhengHei"/>
                <a:cs typeface="Microsoft JhengHei"/>
              </a:rPr>
              <a:t>print("飲料", 35)</a:t>
            </a:r>
          </a:p>
        </p:txBody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DF5A6EEC-D4B2-4E4E-86F9-C432C4ACDF5C}"/>
              </a:ext>
            </a:extLst>
          </p:cNvPr>
          <p:cNvSpPr>
            <a:spLocks noGrp="1"/>
          </p:cNvSpPr>
          <p:nvPr/>
        </p:nvSpPr>
        <p:spPr>
          <a:xfrm>
            <a:off x="685800" y="5095875"/>
            <a:ext cx="10572750" cy="89535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2100" b="0">
                <a:solidFill>
                  <a:srgbClr val="213547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100" b="0">
                <a:solidFill>
                  <a:srgbClr val="213547"/>
                </a:solidFill>
                <a:latin typeface="Microsoft JhengHei"/>
                <a:ea typeface="Microsoft JhengHei"/>
                <a:cs typeface="Microsoft JhengHei"/>
              </a:rPr>
              <a:t>先寫預測，再執行。新增一行，同時輸出商品名稱與數值35。</a:t>
            </a:r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4A44D0F1-C528-44CD-AD7B-67767EB6CBF7}"/>
              </a:ext>
            </a:extLst>
          </p:cNvPr>
          <p:cNvSpPr>
            <a:spLocks noGrp="1"/>
          </p:cNvSpPr>
          <p:nvPr/>
        </p:nvSpPr>
        <p:spPr>
          <a:xfrm>
            <a:off x="685800" y="6286500"/>
            <a:ext cx="10477500" cy="2667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500" b="0">
                <a:solidFill>
                  <a:srgbClr val="5D737F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500" b="0">
                <a:solidFill>
                  <a:srgbClr val="5D737F"/>
                </a:solidFill>
                <a:latin typeface="Microsoft JhengHei"/>
                <a:ea typeface="Microsoft JhengHei"/>
                <a:cs typeface="Microsoft JhengHei"/>
              </a:rPr>
              <a:t>完整程式與練習：Notebook W1-03</a:t>
            </a:r>
          </a:p>
        </p:txBody>
      </p:sp>
      <p:pic>
        <p:nvPicPr>
          <p:cNvPr id="8" name="圖片 7">
            <a:extLst>
              <a:ext uri="{FF2B5EF4-FFF2-40B4-BE49-F238E27FC236}">
                <a16:creationId xmlns:a16="http://schemas.microsoft.com/office/drawing/2014/main" id="{FA693A47-D81C-D4E1-AA5D-CFE97620D97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200717" y="1290637"/>
            <a:ext cx="6325148" cy="302540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55397550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BE7EE905-8D2F-A25C-31C4-E4263F71742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2">
            <a:extLst>
              <a:ext uri="{FF2B5EF4-FFF2-40B4-BE49-F238E27FC236}">
                <a16:creationId xmlns:a16="http://schemas.microsoft.com/office/drawing/2014/main" id="{5D6C3168-565C-C6BA-4873-CE80762B851A}"/>
              </a:ext>
            </a:extLst>
          </p:cNvPr>
          <p:cNvSpPr txBox="1">
            <a:spLocks noChangeArrowheads="1"/>
          </p:cNvSpPr>
          <p:nvPr/>
        </p:nvSpPr>
        <p:spPr>
          <a:xfrm>
            <a:off x="455613" y="274638"/>
            <a:ext cx="8226425" cy="1143000"/>
          </a:xfrm>
          <a:prstGeom prst="rect">
            <a:avLst/>
          </a:prstGeom>
        </p:spPr>
        <p:txBody>
          <a:bodyPr/>
          <a:lstStyle>
            <a:lvl1pPr algn="l">
              <a:lnSpc>
                <a:spcPct val="90000"/>
              </a:lnSpc>
              <a:spcBef>
                <a:spcPts val="0"/>
              </a:spcBef>
              <a:buNone/>
              <a:defRPr sz="4400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</a:lstStyle>
          <a:p>
            <a:r>
              <a:rPr lang="en-US" altLang="zh-TW" kern="0" dirty="0">
                <a:solidFill>
                  <a:srgbClr val="0000FF"/>
                </a:solidFill>
              </a:rPr>
              <a:t>Python</a:t>
            </a:r>
            <a:r>
              <a:rPr lang="zh-TW" altLang="en-US" kern="0" dirty="0">
                <a:solidFill>
                  <a:srgbClr val="0000FF"/>
                </a:solidFill>
              </a:rPr>
              <a:t>文字值</a:t>
            </a:r>
            <a:endParaRPr lang="zh-TW" altLang="en-US" kern="0" dirty="0"/>
          </a:p>
        </p:txBody>
      </p:sp>
      <p:sp>
        <p:nvSpPr>
          <p:cNvPr id="9" name="Rectangle 3">
            <a:extLst>
              <a:ext uri="{FF2B5EF4-FFF2-40B4-BE49-F238E27FC236}">
                <a16:creationId xmlns:a16="http://schemas.microsoft.com/office/drawing/2014/main" id="{04A442F6-A66C-351B-6ED8-1AE14D3CB059}"/>
              </a:ext>
            </a:extLst>
          </p:cNvPr>
          <p:cNvSpPr txBox="1">
            <a:spLocks noChangeArrowheads="1"/>
          </p:cNvSpPr>
          <p:nvPr/>
        </p:nvSpPr>
        <p:spPr>
          <a:xfrm>
            <a:off x="455613" y="1600200"/>
            <a:ext cx="8226425" cy="4924425"/>
          </a:xfrm>
          <a:prstGeom prst="rect">
            <a:avLst/>
          </a:prstGeom>
        </p:spPr>
        <p:txBody>
          <a:bodyPr/>
          <a:lstStyle>
            <a:lvl1pPr marL="228600" indent="-228600" algn="l">
              <a:lnSpc>
                <a:spcPct val="90000"/>
              </a:lnSpc>
              <a:spcBef>
                <a:spcPts val="1000"/>
              </a:spcBef>
              <a:buChar char="•"/>
              <a:defRPr sz="2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685800" indent="-228600" algn="l">
              <a:lnSpc>
                <a:spcPct val="90000"/>
              </a:lnSpc>
              <a:spcBef>
                <a:spcPts val="500"/>
              </a:spcBef>
              <a:buChar char="•"/>
              <a:defRPr sz="24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1143000" indent="-228600" algn="l">
              <a:lnSpc>
                <a:spcPct val="90000"/>
              </a:lnSpc>
              <a:spcBef>
                <a:spcPts val="500"/>
              </a:spcBef>
              <a:buChar char="•"/>
              <a:defRPr sz="20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6002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20574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5146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9718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4290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8862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>
            <a:r>
              <a:rPr lang="zh-TW" altLang="en-US" kern="0" dirty="0">
                <a:solidFill>
                  <a:srgbClr val="0000FF"/>
                </a:solidFill>
              </a:rPr>
              <a:t>字串文字值</a:t>
            </a:r>
            <a:endParaRPr lang="en-US" altLang="zh-TW" kern="0" dirty="0">
              <a:solidFill>
                <a:srgbClr val="0000FF"/>
              </a:solidFill>
            </a:endParaRPr>
          </a:p>
          <a:p>
            <a:r>
              <a:rPr lang="zh-TW" altLang="en-US" kern="0" dirty="0">
                <a:solidFill>
                  <a:srgbClr val="0000FF"/>
                </a:solidFill>
              </a:rPr>
              <a:t>數值文字值</a:t>
            </a:r>
            <a:endParaRPr lang="en-US" altLang="zh-TW" kern="0" dirty="0">
              <a:solidFill>
                <a:srgbClr val="0000FF"/>
              </a:solidFill>
            </a:endParaRPr>
          </a:p>
          <a:p>
            <a:r>
              <a:rPr lang="zh-TW" altLang="en-US" kern="0" dirty="0">
                <a:solidFill>
                  <a:srgbClr val="0000FF"/>
                </a:solidFill>
              </a:rPr>
              <a:t>布林文字值</a:t>
            </a:r>
          </a:p>
        </p:txBody>
      </p:sp>
    </p:spTree>
    <p:extLst>
      <p:ext uri="{BB962C8B-B14F-4D97-AF65-F5344CB8AC3E}">
        <p14:creationId xmlns:p14="http://schemas.microsoft.com/office/powerpoint/2010/main" val="3816016646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>
            <a:extLst>
              <a:ext uri="{FF2B5EF4-FFF2-40B4-BE49-F238E27FC236}">
                <a16:creationId xmlns:a16="http://schemas.microsoft.com/office/drawing/2014/main" id="{C8BA6349-37EB-4720-2324-DEF968186561}"/>
              </a:ext>
            </a:extLst>
          </p:cNvPr>
          <p:cNvSpPr txBox="1">
            <a:spLocks noChangeArrowheads="1"/>
          </p:cNvSpPr>
          <p:nvPr/>
        </p:nvSpPr>
        <p:spPr>
          <a:xfrm>
            <a:off x="1982787" y="608013"/>
            <a:ext cx="8226425" cy="1143000"/>
          </a:xfrm>
          <a:prstGeom prst="rect">
            <a:avLst/>
          </a:prstGeom>
        </p:spPr>
        <p:txBody>
          <a:bodyPr/>
          <a:lstStyle>
            <a:lvl1pPr algn="l">
              <a:lnSpc>
                <a:spcPct val="90000"/>
              </a:lnSpc>
              <a:spcBef>
                <a:spcPts val="0"/>
              </a:spcBef>
              <a:buNone/>
              <a:defRPr sz="4400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</a:lstStyle>
          <a:p>
            <a:r>
              <a:rPr lang="en-US" altLang="zh-TW" kern="0" dirty="0"/>
              <a:t>Python</a:t>
            </a:r>
            <a:r>
              <a:rPr lang="zh-TW" altLang="en-US" kern="0" dirty="0"/>
              <a:t>文字值</a:t>
            </a:r>
          </a:p>
        </p:txBody>
      </p:sp>
      <p:sp>
        <p:nvSpPr>
          <p:cNvPr id="3" name="Rectangle 3">
            <a:extLst>
              <a:ext uri="{FF2B5EF4-FFF2-40B4-BE49-F238E27FC236}">
                <a16:creationId xmlns:a16="http://schemas.microsoft.com/office/drawing/2014/main" id="{E7E4947C-4106-D9FF-7D3A-D55B265F1B85}"/>
              </a:ext>
            </a:extLst>
          </p:cNvPr>
          <p:cNvSpPr txBox="1">
            <a:spLocks noChangeArrowheads="1"/>
          </p:cNvSpPr>
          <p:nvPr/>
        </p:nvSpPr>
        <p:spPr>
          <a:xfrm>
            <a:off x="1982787" y="1933575"/>
            <a:ext cx="8226425" cy="4924425"/>
          </a:xfrm>
          <a:prstGeom prst="rect">
            <a:avLst/>
          </a:prstGeom>
        </p:spPr>
        <p:txBody>
          <a:bodyPr/>
          <a:lstStyle>
            <a:lvl1pPr marL="228600" indent="-228600" algn="l">
              <a:lnSpc>
                <a:spcPct val="90000"/>
              </a:lnSpc>
              <a:spcBef>
                <a:spcPts val="1000"/>
              </a:spcBef>
              <a:buChar char="•"/>
              <a:defRPr sz="2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685800" indent="-228600" algn="l">
              <a:lnSpc>
                <a:spcPct val="90000"/>
              </a:lnSpc>
              <a:spcBef>
                <a:spcPts val="500"/>
              </a:spcBef>
              <a:buChar char="•"/>
              <a:defRPr sz="24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1143000" indent="-228600" algn="l">
              <a:lnSpc>
                <a:spcPct val="90000"/>
              </a:lnSpc>
              <a:spcBef>
                <a:spcPts val="500"/>
              </a:spcBef>
              <a:buChar char="•"/>
              <a:defRPr sz="20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6002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20574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5146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9718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4290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8862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>
            <a:r>
              <a:rPr lang="en-US" altLang="zh-TW" kern="0"/>
              <a:t>Python</a:t>
            </a:r>
            <a:r>
              <a:rPr lang="zh-TW" altLang="en-US" kern="0"/>
              <a:t>文字值（</a:t>
            </a:r>
            <a:r>
              <a:rPr lang="en-US" altLang="zh-TW" kern="0"/>
              <a:t>Literals</a:t>
            </a:r>
            <a:r>
              <a:rPr lang="zh-TW" altLang="en-US" kern="0"/>
              <a:t>、也稱字面值）或稱常數值（</a:t>
            </a:r>
            <a:r>
              <a:rPr lang="en-US" altLang="zh-TW" kern="0"/>
              <a:t>Constants</a:t>
            </a:r>
            <a:r>
              <a:rPr lang="zh-TW" altLang="en-US" kern="0"/>
              <a:t>），這是一種文字表面顯示的值，即撰寫程式碼時直接使用鍵盤輸入的值。在</a:t>
            </a:r>
            <a:r>
              <a:rPr lang="en-US" altLang="zh-TW" kern="0"/>
              <a:t>Python</a:t>
            </a:r>
            <a:r>
              <a:rPr lang="zh-TW" altLang="en-US" kern="0"/>
              <a:t>程式：</a:t>
            </a:r>
            <a:r>
              <a:rPr lang="en-US" altLang="zh-TW" kern="0"/>
              <a:t>ch2-2-2.py</a:t>
            </a:r>
            <a:r>
              <a:rPr lang="zh-TW" altLang="en-US" kern="0"/>
              <a:t>輸出的整數</a:t>
            </a:r>
            <a:r>
              <a:rPr lang="en-US" altLang="zh-TW" kern="0"/>
              <a:t>100</a:t>
            </a:r>
            <a:r>
              <a:rPr lang="zh-TW" altLang="en-US" kern="0"/>
              <a:t>、浮點數</a:t>
            </a:r>
            <a:r>
              <a:rPr lang="en-US" altLang="zh-TW" kern="0"/>
              <a:t>123.5</a:t>
            </a:r>
            <a:r>
              <a:rPr lang="zh-TW" altLang="en-US" kern="0"/>
              <a:t>和字串</a:t>
            </a:r>
            <a:r>
              <a:rPr lang="en-US" altLang="zh-TW" kern="0"/>
              <a:t>"</a:t>
            </a:r>
            <a:r>
              <a:rPr lang="zh-TW" altLang="en-US" kern="0"/>
              <a:t>陳會安</a:t>
            </a:r>
            <a:r>
              <a:rPr lang="en-US" altLang="zh-TW" kern="0"/>
              <a:t>"</a:t>
            </a:r>
            <a:r>
              <a:rPr lang="zh-TW" altLang="en-US" kern="0"/>
              <a:t>等，都是文字值，如下圖所示：</a:t>
            </a:r>
            <a:endParaRPr lang="zh-TW" altLang="en-US" kern="0" dirty="0"/>
          </a:p>
        </p:txBody>
      </p:sp>
      <p:pic>
        <p:nvPicPr>
          <p:cNvPr id="4" name="Picture 5">
            <a:extLst>
              <a:ext uri="{FF2B5EF4-FFF2-40B4-BE49-F238E27FC236}">
                <a16:creationId xmlns:a16="http://schemas.microsoft.com/office/drawing/2014/main" id="{1447DEDE-24DD-0FEE-FACB-F7DE34E2020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614612" y="4049713"/>
            <a:ext cx="6969125" cy="21605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3189618903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>
            <a:extLst>
              <a:ext uri="{FF2B5EF4-FFF2-40B4-BE49-F238E27FC236}">
                <a16:creationId xmlns:a16="http://schemas.microsoft.com/office/drawing/2014/main" id="{AA632CE2-CA9A-12B1-7856-0522FAC85266}"/>
              </a:ext>
            </a:extLst>
          </p:cNvPr>
          <p:cNvSpPr txBox="1">
            <a:spLocks noChangeArrowheads="1"/>
          </p:cNvSpPr>
          <p:nvPr/>
        </p:nvSpPr>
        <p:spPr>
          <a:xfrm>
            <a:off x="2058271" y="571654"/>
            <a:ext cx="8226425" cy="1143000"/>
          </a:xfrm>
          <a:prstGeom prst="rect">
            <a:avLst/>
          </a:prstGeom>
        </p:spPr>
        <p:txBody>
          <a:bodyPr/>
          <a:lstStyle>
            <a:lvl1pPr algn="l">
              <a:lnSpc>
                <a:spcPct val="90000"/>
              </a:lnSpc>
              <a:spcBef>
                <a:spcPts val="0"/>
              </a:spcBef>
              <a:buNone/>
              <a:defRPr sz="4400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</a:lstStyle>
          <a:p>
            <a:r>
              <a:rPr lang="zh-TW" altLang="en-US" kern="0" dirty="0"/>
              <a:t>字串文字值</a:t>
            </a:r>
            <a:r>
              <a:rPr lang="en-US" altLang="zh-TW" kern="0" dirty="0"/>
              <a:t>-</a:t>
            </a:r>
            <a:r>
              <a:rPr lang="zh-TW" altLang="en-US" kern="0" dirty="0"/>
              <a:t>說明</a:t>
            </a:r>
            <a:endParaRPr lang="en-US" altLang="zh-TW" kern="0" dirty="0"/>
          </a:p>
        </p:txBody>
      </p:sp>
      <p:sp>
        <p:nvSpPr>
          <p:cNvPr id="3" name="內容版面配置區 1">
            <a:extLst>
              <a:ext uri="{FF2B5EF4-FFF2-40B4-BE49-F238E27FC236}">
                <a16:creationId xmlns:a16="http://schemas.microsoft.com/office/drawing/2014/main" id="{60E8AD16-3B19-1EC5-31E7-740558230AC9}"/>
              </a:ext>
            </a:extLst>
          </p:cNvPr>
          <p:cNvSpPr txBox="1">
            <a:spLocks noChangeArrowheads="1"/>
          </p:cNvSpPr>
          <p:nvPr/>
        </p:nvSpPr>
        <p:spPr>
          <a:xfrm>
            <a:off x="2058271" y="1757516"/>
            <a:ext cx="8226425" cy="4924425"/>
          </a:xfrm>
          <a:prstGeom prst="rect">
            <a:avLst/>
          </a:prstGeom>
        </p:spPr>
        <p:txBody>
          <a:bodyPr/>
          <a:lstStyle>
            <a:lvl1pPr marL="228600" indent="-228600" algn="l">
              <a:lnSpc>
                <a:spcPct val="90000"/>
              </a:lnSpc>
              <a:spcBef>
                <a:spcPts val="1000"/>
              </a:spcBef>
              <a:buChar char="•"/>
              <a:defRPr sz="2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685800" indent="-228600" algn="l">
              <a:lnSpc>
                <a:spcPct val="90000"/>
              </a:lnSpc>
              <a:spcBef>
                <a:spcPts val="500"/>
              </a:spcBef>
              <a:buChar char="•"/>
              <a:defRPr sz="24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1143000" indent="-228600" algn="l">
              <a:lnSpc>
                <a:spcPct val="90000"/>
              </a:lnSpc>
              <a:spcBef>
                <a:spcPts val="500"/>
              </a:spcBef>
              <a:buChar char="•"/>
              <a:defRPr sz="20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6002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20574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5146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9718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4290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8862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>
            <a:r>
              <a:rPr lang="en-US" altLang="zh-TW" kern="0"/>
              <a:t>Python</a:t>
            </a:r>
            <a:r>
              <a:rPr lang="zh-TW" altLang="en-US" kern="0"/>
              <a:t>字串文字值（</a:t>
            </a:r>
            <a:r>
              <a:rPr lang="en-US" altLang="zh-TW" kern="0"/>
              <a:t>String Literals</a:t>
            </a:r>
            <a:r>
              <a:rPr lang="zh-TW" altLang="en-US" kern="0"/>
              <a:t>）就是字串，字串是</a:t>
            </a:r>
            <a:r>
              <a:rPr lang="en-US" altLang="zh-TW" kern="0"/>
              <a:t>0</a:t>
            </a:r>
            <a:r>
              <a:rPr lang="zh-TW" altLang="en-US" kern="0"/>
              <a:t>或多個使用「</a:t>
            </a:r>
            <a:r>
              <a:rPr lang="en-US" altLang="zh-TW" kern="0"/>
              <a:t>'</a:t>
            </a:r>
            <a:r>
              <a:rPr lang="zh-TW" altLang="en-US" kern="0"/>
              <a:t>」單引號或「</a:t>
            </a:r>
            <a:r>
              <a:rPr lang="en-US" altLang="zh-TW" kern="0"/>
              <a:t>"</a:t>
            </a:r>
            <a:r>
              <a:rPr lang="zh-TW" altLang="en-US" kern="0"/>
              <a:t>」雙引號括起的一序列</a:t>
            </a:r>
            <a:r>
              <a:rPr lang="en-US" altLang="zh-TW" kern="0"/>
              <a:t>Unicode</a:t>
            </a:r>
            <a:r>
              <a:rPr lang="zh-TW" altLang="en-US" kern="0"/>
              <a:t>字元，如下所示：</a:t>
            </a:r>
          </a:p>
          <a:p>
            <a:pPr marL="457200" lvl="1" indent="0">
              <a:buFontTx/>
              <a:buNone/>
            </a:pPr>
            <a:r>
              <a:rPr lang="en-US" altLang="zh-TW" kern="0">
                <a:solidFill>
                  <a:srgbClr val="FF3399"/>
                </a:solidFill>
              </a:rPr>
              <a:t>"</a:t>
            </a:r>
            <a:r>
              <a:rPr lang="zh-TW" altLang="en-US" kern="0">
                <a:solidFill>
                  <a:srgbClr val="FF3399"/>
                </a:solidFill>
              </a:rPr>
              <a:t>學習</a:t>
            </a:r>
            <a:r>
              <a:rPr lang="en-US" altLang="zh-TW" kern="0">
                <a:solidFill>
                  <a:srgbClr val="FF3399"/>
                </a:solidFill>
              </a:rPr>
              <a:t>Python</a:t>
            </a:r>
            <a:r>
              <a:rPr lang="zh-TW" altLang="en-US" kern="0">
                <a:solidFill>
                  <a:srgbClr val="FF3399"/>
                </a:solidFill>
              </a:rPr>
              <a:t>語言程式設計</a:t>
            </a:r>
            <a:r>
              <a:rPr lang="en-US" altLang="zh-TW" kern="0">
                <a:solidFill>
                  <a:srgbClr val="FF3399"/>
                </a:solidFill>
              </a:rPr>
              <a:t>"</a:t>
            </a:r>
          </a:p>
          <a:p>
            <a:pPr marL="457200" lvl="1" indent="0">
              <a:buFontTx/>
              <a:buNone/>
            </a:pPr>
            <a:r>
              <a:rPr lang="en-US" altLang="zh-TW" kern="0">
                <a:solidFill>
                  <a:srgbClr val="FF3399"/>
                </a:solidFill>
              </a:rPr>
              <a:t>'Hello World!'</a:t>
            </a:r>
          </a:p>
          <a:p>
            <a:endParaRPr lang="zh-TW" altLang="en-US" kern="0"/>
          </a:p>
        </p:txBody>
      </p:sp>
      <p:pic>
        <p:nvPicPr>
          <p:cNvPr id="4" name="Picture 5">
            <a:extLst>
              <a:ext uri="{FF2B5EF4-FFF2-40B4-BE49-F238E27FC236}">
                <a16:creationId xmlns:a16="http://schemas.microsoft.com/office/drawing/2014/main" id="{3F22AED8-AABC-31CB-0AAC-880CACE9B47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087096" y="4091141"/>
            <a:ext cx="5651500" cy="2159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1389598250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>
            <a:extLst>
              <a:ext uri="{FF2B5EF4-FFF2-40B4-BE49-F238E27FC236}">
                <a16:creationId xmlns:a16="http://schemas.microsoft.com/office/drawing/2014/main" id="{4E7F9D54-5E1B-F352-E15B-893D6369442A}"/>
              </a:ext>
            </a:extLst>
          </p:cNvPr>
          <p:cNvSpPr txBox="1">
            <a:spLocks noChangeArrowheads="1"/>
          </p:cNvSpPr>
          <p:nvPr/>
        </p:nvSpPr>
        <p:spPr>
          <a:xfrm>
            <a:off x="1832129" y="345512"/>
            <a:ext cx="8226425" cy="1143000"/>
          </a:xfrm>
          <a:prstGeom prst="rect">
            <a:avLst/>
          </a:prstGeom>
        </p:spPr>
        <p:txBody>
          <a:bodyPr/>
          <a:lstStyle>
            <a:lvl1pPr algn="l">
              <a:lnSpc>
                <a:spcPct val="90000"/>
              </a:lnSpc>
              <a:spcBef>
                <a:spcPts val="0"/>
              </a:spcBef>
              <a:buNone/>
              <a:defRPr sz="4400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</a:lstStyle>
          <a:p>
            <a:r>
              <a:rPr lang="zh-TW" altLang="en-US" kern="0" dirty="0"/>
              <a:t>字串文字值</a:t>
            </a:r>
            <a:br>
              <a:rPr lang="en-US" altLang="zh-TW" kern="0" dirty="0"/>
            </a:br>
            <a:r>
              <a:rPr lang="en-US" altLang="zh-TW" sz="2800" kern="0" dirty="0">
                <a:ea typeface="新細明體" panose="02020500000000000000" pitchFamily="18" charset="-120"/>
              </a:rPr>
              <a:t>Escape</a:t>
            </a:r>
            <a:r>
              <a:rPr lang="zh-TW" altLang="en-US" sz="2800" kern="0" dirty="0">
                <a:ea typeface="新細明體" panose="02020500000000000000" pitchFamily="18" charset="-120"/>
              </a:rPr>
              <a:t>逸出字元（</a:t>
            </a:r>
            <a:r>
              <a:rPr lang="en-US" altLang="zh-TW" sz="2800" kern="0" dirty="0">
                <a:ea typeface="新細明體" panose="02020500000000000000" pitchFamily="18" charset="-120"/>
              </a:rPr>
              <a:t>Escape Characters</a:t>
            </a:r>
            <a:r>
              <a:rPr lang="zh-TW" altLang="en-US" sz="2800" kern="0" dirty="0">
                <a:ea typeface="新細明體" panose="02020500000000000000" pitchFamily="18" charset="-120"/>
              </a:rPr>
              <a:t>）</a:t>
            </a:r>
            <a:endParaRPr lang="zh-TW" altLang="en-US" kern="0" dirty="0"/>
          </a:p>
        </p:txBody>
      </p:sp>
      <p:sp>
        <p:nvSpPr>
          <p:cNvPr id="3" name="內容版面配置區 1">
            <a:extLst>
              <a:ext uri="{FF2B5EF4-FFF2-40B4-BE49-F238E27FC236}">
                <a16:creationId xmlns:a16="http://schemas.microsoft.com/office/drawing/2014/main" id="{32BE3DCE-0B33-1CA4-2B22-E8EEC9038401}"/>
              </a:ext>
            </a:extLst>
          </p:cNvPr>
          <p:cNvSpPr txBox="1">
            <a:spLocks noChangeArrowheads="1"/>
          </p:cNvSpPr>
          <p:nvPr/>
        </p:nvSpPr>
        <p:spPr>
          <a:xfrm>
            <a:off x="1832129" y="1531374"/>
            <a:ext cx="8226425" cy="4924425"/>
          </a:xfrm>
          <a:prstGeom prst="rect">
            <a:avLst/>
          </a:prstGeom>
        </p:spPr>
        <p:txBody>
          <a:bodyPr/>
          <a:lstStyle>
            <a:lvl1pPr marL="228600" indent="-228600" algn="l">
              <a:lnSpc>
                <a:spcPct val="90000"/>
              </a:lnSpc>
              <a:spcBef>
                <a:spcPts val="1000"/>
              </a:spcBef>
              <a:buChar char="•"/>
              <a:defRPr sz="2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685800" indent="-228600" algn="l">
              <a:lnSpc>
                <a:spcPct val="90000"/>
              </a:lnSpc>
              <a:spcBef>
                <a:spcPts val="500"/>
              </a:spcBef>
              <a:buChar char="•"/>
              <a:defRPr sz="24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1143000" indent="-228600" algn="l">
              <a:lnSpc>
                <a:spcPct val="90000"/>
              </a:lnSpc>
              <a:spcBef>
                <a:spcPts val="500"/>
              </a:spcBef>
              <a:buChar char="•"/>
              <a:defRPr sz="20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6002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20574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5146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9718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4290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8862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>
            <a:r>
              <a:rPr lang="en-US" altLang="zh-TW" kern="0"/>
              <a:t>Python</a:t>
            </a:r>
            <a:r>
              <a:rPr lang="zh-TW" altLang="en-US" kern="0"/>
              <a:t>提供</a:t>
            </a:r>
            <a:r>
              <a:rPr lang="en-US" altLang="zh-TW" kern="0"/>
              <a:t>Escape</a:t>
            </a:r>
            <a:r>
              <a:rPr lang="zh-TW" altLang="en-US" kern="0"/>
              <a:t>逸出字元來輸入特殊字元，這是一些使用「</a:t>
            </a:r>
            <a:r>
              <a:rPr lang="en-US" altLang="zh-TW" kern="0"/>
              <a:t>\</a:t>
            </a:r>
            <a:r>
              <a:rPr lang="zh-TW" altLang="en-US" kern="0"/>
              <a:t>」符號開頭的字元，如下表所示：</a:t>
            </a:r>
          </a:p>
          <a:p>
            <a:endParaRPr lang="zh-TW" altLang="en-US" kern="0"/>
          </a:p>
        </p:txBody>
      </p:sp>
      <p:graphicFrame>
        <p:nvGraphicFramePr>
          <p:cNvPr id="5" name="表格 4">
            <a:extLst>
              <a:ext uri="{FF2B5EF4-FFF2-40B4-BE49-F238E27FC236}">
                <a16:creationId xmlns:a16="http://schemas.microsoft.com/office/drawing/2014/main" id="{EB10B0A4-AD23-1015-1BA1-C3948A5CB75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815668646"/>
              </p:ext>
            </p:extLst>
          </p:nvPr>
        </p:nvGraphicFramePr>
        <p:xfrm>
          <a:off x="2459831" y="2510396"/>
          <a:ext cx="7272338" cy="4002092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186542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40691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494196">
                <a:tc>
                  <a:txBody>
                    <a:bodyPr/>
                    <a:lstStyle/>
                    <a:p>
                      <a:pPr algn="ctr">
                        <a:lnSpc>
                          <a:spcPts val="2100"/>
                        </a:lnSpc>
                        <a:spcAft>
                          <a:spcPts val="1200"/>
                        </a:spcAft>
                      </a:pPr>
                      <a:r>
                        <a:rPr lang="en-US" sz="1800" b="1" dirty="0">
                          <a:effectLst/>
                          <a:latin typeface="微軟正黑體" pitchFamily="34" charset="-120"/>
                          <a:ea typeface="微軟正黑體" pitchFamily="34" charset="-120"/>
                        </a:rPr>
                        <a:t>Escape</a:t>
                      </a:r>
                      <a:r>
                        <a:rPr lang="zh-TW" sz="1800" b="1" dirty="0">
                          <a:effectLst/>
                          <a:latin typeface="微軟正黑體" pitchFamily="34" charset="-120"/>
                          <a:ea typeface="微軟正黑體" pitchFamily="34" charset="-120"/>
                        </a:rPr>
                        <a:t>逸出字元</a:t>
                      </a:r>
                    </a:p>
                  </a:txBody>
                  <a:tcPr marL="68576" marR="68576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100"/>
                        </a:lnSpc>
                        <a:spcAft>
                          <a:spcPts val="1200"/>
                        </a:spcAft>
                      </a:pPr>
                      <a:r>
                        <a:rPr lang="zh-TW" sz="1800" b="1" dirty="0">
                          <a:effectLst/>
                          <a:latin typeface="微軟正黑體" pitchFamily="34" charset="-120"/>
                          <a:ea typeface="微軟正黑體" pitchFamily="34" charset="-120"/>
                        </a:rPr>
                        <a:t>說明</a:t>
                      </a:r>
                    </a:p>
                  </a:txBody>
                  <a:tcPr marL="68576" marR="68576" marT="0" marB="0" anchor="ctr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38487">
                <a:tc>
                  <a:txBody>
                    <a:bodyPr/>
                    <a:lstStyle/>
                    <a:p>
                      <a:pPr algn="ctr">
                        <a:lnSpc>
                          <a:spcPts val="2100"/>
                        </a:lnSpc>
                        <a:spcAft>
                          <a:spcPts val="1200"/>
                        </a:spcAft>
                      </a:pPr>
                      <a:r>
                        <a:rPr lang="en-US" sz="1800">
                          <a:effectLst/>
                          <a:latin typeface="微軟正黑體" pitchFamily="34" charset="-120"/>
                          <a:ea typeface="微軟正黑體" pitchFamily="34" charset="-120"/>
                        </a:rPr>
                        <a:t>\b</a:t>
                      </a:r>
                      <a:endParaRPr lang="zh-TW" sz="1800">
                        <a:effectLst/>
                        <a:latin typeface="微軟正黑體" pitchFamily="34" charset="-120"/>
                        <a:ea typeface="微軟正黑體" pitchFamily="34" charset="-120"/>
                      </a:endParaRPr>
                    </a:p>
                  </a:txBody>
                  <a:tcPr marL="68576" marR="68576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100"/>
                        </a:lnSpc>
                        <a:spcAft>
                          <a:spcPts val="1200"/>
                        </a:spcAft>
                      </a:pPr>
                      <a:r>
                        <a:rPr lang="en-US" sz="1800">
                          <a:effectLst/>
                          <a:latin typeface="微軟正黑體" pitchFamily="34" charset="-120"/>
                          <a:ea typeface="微軟正黑體" pitchFamily="34" charset="-120"/>
                        </a:rPr>
                        <a:t>Backspace</a:t>
                      </a:r>
                      <a:r>
                        <a:rPr lang="zh-TW" sz="1800">
                          <a:effectLst/>
                          <a:latin typeface="微軟正黑體" pitchFamily="34" charset="-120"/>
                          <a:ea typeface="微軟正黑體" pitchFamily="34" charset="-120"/>
                        </a:rPr>
                        <a:t>，即</a:t>
                      </a:r>
                      <a:r>
                        <a:rPr lang="en-US" sz="1800">
                          <a:effectLst/>
                          <a:latin typeface="微軟正黑體" pitchFamily="34" charset="-120"/>
                          <a:ea typeface="微軟正黑體" pitchFamily="34" charset="-120"/>
                        </a:rPr>
                        <a:t>Backspace</a:t>
                      </a:r>
                      <a:r>
                        <a:rPr lang="zh-TW" sz="1800">
                          <a:effectLst/>
                          <a:latin typeface="微軟正黑體" pitchFamily="34" charset="-120"/>
                          <a:ea typeface="微軟正黑體" pitchFamily="34" charset="-120"/>
                        </a:rPr>
                        <a:t>鍵</a:t>
                      </a:r>
                    </a:p>
                  </a:txBody>
                  <a:tcPr marL="68576" marR="68576" marT="0" marB="0" anchor="ctr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38487">
                <a:tc>
                  <a:txBody>
                    <a:bodyPr/>
                    <a:lstStyle/>
                    <a:p>
                      <a:pPr algn="ctr">
                        <a:lnSpc>
                          <a:spcPts val="2100"/>
                        </a:lnSpc>
                        <a:spcAft>
                          <a:spcPts val="1200"/>
                        </a:spcAft>
                      </a:pPr>
                      <a:r>
                        <a:rPr lang="en-US" sz="1800">
                          <a:effectLst/>
                          <a:latin typeface="微軟正黑體" pitchFamily="34" charset="-120"/>
                          <a:ea typeface="微軟正黑體" pitchFamily="34" charset="-120"/>
                        </a:rPr>
                        <a:t>\f</a:t>
                      </a:r>
                      <a:endParaRPr lang="zh-TW" sz="1800">
                        <a:effectLst/>
                        <a:latin typeface="微軟正黑體" pitchFamily="34" charset="-120"/>
                        <a:ea typeface="微軟正黑體" pitchFamily="34" charset="-120"/>
                      </a:endParaRPr>
                    </a:p>
                  </a:txBody>
                  <a:tcPr marL="68576" marR="68576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100"/>
                        </a:lnSpc>
                        <a:spcAft>
                          <a:spcPts val="1200"/>
                        </a:spcAft>
                      </a:pPr>
                      <a:r>
                        <a:rPr lang="en-US" sz="1800">
                          <a:effectLst/>
                          <a:latin typeface="微軟正黑體" pitchFamily="34" charset="-120"/>
                          <a:ea typeface="微軟正黑體" pitchFamily="34" charset="-120"/>
                        </a:rPr>
                        <a:t>FF</a:t>
                      </a:r>
                      <a:r>
                        <a:rPr lang="zh-TW" sz="1800">
                          <a:effectLst/>
                          <a:latin typeface="微軟正黑體" pitchFamily="34" charset="-120"/>
                          <a:ea typeface="微軟正黑體" pitchFamily="34" charset="-120"/>
                        </a:rPr>
                        <a:t>，</a:t>
                      </a:r>
                      <a:r>
                        <a:rPr lang="en-US" sz="1800">
                          <a:effectLst/>
                          <a:latin typeface="微軟正黑體" pitchFamily="34" charset="-120"/>
                          <a:ea typeface="微軟正黑體" pitchFamily="34" charset="-120"/>
                        </a:rPr>
                        <a:t>Form feed</a:t>
                      </a:r>
                      <a:r>
                        <a:rPr lang="zh-TW" sz="1800">
                          <a:effectLst/>
                          <a:latin typeface="微軟正黑體" pitchFamily="34" charset="-120"/>
                          <a:ea typeface="微軟正黑體" pitchFamily="34" charset="-120"/>
                        </a:rPr>
                        <a:t>換頁字元</a:t>
                      </a:r>
                    </a:p>
                  </a:txBody>
                  <a:tcPr marL="68576" marR="68576" marT="0" marB="0" anchor="ctr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38487">
                <a:tc>
                  <a:txBody>
                    <a:bodyPr/>
                    <a:lstStyle/>
                    <a:p>
                      <a:pPr algn="ctr">
                        <a:lnSpc>
                          <a:spcPts val="2100"/>
                        </a:lnSpc>
                        <a:spcAft>
                          <a:spcPts val="1200"/>
                        </a:spcAft>
                      </a:pPr>
                      <a:r>
                        <a:rPr lang="en-US" sz="1800">
                          <a:effectLst/>
                          <a:latin typeface="微軟正黑體" pitchFamily="34" charset="-120"/>
                          <a:ea typeface="微軟正黑體" pitchFamily="34" charset="-120"/>
                        </a:rPr>
                        <a:t>\n</a:t>
                      </a:r>
                      <a:endParaRPr lang="zh-TW" sz="1800">
                        <a:effectLst/>
                        <a:latin typeface="微軟正黑體" pitchFamily="34" charset="-120"/>
                        <a:ea typeface="微軟正黑體" pitchFamily="34" charset="-120"/>
                      </a:endParaRPr>
                    </a:p>
                  </a:txBody>
                  <a:tcPr marL="68576" marR="68576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100"/>
                        </a:lnSpc>
                        <a:spcAft>
                          <a:spcPts val="1200"/>
                        </a:spcAft>
                      </a:pPr>
                      <a:r>
                        <a:rPr lang="en-US" sz="1800">
                          <a:effectLst/>
                          <a:latin typeface="微軟正黑體" pitchFamily="34" charset="-120"/>
                          <a:ea typeface="微軟正黑體" pitchFamily="34" charset="-120"/>
                        </a:rPr>
                        <a:t>LF</a:t>
                      </a:r>
                      <a:r>
                        <a:rPr lang="zh-TW" sz="1800">
                          <a:effectLst/>
                          <a:latin typeface="微軟正黑體" pitchFamily="34" charset="-120"/>
                          <a:ea typeface="微軟正黑體" pitchFamily="34" charset="-120"/>
                        </a:rPr>
                        <a:t>（</a:t>
                      </a:r>
                      <a:r>
                        <a:rPr lang="en-US" sz="1800">
                          <a:effectLst/>
                          <a:latin typeface="微軟正黑體" pitchFamily="34" charset="-120"/>
                          <a:ea typeface="微軟正黑體" pitchFamily="34" charset="-120"/>
                        </a:rPr>
                        <a:t>Line Feed</a:t>
                      </a:r>
                      <a:r>
                        <a:rPr lang="zh-TW" sz="1800">
                          <a:effectLst/>
                          <a:latin typeface="微軟正黑體" pitchFamily="34" charset="-120"/>
                          <a:ea typeface="微軟正黑體" pitchFamily="34" charset="-120"/>
                        </a:rPr>
                        <a:t>）換行或</a:t>
                      </a:r>
                      <a:r>
                        <a:rPr lang="en-US" sz="1800">
                          <a:effectLst/>
                          <a:latin typeface="微軟正黑體" pitchFamily="34" charset="-120"/>
                          <a:ea typeface="微軟正黑體" pitchFamily="34" charset="-120"/>
                        </a:rPr>
                        <a:t>NL</a:t>
                      </a:r>
                      <a:r>
                        <a:rPr lang="zh-TW" sz="1800">
                          <a:effectLst/>
                          <a:latin typeface="微軟正黑體" pitchFamily="34" charset="-120"/>
                          <a:ea typeface="微軟正黑體" pitchFamily="34" charset="-120"/>
                        </a:rPr>
                        <a:t>（</a:t>
                      </a:r>
                      <a:r>
                        <a:rPr lang="en-US" sz="1800">
                          <a:effectLst/>
                          <a:latin typeface="微軟正黑體" pitchFamily="34" charset="-120"/>
                          <a:ea typeface="微軟正黑體" pitchFamily="34" charset="-120"/>
                        </a:rPr>
                        <a:t>New Line</a:t>
                      </a:r>
                      <a:r>
                        <a:rPr lang="zh-TW" sz="1800">
                          <a:effectLst/>
                          <a:latin typeface="微軟正黑體" pitchFamily="34" charset="-120"/>
                          <a:ea typeface="微軟正黑體" pitchFamily="34" charset="-120"/>
                        </a:rPr>
                        <a:t>）新行字元</a:t>
                      </a:r>
                    </a:p>
                  </a:txBody>
                  <a:tcPr marL="68576" marR="68576" marT="0" marB="0" anchor="ctr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38487">
                <a:tc>
                  <a:txBody>
                    <a:bodyPr/>
                    <a:lstStyle/>
                    <a:p>
                      <a:pPr algn="ctr">
                        <a:lnSpc>
                          <a:spcPts val="2100"/>
                        </a:lnSpc>
                        <a:spcAft>
                          <a:spcPts val="1200"/>
                        </a:spcAft>
                      </a:pPr>
                      <a:r>
                        <a:rPr lang="en-US" sz="1800">
                          <a:effectLst/>
                          <a:latin typeface="微軟正黑體" pitchFamily="34" charset="-120"/>
                          <a:ea typeface="微軟正黑體" pitchFamily="34" charset="-120"/>
                        </a:rPr>
                        <a:t>\r</a:t>
                      </a:r>
                      <a:endParaRPr lang="zh-TW" sz="1800">
                        <a:effectLst/>
                        <a:latin typeface="微軟正黑體" pitchFamily="34" charset="-120"/>
                        <a:ea typeface="微軟正黑體" pitchFamily="34" charset="-120"/>
                      </a:endParaRPr>
                    </a:p>
                  </a:txBody>
                  <a:tcPr marL="68576" marR="68576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100"/>
                        </a:lnSpc>
                        <a:spcAft>
                          <a:spcPts val="1200"/>
                        </a:spcAft>
                      </a:pPr>
                      <a:r>
                        <a:rPr lang="en-US" sz="1800">
                          <a:effectLst/>
                          <a:latin typeface="微軟正黑體" pitchFamily="34" charset="-120"/>
                          <a:ea typeface="微軟正黑體" pitchFamily="34" charset="-120"/>
                        </a:rPr>
                        <a:t>Carriage Return</a:t>
                      </a:r>
                      <a:r>
                        <a:rPr lang="zh-TW" sz="1800">
                          <a:effectLst/>
                          <a:latin typeface="微軟正黑體" pitchFamily="34" charset="-120"/>
                          <a:ea typeface="微軟正黑體" pitchFamily="34" charset="-120"/>
                        </a:rPr>
                        <a:t>，即</a:t>
                      </a:r>
                      <a:r>
                        <a:rPr lang="en-US" sz="1800">
                          <a:effectLst/>
                          <a:latin typeface="微軟正黑體" pitchFamily="34" charset="-120"/>
                          <a:ea typeface="微軟正黑體" pitchFamily="34" charset="-120"/>
                        </a:rPr>
                        <a:t>Enter</a:t>
                      </a:r>
                      <a:r>
                        <a:rPr lang="zh-TW" sz="1800">
                          <a:effectLst/>
                          <a:latin typeface="微軟正黑體" pitchFamily="34" charset="-120"/>
                          <a:ea typeface="微軟正黑體" pitchFamily="34" charset="-120"/>
                        </a:rPr>
                        <a:t>鍵</a:t>
                      </a:r>
                    </a:p>
                  </a:txBody>
                  <a:tcPr marL="68576" marR="68576" marT="0" marB="0" anchor="ctr"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38487">
                <a:tc>
                  <a:txBody>
                    <a:bodyPr/>
                    <a:lstStyle/>
                    <a:p>
                      <a:pPr algn="ctr">
                        <a:lnSpc>
                          <a:spcPts val="2100"/>
                        </a:lnSpc>
                        <a:spcAft>
                          <a:spcPts val="1200"/>
                        </a:spcAft>
                      </a:pPr>
                      <a:r>
                        <a:rPr lang="en-US" sz="1800">
                          <a:effectLst/>
                          <a:latin typeface="微軟正黑體" pitchFamily="34" charset="-120"/>
                          <a:ea typeface="微軟正黑體" pitchFamily="34" charset="-120"/>
                        </a:rPr>
                        <a:t>\t</a:t>
                      </a:r>
                      <a:endParaRPr lang="zh-TW" sz="1800">
                        <a:effectLst/>
                        <a:latin typeface="微軟正黑體" pitchFamily="34" charset="-120"/>
                        <a:ea typeface="微軟正黑體" pitchFamily="34" charset="-120"/>
                      </a:endParaRPr>
                    </a:p>
                  </a:txBody>
                  <a:tcPr marL="68576" marR="68576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100"/>
                        </a:lnSpc>
                        <a:spcAft>
                          <a:spcPts val="1200"/>
                        </a:spcAft>
                      </a:pPr>
                      <a:r>
                        <a:rPr lang="zh-TW" sz="1800" dirty="0">
                          <a:effectLst/>
                          <a:latin typeface="微軟正黑體" pitchFamily="34" charset="-120"/>
                          <a:ea typeface="微軟正黑體" pitchFamily="34" charset="-120"/>
                        </a:rPr>
                        <a:t>定位字元，即</a:t>
                      </a:r>
                      <a:r>
                        <a:rPr lang="en-US" sz="1800" dirty="0">
                          <a:effectLst/>
                          <a:latin typeface="微軟正黑體" pitchFamily="34" charset="-120"/>
                          <a:ea typeface="微軟正黑體" pitchFamily="34" charset="-120"/>
                        </a:rPr>
                        <a:t>Tab</a:t>
                      </a:r>
                      <a:r>
                        <a:rPr lang="zh-TW" sz="1800" dirty="0">
                          <a:effectLst/>
                          <a:latin typeface="微軟正黑體" pitchFamily="34" charset="-120"/>
                          <a:ea typeface="微軟正黑體" pitchFamily="34" charset="-120"/>
                        </a:rPr>
                        <a:t>鍵</a:t>
                      </a:r>
                    </a:p>
                  </a:txBody>
                  <a:tcPr marL="68576" marR="68576" marT="0" marB="0" anchor="ctr"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438487">
                <a:tc>
                  <a:txBody>
                    <a:bodyPr/>
                    <a:lstStyle/>
                    <a:p>
                      <a:pPr algn="ctr">
                        <a:lnSpc>
                          <a:spcPts val="2100"/>
                        </a:lnSpc>
                        <a:spcAft>
                          <a:spcPts val="1200"/>
                        </a:spcAft>
                      </a:pPr>
                      <a:r>
                        <a:rPr lang="en-US" sz="1800">
                          <a:effectLst/>
                          <a:latin typeface="微軟正黑體" pitchFamily="34" charset="-120"/>
                          <a:ea typeface="微軟正黑體" pitchFamily="34" charset="-120"/>
                        </a:rPr>
                        <a:t>\'</a:t>
                      </a:r>
                      <a:endParaRPr lang="zh-TW" sz="1800">
                        <a:effectLst/>
                        <a:latin typeface="微軟正黑體" pitchFamily="34" charset="-120"/>
                        <a:ea typeface="微軟正黑體" pitchFamily="34" charset="-120"/>
                      </a:endParaRPr>
                    </a:p>
                  </a:txBody>
                  <a:tcPr marL="68576" marR="68576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100"/>
                        </a:lnSpc>
                        <a:spcAft>
                          <a:spcPts val="1200"/>
                        </a:spcAft>
                      </a:pPr>
                      <a:r>
                        <a:rPr lang="zh-TW" sz="1800">
                          <a:effectLst/>
                          <a:latin typeface="微軟正黑體" pitchFamily="34" charset="-120"/>
                          <a:ea typeface="微軟正黑體" pitchFamily="34" charset="-120"/>
                        </a:rPr>
                        <a:t>「</a:t>
                      </a:r>
                      <a:r>
                        <a:rPr lang="en-US" sz="1800">
                          <a:effectLst/>
                          <a:latin typeface="微軟正黑體" pitchFamily="34" charset="-120"/>
                          <a:ea typeface="微軟正黑體" pitchFamily="34" charset="-120"/>
                        </a:rPr>
                        <a:t>'</a:t>
                      </a:r>
                      <a:r>
                        <a:rPr lang="zh-TW" sz="1800">
                          <a:effectLst/>
                          <a:latin typeface="微軟正黑體" pitchFamily="34" charset="-120"/>
                          <a:ea typeface="微軟正黑體" pitchFamily="34" charset="-120"/>
                        </a:rPr>
                        <a:t>」單引號</a:t>
                      </a:r>
                    </a:p>
                  </a:txBody>
                  <a:tcPr marL="68576" marR="68576" marT="0" marB="0" anchor="ctr"/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438487">
                <a:tc>
                  <a:txBody>
                    <a:bodyPr/>
                    <a:lstStyle/>
                    <a:p>
                      <a:pPr algn="ctr">
                        <a:lnSpc>
                          <a:spcPts val="2100"/>
                        </a:lnSpc>
                        <a:spcAft>
                          <a:spcPts val="1200"/>
                        </a:spcAft>
                      </a:pPr>
                      <a:r>
                        <a:rPr lang="en-US" sz="1800">
                          <a:effectLst/>
                          <a:latin typeface="微軟正黑體" pitchFamily="34" charset="-120"/>
                          <a:ea typeface="微軟正黑體" pitchFamily="34" charset="-120"/>
                        </a:rPr>
                        <a:t>\"</a:t>
                      </a:r>
                      <a:endParaRPr lang="zh-TW" sz="1800">
                        <a:effectLst/>
                        <a:latin typeface="微軟正黑體" pitchFamily="34" charset="-120"/>
                        <a:ea typeface="微軟正黑體" pitchFamily="34" charset="-120"/>
                      </a:endParaRPr>
                    </a:p>
                  </a:txBody>
                  <a:tcPr marL="68576" marR="68576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100"/>
                        </a:lnSpc>
                        <a:spcAft>
                          <a:spcPts val="1200"/>
                        </a:spcAft>
                      </a:pPr>
                      <a:r>
                        <a:rPr lang="zh-TW" sz="1800">
                          <a:effectLst/>
                          <a:latin typeface="微軟正黑體" pitchFamily="34" charset="-120"/>
                          <a:ea typeface="微軟正黑體" pitchFamily="34" charset="-120"/>
                        </a:rPr>
                        <a:t>「</a:t>
                      </a:r>
                      <a:r>
                        <a:rPr lang="en-US" sz="1800">
                          <a:effectLst/>
                          <a:latin typeface="微軟正黑體" pitchFamily="34" charset="-120"/>
                          <a:ea typeface="微軟正黑體" pitchFamily="34" charset="-120"/>
                        </a:rPr>
                        <a:t>"</a:t>
                      </a:r>
                      <a:r>
                        <a:rPr lang="zh-TW" sz="1800">
                          <a:effectLst/>
                          <a:latin typeface="微軟正黑體" pitchFamily="34" charset="-120"/>
                          <a:ea typeface="微軟正黑體" pitchFamily="34" charset="-120"/>
                        </a:rPr>
                        <a:t>」雙引號</a:t>
                      </a:r>
                    </a:p>
                  </a:txBody>
                  <a:tcPr marL="68576" marR="68576" marT="0" marB="0" anchor="ctr"/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438487">
                <a:tc>
                  <a:txBody>
                    <a:bodyPr/>
                    <a:lstStyle/>
                    <a:p>
                      <a:pPr algn="ctr">
                        <a:lnSpc>
                          <a:spcPts val="2100"/>
                        </a:lnSpc>
                        <a:spcAft>
                          <a:spcPts val="1200"/>
                        </a:spcAft>
                      </a:pPr>
                      <a:r>
                        <a:rPr lang="en-US" sz="1800">
                          <a:effectLst/>
                          <a:latin typeface="微軟正黑體" pitchFamily="34" charset="-120"/>
                          <a:ea typeface="微軟正黑體" pitchFamily="34" charset="-120"/>
                        </a:rPr>
                        <a:t>\\</a:t>
                      </a:r>
                      <a:endParaRPr lang="zh-TW" sz="1800">
                        <a:effectLst/>
                        <a:latin typeface="微軟正黑體" pitchFamily="34" charset="-120"/>
                        <a:ea typeface="微軟正黑體" pitchFamily="34" charset="-120"/>
                      </a:endParaRPr>
                    </a:p>
                  </a:txBody>
                  <a:tcPr marL="68576" marR="68576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100"/>
                        </a:lnSpc>
                        <a:spcAft>
                          <a:spcPts val="1200"/>
                        </a:spcAft>
                      </a:pPr>
                      <a:r>
                        <a:rPr lang="zh-TW" sz="1800" dirty="0">
                          <a:effectLst/>
                          <a:latin typeface="微軟正黑體" pitchFamily="34" charset="-120"/>
                          <a:ea typeface="微軟正黑體" pitchFamily="34" charset="-120"/>
                        </a:rPr>
                        <a:t>「</a:t>
                      </a:r>
                      <a:r>
                        <a:rPr lang="en-US" sz="1800" dirty="0">
                          <a:effectLst/>
                          <a:latin typeface="微軟正黑體" pitchFamily="34" charset="-120"/>
                          <a:ea typeface="微軟正黑體" pitchFamily="34" charset="-120"/>
                        </a:rPr>
                        <a:t>\</a:t>
                      </a:r>
                      <a:r>
                        <a:rPr lang="zh-TW" sz="1800" dirty="0">
                          <a:effectLst/>
                          <a:latin typeface="微軟正黑體" pitchFamily="34" charset="-120"/>
                          <a:ea typeface="微軟正黑體" pitchFamily="34" charset="-120"/>
                        </a:rPr>
                        <a:t>」符號</a:t>
                      </a:r>
                    </a:p>
                  </a:txBody>
                  <a:tcPr marL="68576" marR="68576" marT="0" marB="0" anchor="ctr"/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404228433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6BAF6395-2C44-D941-3B09-780533CCBB96}"/>
              </a:ext>
            </a:extLst>
          </p:cNvPr>
          <p:cNvSpPr txBox="1">
            <a:spLocks noChangeArrowheads="1"/>
          </p:cNvSpPr>
          <p:nvPr/>
        </p:nvSpPr>
        <p:spPr>
          <a:xfrm>
            <a:off x="1982787" y="274638"/>
            <a:ext cx="8226425" cy="1143000"/>
          </a:xfrm>
          <a:prstGeom prst="rect">
            <a:avLst/>
          </a:prstGeom>
        </p:spPr>
        <p:txBody>
          <a:bodyPr/>
          <a:lstStyle>
            <a:lvl1pPr algn="l">
              <a:lnSpc>
                <a:spcPct val="90000"/>
              </a:lnSpc>
              <a:spcBef>
                <a:spcPts val="0"/>
              </a:spcBef>
              <a:buNone/>
              <a:defRPr sz="4400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</a:lstStyle>
          <a:p>
            <a:r>
              <a:rPr lang="zh-TW" altLang="en-US" kern="0" dirty="0"/>
              <a:t>字串文字值</a:t>
            </a:r>
            <a:br>
              <a:rPr lang="en-US" altLang="zh-TW" kern="0" dirty="0"/>
            </a:br>
            <a:r>
              <a:rPr lang="zh-TW" altLang="en-US" sz="2800" kern="0" dirty="0"/>
              <a:t>使用八進位和十六進位值表示</a:t>
            </a:r>
            <a:r>
              <a:rPr lang="en-US" altLang="zh-TW" sz="2800" kern="0" dirty="0"/>
              <a:t>ASCII</a:t>
            </a:r>
            <a:r>
              <a:rPr lang="zh-TW" altLang="en-US" sz="2800" kern="0" dirty="0"/>
              <a:t>字元</a:t>
            </a:r>
            <a:endParaRPr lang="zh-TW" altLang="en-US" kern="0" dirty="0"/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B326527B-1CDE-1BF4-C2A3-7EF89EFEFB1D}"/>
              </a:ext>
            </a:extLst>
          </p:cNvPr>
          <p:cNvSpPr txBox="1">
            <a:spLocks noChangeArrowheads="1"/>
          </p:cNvSpPr>
          <p:nvPr/>
        </p:nvSpPr>
        <p:spPr>
          <a:xfrm>
            <a:off x="1982787" y="1600200"/>
            <a:ext cx="8226425" cy="4924425"/>
          </a:xfrm>
          <a:prstGeom prst="rect">
            <a:avLst/>
          </a:prstGeom>
        </p:spPr>
        <p:txBody>
          <a:bodyPr/>
          <a:lstStyle>
            <a:lvl1pPr marL="228600" indent="-228600" algn="l">
              <a:lnSpc>
                <a:spcPct val="90000"/>
              </a:lnSpc>
              <a:spcBef>
                <a:spcPts val="1000"/>
              </a:spcBef>
              <a:buChar char="•"/>
              <a:defRPr sz="2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685800" indent="-228600" algn="l">
              <a:lnSpc>
                <a:spcPct val="90000"/>
              </a:lnSpc>
              <a:spcBef>
                <a:spcPts val="500"/>
              </a:spcBef>
              <a:buChar char="•"/>
              <a:defRPr sz="24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1143000" indent="-228600" algn="l">
              <a:lnSpc>
                <a:spcPct val="90000"/>
              </a:lnSpc>
              <a:spcBef>
                <a:spcPts val="500"/>
              </a:spcBef>
              <a:buChar char="•"/>
              <a:defRPr sz="20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6002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20574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5146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9718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4290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8862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>
            <a:r>
              <a:rPr lang="en-US" altLang="zh-TW" kern="0"/>
              <a:t>ASCII</a:t>
            </a:r>
            <a:r>
              <a:rPr lang="zh-TW" altLang="en-US" kern="0"/>
              <a:t>字元也可以使用</a:t>
            </a:r>
            <a:r>
              <a:rPr lang="en-US" altLang="zh-TW" kern="0"/>
              <a:t>Escape</a:t>
            </a:r>
            <a:r>
              <a:rPr lang="zh-TW" altLang="en-US" kern="0"/>
              <a:t>逸出字元來表示，即「</a:t>
            </a:r>
            <a:r>
              <a:rPr lang="en-US" altLang="zh-TW" kern="0"/>
              <a:t>\x</a:t>
            </a:r>
            <a:r>
              <a:rPr lang="zh-TW" altLang="en-US" kern="0"/>
              <a:t>」字串開頭的</a:t>
            </a:r>
            <a:r>
              <a:rPr lang="en-US" altLang="zh-TW" kern="0"/>
              <a:t>2</a:t>
            </a:r>
            <a:r>
              <a:rPr lang="zh-TW" altLang="en-US" kern="0"/>
              <a:t>個十六進位數字或「</a:t>
            </a:r>
            <a:r>
              <a:rPr lang="en-US" altLang="zh-TW" kern="0"/>
              <a:t>\</a:t>
            </a:r>
            <a:r>
              <a:rPr lang="zh-TW" altLang="en-US" kern="0"/>
              <a:t>」字串開頭</a:t>
            </a:r>
            <a:r>
              <a:rPr lang="en-US" altLang="zh-TW" kern="0"/>
              <a:t>3</a:t>
            </a:r>
            <a:r>
              <a:rPr lang="zh-TW" altLang="en-US" kern="0"/>
              <a:t>個八進位數字來表示</a:t>
            </a:r>
            <a:r>
              <a:rPr lang="en-US" altLang="zh-TW" kern="0"/>
              <a:t>ASCII</a:t>
            </a:r>
            <a:r>
              <a:rPr lang="zh-TW" altLang="en-US" kern="0"/>
              <a:t>字元碼，如下所示：</a:t>
            </a:r>
          </a:p>
          <a:p>
            <a:pPr marL="457200" lvl="1" indent="0">
              <a:buFontTx/>
              <a:buNone/>
            </a:pPr>
            <a:r>
              <a:rPr lang="en-US" altLang="zh-TW" kern="0">
                <a:solidFill>
                  <a:srgbClr val="FF3399"/>
                </a:solidFill>
              </a:rPr>
              <a:t>'\x61'</a:t>
            </a:r>
          </a:p>
          <a:p>
            <a:pPr marL="457200" lvl="1" indent="0">
              <a:buFontTx/>
              <a:buNone/>
            </a:pPr>
            <a:r>
              <a:rPr lang="en-US" altLang="zh-TW" kern="0">
                <a:solidFill>
                  <a:srgbClr val="FF3399"/>
                </a:solidFill>
              </a:rPr>
              <a:t>'\101'</a:t>
            </a:r>
          </a:p>
          <a:p>
            <a:r>
              <a:rPr lang="zh-TW" altLang="en-US" kern="0"/>
              <a:t>上述表示法，筆者整理如下表所示：</a:t>
            </a:r>
          </a:p>
          <a:p>
            <a:endParaRPr lang="zh-TW" altLang="en-US" kern="0"/>
          </a:p>
        </p:txBody>
      </p:sp>
      <p:graphicFrame>
        <p:nvGraphicFramePr>
          <p:cNvPr id="5" name="表格 4">
            <a:extLst>
              <a:ext uri="{FF2B5EF4-FFF2-40B4-BE49-F238E27FC236}">
                <a16:creationId xmlns:a16="http://schemas.microsoft.com/office/drawing/2014/main" id="{18260E8E-5E64-66B7-5D5B-811C6052067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684602541"/>
              </p:ext>
            </p:extLst>
          </p:nvPr>
        </p:nvGraphicFramePr>
        <p:xfrm>
          <a:off x="2243930" y="4285456"/>
          <a:ext cx="7704137" cy="1944687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197619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727947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648229">
                <a:tc>
                  <a:txBody>
                    <a:bodyPr/>
                    <a:lstStyle/>
                    <a:p>
                      <a:pPr algn="ctr">
                        <a:lnSpc>
                          <a:spcPts val="2100"/>
                        </a:lnSpc>
                        <a:spcAft>
                          <a:spcPts val="1200"/>
                        </a:spcAft>
                      </a:pPr>
                      <a:r>
                        <a:rPr lang="en-US" sz="2000" b="1" dirty="0">
                          <a:effectLst/>
                          <a:latin typeface="微軟正黑體" pitchFamily="34" charset="-120"/>
                          <a:ea typeface="微軟正黑體" pitchFamily="34" charset="-120"/>
                        </a:rPr>
                        <a:t>ASCII</a:t>
                      </a:r>
                      <a:r>
                        <a:rPr lang="zh-TW" sz="2000" b="1" dirty="0">
                          <a:effectLst/>
                          <a:latin typeface="微軟正黑體" pitchFamily="34" charset="-120"/>
                          <a:ea typeface="微軟正黑體" pitchFamily="34" charset="-120"/>
                        </a:rPr>
                        <a:t>字元碼</a:t>
                      </a:r>
                    </a:p>
                  </a:txBody>
                  <a:tcPr marL="68574" marR="68574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100"/>
                        </a:lnSpc>
                        <a:spcAft>
                          <a:spcPts val="1200"/>
                        </a:spcAft>
                      </a:pPr>
                      <a:r>
                        <a:rPr lang="zh-TW" sz="2000" b="1" dirty="0">
                          <a:effectLst/>
                          <a:latin typeface="微軟正黑體" pitchFamily="34" charset="-120"/>
                          <a:ea typeface="微軟正黑體" pitchFamily="34" charset="-120"/>
                        </a:rPr>
                        <a:t>說明</a:t>
                      </a:r>
                    </a:p>
                  </a:txBody>
                  <a:tcPr marL="68574" marR="68574" marT="0" marB="0" anchor="ctr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48229">
                <a:tc>
                  <a:txBody>
                    <a:bodyPr/>
                    <a:lstStyle/>
                    <a:p>
                      <a:pPr algn="ctr">
                        <a:lnSpc>
                          <a:spcPts val="2100"/>
                        </a:lnSpc>
                        <a:spcAft>
                          <a:spcPts val="1200"/>
                        </a:spcAft>
                      </a:pPr>
                      <a:r>
                        <a:rPr lang="en-US" sz="2000">
                          <a:effectLst/>
                          <a:latin typeface="微軟正黑體" pitchFamily="34" charset="-120"/>
                          <a:ea typeface="微軟正黑體" pitchFamily="34" charset="-120"/>
                        </a:rPr>
                        <a:t>\N</a:t>
                      </a:r>
                      <a:endParaRPr lang="zh-TW" sz="2000">
                        <a:effectLst/>
                        <a:latin typeface="微軟正黑體" pitchFamily="34" charset="-120"/>
                        <a:ea typeface="微軟正黑體" pitchFamily="34" charset="-120"/>
                      </a:endParaRPr>
                    </a:p>
                  </a:txBody>
                  <a:tcPr marL="68574" marR="68574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100"/>
                        </a:lnSpc>
                        <a:spcAft>
                          <a:spcPts val="1200"/>
                        </a:spcAft>
                      </a:pPr>
                      <a:r>
                        <a:rPr lang="en-US" sz="2000">
                          <a:effectLst/>
                          <a:latin typeface="微軟正黑體" pitchFamily="34" charset="-120"/>
                          <a:ea typeface="微軟正黑體" pitchFamily="34" charset="-120"/>
                        </a:rPr>
                        <a:t>N</a:t>
                      </a:r>
                      <a:r>
                        <a:rPr lang="zh-TW" sz="2000">
                          <a:effectLst/>
                          <a:latin typeface="微軟正黑體" pitchFamily="34" charset="-120"/>
                          <a:ea typeface="微軟正黑體" pitchFamily="34" charset="-120"/>
                        </a:rPr>
                        <a:t>是八進位值的字元常數，例如：</a:t>
                      </a:r>
                      <a:r>
                        <a:rPr lang="en-US" sz="2000">
                          <a:effectLst/>
                          <a:latin typeface="微軟正黑體" pitchFamily="34" charset="-120"/>
                          <a:ea typeface="微軟正黑體" pitchFamily="34" charset="-120"/>
                        </a:rPr>
                        <a:t>\040</a:t>
                      </a:r>
                      <a:r>
                        <a:rPr lang="zh-TW" sz="2000">
                          <a:effectLst/>
                          <a:latin typeface="微軟正黑體" pitchFamily="34" charset="-120"/>
                          <a:ea typeface="微軟正黑體" pitchFamily="34" charset="-120"/>
                        </a:rPr>
                        <a:t>空白字元</a:t>
                      </a:r>
                    </a:p>
                  </a:txBody>
                  <a:tcPr marL="68574" marR="68574" marT="0" marB="0" anchor="ctr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648229">
                <a:tc>
                  <a:txBody>
                    <a:bodyPr/>
                    <a:lstStyle/>
                    <a:p>
                      <a:pPr algn="ctr">
                        <a:lnSpc>
                          <a:spcPts val="2100"/>
                        </a:lnSpc>
                        <a:spcAft>
                          <a:spcPts val="1200"/>
                        </a:spcAft>
                      </a:pPr>
                      <a:r>
                        <a:rPr lang="en-US" sz="2000">
                          <a:effectLst/>
                          <a:latin typeface="微軟正黑體" pitchFamily="34" charset="-120"/>
                          <a:ea typeface="微軟正黑體" pitchFamily="34" charset="-120"/>
                        </a:rPr>
                        <a:t>\xN</a:t>
                      </a:r>
                      <a:endParaRPr lang="zh-TW" sz="2000">
                        <a:effectLst/>
                        <a:latin typeface="微軟正黑體" pitchFamily="34" charset="-120"/>
                        <a:ea typeface="微軟正黑體" pitchFamily="34" charset="-120"/>
                      </a:endParaRPr>
                    </a:p>
                  </a:txBody>
                  <a:tcPr marL="68574" marR="68574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100"/>
                        </a:lnSpc>
                        <a:spcAft>
                          <a:spcPts val="1200"/>
                        </a:spcAft>
                      </a:pPr>
                      <a:r>
                        <a:rPr lang="en-US" sz="2000" dirty="0">
                          <a:effectLst/>
                          <a:latin typeface="微軟正黑體" pitchFamily="34" charset="-120"/>
                          <a:ea typeface="微軟正黑體" pitchFamily="34" charset="-120"/>
                        </a:rPr>
                        <a:t>N</a:t>
                      </a:r>
                      <a:r>
                        <a:rPr lang="zh-TW" sz="2000" dirty="0">
                          <a:effectLst/>
                          <a:latin typeface="微軟正黑體" pitchFamily="34" charset="-120"/>
                          <a:ea typeface="微軟正黑體" pitchFamily="34" charset="-120"/>
                        </a:rPr>
                        <a:t>是十六進位值的字元常數，例如：</a:t>
                      </a:r>
                      <a:r>
                        <a:rPr lang="en-US" sz="2000" dirty="0">
                          <a:effectLst/>
                          <a:latin typeface="微軟正黑體" pitchFamily="34" charset="-120"/>
                          <a:ea typeface="微軟正黑體" pitchFamily="34" charset="-120"/>
                        </a:rPr>
                        <a:t>\x20</a:t>
                      </a:r>
                      <a:r>
                        <a:rPr lang="zh-TW" sz="2000" dirty="0">
                          <a:effectLst/>
                          <a:latin typeface="微軟正黑體" pitchFamily="34" charset="-120"/>
                          <a:ea typeface="微軟正黑體" pitchFamily="34" charset="-120"/>
                        </a:rPr>
                        <a:t>空白字元</a:t>
                      </a:r>
                    </a:p>
                  </a:txBody>
                  <a:tcPr marL="68574" marR="68574" marT="0" marB="0" anchor="ctr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4294005054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69422905-4E5C-1D11-E13F-AA4707007243}"/>
              </a:ext>
            </a:extLst>
          </p:cNvPr>
          <p:cNvSpPr txBox="1">
            <a:spLocks noChangeArrowheads="1"/>
          </p:cNvSpPr>
          <p:nvPr/>
        </p:nvSpPr>
        <p:spPr>
          <a:xfrm>
            <a:off x="2235252" y="274638"/>
            <a:ext cx="8226425" cy="1143000"/>
          </a:xfrm>
          <a:prstGeom prst="rect">
            <a:avLst/>
          </a:prstGeom>
        </p:spPr>
        <p:txBody>
          <a:bodyPr/>
          <a:lstStyle>
            <a:lvl1pPr algn="l">
              <a:lnSpc>
                <a:spcPct val="90000"/>
              </a:lnSpc>
              <a:spcBef>
                <a:spcPts val="0"/>
              </a:spcBef>
              <a:buNone/>
              <a:defRPr sz="4400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</a:lstStyle>
          <a:p>
            <a:r>
              <a:rPr lang="zh-TW" altLang="en-US" kern="0" dirty="0"/>
              <a:t>數值文字值</a:t>
            </a:r>
            <a:br>
              <a:rPr lang="zh-TW" altLang="en-US" kern="0" dirty="0"/>
            </a:br>
            <a:r>
              <a:rPr lang="zh-TW" altLang="en-US" sz="2800" kern="0" dirty="0"/>
              <a:t>整數文字值</a:t>
            </a:r>
            <a:endParaRPr lang="zh-TW" altLang="en-US" kern="0" dirty="0"/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C0378345-5DDB-4C0F-FA92-EB388B7274B3}"/>
              </a:ext>
            </a:extLst>
          </p:cNvPr>
          <p:cNvSpPr txBox="1">
            <a:spLocks noChangeArrowheads="1"/>
          </p:cNvSpPr>
          <p:nvPr/>
        </p:nvSpPr>
        <p:spPr>
          <a:xfrm>
            <a:off x="2235252" y="1600200"/>
            <a:ext cx="8226425" cy="4924425"/>
          </a:xfrm>
          <a:prstGeom prst="rect">
            <a:avLst/>
          </a:prstGeom>
        </p:spPr>
        <p:txBody>
          <a:bodyPr/>
          <a:lstStyle>
            <a:lvl1pPr marL="228600" indent="-228600" algn="l">
              <a:lnSpc>
                <a:spcPct val="90000"/>
              </a:lnSpc>
              <a:spcBef>
                <a:spcPts val="1000"/>
              </a:spcBef>
              <a:buChar char="•"/>
              <a:defRPr sz="2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685800" indent="-228600" algn="l">
              <a:lnSpc>
                <a:spcPct val="90000"/>
              </a:lnSpc>
              <a:spcBef>
                <a:spcPts val="500"/>
              </a:spcBef>
              <a:buChar char="•"/>
              <a:defRPr sz="24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1143000" indent="-228600" algn="l">
              <a:lnSpc>
                <a:spcPct val="90000"/>
              </a:lnSpc>
              <a:spcBef>
                <a:spcPts val="500"/>
              </a:spcBef>
              <a:buChar char="•"/>
              <a:defRPr sz="20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6002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20574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5146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9718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4290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8862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>
            <a:r>
              <a:rPr lang="zh-TW" altLang="en-US" kern="0"/>
              <a:t>整數文字值是指資料是整數值，沒有小數點，其資料長度可以是任何長度，視記憶體空間而定。例如：一些整數文字值的範例，如下所示：</a:t>
            </a:r>
          </a:p>
          <a:p>
            <a:pPr marL="457200" lvl="1" indent="0">
              <a:buFontTx/>
              <a:buNone/>
            </a:pPr>
            <a:r>
              <a:rPr lang="en-US" altLang="zh-TW" kern="0">
                <a:solidFill>
                  <a:srgbClr val="FF3399"/>
                </a:solidFill>
              </a:rPr>
              <a:t>1    100    122     56789</a:t>
            </a:r>
          </a:p>
          <a:p>
            <a:r>
              <a:rPr lang="zh-TW" altLang="en-US" kern="0"/>
              <a:t>上述整數值是</a:t>
            </a:r>
            <a:r>
              <a:rPr lang="en-US" altLang="zh-TW" kern="0"/>
              <a:t>10</a:t>
            </a:r>
            <a:r>
              <a:rPr lang="zh-TW" altLang="en-US" kern="0"/>
              <a:t>進位值，也是我們習慣使用的數字系統，</a:t>
            </a:r>
            <a:r>
              <a:rPr lang="en-US" altLang="zh-TW" kern="0"/>
              <a:t>Python</a:t>
            </a:r>
            <a:r>
              <a:rPr lang="zh-TW" altLang="en-US" kern="0"/>
              <a:t>語言支援二進位、八進位和十六進位的數字系統，此時的數值需要加上數字系統的字首（十進位並不需要），如下表所示：</a:t>
            </a:r>
          </a:p>
          <a:p>
            <a:endParaRPr lang="zh-TW" altLang="en-US" kern="0"/>
          </a:p>
        </p:txBody>
      </p:sp>
      <p:pic>
        <p:nvPicPr>
          <p:cNvPr id="5" name="圖片 4">
            <a:extLst>
              <a:ext uri="{FF2B5EF4-FFF2-40B4-BE49-F238E27FC236}">
                <a16:creationId xmlns:a16="http://schemas.microsoft.com/office/drawing/2014/main" id="{37B27A2C-34ED-3A79-E137-194618AA3AB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872764" y="4878228"/>
            <a:ext cx="7370703" cy="182895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46255705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D9376F9E-8761-A1CC-78F0-654C0CCF247F}"/>
              </a:ext>
            </a:extLst>
          </p:cNvPr>
          <p:cNvSpPr txBox="1">
            <a:spLocks noChangeArrowheads="1"/>
          </p:cNvSpPr>
          <p:nvPr/>
        </p:nvSpPr>
        <p:spPr>
          <a:xfrm>
            <a:off x="2471226" y="274638"/>
            <a:ext cx="8226425" cy="1143000"/>
          </a:xfrm>
          <a:prstGeom prst="rect">
            <a:avLst/>
          </a:prstGeom>
        </p:spPr>
        <p:txBody>
          <a:bodyPr/>
          <a:lstStyle>
            <a:lvl1pPr algn="l">
              <a:lnSpc>
                <a:spcPct val="90000"/>
              </a:lnSpc>
              <a:spcBef>
                <a:spcPts val="0"/>
              </a:spcBef>
              <a:buNone/>
              <a:defRPr sz="4400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</a:lstStyle>
          <a:p>
            <a:r>
              <a:rPr lang="zh-TW" altLang="en-US" kern="0" dirty="0"/>
              <a:t>數值文字值</a:t>
            </a:r>
            <a:br>
              <a:rPr lang="zh-TW" altLang="en-US" kern="0" dirty="0"/>
            </a:br>
            <a:r>
              <a:rPr lang="zh-TW" altLang="en-US" sz="2800" kern="0" dirty="0"/>
              <a:t>浮點數文字值</a:t>
            </a:r>
            <a:endParaRPr lang="zh-TW" altLang="en-US" kern="0" dirty="0"/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E2EA9CF1-0D75-C9EF-06BE-25E0E944B56E}"/>
              </a:ext>
            </a:extLst>
          </p:cNvPr>
          <p:cNvSpPr txBox="1">
            <a:spLocks noChangeArrowheads="1"/>
          </p:cNvSpPr>
          <p:nvPr/>
        </p:nvSpPr>
        <p:spPr>
          <a:xfrm>
            <a:off x="2471226" y="1600200"/>
            <a:ext cx="8226425" cy="4924425"/>
          </a:xfrm>
          <a:prstGeom prst="rect">
            <a:avLst/>
          </a:prstGeom>
        </p:spPr>
        <p:txBody>
          <a:bodyPr/>
          <a:lstStyle>
            <a:lvl1pPr marL="228600" indent="-228600" algn="l">
              <a:lnSpc>
                <a:spcPct val="90000"/>
              </a:lnSpc>
              <a:spcBef>
                <a:spcPts val="1000"/>
              </a:spcBef>
              <a:buChar char="•"/>
              <a:defRPr sz="2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685800" indent="-228600" algn="l">
              <a:lnSpc>
                <a:spcPct val="90000"/>
              </a:lnSpc>
              <a:spcBef>
                <a:spcPts val="500"/>
              </a:spcBef>
              <a:buChar char="•"/>
              <a:defRPr sz="24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1143000" indent="-228600" algn="l">
              <a:lnSpc>
                <a:spcPct val="90000"/>
              </a:lnSpc>
              <a:spcBef>
                <a:spcPts val="500"/>
              </a:spcBef>
              <a:buChar char="•"/>
              <a:defRPr sz="20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6002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20574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5146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9718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4290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8862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>
            <a:r>
              <a:rPr lang="zh-TW" altLang="en-US" kern="0"/>
              <a:t>浮點數文字值是指數值資料是整數加上小數，其精確度可以到小數點下</a:t>
            </a:r>
            <a:r>
              <a:rPr lang="en-US" altLang="zh-TW" kern="0"/>
              <a:t>15</a:t>
            </a:r>
            <a:r>
              <a:rPr lang="zh-TW" altLang="en-US" kern="0"/>
              <a:t>位，基本上，整數和浮點數的差異就是小數點，</a:t>
            </a:r>
            <a:r>
              <a:rPr lang="en-US" altLang="zh-TW" kern="0"/>
              <a:t>5</a:t>
            </a:r>
            <a:r>
              <a:rPr lang="zh-TW" altLang="en-US" kern="0"/>
              <a:t>是整數；</a:t>
            </a:r>
            <a:r>
              <a:rPr lang="en-US" altLang="zh-TW" kern="0"/>
              <a:t>5.0</a:t>
            </a:r>
            <a:r>
              <a:rPr lang="zh-TW" altLang="en-US" kern="0"/>
              <a:t>是浮點數，例如：一些浮點數文字值的範例（</a:t>
            </a:r>
            <a:r>
              <a:rPr lang="en-US" altLang="zh-TW" kern="0"/>
              <a:t>Python</a:t>
            </a:r>
            <a:r>
              <a:rPr lang="zh-TW" altLang="en-US" kern="0"/>
              <a:t>程式：</a:t>
            </a:r>
            <a:r>
              <a:rPr lang="en-US" altLang="zh-TW" kern="0"/>
              <a:t>ch2-5-2a.py</a:t>
            </a:r>
            <a:r>
              <a:rPr lang="zh-TW" altLang="en-US" kern="0"/>
              <a:t>），如下所示：</a:t>
            </a:r>
          </a:p>
          <a:p>
            <a:pPr marL="457200" lvl="1" indent="0">
              <a:buFontTx/>
              <a:buNone/>
            </a:pPr>
            <a:r>
              <a:rPr lang="en-US" altLang="zh-TW" kern="0">
                <a:solidFill>
                  <a:srgbClr val="FF3399"/>
                </a:solidFill>
              </a:rPr>
              <a:t>1.0</a:t>
            </a:r>
          </a:p>
          <a:p>
            <a:pPr marL="457200" lvl="1" indent="0">
              <a:buFontTx/>
              <a:buNone/>
            </a:pPr>
            <a:r>
              <a:rPr lang="en-US" altLang="zh-TW" kern="0">
                <a:solidFill>
                  <a:srgbClr val="FF3399"/>
                </a:solidFill>
              </a:rPr>
              <a:t>55.22</a:t>
            </a:r>
          </a:p>
          <a:p>
            <a:endParaRPr lang="zh-TW" altLang="en-US" kern="0"/>
          </a:p>
        </p:txBody>
      </p:sp>
    </p:spTree>
    <p:extLst>
      <p:ext uri="{BB962C8B-B14F-4D97-AF65-F5344CB8AC3E}">
        <p14:creationId xmlns:p14="http://schemas.microsoft.com/office/powerpoint/2010/main" val="455330919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2293237C-F954-ED3E-B919-6438A52468BF}"/>
              </a:ext>
            </a:extLst>
          </p:cNvPr>
          <p:cNvSpPr txBox="1">
            <a:spLocks noChangeArrowheads="1"/>
          </p:cNvSpPr>
          <p:nvPr/>
        </p:nvSpPr>
        <p:spPr>
          <a:xfrm>
            <a:off x="2343407" y="441787"/>
            <a:ext cx="8226425" cy="1143000"/>
          </a:xfrm>
          <a:prstGeom prst="rect">
            <a:avLst/>
          </a:prstGeom>
        </p:spPr>
        <p:txBody>
          <a:bodyPr/>
          <a:lstStyle>
            <a:lvl1pPr algn="l">
              <a:lnSpc>
                <a:spcPct val="90000"/>
              </a:lnSpc>
              <a:spcBef>
                <a:spcPts val="0"/>
              </a:spcBef>
              <a:buNone/>
              <a:defRPr sz="4400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</a:lstStyle>
          <a:p>
            <a:r>
              <a:rPr lang="zh-TW" altLang="en-US" kern="0" dirty="0"/>
              <a:t>布林文字值</a:t>
            </a:r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6A3CA015-1B9C-0E8E-25FA-B9899F5AC7FD}"/>
              </a:ext>
            </a:extLst>
          </p:cNvPr>
          <p:cNvSpPr txBox="1">
            <a:spLocks noChangeArrowheads="1"/>
          </p:cNvSpPr>
          <p:nvPr/>
        </p:nvSpPr>
        <p:spPr>
          <a:xfrm>
            <a:off x="2343407" y="1767349"/>
            <a:ext cx="8226425" cy="4924425"/>
          </a:xfrm>
          <a:prstGeom prst="rect">
            <a:avLst/>
          </a:prstGeom>
        </p:spPr>
        <p:txBody>
          <a:bodyPr/>
          <a:lstStyle>
            <a:lvl1pPr marL="228600" indent="-228600" algn="l">
              <a:lnSpc>
                <a:spcPct val="90000"/>
              </a:lnSpc>
              <a:spcBef>
                <a:spcPts val="1000"/>
              </a:spcBef>
              <a:buChar char="•"/>
              <a:defRPr sz="2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685800" indent="-228600" algn="l">
              <a:lnSpc>
                <a:spcPct val="90000"/>
              </a:lnSpc>
              <a:spcBef>
                <a:spcPts val="500"/>
              </a:spcBef>
              <a:buChar char="•"/>
              <a:defRPr sz="24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1143000" indent="-228600" algn="l">
              <a:lnSpc>
                <a:spcPct val="90000"/>
              </a:lnSpc>
              <a:spcBef>
                <a:spcPts val="500"/>
              </a:spcBef>
              <a:buChar char="•"/>
              <a:defRPr sz="20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6002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20574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5146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9718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4290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8862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>
            <a:r>
              <a:rPr lang="en-US" altLang="zh-TW" kern="0"/>
              <a:t>Python</a:t>
            </a:r>
            <a:r>
              <a:rPr lang="zh-TW" altLang="en-US" kern="0"/>
              <a:t>語言的布林（</a:t>
            </a:r>
            <a:r>
              <a:rPr lang="en-US" altLang="zh-TW" kern="0"/>
              <a:t>Boolean</a:t>
            </a:r>
            <a:r>
              <a:rPr lang="zh-TW" altLang="en-US" kern="0"/>
              <a:t>）文字值是使用</a:t>
            </a:r>
            <a:r>
              <a:rPr lang="en-US" altLang="zh-TW" kern="0"/>
              <a:t>True</a:t>
            </a:r>
            <a:r>
              <a:rPr lang="zh-TW" altLang="en-US" kern="0"/>
              <a:t>和</a:t>
            </a:r>
            <a:r>
              <a:rPr lang="en-US" altLang="zh-TW" kern="0"/>
              <a:t>False</a:t>
            </a:r>
            <a:r>
              <a:rPr lang="zh-TW" altLang="en-US" kern="0"/>
              <a:t>關鍵字來表示（</a:t>
            </a:r>
            <a:r>
              <a:rPr lang="en-US" altLang="zh-TW" kern="0"/>
              <a:t>Python</a:t>
            </a:r>
            <a:r>
              <a:rPr lang="zh-TW" altLang="en-US" kern="0"/>
              <a:t>程式：</a:t>
            </a:r>
            <a:r>
              <a:rPr lang="en-US" altLang="zh-TW" kern="0"/>
              <a:t>ch2-5-3.py</a:t>
            </a:r>
            <a:r>
              <a:rPr lang="zh-TW" altLang="en-US" kern="0"/>
              <a:t>），如下所示：</a:t>
            </a:r>
          </a:p>
          <a:p>
            <a:pPr marL="457200" lvl="1" indent="0">
              <a:buFontTx/>
              <a:buNone/>
            </a:pPr>
            <a:r>
              <a:rPr lang="en-US" altLang="zh-TW" kern="0">
                <a:solidFill>
                  <a:srgbClr val="FF3399"/>
                </a:solidFill>
              </a:rPr>
              <a:t>True</a:t>
            </a:r>
          </a:p>
          <a:p>
            <a:pPr marL="457200" lvl="1" indent="0">
              <a:buFontTx/>
              <a:buNone/>
            </a:pPr>
            <a:r>
              <a:rPr lang="en-US" altLang="zh-TW" kern="0">
                <a:solidFill>
                  <a:srgbClr val="FF3399"/>
                </a:solidFill>
              </a:rPr>
              <a:t>False</a:t>
            </a:r>
          </a:p>
          <a:p>
            <a:endParaRPr lang="zh-TW" altLang="en-US" kern="0"/>
          </a:p>
        </p:txBody>
      </p:sp>
    </p:spTree>
    <p:extLst>
      <p:ext uri="{BB962C8B-B14F-4D97-AF65-F5344CB8AC3E}">
        <p14:creationId xmlns:p14="http://schemas.microsoft.com/office/powerpoint/2010/main" val="1279089956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>
            <a:extLst>
              <a:ext uri="{FF2B5EF4-FFF2-40B4-BE49-F238E27FC236}">
                <a16:creationId xmlns:a16="http://schemas.microsoft.com/office/drawing/2014/main" id="{618FE4DE-F9B6-2C5A-D5F8-DD4507ED2960}"/>
              </a:ext>
            </a:extLst>
          </p:cNvPr>
          <p:cNvSpPr txBox="1">
            <a:spLocks noChangeArrowheads="1"/>
          </p:cNvSpPr>
          <p:nvPr/>
        </p:nvSpPr>
        <p:spPr>
          <a:xfrm>
            <a:off x="1982787" y="245141"/>
            <a:ext cx="8226425" cy="1143000"/>
          </a:xfrm>
          <a:prstGeom prst="rect">
            <a:avLst/>
          </a:prstGeom>
        </p:spPr>
        <p:txBody>
          <a:bodyPr/>
          <a:lstStyle>
            <a:lvl1pPr algn="l">
              <a:lnSpc>
                <a:spcPct val="90000"/>
              </a:lnSpc>
              <a:spcBef>
                <a:spcPts val="0"/>
              </a:spcBef>
              <a:buNone/>
              <a:defRPr sz="4400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</a:lstStyle>
          <a:p>
            <a:r>
              <a:rPr lang="zh-TW" altLang="en-US" kern="0" dirty="0"/>
              <a:t>程式敘述</a:t>
            </a:r>
          </a:p>
        </p:txBody>
      </p:sp>
      <p:sp>
        <p:nvSpPr>
          <p:cNvPr id="3" name="Rectangle 3">
            <a:extLst>
              <a:ext uri="{FF2B5EF4-FFF2-40B4-BE49-F238E27FC236}">
                <a16:creationId xmlns:a16="http://schemas.microsoft.com/office/drawing/2014/main" id="{B72FA060-5F97-84A6-D35E-81949C9F8B89}"/>
              </a:ext>
            </a:extLst>
          </p:cNvPr>
          <p:cNvSpPr txBox="1">
            <a:spLocks noChangeArrowheads="1"/>
          </p:cNvSpPr>
          <p:nvPr/>
        </p:nvSpPr>
        <p:spPr>
          <a:xfrm>
            <a:off x="1982787" y="1570703"/>
            <a:ext cx="8226425" cy="4924425"/>
          </a:xfrm>
          <a:prstGeom prst="rect">
            <a:avLst/>
          </a:prstGeom>
        </p:spPr>
        <p:txBody>
          <a:bodyPr/>
          <a:lstStyle>
            <a:lvl1pPr marL="228600" indent="-228600" algn="l">
              <a:lnSpc>
                <a:spcPct val="90000"/>
              </a:lnSpc>
              <a:spcBef>
                <a:spcPts val="1000"/>
              </a:spcBef>
              <a:buChar char="•"/>
              <a:defRPr sz="2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685800" indent="-228600" algn="l">
              <a:lnSpc>
                <a:spcPct val="90000"/>
              </a:lnSpc>
              <a:spcBef>
                <a:spcPts val="500"/>
              </a:spcBef>
              <a:buChar char="•"/>
              <a:defRPr sz="24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1143000" indent="-228600" algn="l">
              <a:lnSpc>
                <a:spcPct val="90000"/>
              </a:lnSpc>
              <a:spcBef>
                <a:spcPts val="500"/>
              </a:spcBef>
              <a:buChar char="•"/>
              <a:defRPr sz="20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6002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20574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5146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9718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4290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8862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>
            <a:pPr>
              <a:defRPr/>
            </a:pPr>
            <a:r>
              <a:rPr lang="en-US" altLang="zh-TW" kern="0"/>
              <a:t>Python</a:t>
            </a:r>
            <a:r>
              <a:rPr lang="zh-TW" altLang="en-US" kern="0"/>
              <a:t>程式是使用程式敘述（</a:t>
            </a:r>
            <a:r>
              <a:rPr lang="en-US" altLang="zh-TW" kern="0"/>
              <a:t>Statements</a:t>
            </a:r>
            <a:r>
              <a:rPr lang="zh-TW" altLang="en-US" kern="0"/>
              <a:t>）所組成，一行程式敘述如同英文的一個句子，內含多個運算式、運算子或關鍵字，這就是</a:t>
            </a:r>
            <a:r>
              <a:rPr lang="en-US" altLang="zh-TW" kern="0"/>
              <a:t>Python</a:t>
            </a:r>
            <a:r>
              <a:rPr lang="zh-TW" altLang="en-US" kern="0"/>
              <a:t>直譯器可以執行的程式碼。</a:t>
            </a:r>
          </a:p>
          <a:p>
            <a:pPr marL="0" indent="0">
              <a:buFontTx/>
              <a:buNone/>
              <a:defRPr/>
            </a:pPr>
            <a:r>
              <a:rPr lang="zh-TW" altLang="en-US" u="sng" kern="0"/>
              <a:t>程式敘述的範例</a:t>
            </a:r>
          </a:p>
          <a:p>
            <a:pPr>
              <a:defRPr/>
            </a:pPr>
            <a:r>
              <a:rPr lang="zh-TW" altLang="en-US" kern="0"/>
              <a:t>一些</a:t>
            </a:r>
            <a:r>
              <a:rPr lang="en-US" altLang="zh-TW" kern="0"/>
              <a:t>Python</a:t>
            </a:r>
            <a:r>
              <a:rPr lang="zh-TW" altLang="en-US" kern="0"/>
              <a:t>程式敘述的範例，如下所示：</a:t>
            </a:r>
          </a:p>
          <a:p>
            <a:pPr marL="457200" lvl="1" indent="0">
              <a:buFontTx/>
              <a:buNone/>
              <a:defRPr/>
            </a:pPr>
            <a:r>
              <a:rPr lang="en-US" altLang="zh-TW" kern="0">
                <a:solidFill>
                  <a:srgbClr val="FF3399"/>
                </a:solidFill>
              </a:rPr>
              <a:t>b = 10</a:t>
            </a:r>
          </a:p>
          <a:p>
            <a:pPr marL="457200" lvl="1" indent="0">
              <a:buFontTx/>
              <a:buNone/>
              <a:defRPr/>
            </a:pPr>
            <a:r>
              <a:rPr lang="en-US" altLang="zh-TW" kern="0">
                <a:solidFill>
                  <a:srgbClr val="FF3399"/>
                </a:solidFill>
              </a:rPr>
              <a:t>c = 2</a:t>
            </a:r>
          </a:p>
          <a:p>
            <a:pPr marL="457200" lvl="1" indent="0">
              <a:buFontTx/>
              <a:buNone/>
              <a:defRPr/>
            </a:pPr>
            <a:r>
              <a:rPr lang="en-US" altLang="zh-TW" kern="0">
                <a:solidFill>
                  <a:srgbClr val="FF3399"/>
                </a:solidFill>
              </a:rPr>
              <a:t>a = b * c</a:t>
            </a:r>
          </a:p>
          <a:p>
            <a:pPr marL="457200" lvl="1" indent="0">
              <a:buFontTx/>
              <a:buNone/>
              <a:defRPr/>
            </a:pPr>
            <a:r>
              <a:rPr lang="en-US" altLang="zh-TW" kern="0">
                <a:solidFill>
                  <a:srgbClr val="FF3399"/>
                </a:solidFill>
              </a:rPr>
              <a:t>print("</a:t>
            </a:r>
            <a:r>
              <a:rPr lang="zh-TW" altLang="en-US" kern="0">
                <a:solidFill>
                  <a:srgbClr val="FF3399"/>
                </a:solidFill>
              </a:rPr>
              <a:t>第一個</a:t>
            </a:r>
            <a:r>
              <a:rPr lang="en-US" altLang="zh-TW" kern="0">
                <a:solidFill>
                  <a:srgbClr val="FF3399"/>
                </a:solidFill>
              </a:rPr>
              <a:t>Python</a:t>
            </a:r>
            <a:r>
              <a:rPr lang="zh-TW" altLang="en-US" kern="0">
                <a:solidFill>
                  <a:srgbClr val="FF3399"/>
                </a:solidFill>
              </a:rPr>
              <a:t>程式</a:t>
            </a:r>
            <a:r>
              <a:rPr lang="en-US" altLang="zh-TW" kern="0">
                <a:solidFill>
                  <a:srgbClr val="FF3399"/>
                </a:solidFill>
              </a:rPr>
              <a:t>")</a:t>
            </a:r>
          </a:p>
          <a:p>
            <a:pPr>
              <a:defRPr/>
            </a:pPr>
            <a:r>
              <a:rPr lang="zh-TW" altLang="en-US" kern="0"/>
              <a:t>上述第</a:t>
            </a:r>
            <a:r>
              <a:rPr lang="en-US" altLang="zh-TW" kern="0"/>
              <a:t>1</a:t>
            </a:r>
            <a:r>
              <a:rPr lang="zh-TW" altLang="en-US" kern="0"/>
              <a:t>行和第</a:t>
            </a:r>
            <a:r>
              <a:rPr lang="en-US" altLang="zh-TW" kern="0"/>
              <a:t>2</a:t>
            </a:r>
            <a:r>
              <a:rPr lang="zh-TW" altLang="en-US" kern="0"/>
              <a:t>行程式碼是指定變數初值，第</a:t>
            </a:r>
            <a:r>
              <a:rPr lang="en-US" altLang="zh-TW" kern="0"/>
              <a:t>3</a:t>
            </a:r>
            <a:r>
              <a:rPr lang="zh-TW" altLang="en-US" kern="0"/>
              <a:t>行是指定敘述的運算式，第</a:t>
            </a:r>
            <a:r>
              <a:rPr lang="en-US" altLang="zh-TW" kern="0"/>
              <a:t>4</a:t>
            </a:r>
            <a:r>
              <a:rPr lang="zh-TW" altLang="en-US" kern="0"/>
              <a:t>行是呼叫</a:t>
            </a:r>
            <a:r>
              <a:rPr lang="en-US" altLang="zh-TW" kern="0"/>
              <a:t>print()</a:t>
            </a:r>
            <a:r>
              <a:rPr lang="zh-TW" altLang="en-US" kern="0"/>
              <a:t>函數。</a:t>
            </a:r>
            <a:endParaRPr lang="zh-TW" altLang="en-US" kern="0" dirty="0"/>
          </a:p>
        </p:txBody>
      </p:sp>
    </p:spTree>
    <p:extLst>
      <p:ext uri="{BB962C8B-B14F-4D97-AF65-F5344CB8AC3E}">
        <p14:creationId xmlns:p14="http://schemas.microsoft.com/office/powerpoint/2010/main" val="4126847052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3">
            <a:extLst>
              <a:ext uri="{FF2B5EF4-FFF2-40B4-BE49-F238E27FC236}">
                <a16:creationId xmlns:a16="http://schemas.microsoft.com/office/drawing/2014/main" id="{88425B2F-3E8D-2F81-0CCC-3290BE268DDD}"/>
              </a:ext>
            </a:extLst>
          </p:cNvPr>
          <p:cNvSpPr txBox="1">
            <a:spLocks noChangeArrowheads="1"/>
          </p:cNvSpPr>
          <p:nvPr/>
        </p:nvSpPr>
        <p:spPr>
          <a:xfrm>
            <a:off x="2274581" y="1236407"/>
            <a:ext cx="8226425" cy="4924425"/>
          </a:xfrm>
          <a:prstGeom prst="rect">
            <a:avLst/>
          </a:prstGeom>
        </p:spPr>
        <p:txBody>
          <a:bodyPr/>
          <a:lstStyle>
            <a:lvl1pPr marL="228600" indent="-228600" algn="l">
              <a:lnSpc>
                <a:spcPct val="90000"/>
              </a:lnSpc>
              <a:spcBef>
                <a:spcPts val="1000"/>
              </a:spcBef>
              <a:buChar char="•"/>
              <a:defRPr sz="2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685800" indent="-228600" algn="l">
              <a:lnSpc>
                <a:spcPct val="90000"/>
              </a:lnSpc>
              <a:spcBef>
                <a:spcPts val="500"/>
              </a:spcBef>
              <a:buChar char="•"/>
              <a:defRPr sz="24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1143000" indent="-228600" algn="l">
              <a:lnSpc>
                <a:spcPct val="90000"/>
              </a:lnSpc>
              <a:spcBef>
                <a:spcPts val="500"/>
              </a:spcBef>
              <a:buChar char="•"/>
              <a:defRPr sz="20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6002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20574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5146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9718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4290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8862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>
            <a:pPr marL="0" indent="0">
              <a:buFontTx/>
              <a:buNone/>
              <a:defRPr/>
            </a:pPr>
            <a:r>
              <a:rPr lang="zh-TW" altLang="en-US" u="sng" kern="0"/>
              <a:t>「</a:t>
            </a:r>
            <a:r>
              <a:rPr lang="en-US" altLang="zh-TW" u="sng" kern="0"/>
              <a:t>;</a:t>
            </a:r>
            <a:r>
              <a:rPr lang="zh-TW" altLang="en-US" u="sng" kern="0"/>
              <a:t>」分號</a:t>
            </a:r>
          </a:p>
          <a:p>
            <a:pPr>
              <a:defRPr/>
            </a:pPr>
            <a:r>
              <a:rPr lang="zh-TW" altLang="en-US" kern="0"/>
              <a:t>大部分程式語言：</a:t>
            </a:r>
            <a:r>
              <a:rPr lang="en-US" altLang="zh-TW" kern="0"/>
              <a:t>C/C++</a:t>
            </a:r>
            <a:r>
              <a:rPr lang="zh-TW" altLang="en-US" kern="0"/>
              <a:t>、</a:t>
            </a:r>
            <a:r>
              <a:rPr lang="en-US" altLang="zh-TW" kern="0"/>
              <a:t>Java</a:t>
            </a:r>
            <a:r>
              <a:rPr lang="zh-TW" altLang="en-US" kern="0"/>
              <a:t>和</a:t>
            </a:r>
            <a:r>
              <a:rPr lang="en-US" altLang="zh-TW" kern="0"/>
              <a:t>C#</a:t>
            </a:r>
            <a:r>
              <a:rPr lang="zh-TW" altLang="en-US" kern="0"/>
              <a:t>等語言的「</a:t>
            </a:r>
            <a:r>
              <a:rPr lang="en-US" altLang="zh-TW" kern="0"/>
              <a:t>;</a:t>
            </a:r>
            <a:r>
              <a:rPr lang="zh-TW" altLang="en-US" kern="0"/>
              <a:t>」分號代表程式敘述的結束，告訴直譯器</a:t>
            </a:r>
            <a:r>
              <a:rPr lang="en-US" altLang="zh-TW" kern="0"/>
              <a:t>/</a:t>
            </a:r>
            <a:r>
              <a:rPr lang="zh-TW" altLang="en-US" kern="0"/>
              <a:t>編譯器已經到達程式敘述的最後，請注意！</a:t>
            </a:r>
            <a:r>
              <a:rPr lang="en-US" altLang="zh-TW" kern="0"/>
              <a:t>Python</a:t>
            </a:r>
            <a:r>
              <a:rPr lang="zh-TW" altLang="en-US" kern="0"/>
              <a:t>語言並不需要在程式敘述最後加上「</a:t>
            </a:r>
            <a:r>
              <a:rPr lang="en-US" altLang="zh-TW" kern="0"/>
              <a:t>;</a:t>
            </a:r>
            <a:r>
              <a:rPr lang="zh-TW" altLang="en-US" kern="0"/>
              <a:t>」分號，如果習慣在程式敘述最後加上「</a:t>
            </a:r>
            <a:r>
              <a:rPr lang="en-US" altLang="zh-TW" kern="0"/>
              <a:t>;</a:t>
            </a:r>
            <a:r>
              <a:rPr lang="zh-TW" altLang="en-US" kern="0"/>
              <a:t>」分號，也不會有錯誤，如下所示：</a:t>
            </a:r>
          </a:p>
          <a:p>
            <a:pPr marL="457200" lvl="1" indent="0">
              <a:buFontTx/>
              <a:buNone/>
              <a:defRPr/>
            </a:pPr>
            <a:r>
              <a:rPr lang="en-US" altLang="zh-TW" kern="0">
                <a:solidFill>
                  <a:srgbClr val="FF3399"/>
                </a:solidFill>
              </a:rPr>
              <a:t>d = 5;</a:t>
            </a:r>
          </a:p>
          <a:p>
            <a:pPr>
              <a:defRPr/>
            </a:pPr>
            <a:r>
              <a:rPr lang="zh-TW" altLang="en-US" kern="0"/>
              <a:t>在</a:t>
            </a:r>
            <a:r>
              <a:rPr lang="en-US" altLang="zh-TW" kern="0"/>
              <a:t>Python</a:t>
            </a:r>
            <a:r>
              <a:rPr lang="zh-TW" altLang="en-US" kern="0"/>
              <a:t>語言使用「</a:t>
            </a:r>
            <a:r>
              <a:rPr lang="en-US" altLang="zh-TW" kern="0"/>
              <a:t>;</a:t>
            </a:r>
            <a:r>
              <a:rPr lang="zh-TW" altLang="en-US" kern="0"/>
              <a:t>」分號的主要目的是在同一行程式碼撰寫多個程式敘述，如下所示：</a:t>
            </a:r>
          </a:p>
          <a:p>
            <a:pPr marL="457200" lvl="1" indent="0">
              <a:buFontTx/>
              <a:buNone/>
              <a:defRPr/>
            </a:pPr>
            <a:r>
              <a:rPr lang="en-US" altLang="zh-TW" kern="0">
                <a:solidFill>
                  <a:srgbClr val="FF3399"/>
                </a:solidFill>
              </a:rPr>
              <a:t>b = 10; c = 4; a = b * c</a:t>
            </a:r>
            <a:endParaRPr lang="en-US" altLang="zh-TW" kern="0" dirty="0">
              <a:solidFill>
                <a:srgbClr val="FF3399"/>
              </a:solidFill>
            </a:endParaRP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61B6595B-1C2B-0232-0BDC-3E93A2DE5971}"/>
              </a:ext>
            </a:extLst>
          </p:cNvPr>
          <p:cNvSpPr txBox="1">
            <a:spLocks noChangeArrowheads="1"/>
          </p:cNvSpPr>
          <p:nvPr/>
        </p:nvSpPr>
        <p:spPr>
          <a:xfrm>
            <a:off x="2274580" y="264806"/>
            <a:ext cx="8226425" cy="1143000"/>
          </a:xfrm>
          <a:prstGeom prst="rect">
            <a:avLst/>
          </a:prstGeom>
        </p:spPr>
        <p:txBody>
          <a:bodyPr/>
          <a:lstStyle>
            <a:lvl1pPr algn="l">
              <a:lnSpc>
                <a:spcPct val="90000"/>
              </a:lnSpc>
              <a:spcBef>
                <a:spcPts val="0"/>
              </a:spcBef>
              <a:buNone/>
              <a:defRPr sz="4400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</a:lstStyle>
          <a:p>
            <a:r>
              <a:rPr lang="zh-TW" altLang="en-US" kern="0" dirty="0"/>
              <a:t>程式敘述</a:t>
            </a:r>
          </a:p>
        </p:txBody>
      </p:sp>
    </p:spTree>
    <p:extLst>
      <p:ext uri="{BB962C8B-B14F-4D97-AF65-F5344CB8AC3E}">
        <p14:creationId xmlns:p14="http://schemas.microsoft.com/office/powerpoint/2010/main" val="103114623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內容版面配置區 1">
            <a:extLst>
              <a:ext uri="{FF2B5EF4-FFF2-40B4-BE49-F238E27FC236}">
                <a16:creationId xmlns:a16="http://schemas.microsoft.com/office/drawing/2014/main" id="{BEC0354C-F943-2C18-39FB-3FBF65686D13}"/>
              </a:ext>
            </a:extLst>
          </p:cNvPr>
          <p:cNvSpPr txBox="1">
            <a:spLocks noChangeArrowheads="1"/>
          </p:cNvSpPr>
          <p:nvPr/>
        </p:nvSpPr>
        <p:spPr>
          <a:xfrm>
            <a:off x="1982787" y="966787"/>
            <a:ext cx="8226425" cy="4924425"/>
          </a:xfrm>
          <a:prstGeom prst="rect">
            <a:avLst/>
          </a:prstGeom>
        </p:spPr>
        <p:txBody>
          <a:bodyPr/>
          <a:lstStyle>
            <a:lvl1pPr marL="228600" indent="-228600" algn="l">
              <a:lnSpc>
                <a:spcPct val="90000"/>
              </a:lnSpc>
              <a:spcBef>
                <a:spcPts val="1000"/>
              </a:spcBef>
              <a:buChar char="•"/>
              <a:defRPr sz="2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685800" indent="-228600" algn="l">
              <a:lnSpc>
                <a:spcPct val="90000"/>
              </a:lnSpc>
              <a:spcBef>
                <a:spcPts val="500"/>
              </a:spcBef>
              <a:buChar char="•"/>
              <a:defRPr sz="24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1143000" indent="-228600" algn="l">
              <a:lnSpc>
                <a:spcPct val="90000"/>
              </a:lnSpc>
              <a:spcBef>
                <a:spcPts val="500"/>
              </a:spcBef>
              <a:buChar char="•"/>
              <a:defRPr sz="20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6002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20574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5146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9718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4290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8862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>
            <a:r>
              <a:rPr lang="zh-TW" altLang="en-US" kern="0" dirty="0"/>
              <a:t>程式區塊（</a:t>
            </a:r>
            <a:r>
              <a:rPr lang="en-US" altLang="zh-TW" kern="0" dirty="0"/>
              <a:t>Blocks</a:t>
            </a:r>
            <a:r>
              <a:rPr lang="zh-TW" altLang="en-US" kern="0" dirty="0"/>
              <a:t>）是由多個程式敘述所組成，大部分程式語言是使用</a:t>
            </a:r>
            <a:r>
              <a:rPr lang="en-US" altLang="zh-TW" kern="0" dirty="0"/>
              <a:t>"{"</a:t>
            </a:r>
            <a:r>
              <a:rPr lang="zh-TW" altLang="en-US" kern="0" dirty="0"/>
              <a:t>和</a:t>
            </a:r>
            <a:r>
              <a:rPr lang="en-US" altLang="zh-TW" kern="0" dirty="0"/>
              <a:t>"}"</a:t>
            </a:r>
            <a:r>
              <a:rPr lang="zh-TW" altLang="en-US" kern="0" dirty="0"/>
              <a:t>大括號（</a:t>
            </a:r>
            <a:r>
              <a:rPr lang="en-US" altLang="zh-TW" kern="0" dirty="0"/>
              <a:t>Braces</a:t>
            </a:r>
            <a:r>
              <a:rPr lang="zh-TW" altLang="en-US" kern="0" dirty="0"/>
              <a:t>）包圍來建立程式區塊。</a:t>
            </a:r>
            <a:r>
              <a:rPr lang="en-US" altLang="zh-TW" kern="0" dirty="0"/>
              <a:t>Python</a:t>
            </a:r>
            <a:r>
              <a:rPr lang="zh-TW" altLang="en-US" kern="0" dirty="0"/>
              <a:t>語言的程式區塊是使用縮排，當多行程式敘述擁有相同數量的空白字元縮排時，就屬於同一個程式區塊，通常是使用「</a:t>
            </a:r>
            <a:r>
              <a:rPr lang="en-US" altLang="zh-TW" kern="0" dirty="0"/>
              <a:t>4</a:t>
            </a:r>
            <a:r>
              <a:rPr lang="zh-TW" altLang="en-US" kern="0" dirty="0"/>
              <a:t>」個空白字元或</a:t>
            </a:r>
            <a:r>
              <a:rPr lang="en-US" altLang="zh-TW" kern="0" dirty="0"/>
              <a:t>1</a:t>
            </a:r>
            <a:r>
              <a:rPr lang="zh-TW" altLang="en-US" kern="0" dirty="0"/>
              <a:t>個</a:t>
            </a:r>
            <a:r>
              <a:rPr lang="en-US" altLang="zh-TW" kern="0" dirty="0"/>
              <a:t>Tab</a:t>
            </a:r>
            <a:r>
              <a:rPr lang="zh-TW" altLang="en-US" kern="0" dirty="0"/>
              <a:t>鍵。</a:t>
            </a:r>
          </a:p>
          <a:p>
            <a:r>
              <a:rPr lang="en-US" altLang="zh-TW" kern="0" dirty="0"/>
              <a:t>Python</a:t>
            </a:r>
            <a:r>
              <a:rPr lang="zh-TW" altLang="en-US" kern="0" dirty="0"/>
              <a:t>程式區塊是從第</a:t>
            </a:r>
            <a:r>
              <a:rPr lang="en-US" altLang="zh-TW" kern="0" dirty="0"/>
              <a:t>1</a:t>
            </a:r>
            <a:r>
              <a:rPr lang="zh-TW" altLang="en-US" kern="0" dirty="0"/>
              <a:t>個縮排的程式敘述開始，到第</a:t>
            </a:r>
            <a:r>
              <a:rPr lang="en-US" altLang="zh-TW" kern="0" dirty="0"/>
              <a:t>1</a:t>
            </a:r>
            <a:r>
              <a:rPr lang="zh-TW" altLang="en-US" kern="0" dirty="0"/>
              <a:t>個沒有縮排的程式敘述的前一行為止，如下所示：</a:t>
            </a:r>
          </a:p>
          <a:p>
            <a:pPr marL="457200" lvl="1" indent="0">
              <a:buFontTx/>
              <a:buNone/>
            </a:pPr>
            <a:r>
              <a:rPr lang="en-US" altLang="zh-TW" kern="0" dirty="0">
                <a:solidFill>
                  <a:srgbClr val="FF3399"/>
                </a:solidFill>
              </a:rPr>
              <a:t>for </a:t>
            </a:r>
            <a:r>
              <a:rPr lang="en-US" altLang="zh-TW" kern="0" dirty="0" err="1">
                <a:solidFill>
                  <a:srgbClr val="FF3399"/>
                </a:solidFill>
              </a:rPr>
              <a:t>i</a:t>
            </a:r>
            <a:r>
              <a:rPr lang="en-US" altLang="zh-TW" kern="0" dirty="0">
                <a:solidFill>
                  <a:srgbClr val="FF3399"/>
                </a:solidFill>
              </a:rPr>
              <a:t> in range(1, 11):</a:t>
            </a:r>
          </a:p>
          <a:p>
            <a:pPr marL="457200" lvl="1" indent="0">
              <a:buFontTx/>
              <a:buNone/>
            </a:pPr>
            <a:r>
              <a:rPr lang="en-US" altLang="zh-TW" kern="0" dirty="0">
                <a:solidFill>
                  <a:srgbClr val="FF3399"/>
                </a:solidFill>
              </a:rPr>
              <a:t>    print(</a:t>
            </a:r>
            <a:r>
              <a:rPr lang="en-US" altLang="zh-TW" kern="0" dirty="0" err="1">
                <a:solidFill>
                  <a:srgbClr val="FF3399"/>
                </a:solidFill>
              </a:rPr>
              <a:t>i</a:t>
            </a:r>
            <a:r>
              <a:rPr lang="en-US" altLang="zh-TW" kern="0" dirty="0">
                <a:solidFill>
                  <a:srgbClr val="FF3399"/>
                </a:solidFill>
              </a:rPr>
              <a:t>)</a:t>
            </a:r>
          </a:p>
          <a:p>
            <a:pPr marL="457200" lvl="1" indent="0">
              <a:buFontTx/>
              <a:buNone/>
            </a:pPr>
            <a:r>
              <a:rPr lang="en-US" altLang="zh-TW" kern="0" dirty="0">
                <a:solidFill>
                  <a:srgbClr val="FF3399"/>
                </a:solidFill>
              </a:rPr>
              <a:t>    if </a:t>
            </a:r>
            <a:r>
              <a:rPr lang="en-US" altLang="zh-TW" kern="0" dirty="0" err="1">
                <a:solidFill>
                  <a:srgbClr val="FF3399"/>
                </a:solidFill>
              </a:rPr>
              <a:t>i</a:t>
            </a:r>
            <a:r>
              <a:rPr lang="en-US" altLang="zh-TW" kern="0" dirty="0">
                <a:solidFill>
                  <a:srgbClr val="FF3399"/>
                </a:solidFill>
              </a:rPr>
              <a:t> == 5 :</a:t>
            </a:r>
          </a:p>
          <a:p>
            <a:pPr marL="457200" lvl="1" indent="0">
              <a:buFontTx/>
              <a:buNone/>
            </a:pPr>
            <a:r>
              <a:rPr lang="en-US" altLang="zh-TW" kern="0" dirty="0">
                <a:solidFill>
                  <a:srgbClr val="FF3399"/>
                </a:solidFill>
              </a:rPr>
              <a:t>        break</a:t>
            </a:r>
          </a:p>
          <a:p>
            <a:pPr marL="457200" lvl="1" indent="0">
              <a:buFontTx/>
              <a:buNone/>
            </a:pPr>
            <a:r>
              <a:rPr lang="en-US" altLang="zh-TW" kern="0" dirty="0">
                <a:solidFill>
                  <a:srgbClr val="FF3399"/>
                </a:solidFill>
              </a:rPr>
              <a:t>print("</a:t>
            </a:r>
            <a:r>
              <a:rPr lang="zh-TW" altLang="en-US" kern="0" dirty="0">
                <a:solidFill>
                  <a:srgbClr val="FF3399"/>
                </a:solidFill>
              </a:rPr>
              <a:t>迴圈結束</a:t>
            </a:r>
            <a:r>
              <a:rPr lang="en-US" altLang="zh-TW" kern="0" dirty="0">
                <a:solidFill>
                  <a:srgbClr val="FF3399"/>
                </a:solidFill>
              </a:rPr>
              <a:t>")</a:t>
            </a:r>
          </a:p>
          <a:p>
            <a:endParaRPr lang="zh-TW" altLang="en-US" kern="0" dirty="0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7A01A792-5A69-D1BA-F954-3055AB3BA2B2}"/>
              </a:ext>
            </a:extLst>
          </p:cNvPr>
          <p:cNvSpPr txBox="1">
            <a:spLocks noChangeArrowheads="1"/>
          </p:cNvSpPr>
          <p:nvPr/>
        </p:nvSpPr>
        <p:spPr>
          <a:xfrm>
            <a:off x="1982787" y="242120"/>
            <a:ext cx="8226425" cy="1143000"/>
          </a:xfrm>
          <a:prstGeom prst="rect">
            <a:avLst/>
          </a:prstGeom>
        </p:spPr>
        <p:txBody>
          <a:bodyPr/>
          <a:lstStyle>
            <a:lvl1pPr algn="l">
              <a:lnSpc>
                <a:spcPct val="90000"/>
              </a:lnSpc>
              <a:spcBef>
                <a:spcPts val="0"/>
              </a:spcBef>
              <a:buNone/>
              <a:defRPr sz="4400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</a:lstStyle>
          <a:p>
            <a:r>
              <a:rPr lang="zh-TW" altLang="en-US" kern="0" dirty="0"/>
              <a:t>程式區塊</a:t>
            </a:r>
          </a:p>
        </p:txBody>
      </p:sp>
    </p:spTree>
    <p:extLst>
      <p:ext uri="{BB962C8B-B14F-4D97-AF65-F5344CB8AC3E}">
        <p14:creationId xmlns:p14="http://schemas.microsoft.com/office/powerpoint/2010/main" val="1339739668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>
            <a:extLst>
              <a:ext uri="{FF2B5EF4-FFF2-40B4-BE49-F238E27FC236}">
                <a16:creationId xmlns:a16="http://schemas.microsoft.com/office/drawing/2014/main" id="{9F8E6A6C-0A5B-56E9-6260-72C03F46BEFE}"/>
              </a:ext>
            </a:extLst>
          </p:cNvPr>
          <p:cNvSpPr txBox="1">
            <a:spLocks noChangeArrowheads="1"/>
          </p:cNvSpPr>
          <p:nvPr/>
        </p:nvSpPr>
        <p:spPr>
          <a:xfrm>
            <a:off x="1982787" y="254052"/>
            <a:ext cx="8226425" cy="1143000"/>
          </a:xfrm>
          <a:prstGeom prst="rect">
            <a:avLst/>
          </a:prstGeom>
        </p:spPr>
        <p:txBody>
          <a:bodyPr/>
          <a:lstStyle>
            <a:lvl1pPr algn="l">
              <a:lnSpc>
                <a:spcPct val="90000"/>
              </a:lnSpc>
              <a:spcBef>
                <a:spcPts val="0"/>
              </a:spcBef>
              <a:buNone/>
              <a:defRPr sz="4400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</a:lstStyle>
          <a:p>
            <a:r>
              <a:rPr lang="zh-TW" altLang="en-US" kern="0" dirty="0"/>
              <a:t>程式註解</a:t>
            </a:r>
          </a:p>
        </p:txBody>
      </p:sp>
      <p:sp>
        <p:nvSpPr>
          <p:cNvPr id="3" name="內容版面配置區 1">
            <a:extLst>
              <a:ext uri="{FF2B5EF4-FFF2-40B4-BE49-F238E27FC236}">
                <a16:creationId xmlns:a16="http://schemas.microsoft.com/office/drawing/2014/main" id="{8B62FA87-C3E9-3564-BBB9-B2F1C8C2F3EA}"/>
              </a:ext>
            </a:extLst>
          </p:cNvPr>
          <p:cNvSpPr txBox="1">
            <a:spLocks noChangeArrowheads="1"/>
          </p:cNvSpPr>
          <p:nvPr/>
        </p:nvSpPr>
        <p:spPr>
          <a:xfrm>
            <a:off x="1982786" y="966787"/>
            <a:ext cx="8226425" cy="4924425"/>
          </a:xfrm>
          <a:prstGeom prst="rect">
            <a:avLst/>
          </a:prstGeom>
        </p:spPr>
        <p:txBody>
          <a:bodyPr/>
          <a:lstStyle>
            <a:lvl1pPr marL="228600" indent="-228600" algn="l">
              <a:lnSpc>
                <a:spcPct val="90000"/>
              </a:lnSpc>
              <a:spcBef>
                <a:spcPts val="1000"/>
              </a:spcBef>
              <a:buChar char="•"/>
              <a:defRPr sz="2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685800" indent="-228600" algn="l">
              <a:lnSpc>
                <a:spcPct val="90000"/>
              </a:lnSpc>
              <a:spcBef>
                <a:spcPts val="500"/>
              </a:spcBef>
              <a:buChar char="•"/>
              <a:defRPr sz="24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1143000" indent="-228600" algn="l">
              <a:lnSpc>
                <a:spcPct val="90000"/>
              </a:lnSpc>
              <a:spcBef>
                <a:spcPts val="500"/>
              </a:spcBef>
              <a:buChar char="•"/>
              <a:defRPr sz="20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6002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20574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5146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9718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4290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8862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>
            <a:r>
              <a:rPr lang="zh-TW" altLang="en-US" kern="0" dirty="0"/>
              <a:t>程式註解（</a:t>
            </a:r>
            <a:r>
              <a:rPr lang="en-US" altLang="zh-TW" kern="0" dirty="0"/>
              <a:t>Comments</a:t>
            </a:r>
            <a:r>
              <a:rPr lang="zh-TW" altLang="en-US" kern="0" dirty="0"/>
              <a:t>）是程式中十分重要的部分，可以提供程式內容的進一步說明，良好的註解文字不但能夠了解程式目的，並且在程式維護上，也可以提供更多的資訊。</a:t>
            </a:r>
          </a:p>
          <a:p>
            <a:r>
              <a:rPr lang="zh-TW" altLang="en-US" kern="0" dirty="0"/>
              <a:t>基本上，程式註解是給程式設計者閱讀的內容，</a:t>
            </a:r>
            <a:r>
              <a:rPr lang="en-US" altLang="zh-TW" kern="0" dirty="0"/>
              <a:t>Python</a:t>
            </a:r>
            <a:r>
              <a:rPr lang="zh-TW" altLang="en-US" kern="0" dirty="0"/>
              <a:t>直譯器在直譯原始程式碼時會忽略註解文字和多餘的空白字元。</a:t>
            </a:r>
          </a:p>
          <a:p>
            <a:endParaRPr lang="zh-TW" altLang="en-US" kern="0" dirty="0"/>
          </a:p>
        </p:txBody>
      </p:sp>
      <p:sp>
        <p:nvSpPr>
          <p:cNvPr id="5" name="文字方塊 4">
            <a:extLst>
              <a:ext uri="{FF2B5EF4-FFF2-40B4-BE49-F238E27FC236}">
                <a16:creationId xmlns:a16="http://schemas.microsoft.com/office/drawing/2014/main" id="{9353954A-4FF4-0E00-1592-4569B8DCBA62}"/>
              </a:ext>
            </a:extLst>
          </p:cNvPr>
          <p:cNvSpPr txBox="1"/>
          <p:nvPr/>
        </p:nvSpPr>
        <p:spPr>
          <a:xfrm>
            <a:off x="2222091" y="3920666"/>
            <a:ext cx="6096000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TW" sz="2800" dirty="0"/>
              <a:t>Python</a:t>
            </a:r>
            <a:r>
              <a:rPr lang="zh-TW" altLang="en-US" sz="2800" dirty="0"/>
              <a:t>語言的單行註解</a:t>
            </a:r>
            <a:endParaRPr lang="zh-TW" altLang="en-US" dirty="0"/>
          </a:p>
        </p:txBody>
      </p:sp>
      <p:sp>
        <p:nvSpPr>
          <p:cNvPr id="6" name="內容版面配置區 1">
            <a:extLst>
              <a:ext uri="{FF2B5EF4-FFF2-40B4-BE49-F238E27FC236}">
                <a16:creationId xmlns:a16="http://schemas.microsoft.com/office/drawing/2014/main" id="{6B2BF7A6-4FF9-EB9B-C676-4C87B633B995}"/>
              </a:ext>
            </a:extLst>
          </p:cNvPr>
          <p:cNvSpPr txBox="1">
            <a:spLocks noChangeArrowheads="1"/>
          </p:cNvSpPr>
          <p:nvPr/>
        </p:nvSpPr>
        <p:spPr>
          <a:xfrm>
            <a:off x="1982786" y="4538643"/>
            <a:ext cx="8226425" cy="2165555"/>
          </a:xfrm>
          <a:prstGeom prst="rect">
            <a:avLst/>
          </a:prstGeom>
        </p:spPr>
        <p:txBody>
          <a:bodyPr/>
          <a:lstStyle>
            <a:lvl1pPr marL="228600" indent="-228600" algn="l">
              <a:lnSpc>
                <a:spcPct val="90000"/>
              </a:lnSpc>
              <a:spcBef>
                <a:spcPts val="1000"/>
              </a:spcBef>
              <a:buChar char="•"/>
              <a:defRPr sz="2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685800" indent="-228600" algn="l">
              <a:lnSpc>
                <a:spcPct val="90000"/>
              </a:lnSpc>
              <a:spcBef>
                <a:spcPts val="500"/>
              </a:spcBef>
              <a:buChar char="•"/>
              <a:defRPr sz="24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1143000" indent="-228600" algn="l">
              <a:lnSpc>
                <a:spcPct val="90000"/>
              </a:lnSpc>
              <a:spcBef>
                <a:spcPts val="500"/>
              </a:spcBef>
              <a:buChar char="•"/>
              <a:defRPr sz="20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6002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20574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5146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9718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4290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8862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>
            <a:r>
              <a:rPr lang="en-US" altLang="zh-TW" kern="0" dirty="0"/>
              <a:t>Python</a:t>
            </a:r>
            <a:r>
              <a:rPr lang="zh-TW" altLang="en-US" kern="0" dirty="0"/>
              <a:t>語言的單行註解是在程式中以「</a:t>
            </a:r>
            <a:r>
              <a:rPr lang="en-US" altLang="zh-TW" kern="0" dirty="0"/>
              <a:t>#</a:t>
            </a:r>
            <a:r>
              <a:rPr lang="zh-TW" altLang="en-US" kern="0" dirty="0"/>
              <a:t>」符號開始的行，或程式行位在「</a:t>
            </a:r>
            <a:r>
              <a:rPr lang="en-US" altLang="zh-TW" kern="0" dirty="0"/>
              <a:t>#</a:t>
            </a:r>
            <a:r>
              <a:rPr lang="zh-TW" altLang="en-US" kern="0" dirty="0"/>
              <a:t>」符號後的文字內容都是註解文字，如下所示：</a:t>
            </a:r>
          </a:p>
          <a:p>
            <a:pPr marL="457200" lvl="1" indent="0">
              <a:buFontTx/>
              <a:buNone/>
            </a:pPr>
            <a:r>
              <a:rPr lang="en-US" altLang="zh-TW" kern="0" dirty="0">
                <a:solidFill>
                  <a:srgbClr val="FF3399"/>
                </a:solidFill>
              </a:rPr>
              <a:t># </a:t>
            </a:r>
            <a:r>
              <a:rPr lang="zh-TW" altLang="en-US" kern="0" dirty="0">
                <a:solidFill>
                  <a:srgbClr val="FF3399"/>
                </a:solidFill>
              </a:rPr>
              <a:t>顯示訊息</a:t>
            </a:r>
          </a:p>
          <a:p>
            <a:pPr marL="457200" lvl="1" indent="0">
              <a:buFontTx/>
              <a:buNone/>
            </a:pPr>
            <a:r>
              <a:rPr lang="en-US" altLang="zh-TW" kern="0" dirty="0">
                <a:solidFill>
                  <a:srgbClr val="FF3399"/>
                </a:solidFill>
              </a:rPr>
              <a:t>print("</a:t>
            </a:r>
            <a:r>
              <a:rPr lang="zh-TW" altLang="en-US" kern="0" dirty="0">
                <a:solidFill>
                  <a:srgbClr val="FF3399"/>
                </a:solidFill>
              </a:rPr>
              <a:t>第一個</a:t>
            </a:r>
            <a:r>
              <a:rPr lang="en-US" altLang="zh-TW" kern="0" dirty="0">
                <a:solidFill>
                  <a:srgbClr val="FF3399"/>
                </a:solidFill>
              </a:rPr>
              <a:t>Python</a:t>
            </a:r>
            <a:r>
              <a:rPr lang="zh-TW" altLang="en-US" kern="0" dirty="0">
                <a:solidFill>
                  <a:srgbClr val="FF3399"/>
                </a:solidFill>
              </a:rPr>
              <a:t>程式</a:t>
            </a:r>
            <a:r>
              <a:rPr lang="en-US" altLang="zh-TW" kern="0" dirty="0">
                <a:solidFill>
                  <a:srgbClr val="FF3399"/>
                </a:solidFill>
              </a:rPr>
              <a:t>")   # </a:t>
            </a:r>
            <a:r>
              <a:rPr lang="zh-TW" altLang="en-US" kern="0" dirty="0">
                <a:solidFill>
                  <a:srgbClr val="FF3399"/>
                </a:solidFill>
              </a:rPr>
              <a:t>顯示訊息</a:t>
            </a:r>
          </a:p>
          <a:p>
            <a:endParaRPr lang="zh-TW" altLang="en-US" kern="0" dirty="0"/>
          </a:p>
        </p:txBody>
      </p:sp>
    </p:spTree>
    <p:extLst>
      <p:ext uri="{BB962C8B-B14F-4D97-AF65-F5344CB8AC3E}">
        <p14:creationId xmlns:p14="http://schemas.microsoft.com/office/powerpoint/2010/main" val="1081558487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文字方塊 2">
            <a:extLst>
              <a:ext uri="{FF2B5EF4-FFF2-40B4-BE49-F238E27FC236}">
                <a16:creationId xmlns:a16="http://schemas.microsoft.com/office/drawing/2014/main" id="{02627BB6-E192-5607-C0F4-42105D116300}"/>
              </a:ext>
            </a:extLst>
          </p:cNvPr>
          <p:cNvSpPr txBox="1"/>
          <p:nvPr/>
        </p:nvSpPr>
        <p:spPr>
          <a:xfrm>
            <a:off x="1917291" y="692119"/>
            <a:ext cx="6096000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TW" sz="2800" dirty="0"/>
              <a:t>Python</a:t>
            </a:r>
            <a:r>
              <a:rPr lang="zh-TW" altLang="en-US" sz="2800" dirty="0"/>
              <a:t>語言的多行註解</a:t>
            </a:r>
            <a:endParaRPr lang="zh-TW" altLang="en-US" dirty="0"/>
          </a:p>
        </p:txBody>
      </p:sp>
      <p:sp>
        <p:nvSpPr>
          <p:cNvPr id="4" name="內容版面配置區 1">
            <a:extLst>
              <a:ext uri="{FF2B5EF4-FFF2-40B4-BE49-F238E27FC236}">
                <a16:creationId xmlns:a16="http://schemas.microsoft.com/office/drawing/2014/main" id="{8F113567-72BF-E2B7-BAE6-ED1B37132EFD}"/>
              </a:ext>
            </a:extLst>
          </p:cNvPr>
          <p:cNvSpPr txBox="1">
            <a:spLocks noChangeArrowheads="1"/>
          </p:cNvSpPr>
          <p:nvPr/>
        </p:nvSpPr>
        <p:spPr>
          <a:xfrm>
            <a:off x="1917291" y="1559468"/>
            <a:ext cx="8226425" cy="4924425"/>
          </a:xfrm>
          <a:prstGeom prst="rect">
            <a:avLst/>
          </a:prstGeom>
        </p:spPr>
        <p:txBody>
          <a:bodyPr/>
          <a:lstStyle>
            <a:lvl1pPr marL="228600" indent="-228600" algn="l">
              <a:lnSpc>
                <a:spcPct val="90000"/>
              </a:lnSpc>
              <a:spcBef>
                <a:spcPts val="1000"/>
              </a:spcBef>
              <a:buChar char="•"/>
              <a:defRPr sz="2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685800" indent="-228600" algn="l">
              <a:lnSpc>
                <a:spcPct val="90000"/>
              </a:lnSpc>
              <a:spcBef>
                <a:spcPts val="500"/>
              </a:spcBef>
              <a:buChar char="•"/>
              <a:defRPr sz="24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1143000" indent="-228600" algn="l">
              <a:lnSpc>
                <a:spcPct val="90000"/>
              </a:lnSpc>
              <a:spcBef>
                <a:spcPts val="500"/>
              </a:spcBef>
              <a:buChar char="•"/>
              <a:defRPr sz="20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6002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20574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5146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9718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4290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8862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>
            <a:r>
              <a:rPr lang="en-US" altLang="zh-TW" kern="0" dirty="0"/>
              <a:t>Python</a:t>
            </a:r>
            <a:r>
              <a:rPr lang="zh-TW" altLang="en-US" kern="0" dirty="0"/>
              <a:t>語言的程式註解可以跨過很多行，這是使用「</a:t>
            </a:r>
            <a:r>
              <a:rPr lang="en-US" altLang="zh-TW" kern="0" dirty="0"/>
              <a:t>"""</a:t>
            </a:r>
            <a:r>
              <a:rPr lang="zh-TW" altLang="en-US" kern="0" dirty="0"/>
              <a:t>」和「</a:t>
            </a:r>
            <a:r>
              <a:rPr lang="en-US" altLang="zh-TW" kern="0" dirty="0"/>
              <a:t>"""</a:t>
            </a:r>
            <a:r>
              <a:rPr lang="zh-TW" altLang="en-US" kern="0" dirty="0"/>
              <a:t>」符號（</a:t>
            </a:r>
            <a:r>
              <a:rPr lang="en-US" altLang="zh-TW" kern="0" dirty="0"/>
              <a:t>3</a:t>
            </a:r>
            <a:r>
              <a:rPr lang="zh-TW" altLang="en-US" kern="0" dirty="0"/>
              <a:t>個「</a:t>
            </a:r>
            <a:r>
              <a:rPr lang="en-US" altLang="zh-TW" kern="0" dirty="0"/>
              <a:t>"</a:t>
            </a:r>
            <a:r>
              <a:rPr lang="zh-TW" altLang="en-US" kern="0" dirty="0"/>
              <a:t>」符號）或「</a:t>
            </a:r>
            <a:r>
              <a:rPr lang="en-US" altLang="zh-TW" kern="0" dirty="0"/>
              <a:t>'''</a:t>
            </a:r>
            <a:r>
              <a:rPr lang="zh-TW" altLang="en-US" kern="0" dirty="0"/>
              <a:t>」和「</a:t>
            </a:r>
            <a:r>
              <a:rPr lang="en-US" altLang="zh-TW" kern="0" dirty="0"/>
              <a:t>'''</a:t>
            </a:r>
            <a:r>
              <a:rPr lang="zh-TW" altLang="en-US" kern="0" dirty="0"/>
              <a:t>」符號（</a:t>
            </a:r>
            <a:r>
              <a:rPr lang="en-US" altLang="zh-TW" kern="0" dirty="0"/>
              <a:t>3</a:t>
            </a:r>
            <a:r>
              <a:rPr lang="zh-TW" altLang="en-US" kern="0" dirty="0"/>
              <a:t>個「</a:t>
            </a:r>
            <a:r>
              <a:rPr lang="en-US" altLang="zh-TW" kern="0" dirty="0"/>
              <a:t>'</a:t>
            </a:r>
            <a:r>
              <a:rPr lang="zh-TW" altLang="en-US" kern="0" dirty="0"/>
              <a:t>」符號）括起的文字內容，例如：我們可以在</a:t>
            </a:r>
            <a:r>
              <a:rPr lang="en-US" altLang="zh-TW" kern="0" dirty="0"/>
              <a:t>Python</a:t>
            </a:r>
            <a:r>
              <a:rPr lang="zh-TW" altLang="en-US" kern="0" dirty="0"/>
              <a:t>程式開頭加上程式檔名稱的註解文字，如下所示：</a:t>
            </a:r>
          </a:p>
          <a:p>
            <a:pPr marL="457200" lvl="1" indent="0">
              <a:buFontTx/>
              <a:buNone/>
            </a:pPr>
            <a:r>
              <a:rPr lang="en-US" altLang="zh-TW" kern="0" dirty="0">
                <a:solidFill>
                  <a:srgbClr val="FF3399"/>
                </a:solidFill>
              </a:rPr>
              <a:t>''' Python</a:t>
            </a:r>
            <a:r>
              <a:rPr lang="zh-TW" altLang="en-US" kern="0" dirty="0">
                <a:solidFill>
                  <a:srgbClr val="FF3399"/>
                </a:solidFill>
              </a:rPr>
              <a:t>程式</a:t>
            </a:r>
            <a:r>
              <a:rPr lang="en-US" altLang="zh-TW" kern="0" dirty="0">
                <a:solidFill>
                  <a:srgbClr val="FF3399"/>
                </a:solidFill>
              </a:rPr>
              <a:t>: </a:t>
            </a:r>
          </a:p>
          <a:p>
            <a:pPr marL="457200" lvl="1" indent="0">
              <a:buFontTx/>
              <a:buNone/>
            </a:pPr>
            <a:r>
              <a:rPr lang="en-US" altLang="zh-TW" kern="0" dirty="0">
                <a:solidFill>
                  <a:srgbClr val="FF3399"/>
                </a:solidFill>
              </a:rPr>
              <a:t>  </a:t>
            </a:r>
            <a:r>
              <a:rPr lang="zh-TW" altLang="en-US" kern="0" dirty="0">
                <a:solidFill>
                  <a:srgbClr val="FF3399"/>
                </a:solidFill>
              </a:rPr>
              <a:t>榴名</a:t>
            </a:r>
            <a:r>
              <a:rPr lang="en-US" altLang="zh-TW" kern="0" dirty="0">
                <a:solidFill>
                  <a:srgbClr val="FF3399"/>
                </a:solidFill>
              </a:rPr>
              <a:t>: ch2-6.py '''</a:t>
            </a:r>
          </a:p>
          <a:p>
            <a:r>
              <a:rPr lang="zh-TW" altLang="en-US" kern="0" dirty="0"/>
              <a:t>上述註解文字是位在「</a:t>
            </a:r>
            <a:r>
              <a:rPr lang="en-US" altLang="zh-TW" kern="0" dirty="0"/>
              <a:t>'''</a:t>
            </a:r>
            <a:r>
              <a:rPr lang="zh-TW" altLang="en-US" kern="0" dirty="0"/>
              <a:t>」和「</a:t>
            </a:r>
            <a:r>
              <a:rPr lang="en-US" altLang="zh-TW" kern="0" dirty="0"/>
              <a:t>'''</a:t>
            </a:r>
            <a:r>
              <a:rPr lang="zh-TW" altLang="en-US" kern="0" dirty="0"/>
              <a:t>」符號中的文字內容。使用「</a:t>
            </a:r>
            <a:r>
              <a:rPr lang="en-US" altLang="zh-TW" kern="0" dirty="0"/>
              <a:t>"""</a:t>
            </a:r>
            <a:r>
              <a:rPr lang="zh-TW" altLang="en-US" kern="0" dirty="0"/>
              <a:t>」符號的多行註解，如下所示：</a:t>
            </a:r>
          </a:p>
          <a:p>
            <a:pPr marL="457200" lvl="1" indent="0">
              <a:buFontTx/>
              <a:buNone/>
            </a:pPr>
            <a:r>
              <a:rPr lang="en-US" altLang="zh-TW" kern="0" dirty="0">
                <a:solidFill>
                  <a:srgbClr val="FF3399"/>
                </a:solidFill>
              </a:rPr>
              <a:t>""" --------------------------- </a:t>
            </a:r>
          </a:p>
          <a:p>
            <a:pPr marL="457200" lvl="1" indent="0">
              <a:buFontTx/>
              <a:buNone/>
            </a:pPr>
            <a:r>
              <a:rPr lang="en-US" altLang="zh-TW" kern="0" dirty="0">
                <a:solidFill>
                  <a:srgbClr val="FF3399"/>
                </a:solidFill>
              </a:rPr>
              <a:t>  </a:t>
            </a:r>
            <a:r>
              <a:rPr lang="zh-TW" altLang="en-US" kern="0" dirty="0">
                <a:solidFill>
                  <a:srgbClr val="FF3399"/>
                </a:solidFill>
              </a:rPr>
              <a:t>程式範例</a:t>
            </a:r>
            <a:r>
              <a:rPr lang="en-US" altLang="zh-TW" kern="0" dirty="0">
                <a:solidFill>
                  <a:srgbClr val="FF3399"/>
                </a:solidFill>
              </a:rPr>
              <a:t>: ch2-6.py</a:t>
            </a:r>
          </a:p>
          <a:p>
            <a:pPr marL="457200" lvl="1" indent="0">
              <a:buFontTx/>
              <a:buNone/>
            </a:pPr>
            <a:r>
              <a:rPr lang="en-US" altLang="zh-TW" kern="0" dirty="0">
                <a:solidFill>
                  <a:srgbClr val="FF3399"/>
                </a:solidFill>
              </a:rPr>
              <a:t>------------------------------ """</a:t>
            </a:r>
          </a:p>
          <a:p>
            <a:endParaRPr lang="zh-TW" altLang="en-US" kern="0" dirty="0"/>
          </a:p>
        </p:txBody>
      </p:sp>
    </p:spTree>
    <p:extLst>
      <p:ext uri="{BB962C8B-B14F-4D97-AF65-F5344CB8AC3E}">
        <p14:creationId xmlns:p14="http://schemas.microsoft.com/office/powerpoint/2010/main" val="2080129282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>
            <a:extLst>
              <a:ext uri="{FF2B5EF4-FFF2-40B4-BE49-F238E27FC236}">
                <a16:creationId xmlns:a16="http://schemas.microsoft.com/office/drawing/2014/main" id="{BBEF4E8A-08E2-2746-7835-9C04C9D7FC7A}"/>
              </a:ext>
            </a:extLst>
          </p:cNvPr>
          <p:cNvSpPr txBox="1">
            <a:spLocks noChangeArrowheads="1"/>
          </p:cNvSpPr>
          <p:nvPr/>
        </p:nvSpPr>
        <p:spPr>
          <a:xfrm>
            <a:off x="1982787" y="471283"/>
            <a:ext cx="8226425" cy="1143000"/>
          </a:xfrm>
          <a:prstGeom prst="rect">
            <a:avLst/>
          </a:prstGeom>
        </p:spPr>
        <p:txBody>
          <a:bodyPr/>
          <a:lstStyle>
            <a:lvl1pPr algn="l">
              <a:lnSpc>
                <a:spcPct val="90000"/>
              </a:lnSpc>
              <a:spcBef>
                <a:spcPts val="0"/>
              </a:spcBef>
              <a:buNone/>
              <a:defRPr sz="4400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</a:lstStyle>
          <a:p>
            <a:r>
              <a:rPr lang="zh-TW" altLang="en-US" kern="0" dirty="0"/>
              <a:t>太長的程式碼</a:t>
            </a:r>
            <a:endParaRPr lang="en-US" altLang="zh-TW" sz="2800" kern="0" dirty="0"/>
          </a:p>
        </p:txBody>
      </p:sp>
      <p:sp>
        <p:nvSpPr>
          <p:cNvPr id="3" name="Rectangle 3">
            <a:extLst>
              <a:ext uri="{FF2B5EF4-FFF2-40B4-BE49-F238E27FC236}">
                <a16:creationId xmlns:a16="http://schemas.microsoft.com/office/drawing/2014/main" id="{2A11EE8A-96EE-3A83-0D78-E7A091C5FD13}"/>
              </a:ext>
            </a:extLst>
          </p:cNvPr>
          <p:cNvSpPr txBox="1">
            <a:spLocks noChangeArrowheads="1"/>
          </p:cNvSpPr>
          <p:nvPr/>
        </p:nvSpPr>
        <p:spPr>
          <a:xfrm>
            <a:off x="1982787" y="1796845"/>
            <a:ext cx="8226425" cy="4924425"/>
          </a:xfrm>
          <a:prstGeom prst="rect">
            <a:avLst/>
          </a:prstGeom>
        </p:spPr>
        <p:txBody>
          <a:bodyPr/>
          <a:lstStyle>
            <a:lvl1pPr marL="228600" indent="-228600" algn="l">
              <a:lnSpc>
                <a:spcPct val="90000"/>
              </a:lnSpc>
              <a:spcBef>
                <a:spcPts val="1000"/>
              </a:spcBef>
              <a:buChar char="•"/>
              <a:defRPr sz="2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685800" indent="-228600" algn="l">
              <a:lnSpc>
                <a:spcPct val="90000"/>
              </a:lnSpc>
              <a:spcBef>
                <a:spcPts val="500"/>
              </a:spcBef>
              <a:buChar char="•"/>
              <a:defRPr sz="24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1143000" indent="-228600" algn="l">
              <a:lnSpc>
                <a:spcPct val="90000"/>
              </a:lnSpc>
              <a:spcBef>
                <a:spcPts val="500"/>
              </a:spcBef>
              <a:buChar char="•"/>
              <a:defRPr sz="20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6002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20574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5146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9718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4290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8862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>
            <a:r>
              <a:rPr lang="en-US" altLang="zh-TW" kern="0"/>
              <a:t>Python</a:t>
            </a:r>
            <a:r>
              <a:rPr lang="zh-TW" altLang="en-US" kern="0"/>
              <a:t>語言的程式碼行如果太長，基於程式編排的需求，太長的程式碼並不容易閱讀，我們可以分割成多行來編排。請在程式碼該行的最後加上「</a:t>
            </a:r>
            <a:r>
              <a:rPr lang="en-US" altLang="zh-TW" kern="0"/>
              <a:t>\</a:t>
            </a:r>
            <a:r>
              <a:rPr lang="zh-TW" altLang="en-US" kern="0"/>
              <a:t>」符號（</a:t>
            </a:r>
            <a:r>
              <a:rPr lang="en-US" altLang="zh-TW" kern="0"/>
              <a:t>Line Splicing</a:t>
            </a:r>
            <a:r>
              <a:rPr lang="zh-TW" altLang="en-US" kern="0"/>
              <a:t>），將程式碼分成數行來編排，如下所示：</a:t>
            </a:r>
          </a:p>
          <a:p>
            <a:pPr marL="457200" lvl="1" indent="0">
              <a:buFontTx/>
              <a:buNone/>
            </a:pPr>
            <a:r>
              <a:rPr lang="en-US" altLang="zh-TW" kern="0">
                <a:solidFill>
                  <a:srgbClr val="FF3399"/>
                </a:solidFill>
              </a:rPr>
              <a:t>sum = 1 + 2 + \</a:t>
            </a:r>
          </a:p>
          <a:p>
            <a:pPr marL="457200" lvl="1" indent="0">
              <a:buFontTx/>
              <a:buNone/>
            </a:pPr>
            <a:r>
              <a:rPr lang="en-US" altLang="zh-TW" kern="0">
                <a:solidFill>
                  <a:srgbClr val="FF3399"/>
                </a:solidFill>
              </a:rPr>
              <a:t>      3 + 4 + \</a:t>
            </a:r>
          </a:p>
          <a:p>
            <a:pPr marL="457200" lvl="1" indent="0">
              <a:buFontTx/>
              <a:buNone/>
            </a:pPr>
            <a:r>
              <a:rPr lang="en-US" altLang="zh-TW" kern="0">
                <a:solidFill>
                  <a:srgbClr val="FF3399"/>
                </a:solidFill>
              </a:rPr>
              <a:t>      5</a:t>
            </a:r>
            <a:endParaRPr lang="en-US" altLang="zh-TW" kern="0" dirty="0">
              <a:solidFill>
                <a:srgbClr val="FF3399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036444012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2354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矩形 4">
            <a:extLst>
              <a:ext uri="{FF2B5EF4-FFF2-40B4-BE49-F238E27FC236}">
                <a16:creationId xmlns:a16="http://schemas.microsoft.com/office/drawing/2014/main" id="{A59A9355-011F-4BCD-B7EC-5CEF608827CD}"/>
              </a:ext>
            </a:extLst>
          </p:cNvPr>
          <p:cNvSpPr>
            <a:spLocks noGrp="1"/>
          </p:cNvSpPr>
          <p:nvPr/>
        </p:nvSpPr>
        <p:spPr>
          <a:xfrm>
            <a:off x="609600" y="304800"/>
            <a:ext cx="10763250" cy="3810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650" b="1">
                <a:solidFill>
                  <a:srgbClr val="BFD5DF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650" b="1">
                <a:solidFill>
                  <a:srgbClr val="BFD5DF"/>
                </a:solidFill>
                <a:latin typeface="Microsoft JhengHei"/>
                <a:ea typeface="Microsoft JhengHei"/>
                <a:cs typeface="Microsoft JhengHei"/>
              </a:rPr>
              <a:t>W1-05   060–070 分鐘</a:t>
            </a:r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B3226A36-2703-4741-B9F9-410711643081}"/>
              </a:ext>
            </a:extLst>
          </p:cNvPr>
          <p:cNvSpPr>
            <a:spLocks noGrp="1"/>
          </p:cNvSpPr>
          <p:nvPr/>
        </p:nvSpPr>
        <p:spPr>
          <a:xfrm>
            <a:off x="609600" y="942975"/>
            <a:ext cx="10858500" cy="85725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3450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3450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rPr>
              <a:t>休息與存檔</a:t>
            </a: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26CB2C6F-1983-4B67-9055-D9A2D93D441F}"/>
              </a:ext>
            </a:extLst>
          </p:cNvPr>
          <p:cNvSpPr>
            <a:spLocks noGrp="1"/>
          </p:cNvSpPr>
          <p:nvPr/>
        </p:nvSpPr>
        <p:spPr>
          <a:xfrm>
            <a:off x="647700" y="2619375"/>
            <a:ext cx="10477500" cy="104775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4800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4800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rPr>
              <a:t>休息 10 分鐘</a:t>
            </a:r>
          </a:p>
        </p:txBody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A0C60B56-AE55-4658-8FA9-4F6AB4FF9D65}"/>
              </a:ext>
            </a:extLst>
          </p:cNvPr>
          <p:cNvSpPr>
            <a:spLocks noGrp="1"/>
          </p:cNvSpPr>
          <p:nvPr/>
        </p:nvSpPr>
        <p:spPr>
          <a:xfrm>
            <a:off x="685800" y="4286250"/>
            <a:ext cx="10001250" cy="66675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2400" b="0">
                <a:solidFill>
                  <a:srgbClr val="BFD5DF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400" b="0">
                <a:solidFill>
                  <a:srgbClr val="BFD5DF"/>
                </a:solidFill>
                <a:latin typeface="Microsoft JhengHei"/>
                <a:ea typeface="Microsoft JhengHei"/>
                <a:cs typeface="Microsoft JhengHei"/>
              </a:rPr>
              <a:t>先儲存，再離開座位</a:t>
            </a:r>
          </a:p>
        </p:txBody>
      </p:sp>
    </p:spTree>
    <p:extLst>
      <p:ext uri="{BB962C8B-B14F-4D97-AF65-F5344CB8AC3E}">
        <p14:creationId xmlns:p14="http://schemas.microsoft.com/office/powerpoint/2010/main" val="1608500292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232466204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2" name="Rectangle 2">
            <a:extLst>
              <a:ext uri="{FF2B5EF4-FFF2-40B4-BE49-F238E27FC236}">
                <a16:creationId xmlns:a16="http://schemas.microsoft.com/office/drawing/2014/main" id="{12204CCA-9B04-9B0A-4827-03D0A4A3A667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zh-TW" altLang="en-US" dirty="0">
                <a:solidFill>
                  <a:schemeClr val="hlink"/>
                </a:solidFill>
              </a:rPr>
              <a:t>第</a:t>
            </a:r>
            <a:r>
              <a:rPr lang="en-US" altLang="zh-TW" dirty="0">
                <a:solidFill>
                  <a:schemeClr val="hlink"/>
                </a:solidFill>
              </a:rPr>
              <a:t>3</a:t>
            </a:r>
            <a:r>
              <a:rPr lang="zh-TW" altLang="en-US" dirty="0">
                <a:solidFill>
                  <a:schemeClr val="hlink"/>
                </a:solidFill>
              </a:rPr>
              <a:t>章 變數、運算式與運算子</a:t>
            </a:r>
          </a:p>
        </p:txBody>
      </p:sp>
      <p:sp>
        <p:nvSpPr>
          <p:cNvPr id="5123" name="Rectangle 4">
            <a:extLst>
              <a:ext uri="{FF2B5EF4-FFF2-40B4-BE49-F238E27FC236}">
                <a16:creationId xmlns:a16="http://schemas.microsoft.com/office/drawing/2014/main" id="{884516E4-2C72-D79F-6E97-5655D15A7BA7}"/>
              </a:ext>
            </a:extLst>
          </p:cNvPr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pPr eaLnBrk="1" hangingPunct="1"/>
            <a:r>
              <a:rPr lang="en-US" altLang="zh-TW">
                <a:hlinkClick r:id="rId2" action="ppaction://hlinksldjump"/>
              </a:rPr>
              <a:t>3-1 </a:t>
            </a:r>
            <a:r>
              <a:rPr lang="zh-TW" altLang="en-US">
                <a:hlinkClick r:id="rId2" action="ppaction://hlinksldjump"/>
              </a:rPr>
              <a:t>程式語言的變數</a:t>
            </a:r>
            <a:endParaRPr lang="zh-TW" altLang="en-US"/>
          </a:p>
          <a:p>
            <a:pPr eaLnBrk="1" hangingPunct="1"/>
            <a:r>
              <a:rPr lang="en-US" altLang="zh-TW">
                <a:hlinkClick r:id="rId3" action="ppaction://hlinksldjump"/>
              </a:rPr>
              <a:t>3-2 </a:t>
            </a:r>
            <a:r>
              <a:rPr lang="zh-TW" altLang="en-US">
                <a:hlinkClick r:id="rId3" action="ppaction://hlinksldjump"/>
              </a:rPr>
              <a:t>在程式使用變數</a:t>
            </a:r>
            <a:endParaRPr lang="zh-TW" altLang="en-US"/>
          </a:p>
          <a:p>
            <a:pPr eaLnBrk="1" hangingPunct="1"/>
            <a:r>
              <a:rPr lang="en-US" altLang="zh-TW">
                <a:hlinkClick r:id="rId4" action="ppaction://hlinksldjump"/>
              </a:rPr>
              <a:t>3-3 </a:t>
            </a:r>
            <a:r>
              <a:rPr lang="zh-TW" altLang="en-US">
                <a:hlinkClick r:id="rId4" action="ppaction://hlinksldjump"/>
              </a:rPr>
              <a:t>變數的資料型態和型態轉換函數</a:t>
            </a:r>
            <a:endParaRPr lang="zh-TW" altLang="en-US"/>
          </a:p>
          <a:p>
            <a:pPr eaLnBrk="1" hangingPunct="1"/>
            <a:r>
              <a:rPr lang="en-US" altLang="zh-TW">
                <a:hlinkClick r:id="rId5" action="ppaction://hlinksldjump"/>
              </a:rPr>
              <a:t>3-4 </a:t>
            </a:r>
            <a:r>
              <a:rPr lang="zh-TW" altLang="en-US">
                <a:hlinkClick r:id="rId5" action="ppaction://hlinksldjump"/>
              </a:rPr>
              <a:t>讓使用者輸入變數值</a:t>
            </a:r>
            <a:endParaRPr lang="zh-TW" altLang="en-US"/>
          </a:p>
          <a:p>
            <a:pPr eaLnBrk="1" hangingPunct="1"/>
            <a:r>
              <a:rPr lang="en-US" altLang="zh-TW">
                <a:hlinkClick r:id="rId6" action="ppaction://hlinksldjump"/>
              </a:rPr>
              <a:t>3-5 </a:t>
            </a:r>
            <a:r>
              <a:rPr lang="zh-TW" altLang="en-US">
                <a:hlinkClick r:id="rId6" action="ppaction://hlinksldjump"/>
              </a:rPr>
              <a:t>認識運算式和運算子</a:t>
            </a:r>
            <a:endParaRPr lang="zh-TW" altLang="en-US"/>
          </a:p>
          <a:p>
            <a:pPr eaLnBrk="1" hangingPunct="1"/>
            <a:r>
              <a:rPr lang="en-US" altLang="zh-TW">
                <a:hlinkClick r:id="rId7" action="ppaction://hlinksldjump"/>
              </a:rPr>
              <a:t>3-6 </a:t>
            </a:r>
            <a:r>
              <a:rPr lang="zh-TW" altLang="en-US">
                <a:hlinkClick r:id="rId7" action="ppaction://hlinksldjump"/>
              </a:rPr>
              <a:t>在程式使用運算子</a:t>
            </a:r>
            <a:endParaRPr lang="zh-TW" altLang="en-US"/>
          </a:p>
          <a:p>
            <a:pPr eaLnBrk="1" hangingPunct="1"/>
            <a:endParaRPr lang="zh-TW" altLang="en-US"/>
          </a:p>
          <a:p>
            <a:pPr eaLnBrk="1" hangingPunct="1"/>
            <a:endParaRPr lang="en-US" altLang="zh-TW"/>
          </a:p>
          <a:p>
            <a:pPr eaLnBrk="1" hangingPunct="1"/>
            <a:endParaRPr lang="zh-TW" altLang="en-US"/>
          </a:p>
        </p:txBody>
      </p:sp>
      <p:pic>
        <p:nvPicPr>
          <p:cNvPr id="5124" name="Picture 3" descr="Gif07">
            <a:extLst>
              <a:ext uri="{FF2B5EF4-FFF2-40B4-BE49-F238E27FC236}">
                <a16:creationId xmlns:a16="http://schemas.microsoft.com/office/drawing/2014/main" id="{88555153-73B9-A853-1ED6-3E3ED100FE43}"/>
              </a:ext>
            </a:extLst>
          </p:cNvPr>
          <p:cNvPicPr>
            <a:picLocks noChangeAspect="1" noChangeArrowheads="1" noCrop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248526" y="5013325"/>
            <a:ext cx="2735263" cy="10937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6" name="Rectangle 2">
            <a:extLst>
              <a:ext uri="{FF2B5EF4-FFF2-40B4-BE49-F238E27FC236}">
                <a16:creationId xmlns:a16="http://schemas.microsoft.com/office/drawing/2014/main" id="{95A10452-1988-7B63-8BF2-180E3F040AFE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zh-TW">
                <a:solidFill>
                  <a:srgbClr val="0000FF"/>
                </a:solidFill>
              </a:rPr>
              <a:t>3-1 </a:t>
            </a:r>
            <a:r>
              <a:rPr lang="zh-TW" altLang="en-US">
                <a:solidFill>
                  <a:srgbClr val="0000FF"/>
                </a:solidFill>
              </a:rPr>
              <a:t>程式語言的變數</a:t>
            </a:r>
            <a:endParaRPr lang="zh-TW" altLang="en-US"/>
          </a:p>
        </p:txBody>
      </p:sp>
      <p:sp>
        <p:nvSpPr>
          <p:cNvPr id="6147" name="Rectangle 4">
            <a:extLst>
              <a:ext uri="{FF2B5EF4-FFF2-40B4-BE49-F238E27FC236}">
                <a16:creationId xmlns:a16="http://schemas.microsoft.com/office/drawing/2014/main" id="{0EFEF654-55BC-AF1D-0396-69B6EF5E2065}"/>
              </a:ext>
            </a:extLst>
          </p:cNvPr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pPr eaLnBrk="1" hangingPunct="1"/>
            <a:r>
              <a:rPr lang="en-US" altLang="zh-TW">
                <a:solidFill>
                  <a:srgbClr val="0000FF"/>
                </a:solidFill>
              </a:rPr>
              <a:t>3-1-1 </a:t>
            </a:r>
            <a:r>
              <a:rPr lang="zh-TW" altLang="en-US">
                <a:solidFill>
                  <a:srgbClr val="0000FF"/>
                </a:solidFill>
              </a:rPr>
              <a:t>認識變數</a:t>
            </a:r>
            <a:endParaRPr lang="en-US" altLang="zh-TW">
              <a:solidFill>
                <a:srgbClr val="0000FF"/>
              </a:solidFill>
            </a:endParaRPr>
          </a:p>
          <a:p>
            <a:pPr eaLnBrk="1" hangingPunct="1"/>
            <a:r>
              <a:rPr lang="en-US" altLang="zh-TW">
                <a:solidFill>
                  <a:srgbClr val="0000FF"/>
                </a:solidFill>
              </a:rPr>
              <a:t>3-1-2 </a:t>
            </a:r>
            <a:r>
              <a:rPr lang="zh-TW" altLang="en-US">
                <a:solidFill>
                  <a:srgbClr val="0000FF"/>
                </a:solidFill>
              </a:rPr>
              <a:t>使用變數前的準備工作</a:t>
            </a:r>
            <a:endParaRPr lang="en-US" altLang="zh-TW">
              <a:solidFill>
                <a:srgbClr val="0000FF"/>
              </a:solidFill>
            </a:endParaRPr>
          </a:p>
          <a:p>
            <a:pPr eaLnBrk="1" hangingPunct="1"/>
            <a:r>
              <a:rPr lang="en-US" altLang="zh-TW">
                <a:solidFill>
                  <a:srgbClr val="0000FF"/>
                </a:solidFill>
              </a:rPr>
              <a:t>3-1-3 Python</a:t>
            </a:r>
            <a:r>
              <a:rPr lang="zh-TW" altLang="en-US">
                <a:solidFill>
                  <a:srgbClr val="0000FF"/>
                </a:solidFill>
              </a:rPr>
              <a:t>語言的命名規則</a:t>
            </a:r>
          </a:p>
        </p:txBody>
      </p:sp>
      <p:pic>
        <p:nvPicPr>
          <p:cNvPr id="6148" name="Picture 3" descr="note">
            <a:extLst>
              <a:ext uri="{FF2B5EF4-FFF2-40B4-BE49-F238E27FC236}">
                <a16:creationId xmlns:a16="http://schemas.microsoft.com/office/drawing/2014/main" id="{B781CD65-593F-F53F-9379-475DF8773B3E}"/>
              </a:ext>
            </a:extLst>
          </p:cNvPr>
          <p:cNvPicPr>
            <a:picLocks noChangeAspect="1" noChangeArrowheads="1" noCrop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651876" y="4221164"/>
            <a:ext cx="1425575" cy="15843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0" name="Rectangle 2">
            <a:extLst>
              <a:ext uri="{FF2B5EF4-FFF2-40B4-BE49-F238E27FC236}">
                <a16:creationId xmlns:a16="http://schemas.microsoft.com/office/drawing/2014/main" id="{0F6BF511-A225-A4B3-F051-1E84A265859E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zh-TW"/>
              <a:t>3-1-1 </a:t>
            </a:r>
            <a:r>
              <a:rPr lang="zh-TW" altLang="en-US"/>
              <a:t>認識變數</a:t>
            </a:r>
            <a:r>
              <a:rPr lang="en-US" altLang="en-US"/>
              <a:t>–</a:t>
            </a:r>
            <a:r>
              <a:rPr lang="en-US" altLang="zh-TW"/>
              <a:t> </a:t>
            </a:r>
            <a:r>
              <a:rPr lang="zh-TW" altLang="en-US"/>
              <a:t>說明</a:t>
            </a:r>
          </a:p>
        </p:txBody>
      </p:sp>
      <p:sp>
        <p:nvSpPr>
          <p:cNvPr id="7171" name="Rectangle 6">
            <a:extLst>
              <a:ext uri="{FF2B5EF4-FFF2-40B4-BE49-F238E27FC236}">
                <a16:creationId xmlns:a16="http://schemas.microsoft.com/office/drawing/2014/main" id="{11B1CBE5-643D-22C7-AF90-989B6636242F}"/>
              </a:ext>
            </a:extLst>
          </p:cNvPr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pPr eaLnBrk="1" hangingPunct="1"/>
            <a:r>
              <a:rPr lang="zh-TW" altLang="en-US"/>
              <a:t>電腦程式在執行時常常需要記住一些資料，所以在程式語言會提供一個地方，用來記得執行時的一些資料，這個地方就是「變數」（</a:t>
            </a:r>
            <a:r>
              <a:rPr lang="en-US" altLang="zh-TW"/>
              <a:t>variables</a:t>
            </a:r>
            <a:r>
              <a:rPr lang="zh-TW" altLang="en-US"/>
              <a:t>）。</a:t>
            </a:r>
          </a:p>
          <a:p>
            <a:pPr eaLnBrk="1" hangingPunct="1"/>
            <a:r>
              <a:rPr lang="zh-TW" altLang="en-US"/>
              <a:t>例如：去商店買東西時，為了比較價格，我們會記下商品價格，同樣的，程式是使用變數儲存這些執行時需記住的資料，也就是將這些值儲存至變數，當變數擁有儲存值後，就可以在需要的地方取出變數值，例如：執行數學運算和比較等。</a:t>
            </a: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4" name="Rectangle 2">
            <a:extLst>
              <a:ext uri="{FF2B5EF4-FFF2-40B4-BE49-F238E27FC236}">
                <a16:creationId xmlns:a16="http://schemas.microsoft.com/office/drawing/2014/main" id="{EAC2B46D-05BD-377D-DFC4-E12B398E09D4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zh-TW"/>
              <a:t>3-1-1 </a:t>
            </a:r>
            <a:r>
              <a:rPr lang="zh-TW" altLang="en-US"/>
              <a:t>認識變數</a:t>
            </a:r>
            <a:r>
              <a:rPr lang="en-US" altLang="en-US"/>
              <a:t>–</a:t>
            </a:r>
            <a:r>
              <a:rPr lang="en-US" altLang="zh-TW"/>
              <a:t> </a:t>
            </a:r>
            <a:r>
              <a:rPr lang="zh-TW" altLang="en-US"/>
              <a:t>變數是儲存在哪裡</a:t>
            </a:r>
          </a:p>
        </p:txBody>
      </p:sp>
      <p:sp>
        <p:nvSpPr>
          <p:cNvPr id="8195" name="Rectangle 3">
            <a:extLst>
              <a:ext uri="{FF2B5EF4-FFF2-40B4-BE49-F238E27FC236}">
                <a16:creationId xmlns:a16="http://schemas.microsoft.com/office/drawing/2014/main" id="{C8DFE2E6-D84C-558A-A322-A69C79CD4EB1}"/>
              </a:ext>
            </a:extLst>
          </p:cNvPr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pPr eaLnBrk="1" hangingPunct="1"/>
            <a:r>
              <a:rPr lang="zh-TW" altLang="en-US"/>
              <a:t>問題是，這些需記住的資料是儲存在哪裡，答案就是電腦的「記憶體」（</a:t>
            </a:r>
            <a:r>
              <a:rPr lang="en-US" altLang="zh-TW"/>
              <a:t>memory</a:t>
            </a:r>
            <a:r>
              <a:rPr lang="zh-TW" altLang="en-US"/>
              <a:t>），變數是一個名稱，用來代表電腦記憶體空間的一個位址，如下圖所示：</a:t>
            </a:r>
          </a:p>
        </p:txBody>
      </p:sp>
      <p:pic>
        <p:nvPicPr>
          <p:cNvPr id="8196" name="Picture 4" descr="Ch03-1-01">
            <a:extLst>
              <a:ext uri="{FF2B5EF4-FFF2-40B4-BE49-F238E27FC236}">
                <a16:creationId xmlns:a16="http://schemas.microsoft.com/office/drawing/2014/main" id="{AE1A3005-9CC1-0998-0B9B-18E73121E04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782889" y="3068639"/>
            <a:ext cx="6624637" cy="28146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18" name="Rectangle 2">
            <a:extLst>
              <a:ext uri="{FF2B5EF4-FFF2-40B4-BE49-F238E27FC236}">
                <a16:creationId xmlns:a16="http://schemas.microsoft.com/office/drawing/2014/main" id="{C4757721-3CA3-265B-3063-A6CF59B5C826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zh-TW"/>
              <a:t>3-1-1 </a:t>
            </a:r>
            <a:r>
              <a:rPr lang="zh-TW" altLang="en-US"/>
              <a:t>認識變數</a:t>
            </a:r>
            <a:r>
              <a:rPr lang="en-US" altLang="en-US"/>
              <a:t>–</a:t>
            </a:r>
            <a:r>
              <a:rPr lang="en-US" altLang="zh-TW"/>
              <a:t> </a:t>
            </a:r>
            <a:r>
              <a:rPr lang="zh-TW" altLang="en-US"/>
              <a:t>變數的基本操作</a:t>
            </a:r>
          </a:p>
        </p:txBody>
      </p:sp>
      <p:sp>
        <p:nvSpPr>
          <p:cNvPr id="9219" name="Rectangle 3">
            <a:extLst>
              <a:ext uri="{FF2B5EF4-FFF2-40B4-BE49-F238E27FC236}">
                <a16:creationId xmlns:a16="http://schemas.microsoft.com/office/drawing/2014/main" id="{FFA95E81-7AAC-6B95-983F-029019E81C08}"/>
              </a:ext>
            </a:extLst>
          </p:cNvPr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pPr eaLnBrk="1" hangingPunct="1"/>
            <a:r>
              <a:rPr lang="zh-TW" altLang="en-US"/>
              <a:t>變數只有兩種操作，如下所示：</a:t>
            </a:r>
          </a:p>
          <a:p>
            <a:pPr lvl="1" eaLnBrk="1" hangingPunct="1"/>
            <a:r>
              <a:rPr lang="zh-TW" altLang="en-US" b="1"/>
              <a:t>在變數存入新值：</a:t>
            </a:r>
            <a:r>
              <a:rPr lang="zh-TW" altLang="en-US"/>
              <a:t>指定變數成為一個全新值，我們並不能如同盒子一般，只取出部分金額。因為變數只能指定成一個新值，如果需要減掉一個值，其操作是先讀取變數值，在減掉後，再將變數指定成最後運算結果的新值。</a:t>
            </a:r>
          </a:p>
          <a:p>
            <a:pPr lvl="1" eaLnBrk="1" hangingPunct="1"/>
            <a:r>
              <a:rPr lang="zh-TW" altLang="en-US" b="1"/>
              <a:t>讀取變數值：</a:t>
            </a:r>
            <a:r>
              <a:rPr lang="zh-TW" altLang="en-US"/>
              <a:t>取得目前變數的值，讀取變數值，並不會更改變數目前儲存的值。</a:t>
            </a:r>
          </a:p>
        </p:txBody>
      </p:sp>
      <p:pic>
        <p:nvPicPr>
          <p:cNvPr id="9220" name="Picture 4" descr="Ch03-1-02">
            <a:extLst>
              <a:ext uri="{FF2B5EF4-FFF2-40B4-BE49-F238E27FC236}">
                <a16:creationId xmlns:a16="http://schemas.microsoft.com/office/drawing/2014/main" id="{4706B561-5C10-137B-8B39-B269D82BDD7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032626" y="4652964"/>
            <a:ext cx="2447925" cy="19510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2" name="Rectangle 2">
            <a:extLst>
              <a:ext uri="{FF2B5EF4-FFF2-40B4-BE49-F238E27FC236}">
                <a16:creationId xmlns:a16="http://schemas.microsoft.com/office/drawing/2014/main" id="{5B606B54-57EB-70BA-AE48-FB3579C49B78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zh-TW"/>
              <a:t>3-1-2 </a:t>
            </a:r>
            <a:r>
              <a:rPr lang="zh-TW" altLang="en-US"/>
              <a:t>使用變數前的準備工作</a:t>
            </a:r>
            <a:r>
              <a:rPr lang="en-US" altLang="zh-TW"/>
              <a:t>– </a:t>
            </a:r>
            <a:r>
              <a:rPr lang="zh-TW" altLang="en-US"/>
              <a:t>說明</a:t>
            </a:r>
          </a:p>
        </p:txBody>
      </p:sp>
      <p:sp>
        <p:nvSpPr>
          <p:cNvPr id="10243" name="Rectangle 3">
            <a:extLst>
              <a:ext uri="{FF2B5EF4-FFF2-40B4-BE49-F238E27FC236}">
                <a16:creationId xmlns:a16="http://schemas.microsoft.com/office/drawing/2014/main" id="{771BBF29-E83B-CC3F-AF3F-CF672F0A69EE}"/>
              </a:ext>
            </a:extLst>
          </p:cNvPr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pPr eaLnBrk="1" hangingPunct="1"/>
            <a:r>
              <a:rPr lang="zh-TW" altLang="en-US"/>
              <a:t>程式語言的變數如同是一個擁有名稱的盒子，能夠暫時儲存程式執行時所需的資料，也就是記住這些資料。方形和圓柱形的兩個盒子，盒子名稱是變數名稱</a:t>
            </a:r>
            <a:r>
              <a:rPr lang="en-US" altLang="zh-TW"/>
              <a:t>height</a:t>
            </a:r>
            <a:r>
              <a:rPr lang="zh-TW" altLang="en-US"/>
              <a:t>和</a:t>
            </a:r>
            <a:r>
              <a:rPr lang="en-US" altLang="zh-TW"/>
              <a:t>name</a:t>
            </a:r>
            <a:r>
              <a:rPr lang="zh-TW" altLang="en-US"/>
              <a:t>，在盒子儲存的資料</a:t>
            </a:r>
            <a:r>
              <a:rPr lang="en-US" altLang="zh-TW"/>
              <a:t>100</a:t>
            </a:r>
            <a:r>
              <a:rPr lang="zh-TW" altLang="en-US"/>
              <a:t>和</a:t>
            </a:r>
            <a:r>
              <a:rPr lang="en-US" altLang="zh-TW"/>
              <a:t>'A'</a:t>
            </a:r>
            <a:r>
              <a:rPr lang="zh-TW" altLang="en-US"/>
              <a:t>是常數值。現在回到盒子本身，盒子形狀和尺寸決定儲存的資料種類，對比程式語言，形狀和尺寸是變數的「資料型態」（</a:t>
            </a:r>
            <a:r>
              <a:rPr lang="en-US" altLang="zh-TW"/>
              <a:t>data types</a:t>
            </a:r>
            <a:r>
              <a:rPr lang="zh-TW" altLang="en-US"/>
              <a:t>），如下圖所示：</a:t>
            </a:r>
          </a:p>
          <a:p>
            <a:pPr eaLnBrk="1" hangingPunct="1"/>
            <a:endParaRPr lang="zh-TW" altLang="en-US"/>
          </a:p>
        </p:txBody>
      </p:sp>
      <p:pic>
        <p:nvPicPr>
          <p:cNvPr id="10244" name="Picture 4" descr="Ch03-2-1-01">
            <a:extLst>
              <a:ext uri="{FF2B5EF4-FFF2-40B4-BE49-F238E27FC236}">
                <a16:creationId xmlns:a16="http://schemas.microsoft.com/office/drawing/2014/main" id="{AAA5DF63-16C7-BE59-BB04-3C2CBDD1D81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648076" y="4437064"/>
            <a:ext cx="5616575" cy="18811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66" name="Rectangle 2">
            <a:extLst>
              <a:ext uri="{FF2B5EF4-FFF2-40B4-BE49-F238E27FC236}">
                <a16:creationId xmlns:a16="http://schemas.microsoft.com/office/drawing/2014/main" id="{395A5C5E-5480-47D9-AA74-680007FFC778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zh-TW"/>
              <a:t>3-1-2 </a:t>
            </a:r>
            <a:r>
              <a:rPr lang="zh-TW" altLang="en-US"/>
              <a:t>使用變數前的準備工作</a:t>
            </a:r>
            <a:r>
              <a:rPr lang="en-US" altLang="zh-TW"/>
              <a:t>– </a:t>
            </a:r>
            <a:r>
              <a:rPr lang="zh-TW" altLang="en-US"/>
              <a:t>內容</a:t>
            </a:r>
          </a:p>
        </p:txBody>
      </p:sp>
      <p:sp>
        <p:nvSpPr>
          <p:cNvPr id="11267" name="Rectangle 3">
            <a:extLst>
              <a:ext uri="{FF2B5EF4-FFF2-40B4-BE49-F238E27FC236}">
                <a16:creationId xmlns:a16="http://schemas.microsoft.com/office/drawing/2014/main" id="{A53A3798-037A-B2C6-BBF7-763B15D7D272}"/>
              </a:ext>
            </a:extLst>
          </p:cNvPr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pPr eaLnBrk="1" hangingPunct="1"/>
            <a:r>
              <a:rPr lang="zh-TW" altLang="en-US"/>
              <a:t>如果程式語言是</a:t>
            </a:r>
            <a:r>
              <a:rPr lang="zh-TW" altLang="en-US">
                <a:solidFill>
                  <a:srgbClr val="0000FF"/>
                </a:solidFill>
              </a:rPr>
              <a:t>靜態</a:t>
            </a:r>
            <a:r>
              <a:rPr lang="zh-TW" altLang="en-US"/>
              <a:t>語言，例如：</a:t>
            </a:r>
            <a:r>
              <a:rPr lang="en-US" altLang="zh-TW"/>
              <a:t>C/C++</a:t>
            </a:r>
            <a:r>
              <a:rPr lang="zh-TW" altLang="en-US"/>
              <a:t>和</a:t>
            </a:r>
            <a:r>
              <a:rPr lang="en-US" altLang="zh-TW"/>
              <a:t>Java</a:t>
            </a:r>
            <a:r>
              <a:rPr lang="zh-TW" altLang="en-US"/>
              <a:t>，當變數指定資料型態後，就表示只能儲存這種型態的資料，如同圓形盒子放不進相同直徑的方形物品，我們只能放進方形盒子。</a:t>
            </a:r>
            <a:r>
              <a:rPr lang="en-US" altLang="zh-TW"/>
              <a:t>Python</a:t>
            </a:r>
            <a:r>
              <a:rPr lang="zh-TW" altLang="en-US"/>
              <a:t>是</a:t>
            </a:r>
            <a:r>
              <a:rPr lang="zh-TW" altLang="en-US">
                <a:solidFill>
                  <a:srgbClr val="0000FF"/>
                </a:solidFill>
              </a:rPr>
              <a:t>動態</a:t>
            </a:r>
            <a:r>
              <a:rPr lang="zh-TW" altLang="en-US"/>
              <a:t>語言，變數的資料型態是可以更改的，當變數指定成其他資料型態的文字值時，變數的資料型態也會一併更改成文字值的資料型態。</a:t>
            </a:r>
          </a:p>
          <a:p>
            <a:pPr eaLnBrk="1" hangingPunct="1"/>
            <a:r>
              <a:rPr lang="zh-TW" altLang="en-US"/>
              <a:t>所以，程式語言在使用變數前，需要</a:t>
            </a:r>
            <a:r>
              <a:rPr lang="en-US" altLang="zh-TW"/>
              <a:t>2</a:t>
            </a:r>
            <a:r>
              <a:rPr lang="zh-TW" altLang="en-US"/>
              <a:t>項準備工作，如下所示：</a:t>
            </a:r>
          </a:p>
          <a:p>
            <a:pPr lvl="1" eaLnBrk="1" hangingPunct="1"/>
            <a:r>
              <a:rPr lang="zh-TW" altLang="en-US"/>
              <a:t>替變數命名：即上述</a:t>
            </a:r>
            <a:r>
              <a:rPr lang="en-US" altLang="zh-TW"/>
              <a:t>name</a:t>
            </a:r>
            <a:r>
              <a:rPr lang="zh-TW" altLang="en-US"/>
              <a:t>和</a:t>
            </a:r>
            <a:r>
              <a:rPr lang="en-US" altLang="zh-TW"/>
              <a:t>height</a:t>
            </a:r>
            <a:r>
              <a:rPr lang="zh-TW" altLang="en-US"/>
              <a:t>等變數名稱。</a:t>
            </a:r>
          </a:p>
          <a:p>
            <a:pPr lvl="1" eaLnBrk="1" hangingPunct="1"/>
            <a:r>
              <a:rPr lang="zh-TW" altLang="en-US"/>
              <a:t>決定變數的資料型態：即變數儲存什麼樣的值，即整數或字串等。</a:t>
            </a:r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90" name="Rectangle 2">
            <a:extLst>
              <a:ext uri="{FF2B5EF4-FFF2-40B4-BE49-F238E27FC236}">
                <a16:creationId xmlns:a16="http://schemas.microsoft.com/office/drawing/2014/main" id="{3E22676D-F1AD-2695-36C6-5FD4675BB092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zh-TW"/>
              <a:t>3-1-3 Python</a:t>
            </a:r>
            <a:r>
              <a:rPr lang="zh-TW" altLang="en-US"/>
              <a:t>語言的命名規則</a:t>
            </a:r>
          </a:p>
        </p:txBody>
      </p:sp>
      <p:sp>
        <p:nvSpPr>
          <p:cNvPr id="12291" name="Rectangle 3">
            <a:extLst>
              <a:ext uri="{FF2B5EF4-FFF2-40B4-BE49-F238E27FC236}">
                <a16:creationId xmlns:a16="http://schemas.microsoft.com/office/drawing/2014/main" id="{DED6654F-F1F7-5581-597D-7D0100BAF21D}"/>
              </a:ext>
            </a:extLst>
          </p:cNvPr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pPr eaLnBrk="1" hangingPunct="1"/>
            <a:r>
              <a:rPr lang="zh-TW" altLang="en-US"/>
              <a:t>程式設計者在程式碼自行命名的元素，稱為識別字（</a:t>
            </a:r>
            <a:r>
              <a:rPr lang="en-US" altLang="zh-TW"/>
              <a:t>Identifier</a:t>
            </a:r>
            <a:r>
              <a:rPr lang="zh-TW" altLang="en-US"/>
              <a:t>），例如：變數名稱，關鍵字（</a:t>
            </a:r>
            <a:r>
              <a:rPr lang="en-US" altLang="zh-TW"/>
              <a:t>Keywords</a:t>
            </a:r>
            <a:r>
              <a:rPr lang="zh-TW" altLang="en-US"/>
              <a:t>）是一些對直譯器</a:t>
            </a:r>
            <a:r>
              <a:rPr lang="en-US" altLang="zh-TW"/>
              <a:t>/</a:t>
            </a:r>
            <a:r>
              <a:rPr lang="zh-TW" altLang="en-US"/>
              <a:t>編譯器來說擁有特殊意義的名稱，在命名時，我們需要避開這些名稱。</a:t>
            </a:r>
          </a:p>
          <a:p>
            <a:pPr eaLnBrk="1" hangingPunct="1"/>
            <a:r>
              <a:rPr lang="zh-TW" altLang="en-US"/>
              <a:t>識別字名稱（</a:t>
            </a:r>
            <a:r>
              <a:rPr lang="en-US" altLang="zh-TW"/>
              <a:t>Identifier Names</a:t>
            </a:r>
            <a:r>
              <a:rPr lang="zh-TW" altLang="en-US"/>
              <a:t>）是指</a:t>
            </a:r>
            <a:r>
              <a:rPr lang="en-US" altLang="zh-TW"/>
              <a:t>Python</a:t>
            </a:r>
            <a:r>
              <a:rPr lang="zh-TW" altLang="en-US"/>
              <a:t>語言的變數、函數、類別或其他識別字的名稱，程式設計者在撰寫程式時，需要替這些識別字命名。</a:t>
            </a:r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14" name="Rectangle 2">
            <a:extLst>
              <a:ext uri="{FF2B5EF4-FFF2-40B4-BE49-F238E27FC236}">
                <a16:creationId xmlns:a16="http://schemas.microsoft.com/office/drawing/2014/main" id="{FD6BB90A-3C0F-6461-1D5A-67F08746D336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zh-TW"/>
              <a:t>3-1-3 Python</a:t>
            </a:r>
            <a:r>
              <a:rPr lang="zh-TW" altLang="en-US"/>
              <a:t>語言的命名規則</a:t>
            </a:r>
          </a:p>
        </p:txBody>
      </p:sp>
      <p:sp>
        <p:nvSpPr>
          <p:cNvPr id="13315" name="Rectangle 3">
            <a:extLst>
              <a:ext uri="{FF2B5EF4-FFF2-40B4-BE49-F238E27FC236}">
                <a16:creationId xmlns:a16="http://schemas.microsoft.com/office/drawing/2014/main" id="{F6935515-5902-383C-6225-7C6F0F573AE5}"/>
              </a:ext>
            </a:extLst>
          </p:cNvPr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pPr eaLnBrk="1" hangingPunct="1"/>
            <a:r>
              <a:rPr lang="en-US" altLang="zh-TW"/>
              <a:t>Python</a:t>
            </a:r>
            <a:r>
              <a:rPr lang="zh-TW" altLang="en-US"/>
              <a:t>語言的命名規則，如下所示：</a:t>
            </a:r>
          </a:p>
          <a:p>
            <a:pPr lvl="1" eaLnBrk="1" hangingPunct="1"/>
            <a:r>
              <a:rPr lang="zh-TW" altLang="en-US"/>
              <a:t>名稱是一個合法識別字，識別字是使用英文字母或「</a:t>
            </a:r>
            <a:r>
              <a:rPr lang="en-US" altLang="zh-TW"/>
              <a:t>_</a:t>
            </a:r>
            <a:r>
              <a:rPr lang="zh-TW" altLang="en-US"/>
              <a:t>」底線開頭（不可以使用數字開頭），不限長度，包含字母、數字和底線「</a:t>
            </a:r>
            <a:r>
              <a:rPr lang="en-US" altLang="zh-TW"/>
              <a:t>_</a:t>
            </a:r>
            <a:r>
              <a:rPr lang="zh-TW" altLang="en-US"/>
              <a:t>」字元組成的名稱。</a:t>
            </a:r>
          </a:p>
          <a:p>
            <a:pPr lvl="1" eaLnBrk="1" hangingPunct="1"/>
            <a:r>
              <a:rPr lang="zh-TW" altLang="en-US"/>
              <a:t>名稱區分英文字母大小寫，例如：</a:t>
            </a:r>
            <a:r>
              <a:rPr lang="en-US" altLang="zh-TW"/>
              <a:t>total</a:t>
            </a:r>
            <a:r>
              <a:rPr lang="zh-TW" altLang="en-US"/>
              <a:t>、</a:t>
            </a:r>
            <a:r>
              <a:rPr lang="en-US" altLang="zh-TW"/>
              <a:t>Total</a:t>
            </a:r>
            <a:r>
              <a:rPr lang="zh-TW" altLang="en-US"/>
              <a:t>和</a:t>
            </a:r>
            <a:r>
              <a:rPr lang="en-US" altLang="zh-TW"/>
              <a:t>TOTAL</a:t>
            </a:r>
            <a:r>
              <a:rPr lang="zh-TW" altLang="en-US"/>
              <a:t>屬於不同的識別字。</a:t>
            </a:r>
          </a:p>
          <a:p>
            <a:pPr lvl="1" eaLnBrk="1" hangingPunct="1"/>
            <a:r>
              <a:rPr lang="zh-TW" altLang="en-US"/>
              <a:t>名稱不能使用</a:t>
            </a:r>
            <a:r>
              <a:rPr lang="en-US" altLang="zh-TW"/>
              <a:t>Python</a:t>
            </a:r>
            <a:r>
              <a:rPr lang="zh-TW" altLang="en-US"/>
              <a:t>關鍵字，因為這些字對於直譯器擁有特殊意義。</a:t>
            </a:r>
            <a:r>
              <a:rPr lang="en-US" altLang="zh-TW"/>
              <a:t>Python</a:t>
            </a:r>
            <a:r>
              <a:rPr lang="zh-TW" altLang="en-US"/>
              <a:t>語言的關鍵字可以在互動環境輸入</a:t>
            </a:r>
            <a:r>
              <a:rPr lang="en-US" altLang="zh-TW"/>
              <a:t>help("keywords")</a:t>
            </a:r>
            <a:r>
              <a:rPr lang="zh-TW" altLang="en-US"/>
              <a:t>指令來查詢。</a:t>
            </a:r>
            <a:endParaRPr lang="en-US" altLang="zh-TW"/>
          </a:p>
          <a:p>
            <a:pPr lvl="1" eaLnBrk="1" hangingPunct="1"/>
            <a:r>
              <a:rPr lang="zh-TW" altLang="en-US"/>
              <a:t>有效範圍（</a:t>
            </a:r>
            <a:r>
              <a:rPr lang="en-US" altLang="zh-TW"/>
              <a:t>Scope</a:t>
            </a:r>
            <a:r>
              <a:rPr lang="zh-TW" altLang="en-US"/>
              <a:t>）是指在有效範圍的程式碼中名稱必須是唯一，例如：在程式中可以使用相同的變數名稱，不過變數名稱需要位在不同的範圍，詳細的範圍說明請參閱第</a:t>
            </a:r>
            <a:r>
              <a:rPr lang="en-US" altLang="zh-TW"/>
              <a:t>6-6-1</a:t>
            </a:r>
            <a:r>
              <a:rPr lang="zh-TW" altLang="en-US"/>
              <a:t>節。</a:t>
            </a:r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38" name="Rectangle 2">
            <a:extLst>
              <a:ext uri="{FF2B5EF4-FFF2-40B4-BE49-F238E27FC236}">
                <a16:creationId xmlns:a16="http://schemas.microsoft.com/office/drawing/2014/main" id="{6E863377-C10C-222E-BF95-ED38808D2F00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zh-TW">
                <a:solidFill>
                  <a:srgbClr val="0000FF"/>
                </a:solidFill>
              </a:rPr>
              <a:t>3-2 </a:t>
            </a:r>
            <a:r>
              <a:rPr lang="zh-TW" altLang="en-US">
                <a:solidFill>
                  <a:srgbClr val="0000FF"/>
                </a:solidFill>
              </a:rPr>
              <a:t>在程式使用變數</a:t>
            </a:r>
            <a:endParaRPr lang="zh-TW" altLang="en-US"/>
          </a:p>
        </p:txBody>
      </p:sp>
      <p:sp>
        <p:nvSpPr>
          <p:cNvPr id="14339" name="Rectangle 3">
            <a:extLst>
              <a:ext uri="{FF2B5EF4-FFF2-40B4-BE49-F238E27FC236}">
                <a16:creationId xmlns:a16="http://schemas.microsoft.com/office/drawing/2014/main" id="{4FF275F9-F98D-85B2-EB37-DDC3D0D005F5}"/>
              </a:ext>
            </a:extLst>
          </p:cNvPr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pPr eaLnBrk="1" hangingPunct="1"/>
            <a:r>
              <a:rPr lang="en-US" altLang="zh-TW">
                <a:solidFill>
                  <a:srgbClr val="0000FF"/>
                </a:solidFill>
              </a:rPr>
              <a:t>3-2-1 </a:t>
            </a:r>
            <a:r>
              <a:rPr lang="zh-TW" altLang="en-US">
                <a:solidFill>
                  <a:srgbClr val="0000FF"/>
                </a:solidFill>
              </a:rPr>
              <a:t>指定和輸出變數值</a:t>
            </a:r>
            <a:endParaRPr lang="en-US" altLang="zh-TW">
              <a:solidFill>
                <a:srgbClr val="0000FF"/>
              </a:solidFill>
            </a:endParaRPr>
          </a:p>
          <a:p>
            <a:pPr eaLnBrk="1" hangingPunct="1"/>
            <a:r>
              <a:rPr lang="en-US" altLang="zh-TW">
                <a:solidFill>
                  <a:srgbClr val="0000FF"/>
                </a:solidFill>
              </a:rPr>
              <a:t>3-2-2 </a:t>
            </a:r>
            <a:r>
              <a:rPr lang="zh-TW" altLang="en-US">
                <a:solidFill>
                  <a:srgbClr val="0000FF"/>
                </a:solidFill>
              </a:rPr>
              <a:t>指定成其他文字值</a:t>
            </a:r>
            <a:endParaRPr lang="en-US" altLang="zh-TW">
              <a:solidFill>
                <a:srgbClr val="0000FF"/>
              </a:solidFill>
            </a:endParaRPr>
          </a:p>
          <a:p>
            <a:pPr eaLnBrk="1" hangingPunct="1"/>
            <a:r>
              <a:rPr lang="en-US" altLang="zh-TW">
                <a:solidFill>
                  <a:srgbClr val="0000FF"/>
                </a:solidFill>
              </a:rPr>
              <a:t>3-2-3 </a:t>
            </a:r>
            <a:r>
              <a:rPr lang="zh-TW" altLang="en-US">
                <a:solidFill>
                  <a:srgbClr val="0000FF"/>
                </a:solidFill>
              </a:rPr>
              <a:t>指定成其他變數值</a:t>
            </a:r>
          </a:p>
        </p:txBody>
      </p:sp>
      <p:pic>
        <p:nvPicPr>
          <p:cNvPr id="14340" name="Picture 4" descr="note">
            <a:extLst>
              <a:ext uri="{FF2B5EF4-FFF2-40B4-BE49-F238E27FC236}">
                <a16:creationId xmlns:a16="http://schemas.microsoft.com/office/drawing/2014/main" id="{D162AD25-CED2-39AB-BDAE-65B20CA41342}"/>
              </a:ext>
            </a:extLst>
          </p:cNvPr>
          <p:cNvPicPr>
            <a:picLocks noChangeAspect="1" noChangeArrowheads="1" noCrop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651876" y="4221164"/>
            <a:ext cx="1425575" cy="15843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62" name="Rectangle 2">
            <a:extLst>
              <a:ext uri="{FF2B5EF4-FFF2-40B4-BE49-F238E27FC236}">
                <a16:creationId xmlns:a16="http://schemas.microsoft.com/office/drawing/2014/main" id="{6C2E5CC7-9243-19B2-8288-4E04641B23EB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zh-TW"/>
              <a:t>3-2 </a:t>
            </a:r>
            <a:r>
              <a:rPr lang="zh-TW" altLang="en-US"/>
              <a:t>在程式使用變數</a:t>
            </a:r>
          </a:p>
        </p:txBody>
      </p:sp>
      <p:sp>
        <p:nvSpPr>
          <p:cNvPr id="19459" name="Rectangle 3">
            <a:extLst>
              <a:ext uri="{FF2B5EF4-FFF2-40B4-BE49-F238E27FC236}">
                <a16:creationId xmlns:a16="http://schemas.microsoft.com/office/drawing/2014/main" id="{5C804B5D-DAB1-E215-B993-F5EC0D301B0C}"/>
              </a:ext>
            </a:extLst>
          </p:cNvPr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pPr eaLnBrk="1" hangingPunct="1">
              <a:defRPr/>
            </a:pPr>
            <a:r>
              <a:rPr lang="en-US" altLang="zh-TW" dirty="0"/>
              <a:t>Python</a:t>
            </a:r>
            <a:r>
              <a:rPr lang="zh-TW" altLang="en-US" dirty="0"/>
              <a:t>變數不用預先宣告，當需要變數時，直接指定變數值即可，如果習慣宣告變數，可以在程式開頭將變數指定成</a:t>
            </a:r>
            <a:r>
              <a:rPr lang="en-US" altLang="zh-TW" dirty="0"/>
              <a:t>None</a:t>
            </a:r>
            <a:r>
              <a:rPr lang="zh-TW" altLang="en-US" dirty="0"/>
              <a:t>，</a:t>
            </a:r>
            <a:r>
              <a:rPr lang="en-US" altLang="zh-TW" dirty="0"/>
              <a:t>None</a:t>
            </a:r>
            <a:r>
              <a:rPr lang="zh-TW" altLang="en-US" dirty="0"/>
              <a:t>關鍵字表示變數並沒有值，如下所示：</a:t>
            </a:r>
          </a:p>
          <a:p>
            <a:pPr marL="457200" lvl="1" indent="0" eaLnBrk="1" hangingPunct="1">
              <a:buNone/>
              <a:defRPr/>
            </a:pPr>
            <a:r>
              <a:rPr lang="en-US" altLang="zh-TW" dirty="0">
                <a:solidFill>
                  <a:srgbClr val="FF3399"/>
                </a:solidFill>
              </a:rPr>
              <a:t>score = None</a:t>
            </a:r>
          </a:p>
          <a:p>
            <a:pPr lvl="1" eaLnBrk="1" hangingPunct="1">
              <a:buFontTx/>
              <a:buNone/>
              <a:defRPr/>
            </a:pPr>
            <a:endParaRPr lang="en-US" altLang="zh-TW" dirty="0">
              <a:solidFill>
                <a:srgbClr val="FF0000"/>
              </a:solidFill>
            </a:endParaRPr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6" name="標題 1">
            <a:extLst>
              <a:ext uri="{FF2B5EF4-FFF2-40B4-BE49-F238E27FC236}">
                <a16:creationId xmlns:a16="http://schemas.microsoft.com/office/drawing/2014/main" id="{4608E60A-A2F3-66D1-0E82-3A98948F69D4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zh-TW"/>
              <a:t>3-2-1 </a:t>
            </a:r>
            <a:r>
              <a:rPr lang="zh-TW" altLang="en-US"/>
              <a:t>指定和輸出變數值</a:t>
            </a:r>
            <a:endParaRPr lang="zh-TW" altLang="en-US">
              <a:ea typeface="新細明體" panose="02020500000000000000" pitchFamily="18" charset="-120"/>
            </a:endParaRPr>
          </a:p>
        </p:txBody>
      </p:sp>
      <p:sp>
        <p:nvSpPr>
          <p:cNvPr id="16387" name="內容版面配置區 2">
            <a:extLst>
              <a:ext uri="{FF2B5EF4-FFF2-40B4-BE49-F238E27FC236}">
                <a16:creationId xmlns:a16="http://schemas.microsoft.com/office/drawing/2014/main" id="{2E5A81F2-62E6-D6BB-8D63-F61EC589CA69}"/>
              </a:ext>
            </a:extLst>
          </p:cNvPr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pPr eaLnBrk="1" hangingPunct="1"/>
            <a:r>
              <a:rPr lang="en-US" altLang="zh-TW"/>
              <a:t>Python</a:t>
            </a:r>
            <a:r>
              <a:rPr lang="zh-TW" altLang="en-US"/>
              <a:t>在使用指定敘述指定變數值，變數名稱如同是一個盒子，指定的變數值就是將值放入盒子，和決定盒子的資料型態，如下圖所示：</a:t>
            </a:r>
          </a:p>
          <a:p>
            <a:pPr eaLnBrk="1" hangingPunct="1"/>
            <a:endParaRPr lang="zh-TW" altLang="en-US">
              <a:ea typeface="新細明體" panose="02020500000000000000" pitchFamily="18" charset="-120"/>
            </a:endParaRPr>
          </a:p>
        </p:txBody>
      </p:sp>
      <p:pic>
        <p:nvPicPr>
          <p:cNvPr id="16388" name="Picture 4">
            <a:extLst>
              <a:ext uri="{FF2B5EF4-FFF2-40B4-BE49-F238E27FC236}">
                <a16:creationId xmlns:a16="http://schemas.microsoft.com/office/drawing/2014/main" id="{45785577-898D-8722-25AA-4272CD36D72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648075" y="3141664"/>
            <a:ext cx="5175250" cy="30686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0" name="Rectangle 2">
            <a:extLst>
              <a:ext uri="{FF2B5EF4-FFF2-40B4-BE49-F238E27FC236}">
                <a16:creationId xmlns:a16="http://schemas.microsoft.com/office/drawing/2014/main" id="{A2058AC2-BDE8-2999-B518-9B25A878DDA6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zh-TW"/>
              <a:t>3-2-1 </a:t>
            </a:r>
            <a:r>
              <a:rPr lang="zh-TW" altLang="en-US"/>
              <a:t>指定和輸出變數值</a:t>
            </a:r>
          </a:p>
        </p:txBody>
      </p:sp>
      <p:sp>
        <p:nvSpPr>
          <p:cNvPr id="21507" name="Rectangle 3">
            <a:extLst>
              <a:ext uri="{FF2B5EF4-FFF2-40B4-BE49-F238E27FC236}">
                <a16:creationId xmlns:a16="http://schemas.microsoft.com/office/drawing/2014/main" id="{CB29F797-B3DE-CDC7-CEC8-20E85DABCCFF}"/>
              </a:ext>
            </a:extLst>
          </p:cNvPr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pPr eaLnBrk="1" hangingPunct="1">
              <a:defRPr/>
            </a:pPr>
            <a:r>
              <a:rPr lang="zh-TW" altLang="en-US" dirty="0"/>
              <a:t>當使用「</a:t>
            </a:r>
            <a:r>
              <a:rPr lang="en-US" altLang="zh-TW" dirty="0"/>
              <a:t>=</a:t>
            </a:r>
            <a:r>
              <a:rPr lang="zh-TW" altLang="en-US" dirty="0"/>
              <a:t>」等號指定變數</a:t>
            </a:r>
            <a:r>
              <a:rPr lang="en-US" altLang="zh-TW" dirty="0"/>
              <a:t>score</a:t>
            </a:r>
            <a:r>
              <a:rPr lang="zh-TW" altLang="en-US" dirty="0"/>
              <a:t>的值</a:t>
            </a:r>
            <a:r>
              <a:rPr lang="en-US" altLang="zh-TW" dirty="0"/>
              <a:t>20</a:t>
            </a:r>
            <a:r>
              <a:rPr lang="zh-TW" altLang="en-US" dirty="0"/>
              <a:t>，就是將文字值</a:t>
            </a:r>
            <a:r>
              <a:rPr lang="en-US" altLang="zh-TW" dirty="0"/>
              <a:t>20</a:t>
            </a:r>
            <a:r>
              <a:rPr lang="zh-TW" altLang="en-US" dirty="0"/>
              <a:t>放入盒子，同時決定變數的資料型態是整數，如下所示：</a:t>
            </a:r>
          </a:p>
          <a:p>
            <a:pPr marL="457200" lvl="1" indent="0" eaLnBrk="1" hangingPunct="1">
              <a:buNone/>
              <a:defRPr/>
            </a:pPr>
            <a:r>
              <a:rPr lang="en-US" altLang="zh-TW" dirty="0">
                <a:solidFill>
                  <a:srgbClr val="FF3399"/>
                </a:solidFill>
              </a:rPr>
              <a:t>score = 20</a:t>
            </a:r>
          </a:p>
          <a:p>
            <a:pPr eaLnBrk="1" hangingPunct="1">
              <a:defRPr/>
            </a:pPr>
            <a:r>
              <a:rPr lang="zh-TW" altLang="en-US" dirty="0"/>
              <a:t>上述程式碼指定變數</a:t>
            </a:r>
            <a:r>
              <a:rPr lang="en-US" altLang="zh-TW" dirty="0"/>
              <a:t>score</a:t>
            </a:r>
            <a:r>
              <a:rPr lang="zh-TW" altLang="en-US" dirty="0"/>
              <a:t>值是</a:t>
            </a:r>
            <a:r>
              <a:rPr lang="en-US" altLang="zh-TW" dirty="0"/>
              <a:t>20</a:t>
            </a:r>
            <a:r>
              <a:rPr lang="zh-TW" altLang="en-US" dirty="0"/>
              <a:t>，變數</a:t>
            </a:r>
            <a:r>
              <a:rPr lang="en-US" altLang="zh-TW" dirty="0"/>
              <a:t>score</a:t>
            </a:r>
            <a:r>
              <a:rPr lang="zh-TW" altLang="en-US" dirty="0"/>
              <a:t>因為指定文字值</a:t>
            </a:r>
            <a:r>
              <a:rPr lang="en-US" altLang="zh-TW" dirty="0"/>
              <a:t>20</a:t>
            </a:r>
            <a:r>
              <a:rPr lang="zh-TW" altLang="en-US" dirty="0"/>
              <a:t>，所以記得文字值</a:t>
            </a:r>
            <a:r>
              <a:rPr lang="en-US" altLang="zh-TW" dirty="0"/>
              <a:t>20</a:t>
            </a:r>
            <a:r>
              <a:rPr lang="zh-TW" altLang="en-US" dirty="0"/>
              <a:t>且決定是整數型態，其基本語法如下所示：</a:t>
            </a:r>
          </a:p>
          <a:p>
            <a:pPr marL="457200" lvl="1" indent="0" eaLnBrk="1" hangingPunct="1">
              <a:buNone/>
              <a:defRPr/>
            </a:pPr>
            <a:r>
              <a:rPr lang="zh-TW" altLang="en-US" dirty="0">
                <a:solidFill>
                  <a:srgbClr val="C00000"/>
                </a:solidFill>
              </a:rPr>
              <a:t>變數 </a:t>
            </a:r>
            <a:r>
              <a:rPr lang="en-US" altLang="zh-TW" dirty="0">
                <a:solidFill>
                  <a:srgbClr val="C00000"/>
                </a:solidFill>
              </a:rPr>
              <a:t>= </a:t>
            </a:r>
            <a:r>
              <a:rPr lang="zh-TW" altLang="en-US" dirty="0">
                <a:solidFill>
                  <a:srgbClr val="C00000"/>
                </a:solidFill>
              </a:rPr>
              <a:t>資料</a:t>
            </a:r>
          </a:p>
          <a:p>
            <a:pPr eaLnBrk="1" hangingPunct="1">
              <a:defRPr/>
            </a:pPr>
            <a:r>
              <a:rPr lang="zh-TW" altLang="en-US" dirty="0"/>
              <a:t>上述「</a:t>
            </a:r>
            <a:r>
              <a:rPr lang="en-US" altLang="zh-TW" dirty="0"/>
              <a:t>=</a:t>
            </a:r>
            <a:r>
              <a:rPr lang="zh-TW" altLang="en-US" dirty="0"/>
              <a:t>」等號就是指定敘述，可以：</a:t>
            </a:r>
          </a:p>
          <a:p>
            <a:pPr marL="0" indent="0" eaLnBrk="1" hangingPunct="1">
              <a:buNone/>
              <a:defRPr/>
            </a:pPr>
            <a:r>
              <a:rPr lang="zh-TW" altLang="en-US" b="1" dirty="0"/>
              <a:t>「將右邊資料的文字值指定給左邊的變數，在左邊變數儲存的值就是右邊資料的文字值。」</a:t>
            </a:r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4" name="Rectangle 2">
            <a:extLst>
              <a:ext uri="{FF2B5EF4-FFF2-40B4-BE49-F238E27FC236}">
                <a16:creationId xmlns:a16="http://schemas.microsoft.com/office/drawing/2014/main" id="{348771A9-5E32-21D3-FD71-C05A2E430F46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zh-TW"/>
              <a:t>3-2-2 </a:t>
            </a:r>
            <a:r>
              <a:rPr lang="zh-TW" altLang="en-US"/>
              <a:t>指定成其他文字值</a:t>
            </a:r>
          </a:p>
        </p:txBody>
      </p:sp>
      <p:sp>
        <p:nvSpPr>
          <p:cNvPr id="18435" name="Rectangle 3">
            <a:extLst>
              <a:ext uri="{FF2B5EF4-FFF2-40B4-BE49-F238E27FC236}">
                <a16:creationId xmlns:a16="http://schemas.microsoft.com/office/drawing/2014/main" id="{383D970A-02A8-BAFE-0C36-D77EAAC2C945}"/>
              </a:ext>
            </a:extLst>
          </p:cNvPr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pPr eaLnBrk="1" hangingPunct="1"/>
            <a:r>
              <a:rPr lang="zh-TW" altLang="en-US"/>
              <a:t>變數是執行程式時暫存儲存資料的地方，當建立</a:t>
            </a:r>
            <a:r>
              <a:rPr lang="en-US" altLang="zh-TW"/>
              <a:t>Python</a:t>
            </a:r>
            <a:r>
              <a:rPr lang="zh-TW" altLang="en-US"/>
              <a:t>變數後，例如：變數</a:t>
            </a:r>
            <a:r>
              <a:rPr lang="en-US" altLang="zh-TW"/>
              <a:t>score</a:t>
            </a:r>
            <a:r>
              <a:rPr lang="zh-TW" altLang="en-US"/>
              <a:t>和指定值</a:t>
            </a:r>
            <a:r>
              <a:rPr lang="en-US" altLang="zh-TW"/>
              <a:t>20</a:t>
            </a:r>
            <a:r>
              <a:rPr lang="zh-TW" altLang="en-US"/>
              <a:t>後，我們可以隨時再次使用指定敘述「</a:t>
            </a:r>
            <a:r>
              <a:rPr lang="en-US" altLang="zh-TW"/>
              <a:t>=</a:t>
            </a:r>
            <a:r>
              <a:rPr lang="zh-TW" altLang="en-US"/>
              <a:t>」等號來更改變數值，如下所示：</a:t>
            </a:r>
          </a:p>
          <a:p>
            <a:pPr marL="457200" lvl="1" indent="0" eaLnBrk="1" hangingPunct="1">
              <a:buNone/>
            </a:pPr>
            <a:r>
              <a:rPr lang="en-US" altLang="zh-TW">
                <a:solidFill>
                  <a:srgbClr val="FF3399"/>
                </a:solidFill>
              </a:rPr>
              <a:t>score = 30</a:t>
            </a:r>
          </a:p>
        </p:txBody>
      </p:sp>
      <p:pic>
        <p:nvPicPr>
          <p:cNvPr id="18436" name="Picture 4">
            <a:extLst>
              <a:ext uri="{FF2B5EF4-FFF2-40B4-BE49-F238E27FC236}">
                <a16:creationId xmlns:a16="http://schemas.microsoft.com/office/drawing/2014/main" id="{BB3240B5-679E-EE2A-7646-856F7294038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586289" y="2997200"/>
            <a:ext cx="4389437" cy="36845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58" name="Rectangle 2">
            <a:extLst>
              <a:ext uri="{FF2B5EF4-FFF2-40B4-BE49-F238E27FC236}">
                <a16:creationId xmlns:a16="http://schemas.microsoft.com/office/drawing/2014/main" id="{16A1CE00-C303-C4D8-0313-94C435472FBE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zh-TW"/>
              <a:t>3-2-2 </a:t>
            </a:r>
            <a:r>
              <a:rPr lang="zh-TW" altLang="en-US"/>
              <a:t>指定成其他文字值</a:t>
            </a:r>
          </a:p>
        </p:txBody>
      </p:sp>
      <p:sp>
        <p:nvSpPr>
          <p:cNvPr id="19459" name="內容版面配置區 1">
            <a:extLst>
              <a:ext uri="{FF2B5EF4-FFF2-40B4-BE49-F238E27FC236}">
                <a16:creationId xmlns:a16="http://schemas.microsoft.com/office/drawing/2014/main" id="{7FF307E6-B141-3D3D-0A9C-139ACFA7A56E}"/>
              </a:ext>
            </a:extLst>
          </p:cNvPr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pPr eaLnBrk="1" hangingPunct="1"/>
            <a:r>
              <a:rPr lang="en-US" altLang="zh-TW"/>
              <a:t>Python</a:t>
            </a:r>
            <a:r>
              <a:rPr lang="zh-TW" altLang="en-US"/>
              <a:t>變數也可以隨時更改成其他資料型態的文字值，例如：浮點數</a:t>
            </a:r>
            <a:r>
              <a:rPr lang="en-US" altLang="zh-TW"/>
              <a:t>98.5</a:t>
            </a:r>
            <a:r>
              <a:rPr lang="zh-TW" altLang="en-US"/>
              <a:t>，此時不只更改</a:t>
            </a:r>
            <a:r>
              <a:rPr lang="en-US" altLang="zh-TW"/>
              <a:t>score</a:t>
            </a:r>
            <a:r>
              <a:rPr lang="zh-TW" altLang="en-US"/>
              <a:t>變數的值，同時更改資料型態成為浮點數，如下所示：</a:t>
            </a:r>
          </a:p>
          <a:p>
            <a:pPr marL="457200" lvl="1" indent="0" eaLnBrk="1" hangingPunct="1">
              <a:buNone/>
            </a:pPr>
            <a:r>
              <a:rPr lang="en-US" altLang="zh-TW">
                <a:solidFill>
                  <a:srgbClr val="FF3399"/>
                </a:solidFill>
              </a:rPr>
              <a:t>score = 98.5</a:t>
            </a:r>
          </a:p>
          <a:p>
            <a:pPr eaLnBrk="1" hangingPunct="1"/>
            <a:endParaRPr lang="zh-TW" altLang="en-US"/>
          </a:p>
        </p:txBody>
      </p:sp>
    </p:spTree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82" name="標題 1">
            <a:extLst>
              <a:ext uri="{FF2B5EF4-FFF2-40B4-BE49-F238E27FC236}">
                <a16:creationId xmlns:a16="http://schemas.microsoft.com/office/drawing/2014/main" id="{D452F23F-13C4-0C8A-5085-E8FC9C4413B1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zh-TW">
                <a:ea typeface="新細明體" panose="02020500000000000000" pitchFamily="18" charset="-120"/>
              </a:rPr>
              <a:t>3-2-3 </a:t>
            </a:r>
            <a:r>
              <a:rPr lang="zh-TW" altLang="en-US">
                <a:ea typeface="新細明體" panose="02020500000000000000" pitchFamily="18" charset="-120"/>
              </a:rPr>
              <a:t>指定成其他變數值</a:t>
            </a:r>
          </a:p>
        </p:txBody>
      </p:sp>
      <p:sp>
        <p:nvSpPr>
          <p:cNvPr id="20483" name="內容版面配置區 2">
            <a:extLst>
              <a:ext uri="{FF2B5EF4-FFF2-40B4-BE49-F238E27FC236}">
                <a16:creationId xmlns:a16="http://schemas.microsoft.com/office/drawing/2014/main" id="{263FD576-09D2-4C40-B02F-64D0B52B38D3}"/>
              </a:ext>
            </a:extLst>
          </p:cNvPr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pPr eaLnBrk="1" hangingPunct="1"/>
            <a:r>
              <a:rPr lang="zh-TW" altLang="en-US"/>
              <a:t>變數除了可以使用指定敘述「</a:t>
            </a:r>
            <a:r>
              <a:rPr lang="en-US" altLang="zh-TW"/>
              <a:t>=</a:t>
            </a:r>
            <a:r>
              <a:rPr lang="zh-TW" altLang="en-US"/>
              <a:t>」等號更新成其他文字值，我們還可以將變數指定成其他變數值，就是更改成其他變數儲存的文字值，例如：在建立整數變數</a:t>
            </a:r>
            <a:r>
              <a:rPr lang="en-US" altLang="zh-TW"/>
              <a:t>score</a:t>
            </a:r>
            <a:r>
              <a:rPr lang="zh-TW" altLang="en-US"/>
              <a:t>的值</a:t>
            </a:r>
            <a:r>
              <a:rPr lang="en-US" altLang="zh-TW"/>
              <a:t>20</a:t>
            </a:r>
            <a:r>
              <a:rPr lang="zh-TW" altLang="en-US"/>
              <a:t>後，使用指定敘述來指定變數</a:t>
            </a:r>
            <a:r>
              <a:rPr lang="en-US" altLang="zh-TW"/>
              <a:t>score2</a:t>
            </a:r>
            <a:r>
              <a:rPr lang="zh-TW" altLang="en-US"/>
              <a:t>的值是</a:t>
            </a:r>
            <a:r>
              <a:rPr lang="en-US" altLang="zh-TW"/>
              <a:t>score</a:t>
            </a:r>
            <a:r>
              <a:rPr lang="zh-TW" altLang="en-US"/>
              <a:t>變數儲存的值，如下所示：</a:t>
            </a:r>
          </a:p>
          <a:p>
            <a:pPr marL="457200" lvl="1" indent="0" eaLnBrk="1" hangingPunct="1">
              <a:buNone/>
            </a:pPr>
            <a:r>
              <a:rPr lang="en-US" altLang="zh-TW">
                <a:solidFill>
                  <a:srgbClr val="FF3399"/>
                </a:solidFill>
                <a:ea typeface="新細明體" panose="02020500000000000000" pitchFamily="18" charset="-120"/>
              </a:rPr>
              <a:t>score = 20</a:t>
            </a:r>
          </a:p>
          <a:p>
            <a:pPr marL="457200" lvl="1" indent="0" eaLnBrk="1" hangingPunct="1">
              <a:buNone/>
            </a:pPr>
            <a:r>
              <a:rPr lang="en-US" altLang="zh-TW">
                <a:solidFill>
                  <a:srgbClr val="FF3399"/>
                </a:solidFill>
                <a:ea typeface="新細明體" panose="02020500000000000000" pitchFamily="18" charset="-120"/>
              </a:rPr>
              <a:t>score2 = score</a:t>
            </a:r>
            <a:endParaRPr lang="zh-TW" altLang="en-US">
              <a:ea typeface="新細明體" panose="02020500000000000000" pitchFamily="18" charset="-120"/>
            </a:endParaRPr>
          </a:p>
        </p:txBody>
      </p:sp>
      <p:pic>
        <p:nvPicPr>
          <p:cNvPr id="20484" name="Picture 2">
            <a:extLst>
              <a:ext uri="{FF2B5EF4-FFF2-40B4-BE49-F238E27FC236}">
                <a16:creationId xmlns:a16="http://schemas.microsoft.com/office/drawing/2014/main" id="{C82DDB2F-3C8F-A172-DAB8-C143E2005A3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303838" y="3284539"/>
            <a:ext cx="4679950" cy="34829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06" name="Rectangle 2">
            <a:extLst>
              <a:ext uri="{FF2B5EF4-FFF2-40B4-BE49-F238E27FC236}">
                <a16:creationId xmlns:a16="http://schemas.microsoft.com/office/drawing/2014/main" id="{BAB04BFE-1F81-DF45-C4DA-D983E06107BB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zh-TW">
                <a:solidFill>
                  <a:srgbClr val="0000FF"/>
                </a:solidFill>
              </a:rPr>
              <a:t>3-3 </a:t>
            </a:r>
            <a:r>
              <a:rPr lang="zh-TW" altLang="en-US">
                <a:solidFill>
                  <a:srgbClr val="0000FF"/>
                </a:solidFill>
              </a:rPr>
              <a:t>變數的資料型態和型態轉換函數</a:t>
            </a:r>
            <a:endParaRPr lang="zh-TW" altLang="en-US"/>
          </a:p>
        </p:txBody>
      </p:sp>
      <p:sp>
        <p:nvSpPr>
          <p:cNvPr id="21507" name="Rectangle 3">
            <a:extLst>
              <a:ext uri="{FF2B5EF4-FFF2-40B4-BE49-F238E27FC236}">
                <a16:creationId xmlns:a16="http://schemas.microsoft.com/office/drawing/2014/main" id="{6E710F78-D42F-7780-5E03-11589E2C6BFB}"/>
              </a:ext>
            </a:extLst>
          </p:cNvPr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pPr eaLnBrk="1" hangingPunct="1"/>
            <a:r>
              <a:rPr lang="en-US" altLang="zh-TW">
                <a:solidFill>
                  <a:srgbClr val="0000FF"/>
                </a:solidFill>
              </a:rPr>
              <a:t>3-3-1 </a:t>
            </a:r>
            <a:r>
              <a:rPr lang="zh-TW" altLang="en-US">
                <a:solidFill>
                  <a:srgbClr val="0000FF"/>
                </a:solidFill>
              </a:rPr>
              <a:t>取得變數的資料型態</a:t>
            </a:r>
            <a:endParaRPr lang="en-US" altLang="zh-TW">
              <a:solidFill>
                <a:srgbClr val="0000FF"/>
              </a:solidFill>
            </a:endParaRPr>
          </a:p>
          <a:p>
            <a:pPr eaLnBrk="1" hangingPunct="1"/>
            <a:r>
              <a:rPr lang="en-US" altLang="zh-TW">
                <a:solidFill>
                  <a:srgbClr val="0000FF"/>
                </a:solidFill>
              </a:rPr>
              <a:t>3-3-2 </a:t>
            </a:r>
            <a:r>
              <a:rPr lang="zh-TW" altLang="en-US">
                <a:solidFill>
                  <a:srgbClr val="0000FF"/>
                </a:solidFill>
              </a:rPr>
              <a:t>資料型態轉換函數</a:t>
            </a:r>
            <a:endParaRPr lang="en-US" altLang="zh-TW">
              <a:solidFill>
                <a:srgbClr val="0000FF"/>
              </a:solidFill>
            </a:endParaRPr>
          </a:p>
          <a:p>
            <a:pPr eaLnBrk="1" hangingPunct="1"/>
            <a:endParaRPr lang="zh-TW" altLang="en-US">
              <a:solidFill>
                <a:srgbClr val="0000FF"/>
              </a:solidFill>
            </a:endParaRPr>
          </a:p>
        </p:txBody>
      </p:sp>
      <p:pic>
        <p:nvPicPr>
          <p:cNvPr id="21508" name="Picture 4" descr="note">
            <a:extLst>
              <a:ext uri="{FF2B5EF4-FFF2-40B4-BE49-F238E27FC236}">
                <a16:creationId xmlns:a16="http://schemas.microsoft.com/office/drawing/2014/main" id="{4E5611B0-6E2C-B202-4467-6D7C05D3391B}"/>
              </a:ext>
            </a:extLst>
          </p:cNvPr>
          <p:cNvPicPr>
            <a:picLocks noChangeAspect="1" noChangeArrowheads="1" noCrop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651876" y="4221164"/>
            <a:ext cx="1425575" cy="15843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30" name="Rectangle 2">
            <a:extLst>
              <a:ext uri="{FF2B5EF4-FFF2-40B4-BE49-F238E27FC236}">
                <a16:creationId xmlns:a16="http://schemas.microsoft.com/office/drawing/2014/main" id="{E84D964D-3C6B-BCD5-510D-01D96B05B710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zh-TW"/>
              <a:t>3-3 </a:t>
            </a:r>
            <a:r>
              <a:rPr lang="zh-TW" altLang="en-US"/>
              <a:t>變數的資料型態和型態轉換函數</a:t>
            </a:r>
          </a:p>
        </p:txBody>
      </p:sp>
      <p:sp>
        <p:nvSpPr>
          <p:cNvPr id="22531" name="Rectangle 3">
            <a:extLst>
              <a:ext uri="{FF2B5EF4-FFF2-40B4-BE49-F238E27FC236}">
                <a16:creationId xmlns:a16="http://schemas.microsoft.com/office/drawing/2014/main" id="{DBA10D0E-A15F-2677-8E1C-05293E7A299C}"/>
              </a:ext>
            </a:extLst>
          </p:cNvPr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pPr eaLnBrk="1" hangingPunct="1"/>
            <a:r>
              <a:rPr lang="en-US" altLang="zh-TW"/>
              <a:t>Python</a:t>
            </a:r>
            <a:r>
              <a:rPr lang="zh-TW" altLang="en-US"/>
              <a:t>變數儲存的值決定變數目前的資料型態，當指定變數的文字值時，就決定變數的資料型態，例如：在第</a:t>
            </a:r>
            <a:r>
              <a:rPr lang="en-US" altLang="zh-TW"/>
              <a:t>2-5</a:t>
            </a:r>
            <a:r>
              <a:rPr lang="zh-TW" altLang="en-US"/>
              <a:t>節的字串、數值和布林文字值，就是對應字串（</a:t>
            </a:r>
            <a:r>
              <a:rPr lang="en-US" altLang="zh-TW"/>
              <a:t>String</a:t>
            </a:r>
            <a:r>
              <a:rPr lang="zh-TW" altLang="en-US"/>
              <a:t>）、數值（</a:t>
            </a:r>
            <a:r>
              <a:rPr lang="en-US" altLang="zh-TW"/>
              <a:t>Number</a:t>
            </a:r>
            <a:r>
              <a:rPr lang="zh-TW" altLang="en-US"/>
              <a:t>）和布林（</a:t>
            </a:r>
            <a:r>
              <a:rPr lang="en-US" altLang="zh-TW"/>
              <a:t>Boolean</a:t>
            </a:r>
            <a:r>
              <a:rPr lang="zh-TW" altLang="en-US"/>
              <a:t>）資料型態。</a:t>
            </a:r>
          </a:p>
          <a:p>
            <a:pPr eaLnBrk="1" hangingPunct="1"/>
            <a:r>
              <a:rPr lang="zh-TW" altLang="en-US"/>
              <a:t>除此之外，</a:t>
            </a:r>
            <a:r>
              <a:rPr lang="en-US" altLang="zh-TW"/>
              <a:t>Python</a:t>
            </a:r>
            <a:r>
              <a:rPr lang="zh-TW" altLang="en-US"/>
              <a:t>還提供多種容器型態（</a:t>
            </a:r>
            <a:r>
              <a:rPr lang="en-US" altLang="zh-TW"/>
              <a:t>Contains Type</a:t>
            </a:r>
            <a:r>
              <a:rPr lang="zh-TW" altLang="en-US"/>
              <a:t>），例如：串列（</a:t>
            </a:r>
            <a:r>
              <a:rPr lang="en-US" altLang="zh-TW"/>
              <a:t>List</a:t>
            </a:r>
            <a:r>
              <a:rPr lang="zh-TW" altLang="en-US"/>
              <a:t>）、元組（</a:t>
            </a:r>
            <a:r>
              <a:rPr lang="en-US" altLang="zh-TW"/>
              <a:t>Tuple</a:t>
            </a:r>
            <a:r>
              <a:rPr lang="zh-TW" altLang="en-US"/>
              <a:t>）合（</a:t>
            </a:r>
            <a:r>
              <a:rPr lang="en-US" altLang="zh-TW"/>
              <a:t>Set</a:t>
            </a:r>
            <a:r>
              <a:rPr lang="zh-TW" altLang="en-US"/>
              <a:t>）和字典（</a:t>
            </a:r>
            <a:r>
              <a:rPr lang="en-US" altLang="zh-TW"/>
              <a:t>Dictionary</a:t>
            </a:r>
            <a:r>
              <a:rPr lang="zh-TW" altLang="en-US"/>
              <a:t>），進一步字串和容器型態的說明請參閱第</a:t>
            </a:r>
            <a:r>
              <a:rPr lang="en-US" altLang="zh-TW"/>
              <a:t>7</a:t>
            </a:r>
            <a:r>
              <a:rPr lang="zh-TW" altLang="en-US"/>
              <a:t>章。</a:t>
            </a:r>
          </a:p>
        </p:txBody>
      </p:sp>
    </p:spTree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54" name="Rectangle 2">
            <a:extLst>
              <a:ext uri="{FF2B5EF4-FFF2-40B4-BE49-F238E27FC236}">
                <a16:creationId xmlns:a16="http://schemas.microsoft.com/office/drawing/2014/main" id="{0AC5871E-22FA-D9E4-7D71-9E55165198E8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zh-TW">
                <a:ea typeface="新細明體" panose="02020500000000000000" pitchFamily="18" charset="-120"/>
              </a:rPr>
              <a:t>3-3-1 </a:t>
            </a:r>
            <a:r>
              <a:rPr lang="zh-TW" altLang="en-US"/>
              <a:t>取得變數的資料型態</a:t>
            </a:r>
          </a:p>
        </p:txBody>
      </p:sp>
      <p:sp>
        <p:nvSpPr>
          <p:cNvPr id="23555" name="內容版面配置區 1">
            <a:extLst>
              <a:ext uri="{FF2B5EF4-FFF2-40B4-BE49-F238E27FC236}">
                <a16:creationId xmlns:a16="http://schemas.microsoft.com/office/drawing/2014/main" id="{C3A02BD0-C22D-243C-D74B-3D9D33941436}"/>
              </a:ext>
            </a:extLst>
          </p:cNvPr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pPr eaLnBrk="1" hangingPunct="1"/>
            <a:r>
              <a:rPr lang="en-US" altLang="zh-TW"/>
              <a:t>Python</a:t>
            </a:r>
            <a:r>
              <a:rPr lang="zh-TW" altLang="en-US"/>
              <a:t>可以使用</a:t>
            </a:r>
            <a:r>
              <a:rPr lang="en-US" altLang="zh-TW"/>
              <a:t>type()</a:t>
            </a:r>
            <a:r>
              <a:rPr lang="zh-TW" altLang="en-US"/>
              <a:t>函數取得目前變數的資料型態，如下所示：</a:t>
            </a:r>
          </a:p>
          <a:p>
            <a:pPr marL="457200" lvl="1" indent="0" eaLnBrk="1" hangingPunct="1">
              <a:buNone/>
            </a:pPr>
            <a:r>
              <a:rPr lang="en-US" altLang="zh-TW">
                <a:solidFill>
                  <a:srgbClr val="FF3399"/>
                </a:solidFill>
              </a:rPr>
              <a:t>score = 20 </a:t>
            </a:r>
          </a:p>
          <a:p>
            <a:pPr marL="457200" lvl="1" indent="0" eaLnBrk="1" hangingPunct="1">
              <a:buNone/>
            </a:pPr>
            <a:r>
              <a:rPr lang="en-US" altLang="zh-TW">
                <a:solidFill>
                  <a:srgbClr val="FF3399"/>
                </a:solidFill>
              </a:rPr>
              <a:t>print("</a:t>
            </a:r>
            <a:r>
              <a:rPr lang="zh-TW" altLang="en-US">
                <a:solidFill>
                  <a:srgbClr val="FF3399"/>
                </a:solidFill>
              </a:rPr>
              <a:t>變數</a:t>
            </a:r>
            <a:r>
              <a:rPr lang="en-US" altLang="zh-TW">
                <a:solidFill>
                  <a:srgbClr val="FF3399"/>
                </a:solidFill>
              </a:rPr>
              <a:t>score</a:t>
            </a:r>
            <a:r>
              <a:rPr lang="zh-TW" altLang="en-US">
                <a:solidFill>
                  <a:srgbClr val="FF3399"/>
                </a:solidFill>
              </a:rPr>
              <a:t>值是</a:t>
            </a:r>
            <a:r>
              <a:rPr lang="en-US" altLang="zh-TW">
                <a:solidFill>
                  <a:srgbClr val="FF3399"/>
                </a:solidFill>
              </a:rPr>
              <a:t>:", score, type(score))</a:t>
            </a:r>
          </a:p>
          <a:p>
            <a:pPr eaLnBrk="1" hangingPunct="1"/>
            <a:r>
              <a:rPr lang="zh-TW" altLang="en-US"/>
              <a:t>上述變數</a:t>
            </a:r>
            <a:r>
              <a:rPr lang="en-US" altLang="zh-TW"/>
              <a:t>score</a:t>
            </a:r>
            <a:r>
              <a:rPr lang="zh-TW" altLang="en-US"/>
              <a:t>是整數，可以呼叫</a:t>
            </a:r>
            <a:r>
              <a:rPr lang="en-US" altLang="zh-TW"/>
              <a:t>type(a)</a:t>
            </a:r>
            <a:r>
              <a:rPr lang="zh-TW" altLang="en-US"/>
              <a:t>取得變數</a:t>
            </a:r>
            <a:r>
              <a:rPr lang="en-US" altLang="zh-TW"/>
              <a:t>a</a:t>
            </a:r>
            <a:r>
              <a:rPr lang="zh-TW" altLang="en-US"/>
              <a:t>資料型態的物件</a:t>
            </a:r>
            <a:r>
              <a:rPr lang="en-US" altLang="zh-TW"/>
              <a:t>&lt;class 'int'&gt;</a:t>
            </a:r>
            <a:r>
              <a:rPr lang="zh-TW" altLang="en-US"/>
              <a:t>，請注意！</a:t>
            </a:r>
            <a:r>
              <a:rPr lang="en-US" altLang="zh-TW"/>
              <a:t>Python</a:t>
            </a:r>
            <a:r>
              <a:rPr lang="zh-TW" altLang="en-US"/>
              <a:t>所有東西都是</a:t>
            </a:r>
            <a:r>
              <a:rPr lang="en-US" altLang="zh-TW"/>
              <a:t>class</a:t>
            </a:r>
            <a:r>
              <a:rPr lang="zh-TW" altLang="en-US"/>
              <a:t>類別的物件。</a:t>
            </a:r>
          </a:p>
          <a:p>
            <a:pPr eaLnBrk="1" hangingPunct="1"/>
            <a:endParaRPr lang="zh-TW" altLang="en-US">
              <a:ea typeface="新細明體" panose="02020500000000000000" pitchFamily="18" charset="-120"/>
            </a:endParaRPr>
          </a:p>
        </p:txBody>
      </p:sp>
    </p:spTree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78" name="Rectangle 2">
            <a:extLst>
              <a:ext uri="{FF2B5EF4-FFF2-40B4-BE49-F238E27FC236}">
                <a16:creationId xmlns:a16="http://schemas.microsoft.com/office/drawing/2014/main" id="{8AAAA4AE-88E9-DE63-5D23-32CBC1DEEE54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zh-TW"/>
              <a:t>3-3-2 </a:t>
            </a:r>
            <a:r>
              <a:rPr lang="zh-TW" altLang="en-US"/>
              <a:t>資料型態轉換函數</a:t>
            </a:r>
            <a:endParaRPr lang="en-US" altLang="zh-TW"/>
          </a:p>
        </p:txBody>
      </p:sp>
      <p:sp>
        <p:nvSpPr>
          <p:cNvPr id="24579" name="Rectangle 3">
            <a:extLst>
              <a:ext uri="{FF2B5EF4-FFF2-40B4-BE49-F238E27FC236}">
                <a16:creationId xmlns:a16="http://schemas.microsoft.com/office/drawing/2014/main" id="{D871F2F8-898F-27A3-11FD-25E566758F28}"/>
              </a:ext>
            </a:extLst>
          </p:cNvPr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pPr eaLnBrk="1" hangingPunct="1"/>
            <a:r>
              <a:rPr lang="en-US" altLang="zh-TW"/>
              <a:t>Python</a:t>
            </a:r>
            <a:r>
              <a:rPr lang="zh-TW" altLang="en-US"/>
              <a:t>不會自動轉換變數</a:t>
            </a:r>
            <a:r>
              <a:rPr lang="en-US" altLang="zh-TW"/>
              <a:t>/</a:t>
            </a:r>
            <a:r>
              <a:rPr lang="zh-TW" altLang="en-US"/>
              <a:t>文字值的資料型態，我們需要自行使用內建型態轉換函數來轉換變數</a:t>
            </a:r>
            <a:r>
              <a:rPr lang="en-US" altLang="zh-TW"/>
              <a:t>/</a:t>
            </a:r>
            <a:r>
              <a:rPr lang="zh-TW" altLang="en-US"/>
              <a:t>文字值成所需的資料型態，如下表所示：</a:t>
            </a:r>
          </a:p>
        </p:txBody>
      </p:sp>
      <p:graphicFrame>
        <p:nvGraphicFramePr>
          <p:cNvPr id="2" name="表格 1">
            <a:extLst>
              <a:ext uri="{FF2B5EF4-FFF2-40B4-BE49-F238E27FC236}">
                <a16:creationId xmlns:a16="http://schemas.microsoft.com/office/drawing/2014/main" id="{23D4E70A-E173-5B02-1EF6-B37CAD2603C3}"/>
              </a:ext>
            </a:extLst>
          </p:cNvPr>
          <p:cNvGraphicFramePr>
            <a:graphicFrameLocks noGrp="1"/>
          </p:cNvGraphicFramePr>
          <p:nvPr/>
        </p:nvGraphicFramePr>
        <p:xfrm>
          <a:off x="2351088" y="2924176"/>
          <a:ext cx="7561262" cy="3384551"/>
        </p:xfrm>
        <a:graphic>
          <a:graphicData uri="http://schemas.openxmlformats.org/drawingml/2006/table">
            <a:tbl>
              <a:tblPr firstRow="1" firstCol="1" lastRow="1" lastCol="1" bandRow="1" bandCol="1">
                <a:tableStyleId>{22838BEF-8BB2-4498-84A7-C5851F593DF1}</a:tableStyleId>
              </a:tblPr>
              <a:tblGrid>
                <a:gridCol w="2133277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42798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460193">
                <a:tc>
                  <a:txBody>
                    <a:bodyPr/>
                    <a:lstStyle/>
                    <a:p>
                      <a:pPr algn="ctr">
                        <a:lnSpc>
                          <a:spcPts val="2100"/>
                        </a:lnSpc>
                        <a:spcAft>
                          <a:spcPts val="1200"/>
                        </a:spcAft>
                      </a:pPr>
                      <a:r>
                        <a:rPr lang="zh-HK" sz="2000" dirty="0">
                          <a:effectLst/>
                          <a:latin typeface="微軟正黑體" pitchFamily="34" charset="-120"/>
                          <a:ea typeface="微軟正黑體" pitchFamily="34" charset="-120"/>
                        </a:rPr>
                        <a:t>型態轉換函數</a:t>
                      </a:r>
                      <a:endParaRPr lang="zh-TW" sz="2000" dirty="0">
                        <a:effectLst/>
                        <a:latin typeface="微軟正黑體" pitchFamily="34" charset="-120"/>
                        <a:ea typeface="微軟正黑體" pitchFamily="34" charset="-120"/>
                      </a:endParaRPr>
                    </a:p>
                  </a:txBody>
                  <a:tcPr marL="68584" marR="68584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100"/>
                        </a:lnSpc>
                        <a:spcAft>
                          <a:spcPts val="1200"/>
                        </a:spcAft>
                      </a:pPr>
                      <a:r>
                        <a:rPr lang="zh-HK" sz="2000" dirty="0">
                          <a:effectLst/>
                          <a:latin typeface="微軟正黑體" pitchFamily="34" charset="-120"/>
                          <a:ea typeface="微軟正黑體" pitchFamily="34" charset="-120"/>
                        </a:rPr>
                        <a:t>說明</a:t>
                      </a:r>
                      <a:endParaRPr lang="zh-TW" sz="2000" dirty="0">
                        <a:effectLst/>
                        <a:latin typeface="微軟正黑體" pitchFamily="34" charset="-120"/>
                        <a:ea typeface="微軟正黑體" pitchFamily="34" charset="-120"/>
                      </a:endParaRPr>
                    </a:p>
                  </a:txBody>
                  <a:tcPr marL="68584" marR="68584" marT="0" marB="0" anchor="ctr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60193">
                <a:tc>
                  <a:txBody>
                    <a:bodyPr/>
                    <a:lstStyle/>
                    <a:p>
                      <a:pPr algn="ctr">
                        <a:lnSpc>
                          <a:spcPts val="2100"/>
                        </a:lnSpc>
                        <a:spcAft>
                          <a:spcPts val="1200"/>
                        </a:spcAft>
                      </a:pPr>
                      <a:r>
                        <a:rPr lang="en-US" sz="2000" b="0" dirty="0">
                          <a:effectLst/>
                          <a:latin typeface="微軟正黑體" pitchFamily="34" charset="-120"/>
                          <a:ea typeface="微軟正黑體" pitchFamily="34" charset="-120"/>
                        </a:rPr>
                        <a:t>str()</a:t>
                      </a:r>
                      <a:endParaRPr lang="zh-TW" sz="2000" b="0" dirty="0">
                        <a:effectLst/>
                        <a:latin typeface="微軟正黑體" pitchFamily="34" charset="-120"/>
                        <a:ea typeface="微軟正黑體" pitchFamily="34" charset="-120"/>
                      </a:endParaRPr>
                    </a:p>
                  </a:txBody>
                  <a:tcPr marL="68584" marR="68584" marT="0" marB="0" anchor="ctr">
                    <a:solidFill>
                      <a:srgbClr val="F6F2F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100"/>
                        </a:lnSpc>
                        <a:spcAft>
                          <a:spcPts val="1200"/>
                        </a:spcAft>
                      </a:pPr>
                      <a:r>
                        <a:rPr lang="zh-HK" sz="2000" b="0" dirty="0">
                          <a:effectLst/>
                          <a:latin typeface="微軟正黑體" pitchFamily="34" charset="-120"/>
                          <a:ea typeface="微軟正黑體" pitchFamily="34" charset="-120"/>
                        </a:rPr>
                        <a:t>將任何資料型態的參數轉換成字串型態</a:t>
                      </a:r>
                      <a:endParaRPr lang="zh-TW" sz="2000" b="0" dirty="0">
                        <a:effectLst/>
                        <a:latin typeface="微軟正黑體" pitchFamily="34" charset="-120"/>
                        <a:ea typeface="微軟正黑體" pitchFamily="34" charset="-120"/>
                      </a:endParaRPr>
                    </a:p>
                  </a:txBody>
                  <a:tcPr marL="68584" marR="68584" marT="0" marB="0" anchor="ctr">
                    <a:solidFill>
                      <a:srgbClr val="F6F2F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489379">
                <a:tc>
                  <a:txBody>
                    <a:bodyPr/>
                    <a:lstStyle/>
                    <a:p>
                      <a:pPr algn="ctr">
                        <a:lnSpc>
                          <a:spcPts val="2100"/>
                        </a:lnSpc>
                        <a:spcAft>
                          <a:spcPts val="1200"/>
                        </a:spcAft>
                      </a:pPr>
                      <a:r>
                        <a:rPr lang="en-US" sz="2000" b="0">
                          <a:effectLst/>
                          <a:latin typeface="微軟正黑體" pitchFamily="34" charset="-120"/>
                          <a:ea typeface="微軟正黑體" pitchFamily="34" charset="-120"/>
                        </a:rPr>
                        <a:t>int()</a:t>
                      </a:r>
                      <a:endParaRPr lang="zh-TW" sz="2000" b="0">
                        <a:effectLst/>
                        <a:latin typeface="微軟正黑體" pitchFamily="34" charset="-120"/>
                        <a:ea typeface="微軟正黑體" pitchFamily="34" charset="-120"/>
                      </a:endParaRPr>
                    </a:p>
                  </a:txBody>
                  <a:tcPr marL="68584" marR="68584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100"/>
                        </a:lnSpc>
                        <a:spcAft>
                          <a:spcPts val="1200"/>
                        </a:spcAft>
                      </a:pPr>
                      <a:r>
                        <a:rPr lang="zh-HK" sz="2000" b="0" dirty="0">
                          <a:effectLst/>
                          <a:latin typeface="微軟正黑體" pitchFamily="34" charset="-120"/>
                          <a:ea typeface="微軟正黑體" pitchFamily="34" charset="-120"/>
                        </a:rPr>
                        <a:t>將參數轉換成整數資料型態</a:t>
                      </a:r>
                      <a:r>
                        <a:rPr lang="zh-TW" sz="2000" b="0" dirty="0">
                          <a:effectLst/>
                          <a:latin typeface="微軟正黑體" pitchFamily="34" charset="-120"/>
                          <a:ea typeface="微軟正黑體" pitchFamily="34" charset="-120"/>
                        </a:rPr>
                        <a:t>，</a:t>
                      </a:r>
                      <a:r>
                        <a:rPr lang="zh-HK" sz="2000" b="0" dirty="0">
                          <a:effectLst/>
                          <a:latin typeface="微軟正黑體" pitchFamily="34" charset="-120"/>
                          <a:ea typeface="微軟正黑體" pitchFamily="34" charset="-120"/>
                        </a:rPr>
                        <a:t>參數如</a:t>
                      </a:r>
                      <a:r>
                        <a:rPr lang="zh-TW" sz="2000" b="0" dirty="0">
                          <a:effectLst/>
                          <a:latin typeface="微軟正黑體" pitchFamily="34" charset="-120"/>
                          <a:ea typeface="微軟正黑體" pitchFamily="34" charset="-120"/>
                        </a:rPr>
                        <a:t>果</a:t>
                      </a:r>
                      <a:r>
                        <a:rPr lang="zh-HK" sz="2000" b="0" dirty="0">
                          <a:effectLst/>
                          <a:latin typeface="微軟正黑體" pitchFamily="34" charset="-120"/>
                          <a:ea typeface="微軟正黑體" pitchFamily="34" charset="-120"/>
                        </a:rPr>
                        <a:t>是字串</a:t>
                      </a:r>
                      <a:r>
                        <a:rPr lang="zh-TW" sz="2000" b="0" dirty="0">
                          <a:effectLst/>
                          <a:latin typeface="微軟正黑體" pitchFamily="34" charset="-120"/>
                          <a:ea typeface="微軟正黑體" pitchFamily="34" charset="-120"/>
                        </a:rPr>
                        <a:t>，</a:t>
                      </a:r>
                      <a:r>
                        <a:rPr lang="zh-HK" sz="2000" b="0" dirty="0">
                          <a:effectLst/>
                          <a:latin typeface="微軟正黑體" pitchFamily="34" charset="-120"/>
                          <a:ea typeface="微軟正黑體" pitchFamily="34" charset="-120"/>
                        </a:rPr>
                        <a:t>字串內容只能是數字</a:t>
                      </a:r>
                      <a:r>
                        <a:rPr lang="zh-TW" sz="2000" b="0" dirty="0">
                          <a:effectLst/>
                          <a:latin typeface="微軟正黑體" pitchFamily="34" charset="-120"/>
                          <a:ea typeface="微軟正黑體" pitchFamily="34" charset="-120"/>
                        </a:rPr>
                        <a:t>，</a:t>
                      </a:r>
                      <a:r>
                        <a:rPr lang="zh-HK" sz="2000" b="0" dirty="0">
                          <a:effectLst/>
                          <a:latin typeface="微軟正黑體" pitchFamily="34" charset="-120"/>
                          <a:ea typeface="微軟正黑體" pitchFamily="34" charset="-120"/>
                        </a:rPr>
                        <a:t>如果是浮點數</a:t>
                      </a:r>
                      <a:r>
                        <a:rPr lang="zh-TW" sz="2000" b="0" dirty="0">
                          <a:effectLst/>
                          <a:latin typeface="微軟正黑體" pitchFamily="34" charset="-120"/>
                          <a:ea typeface="微軟正黑體" pitchFamily="34" charset="-120"/>
                        </a:rPr>
                        <a:t>，</a:t>
                      </a:r>
                      <a:r>
                        <a:rPr lang="zh-HK" sz="2000" b="0" dirty="0">
                          <a:effectLst/>
                          <a:latin typeface="微軟正黑體" pitchFamily="34" charset="-120"/>
                          <a:ea typeface="微軟正黑體" pitchFamily="34" charset="-120"/>
                        </a:rPr>
                        <a:t>轉換成整數會損失精確度</a:t>
                      </a:r>
                      <a:endParaRPr lang="zh-TW" sz="2000" b="0" dirty="0">
                        <a:effectLst/>
                        <a:latin typeface="微軟正黑體" pitchFamily="34" charset="-120"/>
                        <a:ea typeface="微軟正黑體" pitchFamily="34" charset="-120"/>
                      </a:endParaRPr>
                    </a:p>
                  </a:txBody>
                  <a:tcPr marL="68584" marR="68584" marT="0" marB="0" anchor="ctr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974786">
                <a:tc>
                  <a:txBody>
                    <a:bodyPr/>
                    <a:lstStyle/>
                    <a:p>
                      <a:pPr algn="ctr">
                        <a:lnSpc>
                          <a:spcPts val="2100"/>
                        </a:lnSpc>
                        <a:spcAft>
                          <a:spcPts val="1200"/>
                        </a:spcAft>
                      </a:pPr>
                      <a:r>
                        <a:rPr lang="en-US" sz="2000" b="0">
                          <a:effectLst/>
                          <a:latin typeface="微軟正黑體" pitchFamily="34" charset="-120"/>
                          <a:ea typeface="微軟正黑體" pitchFamily="34" charset="-120"/>
                        </a:rPr>
                        <a:t>float()</a:t>
                      </a:r>
                      <a:endParaRPr lang="zh-TW" sz="2000" b="0">
                        <a:effectLst/>
                        <a:latin typeface="微軟正黑體" pitchFamily="34" charset="-120"/>
                        <a:ea typeface="微軟正黑體" pitchFamily="34" charset="-120"/>
                      </a:endParaRPr>
                    </a:p>
                  </a:txBody>
                  <a:tcPr marL="68584" marR="68584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100"/>
                        </a:lnSpc>
                        <a:spcAft>
                          <a:spcPts val="1200"/>
                        </a:spcAft>
                      </a:pPr>
                      <a:r>
                        <a:rPr lang="zh-HK" sz="2000" b="0" dirty="0">
                          <a:effectLst/>
                          <a:latin typeface="微軟正黑體" pitchFamily="34" charset="-120"/>
                          <a:ea typeface="微軟正黑體" pitchFamily="34" charset="-120"/>
                        </a:rPr>
                        <a:t>將參數轉換成浮點數資料型態</a:t>
                      </a:r>
                      <a:r>
                        <a:rPr lang="zh-TW" sz="2000" b="0" dirty="0">
                          <a:effectLst/>
                          <a:latin typeface="微軟正黑體" pitchFamily="34" charset="-120"/>
                          <a:ea typeface="微軟正黑體" pitchFamily="34" charset="-120"/>
                        </a:rPr>
                        <a:t>，</a:t>
                      </a:r>
                      <a:r>
                        <a:rPr lang="zh-HK" sz="2000" b="0" dirty="0">
                          <a:effectLst/>
                          <a:latin typeface="微軟正黑體" pitchFamily="34" charset="-120"/>
                          <a:ea typeface="微軟正黑體" pitchFamily="34" charset="-120"/>
                        </a:rPr>
                        <a:t>如果是字串</a:t>
                      </a:r>
                      <a:r>
                        <a:rPr lang="zh-TW" sz="2000" b="0" dirty="0">
                          <a:effectLst/>
                          <a:latin typeface="微軟正黑體" pitchFamily="34" charset="-120"/>
                          <a:ea typeface="微軟正黑體" pitchFamily="34" charset="-120"/>
                        </a:rPr>
                        <a:t>，</a:t>
                      </a:r>
                      <a:r>
                        <a:rPr lang="zh-HK" sz="2000" b="0" dirty="0">
                          <a:effectLst/>
                          <a:latin typeface="微軟正黑體" pitchFamily="34" charset="-120"/>
                          <a:ea typeface="微軟正黑體" pitchFamily="34" charset="-120"/>
                        </a:rPr>
                        <a:t>字串內容只可以是數字和小數點</a:t>
                      </a:r>
                      <a:endParaRPr lang="zh-TW" sz="2000" b="0" dirty="0">
                        <a:effectLst/>
                        <a:latin typeface="微軟正黑體" pitchFamily="34" charset="-120"/>
                        <a:ea typeface="微軟正黑體" pitchFamily="34" charset="-120"/>
                      </a:endParaRPr>
                    </a:p>
                  </a:txBody>
                  <a:tcPr marL="68584" marR="68584" marT="0" marB="0" anchor="ctr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02" name="Rectangle 2">
            <a:extLst>
              <a:ext uri="{FF2B5EF4-FFF2-40B4-BE49-F238E27FC236}">
                <a16:creationId xmlns:a16="http://schemas.microsoft.com/office/drawing/2014/main" id="{03505BFC-B30D-90AF-ED6D-51C82B013D85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zh-TW"/>
              <a:t>3-4 </a:t>
            </a:r>
            <a:r>
              <a:rPr lang="zh-TW" altLang="en-US"/>
              <a:t>讓使用者輸入變數值</a:t>
            </a:r>
            <a:br>
              <a:rPr lang="zh-TW" altLang="en-US"/>
            </a:br>
            <a:r>
              <a:rPr lang="zh-TW" altLang="en-US" sz="2800"/>
              <a:t>從鍵盤輸入字串資料</a:t>
            </a:r>
            <a:endParaRPr lang="zh-TW" altLang="en-US"/>
          </a:p>
        </p:txBody>
      </p:sp>
      <p:sp>
        <p:nvSpPr>
          <p:cNvPr id="25603" name="Rectangle 3">
            <a:extLst>
              <a:ext uri="{FF2B5EF4-FFF2-40B4-BE49-F238E27FC236}">
                <a16:creationId xmlns:a16="http://schemas.microsoft.com/office/drawing/2014/main" id="{1E9E6635-762B-CEDB-6FDB-2F668AC8B9C6}"/>
              </a:ext>
            </a:extLst>
          </p:cNvPr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pPr eaLnBrk="1" hangingPunct="1"/>
            <a:r>
              <a:rPr lang="en-US" altLang="zh-TW"/>
              <a:t>Python</a:t>
            </a:r>
            <a:r>
              <a:rPr lang="zh-TW" altLang="en-US"/>
              <a:t>可以讓使用者以鍵盤輸入變數值，這就是第</a:t>
            </a:r>
            <a:r>
              <a:rPr lang="en-US" altLang="zh-TW"/>
              <a:t>2-3-2</a:t>
            </a:r>
            <a:r>
              <a:rPr lang="zh-TW" altLang="en-US"/>
              <a:t>節的主控台輸入，我們是使用</a:t>
            </a:r>
            <a:r>
              <a:rPr lang="en-US" altLang="zh-TW"/>
              <a:t>input()</a:t>
            </a:r>
            <a:r>
              <a:rPr lang="zh-TW" altLang="en-US"/>
              <a:t>函數讓使用者輸入字串文字值。</a:t>
            </a:r>
          </a:p>
          <a:p>
            <a:pPr eaLnBrk="1" hangingPunct="1"/>
            <a:r>
              <a:rPr lang="zh-TW" altLang="en-US"/>
              <a:t>當變數值可以讓使用者自行使用鍵盤來輸入時，我們建立的</a:t>
            </a:r>
            <a:r>
              <a:rPr lang="en-US" altLang="zh-TW"/>
              <a:t>Python</a:t>
            </a:r>
            <a:r>
              <a:rPr lang="zh-TW" altLang="en-US"/>
              <a:t>程式就擁有更多的彈性，因為變數存入的值是在執行</a:t>
            </a:r>
            <a:r>
              <a:rPr lang="en-US" altLang="zh-TW"/>
              <a:t>Python</a:t>
            </a:r>
            <a:r>
              <a:rPr lang="zh-TW" altLang="en-US"/>
              <a:t>程式時，才讓使用者自行從鍵盤輸入，而不是撰寫</a:t>
            </a:r>
            <a:r>
              <a:rPr lang="en-US" altLang="zh-TW"/>
              <a:t>Python</a:t>
            </a:r>
            <a:r>
              <a:rPr lang="zh-TW" altLang="en-US"/>
              <a:t>程式碼來指定其值。</a:t>
            </a:r>
          </a:p>
          <a:p>
            <a:pPr marL="400050" lvl="1" indent="0" eaLnBrk="1" hangingPunct="1">
              <a:buNone/>
            </a:pPr>
            <a:endParaRPr lang="zh-TW" altLang="en-US">
              <a:solidFill>
                <a:srgbClr val="FF3399"/>
              </a:solidFill>
            </a:endParaRPr>
          </a:p>
        </p:txBody>
      </p:sp>
    </p:spTree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26" name="Rectangle 2">
            <a:extLst>
              <a:ext uri="{FF2B5EF4-FFF2-40B4-BE49-F238E27FC236}">
                <a16:creationId xmlns:a16="http://schemas.microsoft.com/office/drawing/2014/main" id="{2A261C53-7B71-0E90-DE7B-59C1D14ACBF6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zh-TW"/>
              <a:t>3-4 </a:t>
            </a:r>
            <a:r>
              <a:rPr lang="zh-TW" altLang="en-US"/>
              <a:t>讓使用者輸入變數值</a:t>
            </a:r>
            <a:br>
              <a:rPr lang="zh-TW" altLang="en-US"/>
            </a:br>
            <a:r>
              <a:rPr lang="zh-TW" altLang="en-US" sz="2800"/>
              <a:t>從鍵盤輸入字串資料</a:t>
            </a:r>
            <a:endParaRPr lang="zh-TW" altLang="en-US"/>
          </a:p>
        </p:txBody>
      </p:sp>
      <p:sp>
        <p:nvSpPr>
          <p:cNvPr id="26627" name="Rectangle 3">
            <a:extLst>
              <a:ext uri="{FF2B5EF4-FFF2-40B4-BE49-F238E27FC236}">
                <a16:creationId xmlns:a16="http://schemas.microsoft.com/office/drawing/2014/main" id="{9F8DEB1C-AE47-455E-4B91-3870A7CED672}"/>
              </a:ext>
            </a:extLst>
          </p:cNvPr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pPr eaLnBrk="1" hangingPunct="1"/>
            <a:r>
              <a:rPr lang="en-US" altLang="zh-TW"/>
              <a:t>Python</a:t>
            </a:r>
            <a:r>
              <a:rPr lang="zh-TW" altLang="en-US"/>
              <a:t>程式是呼叫</a:t>
            </a:r>
            <a:r>
              <a:rPr lang="en-US" altLang="zh-TW"/>
              <a:t>input()</a:t>
            </a:r>
            <a:r>
              <a:rPr lang="zh-TW" altLang="en-US"/>
              <a:t>函數來輸入字串資料型態的資料，如下所示：</a:t>
            </a:r>
          </a:p>
          <a:p>
            <a:pPr marL="400050" lvl="1" indent="0" eaLnBrk="1" hangingPunct="1">
              <a:buNone/>
            </a:pPr>
            <a:r>
              <a:rPr lang="en-US" altLang="zh-TW">
                <a:solidFill>
                  <a:srgbClr val="FF3399"/>
                </a:solidFill>
              </a:rPr>
              <a:t>score = input("</a:t>
            </a:r>
            <a:r>
              <a:rPr lang="zh-TW" altLang="en-US">
                <a:solidFill>
                  <a:srgbClr val="FF3399"/>
                </a:solidFill>
              </a:rPr>
              <a:t>請輸入整數值</a:t>
            </a:r>
            <a:r>
              <a:rPr lang="en-US" altLang="zh-TW">
                <a:solidFill>
                  <a:srgbClr val="FF3399"/>
                </a:solidFill>
              </a:rPr>
              <a:t>==&gt; ")  # </a:t>
            </a:r>
            <a:r>
              <a:rPr lang="zh-TW" altLang="en-US">
                <a:solidFill>
                  <a:srgbClr val="FF3399"/>
                </a:solidFill>
              </a:rPr>
              <a:t>輸入字串文字值</a:t>
            </a:r>
          </a:p>
        </p:txBody>
      </p:sp>
      <p:pic>
        <p:nvPicPr>
          <p:cNvPr id="26628" name="Picture 4">
            <a:extLst>
              <a:ext uri="{FF2B5EF4-FFF2-40B4-BE49-F238E27FC236}">
                <a16:creationId xmlns:a16="http://schemas.microsoft.com/office/drawing/2014/main" id="{3F2443C4-3D08-1A58-DC4B-ACC0F07FDCB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503613" y="3213100"/>
            <a:ext cx="5783262" cy="29146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650" name="標題 1">
            <a:extLst>
              <a:ext uri="{FF2B5EF4-FFF2-40B4-BE49-F238E27FC236}">
                <a16:creationId xmlns:a16="http://schemas.microsoft.com/office/drawing/2014/main" id="{35F0F9A1-64AF-B267-A28A-3C50C56452C4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zh-TW"/>
              <a:t>3-4 </a:t>
            </a:r>
            <a:r>
              <a:rPr lang="zh-TW" altLang="en-US"/>
              <a:t>讓使用者輸入變數值</a:t>
            </a:r>
            <a:br>
              <a:rPr lang="zh-TW" altLang="en-US"/>
            </a:br>
            <a:r>
              <a:rPr lang="zh-TW" altLang="en-US" sz="2800"/>
              <a:t>從鍵盤輸入數值資料</a:t>
            </a:r>
            <a:endParaRPr lang="zh-TW" altLang="en-US">
              <a:ea typeface="新細明體" panose="02020500000000000000" pitchFamily="18" charset="-120"/>
            </a:endParaRPr>
          </a:p>
        </p:txBody>
      </p:sp>
      <p:sp>
        <p:nvSpPr>
          <p:cNvPr id="27651" name="內容版面配置區 2">
            <a:extLst>
              <a:ext uri="{FF2B5EF4-FFF2-40B4-BE49-F238E27FC236}">
                <a16:creationId xmlns:a16="http://schemas.microsoft.com/office/drawing/2014/main" id="{982707C1-0D02-7221-263D-FF7129110509}"/>
              </a:ext>
            </a:extLst>
          </p:cNvPr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pPr eaLnBrk="1" hangingPunct="1"/>
            <a:r>
              <a:rPr lang="zh-TW" altLang="en-US"/>
              <a:t>請注意！</a:t>
            </a:r>
            <a:r>
              <a:rPr lang="en-US" altLang="zh-TW"/>
              <a:t>input()</a:t>
            </a:r>
            <a:r>
              <a:rPr lang="zh-TW" altLang="en-US"/>
              <a:t>函數只能輸入字串文字值，我們需要使用第</a:t>
            </a:r>
            <a:r>
              <a:rPr lang="en-US" altLang="zh-TW"/>
              <a:t>3-3-2</a:t>
            </a:r>
            <a:r>
              <a:rPr lang="zh-TW" altLang="en-US"/>
              <a:t>節的</a:t>
            </a:r>
            <a:r>
              <a:rPr lang="en-US" altLang="zh-TW"/>
              <a:t>int()</a:t>
            </a:r>
            <a:r>
              <a:rPr lang="zh-TW" altLang="en-US"/>
              <a:t>和</a:t>
            </a:r>
            <a:r>
              <a:rPr lang="en-US" altLang="zh-TW"/>
              <a:t>float()</a:t>
            </a:r>
            <a:r>
              <a:rPr lang="zh-TW" altLang="en-US"/>
              <a:t>資料型態轉換函數來轉換成整數變數</a:t>
            </a:r>
            <a:r>
              <a:rPr lang="en-US" altLang="zh-TW"/>
              <a:t>score2</a:t>
            </a:r>
            <a:r>
              <a:rPr lang="zh-TW" altLang="en-US"/>
              <a:t>和浮點數變數</a:t>
            </a:r>
            <a:r>
              <a:rPr lang="en-US" altLang="zh-TW"/>
              <a:t>score3</a:t>
            </a:r>
            <a:r>
              <a:rPr lang="zh-TW" altLang="en-US"/>
              <a:t>，如下所示：</a:t>
            </a:r>
          </a:p>
          <a:p>
            <a:pPr marL="457200" lvl="1" indent="0" eaLnBrk="1" hangingPunct="1">
              <a:buNone/>
            </a:pPr>
            <a:r>
              <a:rPr lang="en-US" altLang="zh-TW">
                <a:solidFill>
                  <a:srgbClr val="FF3399"/>
                </a:solidFill>
              </a:rPr>
              <a:t>score2 = int(score)</a:t>
            </a:r>
          </a:p>
          <a:p>
            <a:pPr marL="457200" lvl="1" indent="0" eaLnBrk="1" hangingPunct="1">
              <a:buNone/>
            </a:pPr>
            <a:r>
              <a:rPr lang="en-US" altLang="zh-TW">
                <a:solidFill>
                  <a:srgbClr val="FF3399"/>
                </a:solidFill>
              </a:rPr>
              <a:t>score3 = float(score)</a:t>
            </a:r>
          </a:p>
          <a:p>
            <a:pPr eaLnBrk="1" hangingPunct="1"/>
            <a:endParaRPr lang="zh-TW" altLang="en-US">
              <a:ea typeface="新細明體" panose="02020500000000000000" pitchFamily="18" charset="-120"/>
            </a:endParaRPr>
          </a:p>
        </p:txBody>
      </p:sp>
    </p:spTree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內容版面配置區 3"/>
          <p:cNvSpPr>
            <a:spLocks noGrp="1"/>
          </p:cNvSpPr>
          <p:nvPr>
            <p:ph sz="quarter" idx="10"/>
          </p:nvPr>
        </p:nvSpPr>
        <p:spPr/>
        <p:txBody>
          <a:bodyPr/>
          <a:lstStyle/>
          <a:p>
            <a:pPr lvl="1"/>
            <a:r>
              <a:rPr lang="en-US" altLang="zh-TW" dirty="0"/>
              <a:t>print </a:t>
            </a:r>
            <a:r>
              <a:rPr lang="zh-TW" altLang="en-US" dirty="0"/>
              <a:t>輸出命令</a:t>
            </a:r>
          </a:p>
          <a:p>
            <a:pPr lvl="3"/>
            <a:r>
              <a:rPr lang="en-US" altLang="zh-TW" dirty="0"/>
              <a:t>print </a:t>
            </a:r>
            <a:r>
              <a:rPr lang="zh-TW" altLang="en-US" dirty="0"/>
              <a:t>命令能列印指定項目的內容，語法為：</a:t>
            </a:r>
            <a:endParaRPr lang="en-US" altLang="zh-TW" dirty="0"/>
          </a:p>
          <a:p>
            <a:pPr lvl="3"/>
            <a:endParaRPr lang="en-US" altLang="zh-TW" dirty="0"/>
          </a:p>
          <a:p>
            <a:pPr lvl="3"/>
            <a:endParaRPr lang="en-US" altLang="zh-TW" dirty="0"/>
          </a:p>
          <a:p>
            <a:pPr lvl="4">
              <a:buFont typeface="Wingdings" panose="05000000000000000000" pitchFamily="2" charset="2"/>
              <a:buChar char="n"/>
            </a:pPr>
            <a:r>
              <a:rPr lang="zh-TW" altLang="en-US" b="1" dirty="0"/>
              <a:t>項目</a:t>
            </a:r>
            <a:r>
              <a:rPr lang="en-US" altLang="zh-TW" b="1" dirty="0"/>
              <a:t>1,</a:t>
            </a:r>
            <a:r>
              <a:rPr lang="zh-TW" altLang="en-US" b="1" dirty="0"/>
              <a:t>項目</a:t>
            </a:r>
            <a:r>
              <a:rPr lang="en-US" altLang="zh-TW" b="1" dirty="0"/>
              <a:t>2,……</a:t>
            </a:r>
            <a:r>
              <a:rPr lang="zh-TW" altLang="en-US" dirty="0"/>
              <a:t>：</a:t>
            </a:r>
            <a:r>
              <a:rPr lang="en-US" altLang="zh-TW" dirty="0"/>
              <a:t>print </a:t>
            </a:r>
            <a:r>
              <a:rPr lang="zh-TW" altLang="en-US" dirty="0"/>
              <a:t>命令可以一次列印多個項目資料，項目之間以逗號「</a:t>
            </a:r>
            <a:r>
              <a:rPr lang="en-US" altLang="zh-TW" dirty="0"/>
              <a:t>,</a:t>
            </a:r>
            <a:r>
              <a:rPr lang="zh-TW" altLang="en-US" dirty="0"/>
              <a:t>」分開。</a:t>
            </a:r>
          </a:p>
          <a:p>
            <a:pPr lvl="4">
              <a:buFont typeface="Wingdings" panose="05000000000000000000" pitchFamily="2" charset="2"/>
              <a:buChar char="n"/>
            </a:pPr>
            <a:r>
              <a:rPr lang="en-US" altLang="zh-TW" b="1" dirty="0" err="1"/>
              <a:t>sep</a:t>
            </a:r>
            <a:r>
              <a:rPr lang="zh-TW" altLang="en-US" dirty="0"/>
              <a:t>：分隔字元，如果列印多個項目，項目之間以分隔符號區隔，預設值為一個空白字元 </a:t>
            </a:r>
            <a:r>
              <a:rPr lang="en-US" altLang="zh-TW" dirty="0"/>
              <a:t>(" ")</a:t>
            </a:r>
            <a:r>
              <a:rPr lang="zh-TW" altLang="en-US" dirty="0"/>
              <a:t>。</a:t>
            </a:r>
          </a:p>
          <a:p>
            <a:pPr lvl="4">
              <a:buFont typeface="Wingdings" panose="05000000000000000000" pitchFamily="2" charset="2"/>
              <a:buChar char="n"/>
            </a:pPr>
            <a:r>
              <a:rPr lang="en-US" altLang="zh-TW" b="1" dirty="0"/>
              <a:t>end</a:t>
            </a:r>
            <a:r>
              <a:rPr lang="zh-TW" altLang="en-US" dirty="0"/>
              <a:t>：結束字元，列印完畢後自動加入的字元，預設值為換列字元 </a:t>
            </a:r>
            <a:r>
              <a:rPr lang="en-US" altLang="zh-TW" dirty="0"/>
              <a:t>("\n")</a:t>
            </a:r>
            <a:r>
              <a:rPr lang="zh-TW" altLang="en-US" dirty="0"/>
              <a:t>，所以下一次執行 </a:t>
            </a:r>
            <a:r>
              <a:rPr lang="en-US" altLang="zh-TW" dirty="0"/>
              <a:t>print </a:t>
            </a:r>
            <a:r>
              <a:rPr lang="zh-TW" altLang="en-US" dirty="0"/>
              <a:t>命令會列印在下一列。</a:t>
            </a:r>
          </a:p>
        </p:txBody>
      </p:sp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dirty="0"/>
              <a:t>輸出與輸入</a:t>
            </a:r>
          </a:p>
        </p:txBody>
      </p:sp>
      <p:pic>
        <p:nvPicPr>
          <p:cNvPr id="8194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135560" y="2420888"/>
            <a:ext cx="7497464" cy="37941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1904274129"/>
      </p:ext>
    </p:extLst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內容版面配置區 3"/>
          <p:cNvSpPr>
            <a:spLocks noGrp="1"/>
          </p:cNvSpPr>
          <p:nvPr>
            <p:ph sz="quarter" idx="10"/>
          </p:nvPr>
        </p:nvSpPr>
        <p:spPr/>
        <p:txBody>
          <a:bodyPr/>
          <a:lstStyle/>
          <a:p>
            <a:pPr lvl="2"/>
            <a:r>
              <a:rPr lang="zh-TW" altLang="en-US" dirty="0"/>
              <a:t>「</a:t>
            </a:r>
            <a:r>
              <a:rPr lang="en-US" altLang="zh-TW" dirty="0"/>
              <a:t>%</a:t>
            </a:r>
            <a:r>
              <a:rPr lang="zh-TW" altLang="en-US" dirty="0"/>
              <a:t>」字串格式化</a:t>
            </a:r>
          </a:p>
          <a:p>
            <a:pPr lvl="3"/>
            <a:r>
              <a:rPr lang="en-US" altLang="zh-TW" dirty="0"/>
              <a:t>print </a:t>
            </a:r>
            <a:r>
              <a:rPr lang="zh-TW" altLang="en-US" dirty="0"/>
              <a:t>命令支援字串格式化功能，語法為：</a:t>
            </a:r>
            <a:endParaRPr lang="en-US" altLang="zh-TW" dirty="0"/>
          </a:p>
          <a:p>
            <a:pPr lvl="3"/>
            <a:r>
              <a:rPr lang="zh-TW" altLang="en-US" dirty="0"/>
              <a:t>常用的參數有：</a:t>
            </a:r>
          </a:p>
        </p:txBody>
      </p:sp>
      <p:pic>
        <p:nvPicPr>
          <p:cNvPr id="9218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312025" y="1196752"/>
            <a:ext cx="3598143" cy="36967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9219" name="Picture 3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711625" y="2204864"/>
            <a:ext cx="6505153" cy="24416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1000721472"/>
      </p:ext>
    </p:extLst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內容版面配置區 3"/>
          <p:cNvSpPr>
            <a:spLocks noGrp="1"/>
          </p:cNvSpPr>
          <p:nvPr>
            <p:ph sz="quarter" idx="10"/>
          </p:nvPr>
        </p:nvSpPr>
        <p:spPr/>
        <p:txBody>
          <a:bodyPr/>
          <a:lstStyle/>
          <a:p>
            <a:pPr lvl="3"/>
            <a:r>
              <a:rPr lang="zh-TW" altLang="en-US" dirty="0"/>
              <a:t>即以「</a:t>
            </a:r>
            <a:r>
              <a:rPr lang="en-US" altLang="zh-TW" dirty="0"/>
              <a:t>%s</a:t>
            </a:r>
            <a:r>
              <a:rPr lang="zh-TW" altLang="en-US" dirty="0"/>
              <a:t>」代表字串、「</a:t>
            </a:r>
            <a:r>
              <a:rPr lang="en-US" altLang="zh-TW" dirty="0"/>
              <a:t>%d</a:t>
            </a:r>
            <a:r>
              <a:rPr lang="zh-TW" altLang="en-US" dirty="0"/>
              <a:t>」代表整數、「</a:t>
            </a:r>
            <a:r>
              <a:rPr lang="en-US" altLang="zh-TW" dirty="0"/>
              <a:t>%f</a:t>
            </a:r>
            <a:r>
              <a:rPr lang="zh-TW" altLang="en-US" dirty="0"/>
              <a:t>」代表浮點數，字串格式化方式可以精確控制列印位置，讓輸出的資料整齊排列，例如：</a:t>
            </a:r>
            <a:endParaRPr lang="en-US" altLang="zh-TW" dirty="0"/>
          </a:p>
          <a:p>
            <a:pPr lvl="4">
              <a:buFont typeface="Wingdings" panose="05000000000000000000" pitchFamily="2" charset="2"/>
              <a:buChar char="n"/>
            </a:pPr>
            <a:r>
              <a:rPr lang="en-US" altLang="zh-TW" dirty="0"/>
              <a:t>%5d</a:t>
            </a:r>
            <a:r>
              <a:rPr lang="zh-TW" altLang="en-US" dirty="0"/>
              <a:t>：固定列印 </a:t>
            </a:r>
            <a:r>
              <a:rPr lang="en-US" altLang="zh-TW" dirty="0"/>
              <a:t>5 </a:t>
            </a:r>
            <a:r>
              <a:rPr lang="zh-TW" altLang="en-US" dirty="0"/>
              <a:t>個字元，若少於 </a:t>
            </a:r>
            <a:r>
              <a:rPr lang="en-US" altLang="zh-TW" dirty="0"/>
              <a:t>5 </a:t>
            </a:r>
            <a:r>
              <a:rPr lang="zh-TW" altLang="en-US" dirty="0"/>
              <a:t>位數，會在數字左方填入空白字元</a:t>
            </a:r>
            <a:r>
              <a:rPr lang="en-US" altLang="zh-TW" dirty="0"/>
              <a:t>(</a:t>
            </a:r>
            <a:r>
              <a:rPr lang="zh-TW" altLang="en-US" dirty="0"/>
              <a:t>若大於 </a:t>
            </a:r>
            <a:r>
              <a:rPr lang="en-US" altLang="zh-TW" dirty="0"/>
              <a:t>5 </a:t>
            </a:r>
            <a:r>
              <a:rPr lang="zh-TW" altLang="en-US" dirty="0"/>
              <a:t>位數則會全部列印</a:t>
            </a:r>
            <a:r>
              <a:rPr lang="en-US" altLang="zh-TW" dirty="0"/>
              <a:t>)</a:t>
            </a:r>
            <a:r>
              <a:rPr lang="zh-TW" altLang="en-US" dirty="0"/>
              <a:t>。</a:t>
            </a:r>
          </a:p>
          <a:p>
            <a:pPr lvl="4">
              <a:buFont typeface="Wingdings" panose="05000000000000000000" pitchFamily="2" charset="2"/>
              <a:buChar char="n"/>
            </a:pPr>
            <a:r>
              <a:rPr lang="en-US" altLang="zh-TW" dirty="0"/>
              <a:t>%5s</a:t>
            </a:r>
            <a:r>
              <a:rPr lang="zh-TW" altLang="en-US" dirty="0"/>
              <a:t>：固定列印 </a:t>
            </a:r>
            <a:r>
              <a:rPr lang="en-US" altLang="zh-TW" dirty="0"/>
              <a:t>5 </a:t>
            </a:r>
            <a:r>
              <a:rPr lang="zh-TW" altLang="en-US" dirty="0"/>
              <a:t>個字元，若字串少於 </a:t>
            </a:r>
            <a:r>
              <a:rPr lang="en-US" altLang="zh-TW" dirty="0"/>
              <a:t>5 </a:t>
            </a:r>
            <a:r>
              <a:rPr lang="zh-TW" altLang="en-US" dirty="0"/>
              <a:t>個字元，會在字串左方填入空白字元 </a:t>
            </a:r>
            <a:r>
              <a:rPr lang="en-US" altLang="zh-TW" dirty="0"/>
              <a:t>(</a:t>
            </a:r>
            <a:r>
              <a:rPr lang="zh-TW" altLang="en-US" dirty="0"/>
              <a:t>若大於 </a:t>
            </a:r>
            <a:r>
              <a:rPr lang="en-US" altLang="zh-TW" dirty="0"/>
              <a:t>5 </a:t>
            </a:r>
            <a:r>
              <a:rPr lang="zh-TW" altLang="en-US" dirty="0"/>
              <a:t>個字元則會全部列印</a:t>
            </a:r>
            <a:r>
              <a:rPr lang="en-US" altLang="zh-TW" dirty="0"/>
              <a:t>)</a:t>
            </a:r>
            <a:r>
              <a:rPr lang="zh-TW" altLang="en-US" dirty="0"/>
              <a:t>。</a:t>
            </a:r>
          </a:p>
          <a:p>
            <a:pPr lvl="4">
              <a:buFont typeface="Wingdings" panose="05000000000000000000" pitchFamily="2" charset="2"/>
              <a:buChar char="n"/>
            </a:pPr>
            <a:r>
              <a:rPr lang="en-US" altLang="zh-TW" dirty="0"/>
              <a:t>%8.2f</a:t>
            </a:r>
            <a:r>
              <a:rPr lang="zh-TW" altLang="en-US" dirty="0"/>
              <a:t>：固定列印 </a:t>
            </a:r>
            <a:r>
              <a:rPr lang="en-US" altLang="zh-TW" dirty="0"/>
              <a:t>8 </a:t>
            </a:r>
            <a:r>
              <a:rPr lang="zh-TW" altLang="en-US" dirty="0"/>
              <a:t>個字元 </a:t>
            </a:r>
            <a:r>
              <a:rPr lang="en-US" altLang="zh-TW" dirty="0"/>
              <a:t>(</a:t>
            </a:r>
            <a:r>
              <a:rPr lang="zh-TW" altLang="en-US" dirty="0"/>
              <a:t>含小數點</a:t>
            </a:r>
            <a:r>
              <a:rPr lang="en-US" altLang="zh-TW" dirty="0"/>
              <a:t>)</a:t>
            </a:r>
            <a:r>
              <a:rPr lang="zh-TW" altLang="en-US" dirty="0"/>
              <a:t>，小數固定列印 </a:t>
            </a:r>
            <a:r>
              <a:rPr lang="en-US" altLang="zh-TW" dirty="0"/>
              <a:t>2 </a:t>
            </a:r>
            <a:r>
              <a:rPr lang="zh-TW" altLang="en-US" dirty="0"/>
              <a:t>位數。若整數少於 </a:t>
            </a:r>
            <a:r>
              <a:rPr lang="en-US" altLang="zh-TW" dirty="0"/>
              <a:t>5 </a:t>
            </a:r>
            <a:r>
              <a:rPr lang="zh-TW" altLang="en-US" dirty="0"/>
              <a:t>位數 </a:t>
            </a:r>
            <a:r>
              <a:rPr lang="en-US" altLang="zh-TW" dirty="0"/>
              <a:t>(8-3=5)</a:t>
            </a:r>
            <a:r>
              <a:rPr lang="zh-TW" altLang="en-US" dirty="0"/>
              <a:t>，會在數字左方填入空白字元 ；若小數少於 </a:t>
            </a:r>
            <a:r>
              <a:rPr lang="en-US" altLang="zh-TW" dirty="0"/>
              <a:t>2 </a:t>
            </a:r>
            <a:r>
              <a:rPr lang="zh-TW" altLang="en-US" dirty="0"/>
              <a:t>位數，會在數字右方填入「</a:t>
            </a:r>
            <a:r>
              <a:rPr lang="en-US" altLang="zh-TW" dirty="0"/>
              <a:t>0</a:t>
            </a:r>
            <a:r>
              <a:rPr lang="zh-TW" altLang="en-US" dirty="0"/>
              <a:t>」字元。</a:t>
            </a:r>
          </a:p>
        </p:txBody>
      </p:sp>
    </p:spTree>
    <p:extLst>
      <p:ext uri="{BB962C8B-B14F-4D97-AF65-F5344CB8AC3E}">
        <p14:creationId xmlns:p14="http://schemas.microsoft.com/office/powerpoint/2010/main" val="1856533834"/>
      </p:ext>
    </p:extLst>
  </p:cSld>
  <p:clrMapOvr>
    <a:masterClrMapping/>
  </p:clrMapOvr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內容版面配置區 3"/>
          <p:cNvSpPr>
            <a:spLocks noGrp="1"/>
          </p:cNvSpPr>
          <p:nvPr>
            <p:ph sz="quarter" idx="10"/>
          </p:nvPr>
        </p:nvSpPr>
        <p:spPr/>
        <p:txBody>
          <a:bodyPr/>
          <a:lstStyle/>
          <a:p>
            <a:pPr lvl="2"/>
            <a:r>
              <a:rPr lang="zh-TW" altLang="en-US" dirty="0"/>
              <a:t>「</a:t>
            </a:r>
            <a:r>
              <a:rPr lang="en-US" altLang="zh-TW" dirty="0"/>
              <a:t>format</a:t>
            </a:r>
            <a:r>
              <a:rPr lang="zh-TW" altLang="en-US" dirty="0"/>
              <a:t>」字串格式化</a:t>
            </a:r>
          </a:p>
          <a:p>
            <a:pPr lvl="3"/>
            <a:r>
              <a:rPr lang="zh-TW" altLang="en-US" dirty="0"/>
              <a:t>字串的 </a:t>
            </a:r>
            <a:r>
              <a:rPr lang="en-US" altLang="zh-TW" dirty="0"/>
              <a:t>format </a:t>
            </a:r>
            <a:r>
              <a:rPr lang="zh-TW" altLang="en-US" dirty="0"/>
              <a:t>方法也可將輸出資料格式化，以一對大括號「</a:t>
            </a:r>
            <a:r>
              <a:rPr lang="en-US" altLang="zh-TW" dirty="0"/>
              <a:t>{}</a:t>
            </a:r>
            <a:r>
              <a:rPr lang="zh-TW" altLang="en-US" dirty="0"/>
              <a:t>」表示參數的位置，語法為：</a:t>
            </a:r>
            <a:endParaRPr lang="en-US" altLang="zh-TW" dirty="0"/>
          </a:p>
          <a:p>
            <a:pPr lvl="3"/>
            <a:endParaRPr lang="en-US" altLang="zh-TW" dirty="0"/>
          </a:p>
          <a:p>
            <a:pPr lvl="3"/>
            <a:endParaRPr lang="en-US" altLang="zh-TW" dirty="0"/>
          </a:p>
          <a:p>
            <a:pPr lvl="3"/>
            <a:endParaRPr lang="en-US" altLang="zh-TW" dirty="0"/>
          </a:p>
          <a:p>
            <a:pPr lvl="3"/>
            <a:r>
              <a:rPr lang="zh-TW" altLang="en-US" dirty="0"/>
              <a:t>一年二班有三位同學，請設計程式幫老師以 </a:t>
            </a:r>
            <a:r>
              <a:rPr lang="en-US" altLang="zh-TW" dirty="0"/>
              <a:t>print </a:t>
            </a:r>
            <a:r>
              <a:rPr lang="zh-TW" altLang="en-US" dirty="0"/>
              <a:t>命令的字串格式化方式整齊列印出班級成績單。</a:t>
            </a:r>
            <a:r>
              <a:rPr lang="en-US" altLang="zh-TW" dirty="0"/>
              <a:t>(&lt;format.py&gt;)</a:t>
            </a:r>
            <a:endParaRPr lang="zh-TW" altLang="en-US" dirty="0"/>
          </a:p>
        </p:txBody>
      </p:sp>
      <p:pic>
        <p:nvPicPr>
          <p:cNvPr id="10242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071664" y="1772817"/>
            <a:ext cx="4061246" cy="37797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0243" name="Picture 3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75999" y="2118401"/>
            <a:ext cx="8312655" cy="1008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0245" name="Picture 5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13990" y="3731488"/>
            <a:ext cx="6669462" cy="1800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8" name="文字方塊 7">
            <a:extLst>
              <a:ext uri="{FF2B5EF4-FFF2-40B4-BE49-F238E27FC236}">
                <a16:creationId xmlns:a16="http://schemas.microsoft.com/office/drawing/2014/main" id="{602C8BCB-A725-4E2A-B18E-DB2A56973902}"/>
              </a:ext>
            </a:extLst>
          </p:cNvPr>
          <p:cNvSpPr txBox="1"/>
          <p:nvPr/>
        </p:nvSpPr>
        <p:spPr>
          <a:xfrm>
            <a:off x="575999" y="5516235"/>
            <a:ext cx="9577137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TW" altLang="en-US" dirty="0"/>
              <a:t>print("姓名   座號  國文  數學  英文")</a:t>
            </a:r>
          </a:p>
          <a:p>
            <a:r>
              <a:rPr lang="zh-TW" altLang="en-US" dirty="0"/>
              <a:t>print("%3s  %2d   %3d   %3d   %3d" % ("林大明", 1, 100, 87, 79))</a:t>
            </a:r>
          </a:p>
          <a:p>
            <a:r>
              <a:rPr lang="zh-TW" altLang="en-US" dirty="0"/>
              <a:t>print("%3s  %2d   %3d   %3d   %3d" % ("陳阿中", 2, 74, 88, 100))</a:t>
            </a:r>
          </a:p>
          <a:p>
            <a:r>
              <a:rPr lang="zh-TW" altLang="en-US" dirty="0"/>
              <a:t>print("%3s  %2d   %3d   %3d   %3d" % ("張小英", 11, 82, 65, 8))</a:t>
            </a:r>
          </a:p>
        </p:txBody>
      </p:sp>
    </p:spTree>
    <p:extLst>
      <p:ext uri="{BB962C8B-B14F-4D97-AF65-F5344CB8AC3E}">
        <p14:creationId xmlns:p14="http://schemas.microsoft.com/office/powerpoint/2010/main" val="4203359617"/>
      </p:ext>
    </p:extLst>
  </p:cSld>
  <p:clrMapOvr>
    <a:masterClrMapping/>
  </p:clrMapOvr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內容版面配置區 1"/>
          <p:cNvSpPr>
            <a:spLocks noGrp="1"/>
          </p:cNvSpPr>
          <p:nvPr>
            <p:ph sz="quarter" idx="10"/>
          </p:nvPr>
        </p:nvSpPr>
        <p:spPr/>
        <p:txBody>
          <a:bodyPr/>
          <a:lstStyle/>
          <a:p>
            <a:pPr lvl="1"/>
            <a:r>
              <a:rPr lang="en-US" altLang="zh-TW" dirty="0"/>
              <a:t>input </a:t>
            </a:r>
            <a:r>
              <a:rPr lang="zh-TW" altLang="en-US" dirty="0"/>
              <a:t>輸入命令</a:t>
            </a:r>
            <a:endParaRPr lang="en-US" altLang="zh-TW" dirty="0"/>
          </a:p>
          <a:p>
            <a:pPr lvl="3"/>
            <a:r>
              <a:rPr lang="en-US" altLang="zh-TW" dirty="0"/>
              <a:t>input </a:t>
            </a:r>
            <a:r>
              <a:rPr lang="zh-TW" altLang="en-US" dirty="0"/>
              <a:t>命令的語法為：</a:t>
            </a:r>
            <a:endParaRPr lang="en-US" altLang="zh-TW" dirty="0"/>
          </a:p>
          <a:p>
            <a:pPr lvl="3"/>
            <a:r>
              <a:rPr lang="zh-TW" altLang="en-US" dirty="0"/>
              <a:t>「提示字串」是輸出一段提示訊息，告知使用者如何輸入。輸入資料時，當使用者按下 </a:t>
            </a:r>
            <a:r>
              <a:rPr lang="en-US" altLang="zh-TW" dirty="0"/>
              <a:t>Enter </a:t>
            </a:r>
            <a:r>
              <a:rPr lang="zh-TW" altLang="en-US" dirty="0"/>
              <a:t>鍵後就視為輸入結束，</a:t>
            </a:r>
            <a:r>
              <a:rPr lang="en-US" altLang="zh-TW" dirty="0"/>
              <a:t>input </a:t>
            </a:r>
            <a:r>
              <a:rPr lang="zh-TW" altLang="en-US" dirty="0"/>
              <a:t>命令會將使用者輸入的資料存入變數中。</a:t>
            </a:r>
            <a:endParaRPr lang="en-US" altLang="zh-TW" dirty="0"/>
          </a:p>
          <a:p>
            <a:pPr lvl="2"/>
            <a:r>
              <a:rPr lang="zh-TW" altLang="en-US" dirty="0"/>
              <a:t>輸入資料的型態為字串</a:t>
            </a:r>
          </a:p>
          <a:p>
            <a:pPr lvl="3"/>
            <a:r>
              <a:rPr lang="zh-TW" altLang="en-US" dirty="0"/>
              <a:t>使用 </a:t>
            </a:r>
            <a:r>
              <a:rPr lang="en-US" altLang="zh-TW" dirty="0"/>
              <a:t>input </a:t>
            </a:r>
            <a:r>
              <a:rPr lang="zh-TW" altLang="en-US" dirty="0"/>
              <a:t>命令時，使用者輸入的資料型態為字串。初學者最容易產生的錯誤是當使用者輸入數字型態的資料時，程式設計者會將其視為數值資料型態而直接進行數值運算，於是發生資料型態不符合的錯誤。</a:t>
            </a:r>
          </a:p>
        </p:txBody>
      </p:sp>
      <p:pic>
        <p:nvPicPr>
          <p:cNvPr id="11266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300905" y="1340768"/>
            <a:ext cx="3240360" cy="34819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861777428"/>
      </p:ext>
    </p:extLst>
  </p:cSld>
  <p:clrMapOvr>
    <a:masterClrMapping/>
  </p:clrMapOvr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內容版面配置區 1"/>
          <p:cNvSpPr>
            <a:spLocks noGrp="1"/>
          </p:cNvSpPr>
          <p:nvPr>
            <p:ph sz="quarter" idx="10"/>
          </p:nvPr>
        </p:nvSpPr>
        <p:spPr/>
        <p:txBody>
          <a:bodyPr/>
          <a:lstStyle/>
          <a:p>
            <a:pPr lvl="1"/>
            <a:endParaRPr lang="en-US" altLang="zh-TW" dirty="0"/>
          </a:p>
          <a:p>
            <a:pPr lvl="4"/>
            <a:endParaRPr lang="en-US" altLang="zh-TW" dirty="0"/>
          </a:p>
          <a:p>
            <a:pPr lvl="3"/>
            <a:r>
              <a:rPr lang="zh-TW" altLang="en-US" dirty="0"/>
              <a:t>小林剛考完第一次段考，設計程式讓小林輸入國文、英文及數學成績後為其計算成績總分。</a:t>
            </a:r>
            <a:r>
              <a:rPr lang="en-US" altLang="zh-TW" dirty="0"/>
              <a:t>(&lt;input.py&gt;)</a:t>
            </a:r>
            <a:endParaRPr lang="zh-TW" altLang="en-US" dirty="0"/>
          </a:p>
        </p:txBody>
      </p:sp>
      <p:pic>
        <p:nvPicPr>
          <p:cNvPr id="12290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991544" y="692696"/>
            <a:ext cx="8244408" cy="99983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2291" name="Picture 3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761220" y="2272504"/>
            <a:ext cx="6669558" cy="195883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8" name="文字方塊 7">
            <a:extLst>
              <a:ext uri="{FF2B5EF4-FFF2-40B4-BE49-F238E27FC236}">
                <a16:creationId xmlns:a16="http://schemas.microsoft.com/office/drawing/2014/main" id="{EDA2BEFF-2697-4142-9FD2-BD1CA3DABC52}"/>
              </a:ext>
            </a:extLst>
          </p:cNvPr>
          <p:cNvSpPr txBox="1"/>
          <p:nvPr/>
        </p:nvSpPr>
        <p:spPr>
          <a:xfrm>
            <a:off x="3047999" y="4627806"/>
            <a:ext cx="6096000" cy="1477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TW" altLang="en-US" dirty="0"/>
              <a:t>chinese = int(input("請輸入國文成績: "))</a:t>
            </a:r>
          </a:p>
          <a:p>
            <a:r>
              <a:rPr lang="zh-TW" altLang="en-US" dirty="0"/>
              <a:t>math = int(input("請輸入數學成績: "))</a:t>
            </a:r>
          </a:p>
          <a:p>
            <a:r>
              <a:rPr lang="zh-TW" altLang="en-US" dirty="0"/>
              <a:t>english = int(input("請輸入英文成績: "))</a:t>
            </a:r>
          </a:p>
          <a:p>
            <a:r>
              <a:rPr lang="zh-TW" altLang="en-US" dirty="0"/>
              <a:t>total = chinese + math + english</a:t>
            </a:r>
          </a:p>
          <a:p>
            <a:r>
              <a:rPr lang="zh-TW" altLang="en-US" dirty="0"/>
              <a:t>print("你的成績總分為：" + str(total))</a:t>
            </a:r>
          </a:p>
        </p:txBody>
      </p:sp>
    </p:spTree>
    <p:extLst>
      <p:ext uri="{BB962C8B-B14F-4D97-AF65-F5344CB8AC3E}">
        <p14:creationId xmlns:p14="http://schemas.microsoft.com/office/powerpoint/2010/main" val="496250834"/>
      </p:ext>
    </p:extLst>
  </p:cSld>
  <p:clrMapOvr>
    <a:masterClrMapping/>
  </p:clrMapOvr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674" name="Rectangle 2">
            <a:extLst>
              <a:ext uri="{FF2B5EF4-FFF2-40B4-BE49-F238E27FC236}">
                <a16:creationId xmlns:a16="http://schemas.microsoft.com/office/drawing/2014/main" id="{846D9378-0C83-35C0-1EA4-D391A89B01FD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zh-TW" altLang="en-US" dirty="0">
                <a:solidFill>
                  <a:srgbClr val="0000FF"/>
                </a:solidFill>
              </a:rPr>
              <a:t>認識運算式和運算子</a:t>
            </a:r>
          </a:p>
        </p:txBody>
      </p:sp>
      <p:sp>
        <p:nvSpPr>
          <p:cNvPr id="28675" name="Rectangle 3">
            <a:extLst>
              <a:ext uri="{FF2B5EF4-FFF2-40B4-BE49-F238E27FC236}">
                <a16:creationId xmlns:a16="http://schemas.microsoft.com/office/drawing/2014/main" id="{3B8F97DE-5059-1E58-41EF-FAE3289E1195}"/>
              </a:ext>
            </a:extLst>
          </p:cNvPr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pPr eaLnBrk="1" hangingPunct="1"/>
            <a:r>
              <a:rPr lang="zh-TW" altLang="en-US" dirty="0">
                <a:solidFill>
                  <a:srgbClr val="0000FF"/>
                </a:solidFill>
              </a:rPr>
              <a:t>關於運算式</a:t>
            </a:r>
            <a:endParaRPr lang="en-US" altLang="zh-TW" dirty="0">
              <a:solidFill>
                <a:srgbClr val="0000FF"/>
              </a:solidFill>
            </a:endParaRPr>
          </a:p>
          <a:p>
            <a:pPr eaLnBrk="1" hangingPunct="1"/>
            <a:r>
              <a:rPr lang="zh-TW" altLang="en-US" dirty="0">
                <a:solidFill>
                  <a:srgbClr val="0000FF"/>
                </a:solidFill>
              </a:rPr>
              <a:t>輸出運算式的運算結果</a:t>
            </a:r>
            <a:endParaRPr lang="en-US" altLang="zh-TW" dirty="0">
              <a:solidFill>
                <a:srgbClr val="0000FF"/>
              </a:solidFill>
            </a:endParaRPr>
          </a:p>
          <a:p>
            <a:pPr eaLnBrk="1" hangingPunct="1"/>
            <a:r>
              <a:rPr lang="zh-TW" altLang="en-US" dirty="0">
                <a:solidFill>
                  <a:srgbClr val="0000FF"/>
                </a:solidFill>
              </a:rPr>
              <a:t>執行不同種類運算元的運算</a:t>
            </a:r>
            <a:endParaRPr lang="en-US" altLang="zh-TW" dirty="0">
              <a:solidFill>
                <a:srgbClr val="0000FF"/>
              </a:solidFill>
            </a:endParaRPr>
          </a:p>
          <a:p>
            <a:pPr eaLnBrk="1" hangingPunct="1"/>
            <a:r>
              <a:rPr lang="zh-TW" altLang="en-US" dirty="0">
                <a:solidFill>
                  <a:srgbClr val="0000FF"/>
                </a:solidFill>
              </a:rPr>
              <a:t>讓使用者輸入值來執行運算</a:t>
            </a:r>
          </a:p>
        </p:txBody>
      </p:sp>
      <p:pic>
        <p:nvPicPr>
          <p:cNvPr id="28676" name="Picture 4" descr="note">
            <a:extLst>
              <a:ext uri="{FF2B5EF4-FFF2-40B4-BE49-F238E27FC236}">
                <a16:creationId xmlns:a16="http://schemas.microsoft.com/office/drawing/2014/main" id="{BA8F0DC1-A2A8-59F3-2948-DE2921EA6050}"/>
              </a:ext>
            </a:extLst>
          </p:cNvPr>
          <p:cNvPicPr>
            <a:picLocks noChangeAspect="1" noChangeArrowheads="1" noCrop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651876" y="4221164"/>
            <a:ext cx="1425575" cy="15843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698" name="Rectangle 2">
            <a:extLst>
              <a:ext uri="{FF2B5EF4-FFF2-40B4-BE49-F238E27FC236}">
                <a16:creationId xmlns:a16="http://schemas.microsoft.com/office/drawing/2014/main" id="{7659A352-2991-ABF1-2616-8CE3737C7C34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zh-TW" altLang="en-US" dirty="0"/>
              <a:t>關於運算式</a:t>
            </a:r>
          </a:p>
        </p:txBody>
      </p:sp>
      <p:sp>
        <p:nvSpPr>
          <p:cNvPr id="29699" name="內容版面配置區 1">
            <a:extLst>
              <a:ext uri="{FF2B5EF4-FFF2-40B4-BE49-F238E27FC236}">
                <a16:creationId xmlns:a16="http://schemas.microsoft.com/office/drawing/2014/main" id="{F1F9869C-8779-816A-6DF2-BDBAE9F72DA8}"/>
              </a:ext>
            </a:extLst>
          </p:cNvPr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pPr eaLnBrk="1" hangingPunct="1"/>
            <a:r>
              <a:rPr lang="zh-TW" altLang="en-US"/>
              <a:t>運算式（</a:t>
            </a:r>
            <a:r>
              <a:rPr lang="en-US" altLang="zh-TW"/>
              <a:t>Expressions</a:t>
            </a:r>
            <a:r>
              <a:rPr lang="zh-TW" altLang="en-US"/>
              <a:t>）是由一序列運算子（</a:t>
            </a:r>
            <a:r>
              <a:rPr lang="en-US" altLang="zh-TW"/>
              <a:t>Operators</a:t>
            </a:r>
            <a:r>
              <a:rPr lang="zh-TW" altLang="en-US"/>
              <a:t>）和運算元（</a:t>
            </a:r>
            <a:r>
              <a:rPr lang="en-US" altLang="zh-TW"/>
              <a:t>Operands</a:t>
            </a:r>
            <a:r>
              <a:rPr lang="zh-TW" altLang="en-US"/>
              <a:t>）所組成，可以在程式中執行所需的運算任務（即執行資料處理），如下圖所示：</a:t>
            </a:r>
          </a:p>
          <a:p>
            <a:pPr eaLnBrk="1" hangingPunct="1"/>
            <a:endParaRPr lang="zh-TW" altLang="en-US"/>
          </a:p>
        </p:txBody>
      </p:sp>
      <p:pic>
        <p:nvPicPr>
          <p:cNvPr id="29700" name="Picture 5">
            <a:extLst>
              <a:ext uri="{FF2B5EF4-FFF2-40B4-BE49-F238E27FC236}">
                <a16:creationId xmlns:a16="http://schemas.microsoft.com/office/drawing/2014/main" id="{F56E055A-7C93-7583-8AEA-A99CF4516B6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87713" y="3068639"/>
            <a:ext cx="5372100" cy="23336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22" name="Rectangle 2">
            <a:extLst>
              <a:ext uri="{FF2B5EF4-FFF2-40B4-BE49-F238E27FC236}">
                <a16:creationId xmlns:a16="http://schemas.microsoft.com/office/drawing/2014/main" id="{ACC9A81D-E4C6-651D-F763-A217C392A723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zh-TW" altLang="en-US" dirty="0"/>
              <a:t>關於運算式</a:t>
            </a:r>
          </a:p>
        </p:txBody>
      </p:sp>
      <p:sp>
        <p:nvSpPr>
          <p:cNvPr id="30723" name="內容版面配置區 1">
            <a:extLst>
              <a:ext uri="{FF2B5EF4-FFF2-40B4-BE49-F238E27FC236}">
                <a16:creationId xmlns:a16="http://schemas.microsoft.com/office/drawing/2014/main" id="{1A149973-01AE-ECB4-15CE-5D568329AEB4}"/>
              </a:ext>
            </a:extLst>
          </p:cNvPr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pPr eaLnBrk="1" hangingPunct="1"/>
            <a:r>
              <a:rPr lang="en-US" altLang="zh-TW"/>
              <a:t>Python</a:t>
            </a:r>
            <a:r>
              <a:rPr lang="zh-TW" altLang="en-US"/>
              <a:t>運算子依運算元的個數分成二種，如下所示：</a:t>
            </a:r>
          </a:p>
          <a:p>
            <a:pPr lvl="1" eaLnBrk="1" hangingPunct="1"/>
            <a:r>
              <a:rPr lang="zh-TW" altLang="en-US"/>
              <a:t>單元運算子（</a:t>
            </a:r>
            <a:r>
              <a:rPr lang="en-US" altLang="zh-TW"/>
              <a:t>Unary Operator</a:t>
            </a:r>
            <a:r>
              <a:rPr lang="zh-TW" altLang="en-US"/>
              <a:t>）：只有一個運算元，例如：正號或負號，如下所示：</a:t>
            </a:r>
          </a:p>
          <a:p>
            <a:pPr marL="914400" lvl="2" indent="0" eaLnBrk="1" hangingPunct="1">
              <a:buNone/>
            </a:pPr>
            <a:r>
              <a:rPr lang="en-US" altLang="zh-TW">
                <a:solidFill>
                  <a:srgbClr val="FF3399"/>
                </a:solidFill>
              </a:rPr>
              <a:t>-15</a:t>
            </a:r>
          </a:p>
          <a:p>
            <a:pPr marL="914400" lvl="2" indent="0" eaLnBrk="1" hangingPunct="1">
              <a:buNone/>
            </a:pPr>
            <a:r>
              <a:rPr lang="en-US" altLang="zh-TW">
                <a:solidFill>
                  <a:srgbClr val="FF3399"/>
                </a:solidFill>
              </a:rPr>
              <a:t>+10</a:t>
            </a:r>
          </a:p>
          <a:p>
            <a:pPr lvl="1" eaLnBrk="1" hangingPunct="1"/>
            <a:r>
              <a:rPr lang="zh-TW" altLang="en-US"/>
              <a:t>二元運算子（</a:t>
            </a:r>
            <a:r>
              <a:rPr lang="en-US" altLang="zh-TW"/>
              <a:t>Binary Operator</a:t>
            </a:r>
            <a:r>
              <a:rPr lang="zh-TW" altLang="en-US"/>
              <a:t>）：擁有位在左右的兩個運算元，</a:t>
            </a:r>
            <a:r>
              <a:rPr lang="en-US" altLang="zh-TW"/>
              <a:t>Python</a:t>
            </a:r>
            <a:r>
              <a:rPr lang="zh-TW" altLang="en-US"/>
              <a:t>運算子大部分是二元運算子，如下所示：</a:t>
            </a:r>
          </a:p>
          <a:p>
            <a:pPr marL="914400" lvl="2" indent="0" eaLnBrk="1" hangingPunct="1">
              <a:buNone/>
            </a:pPr>
            <a:r>
              <a:rPr lang="en-US" altLang="zh-TW">
                <a:solidFill>
                  <a:srgbClr val="FF3399"/>
                </a:solidFill>
              </a:rPr>
              <a:t>5 + 10</a:t>
            </a:r>
          </a:p>
          <a:p>
            <a:pPr marL="914400" lvl="2" indent="0" eaLnBrk="1" hangingPunct="1">
              <a:buNone/>
            </a:pPr>
            <a:r>
              <a:rPr lang="en-US" altLang="zh-TW">
                <a:solidFill>
                  <a:srgbClr val="FF3399"/>
                </a:solidFill>
              </a:rPr>
              <a:t>10 - 2</a:t>
            </a:r>
          </a:p>
          <a:p>
            <a:pPr eaLnBrk="1" hangingPunct="1"/>
            <a:endParaRPr lang="zh-TW" altLang="en-US"/>
          </a:p>
        </p:txBody>
      </p:sp>
    </p:spTree>
  </p:cSld>
  <p:clrMapOvr>
    <a:masterClrMapping/>
  </p:clrMapOvr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746" name="Rectangle 2">
            <a:extLst>
              <a:ext uri="{FF2B5EF4-FFF2-40B4-BE49-F238E27FC236}">
                <a16:creationId xmlns:a16="http://schemas.microsoft.com/office/drawing/2014/main" id="{5FE65CDB-C054-F5A0-47B3-853FD93D7A70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zh-TW" altLang="en-US" dirty="0"/>
              <a:t>輸出運算式的運算結果</a:t>
            </a:r>
          </a:p>
        </p:txBody>
      </p:sp>
      <p:sp>
        <p:nvSpPr>
          <p:cNvPr id="31747" name="內容版面配置區 1">
            <a:extLst>
              <a:ext uri="{FF2B5EF4-FFF2-40B4-BE49-F238E27FC236}">
                <a16:creationId xmlns:a16="http://schemas.microsoft.com/office/drawing/2014/main" id="{2B40AC46-8CAD-9B2E-4CEC-BBF7994A4213}"/>
              </a:ext>
            </a:extLst>
          </p:cNvPr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pPr eaLnBrk="1" hangingPunct="1"/>
            <a:r>
              <a:rPr lang="en-US" altLang="zh-TW"/>
              <a:t>Python</a:t>
            </a:r>
            <a:r>
              <a:rPr lang="zh-TW" altLang="en-US"/>
              <a:t>的</a:t>
            </a:r>
            <a:r>
              <a:rPr lang="en-US" altLang="zh-TW"/>
              <a:t>print()</a:t>
            </a:r>
            <a:r>
              <a:rPr lang="zh-TW" altLang="en-US"/>
              <a:t>函數可以在電腦螢幕輸出執行結果，同樣的，我們可以輸出運算式的運算結果，如下圖所示：</a:t>
            </a:r>
          </a:p>
          <a:p>
            <a:pPr eaLnBrk="1" hangingPunct="1"/>
            <a:endParaRPr lang="zh-TW" altLang="en-US"/>
          </a:p>
        </p:txBody>
      </p:sp>
      <p:pic>
        <p:nvPicPr>
          <p:cNvPr id="31748" name="Picture 20">
            <a:extLst>
              <a:ext uri="{FF2B5EF4-FFF2-40B4-BE49-F238E27FC236}">
                <a16:creationId xmlns:a16="http://schemas.microsoft.com/office/drawing/2014/main" id="{4AD65CCA-BE71-2380-3AD3-7C101700C87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620964" y="2767013"/>
            <a:ext cx="6943725" cy="2590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770" name="Rectangle 2">
            <a:extLst>
              <a:ext uri="{FF2B5EF4-FFF2-40B4-BE49-F238E27FC236}">
                <a16:creationId xmlns:a16="http://schemas.microsoft.com/office/drawing/2014/main" id="{A4F894C7-F492-B539-5E07-5E126CB63F75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zh-TW" altLang="en-US" dirty="0"/>
              <a:t>執行不同種類運算元的運算</a:t>
            </a:r>
            <a:br>
              <a:rPr lang="zh-TW" altLang="en-US" dirty="0"/>
            </a:br>
            <a:r>
              <a:rPr lang="en-US" altLang="zh-TW" sz="2800" dirty="0"/>
              <a:t>2</a:t>
            </a:r>
            <a:r>
              <a:rPr lang="zh-TW" altLang="en-US" sz="2800" dirty="0"/>
              <a:t>個運算元都是變數</a:t>
            </a:r>
            <a:endParaRPr lang="zh-TW" altLang="en-US" dirty="0"/>
          </a:p>
        </p:txBody>
      </p:sp>
      <p:sp>
        <p:nvSpPr>
          <p:cNvPr id="38915" name="Rectangle 3">
            <a:extLst>
              <a:ext uri="{FF2B5EF4-FFF2-40B4-BE49-F238E27FC236}">
                <a16:creationId xmlns:a16="http://schemas.microsoft.com/office/drawing/2014/main" id="{15F052EC-1502-DB2B-8479-41C84C3F317F}"/>
              </a:ext>
            </a:extLst>
          </p:cNvPr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pPr eaLnBrk="1" hangingPunct="1">
              <a:defRPr/>
            </a:pPr>
            <a:r>
              <a:rPr lang="en-US" altLang="zh-TW" dirty="0"/>
              <a:t>Python</a:t>
            </a:r>
            <a:r>
              <a:rPr lang="zh-TW" altLang="en-US" dirty="0"/>
              <a:t>加法運算式的</a:t>
            </a:r>
            <a:r>
              <a:rPr lang="en-US" altLang="zh-TW" dirty="0"/>
              <a:t>2</a:t>
            </a:r>
            <a:r>
              <a:rPr lang="zh-TW" altLang="en-US" dirty="0"/>
              <a:t>個運算元可以是</a:t>
            </a:r>
            <a:r>
              <a:rPr lang="en-US" altLang="zh-TW" dirty="0"/>
              <a:t>2</a:t>
            </a:r>
            <a:r>
              <a:rPr lang="zh-TW" altLang="en-US" dirty="0"/>
              <a:t>個變數，例如：計算分數的總和，如下所示：</a:t>
            </a:r>
          </a:p>
          <a:p>
            <a:pPr marL="457200" lvl="1" indent="0" eaLnBrk="1" hangingPunct="1">
              <a:buNone/>
              <a:defRPr/>
            </a:pPr>
            <a:r>
              <a:rPr lang="en-US" altLang="zh-TW" dirty="0">
                <a:solidFill>
                  <a:srgbClr val="FF3399"/>
                </a:solidFill>
              </a:rPr>
              <a:t>score1 = 56</a:t>
            </a:r>
          </a:p>
          <a:p>
            <a:pPr marL="457200" lvl="1" indent="0" eaLnBrk="1" hangingPunct="1">
              <a:buNone/>
              <a:defRPr/>
            </a:pPr>
            <a:r>
              <a:rPr lang="en-US" altLang="zh-TW" dirty="0">
                <a:solidFill>
                  <a:srgbClr val="FF3399"/>
                </a:solidFill>
              </a:rPr>
              <a:t>score2 = 67</a:t>
            </a:r>
          </a:p>
          <a:p>
            <a:pPr marL="457200" lvl="1" indent="0" eaLnBrk="1" hangingPunct="1">
              <a:buNone/>
              <a:defRPr/>
            </a:pPr>
            <a:r>
              <a:rPr lang="en-US" altLang="zh-TW" dirty="0">
                <a:solidFill>
                  <a:srgbClr val="FF3399"/>
                </a:solidFill>
              </a:rPr>
              <a:t>total = score1 + score2   # </a:t>
            </a:r>
            <a:r>
              <a:rPr lang="zh-TW" altLang="en-US" dirty="0">
                <a:solidFill>
                  <a:srgbClr val="FF3399"/>
                </a:solidFill>
              </a:rPr>
              <a:t>加法運算式</a:t>
            </a:r>
          </a:p>
          <a:p>
            <a:pPr eaLnBrk="1" hangingPunct="1">
              <a:defRPr/>
            </a:pPr>
            <a:r>
              <a:rPr lang="zh-TW" altLang="en-US" dirty="0"/>
              <a:t>上述運算式「</a:t>
            </a:r>
            <a:r>
              <a:rPr lang="en-US" altLang="zh-TW" dirty="0"/>
              <a:t>score1+score2</a:t>
            </a:r>
            <a:r>
              <a:rPr lang="zh-TW" altLang="en-US" dirty="0"/>
              <a:t>」的</a:t>
            </a:r>
            <a:r>
              <a:rPr lang="en-US" altLang="zh-TW" dirty="0"/>
              <a:t>2</a:t>
            </a:r>
            <a:r>
              <a:rPr lang="zh-TW" altLang="en-US" dirty="0"/>
              <a:t>個運算元都是變數，「</a:t>
            </a:r>
            <a:r>
              <a:rPr lang="en-US" altLang="zh-TW" dirty="0"/>
              <a:t>total = score1+score2</a:t>
            </a:r>
            <a:r>
              <a:rPr lang="zh-TW" altLang="en-US" dirty="0"/>
              <a:t>」運算式的意義是：</a:t>
            </a:r>
          </a:p>
          <a:p>
            <a:pPr marL="0" indent="0" eaLnBrk="1" hangingPunct="1">
              <a:buNone/>
              <a:defRPr/>
            </a:pPr>
            <a:r>
              <a:rPr lang="zh-TW" altLang="en-US" b="1" dirty="0"/>
              <a:t>「取出變數</a:t>
            </a:r>
            <a:r>
              <a:rPr lang="en-US" altLang="zh-TW" b="1" dirty="0"/>
              <a:t>score1</a:t>
            </a:r>
            <a:r>
              <a:rPr lang="zh-TW" altLang="en-US" b="1" dirty="0"/>
              <a:t>儲存的值</a:t>
            </a:r>
            <a:r>
              <a:rPr lang="en-US" altLang="zh-TW" b="1" dirty="0"/>
              <a:t>56</a:t>
            </a:r>
            <a:r>
              <a:rPr lang="zh-TW" altLang="en-US" b="1" dirty="0"/>
              <a:t>，和取出變數</a:t>
            </a:r>
            <a:r>
              <a:rPr lang="en-US" altLang="zh-TW" b="1" dirty="0"/>
              <a:t>score2</a:t>
            </a:r>
            <a:r>
              <a:rPr lang="zh-TW" altLang="en-US" b="1" dirty="0"/>
              <a:t>儲存的值</a:t>
            </a:r>
            <a:r>
              <a:rPr lang="en-US" altLang="zh-TW" b="1" dirty="0"/>
              <a:t>67</a:t>
            </a:r>
            <a:r>
              <a:rPr lang="zh-TW" altLang="en-US" b="1" dirty="0"/>
              <a:t>後，將</a:t>
            </a:r>
            <a:r>
              <a:rPr lang="en-US" altLang="zh-TW" b="1" dirty="0"/>
              <a:t>2</a:t>
            </a:r>
            <a:r>
              <a:rPr lang="zh-TW" altLang="en-US" b="1" dirty="0"/>
              <a:t>個常數值相加</a:t>
            </a:r>
            <a:r>
              <a:rPr lang="en-US" altLang="zh-TW" b="1" dirty="0"/>
              <a:t>56+67</a:t>
            </a:r>
            <a:r>
              <a:rPr lang="zh-TW" altLang="en-US" b="1" dirty="0"/>
              <a:t>後，再將運算結果</a:t>
            </a:r>
            <a:r>
              <a:rPr lang="en-US" altLang="zh-TW" b="1" dirty="0"/>
              <a:t>123</a:t>
            </a:r>
            <a:r>
              <a:rPr lang="zh-TW" altLang="en-US" b="1" dirty="0"/>
              <a:t>存入變數</a:t>
            </a:r>
            <a:r>
              <a:rPr lang="en-US" altLang="zh-TW" b="1" dirty="0"/>
              <a:t>total</a:t>
            </a:r>
            <a:r>
              <a:rPr lang="zh-TW" altLang="en-US" b="1" dirty="0"/>
              <a:t>。」</a:t>
            </a:r>
          </a:p>
        </p:txBody>
      </p:sp>
    </p:spTree>
  </p:cSld>
  <p:clrMapOvr>
    <a:masterClrMapping/>
  </p:clrMapOvr>
</p:sld>
</file>

<file path=ppt/slides/slide6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794" name="Rectangle 2">
            <a:extLst>
              <a:ext uri="{FF2B5EF4-FFF2-40B4-BE49-F238E27FC236}">
                <a16:creationId xmlns:a16="http://schemas.microsoft.com/office/drawing/2014/main" id="{13164CBD-462B-9D3B-F790-45CD3DADE3DB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zh-TW" altLang="en-US" dirty="0"/>
              <a:t>執行不同種類運算元的運算</a:t>
            </a:r>
            <a:br>
              <a:rPr lang="zh-TW" altLang="en-US" dirty="0"/>
            </a:br>
            <a:r>
              <a:rPr lang="en-US" altLang="zh-TW" sz="2800" dirty="0"/>
              <a:t>2</a:t>
            </a:r>
            <a:r>
              <a:rPr lang="zh-TW" altLang="en-US" sz="2800" dirty="0"/>
              <a:t>個運算元都是變數</a:t>
            </a:r>
            <a:endParaRPr lang="zh-TW" altLang="en-US" dirty="0"/>
          </a:p>
        </p:txBody>
      </p:sp>
      <p:sp>
        <p:nvSpPr>
          <p:cNvPr id="33795" name="內容版面配置區 1">
            <a:extLst>
              <a:ext uri="{FF2B5EF4-FFF2-40B4-BE49-F238E27FC236}">
                <a16:creationId xmlns:a16="http://schemas.microsoft.com/office/drawing/2014/main" id="{D35FECFE-3DC2-FD9F-B6BC-43A03384C96F}"/>
              </a:ext>
            </a:extLst>
          </p:cNvPr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pPr eaLnBrk="1" hangingPunct="1"/>
            <a:endParaRPr lang="zh-TW" altLang="en-US">
              <a:ea typeface="新細明體" panose="02020500000000000000" pitchFamily="18" charset="-120"/>
            </a:endParaRPr>
          </a:p>
        </p:txBody>
      </p:sp>
      <p:pic>
        <p:nvPicPr>
          <p:cNvPr id="33796" name="Picture 2">
            <a:extLst>
              <a:ext uri="{FF2B5EF4-FFF2-40B4-BE49-F238E27FC236}">
                <a16:creationId xmlns:a16="http://schemas.microsoft.com/office/drawing/2014/main" id="{FA3BEBED-65F1-BD86-2AEF-51CB9C3A14A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87713" y="2060575"/>
            <a:ext cx="5942012" cy="36718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6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818" name="Rectangle 2">
            <a:extLst>
              <a:ext uri="{FF2B5EF4-FFF2-40B4-BE49-F238E27FC236}">
                <a16:creationId xmlns:a16="http://schemas.microsoft.com/office/drawing/2014/main" id="{BBB29947-C007-55A9-4F4F-9BF5063636F5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zh-TW" altLang="en-US" dirty="0"/>
              <a:t>執行不同種類運算元的運算</a:t>
            </a:r>
            <a:br>
              <a:rPr lang="zh-TW" altLang="en-US" dirty="0"/>
            </a:br>
            <a:r>
              <a:rPr lang="en-US" altLang="zh-TW" sz="2800" dirty="0"/>
              <a:t>1</a:t>
            </a:r>
            <a:r>
              <a:rPr lang="zh-TW" altLang="en-US" sz="2800" dirty="0"/>
              <a:t>個運算元是變數；</a:t>
            </a:r>
            <a:r>
              <a:rPr lang="en-US" altLang="zh-TW" sz="2800" dirty="0"/>
              <a:t>1</a:t>
            </a:r>
            <a:r>
              <a:rPr lang="zh-TW" altLang="en-US" sz="2800" dirty="0"/>
              <a:t>個運算元是文字值</a:t>
            </a:r>
            <a:endParaRPr lang="zh-TW" altLang="en-US" dirty="0"/>
          </a:p>
        </p:txBody>
      </p:sp>
      <p:sp>
        <p:nvSpPr>
          <p:cNvPr id="34819" name="內容版面配置區 1">
            <a:extLst>
              <a:ext uri="{FF2B5EF4-FFF2-40B4-BE49-F238E27FC236}">
                <a16:creationId xmlns:a16="http://schemas.microsoft.com/office/drawing/2014/main" id="{807B3348-A084-A98F-1FC3-46F6A448BA3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eaLnBrk="1" hangingPunct="1"/>
            <a:r>
              <a:rPr lang="en-US" altLang="zh-TW"/>
              <a:t>Python</a:t>
            </a:r>
            <a:r>
              <a:rPr lang="zh-TW" altLang="en-US"/>
              <a:t>加法運算式的</a:t>
            </a:r>
            <a:r>
              <a:rPr lang="en-US" altLang="zh-TW"/>
              <a:t>2</a:t>
            </a:r>
            <a:r>
              <a:rPr lang="zh-TW" altLang="en-US"/>
              <a:t>個運算元可以其中一個是變數；另一個是文字值，例如：調整變數</a:t>
            </a:r>
            <a:r>
              <a:rPr lang="en-US" altLang="zh-TW"/>
              <a:t>score1</a:t>
            </a:r>
            <a:r>
              <a:rPr lang="zh-TW" altLang="en-US"/>
              <a:t>的分數，將它加</a:t>
            </a:r>
            <a:r>
              <a:rPr lang="en-US" altLang="zh-TW"/>
              <a:t>10</a:t>
            </a:r>
            <a:r>
              <a:rPr lang="zh-TW" altLang="en-US"/>
              <a:t>分，如下所示：</a:t>
            </a:r>
          </a:p>
          <a:p>
            <a:pPr marL="457200" lvl="1" indent="0" eaLnBrk="1" hangingPunct="1">
              <a:buNone/>
            </a:pPr>
            <a:r>
              <a:rPr lang="en-US" altLang="zh-TW">
                <a:solidFill>
                  <a:srgbClr val="FF3399"/>
                </a:solidFill>
              </a:rPr>
              <a:t>score1 = 56</a:t>
            </a:r>
          </a:p>
          <a:p>
            <a:pPr marL="457200" lvl="1" indent="0" eaLnBrk="1" hangingPunct="1">
              <a:buNone/>
            </a:pPr>
            <a:r>
              <a:rPr lang="en-US" altLang="zh-TW">
                <a:solidFill>
                  <a:srgbClr val="FF3399"/>
                </a:solidFill>
              </a:rPr>
              <a:t>score1 = score1 + 10   # </a:t>
            </a:r>
            <a:r>
              <a:rPr lang="zh-TW" altLang="en-US">
                <a:solidFill>
                  <a:srgbClr val="FF3399"/>
                </a:solidFill>
              </a:rPr>
              <a:t>加法運算式</a:t>
            </a:r>
          </a:p>
          <a:p>
            <a:pPr eaLnBrk="1" hangingPunct="1"/>
            <a:r>
              <a:rPr lang="zh-TW" altLang="en-US"/>
              <a:t>上述運算式「</a:t>
            </a:r>
            <a:r>
              <a:rPr lang="en-US" altLang="zh-TW"/>
              <a:t>score1+10</a:t>
            </a:r>
            <a:r>
              <a:rPr lang="zh-TW" altLang="en-US"/>
              <a:t>」的第</a:t>
            </a:r>
            <a:r>
              <a:rPr lang="en-US" altLang="zh-TW"/>
              <a:t>1</a:t>
            </a:r>
            <a:r>
              <a:rPr lang="zh-TW" altLang="en-US"/>
              <a:t>個運算元是變數；第</a:t>
            </a:r>
            <a:r>
              <a:rPr lang="en-US" altLang="zh-TW"/>
              <a:t>2</a:t>
            </a:r>
            <a:r>
              <a:rPr lang="zh-TW" altLang="en-US"/>
              <a:t>個是文字值，「</a:t>
            </a:r>
            <a:r>
              <a:rPr lang="en-US" altLang="zh-TW"/>
              <a:t>score1 = score1+10</a:t>
            </a:r>
            <a:r>
              <a:rPr lang="zh-TW" altLang="en-US"/>
              <a:t>」運算式的意義是：</a:t>
            </a:r>
          </a:p>
          <a:p>
            <a:pPr eaLnBrk="1" hangingPunct="1">
              <a:buFontTx/>
              <a:buNone/>
            </a:pPr>
            <a:r>
              <a:rPr lang="zh-TW" altLang="en-US" b="1"/>
              <a:t>「取出變數</a:t>
            </a:r>
            <a:r>
              <a:rPr lang="en-US" altLang="zh-TW" b="1"/>
              <a:t>score1</a:t>
            </a:r>
            <a:r>
              <a:rPr lang="zh-TW" altLang="en-US" b="1"/>
              <a:t>儲存的值</a:t>
            </a:r>
            <a:r>
              <a:rPr lang="en-US" altLang="zh-TW" b="1"/>
              <a:t>56</a:t>
            </a:r>
            <a:r>
              <a:rPr lang="zh-TW" altLang="en-US" b="1"/>
              <a:t>，加上文字值</a:t>
            </a:r>
            <a:r>
              <a:rPr lang="en-US" altLang="zh-TW" b="1"/>
              <a:t>10</a:t>
            </a:r>
            <a:r>
              <a:rPr lang="zh-TW" altLang="en-US" b="1"/>
              <a:t>後，再將運算結果</a:t>
            </a:r>
            <a:r>
              <a:rPr lang="en-US" altLang="zh-TW" b="1"/>
              <a:t>56+10=66</a:t>
            </a:r>
            <a:r>
              <a:rPr lang="zh-TW" altLang="en-US" b="1"/>
              <a:t>存入變數</a:t>
            </a:r>
            <a:r>
              <a:rPr lang="en-US" altLang="zh-TW" b="1"/>
              <a:t>score1</a:t>
            </a:r>
            <a:r>
              <a:rPr lang="zh-TW" altLang="en-US" b="1"/>
              <a:t>。」</a:t>
            </a:r>
          </a:p>
          <a:p>
            <a:pPr eaLnBrk="1" hangingPunct="1"/>
            <a:endParaRPr lang="zh-TW" altLang="en-US"/>
          </a:p>
        </p:txBody>
      </p:sp>
    </p:spTree>
  </p:cSld>
  <p:clrMapOvr>
    <a:masterClrMapping/>
  </p:clrMapOvr>
</p:sld>
</file>

<file path=ppt/slides/slide6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842" name="Rectangle 2">
            <a:extLst>
              <a:ext uri="{FF2B5EF4-FFF2-40B4-BE49-F238E27FC236}">
                <a16:creationId xmlns:a16="http://schemas.microsoft.com/office/drawing/2014/main" id="{64CE32B1-7050-12B7-E0D6-F3DF8961FC11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zh-TW" altLang="en-US" dirty="0"/>
              <a:t>執行不同種類運算元的運算</a:t>
            </a:r>
            <a:br>
              <a:rPr lang="zh-TW" altLang="en-US" dirty="0"/>
            </a:br>
            <a:r>
              <a:rPr lang="en-US" altLang="zh-TW" sz="2800" dirty="0"/>
              <a:t>1</a:t>
            </a:r>
            <a:r>
              <a:rPr lang="zh-TW" altLang="en-US" sz="2800" dirty="0"/>
              <a:t>個運算元是變數；</a:t>
            </a:r>
            <a:r>
              <a:rPr lang="en-US" altLang="zh-TW" sz="2800" dirty="0"/>
              <a:t>1</a:t>
            </a:r>
            <a:r>
              <a:rPr lang="zh-TW" altLang="en-US" sz="2800" dirty="0"/>
              <a:t>個運算元是文字值</a:t>
            </a:r>
            <a:endParaRPr lang="zh-TW" altLang="en-US" dirty="0"/>
          </a:p>
        </p:txBody>
      </p:sp>
      <p:sp>
        <p:nvSpPr>
          <p:cNvPr id="35843" name="內容版面配置區 2">
            <a:extLst>
              <a:ext uri="{FF2B5EF4-FFF2-40B4-BE49-F238E27FC236}">
                <a16:creationId xmlns:a16="http://schemas.microsoft.com/office/drawing/2014/main" id="{B2607474-8E7C-A48F-2942-628186E99688}"/>
              </a:ext>
            </a:extLst>
          </p:cNvPr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pPr eaLnBrk="1" hangingPunct="1"/>
            <a:endParaRPr lang="zh-TW" altLang="en-US"/>
          </a:p>
        </p:txBody>
      </p:sp>
      <p:pic>
        <p:nvPicPr>
          <p:cNvPr id="35844" name="Picture 2">
            <a:extLst>
              <a:ext uri="{FF2B5EF4-FFF2-40B4-BE49-F238E27FC236}">
                <a16:creationId xmlns:a16="http://schemas.microsoft.com/office/drawing/2014/main" id="{D6BC19B5-2192-87F8-B0A2-71228139E48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919414" y="1844676"/>
            <a:ext cx="6353175" cy="40354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6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866" name="標題 1">
            <a:extLst>
              <a:ext uri="{FF2B5EF4-FFF2-40B4-BE49-F238E27FC236}">
                <a16:creationId xmlns:a16="http://schemas.microsoft.com/office/drawing/2014/main" id="{8E6BA385-46CE-878D-F831-FB72E51C2C82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zh-TW" altLang="en-US" dirty="0"/>
              <a:t>讓使用者輸入值來執行運算</a:t>
            </a:r>
          </a:p>
        </p:txBody>
      </p:sp>
      <p:sp>
        <p:nvSpPr>
          <p:cNvPr id="36867" name="內容版面配置區 2">
            <a:extLst>
              <a:ext uri="{FF2B5EF4-FFF2-40B4-BE49-F238E27FC236}">
                <a16:creationId xmlns:a16="http://schemas.microsoft.com/office/drawing/2014/main" id="{A9E1B9ED-D526-56E4-4595-72D2F5E8DCE7}"/>
              </a:ext>
            </a:extLst>
          </p:cNvPr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pPr eaLnBrk="1" hangingPunct="1"/>
            <a:r>
              <a:rPr lang="zh-TW" altLang="en-US"/>
              <a:t>當運算式的運算元是變數，我們只需更改變數值，就可以產生不同的運算結果，如下所示：</a:t>
            </a:r>
          </a:p>
          <a:p>
            <a:pPr marL="457200" lvl="1" indent="0" eaLnBrk="1" hangingPunct="1">
              <a:buNone/>
            </a:pPr>
            <a:r>
              <a:rPr lang="en-US" altLang="zh-TW">
                <a:solidFill>
                  <a:srgbClr val="FF3399"/>
                </a:solidFill>
              </a:rPr>
              <a:t>total = score1 + score2   # </a:t>
            </a:r>
            <a:r>
              <a:rPr lang="zh-TW" altLang="en-US">
                <a:solidFill>
                  <a:srgbClr val="FF3399"/>
                </a:solidFill>
              </a:rPr>
              <a:t>加法運算式</a:t>
            </a:r>
          </a:p>
          <a:p>
            <a:pPr eaLnBrk="1" hangingPunct="1"/>
            <a:r>
              <a:rPr lang="zh-TW" altLang="en-US"/>
              <a:t>上述運算元變數</a:t>
            </a:r>
            <a:r>
              <a:rPr lang="en-US" altLang="zh-TW"/>
              <a:t>score1</a:t>
            </a:r>
            <a:r>
              <a:rPr lang="zh-TW" altLang="en-US"/>
              <a:t>和</a:t>
            </a:r>
            <a:r>
              <a:rPr lang="en-US" altLang="zh-TW"/>
              <a:t>score2</a:t>
            </a:r>
            <a:r>
              <a:rPr lang="zh-TW" altLang="en-US"/>
              <a:t>的值如果不同，</a:t>
            </a:r>
            <a:r>
              <a:rPr lang="en-US" altLang="zh-TW"/>
              <a:t>total</a:t>
            </a:r>
            <a:r>
              <a:rPr lang="zh-TW" altLang="en-US"/>
              <a:t>變數的運算結果就會不同，</a:t>
            </a:r>
            <a:r>
              <a:rPr lang="en-US" altLang="zh-TW"/>
              <a:t>Python</a:t>
            </a:r>
            <a:r>
              <a:rPr lang="zh-TW" altLang="en-US"/>
              <a:t>程式可以使用</a:t>
            </a:r>
            <a:r>
              <a:rPr lang="en-US" altLang="zh-TW"/>
              <a:t>input()</a:t>
            </a:r>
            <a:r>
              <a:rPr lang="zh-TW" altLang="en-US"/>
              <a:t>函數，讓使用者自行輸入變數值來執行運算，只需輸入不同值，就可以得到不同的加法運算結果。</a:t>
            </a:r>
          </a:p>
          <a:p>
            <a:pPr eaLnBrk="1" hangingPunct="1"/>
            <a:endParaRPr lang="zh-TW" altLang="en-US"/>
          </a:p>
        </p:txBody>
      </p:sp>
    </p:spTree>
  </p:cSld>
  <p:clrMapOvr>
    <a:masterClrMapping/>
  </p:clrMapOvr>
</p:sld>
</file>

<file path=ppt/slides/slide6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890" name="Rectangle 2">
            <a:extLst>
              <a:ext uri="{FF2B5EF4-FFF2-40B4-BE49-F238E27FC236}">
                <a16:creationId xmlns:a16="http://schemas.microsoft.com/office/drawing/2014/main" id="{F3266852-A3B3-DE9A-51D4-C7D5D62E9E71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zh-TW" altLang="en-US" dirty="0">
                <a:solidFill>
                  <a:srgbClr val="0000FF"/>
                </a:solidFill>
              </a:rPr>
              <a:t>在程式使用運算子</a:t>
            </a:r>
            <a:endParaRPr lang="zh-TW" altLang="en-US" dirty="0"/>
          </a:p>
        </p:txBody>
      </p:sp>
      <p:sp>
        <p:nvSpPr>
          <p:cNvPr id="37891" name="Rectangle 3">
            <a:extLst>
              <a:ext uri="{FF2B5EF4-FFF2-40B4-BE49-F238E27FC236}">
                <a16:creationId xmlns:a16="http://schemas.microsoft.com/office/drawing/2014/main" id="{A98E98DA-F2C9-5334-929C-87B36E9B0ED5}"/>
              </a:ext>
            </a:extLst>
          </p:cNvPr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pPr eaLnBrk="1" hangingPunct="1"/>
            <a:r>
              <a:rPr lang="zh-TW" altLang="en-US" dirty="0">
                <a:solidFill>
                  <a:srgbClr val="0000FF"/>
                </a:solidFill>
              </a:rPr>
              <a:t>運算子的優先順序</a:t>
            </a:r>
            <a:endParaRPr lang="en-US" altLang="zh-TW" dirty="0">
              <a:solidFill>
                <a:srgbClr val="0000FF"/>
              </a:solidFill>
            </a:endParaRPr>
          </a:p>
          <a:p>
            <a:pPr eaLnBrk="1" hangingPunct="1"/>
            <a:r>
              <a:rPr lang="zh-TW" altLang="en-US" dirty="0">
                <a:solidFill>
                  <a:srgbClr val="0000FF"/>
                </a:solidFill>
              </a:rPr>
              <a:t>算術運算子</a:t>
            </a:r>
            <a:endParaRPr lang="en-US" altLang="zh-TW" dirty="0">
              <a:solidFill>
                <a:srgbClr val="0000FF"/>
              </a:solidFill>
            </a:endParaRPr>
          </a:p>
          <a:p>
            <a:pPr eaLnBrk="1" hangingPunct="1"/>
            <a:r>
              <a:rPr lang="zh-TW" altLang="en-US" dirty="0">
                <a:solidFill>
                  <a:srgbClr val="0000FF"/>
                </a:solidFill>
              </a:rPr>
              <a:t>指定運算子</a:t>
            </a:r>
            <a:endParaRPr lang="en-US" altLang="zh-TW" dirty="0">
              <a:solidFill>
                <a:srgbClr val="0000FF"/>
              </a:solidFill>
            </a:endParaRPr>
          </a:p>
          <a:p>
            <a:pPr eaLnBrk="1" hangingPunct="1"/>
            <a:r>
              <a:rPr lang="zh-TW" altLang="en-US" dirty="0">
                <a:solidFill>
                  <a:srgbClr val="0000FF"/>
                </a:solidFill>
              </a:rPr>
              <a:t>更多的指定敘述</a:t>
            </a:r>
          </a:p>
        </p:txBody>
      </p:sp>
      <p:pic>
        <p:nvPicPr>
          <p:cNvPr id="37892" name="Picture 4" descr="note">
            <a:extLst>
              <a:ext uri="{FF2B5EF4-FFF2-40B4-BE49-F238E27FC236}">
                <a16:creationId xmlns:a16="http://schemas.microsoft.com/office/drawing/2014/main" id="{BB3476D6-B7EA-3A1F-AB42-20AF9D41DFF2}"/>
              </a:ext>
            </a:extLst>
          </p:cNvPr>
          <p:cNvPicPr>
            <a:picLocks noChangeAspect="1" noChangeArrowheads="1" noCrop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651876" y="4221164"/>
            <a:ext cx="1425575" cy="15843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7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914" name="Rectangle 2">
            <a:extLst>
              <a:ext uri="{FF2B5EF4-FFF2-40B4-BE49-F238E27FC236}">
                <a16:creationId xmlns:a16="http://schemas.microsoft.com/office/drawing/2014/main" id="{6524D936-68BE-F822-3E42-91A015D3C8EE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zh-TW" altLang="en-US" dirty="0"/>
              <a:t>運算子的優先順序</a:t>
            </a:r>
            <a:br>
              <a:rPr lang="zh-TW" altLang="en-US" dirty="0"/>
            </a:br>
            <a:r>
              <a:rPr lang="zh-TW" altLang="en-US" sz="2800" dirty="0"/>
              <a:t>優先順序（</a:t>
            </a:r>
            <a:r>
              <a:rPr lang="en-US" altLang="zh-TW" sz="2800" dirty="0"/>
              <a:t>Precedence</a:t>
            </a:r>
            <a:r>
              <a:rPr lang="zh-TW" altLang="en-US" sz="2800" dirty="0"/>
              <a:t>）</a:t>
            </a:r>
            <a:endParaRPr lang="zh-TW" altLang="en-US" dirty="0"/>
          </a:p>
        </p:txBody>
      </p:sp>
      <p:sp>
        <p:nvSpPr>
          <p:cNvPr id="38915" name="內容版面配置區 1">
            <a:extLst>
              <a:ext uri="{FF2B5EF4-FFF2-40B4-BE49-F238E27FC236}">
                <a16:creationId xmlns:a16="http://schemas.microsoft.com/office/drawing/2014/main" id="{2DAADB07-795F-AD43-D01B-1C3FF4CE4680}"/>
              </a:ext>
            </a:extLst>
          </p:cNvPr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pPr eaLnBrk="1" hangingPunct="1"/>
            <a:r>
              <a:rPr lang="en-US" altLang="zh-TW"/>
              <a:t>Python</a:t>
            </a:r>
            <a:r>
              <a:rPr lang="zh-TW" altLang="en-US"/>
              <a:t>運算子的優先順序決定運算式中運算子的執行順序，可以讓擁有多運算子的運算式得到相同的運算結果。</a:t>
            </a:r>
          </a:p>
          <a:p>
            <a:pPr eaLnBrk="1" hangingPunct="1"/>
            <a:r>
              <a:rPr lang="zh-TW" altLang="en-US"/>
              <a:t>當同一</a:t>
            </a:r>
            <a:r>
              <a:rPr lang="en-US" altLang="zh-TW"/>
              <a:t>Python</a:t>
            </a:r>
            <a:r>
              <a:rPr lang="zh-TW" altLang="en-US"/>
              <a:t>運算式使用多個運算子時，為了讓運算式能夠得到相同的運算結果，運算式是以運算子預設的優先順序來進行運算，也就是熟知的「先乘除後加減」口訣，如下所示：</a:t>
            </a:r>
          </a:p>
          <a:p>
            <a:pPr marL="457200" lvl="1" indent="0" eaLnBrk="1" hangingPunct="1">
              <a:buNone/>
            </a:pPr>
            <a:r>
              <a:rPr lang="en-US" altLang="zh-TW">
                <a:solidFill>
                  <a:srgbClr val="FF3399"/>
                </a:solidFill>
              </a:rPr>
              <a:t>a + b * 2</a:t>
            </a:r>
          </a:p>
          <a:p>
            <a:pPr eaLnBrk="1" hangingPunct="1"/>
            <a:r>
              <a:rPr lang="zh-TW" altLang="en-US"/>
              <a:t>上述運算式因為運算子的優先順序「*」大於「</a:t>
            </a:r>
            <a:r>
              <a:rPr lang="en-US" altLang="zh-TW"/>
              <a:t>+</a:t>
            </a:r>
            <a:r>
              <a:rPr lang="zh-TW" altLang="en-US"/>
              <a:t>」，所以先計算</a:t>
            </a:r>
            <a:r>
              <a:rPr lang="en-US" altLang="zh-TW"/>
              <a:t>b*2</a:t>
            </a:r>
            <a:r>
              <a:rPr lang="zh-TW" altLang="en-US"/>
              <a:t>後才和</a:t>
            </a:r>
            <a:r>
              <a:rPr lang="en-US" altLang="zh-TW"/>
              <a:t>a</a:t>
            </a:r>
            <a:r>
              <a:rPr lang="zh-TW" altLang="en-US"/>
              <a:t>相加。如果需要，在運算式可以使用括號推翻預設的運算子優先順序，例如：改變上述運算式的運算順序，先執行加法運算後，才是乘法，如下所示：</a:t>
            </a:r>
          </a:p>
          <a:p>
            <a:pPr marL="457200" lvl="1" indent="0" eaLnBrk="1" hangingPunct="1">
              <a:buNone/>
            </a:pPr>
            <a:r>
              <a:rPr lang="en-US" altLang="zh-TW">
                <a:solidFill>
                  <a:srgbClr val="FF3399"/>
                </a:solidFill>
              </a:rPr>
              <a:t>(a + b) * 2</a:t>
            </a:r>
          </a:p>
          <a:p>
            <a:pPr eaLnBrk="1" hangingPunct="1"/>
            <a:endParaRPr lang="zh-TW" altLang="en-US"/>
          </a:p>
        </p:txBody>
      </p:sp>
    </p:spTree>
  </p:cSld>
  <p:clrMapOvr>
    <a:masterClrMapping/>
  </p:clrMapOvr>
</p:sld>
</file>

<file path=ppt/slides/slide7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938" name="Rectangle 2">
            <a:extLst>
              <a:ext uri="{FF2B5EF4-FFF2-40B4-BE49-F238E27FC236}">
                <a16:creationId xmlns:a16="http://schemas.microsoft.com/office/drawing/2014/main" id="{36542CD3-7388-D904-30F6-0E72A77F0D54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zh-TW" altLang="en-US" dirty="0"/>
              <a:t>運算子的優先順序</a:t>
            </a:r>
            <a:br>
              <a:rPr lang="zh-TW" altLang="en-US" dirty="0"/>
            </a:br>
            <a:r>
              <a:rPr lang="en-US" altLang="zh-TW" sz="2800" dirty="0"/>
              <a:t>Python</a:t>
            </a:r>
            <a:r>
              <a:rPr lang="zh-TW" altLang="en-US" sz="2800" dirty="0"/>
              <a:t>運算子的優先順序</a:t>
            </a:r>
            <a:endParaRPr lang="zh-TW" altLang="en-US" dirty="0"/>
          </a:p>
        </p:txBody>
      </p:sp>
      <p:graphicFrame>
        <p:nvGraphicFramePr>
          <p:cNvPr id="3" name="內容版面配置區 2">
            <a:extLst>
              <a:ext uri="{FF2B5EF4-FFF2-40B4-BE49-F238E27FC236}">
                <a16:creationId xmlns:a16="http://schemas.microsoft.com/office/drawing/2014/main" id="{05FACD0D-B45A-8981-9ADC-8C371DED33B1}"/>
              </a:ext>
            </a:extLst>
          </p:cNvPr>
          <p:cNvGraphicFramePr>
            <a:graphicFrameLocks noGrp="1"/>
          </p:cNvGraphicFramePr>
          <p:nvPr>
            <p:ph idx="1"/>
          </p:nvPr>
        </p:nvGraphicFramePr>
        <p:xfrm>
          <a:off x="2135188" y="1427163"/>
          <a:ext cx="8070850" cy="535305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2836979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233871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25210">
                <a:tc>
                  <a:txBody>
                    <a:bodyPr/>
                    <a:lstStyle/>
                    <a:p>
                      <a:pPr algn="ctr">
                        <a:lnSpc>
                          <a:spcPts val="2100"/>
                        </a:lnSpc>
                        <a:spcAft>
                          <a:spcPts val="1200"/>
                        </a:spcAft>
                      </a:pPr>
                      <a:r>
                        <a:rPr lang="zh-TW" sz="2000" b="1" dirty="0">
                          <a:effectLst/>
                          <a:latin typeface="微軟正黑體" pitchFamily="34" charset="-120"/>
                          <a:ea typeface="微軟正黑體" pitchFamily="34" charset="-120"/>
                        </a:rPr>
                        <a:t>運算子</a:t>
                      </a:r>
                    </a:p>
                  </a:txBody>
                  <a:tcPr marL="68583" marR="68583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100"/>
                        </a:lnSpc>
                        <a:spcAft>
                          <a:spcPts val="1200"/>
                        </a:spcAft>
                      </a:pPr>
                      <a:r>
                        <a:rPr lang="zh-TW" sz="2000" b="1" dirty="0">
                          <a:effectLst/>
                          <a:latin typeface="微軟正黑體" pitchFamily="34" charset="-120"/>
                          <a:ea typeface="微軟正黑體" pitchFamily="34" charset="-120"/>
                        </a:rPr>
                        <a:t>說明</a:t>
                      </a:r>
                    </a:p>
                  </a:txBody>
                  <a:tcPr marL="68583" marR="68583" marT="0" marB="0" anchor="ctr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25210">
                <a:tc>
                  <a:txBody>
                    <a:bodyPr/>
                    <a:lstStyle/>
                    <a:p>
                      <a:pPr algn="ctr">
                        <a:lnSpc>
                          <a:spcPts val="2100"/>
                        </a:lnSpc>
                        <a:spcAft>
                          <a:spcPts val="1200"/>
                        </a:spcAft>
                      </a:pPr>
                      <a:r>
                        <a:rPr lang="en-US" sz="2000">
                          <a:effectLst/>
                          <a:latin typeface="微軟正黑體" pitchFamily="34" charset="-120"/>
                          <a:ea typeface="微軟正黑體" pitchFamily="34" charset="-120"/>
                        </a:rPr>
                        <a:t>()</a:t>
                      </a:r>
                      <a:endParaRPr lang="zh-TW" sz="2000">
                        <a:effectLst/>
                        <a:latin typeface="微軟正黑體" pitchFamily="34" charset="-120"/>
                        <a:ea typeface="微軟正黑體" pitchFamily="34" charset="-120"/>
                      </a:endParaRPr>
                    </a:p>
                  </a:txBody>
                  <a:tcPr marL="68583" marR="68583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100"/>
                        </a:lnSpc>
                        <a:spcAft>
                          <a:spcPts val="1200"/>
                        </a:spcAft>
                      </a:pPr>
                      <a:r>
                        <a:rPr lang="zh-TW" sz="2000">
                          <a:effectLst/>
                          <a:latin typeface="微軟正黑體" pitchFamily="34" charset="-120"/>
                          <a:ea typeface="微軟正黑體" pitchFamily="34" charset="-120"/>
                        </a:rPr>
                        <a:t>括號</a:t>
                      </a:r>
                      <a:r>
                        <a:rPr lang="zh-HK" sz="2000">
                          <a:effectLst/>
                          <a:latin typeface="微軟正黑體" pitchFamily="34" charset="-120"/>
                          <a:ea typeface="微軟正黑體" pitchFamily="34" charset="-120"/>
                        </a:rPr>
                        <a:t>運算子</a:t>
                      </a:r>
                      <a:endParaRPr lang="zh-TW" sz="2000">
                        <a:effectLst/>
                        <a:latin typeface="微軟正黑體" pitchFamily="34" charset="-120"/>
                        <a:ea typeface="微軟正黑體" pitchFamily="34" charset="-120"/>
                      </a:endParaRPr>
                    </a:p>
                  </a:txBody>
                  <a:tcPr marL="68583" marR="68583" marT="0" marB="0" anchor="ctr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25210">
                <a:tc>
                  <a:txBody>
                    <a:bodyPr/>
                    <a:lstStyle/>
                    <a:p>
                      <a:pPr algn="ctr">
                        <a:lnSpc>
                          <a:spcPts val="2100"/>
                        </a:lnSpc>
                        <a:spcAft>
                          <a:spcPts val="1200"/>
                        </a:spcAft>
                      </a:pPr>
                      <a:r>
                        <a:rPr lang="en-US" sz="2000">
                          <a:effectLst/>
                          <a:latin typeface="微軟正黑體" pitchFamily="34" charset="-120"/>
                          <a:ea typeface="微軟正黑體" pitchFamily="34" charset="-120"/>
                        </a:rPr>
                        <a:t>**</a:t>
                      </a:r>
                      <a:endParaRPr lang="zh-TW" sz="2000">
                        <a:effectLst/>
                        <a:latin typeface="微軟正黑體" pitchFamily="34" charset="-120"/>
                        <a:ea typeface="微軟正黑體" pitchFamily="34" charset="-120"/>
                      </a:endParaRPr>
                    </a:p>
                  </a:txBody>
                  <a:tcPr marL="68583" marR="68583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100"/>
                        </a:lnSpc>
                        <a:spcAft>
                          <a:spcPts val="1200"/>
                        </a:spcAft>
                      </a:pPr>
                      <a:r>
                        <a:rPr lang="zh-HK" sz="2000">
                          <a:effectLst/>
                          <a:latin typeface="微軟正黑體" pitchFamily="34" charset="-120"/>
                          <a:ea typeface="微軟正黑體" pitchFamily="34" charset="-120"/>
                        </a:rPr>
                        <a:t>指數運算子</a:t>
                      </a:r>
                      <a:endParaRPr lang="zh-TW" sz="2000">
                        <a:effectLst/>
                        <a:latin typeface="微軟正黑體" pitchFamily="34" charset="-120"/>
                        <a:ea typeface="微軟正黑體" pitchFamily="34" charset="-120"/>
                      </a:endParaRPr>
                    </a:p>
                  </a:txBody>
                  <a:tcPr marL="68583" marR="68583" marT="0" marB="0" anchor="ctr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25210">
                <a:tc>
                  <a:txBody>
                    <a:bodyPr/>
                    <a:lstStyle/>
                    <a:p>
                      <a:pPr algn="ctr">
                        <a:lnSpc>
                          <a:spcPts val="2100"/>
                        </a:lnSpc>
                        <a:spcAft>
                          <a:spcPts val="1200"/>
                        </a:spcAft>
                      </a:pPr>
                      <a:r>
                        <a:rPr lang="en-US" sz="2000">
                          <a:effectLst/>
                          <a:latin typeface="微軟正黑體" pitchFamily="34" charset="-120"/>
                          <a:ea typeface="微軟正黑體" pitchFamily="34" charset="-120"/>
                        </a:rPr>
                        <a:t>~</a:t>
                      </a:r>
                      <a:endParaRPr lang="zh-TW" sz="2000">
                        <a:effectLst/>
                        <a:latin typeface="微軟正黑體" pitchFamily="34" charset="-120"/>
                        <a:ea typeface="微軟正黑體" pitchFamily="34" charset="-120"/>
                      </a:endParaRPr>
                    </a:p>
                  </a:txBody>
                  <a:tcPr marL="68583" marR="68583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100"/>
                        </a:lnSpc>
                        <a:spcAft>
                          <a:spcPts val="1200"/>
                        </a:spcAft>
                      </a:pPr>
                      <a:r>
                        <a:rPr lang="zh-HK" sz="2000">
                          <a:effectLst/>
                          <a:latin typeface="微軟正黑體" pitchFamily="34" charset="-120"/>
                          <a:ea typeface="微軟正黑體" pitchFamily="34" charset="-120"/>
                        </a:rPr>
                        <a:t>位元運算子</a:t>
                      </a:r>
                      <a:r>
                        <a:rPr lang="en-US" sz="2000">
                          <a:effectLst/>
                          <a:latin typeface="微軟正黑體" pitchFamily="34" charset="-120"/>
                          <a:ea typeface="微軟正黑體" pitchFamily="34" charset="-120"/>
                        </a:rPr>
                        <a:t>NOT</a:t>
                      </a:r>
                      <a:endParaRPr lang="zh-TW" sz="2000">
                        <a:effectLst/>
                        <a:latin typeface="微軟正黑體" pitchFamily="34" charset="-120"/>
                        <a:ea typeface="微軟正黑體" pitchFamily="34" charset="-120"/>
                      </a:endParaRPr>
                    </a:p>
                  </a:txBody>
                  <a:tcPr marL="68583" marR="68583" marT="0" marB="0" anchor="ctr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25210">
                <a:tc>
                  <a:txBody>
                    <a:bodyPr/>
                    <a:lstStyle/>
                    <a:p>
                      <a:pPr algn="ctr">
                        <a:lnSpc>
                          <a:spcPts val="2100"/>
                        </a:lnSpc>
                        <a:spcAft>
                          <a:spcPts val="1200"/>
                        </a:spcAft>
                      </a:pPr>
                      <a:r>
                        <a:rPr lang="en-US" sz="2000">
                          <a:effectLst/>
                          <a:latin typeface="微軟正黑體" pitchFamily="34" charset="-120"/>
                          <a:ea typeface="微軟正黑體" pitchFamily="34" charset="-120"/>
                        </a:rPr>
                        <a:t>+</a:t>
                      </a:r>
                      <a:r>
                        <a:rPr lang="zh-TW" sz="2000">
                          <a:effectLst/>
                          <a:latin typeface="微軟正黑體" pitchFamily="34" charset="-120"/>
                          <a:ea typeface="微軟正黑體" pitchFamily="34" charset="-120"/>
                        </a:rPr>
                        <a:t>、</a:t>
                      </a:r>
                      <a:r>
                        <a:rPr lang="en-US" sz="2000">
                          <a:effectLst/>
                          <a:latin typeface="微軟正黑體" pitchFamily="34" charset="-120"/>
                          <a:ea typeface="微軟正黑體" pitchFamily="34" charset="-120"/>
                        </a:rPr>
                        <a:t>-</a:t>
                      </a:r>
                      <a:endParaRPr lang="zh-TW" sz="2000">
                        <a:effectLst/>
                        <a:latin typeface="微軟正黑體" pitchFamily="34" charset="-120"/>
                        <a:ea typeface="微軟正黑體" pitchFamily="34" charset="-120"/>
                      </a:endParaRPr>
                    </a:p>
                  </a:txBody>
                  <a:tcPr marL="68583" marR="68583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100"/>
                        </a:lnSpc>
                        <a:spcAft>
                          <a:spcPts val="1200"/>
                        </a:spcAft>
                      </a:pPr>
                      <a:r>
                        <a:rPr lang="zh-TW" sz="2000">
                          <a:effectLst/>
                          <a:latin typeface="微軟正黑體" pitchFamily="34" charset="-120"/>
                          <a:ea typeface="微軟正黑體" pitchFamily="34" charset="-120"/>
                        </a:rPr>
                        <a:t>正號、負號</a:t>
                      </a:r>
                    </a:p>
                  </a:txBody>
                  <a:tcPr marL="68583" marR="68583" marT="0" marB="0" anchor="ctr"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25210">
                <a:tc>
                  <a:txBody>
                    <a:bodyPr/>
                    <a:lstStyle/>
                    <a:p>
                      <a:pPr algn="ctr">
                        <a:lnSpc>
                          <a:spcPts val="2100"/>
                        </a:lnSpc>
                        <a:spcAft>
                          <a:spcPts val="1200"/>
                        </a:spcAft>
                      </a:pPr>
                      <a:r>
                        <a:rPr lang="en-US" sz="2000">
                          <a:effectLst/>
                          <a:latin typeface="微軟正黑體" pitchFamily="34" charset="-120"/>
                          <a:ea typeface="微軟正黑體" pitchFamily="34" charset="-120"/>
                        </a:rPr>
                        <a:t>*</a:t>
                      </a:r>
                      <a:r>
                        <a:rPr lang="zh-TW" sz="2000">
                          <a:effectLst/>
                          <a:latin typeface="微軟正黑體" pitchFamily="34" charset="-120"/>
                          <a:ea typeface="微軟正黑體" pitchFamily="34" charset="-120"/>
                        </a:rPr>
                        <a:t>、</a:t>
                      </a:r>
                      <a:r>
                        <a:rPr lang="en-US" sz="2000">
                          <a:effectLst/>
                          <a:latin typeface="微軟正黑體" pitchFamily="34" charset="-120"/>
                          <a:ea typeface="微軟正黑體" pitchFamily="34" charset="-120"/>
                        </a:rPr>
                        <a:t>/</a:t>
                      </a:r>
                      <a:r>
                        <a:rPr lang="zh-TW" sz="2000">
                          <a:effectLst/>
                          <a:latin typeface="微軟正黑體" pitchFamily="34" charset="-120"/>
                          <a:ea typeface="微軟正黑體" pitchFamily="34" charset="-120"/>
                        </a:rPr>
                        <a:t>、</a:t>
                      </a:r>
                      <a:r>
                        <a:rPr lang="en-US" sz="2000">
                          <a:effectLst/>
                          <a:latin typeface="微軟正黑體" pitchFamily="34" charset="-120"/>
                          <a:ea typeface="微軟正黑體" pitchFamily="34" charset="-120"/>
                        </a:rPr>
                        <a:t>//</a:t>
                      </a:r>
                      <a:r>
                        <a:rPr lang="zh-TW" sz="2000">
                          <a:effectLst/>
                          <a:latin typeface="微軟正黑體" pitchFamily="34" charset="-120"/>
                          <a:ea typeface="微軟正黑體" pitchFamily="34" charset="-120"/>
                        </a:rPr>
                        <a:t>、</a:t>
                      </a:r>
                      <a:r>
                        <a:rPr lang="en-US" sz="2000">
                          <a:effectLst/>
                          <a:latin typeface="微軟正黑體" pitchFamily="34" charset="-120"/>
                          <a:ea typeface="微軟正黑體" pitchFamily="34" charset="-120"/>
                        </a:rPr>
                        <a:t>%</a:t>
                      </a:r>
                      <a:endParaRPr lang="zh-TW" sz="2000">
                        <a:effectLst/>
                        <a:latin typeface="微軟正黑體" pitchFamily="34" charset="-120"/>
                        <a:ea typeface="微軟正黑體" pitchFamily="34" charset="-120"/>
                      </a:endParaRPr>
                    </a:p>
                  </a:txBody>
                  <a:tcPr marL="68583" marR="68583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100"/>
                        </a:lnSpc>
                        <a:spcAft>
                          <a:spcPts val="1200"/>
                        </a:spcAft>
                      </a:pPr>
                      <a:r>
                        <a:rPr lang="zh-TW" sz="2000">
                          <a:effectLst/>
                          <a:latin typeface="微軟正黑體" pitchFamily="34" charset="-120"/>
                          <a:ea typeface="微軟正黑體" pitchFamily="34" charset="-120"/>
                        </a:rPr>
                        <a:t>算術運算子的乘法、除法、</a:t>
                      </a:r>
                      <a:r>
                        <a:rPr lang="zh-HK" sz="2000">
                          <a:effectLst/>
                          <a:latin typeface="微軟正黑體" pitchFamily="34" charset="-120"/>
                          <a:ea typeface="微軟正黑體" pitchFamily="34" charset="-120"/>
                        </a:rPr>
                        <a:t>整數除法</a:t>
                      </a:r>
                      <a:r>
                        <a:rPr lang="zh-TW" sz="2000">
                          <a:effectLst/>
                          <a:latin typeface="微軟正黑體" pitchFamily="34" charset="-120"/>
                          <a:ea typeface="微軟正黑體" pitchFamily="34" charset="-120"/>
                        </a:rPr>
                        <a:t>和餘數</a:t>
                      </a:r>
                    </a:p>
                  </a:txBody>
                  <a:tcPr marL="68583" marR="68583" marT="0" marB="0" anchor="ctr"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25210">
                <a:tc>
                  <a:txBody>
                    <a:bodyPr/>
                    <a:lstStyle/>
                    <a:p>
                      <a:pPr algn="ctr">
                        <a:lnSpc>
                          <a:spcPts val="2100"/>
                        </a:lnSpc>
                        <a:spcAft>
                          <a:spcPts val="1200"/>
                        </a:spcAft>
                      </a:pPr>
                      <a:r>
                        <a:rPr lang="en-US" sz="2000">
                          <a:effectLst/>
                          <a:latin typeface="微軟正黑體" pitchFamily="34" charset="-120"/>
                          <a:ea typeface="微軟正黑體" pitchFamily="34" charset="-120"/>
                        </a:rPr>
                        <a:t>+</a:t>
                      </a:r>
                      <a:r>
                        <a:rPr lang="zh-TW" sz="2000">
                          <a:effectLst/>
                          <a:latin typeface="微軟正黑體" pitchFamily="34" charset="-120"/>
                          <a:ea typeface="微軟正黑體" pitchFamily="34" charset="-120"/>
                        </a:rPr>
                        <a:t>、</a:t>
                      </a:r>
                      <a:r>
                        <a:rPr lang="en-US" sz="2000">
                          <a:effectLst/>
                          <a:latin typeface="微軟正黑體" pitchFamily="34" charset="-120"/>
                          <a:ea typeface="微軟正黑體" pitchFamily="34" charset="-120"/>
                        </a:rPr>
                        <a:t>-</a:t>
                      </a:r>
                      <a:endParaRPr lang="zh-TW" sz="2000">
                        <a:effectLst/>
                        <a:latin typeface="微軟正黑體" pitchFamily="34" charset="-120"/>
                        <a:ea typeface="微軟正黑體" pitchFamily="34" charset="-120"/>
                      </a:endParaRPr>
                    </a:p>
                  </a:txBody>
                  <a:tcPr marL="68583" marR="68583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100"/>
                        </a:lnSpc>
                        <a:spcAft>
                          <a:spcPts val="1200"/>
                        </a:spcAft>
                      </a:pPr>
                      <a:r>
                        <a:rPr lang="zh-TW" sz="2000">
                          <a:effectLst/>
                          <a:latin typeface="微軟正黑體" pitchFamily="34" charset="-120"/>
                          <a:ea typeface="微軟正黑體" pitchFamily="34" charset="-120"/>
                        </a:rPr>
                        <a:t>算術運算子加法和減法</a:t>
                      </a:r>
                    </a:p>
                  </a:txBody>
                  <a:tcPr marL="68583" marR="68583" marT="0" marB="0" anchor="ctr"/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25210">
                <a:tc>
                  <a:txBody>
                    <a:bodyPr/>
                    <a:lstStyle/>
                    <a:p>
                      <a:pPr algn="ctr">
                        <a:lnSpc>
                          <a:spcPts val="2100"/>
                        </a:lnSpc>
                        <a:spcAft>
                          <a:spcPts val="1200"/>
                        </a:spcAft>
                      </a:pPr>
                      <a:r>
                        <a:rPr lang="en-US" sz="2000">
                          <a:effectLst/>
                          <a:latin typeface="微軟正黑體" pitchFamily="34" charset="-120"/>
                          <a:ea typeface="微軟正黑體" pitchFamily="34" charset="-120"/>
                        </a:rPr>
                        <a:t>&lt;&lt;</a:t>
                      </a:r>
                      <a:r>
                        <a:rPr lang="zh-TW" sz="2000">
                          <a:effectLst/>
                          <a:latin typeface="微軟正黑體" pitchFamily="34" charset="-120"/>
                          <a:ea typeface="微軟正黑體" pitchFamily="34" charset="-120"/>
                        </a:rPr>
                        <a:t>、</a:t>
                      </a:r>
                      <a:r>
                        <a:rPr lang="en-US" sz="2000">
                          <a:effectLst/>
                          <a:latin typeface="微軟正黑體" pitchFamily="34" charset="-120"/>
                          <a:ea typeface="微軟正黑體" pitchFamily="34" charset="-120"/>
                        </a:rPr>
                        <a:t>&gt;&gt;</a:t>
                      </a:r>
                      <a:endParaRPr lang="zh-TW" sz="2000">
                        <a:effectLst/>
                        <a:latin typeface="微軟正黑體" pitchFamily="34" charset="-120"/>
                        <a:ea typeface="微軟正黑體" pitchFamily="34" charset="-120"/>
                      </a:endParaRPr>
                    </a:p>
                  </a:txBody>
                  <a:tcPr marL="68583" marR="68583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100"/>
                        </a:lnSpc>
                        <a:spcAft>
                          <a:spcPts val="1200"/>
                        </a:spcAft>
                      </a:pPr>
                      <a:r>
                        <a:rPr lang="zh-TW" sz="2000">
                          <a:effectLst/>
                          <a:latin typeface="微軟正黑體" pitchFamily="34" charset="-120"/>
                          <a:ea typeface="微軟正黑體" pitchFamily="34" charset="-120"/>
                        </a:rPr>
                        <a:t>位元運算子左移</a:t>
                      </a:r>
                      <a:r>
                        <a:rPr lang="zh-HK" sz="2000">
                          <a:effectLst/>
                          <a:latin typeface="微軟正黑體" pitchFamily="34" charset="-120"/>
                          <a:ea typeface="微軟正黑體" pitchFamily="34" charset="-120"/>
                        </a:rPr>
                        <a:t>和</a:t>
                      </a:r>
                      <a:r>
                        <a:rPr lang="zh-TW" sz="2000">
                          <a:effectLst/>
                          <a:latin typeface="微軟正黑體" pitchFamily="34" charset="-120"/>
                          <a:ea typeface="微軟正黑體" pitchFamily="34" charset="-120"/>
                        </a:rPr>
                        <a:t>右移</a:t>
                      </a:r>
                    </a:p>
                  </a:txBody>
                  <a:tcPr marL="68583" marR="68583" marT="0" marB="0" anchor="ctr"/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325210">
                <a:tc>
                  <a:txBody>
                    <a:bodyPr/>
                    <a:lstStyle/>
                    <a:p>
                      <a:pPr algn="ctr">
                        <a:lnSpc>
                          <a:spcPts val="2100"/>
                        </a:lnSpc>
                        <a:spcAft>
                          <a:spcPts val="1200"/>
                        </a:spcAft>
                      </a:pPr>
                      <a:r>
                        <a:rPr lang="en-US" sz="2000">
                          <a:effectLst/>
                          <a:latin typeface="微軟正黑體" pitchFamily="34" charset="-120"/>
                          <a:ea typeface="微軟正黑體" pitchFamily="34" charset="-120"/>
                        </a:rPr>
                        <a:t>&amp;</a:t>
                      </a:r>
                      <a:endParaRPr lang="zh-TW" sz="2000">
                        <a:effectLst/>
                        <a:latin typeface="微軟正黑體" pitchFamily="34" charset="-120"/>
                        <a:ea typeface="微軟正黑體" pitchFamily="34" charset="-120"/>
                      </a:endParaRPr>
                    </a:p>
                  </a:txBody>
                  <a:tcPr marL="68583" marR="68583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100"/>
                        </a:lnSpc>
                        <a:spcAft>
                          <a:spcPts val="1200"/>
                        </a:spcAft>
                      </a:pPr>
                      <a:r>
                        <a:rPr lang="zh-TW" sz="2000">
                          <a:effectLst/>
                          <a:latin typeface="微軟正黑體" pitchFamily="34" charset="-120"/>
                          <a:ea typeface="微軟正黑體" pitchFamily="34" charset="-120"/>
                        </a:rPr>
                        <a:t>位元運算子</a:t>
                      </a:r>
                      <a:r>
                        <a:rPr lang="en-US" sz="2000">
                          <a:effectLst/>
                          <a:latin typeface="微軟正黑體" pitchFamily="34" charset="-120"/>
                          <a:ea typeface="微軟正黑體" pitchFamily="34" charset="-120"/>
                        </a:rPr>
                        <a:t>AND</a:t>
                      </a:r>
                      <a:endParaRPr lang="zh-TW" sz="2000">
                        <a:effectLst/>
                        <a:latin typeface="微軟正黑體" pitchFamily="34" charset="-120"/>
                        <a:ea typeface="微軟正黑體" pitchFamily="34" charset="-120"/>
                      </a:endParaRPr>
                    </a:p>
                  </a:txBody>
                  <a:tcPr marL="68583" marR="68583" marT="0" marB="0" anchor="ctr"/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325210">
                <a:tc>
                  <a:txBody>
                    <a:bodyPr/>
                    <a:lstStyle/>
                    <a:p>
                      <a:pPr algn="ctr">
                        <a:lnSpc>
                          <a:spcPts val="2100"/>
                        </a:lnSpc>
                        <a:spcAft>
                          <a:spcPts val="1200"/>
                        </a:spcAft>
                      </a:pPr>
                      <a:r>
                        <a:rPr lang="en-US" sz="2000">
                          <a:effectLst/>
                          <a:latin typeface="微軟正黑體" pitchFamily="34" charset="-120"/>
                          <a:ea typeface="微軟正黑體" pitchFamily="34" charset="-120"/>
                        </a:rPr>
                        <a:t>^</a:t>
                      </a:r>
                      <a:endParaRPr lang="zh-TW" sz="2000">
                        <a:effectLst/>
                        <a:latin typeface="微軟正黑體" pitchFamily="34" charset="-120"/>
                        <a:ea typeface="微軟正黑體" pitchFamily="34" charset="-120"/>
                      </a:endParaRPr>
                    </a:p>
                  </a:txBody>
                  <a:tcPr marL="68583" marR="68583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100"/>
                        </a:lnSpc>
                        <a:spcAft>
                          <a:spcPts val="1200"/>
                        </a:spcAft>
                      </a:pPr>
                      <a:r>
                        <a:rPr lang="zh-TW" sz="2000">
                          <a:effectLst/>
                          <a:latin typeface="微軟正黑體" pitchFamily="34" charset="-120"/>
                          <a:ea typeface="微軟正黑體" pitchFamily="34" charset="-120"/>
                        </a:rPr>
                        <a:t>位元運算子</a:t>
                      </a:r>
                      <a:r>
                        <a:rPr lang="en-US" sz="2000">
                          <a:effectLst/>
                          <a:latin typeface="微軟正黑體" pitchFamily="34" charset="-120"/>
                          <a:ea typeface="微軟正黑體" pitchFamily="34" charset="-120"/>
                        </a:rPr>
                        <a:t>XOR</a:t>
                      </a:r>
                      <a:endParaRPr lang="zh-TW" sz="2000">
                        <a:effectLst/>
                        <a:latin typeface="微軟正黑體" pitchFamily="34" charset="-120"/>
                        <a:ea typeface="微軟正黑體" pitchFamily="34" charset="-120"/>
                      </a:endParaRPr>
                    </a:p>
                  </a:txBody>
                  <a:tcPr marL="68583" marR="68583" marT="0" marB="0" anchor="ctr"/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325210">
                <a:tc>
                  <a:txBody>
                    <a:bodyPr/>
                    <a:lstStyle/>
                    <a:p>
                      <a:pPr algn="ctr">
                        <a:lnSpc>
                          <a:spcPts val="2100"/>
                        </a:lnSpc>
                        <a:spcAft>
                          <a:spcPts val="1200"/>
                        </a:spcAft>
                      </a:pPr>
                      <a:r>
                        <a:rPr lang="en-US" sz="2000">
                          <a:effectLst/>
                          <a:latin typeface="微軟正黑體" pitchFamily="34" charset="-120"/>
                          <a:ea typeface="微軟正黑體" pitchFamily="34" charset="-120"/>
                        </a:rPr>
                        <a:t>|</a:t>
                      </a:r>
                      <a:endParaRPr lang="zh-TW" sz="2000">
                        <a:effectLst/>
                        <a:latin typeface="微軟正黑體" pitchFamily="34" charset="-120"/>
                        <a:ea typeface="微軟正黑體" pitchFamily="34" charset="-120"/>
                      </a:endParaRPr>
                    </a:p>
                  </a:txBody>
                  <a:tcPr marL="68583" marR="68583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100"/>
                        </a:lnSpc>
                        <a:spcAft>
                          <a:spcPts val="1200"/>
                        </a:spcAft>
                      </a:pPr>
                      <a:r>
                        <a:rPr lang="zh-TW" sz="2000">
                          <a:effectLst/>
                          <a:latin typeface="微軟正黑體" pitchFamily="34" charset="-120"/>
                          <a:ea typeface="微軟正黑體" pitchFamily="34" charset="-120"/>
                        </a:rPr>
                        <a:t>位元運算子</a:t>
                      </a:r>
                      <a:r>
                        <a:rPr lang="en-US" sz="2000">
                          <a:effectLst/>
                          <a:latin typeface="微軟正黑體" pitchFamily="34" charset="-120"/>
                          <a:ea typeface="微軟正黑體" pitchFamily="34" charset="-120"/>
                        </a:rPr>
                        <a:t>OR</a:t>
                      </a:r>
                      <a:endParaRPr lang="zh-TW" sz="2000">
                        <a:effectLst/>
                        <a:latin typeface="微軟正黑體" pitchFamily="34" charset="-120"/>
                        <a:ea typeface="微軟正黑體" pitchFamily="34" charset="-120"/>
                      </a:endParaRPr>
                    </a:p>
                  </a:txBody>
                  <a:tcPr marL="68583" marR="68583" marT="0" marB="0" anchor="ctr"/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  <a:tr h="800110">
                <a:tc>
                  <a:txBody>
                    <a:bodyPr/>
                    <a:lstStyle/>
                    <a:p>
                      <a:pPr algn="ctr">
                        <a:lnSpc>
                          <a:spcPts val="2100"/>
                        </a:lnSpc>
                        <a:spcAft>
                          <a:spcPts val="1200"/>
                        </a:spcAft>
                      </a:pPr>
                      <a:r>
                        <a:rPr lang="en-US" sz="2000">
                          <a:effectLst/>
                          <a:latin typeface="微軟正黑體" pitchFamily="34" charset="-120"/>
                          <a:ea typeface="微軟正黑體" pitchFamily="34" charset="-120"/>
                        </a:rPr>
                        <a:t>in</a:t>
                      </a:r>
                      <a:r>
                        <a:rPr lang="zh-TW" sz="2000">
                          <a:effectLst/>
                          <a:latin typeface="微軟正黑體" pitchFamily="34" charset="-120"/>
                          <a:ea typeface="微軟正黑體" pitchFamily="34" charset="-120"/>
                        </a:rPr>
                        <a:t>、</a:t>
                      </a:r>
                      <a:r>
                        <a:rPr lang="en-US" sz="2000">
                          <a:effectLst/>
                          <a:latin typeface="微軟正黑體" pitchFamily="34" charset="-120"/>
                          <a:ea typeface="微軟正黑體" pitchFamily="34" charset="-120"/>
                        </a:rPr>
                        <a:t>not in</a:t>
                      </a:r>
                      <a:r>
                        <a:rPr lang="zh-TW" sz="2000">
                          <a:effectLst/>
                          <a:latin typeface="微軟正黑體" pitchFamily="34" charset="-120"/>
                          <a:ea typeface="微軟正黑體" pitchFamily="34" charset="-120"/>
                        </a:rPr>
                        <a:t>、</a:t>
                      </a:r>
                      <a:r>
                        <a:rPr lang="en-US" sz="2000">
                          <a:effectLst/>
                          <a:latin typeface="微軟正黑體" pitchFamily="34" charset="-120"/>
                          <a:ea typeface="微軟正黑體" pitchFamily="34" charset="-120"/>
                        </a:rPr>
                        <a:t>is</a:t>
                      </a:r>
                      <a:r>
                        <a:rPr lang="zh-TW" sz="2000">
                          <a:effectLst/>
                          <a:latin typeface="微軟正黑體" pitchFamily="34" charset="-120"/>
                          <a:ea typeface="微軟正黑體" pitchFamily="34" charset="-120"/>
                        </a:rPr>
                        <a:t>、</a:t>
                      </a:r>
                      <a:r>
                        <a:rPr lang="en-US" sz="2000">
                          <a:effectLst/>
                          <a:latin typeface="微軟正黑體" pitchFamily="34" charset="-120"/>
                          <a:ea typeface="微軟正黑體" pitchFamily="34" charset="-120"/>
                        </a:rPr>
                        <a:t>is not</a:t>
                      </a:r>
                      <a:r>
                        <a:rPr lang="zh-TW" sz="2000">
                          <a:effectLst/>
                          <a:latin typeface="微軟正黑體" pitchFamily="34" charset="-120"/>
                          <a:ea typeface="微軟正黑體" pitchFamily="34" charset="-120"/>
                        </a:rPr>
                        <a:t>、</a:t>
                      </a:r>
                      <a:r>
                        <a:rPr lang="en-US" sz="2000">
                          <a:effectLst/>
                          <a:latin typeface="微軟正黑體" pitchFamily="34" charset="-120"/>
                          <a:ea typeface="微軟正黑體" pitchFamily="34" charset="-120"/>
                        </a:rPr>
                        <a:t>&lt;</a:t>
                      </a:r>
                      <a:r>
                        <a:rPr lang="zh-TW" sz="2000">
                          <a:effectLst/>
                          <a:latin typeface="微軟正黑體" pitchFamily="34" charset="-120"/>
                          <a:ea typeface="微軟正黑體" pitchFamily="34" charset="-120"/>
                        </a:rPr>
                        <a:t>、</a:t>
                      </a:r>
                      <a:r>
                        <a:rPr lang="en-US" sz="2000">
                          <a:effectLst/>
                          <a:latin typeface="微軟正黑體" pitchFamily="34" charset="-120"/>
                          <a:ea typeface="微軟正黑體" pitchFamily="34" charset="-120"/>
                        </a:rPr>
                        <a:t>&lt;=</a:t>
                      </a:r>
                      <a:r>
                        <a:rPr lang="zh-TW" sz="2000">
                          <a:effectLst/>
                          <a:latin typeface="微軟正黑體" pitchFamily="34" charset="-120"/>
                          <a:ea typeface="微軟正黑體" pitchFamily="34" charset="-120"/>
                        </a:rPr>
                        <a:t>、</a:t>
                      </a:r>
                      <a:r>
                        <a:rPr lang="en-US" sz="2000">
                          <a:effectLst/>
                          <a:latin typeface="微軟正黑體" pitchFamily="34" charset="-120"/>
                          <a:ea typeface="微軟正黑體" pitchFamily="34" charset="-120"/>
                        </a:rPr>
                        <a:t>&gt;</a:t>
                      </a:r>
                      <a:r>
                        <a:rPr lang="zh-TW" sz="2000">
                          <a:effectLst/>
                          <a:latin typeface="微軟正黑體" pitchFamily="34" charset="-120"/>
                          <a:ea typeface="微軟正黑體" pitchFamily="34" charset="-120"/>
                        </a:rPr>
                        <a:t>、</a:t>
                      </a:r>
                      <a:r>
                        <a:rPr lang="en-US" sz="2000">
                          <a:effectLst/>
                          <a:latin typeface="微軟正黑體" pitchFamily="34" charset="-120"/>
                          <a:ea typeface="微軟正黑體" pitchFamily="34" charset="-120"/>
                        </a:rPr>
                        <a:t>&gt;=</a:t>
                      </a:r>
                      <a:r>
                        <a:rPr lang="zh-TW" sz="2000">
                          <a:effectLst/>
                          <a:latin typeface="微軟正黑體" pitchFamily="34" charset="-120"/>
                          <a:ea typeface="微軟正黑體" pitchFamily="34" charset="-120"/>
                        </a:rPr>
                        <a:t>、</a:t>
                      </a:r>
                      <a:r>
                        <a:rPr lang="en-US" sz="2000">
                          <a:effectLst/>
                          <a:latin typeface="微軟正黑體" pitchFamily="34" charset="-120"/>
                          <a:ea typeface="微軟正黑體" pitchFamily="34" charset="-120"/>
                        </a:rPr>
                        <a:t>&lt;&gt;</a:t>
                      </a:r>
                      <a:r>
                        <a:rPr lang="zh-TW" sz="2000">
                          <a:effectLst/>
                          <a:latin typeface="微軟正黑體" pitchFamily="34" charset="-120"/>
                          <a:ea typeface="微軟正黑體" pitchFamily="34" charset="-120"/>
                        </a:rPr>
                        <a:t>、</a:t>
                      </a:r>
                      <a:r>
                        <a:rPr lang="en-US" sz="2000">
                          <a:effectLst/>
                          <a:latin typeface="微軟正黑體" pitchFamily="34" charset="-120"/>
                          <a:ea typeface="微軟正黑體" pitchFamily="34" charset="-120"/>
                        </a:rPr>
                        <a:t>!=</a:t>
                      </a:r>
                      <a:r>
                        <a:rPr lang="zh-TW" sz="2000">
                          <a:effectLst/>
                          <a:latin typeface="微軟正黑體" pitchFamily="34" charset="-120"/>
                          <a:ea typeface="微軟正黑體" pitchFamily="34" charset="-120"/>
                        </a:rPr>
                        <a:t>、</a:t>
                      </a:r>
                      <a:r>
                        <a:rPr lang="en-US" sz="2000">
                          <a:effectLst/>
                          <a:latin typeface="微軟正黑體" pitchFamily="34" charset="-120"/>
                          <a:ea typeface="微軟正黑體" pitchFamily="34" charset="-120"/>
                        </a:rPr>
                        <a:t>==</a:t>
                      </a:r>
                      <a:endParaRPr lang="zh-TW" sz="2000">
                        <a:effectLst/>
                        <a:latin typeface="微軟正黑體" pitchFamily="34" charset="-120"/>
                        <a:ea typeface="微軟正黑體" pitchFamily="34" charset="-120"/>
                      </a:endParaRPr>
                    </a:p>
                  </a:txBody>
                  <a:tcPr marL="68583" marR="68583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100"/>
                        </a:lnSpc>
                        <a:spcAft>
                          <a:spcPts val="1200"/>
                        </a:spcAft>
                      </a:pPr>
                      <a:r>
                        <a:rPr lang="zh-HK" sz="2000">
                          <a:effectLst/>
                          <a:latin typeface="微軟正黑體" pitchFamily="34" charset="-120"/>
                          <a:ea typeface="微軟正黑體" pitchFamily="34" charset="-120"/>
                        </a:rPr>
                        <a:t>成員</a:t>
                      </a:r>
                      <a:r>
                        <a:rPr lang="zh-TW" sz="2000">
                          <a:effectLst/>
                          <a:latin typeface="微軟正黑體" pitchFamily="34" charset="-120"/>
                          <a:ea typeface="微軟正黑體" pitchFamily="34" charset="-120"/>
                        </a:rPr>
                        <a:t>、</a:t>
                      </a:r>
                      <a:r>
                        <a:rPr lang="zh-HK" sz="2000">
                          <a:effectLst/>
                          <a:latin typeface="微軟正黑體" pitchFamily="34" charset="-120"/>
                          <a:ea typeface="微軟正黑體" pitchFamily="34" charset="-120"/>
                        </a:rPr>
                        <a:t>識別和關係</a:t>
                      </a:r>
                      <a:r>
                        <a:rPr lang="zh-TW" sz="2000">
                          <a:effectLst/>
                          <a:latin typeface="微軟正黑體" pitchFamily="34" charset="-120"/>
                          <a:ea typeface="微軟正黑體" pitchFamily="34" charset="-120"/>
                        </a:rPr>
                        <a:t>運算子</a:t>
                      </a:r>
                      <a:r>
                        <a:rPr lang="zh-HK" sz="2000">
                          <a:effectLst/>
                          <a:latin typeface="微軟正黑體" pitchFamily="34" charset="-120"/>
                          <a:ea typeface="微軟正黑體" pitchFamily="34" charset="-120"/>
                        </a:rPr>
                        <a:t>小</a:t>
                      </a:r>
                      <a:r>
                        <a:rPr lang="zh-TW" sz="2000">
                          <a:effectLst/>
                          <a:latin typeface="微軟正黑體" pitchFamily="34" charset="-120"/>
                          <a:ea typeface="微軟正黑體" pitchFamily="34" charset="-120"/>
                        </a:rPr>
                        <a:t>於、</a:t>
                      </a:r>
                      <a:r>
                        <a:rPr lang="zh-HK" sz="2000">
                          <a:effectLst/>
                          <a:latin typeface="微軟正黑體" pitchFamily="34" charset="-120"/>
                          <a:ea typeface="微軟正黑體" pitchFamily="34" charset="-120"/>
                        </a:rPr>
                        <a:t>小</a:t>
                      </a:r>
                      <a:r>
                        <a:rPr lang="zh-TW" sz="2000">
                          <a:effectLst/>
                          <a:latin typeface="微軟正黑體" pitchFamily="34" charset="-120"/>
                          <a:ea typeface="微軟正黑體" pitchFamily="34" charset="-120"/>
                        </a:rPr>
                        <a:t>於等於、</a:t>
                      </a:r>
                      <a:r>
                        <a:rPr lang="zh-HK" sz="2000">
                          <a:effectLst/>
                          <a:latin typeface="微軟正黑體" pitchFamily="34" charset="-120"/>
                          <a:ea typeface="微軟正黑體" pitchFamily="34" charset="-120"/>
                        </a:rPr>
                        <a:t>大</a:t>
                      </a:r>
                      <a:r>
                        <a:rPr lang="zh-TW" sz="2000">
                          <a:effectLst/>
                          <a:latin typeface="微軟正黑體" pitchFamily="34" charset="-120"/>
                          <a:ea typeface="微軟正黑體" pitchFamily="34" charset="-120"/>
                        </a:rPr>
                        <a:t>於、</a:t>
                      </a:r>
                      <a:r>
                        <a:rPr lang="zh-HK" sz="2000">
                          <a:effectLst/>
                          <a:latin typeface="微軟正黑體" pitchFamily="34" charset="-120"/>
                          <a:ea typeface="微軟正黑體" pitchFamily="34" charset="-120"/>
                        </a:rPr>
                        <a:t>大</a:t>
                      </a:r>
                      <a:r>
                        <a:rPr lang="zh-TW" sz="2000">
                          <a:effectLst/>
                          <a:latin typeface="微軟正黑體" pitchFamily="34" charset="-120"/>
                          <a:ea typeface="微軟正黑體" pitchFamily="34" charset="-120"/>
                        </a:rPr>
                        <a:t>於等於、不等於和等於</a:t>
                      </a:r>
                    </a:p>
                  </a:txBody>
                  <a:tcPr marL="68583" marR="68583" marT="0" marB="0" anchor="ctr"/>
                </a:tc>
                <a:extLst>
                  <a:ext uri="{0D108BD9-81ED-4DB2-BD59-A6C34878D82A}">
                    <a16:rowId xmlns:a16="http://schemas.microsoft.com/office/drawing/2014/main" val="10011"/>
                  </a:ext>
                </a:extLst>
              </a:tr>
              <a:tr h="325210">
                <a:tc>
                  <a:txBody>
                    <a:bodyPr/>
                    <a:lstStyle/>
                    <a:p>
                      <a:pPr algn="ctr">
                        <a:lnSpc>
                          <a:spcPts val="2100"/>
                        </a:lnSpc>
                        <a:spcAft>
                          <a:spcPts val="1200"/>
                        </a:spcAft>
                      </a:pPr>
                      <a:r>
                        <a:rPr lang="en-US" sz="2000">
                          <a:effectLst/>
                          <a:latin typeface="微軟正黑體" pitchFamily="34" charset="-120"/>
                          <a:ea typeface="微軟正黑體" pitchFamily="34" charset="-120"/>
                        </a:rPr>
                        <a:t>not</a:t>
                      </a:r>
                      <a:endParaRPr lang="zh-TW" sz="2000">
                        <a:effectLst/>
                        <a:latin typeface="微軟正黑體" pitchFamily="34" charset="-120"/>
                        <a:ea typeface="微軟正黑體" pitchFamily="34" charset="-120"/>
                      </a:endParaRPr>
                    </a:p>
                  </a:txBody>
                  <a:tcPr marL="68583" marR="68583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100"/>
                        </a:lnSpc>
                        <a:spcAft>
                          <a:spcPts val="1200"/>
                        </a:spcAft>
                      </a:pPr>
                      <a:r>
                        <a:rPr lang="zh-TW" sz="2000">
                          <a:effectLst/>
                          <a:latin typeface="微軟正黑體" pitchFamily="34" charset="-120"/>
                          <a:ea typeface="微軟正黑體" pitchFamily="34" charset="-120"/>
                        </a:rPr>
                        <a:t>邏輯運算子</a:t>
                      </a:r>
                      <a:r>
                        <a:rPr lang="en-US" sz="2000">
                          <a:effectLst/>
                          <a:latin typeface="微軟正黑體" pitchFamily="34" charset="-120"/>
                          <a:ea typeface="微軟正黑體" pitchFamily="34" charset="-120"/>
                        </a:rPr>
                        <a:t>NOT</a:t>
                      </a:r>
                      <a:endParaRPr lang="zh-TW" sz="2000">
                        <a:effectLst/>
                        <a:latin typeface="微軟正黑體" pitchFamily="34" charset="-120"/>
                        <a:ea typeface="微軟正黑體" pitchFamily="34" charset="-120"/>
                      </a:endParaRPr>
                    </a:p>
                  </a:txBody>
                  <a:tcPr marL="68583" marR="68583" marT="0" marB="0" anchor="ctr"/>
                </a:tc>
                <a:extLst>
                  <a:ext uri="{0D108BD9-81ED-4DB2-BD59-A6C34878D82A}">
                    <a16:rowId xmlns:a16="http://schemas.microsoft.com/office/drawing/2014/main" val="10012"/>
                  </a:ext>
                </a:extLst>
              </a:tr>
              <a:tr h="325210">
                <a:tc>
                  <a:txBody>
                    <a:bodyPr/>
                    <a:lstStyle/>
                    <a:p>
                      <a:pPr algn="ctr">
                        <a:lnSpc>
                          <a:spcPts val="2100"/>
                        </a:lnSpc>
                        <a:spcAft>
                          <a:spcPts val="1200"/>
                        </a:spcAft>
                      </a:pPr>
                      <a:r>
                        <a:rPr lang="en-US" sz="2000">
                          <a:effectLst/>
                          <a:latin typeface="微軟正黑體" pitchFamily="34" charset="-120"/>
                          <a:ea typeface="微軟正黑體" pitchFamily="34" charset="-120"/>
                        </a:rPr>
                        <a:t>and</a:t>
                      </a:r>
                      <a:endParaRPr lang="zh-TW" sz="2000">
                        <a:effectLst/>
                        <a:latin typeface="微軟正黑體" pitchFamily="34" charset="-120"/>
                        <a:ea typeface="微軟正黑體" pitchFamily="34" charset="-120"/>
                      </a:endParaRPr>
                    </a:p>
                  </a:txBody>
                  <a:tcPr marL="68583" marR="68583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100"/>
                        </a:lnSpc>
                        <a:spcAft>
                          <a:spcPts val="1200"/>
                        </a:spcAft>
                      </a:pPr>
                      <a:r>
                        <a:rPr lang="zh-TW" sz="2000">
                          <a:effectLst/>
                          <a:latin typeface="微軟正黑體" pitchFamily="34" charset="-120"/>
                          <a:ea typeface="微軟正黑體" pitchFamily="34" charset="-120"/>
                        </a:rPr>
                        <a:t>邏輯運算子</a:t>
                      </a:r>
                      <a:r>
                        <a:rPr lang="en-US" sz="2000">
                          <a:effectLst/>
                          <a:latin typeface="微軟正黑體" pitchFamily="34" charset="-120"/>
                          <a:ea typeface="微軟正黑體" pitchFamily="34" charset="-120"/>
                        </a:rPr>
                        <a:t>AND</a:t>
                      </a:r>
                      <a:endParaRPr lang="zh-TW" sz="2000">
                        <a:effectLst/>
                        <a:latin typeface="微軟正黑體" pitchFamily="34" charset="-120"/>
                        <a:ea typeface="微軟正黑體" pitchFamily="34" charset="-120"/>
                      </a:endParaRPr>
                    </a:p>
                  </a:txBody>
                  <a:tcPr marL="68583" marR="68583" marT="0" marB="0" anchor="ctr"/>
                </a:tc>
                <a:extLst>
                  <a:ext uri="{0D108BD9-81ED-4DB2-BD59-A6C34878D82A}">
                    <a16:rowId xmlns:a16="http://schemas.microsoft.com/office/drawing/2014/main" val="10013"/>
                  </a:ext>
                </a:extLst>
              </a:tr>
              <a:tr h="325210">
                <a:tc>
                  <a:txBody>
                    <a:bodyPr/>
                    <a:lstStyle/>
                    <a:p>
                      <a:pPr algn="ctr">
                        <a:lnSpc>
                          <a:spcPts val="2100"/>
                        </a:lnSpc>
                        <a:spcAft>
                          <a:spcPts val="1200"/>
                        </a:spcAft>
                      </a:pPr>
                      <a:r>
                        <a:rPr lang="en-US" sz="2000">
                          <a:effectLst/>
                          <a:latin typeface="微軟正黑體" pitchFamily="34" charset="-120"/>
                          <a:ea typeface="微軟正黑體" pitchFamily="34" charset="-120"/>
                        </a:rPr>
                        <a:t>or</a:t>
                      </a:r>
                      <a:endParaRPr lang="zh-TW" sz="2000">
                        <a:effectLst/>
                        <a:latin typeface="微軟正黑體" pitchFamily="34" charset="-120"/>
                        <a:ea typeface="微軟正黑體" pitchFamily="34" charset="-120"/>
                      </a:endParaRPr>
                    </a:p>
                  </a:txBody>
                  <a:tcPr marL="68583" marR="68583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100"/>
                        </a:lnSpc>
                        <a:spcAft>
                          <a:spcPts val="1200"/>
                        </a:spcAft>
                      </a:pPr>
                      <a:r>
                        <a:rPr lang="zh-TW" sz="2000" dirty="0">
                          <a:effectLst/>
                          <a:latin typeface="微軟正黑體" pitchFamily="34" charset="-120"/>
                          <a:ea typeface="微軟正黑體" pitchFamily="34" charset="-120"/>
                        </a:rPr>
                        <a:t>邏輯運算子</a:t>
                      </a:r>
                      <a:r>
                        <a:rPr lang="en-US" sz="2000" dirty="0">
                          <a:effectLst/>
                          <a:latin typeface="微軟正黑體" pitchFamily="34" charset="-120"/>
                          <a:ea typeface="微軟正黑體" pitchFamily="34" charset="-120"/>
                        </a:rPr>
                        <a:t>OR</a:t>
                      </a:r>
                      <a:endParaRPr lang="zh-TW" sz="2000" dirty="0">
                        <a:effectLst/>
                        <a:latin typeface="微軟正黑體" pitchFamily="34" charset="-120"/>
                        <a:ea typeface="微軟正黑體" pitchFamily="34" charset="-120"/>
                      </a:endParaRPr>
                    </a:p>
                  </a:txBody>
                  <a:tcPr marL="68583" marR="68583" marT="0" marB="0" anchor="ctr"/>
                </a:tc>
                <a:extLst>
                  <a:ext uri="{0D108BD9-81ED-4DB2-BD59-A6C34878D82A}">
                    <a16:rowId xmlns:a16="http://schemas.microsoft.com/office/drawing/2014/main" val="10014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7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62" name="Rectangle 2">
            <a:extLst>
              <a:ext uri="{FF2B5EF4-FFF2-40B4-BE49-F238E27FC236}">
                <a16:creationId xmlns:a16="http://schemas.microsoft.com/office/drawing/2014/main" id="{2AAC2D11-21FC-12E1-FC8C-630DE8F8B186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zh-TW" altLang="en-US" dirty="0"/>
              <a:t>算術運算子</a:t>
            </a:r>
          </a:p>
        </p:txBody>
      </p:sp>
      <p:sp>
        <p:nvSpPr>
          <p:cNvPr id="40963" name="內容版面配置區 1">
            <a:extLst>
              <a:ext uri="{FF2B5EF4-FFF2-40B4-BE49-F238E27FC236}">
                <a16:creationId xmlns:a16="http://schemas.microsoft.com/office/drawing/2014/main" id="{DBD7AC3F-DD45-AFFC-97D5-042CD04AA1B4}"/>
              </a:ext>
            </a:extLst>
          </p:cNvPr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pPr eaLnBrk="1" hangingPunct="1"/>
            <a:r>
              <a:rPr lang="en-US" altLang="zh-TW"/>
              <a:t>Python</a:t>
            </a:r>
            <a:r>
              <a:rPr lang="zh-TW" altLang="en-US"/>
              <a:t>算術運算子（</a:t>
            </a:r>
            <a:r>
              <a:rPr lang="en-US" altLang="zh-TW"/>
              <a:t>Arithmetic Operators</a:t>
            </a:r>
            <a:r>
              <a:rPr lang="zh-TW" altLang="en-US"/>
              <a:t>）可以建立數學的算術運算式（</a:t>
            </a:r>
            <a:r>
              <a:rPr lang="en-US" altLang="zh-TW"/>
              <a:t>Arithmetic Expressions</a:t>
            </a:r>
            <a:r>
              <a:rPr lang="zh-TW" altLang="en-US"/>
              <a:t>），其說明如下表所示： </a:t>
            </a:r>
          </a:p>
          <a:p>
            <a:pPr eaLnBrk="1" hangingPunct="1"/>
            <a:endParaRPr lang="zh-TW" altLang="en-US"/>
          </a:p>
        </p:txBody>
      </p:sp>
      <p:graphicFrame>
        <p:nvGraphicFramePr>
          <p:cNvPr id="3" name="表格 2">
            <a:extLst>
              <a:ext uri="{FF2B5EF4-FFF2-40B4-BE49-F238E27FC236}">
                <a16:creationId xmlns:a16="http://schemas.microsoft.com/office/drawing/2014/main" id="{3D3ACD06-8210-3039-569E-A773D070A800}"/>
              </a:ext>
            </a:extLst>
          </p:cNvPr>
          <p:cNvGraphicFramePr>
            <a:graphicFrameLocks noGrp="1"/>
          </p:cNvGraphicFramePr>
          <p:nvPr/>
        </p:nvGraphicFramePr>
        <p:xfrm>
          <a:off x="2135188" y="2873375"/>
          <a:ext cx="7993062" cy="383381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1291651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023067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678344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83381">
                <a:tc>
                  <a:txBody>
                    <a:bodyPr/>
                    <a:lstStyle/>
                    <a:p>
                      <a:pPr algn="ctr">
                        <a:lnSpc>
                          <a:spcPts val="2100"/>
                        </a:lnSpc>
                        <a:spcAft>
                          <a:spcPts val="1200"/>
                        </a:spcAft>
                      </a:pPr>
                      <a:r>
                        <a:rPr lang="zh-TW" sz="2000" b="1">
                          <a:effectLst/>
                          <a:latin typeface="微軟正黑體" pitchFamily="34" charset="-120"/>
                          <a:ea typeface="微軟正黑體" pitchFamily="34" charset="-120"/>
                        </a:rPr>
                        <a:t>運算子</a:t>
                      </a:r>
                    </a:p>
                  </a:txBody>
                  <a:tcPr marL="68581" marR="68581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100"/>
                        </a:lnSpc>
                        <a:spcAft>
                          <a:spcPts val="1200"/>
                        </a:spcAft>
                      </a:pPr>
                      <a:r>
                        <a:rPr lang="zh-TW" sz="2000" b="1">
                          <a:effectLst/>
                          <a:latin typeface="微軟正黑體" pitchFamily="34" charset="-120"/>
                          <a:ea typeface="微軟正黑體" pitchFamily="34" charset="-120"/>
                        </a:rPr>
                        <a:t>說明</a:t>
                      </a:r>
                    </a:p>
                  </a:txBody>
                  <a:tcPr marL="68581" marR="68581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100"/>
                        </a:lnSpc>
                        <a:spcAft>
                          <a:spcPts val="1200"/>
                        </a:spcAft>
                      </a:pPr>
                      <a:r>
                        <a:rPr lang="zh-TW" sz="2000" b="1" dirty="0">
                          <a:effectLst/>
                          <a:latin typeface="微軟正黑體" pitchFamily="34" charset="-120"/>
                          <a:ea typeface="微軟正黑體" pitchFamily="34" charset="-120"/>
                        </a:rPr>
                        <a:t>運算式範例</a:t>
                      </a:r>
                    </a:p>
                  </a:txBody>
                  <a:tcPr marL="68581" marR="68581" marT="0" marB="0" anchor="ctr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83381">
                <a:tc>
                  <a:txBody>
                    <a:bodyPr/>
                    <a:lstStyle/>
                    <a:p>
                      <a:pPr algn="ctr">
                        <a:lnSpc>
                          <a:spcPts val="2100"/>
                        </a:lnSpc>
                        <a:spcAft>
                          <a:spcPts val="1200"/>
                        </a:spcAft>
                      </a:pPr>
                      <a:r>
                        <a:rPr lang="en-US" sz="2000">
                          <a:effectLst/>
                          <a:latin typeface="微軟正黑體" pitchFamily="34" charset="-120"/>
                          <a:ea typeface="微軟正黑體" pitchFamily="34" charset="-120"/>
                        </a:rPr>
                        <a:t>-</a:t>
                      </a:r>
                      <a:endParaRPr lang="zh-TW" sz="2000">
                        <a:effectLst/>
                        <a:latin typeface="微軟正黑體" pitchFamily="34" charset="-120"/>
                        <a:ea typeface="微軟正黑體" pitchFamily="34" charset="-120"/>
                      </a:endParaRPr>
                    </a:p>
                  </a:txBody>
                  <a:tcPr marL="68581" marR="68581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100"/>
                        </a:lnSpc>
                        <a:spcAft>
                          <a:spcPts val="1200"/>
                        </a:spcAft>
                      </a:pPr>
                      <a:r>
                        <a:rPr lang="zh-TW" sz="2000">
                          <a:effectLst/>
                          <a:latin typeface="微軟正黑體" pitchFamily="34" charset="-120"/>
                          <a:ea typeface="微軟正黑體" pitchFamily="34" charset="-120"/>
                        </a:rPr>
                        <a:t>負號</a:t>
                      </a:r>
                    </a:p>
                  </a:txBody>
                  <a:tcPr marL="68581" marR="68581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100"/>
                        </a:lnSpc>
                        <a:spcAft>
                          <a:spcPts val="1200"/>
                        </a:spcAft>
                      </a:pPr>
                      <a:r>
                        <a:rPr lang="en-US" sz="2000">
                          <a:effectLst/>
                          <a:latin typeface="微軟正黑體" pitchFamily="34" charset="-120"/>
                          <a:ea typeface="微軟正黑體" pitchFamily="34" charset="-120"/>
                        </a:rPr>
                        <a:t>-7</a:t>
                      </a:r>
                      <a:endParaRPr lang="zh-TW" sz="2000">
                        <a:effectLst/>
                        <a:latin typeface="微軟正黑體" pitchFamily="34" charset="-120"/>
                        <a:ea typeface="微軟正黑體" pitchFamily="34" charset="-120"/>
                      </a:endParaRPr>
                    </a:p>
                  </a:txBody>
                  <a:tcPr marL="68581" marR="68581" marT="0" marB="0" anchor="ctr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83381">
                <a:tc>
                  <a:txBody>
                    <a:bodyPr/>
                    <a:lstStyle/>
                    <a:p>
                      <a:pPr algn="ctr">
                        <a:lnSpc>
                          <a:spcPts val="2100"/>
                        </a:lnSpc>
                        <a:spcAft>
                          <a:spcPts val="1200"/>
                        </a:spcAft>
                      </a:pPr>
                      <a:r>
                        <a:rPr lang="en-US" sz="2000">
                          <a:effectLst/>
                          <a:latin typeface="微軟正黑體" pitchFamily="34" charset="-120"/>
                          <a:ea typeface="微軟正黑體" pitchFamily="34" charset="-120"/>
                        </a:rPr>
                        <a:t>+</a:t>
                      </a:r>
                      <a:endParaRPr lang="zh-TW" sz="2000">
                        <a:effectLst/>
                        <a:latin typeface="微軟正黑體" pitchFamily="34" charset="-120"/>
                        <a:ea typeface="微軟正黑體" pitchFamily="34" charset="-120"/>
                      </a:endParaRPr>
                    </a:p>
                  </a:txBody>
                  <a:tcPr marL="68581" marR="68581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100"/>
                        </a:lnSpc>
                        <a:spcAft>
                          <a:spcPts val="1200"/>
                        </a:spcAft>
                      </a:pPr>
                      <a:r>
                        <a:rPr lang="zh-TW" sz="2000">
                          <a:effectLst/>
                          <a:latin typeface="微軟正黑體" pitchFamily="34" charset="-120"/>
                          <a:ea typeface="微軟正黑體" pitchFamily="34" charset="-120"/>
                        </a:rPr>
                        <a:t>正號</a:t>
                      </a:r>
                    </a:p>
                  </a:txBody>
                  <a:tcPr marL="68581" marR="68581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100"/>
                        </a:lnSpc>
                        <a:spcAft>
                          <a:spcPts val="1200"/>
                        </a:spcAft>
                      </a:pPr>
                      <a:r>
                        <a:rPr lang="en-US" sz="2000">
                          <a:effectLst/>
                          <a:latin typeface="微軟正黑體" pitchFamily="34" charset="-120"/>
                          <a:ea typeface="微軟正黑體" pitchFamily="34" charset="-120"/>
                        </a:rPr>
                        <a:t>+7</a:t>
                      </a:r>
                      <a:endParaRPr lang="zh-TW" sz="2000">
                        <a:effectLst/>
                        <a:latin typeface="微軟正黑體" pitchFamily="34" charset="-120"/>
                        <a:ea typeface="微軟正黑體" pitchFamily="34" charset="-120"/>
                      </a:endParaRPr>
                    </a:p>
                  </a:txBody>
                  <a:tcPr marL="68581" marR="68581" marT="0" marB="0" anchor="ctr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83381">
                <a:tc>
                  <a:txBody>
                    <a:bodyPr/>
                    <a:lstStyle/>
                    <a:p>
                      <a:pPr algn="ctr">
                        <a:lnSpc>
                          <a:spcPts val="2100"/>
                        </a:lnSpc>
                        <a:spcAft>
                          <a:spcPts val="1200"/>
                        </a:spcAft>
                      </a:pPr>
                      <a:r>
                        <a:rPr lang="en-US" sz="2000">
                          <a:effectLst/>
                          <a:latin typeface="微軟正黑體" pitchFamily="34" charset="-120"/>
                          <a:ea typeface="微軟正黑體" pitchFamily="34" charset="-120"/>
                        </a:rPr>
                        <a:t>*</a:t>
                      </a:r>
                      <a:endParaRPr lang="zh-TW" sz="2000">
                        <a:effectLst/>
                        <a:latin typeface="微軟正黑體" pitchFamily="34" charset="-120"/>
                        <a:ea typeface="微軟正黑體" pitchFamily="34" charset="-120"/>
                      </a:endParaRPr>
                    </a:p>
                  </a:txBody>
                  <a:tcPr marL="68581" marR="68581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100"/>
                        </a:lnSpc>
                        <a:spcAft>
                          <a:spcPts val="1200"/>
                        </a:spcAft>
                      </a:pPr>
                      <a:r>
                        <a:rPr lang="zh-TW" sz="2000">
                          <a:effectLst/>
                          <a:latin typeface="微軟正黑體" pitchFamily="34" charset="-120"/>
                          <a:ea typeface="微軟正黑體" pitchFamily="34" charset="-120"/>
                        </a:rPr>
                        <a:t>乘法</a:t>
                      </a:r>
                    </a:p>
                  </a:txBody>
                  <a:tcPr marL="68581" marR="68581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100"/>
                        </a:lnSpc>
                        <a:spcAft>
                          <a:spcPts val="1200"/>
                        </a:spcAft>
                      </a:pPr>
                      <a:r>
                        <a:rPr lang="en-US" sz="2000">
                          <a:effectLst/>
                          <a:latin typeface="微軟正黑體" pitchFamily="34" charset="-120"/>
                          <a:ea typeface="微軟正黑體" pitchFamily="34" charset="-120"/>
                        </a:rPr>
                        <a:t>7 * 2 = 14</a:t>
                      </a:r>
                      <a:endParaRPr lang="zh-TW" sz="2000">
                        <a:effectLst/>
                        <a:latin typeface="微軟正黑體" pitchFamily="34" charset="-120"/>
                        <a:ea typeface="微軟正黑體" pitchFamily="34" charset="-120"/>
                      </a:endParaRPr>
                    </a:p>
                  </a:txBody>
                  <a:tcPr marL="68581" marR="68581" marT="0" marB="0" anchor="ctr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83381">
                <a:tc>
                  <a:txBody>
                    <a:bodyPr/>
                    <a:lstStyle/>
                    <a:p>
                      <a:pPr algn="ctr">
                        <a:lnSpc>
                          <a:spcPts val="2100"/>
                        </a:lnSpc>
                        <a:spcAft>
                          <a:spcPts val="1200"/>
                        </a:spcAft>
                      </a:pPr>
                      <a:r>
                        <a:rPr lang="en-US" sz="2000">
                          <a:effectLst/>
                          <a:latin typeface="微軟正黑體" pitchFamily="34" charset="-120"/>
                          <a:ea typeface="微軟正黑體" pitchFamily="34" charset="-120"/>
                        </a:rPr>
                        <a:t>/</a:t>
                      </a:r>
                      <a:endParaRPr lang="zh-TW" sz="2000">
                        <a:effectLst/>
                        <a:latin typeface="微軟正黑體" pitchFamily="34" charset="-120"/>
                        <a:ea typeface="微軟正黑體" pitchFamily="34" charset="-120"/>
                      </a:endParaRPr>
                    </a:p>
                  </a:txBody>
                  <a:tcPr marL="68581" marR="68581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100"/>
                        </a:lnSpc>
                        <a:spcAft>
                          <a:spcPts val="1200"/>
                        </a:spcAft>
                      </a:pPr>
                      <a:r>
                        <a:rPr lang="zh-TW" sz="2000">
                          <a:effectLst/>
                          <a:latin typeface="微軟正黑體" pitchFamily="34" charset="-120"/>
                          <a:ea typeface="微軟正黑體" pitchFamily="34" charset="-120"/>
                        </a:rPr>
                        <a:t>除法</a:t>
                      </a:r>
                    </a:p>
                  </a:txBody>
                  <a:tcPr marL="68581" marR="68581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100"/>
                        </a:lnSpc>
                        <a:spcAft>
                          <a:spcPts val="1200"/>
                        </a:spcAft>
                      </a:pPr>
                      <a:r>
                        <a:rPr lang="en-US" sz="2000">
                          <a:effectLst/>
                          <a:latin typeface="微軟正黑體" pitchFamily="34" charset="-120"/>
                          <a:ea typeface="微軟正黑體" pitchFamily="34" charset="-120"/>
                        </a:rPr>
                        <a:t>7 / 2 = 3.5</a:t>
                      </a:r>
                      <a:endParaRPr lang="zh-TW" sz="2000">
                        <a:effectLst/>
                        <a:latin typeface="微軟正黑體" pitchFamily="34" charset="-120"/>
                        <a:ea typeface="微軟正黑體" pitchFamily="34" charset="-120"/>
                      </a:endParaRPr>
                    </a:p>
                  </a:txBody>
                  <a:tcPr marL="68581" marR="68581" marT="0" marB="0" anchor="ctr"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83381">
                <a:tc>
                  <a:txBody>
                    <a:bodyPr/>
                    <a:lstStyle/>
                    <a:p>
                      <a:pPr algn="ctr">
                        <a:lnSpc>
                          <a:spcPts val="2100"/>
                        </a:lnSpc>
                        <a:spcAft>
                          <a:spcPts val="1200"/>
                        </a:spcAft>
                      </a:pPr>
                      <a:r>
                        <a:rPr lang="en-US" sz="2000">
                          <a:effectLst/>
                          <a:latin typeface="微軟正黑體" pitchFamily="34" charset="-120"/>
                          <a:ea typeface="微軟正黑體" pitchFamily="34" charset="-120"/>
                        </a:rPr>
                        <a:t>//</a:t>
                      </a:r>
                      <a:endParaRPr lang="zh-TW" sz="2000">
                        <a:effectLst/>
                        <a:latin typeface="微軟正黑體" pitchFamily="34" charset="-120"/>
                        <a:ea typeface="微軟正黑體" pitchFamily="34" charset="-120"/>
                      </a:endParaRPr>
                    </a:p>
                  </a:txBody>
                  <a:tcPr marL="68581" marR="68581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100"/>
                        </a:lnSpc>
                        <a:spcAft>
                          <a:spcPts val="1200"/>
                        </a:spcAft>
                      </a:pPr>
                      <a:r>
                        <a:rPr lang="zh-HK" sz="2000">
                          <a:effectLst/>
                          <a:latin typeface="微軟正黑體" pitchFamily="34" charset="-120"/>
                          <a:ea typeface="微軟正黑體" pitchFamily="34" charset="-120"/>
                        </a:rPr>
                        <a:t>整數除法</a:t>
                      </a:r>
                      <a:endParaRPr lang="zh-TW" sz="2000">
                        <a:effectLst/>
                        <a:latin typeface="微軟正黑體" pitchFamily="34" charset="-120"/>
                        <a:ea typeface="微軟正黑體" pitchFamily="34" charset="-120"/>
                      </a:endParaRPr>
                    </a:p>
                  </a:txBody>
                  <a:tcPr marL="68581" marR="68581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100"/>
                        </a:lnSpc>
                        <a:spcAft>
                          <a:spcPts val="1200"/>
                        </a:spcAft>
                      </a:pPr>
                      <a:r>
                        <a:rPr lang="en-US" sz="2000">
                          <a:effectLst/>
                          <a:latin typeface="微軟正黑體" pitchFamily="34" charset="-120"/>
                          <a:ea typeface="微軟正黑體" pitchFamily="34" charset="-120"/>
                        </a:rPr>
                        <a:t>7 // 2 = 3</a:t>
                      </a:r>
                      <a:endParaRPr lang="zh-TW" sz="2000">
                        <a:effectLst/>
                        <a:latin typeface="微軟正黑體" pitchFamily="34" charset="-120"/>
                        <a:ea typeface="微軟正黑體" pitchFamily="34" charset="-120"/>
                      </a:endParaRPr>
                    </a:p>
                  </a:txBody>
                  <a:tcPr marL="68581" marR="68581" marT="0" marB="0" anchor="ctr"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83381">
                <a:tc>
                  <a:txBody>
                    <a:bodyPr/>
                    <a:lstStyle/>
                    <a:p>
                      <a:pPr algn="ctr">
                        <a:lnSpc>
                          <a:spcPts val="2100"/>
                        </a:lnSpc>
                        <a:spcAft>
                          <a:spcPts val="1200"/>
                        </a:spcAft>
                      </a:pPr>
                      <a:r>
                        <a:rPr lang="en-US" sz="2000">
                          <a:effectLst/>
                          <a:latin typeface="微軟正黑體" pitchFamily="34" charset="-120"/>
                          <a:ea typeface="微軟正黑體" pitchFamily="34" charset="-120"/>
                        </a:rPr>
                        <a:t>%</a:t>
                      </a:r>
                      <a:endParaRPr lang="zh-TW" sz="2000">
                        <a:effectLst/>
                        <a:latin typeface="微軟正黑體" pitchFamily="34" charset="-120"/>
                        <a:ea typeface="微軟正黑體" pitchFamily="34" charset="-120"/>
                      </a:endParaRPr>
                    </a:p>
                  </a:txBody>
                  <a:tcPr marL="68581" marR="68581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100"/>
                        </a:lnSpc>
                        <a:spcAft>
                          <a:spcPts val="1200"/>
                        </a:spcAft>
                      </a:pPr>
                      <a:r>
                        <a:rPr lang="zh-TW" sz="2000">
                          <a:effectLst/>
                          <a:latin typeface="微軟正黑體" pitchFamily="34" charset="-120"/>
                          <a:ea typeface="微軟正黑體" pitchFamily="34" charset="-120"/>
                        </a:rPr>
                        <a:t>餘數</a:t>
                      </a:r>
                    </a:p>
                  </a:txBody>
                  <a:tcPr marL="68581" marR="68581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100"/>
                        </a:lnSpc>
                        <a:spcAft>
                          <a:spcPts val="1200"/>
                        </a:spcAft>
                      </a:pPr>
                      <a:r>
                        <a:rPr lang="en-US" sz="2000">
                          <a:effectLst/>
                          <a:latin typeface="微軟正黑體" pitchFamily="34" charset="-120"/>
                          <a:ea typeface="微軟正黑體" pitchFamily="34" charset="-120"/>
                        </a:rPr>
                        <a:t>7 % 2 = 1</a:t>
                      </a:r>
                      <a:endParaRPr lang="zh-TW" sz="2000">
                        <a:effectLst/>
                        <a:latin typeface="微軟正黑體" pitchFamily="34" charset="-120"/>
                        <a:ea typeface="微軟正黑體" pitchFamily="34" charset="-120"/>
                      </a:endParaRPr>
                    </a:p>
                  </a:txBody>
                  <a:tcPr marL="68581" marR="68581" marT="0" marB="0" anchor="ctr"/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83381">
                <a:tc>
                  <a:txBody>
                    <a:bodyPr/>
                    <a:lstStyle/>
                    <a:p>
                      <a:pPr algn="ctr">
                        <a:lnSpc>
                          <a:spcPts val="2100"/>
                        </a:lnSpc>
                        <a:spcAft>
                          <a:spcPts val="1200"/>
                        </a:spcAft>
                      </a:pPr>
                      <a:r>
                        <a:rPr lang="en-US" sz="2000">
                          <a:effectLst/>
                          <a:latin typeface="微軟正黑體" pitchFamily="34" charset="-120"/>
                          <a:ea typeface="微軟正黑體" pitchFamily="34" charset="-120"/>
                        </a:rPr>
                        <a:t>+</a:t>
                      </a:r>
                      <a:endParaRPr lang="zh-TW" sz="2000">
                        <a:effectLst/>
                        <a:latin typeface="微軟正黑體" pitchFamily="34" charset="-120"/>
                        <a:ea typeface="微軟正黑體" pitchFamily="34" charset="-120"/>
                      </a:endParaRPr>
                    </a:p>
                  </a:txBody>
                  <a:tcPr marL="68581" marR="68581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100"/>
                        </a:lnSpc>
                        <a:spcAft>
                          <a:spcPts val="1200"/>
                        </a:spcAft>
                      </a:pPr>
                      <a:r>
                        <a:rPr lang="zh-TW" sz="2000">
                          <a:effectLst/>
                          <a:latin typeface="微軟正黑體" pitchFamily="34" charset="-120"/>
                          <a:ea typeface="微軟正黑體" pitchFamily="34" charset="-120"/>
                        </a:rPr>
                        <a:t>加法</a:t>
                      </a:r>
                    </a:p>
                  </a:txBody>
                  <a:tcPr marL="68581" marR="68581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100"/>
                        </a:lnSpc>
                        <a:spcAft>
                          <a:spcPts val="1200"/>
                        </a:spcAft>
                      </a:pPr>
                      <a:r>
                        <a:rPr lang="en-US" sz="2000">
                          <a:effectLst/>
                          <a:latin typeface="微軟正黑體" pitchFamily="34" charset="-120"/>
                          <a:ea typeface="微軟正黑體" pitchFamily="34" charset="-120"/>
                        </a:rPr>
                        <a:t>7 + 2 = 9</a:t>
                      </a:r>
                      <a:endParaRPr lang="zh-TW" sz="2000">
                        <a:effectLst/>
                        <a:latin typeface="微軟正黑體" pitchFamily="34" charset="-120"/>
                        <a:ea typeface="微軟正黑體" pitchFamily="34" charset="-120"/>
                      </a:endParaRPr>
                    </a:p>
                  </a:txBody>
                  <a:tcPr marL="68581" marR="68581" marT="0" marB="0" anchor="ctr"/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383381">
                <a:tc>
                  <a:txBody>
                    <a:bodyPr/>
                    <a:lstStyle/>
                    <a:p>
                      <a:pPr algn="ctr">
                        <a:lnSpc>
                          <a:spcPts val="2100"/>
                        </a:lnSpc>
                        <a:spcAft>
                          <a:spcPts val="1200"/>
                        </a:spcAft>
                      </a:pPr>
                      <a:r>
                        <a:rPr lang="en-US" sz="2000">
                          <a:effectLst/>
                          <a:latin typeface="微軟正黑體" pitchFamily="34" charset="-120"/>
                          <a:ea typeface="微軟正黑體" pitchFamily="34" charset="-120"/>
                        </a:rPr>
                        <a:t>-</a:t>
                      </a:r>
                      <a:endParaRPr lang="zh-TW" sz="2000">
                        <a:effectLst/>
                        <a:latin typeface="微軟正黑體" pitchFamily="34" charset="-120"/>
                        <a:ea typeface="微軟正黑體" pitchFamily="34" charset="-120"/>
                      </a:endParaRPr>
                    </a:p>
                  </a:txBody>
                  <a:tcPr marL="68581" marR="68581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100"/>
                        </a:lnSpc>
                        <a:spcAft>
                          <a:spcPts val="1200"/>
                        </a:spcAft>
                      </a:pPr>
                      <a:r>
                        <a:rPr lang="zh-TW" sz="2000">
                          <a:effectLst/>
                          <a:latin typeface="微軟正黑體" pitchFamily="34" charset="-120"/>
                          <a:ea typeface="微軟正黑體" pitchFamily="34" charset="-120"/>
                        </a:rPr>
                        <a:t>減法</a:t>
                      </a:r>
                    </a:p>
                  </a:txBody>
                  <a:tcPr marL="68581" marR="68581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100"/>
                        </a:lnSpc>
                        <a:spcAft>
                          <a:spcPts val="1200"/>
                        </a:spcAft>
                      </a:pPr>
                      <a:r>
                        <a:rPr lang="en-US" sz="2000">
                          <a:effectLst/>
                          <a:latin typeface="微軟正黑體" pitchFamily="34" charset="-120"/>
                          <a:ea typeface="微軟正黑體" pitchFamily="34" charset="-120"/>
                        </a:rPr>
                        <a:t>7 – 2 = 5</a:t>
                      </a:r>
                      <a:endParaRPr lang="zh-TW" sz="2000">
                        <a:effectLst/>
                        <a:latin typeface="微軟正黑體" pitchFamily="34" charset="-120"/>
                        <a:ea typeface="微軟正黑體" pitchFamily="34" charset="-120"/>
                      </a:endParaRPr>
                    </a:p>
                  </a:txBody>
                  <a:tcPr marL="68581" marR="68581" marT="0" marB="0" anchor="ctr"/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383381">
                <a:tc>
                  <a:txBody>
                    <a:bodyPr/>
                    <a:lstStyle/>
                    <a:p>
                      <a:pPr algn="ctr">
                        <a:lnSpc>
                          <a:spcPts val="2100"/>
                        </a:lnSpc>
                        <a:spcAft>
                          <a:spcPts val="1200"/>
                        </a:spcAft>
                      </a:pPr>
                      <a:r>
                        <a:rPr lang="en-US" sz="2000">
                          <a:effectLst/>
                          <a:latin typeface="微軟正黑體" pitchFamily="34" charset="-120"/>
                          <a:ea typeface="微軟正黑體" pitchFamily="34" charset="-120"/>
                        </a:rPr>
                        <a:t>**</a:t>
                      </a:r>
                      <a:endParaRPr lang="zh-TW" sz="2000">
                        <a:effectLst/>
                        <a:latin typeface="微軟正黑體" pitchFamily="34" charset="-120"/>
                        <a:ea typeface="微軟正黑體" pitchFamily="34" charset="-120"/>
                      </a:endParaRPr>
                    </a:p>
                  </a:txBody>
                  <a:tcPr marL="68581" marR="68581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100"/>
                        </a:lnSpc>
                        <a:spcAft>
                          <a:spcPts val="1200"/>
                        </a:spcAft>
                      </a:pPr>
                      <a:r>
                        <a:rPr lang="zh-HK" sz="2000">
                          <a:effectLst/>
                          <a:latin typeface="微軟正黑體" pitchFamily="34" charset="-120"/>
                          <a:ea typeface="微軟正黑體" pitchFamily="34" charset="-120"/>
                        </a:rPr>
                        <a:t>指數</a:t>
                      </a:r>
                      <a:endParaRPr lang="zh-TW" sz="2000">
                        <a:effectLst/>
                        <a:latin typeface="微軟正黑體" pitchFamily="34" charset="-120"/>
                        <a:ea typeface="微軟正黑體" pitchFamily="34" charset="-120"/>
                      </a:endParaRPr>
                    </a:p>
                  </a:txBody>
                  <a:tcPr marL="68581" marR="68581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100"/>
                        </a:lnSpc>
                        <a:spcAft>
                          <a:spcPts val="1200"/>
                        </a:spcAft>
                      </a:pPr>
                      <a:r>
                        <a:rPr lang="en-US" sz="2000" dirty="0">
                          <a:effectLst/>
                          <a:latin typeface="微軟正黑體" pitchFamily="34" charset="-120"/>
                          <a:ea typeface="微軟正黑體" pitchFamily="34" charset="-120"/>
                        </a:rPr>
                        <a:t>2 ** 3 = 8</a:t>
                      </a:r>
                      <a:endParaRPr lang="zh-TW" sz="2000" dirty="0">
                        <a:effectLst/>
                        <a:latin typeface="微軟正黑體" pitchFamily="34" charset="-120"/>
                        <a:ea typeface="微軟正黑體" pitchFamily="34" charset="-120"/>
                      </a:endParaRPr>
                    </a:p>
                  </a:txBody>
                  <a:tcPr marL="68581" marR="68581" marT="0" marB="0" anchor="ctr"/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7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內容版面配置區 3">
            <a:extLst>
              <a:ext uri="{FF2B5EF4-FFF2-40B4-BE49-F238E27FC236}">
                <a16:creationId xmlns:a16="http://schemas.microsoft.com/office/drawing/2014/main" id="{12320A3D-4F24-4B1D-8A94-21B631C5CAD3}"/>
              </a:ext>
            </a:extLst>
          </p:cNvPr>
          <p:cNvSpPr txBox="1">
            <a:spLocks/>
          </p:cNvSpPr>
          <p:nvPr/>
        </p:nvSpPr>
        <p:spPr bwMode="auto">
          <a:xfrm>
            <a:off x="575999" y="1113063"/>
            <a:ext cx="11040000" cy="5760000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defPPr>
              <a:defRPr lang="zh-TW"/>
            </a:defPPr>
            <a:lvl1pPr marL="0" algn="l" defTabSz="914400" rtl="0" eaLnBrk="1" latinLnBrk="0" hangingPunct="1">
              <a:defRPr sz="1400" kern="1200">
                <a:solidFill>
                  <a:schemeClr val="tx1"/>
                </a:solidFill>
                <a:latin typeface="Arial" charset="0"/>
                <a:ea typeface="微軟正黑體" panose="020B0604030504040204" pitchFamily="34" charset="-120"/>
                <a:cs typeface="Arial" charset="0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3"/>
            <a:endParaRPr lang="en-US" altLang="zh-TW" dirty="0"/>
          </a:p>
          <a:p>
            <a:pPr lvl="3"/>
            <a:endParaRPr lang="en-US" altLang="zh-TW" dirty="0"/>
          </a:p>
          <a:p>
            <a:pPr lvl="3"/>
            <a:r>
              <a:rPr lang="zh-TW" altLang="en-US" dirty="0"/>
              <a:t>梯形面積</a:t>
            </a:r>
            <a:r>
              <a:rPr lang="en-US" altLang="zh-TW" dirty="0"/>
              <a:t>=(</a:t>
            </a:r>
            <a:r>
              <a:rPr lang="zh-TW" altLang="en-US" dirty="0"/>
              <a:t>上底</a:t>
            </a:r>
            <a:r>
              <a:rPr lang="en-US" altLang="zh-TW" dirty="0"/>
              <a:t>+</a:t>
            </a:r>
            <a:r>
              <a:rPr lang="zh-TW" altLang="en-US" dirty="0"/>
              <a:t>下底</a:t>
            </a:r>
            <a:r>
              <a:rPr lang="en-US" altLang="zh-TW" dirty="0"/>
              <a:t>)*</a:t>
            </a:r>
            <a:r>
              <a:rPr lang="zh-TW" altLang="en-US" dirty="0"/>
              <a:t>高</a:t>
            </a:r>
            <a:r>
              <a:rPr lang="en-US" altLang="zh-TW" dirty="0"/>
              <a:t>/2</a:t>
            </a:r>
            <a:r>
              <a:rPr lang="zh-TW" altLang="en-US" dirty="0"/>
              <a:t>，阿全有一塊梯形土地，設計程式讓阿全輸入梯形土地的上底、下底及高後計算梯形面積。</a:t>
            </a:r>
            <a:r>
              <a:rPr lang="en-US" altLang="zh-TW" dirty="0"/>
              <a:t>(&lt;arith.py&gt;)</a:t>
            </a:r>
            <a:endParaRPr lang="zh-TW" altLang="en-US" dirty="0"/>
          </a:p>
        </p:txBody>
      </p:sp>
      <p:pic>
        <p:nvPicPr>
          <p:cNvPr id="8" name="Picture 2">
            <a:extLst>
              <a:ext uri="{FF2B5EF4-FFF2-40B4-BE49-F238E27FC236}">
                <a16:creationId xmlns:a16="http://schemas.microsoft.com/office/drawing/2014/main" id="{E80BC305-B5E3-4E92-B623-E59FAC7F9EC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991543" y="585226"/>
            <a:ext cx="8208912" cy="105567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9" name="Picture 4">
            <a:extLst>
              <a:ext uri="{FF2B5EF4-FFF2-40B4-BE49-F238E27FC236}">
                <a16:creationId xmlns:a16="http://schemas.microsoft.com/office/drawing/2014/main" id="{AC3B7E97-36D5-4A32-949C-A08769E48B1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934096" y="2323910"/>
            <a:ext cx="6323806" cy="182071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1" name="文字方塊 10">
            <a:extLst>
              <a:ext uri="{FF2B5EF4-FFF2-40B4-BE49-F238E27FC236}">
                <a16:creationId xmlns:a16="http://schemas.microsoft.com/office/drawing/2014/main" id="{552AB775-A2F8-4C1E-8B75-505C0870DF2B}"/>
              </a:ext>
            </a:extLst>
          </p:cNvPr>
          <p:cNvSpPr txBox="1"/>
          <p:nvPr/>
        </p:nvSpPr>
        <p:spPr>
          <a:xfrm>
            <a:off x="2934096" y="4402831"/>
            <a:ext cx="6128084" cy="1477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TW" altLang="en-US" dirty="0"/>
              <a:t>top = float(input("請輸入梯形上底長度："))</a:t>
            </a:r>
          </a:p>
          <a:p>
            <a:r>
              <a:rPr lang="zh-TW" altLang="en-US" dirty="0"/>
              <a:t>bottom = float(input("請輸入梯形下底長度："))</a:t>
            </a:r>
          </a:p>
          <a:p>
            <a:r>
              <a:rPr lang="zh-TW" altLang="en-US" dirty="0"/>
              <a:t>height = float(input("請輸入梯形高度："))</a:t>
            </a:r>
          </a:p>
          <a:p>
            <a:r>
              <a:rPr lang="zh-TW" altLang="en-US" dirty="0"/>
              <a:t>area = (top + bottom) * height / 2</a:t>
            </a:r>
          </a:p>
          <a:p>
            <a:r>
              <a:rPr lang="zh-TW" altLang="en-US" dirty="0"/>
              <a:t>print("梯形的面積為：" + str(area))</a:t>
            </a:r>
          </a:p>
        </p:txBody>
      </p:sp>
    </p:spTree>
    <p:extLst>
      <p:ext uri="{BB962C8B-B14F-4D97-AF65-F5344CB8AC3E}">
        <p14:creationId xmlns:p14="http://schemas.microsoft.com/office/powerpoint/2010/main" val="3646645681"/>
      </p:ext>
    </p:extLst>
  </p:cSld>
  <p:clrMapOvr>
    <a:masterClrMapping/>
  </p:clrMapOvr>
</p:sld>
</file>

<file path=ppt/slides/slide7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986" name="標題 1">
            <a:extLst>
              <a:ext uri="{FF2B5EF4-FFF2-40B4-BE49-F238E27FC236}">
                <a16:creationId xmlns:a16="http://schemas.microsoft.com/office/drawing/2014/main" id="{7DC2636C-326F-931C-866B-7C6FD61BEAD2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zh-TW" altLang="en-US" dirty="0"/>
              <a:t>指定運算子</a:t>
            </a:r>
          </a:p>
        </p:txBody>
      </p:sp>
      <p:sp>
        <p:nvSpPr>
          <p:cNvPr id="41987" name="內容版面配置區 2">
            <a:extLst>
              <a:ext uri="{FF2B5EF4-FFF2-40B4-BE49-F238E27FC236}">
                <a16:creationId xmlns:a16="http://schemas.microsoft.com/office/drawing/2014/main" id="{5B2562A2-5EB3-4B7A-1C2A-87C639F9B7F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eaLnBrk="1" hangingPunct="1"/>
            <a:r>
              <a:rPr lang="zh-TW" altLang="en-US"/>
              <a:t>指定運算式（</a:t>
            </a:r>
            <a:r>
              <a:rPr lang="en-US" altLang="zh-TW"/>
              <a:t>Assignment Expressions</a:t>
            </a:r>
            <a:r>
              <a:rPr lang="zh-TW" altLang="en-US"/>
              <a:t>）就是指定敘述，這是使用「</a:t>
            </a:r>
            <a:r>
              <a:rPr lang="en-US" altLang="zh-TW"/>
              <a:t>=</a:t>
            </a:r>
            <a:r>
              <a:rPr lang="zh-TW" altLang="en-US"/>
              <a:t>」等號指定運算子來建立運算式，請注意！這是指定或稱為指派；並沒有相等或等於的意思，其目的如下所以：</a:t>
            </a:r>
          </a:p>
          <a:p>
            <a:pPr eaLnBrk="1" hangingPunct="1"/>
            <a:r>
              <a:rPr lang="zh-TW" altLang="en-US"/>
              <a:t>「將右邊運算元或運算式運算結果的文字值，存入位在左邊的變數。」</a:t>
            </a:r>
          </a:p>
          <a:p>
            <a:pPr eaLnBrk="1" hangingPunct="1"/>
            <a:r>
              <a:rPr lang="zh-TW" altLang="en-US"/>
              <a:t>在指定運算子「</a:t>
            </a:r>
            <a:r>
              <a:rPr lang="en-US" altLang="zh-TW"/>
              <a:t>=</a:t>
            </a:r>
            <a:r>
              <a:rPr lang="zh-TW" altLang="en-US"/>
              <a:t>」等號左邊是用來指定值的變數；右邊可以是變數、文字值或運算式，在本章之前已經說明很多現成的範例。</a:t>
            </a:r>
          </a:p>
          <a:p>
            <a:pPr eaLnBrk="1" hangingPunct="1"/>
            <a:endParaRPr lang="zh-TW" altLang="en-US"/>
          </a:p>
        </p:txBody>
      </p:sp>
    </p:spTree>
  </p:cSld>
  <p:clrMapOvr>
    <a:masterClrMapping/>
  </p:clrMapOvr>
</p:sld>
</file>

<file path=ppt/slides/slide7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010" name="標題 1">
            <a:extLst>
              <a:ext uri="{FF2B5EF4-FFF2-40B4-BE49-F238E27FC236}">
                <a16:creationId xmlns:a16="http://schemas.microsoft.com/office/drawing/2014/main" id="{57D38D46-C36B-D826-23FE-8C550B88AA30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zh-TW" altLang="en-US" dirty="0"/>
              <a:t>指定運算子</a:t>
            </a:r>
          </a:p>
        </p:txBody>
      </p:sp>
      <p:sp>
        <p:nvSpPr>
          <p:cNvPr id="43011" name="內容版面配置區 2">
            <a:extLst>
              <a:ext uri="{FF2B5EF4-FFF2-40B4-BE49-F238E27FC236}">
                <a16:creationId xmlns:a16="http://schemas.microsoft.com/office/drawing/2014/main" id="{888D6BB6-5BE2-A259-5170-38C417274D0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eaLnBrk="1" hangingPunct="1"/>
            <a:r>
              <a:rPr lang="zh-TW" altLang="en-US"/>
              <a:t>在這一節準備說明</a:t>
            </a:r>
            <a:r>
              <a:rPr lang="en-US" altLang="zh-TW"/>
              <a:t>Python</a:t>
            </a:r>
            <a:r>
              <a:rPr lang="zh-TW" altLang="en-US"/>
              <a:t>指定運算式的簡化寫法，其條件如下所示：</a:t>
            </a:r>
          </a:p>
          <a:p>
            <a:pPr lvl="1" eaLnBrk="1" hangingPunct="1"/>
            <a:r>
              <a:rPr lang="zh-TW" altLang="en-US"/>
              <a:t>在指定運算子「</a:t>
            </a:r>
            <a:r>
              <a:rPr lang="en-US" altLang="zh-TW"/>
              <a:t>=</a:t>
            </a:r>
            <a:r>
              <a:rPr lang="zh-TW" altLang="en-US"/>
              <a:t>」等號的右邊是二元運算式，擁有</a:t>
            </a:r>
            <a:r>
              <a:rPr lang="en-US" altLang="zh-TW"/>
              <a:t>2</a:t>
            </a:r>
            <a:r>
              <a:rPr lang="zh-TW" altLang="en-US"/>
              <a:t>個運算元。</a:t>
            </a:r>
          </a:p>
          <a:p>
            <a:pPr lvl="1" eaLnBrk="1" hangingPunct="1"/>
            <a:r>
              <a:rPr lang="zh-TW" altLang="en-US"/>
              <a:t>在指定運算子「</a:t>
            </a:r>
            <a:r>
              <a:rPr lang="en-US" altLang="zh-TW"/>
              <a:t>=</a:t>
            </a:r>
            <a:r>
              <a:rPr lang="zh-TW" altLang="en-US"/>
              <a:t>」等號的左邊的變數和第</a:t>
            </a:r>
            <a:r>
              <a:rPr lang="en-US" altLang="zh-TW"/>
              <a:t>1</a:t>
            </a:r>
            <a:r>
              <a:rPr lang="zh-TW" altLang="en-US"/>
              <a:t>個運算元相同。</a:t>
            </a:r>
          </a:p>
          <a:p>
            <a:pPr eaLnBrk="1" hangingPunct="1"/>
            <a:r>
              <a:rPr lang="zh-TW" altLang="en-US"/>
              <a:t>例如：滿足上述條件的指定運算式，如下所示：</a:t>
            </a:r>
          </a:p>
          <a:p>
            <a:pPr lvl="1" eaLnBrk="1" hangingPunct="1">
              <a:buFontTx/>
              <a:buNone/>
            </a:pPr>
            <a:r>
              <a:rPr lang="en-US" altLang="zh-TW">
                <a:solidFill>
                  <a:srgbClr val="FF3399"/>
                </a:solidFill>
              </a:rPr>
              <a:t>x = x + y</a:t>
            </a:r>
          </a:p>
          <a:p>
            <a:pPr eaLnBrk="1" hangingPunct="1"/>
            <a:r>
              <a:rPr lang="zh-TW" altLang="en-US"/>
              <a:t>可以改用「</a:t>
            </a:r>
            <a:r>
              <a:rPr lang="en-US" altLang="zh-TW"/>
              <a:t>+=</a:t>
            </a:r>
            <a:r>
              <a:rPr lang="zh-TW" altLang="en-US"/>
              <a:t>」運算子來改寫此運算式，就是指定運算式的簡化寫法，如下所示：</a:t>
            </a:r>
          </a:p>
          <a:p>
            <a:pPr lvl="1" eaLnBrk="1" hangingPunct="1">
              <a:buFontTx/>
              <a:buNone/>
            </a:pPr>
            <a:r>
              <a:rPr lang="en-US" altLang="zh-TW">
                <a:solidFill>
                  <a:srgbClr val="FF3399"/>
                </a:solidFill>
              </a:rPr>
              <a:t>x += y</a:t>
            </a:r>
          </a:p>
          <a:p>
            <a:pPr eaLnBrk="1" hangingPunct="1"/>
            <a:endParaRPr lang="zh-TW" altLang="en-US"/>
          </a:p>
        </p:txBody>
      </p:sp>
    </p:spTree>
  </p:cSld>
  <p:clrMapOvr>
    <a:masterClrMapping/>
  </p:clrMapOvr>
</p:sld>
</file>

<file path=ppt/slides/slide7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034" name="標題 1">
            <a:extLst>
              <a:ext uri="{FF2B5EF4-FFF2-40B4-BE49-F238E27FC236}">
                <a16:creationId xmlns:a16="http://schemas.microsoft.com/office/drawing/2014/main" id="{1ED0AEF8-5486-8CF0-5283-1E75C6DC8501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zh-TW" altLang="en-US" dirty="0"/>
              <a:t>指定運算子</a:t>
            </a:r>
          </a:p>
        </p:txBody>
      </p:sp>
      <p:sp>
        <p:nvSpPr>
          <p:cNvPr id="44035" name="內容版面配置區 2">
            <a:extLst>
              <a:ext uri="{FF2B5EF4-FFF2-40B4-BE49-F238E27FC236}">
                <a16:creationId xmlns:a16="http://schemas.microsoft.com/office/drawing/2014/main" id="{D647BE01-4F89-8C15-407E-B2666E157517}"/>
              </a:ext>
            </a:extLst>
          </p:cNvPr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pPr eaLnBrk="1" hangingPunct="1"/>
            <a:r>
              <a:rPr lang="zh-TW" altLang="en-US"/>
              <a:t>各種簡化或稱縮寫表示的指定運算式和運算子說明，如下表所示：</a:t>
            </a:r>
          </a:p>
        </p:txBody>
      </p:sp>
      <p:graphicFrame>
        <p:nvGraphicFramePr>
          <p:cNvPr id="4" name="表格 3">
            <a:extLst>
              <a:ext uri="{FF2B5EF4-FFF2-40B4-BE49-F238E27FC236}">
                <a16:creationId xmlns:a16="http://schemas.microsoft.com/office/drawing/2014/main" id="{388F9EFF-3299-7DC2-A61B-67E08728CA60}"/>
              </a:ext>
            </a:extLst>
          </p:cNvPr>
          <p:cNvGraphicFramePr>
            <a:graphicFrameLocks noGrp="1"/>
          </p:cNvGraphicFramePr>
          <p:nvPr/>
        </p:nvGraphicFramePr>
        <p:xfrm>
          <a:off x="2208213" y="2565401"/>
          <a:ext cx="7997826" cy="4141791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1545831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51857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151314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782106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460199">
                <a:tc>
                  <a:txBody>
                    <a:bodyPr/>
                    <a:lstStyle/>
                    <a:p>
                      <a:pPr algn="ctr">
                        <a:lnSpc>
                          <a:spcPts val="2100"/>
                        </a:lnSpc>
                        <a:spcAft>
                          <a:spcPts val="1200"/>
                        </a:spcAft>
                      </a:pPr>
                      <a:r>
                        <a:rPr lang="zh-TW" sz="2000" b="1" dirty="0">
                          <a:effectLst/>
                          <a:latin typeface="微軟正黑體" pitchFamily="34" charset="-120"/>
                          <a:ea typeface="微軟正黑體" pitchFamily="34" charset="-120"/>
                        </a:rPr>
                        <a:t>指定運算子</a:t>
                      </a:r>
                    </a:p>
                  </a:txBody>
                  <a:tcPr marL="68574" marR="68574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100"/>
                        </a:lnSpc>
                        <a:spcAft>
                          <a:spcPts val="1200"/>
                        </a:spcAft>
                      </a:pPr>
                      <a:r>
                        <a:rPr lang="zh-TW" sz="2000" b="1">
                          <a:effectLst/>
                          <a:latin typeface="微軟正黑體" pitchFamily="34" charset="-120"/>
                          <a:ea typeface="微軟正黑體" pitchFamily="34" charset="-120"/>
                        </a:rPr>
                        <a:t>範例</a:t>
                      </a:r>
                    </a:p>
                  </a:txBody>
                  <a:tcPr marL="68574" marR="68574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100"/>
                        </a:lnSpc>
                        <a:spcAft>
                          <a:spcPts val="1200"/>
                        </a:spcAft>
                      </a:pPr>
                      <a:r>
                        <a:rPr lang="zh-TW" sz="2000" b="1" dirty="0">
                          <a:effectLst/>
                          <a:latin typeface="微軟正黑體" pitchFamily="34" charset="-120"/>
                          <a:ea typeface="微軟正黑體" pitchFamily="34" charset="-120"/>
                        </a:rPr>
                        <a:t>相當的運算式</a:t>
                      </a:r>
                    </a:p>
                  </a:txBody>
                  <a:tcPr marL="68574" marR="68574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100"/>
                        </a:lnSpc>
                        <a:spcAft>
                          <a:spcPts val="1200"/>
                        </a:spcAft>
                      </a:pPr>
                      <a:r>
                        <a:rPr lang="zh-TW" sz="2000" b="1" dirty="0">
                          <a:effectLst/>
                          <a:latin typeface="微軟正黑體" pitchFamily="34" charset="-120"/>
                          <a:ea typeface="微軟正黑體" pitchFamily="34" charset="-120"/>
                        </a:rPr>
                        <a:t>說明</a:t>
                      </a:r>
                    </a:p>
                  </a:txBody>
                  <a:tcPr marL="68574" marR="68574" marT="0" marB="0" anchor="ctr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60199">
                <a:tc>
                  <a:txBody>
                    <a:bodyPr/>
                    <a:lstStyle/>
                    <a:p>
                      <a:pPr algn="ctr">
                        <a:lnSpc>
                          <a:spcPts val="2100"/>
                        </a:lnSpc>
                        <a:spcAft>
                          <a:spcPts val="1200"/>
                        </a:spcAft>
                      </a:pPr>
                      <a:r>
                        <a:rPr lang="en-US" sz="2000">
                          <a:effectLst/>
                          <a:latin typeface="微軟正黑體" pitchFamily="34" charset="-120"/>
                          <a:ea typeface="微軟正黑體" pitchFamily="34" charset="-120"/>
                        </a:rPr>
                        <a:t>=</a:t>
                      </a:r>
                      <a:endParaRPr lang="zh-TW" sz="2000">
                        <a:effectLst/>
                        <a:latin typeface="微軟正黑體" pitchFamily="34" charset="-120"/>
                        <a:ea typeface="微軟正黑體" pitchFamily="34" charset="-120"/>
                      </a:endParaRPr>
                    </a:p>
                  </a:txBody>
                  <a:tcPr marL="68574" marR="68574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100"/>
                        </a:lnSpc>
                        <a:spcAft>
                          <a:spcPts val="1200"/>
                        </a:spcAft>
                      </a:pPr>
                      <a:r>
                        <a:rPr lang="en-US" sz="2000">
                          <a:effectLst/>
                          <a:latin typeface="微軟正黑體" pitchFamily="34" charset="-120"/>
                          <a:ea typeface="微軟正黑體" pitchFamily="34" charset="-120"/>
                        </a:rPr>
                        <a:t>x = y</a:t>
                      </a:r>
                      <a:endParaRPr lang="zh-TW" sz="2000">
                        <a:effectLst/>
                        <a:latin typeface="微軟正黑體" pitchFamily="34" charset="-120"/>
                        <a:ea typeface="微軟正黑體" pitchFamily="34" charset="-120"/>
                      </a:endParaRPr>
                    </a:p>
                  </a:txBody>
                  <a:tcPr marL="68574" marR="68574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100"/>
                        </a:lnSpc>
                        <a:spcAft>
                          <a:spcPts val="1200"/>
                        </a:spcAft>
                      </a:pPr>
                      <a:r>
                        <a:rPr lang="en-US" sz="2000">
                          <a:effectLst/>
                          <a:latin typeface="微軟正黑體" pitchFamily="34" charset="-120"/>
                          <a:ea typeface="微軟正黑體" pitchFamily="34" charset="-120"/>
                        </a:rPr>
                        <a:t>N/A</a:t>
                      </a:r>
                      <a:endParaRPr lang="zh-TW" sz="2000">
                        <a:effectLst/>
                        <a:latin typeface="微軟正黑體" pitchFamily="34" charset="-120"/>
                        <a:ea typeface="微軟正黑體" pitchFamily="34" charset="-120"/>
                      </a:endParaRPr>
                    </a:p>
                  </a:txBody>
                  <a:tcPr marL="68574" marR="68574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100"/>
                        </a:lnSpc>
                        <a:spcAft>
                          <a:spcPts val="1200"/>
                        </a:spcAft>
                      </a:pPr>
                      <a:r>
                        <a:rPr lang="zh-TW" sz="2000">
                          <a:effectLst/>
                          <a:latin typeface="微軟正黑體" pitchFamily="34" charset="-120"/>
                          <a:ea typeface="微軟正黑體" pitchFamily="34" charset="-120"/>
                        </a:rPr>
                        <a:t>指定敘述</a:t>
                      </a:r>
                    </a:p>
                  </a:txBody>
                  <a:tcPr marL="68574" marR="68574" marT="0" marB="0" anchor="ctr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60199">
                <a:tc>
                  <a:txBody>
                    <a:bodyPr/>
                    <a:lstStyle/>
                    <a:p>
                      <a:pPr algn="ctr">
                        <a:lnSpc>
                          <a:spcPts val="2100"/>
                        </a:lnSpc>
                        <a:spcAft>
                          <a:spcPts val="1200"/>
                        </a:spcAft>
                      </a:pPr>
                      <a:r>
                        <a:rPr lang="en-US" sz="2000">
                          <a:effectLst/>
                          <a:latin typeface="微軟正黑體" pitchFamily="34" charset="-120"/>
                          <a:ea typeface="微軟正黑體" pitchFamily="34" charset="-120"/>
                        </a:rPr>
                        <a:t>+=</a:t>
                      </a:r>
                      <a:endParaRPr lang="zh-TW" sz="2000">
                        <a:effectLst/>
                        <a:latin typeface="微軟正黑體" pitchFamily="34" charset="-120"/>
                        <a:ea typeface="微軟正黑體" pitchFamily="34" charset="-120"/>
                      </a:endParaRPr>
                    </a:p>
                  </a:txBody>
                  <a:tcPr marL="68574" marR="68574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100"/>
                        </a:lnSpc>
                        <a:spcAft>
                          <a:spcPts val="1200"/>
                        </a:spcAft>
                      </a:pPr>
                      <a:r>
                        <a:rPr lang="en-US" sz="2000">
                          <a:effectLst/>
                          <a:latin typeface="微軟正黑體" pitchFamily="34" charset="-120"/>
                          <a:ea typeface="微軟正黑體" pitchFamily="34" charset="-120"/>
                        </a:rPr>
                        <a:t>x+ = y</a:t>
                      </a:r>
                      <a:endParaRPr lang="zh-TW" sz="2000">
                        <a:effectLst/>
                        <a:latin typeface="微軟正黑體" pitchFamily="34" charset="-120"/>
                        <a:ea typeface="微軟正黑體" pitchFamily="34" charset="-120"/>
                      </a:endParaRPr>
                    </a:p>
                  </a:txBody>
                  <a:tcPr marL="68574" marR="68574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100"/>
                        </a:lnSpc>
                        <a:spcAft>
                          <a:spcPts val="1200"/>
                        </a:spcAft>
                      </a:pPr>
                      <a:r>
                        <a:rPr lang="en-US" sz="2000">
                          <a:effectLst/>
                          <a:latin typeface="微軟正黑體" pitchFamily="34" charset="-120"/>
                          <a:ea typeface="微軟正黑體" pitchFamily="34" charset="-120"/>
                        </a:rPr>
                        <a:t>x = x + y</a:t>
                      </a:r>
                      <a:endParaRPr lang="zh-TW" sz="2000">
                        <a:effectLst/>
                        <a:latin typeface="微軟正黑體" pitchFamily="34" charset="-120"/>
                        <a:ea typeface="微軟正黑體" pitchFamily="34" charset="-120"/>
                      </a:endParaRPr>
                    </a:p>
                  </a:txBody>
                  <a:tcPr marL="68574" marR="68574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100"/>
                        </a:lnSpc>
                        <a:spcAft>
                          <a:spcPts val="1200"/>
                        </a:spcAft>
                      </a:pPr>
                      <a:r>
                        <a:rPr lang="zh-TW" sz="2000">
                          <a:effectLst/>
                          <a:latin typeface="微軟正黑體" pitchFamily="34" charset="-120"/>
                          <a:ea typeface="微軟正黑體" pitchFamily="34" charset="-120"/>
                        </a:rPr>
                        <a:t>加法</a:t>
                      </a:r>
                    </a:p>
                  </a:txBody>
                  <a:tcPr marL="68574" marR="68574" marT="0" marB="0" anchor="ctr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60199">
                <a:tc>
                  <a:txBody>
                    <a:bodyPr/>
                    <a:lstStyle/>
                    <a:p>
                      <a:pPr algn="ctr">
                        <a:lnSpc>
                          <a:spcPts val="2100"/>
                        </a:lnSpc>
                        <a:spcAft>
                          <a:spcPts val="1200"/>
                        </a:spcAft>
                      </a:pPr>
                      <a:r>
                        <a:rPr lang="en-US" sz="2000">
                          <a:effectLst/>
                          <a:latin typeface="微軟正黑體" pitchFamily="34" charset="-120"/>
                          <a:ea typeface="微軟正黑體" pitchFamily="34" charset="-120"/>
                        </a:rPr>
                        <a:t>-=</a:t>
                      </a:r>
                      <a:endParaRPr lang="zh-TW" sz="2000">
                        <a:effectLst/>
                        <a:latin typeface="微軟正黑體" pitchFamily="34" charset="-120"/>
                        <a:ea typeface="微軟正黑體" pitchFamily="34" charset="-120"/>
                      </a:endParaRPr>
                    </a:p>
                  </a:txBody>
                  <a:tcPr marL="68574" marR="68574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100"/>
                        </a:lnSpc>
                        <a:spcAft>
                          <a:spcPts val="1200"/>
                        </a:spcAft>
                      </a:pPr>
                      <a:r>
                        <a:rPr lang="en-US" sz="2000">
                          <a:effectLst/>
                          <a:latin typeface="微軟正黑體" pitchFamily="34" charset="-120"/>
                          <a:ea typeface="微軟正黑體" pitchFamily="34" charset="-120"/>
                        </a:rPr>
                        <a:t>x -= y</a:t>
                      </a:r>
                      <a:endParaRPr lang="zh-TW" sz="2000">
                        <a:effectLst/>
                        <a:latin typeface="微軟正黑體" pitchFamily="34" charset="-120"/>
                        <a:ea typeface="微軟正黑體" pitchFamily="34" charset="-120"/>
                      </a:endParaRPr>
                    </a:p>
                  </a:txBody>
                  <a:tcPr marL="68574" marR="68574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100"/>
                        </a:lnSpc>
                        <a:spcAft>
                          <a:spcPts val="1200"/>
                        </a:spcAft>
                      </a:pPr>
                      <a:r>
                        <a:rPr lang="en-US" sz="2000">
                          <a:effectLst/>
                          <a:latin typeface="微軟正黑體" pitchFamily="34" charset="-120"/>
                          <a:ea typeface="微軟正黑體" pitchFamily="34" charset="-120"/>
                        </a:rPr>
                        <a:t>x = x - y</a:t>
                      </a:r>
                      <a:endParaRPr lang="zh-TW" sz="2000">
                        <a:effectLst/>
                        <a:latin typeface="微軟正黑體" pitchFamily="34" charset="-120"/>
                        <a:ea typeface="微軟正黑體" pitchFamily="34" charset="-120"/>
                      </a:endParaRPr>
                    </a:p>
                  </a:txBody>
                  <a:tcPr marL="68574" marR="68574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100"/>
                        </a:lnSpc>
                        <a:spcAft>
                          <a:spcPts val="1200"/>
                        </a:spcAft>
                      </a:pPr>
                      <a:r>
                        <a:rPr lang="zh-TW" sz="2000">
                          <a:effectLst/>
                          <a:latin typeface="微軟正黑體" pitchFamily="34" charset="-120"/>
                          <a:ea typeface="微軟正黑體" pitchFamily="34" charset="-120"/>
                        </a:rPr>
                        <a:t>減法</a:t>
                      </a:r>
                    </a:p>
                  </a:txBody>
                  <a:tcPr marL="68574" marR="68574" marT="0" marB="0" anchor="ctr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60199">
                <a:tc>
                  <a:txBody>
                    <a:bodyPr/>
                    <a:lstStyle/>
                    <a:p>
                      <a:pPr algn="ctr">
                        <a:lnSpc>
                          <a:spcPts val="2100"/>
                        </a:lnSpc>
                        <a:spcAft>
                          <a:spcPts val="1200"/>
                        </a:spcAft>
                      </a:pPr>
                      <a:r>
                        <a:rPr lang="en-US" sz="2000">
                          <a:effectLst/>
                          <a:latin typeface="微軟正黑體" pitchFamily="34" charset="-120"/>
                          <a:ea typeface="微軟正黑體" pitchFamily="34" charset="-120"/>
                        </a:rPr>
                        <a:t>*=</a:t>
                      </a:r>
                      <a:endParaRPr lang="zh-TW" sz="2000">
                        <a:effectLst/>
                        <a:latin typeface="微軟正黑體" pitchFamily="34" charset="-120"/>
                        <a:ea typeface="微軟正黑體" pitchFamily="34" charset="-120"/>
                      </a:endParaRPr>
                    </a:p>
                  </a:txBody>
                  <a:tcPr marL="68574" marR="68574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100"/>
                        </a:lnSpc>
                        <a:spcAft>
                          <a:spcPts val="1200"/>
                        </a:spcAft>
                      </a:pPr>
                      <a:r>
                        <a:rPr lang="en-US" sz="2000">
                          <a:effectLst/>
                          <a:latin typeface="微軟正黑體" pitchFamily="34" charset="-120"/>
                          <a:ea typeface="微軟正黑體" pitchFamily="34" charset="-120"/>
                        </a:rPr>
                        <a:t>x *= y</a:t>
                      </a:r>
                      <a:endParaRPr lang="zh-TW" sz="2000">
                        <a:effectLst/>
                        <a:latin typeface="微軟正黑體" pitchFamily="34" charset="-120"/>
                        <a:ea typeface="微軟正黑體" pitchFamily="34" charset="-120"/>
                      </a:endParaRPr>
                    </a:p>
                  </a:txBody>
                  <a:tcPr marL="68574" marR="68574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100"/>
                        </a:lnSpc>
                        <a:spcAft>
                          <a:spcPts val="1200"/>
                        </a:spcAft>
                      </a:pPr>
                      <a:r>
                        <a:rPr lang="en-US" sz="2000">
                          <a:effectLst/>
                          <a:latin typeface="微軟正黑體" pitchFamily="34" charset="-120"/>
                          <a:ea typeface="微軟正黑體" pitchFamily="34" charset="-120"/>
                        </a:rPr>
                        <a:t>x = x * y</a:t>
                      </a:r>
                      <a:endParaRPr lang="zh-TW" sz="2000">
                        <a:effectLst/>
                        <a:latin typeface="微軟正黑體" pitchFamily="34" charset="-120"/>
                        <a:ea typeface="微軟正黑體" pitchFamily="34" charset="-120"/>
                      </a:endParaRPr>
                    </a:p>
                  </a:txBody>
                  <a:tcPr marL="68574" marR="68574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100"/>
                        </a:lnSpc>
                        <a:spcAft>
                          <a:spcPts val="1200"/>
                        </a:spcAft>
                      </a:pPr>
                      <a:r>
                        <a:rPr lang="zh-TW" sz="2000">
                          <a:effectLst/>
                          <a:latin typeface="微軟正黑體" pitchFamily="34" charset="-120"/>
                          <a:ea typeface="微軟正黑體" pitchFamily="34" charset="-120"/>
                        </a:rPr>
                        <a:t>乘法</a:t>
                      </a:r>
                    </a:p>
                  </a:txBody>
                  <a:tcPr marL="68574" marR="68574" marT="0" marB="0" anchor="ctr"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60199">
                <a:tc>
                  <a:txBody>
                    <a:bodyPr/>
                    <a:lstStyle/>
                    <a:p>
                      <a:pPr algn="ctr">
                        <a:lnSpc>
                          <a:spcPts val="2100"/>
                        </a:lnSpc>
                        <a:spcAft>
                          <a:spcPts val="1200"/>
                        </a:spcAft>
                      </a:pPr>
                      <a:r>
                        <a:rPr lang="en-US" sz="2000">
                          <a:effectLst/>
                          <a:latin typeface="微軟正黑體" pitchFamily="34" charset="-120"/>
                          <a:ea typeface="微軟正黑體" pitchFamily="34" charset="-120"/>
                        </a:rPr>
                        <a:t>/=</a:t>
                      </a:r>
                      <a:endParaRPr lang="zh-TW" sz="2000">
                        <a:effectLst/>
                        <a:latin typeface="微軟正黑體" pitchFamily="34" charset="-120"/>
                        <a:ea typeface="微軟正黑體" pitchFamily="34" charset="-120"/>
                      </a:endParaRPr>
                    </a:p>
                  </a:txBody>
                  <a:tcPr marL="68574" marR="68574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100"/>
                        </a:lnSpc>
                        <a:spcAft>
                          <a:spcPts val="1200"/>
                        </a:spcAft>
                      </a:pPr>
                      <a:r>
                        <a:rPr lang="en-US" sz="2000">
                          <a:effectLst/>
                          <a:latin typeface="微軟正黑體" pitchFamily="34" charset="-120"/>
                          <a:ea typeface="微軟正黑體" pitchFamily="34" charset="-120"/>
                        </a:rPr>
                        <a:t>x /= y</a:t>
                      </a:r>
                      <a:endParaRPr lang="zh-TW" sz="2000">
                        <a:effectLst/>
                        <a:latin typeface="微軟正黑體" pitchFamily="34" charset="-120"/>
                        <a:ea typeface="微軟正黑體" pitchFamily="34" charset="-120"/>
                      </a:endParaRPr>
                    </a:p>
                  </a:txBody>
                  <a:tcPr marL="68574" marR="68574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100"/>
                        </a:lnSpc>
                        <a:spcAft>
                          <a:spcPts val="1200"/>
                        </a:spcAft>
                      </a:pPr>
                      <a:r>
                        <a:rPr lang="en-US" sz="2000">
                          <a:effectLst/>
                          <a:latin typeface="微軟正黑體" pitchFamily="34" charset="-120"/>
                          <a:ea typeface="微軟正黑體" pitchFamily="34" charset="-120"/>
                        </a:rPr>
                        <a:t>x = x / y</a:t>
                      </a:r>
                      <a:endParaRPr lang="zh-TW" sz="2000">
                        <a:effectLst/>
                        <a:latin typeface="微軟正黑體" pitchFamily="34" charset="-120"/>
                        <a:ea typeface="微軟正黑體" pitchFamily="34" charset="-120"/>
                      </a:endParaRPr>
                    </a:p>
                  </a:txBody>
                  <a:tcPr marL="68574" marR="68574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100"/>
                        </a:lnSpc>
                        <a:spcAft>
                          <a:spcPts val="1200"/>
                        </a:spcAft>
                      </a:pPr>
                      <a:r>
                        <a:rPr lang="zh-TW" sz="2000">
                          <a:effectLst/>
                          <a:latin typeface="微軟正黑體" pitchFamily="34" charset="-120"/>
                          <a:ea typeface="微軟正黑體" pitchFamily="34" charset="-120"/>
                        </a:rPr>
                        <a:t>除法</a:t>
                      </a:r>
                    </a:p>
                  </a:txBody>
                  <a:tcPr marL="68574" marR="68574" marT="0" marB="0" anchor="ctr"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460199">
                <a:tc>
                  <a:txBody>
                    <a:bodyPr/>
                    <a:lstStyle/>
                    <a:p>
                      <a:pPr algn="ctr">
                        <a:lnSpc>
                          <a:spcPts val="2100"/>
                        </a:lnSpc>
                        <a:spcAft>
                          <a:spcPts val="1200"/>
                        </a:spcAft>
                      </a:pPr>
                      <a:r>
                        <a:rPr lang="en-US" sz="2000">
                          <a:effectLst/>
                          <a:latin typeface="微軟正黑體" pitchFamily="34" charset="-120"/>
                          <a:ea typeface="微軟正黑體" pitchFamily="34" charset="-120"/>
                        </a:rPr>
                        <a:t>//=</a:t>
                      </a:r>
                      <a:endParaRPr lang="zh-TW" sz="2000">
                        <a:effectLst/>
                        <a:latin typeface="微軟正黑體" pitchFamily="34" charset="-120"/>
                        <a:ea typeface="微軟正黑體" pitchFamily="34" charset="-120"/>
                      </a:endParaRPr>
                    </a:p>
                  </a:txBody>
                  <a:tcPr marL="68574" marR="68574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100"/>
                        </a:lnSpc>
                        <a:spcAft>
                          <a:spcPts val="1200"/>
                        </a:spcAft>
                      </a:pPr>
                      <a:r>
                        <a:rPr lang="en-US" sz="2000">
                          <a:effectLst/>
                          <a:latin typeface="微軟正黑體" pitchFamily="34" charset="-120"/>
                          <a:ea typeface="微軟正黑體" pitchFamily="34" charset="-120"/>
                        </a:rPr>
                        <a:t>x //= y</a:t>
                      </a:r>
                      <a:endParaRPr lang="zh-TW" sz="2000">
                        <a:effectLst/>
                        <a:latin typeface="微軟正黑體" pitchFamily="34" charset="-120"/>
                        <a:ea typeface="微軟正黑體" pitchFamily="34" charset="-120"/>
                      </a:endParaRPr>
                    </a:p>
                  </a:txBody>
                  <a:tcPr marL="68574" marR="68574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100"/>
                        </a:lnSpc>
                        <a:spcAft>
                          <a:spcPts val="1200"/>
                        </a:spcAft>
                      </a:pPr>
                      <a:r>
                        <a:rPr lang="en-US" sz="2000">
                          <a:effectLst/>
                          <a:latin typeface="微軟正黑體" pitchFamily="34" charset="-120"/>
                          <a:ea typeface="微軟正黑體" pitchFamily="34" charset="-120"/>
                        </a:rPr>
                        <a:t>x = x // y</a:t>
                      </a:r>
                      <a:endParaRPr lang="zh-TW" sz="2000">
                        <a:effectLst/>
                        <a:latin typeface="微軟正黑體" pitchFamily="34" charset="-120"/>
                        <a:ea typeface="微軟正黑體" pitchFamily="34" charset="-120"/>
                      </a:endParaRPr>
                    </a:p>
                  </a:txBody>
                  <a:tcPr marL="68574" marR="68574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100"/>
                        </a:lnSpc>
                        <a:spcAft>
                          <a:spcPts val="1200"/>
                        </a:spcAft>
                      </a:pPr>
                      <a:r>
                        <a:rPr lang="zh-HK" sz="2000">
                          <a:effectLst/>
                          <a:latin typeface="微軟正黑體" pitchFamily="34" charset="-120"/>
                          <a:ea typeface="微軟正黑體" pitchFamily="34" charset="-120"/>
                        </a:rPr>
                        <a:t>整數除法</a:t>
                      </a:r>
                      <a:endParaRPr lang="zh-TW" sz="2000">
                        <a:effectLst/>
                        <a:latin typeface="微軟正黑體" pitchFamily="34" charset="-120"/>
                        <a:ea typeface="微軟正黑體" pitchFamily="34" charset="-120"/>
                      </a:endParaRPr>
                    </a:p>
                  </a:txBody>
                  <a:tcPr marL="68574" marR="68574" marT="0" marB="0" anchor="ctr"/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460199">
                <a:tc>
                  <a:txBody>
                    <a:bodyPr/>
                    <a:lstStyle/>
                    <a:p>
                      <a:pPr algn="ctr">
                        <a:lnSpc>
                          <a:spcPts val="2100"/>
                        </a:lnSpc>
                        <a:spcAft>
                          <a:spcPts val="1200"/>
                        </a:spcAft>
                      </a:pPr>
                      <a:r>
                        <a:rPr lang="en-US" sz="2000">
                          <a:effectLst/>
                          <a:latin typeface="微軟正黑體" pitchFamily="34" charset="-120"/>
                          <a:ea typeface="微軟正黑體" pitchFamily="34" charset="-120"/>
                        </a:rPr>
                        <a:t>%=</a:t>
                      </a:r>
                      <a:endParaRPr lang="zh-TW" sz="2000">
                        <a:effectLst/>
                        <a:latin typeface="微軟正黑體" pitchFamily="34" charset="-120"/>
                        <a:ea typeface="微軟正黑體" pitchFamily="34" charset="-120"/>
                      </a:endParaRPr>
                    </a:p>
                  </a:txBody>
                  <a:tcPr marL="68574" marR="68574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100"/>
                        </a:lnSpc>
                        <a:spcAft>
                          <a:spcPts val="1200"/>
                        </a:spcAft>
                      </a:pPr>
                      <a:r>
                        <a:rPr lang="en-US" sz="2000">
                          <a:effectLst/>
                          <a:latin typeface="微軟正黑體" pitchFamily="34" charset="-120"/>
                          <a:ea typeface="微軟正黑體" pitchFamily="34" charset="-120"/>
                        </a:rPr>
                        <a:t>x %= y</a:t>
                      </a:r>
                      <a:endParaRPr lang="zh-TW" sz="2000">
                        <a:effectLst/>
                        <a:latin typeface="微軟正黑體" pitchFamily="34" charset="-120"/>
                        <a:ea typeface="微軟正黑體" pitchFamily="34" charset="-120"/>
                      </a:endParaRPr>
                    </a:p>
                  </a:txBody>
                  <a:tcPr marL="68574" marR="68574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100"/>
                        </a:lnSpc>
                        <a:spcAft>
                          <a:spcPts val="1200"/>
                        </a:spcAft>
                      </a:pPr>
                      <a:r>
                        <a:rPr lang="en-US" sz="2000">
                          <a:effectLst/>
                          <a:latin typeface="微軟正黑體" pitchFamily="34" charset="-120"/>
                          <a:ea typeface="微軟正黑體" pitchFamily="34" charset="-120"/>
                        </a:rPr>
                        <a:t>x = x % y</a:t>
                      </a:r>
                      <a:endParaRPr lang="zh-TW" sz="2000">
                        <a:effectLst/>
                        <a:latin typeface="微軟正黑體" pitchFamily="34" charset="-120"/>
                        <a:ea typeface="微軟正黑體" pitchFamily="34" charset="-120"/>
                      </a:endParaRPr>
                    </a:p>
                  </a:txBody>
                  <a:tcPr marL="68574" marR="68574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100"/>
                        </a:lnSpc>
                        <a:spcAft>
                          <a:spcPts val="1200"/>
                        </a:spcAft>
                      </a:pPr>
                      <a:r>
                        <a:rPr lang="zh-TW" sz="2000">
                          <a:effectLst/>
                          <a:latin typeface="微軟正黑體" pitchFamily="34" charset="-120"/>
                          <a:ea typeface="微軟正黑體" pitchFamily="34" charset="-120"/>
                        </a:rPr>
                        <a:t>餘數</a:t>
                      </a:r>
                    </a:p>
                  </a:txBody>
                  <a:tcPr marL="68574" marR="68574" marT="0" marB="0" anchor="ctr"/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460199">
                <a:tc>
                  <a:txBody>
                    <a:bodyPr/>
                    <a:lstStyle/>
                    <a:p>
                      <a:pPr algn="ctr">
                        <a:lnSpc>
                          <a:spcPts val="2100"/>
                        </a:lnSpc>
                        <a:spcAft>
                          <a:spcPts val="1200"/>
                        </a:spcAft>
                      </a:pPr>
                      <a:r>
                        <a:rPr lang="en-US" sz="2000">
                          <a:effectLst/>
                          <a:latin typeface="微軟正黑體" pitchFamily="34" charset="-120"/>
                          <a:ea typeface="微軟正黑體" pitchFamily="34" charset="-120"/>
                        </a:rPr>
                        <a:t>**=</a:t>
                      </a:r>
                      <a:endParaRPr lang="zh-TW" sz="2000">
                        <a:effectLst/>
                        <a:latin typeface="微軟正黑體" pitchFamily="34" charset="-120"/>
                        <a:ea typeface="微軟正黑體" pitchFamily="34" charset="-120"/>
                      </a:endParaRPr>
                    </a:p>
                  </a:txBody>
                  <a:tcPr marL="68574" marR="68574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100"/>
                        </a:lnSpc>
                        <a:spcAft>
                          <a:spcPts val="1200"/>
                        </a:spcAft>
                      </a:pPr>
                      <a:r>
                        <a:rPr lang="en-US" sz="2000">
                          <a:effectLst/>
                          <a:latin typeface="微軟正黑體" pitchFamily="34" charset="-120"/>
                          <a:ea typeface="微軟正黑體" pitchFamily="34" charset="-120"/>
                        </a:rPr>
                        <a:t>x **= y</a:t>
                      </a:r>
                      <a:endParaRPr lang="zh-TW" sz="2000">
                        <a:effectLst/>
                        <a:latin typeface="微軟正黑體" pitchFamily="34" charset="-120"/>
                        <a:ea typeface="微軟正黑體" pitchFamily="34" charset="-120"/>
                      </a:endParaRPr>
                    </a:p>
                  </a:txBody>
                  <a:tcPr marL="68574" marR="68574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100"/>
                        </a:lnSpc>
                        <a:spcAft>
                          <a:spcPts val="1200"/>
                        </a:spcAft>
                      </a:pPr>
                      <a:r>
                        <a:rPr lang="en-US" sz="2000">
                          <a:effectLst/>
                          <a:latin typeface="微軟正黑體" pitchFamily="34" charset="-120"/>
                          <a:ea typeface="微軟正黑體" pitchFamily="34" charset="-120"/>
                        </a:rPr>
                        <a:t>x = x ** y</a:t>
                      </a:r>
                      <a:endParaRPr lang="zh-TW" sz="2000">
                        <a:effectLst/>
                        <a:latin typeface="微軟正黑體" pitchFamily="34" charset="-120"/>
                        <a:ea typeface="微軟正黑體" pitchFamily="34" charset="-120"/>
                      </a:endParaRPr>
                    </a:p>
                  </a:txBody>
                  <a:tcPr marL="68574" marR="68574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100"/>
                        </a:lnSpc>
                        <a:spcAft>
                          <a:spcPts val="1200"/>
                        </a:spcAft>
                      </a:pPr>
                      <a:r>
                        <a:rPr lang="zh-HK" sz="2000" dirty="0">
                          <a:effectLst/>
                          <a:latin typeface="微軟正黑體" pitchFamily="34" charset="-120"/>
                          <a:ea typeface="微軟正黑體" pitchFamily="34" charset="-120"/>
                        </a:rPr>
                        <a:t>指數</a:t>
                      </a:r>
                      <a:endParaRPr lang="zh-TW" sz="2000" dirty="0">
                        <a:effectLst/>
                        <a:latin typeface="微軟正黑體" pitchFamily="34" charset="-120"/>
                        <a:ea typeface="微軟正黑體" pitchFamily="34" charset="-120"/>
                      </a:endParaRPr>
                    </a:p>
                  </a:txBody>
                  <a:tcPr marL="68574" marR="68574" marT="0" marB="0" anchor="ctr"/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7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內容版面配置區 1">
            <a:extLst>
              <a:ext uri="{FF2B5EF4-FFF2-40B4-BE49-F238E27FC236}">
                <a16:creationId xmlns:a16="http://schemas.microsoft.com/office/drawing/2014/main" id="{895F7748-B35A-457E-8443-6530610A27F0}"/>
              </a:ext>
            </a:extLst>
          </p:cNvPr>
          <p:cNvSpPr txBox="1">
            <a:spLocks/>
          </p:cNvSpPr>
          <p:nvPr/>
        </p:nvSpPr>
        <p:spPr bwMode="auto">
          <a:xfrm>
            <a:off x="576000" y="1241877"/>
            <a:ext cx="11040000" cy="5760000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defPPr>
              <a:defRPr lang="zh-TW"/>
            </a:defPPr>
            <a:lvl1pPr marL="0" algn="l" defTabSz="914400" rtl="0" eaLnBrk="1" latinLnBrk="0" hangingPunct="1">
              <a:defRPr sz="1400" kern="1200">
                <a:solidFill>
                  <a:schemeClr val="tx1"/>
                </a:solidFill>
                <a:latin typeface="Arial" charset="0"/>
                <a:ea typeface="微軟正黑體" panose="020B0604030504040204" pitchFamily="34" charset="-120"/>
                <a:cs typeface="Arial" charset="0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1"/>
            <a:endParaRPr lang="en-US" altLang="zh-TW" dirty="0"/>
          </a:p>
          <a:p>
            <a:pPr lvl="3"/>
            <a:endParaRPr lang="en-US" altLang="zh-TW" dirty="0"/>
          </a:p>
          <a:p>
            <a:pPr lvl="3"/>
            <a:r>
              <a:rPr lang="zh-TW" altLang="en-US" dirty="0"/>
              <a:t>複利公式為：本金*</a:t>
            </a:r>
            <a:r>
              <a:rPr lang="en-US" altLang="zh-TW" dirty="0"/>
              <a:t>(1+</a:t>
            </a:r>
            <a:r>
              <a:rPr lang="zh-TW" altLang="en-US" dirty="0"/>
              <a:t>利率</a:t>
            </a:r>
            <a:r>
              <a:rPr lang="en-US" altLang="zh-TW" dirty="0"/>
              <a:t>)</a:t>
            </a:r>
            <a:r>
              <a:rPr lang="zh-TW" altLang="en-US" dirty="0"/>
              <a:t>年，目前存款年利率為 </a:t>
            </a:r>
            <a:r>
              <a:rPr lang="en-US" altLang="zh-TW" dirty="0"/>
              <a:t>2%</a:t>
            </a:r>
            <a:r>
              <a:rPr lang="zh-TW" altLang="en-US" dirty="0"/>
              <a:t>，以複利計算。阿輝在銀行有一筆存款，設計程式讓阿輝輸入存款本金後，以複合指定運算子計算 </a:t>
            </a:r>
            <a:r>
              <a:rPr lang="en-US" altLang="zh-TW" dirty="0"/>
              <a:t>6</a:t>
            </a:r>
            <a:r>
              <a:rPr lang="zh-TW" altLang="en-US" dirty="0"/>
              <a:t>年後的本金。</a:t>
            </a:r>
            <a:r>
              <a:rPr lang="en-US" altLang="zh-TW" dirty="0"/>
              <a:t>(&lt;complex.py&gt;)</a:t>
            </a:r>
            <a:endParaRPr lang="zh-TW" altLang="en-US" dirty="0"/>
          </a:p>
        </p:txBody>
      </p:sp>
      <p:pic>
        <p:nvPicPr>
          <p:cNvPr id="5" name="Picture 2">
            <a:extLst>
              <a:ext uri="{FF2B5EF4-FFF2-40B4-BE49-F238E27FC236}">
                <a16:creationId xmlns:a16="http://schemas.microsoft.com/office/drawing/2014/main" id="{D968ADDC-68FE-429B-BBE2-7F1BAECA1AF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991545" y="749343"/>
            <a:ext cx="8208912" cy="98506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6" name="Picture 3">
            <a:extLst>
              <a:ext uri="{FF2B5EF4-FFF2-40B4-BE49-F238E27FC236}">
                <a16:creationId xmlns:a16="http://schemas.microsoft.com/office/drawing/2014/main" id="{4B8AFC76-5683-468B-94C7-8E54C66EB56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679541" y="2603428"/>
            <a:ext cx="7366645" cy="151844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8" name="文字方塊 7">
            <a:extLst>
              <a:ext uri="{FF2B5EF4-FFF2-40B4-BE49-F238E27FC236}">
                <a16:creationId xmlns:a16="http://schemas.microsoft.com/office/drawing/2014/main" id="{AC591481-B378-44FA-A59F-1C9964266424}"/>
              </a:ext>
            </a:extLst>
          </p:cNvPr>
          <p:cNvSpPr txBox="1"/>
          <p:nvPr/>
        </p:nvSpPr>
        <p:spPr>
          <a:xfrm>
            <a:off x="2679541" y="4361547"/>
            <a:ext cx="6128084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TW" altLang="en-US" dirty="0"/>
              <a:t>deposit = int(input("請輸入本金存款金額："))</a:t>
            </a:r>
          </a:p>
          <a:p>
            <a:r>
              <a:rPr lang="zh-TW" altLang="en-US" dirty="0"/>
              <a:t>times = 1.02 ** 6</a:t>
            </a:r>
          </a:p>
          <a:p>
            <a:r>
              <a:rPr lang="zh-TW" altLang="en-US" dirty="0"/>
              <a:t>deposit *= times</a:t>
            </a:r>
          </a:p>
          <a:p>
            <a:r>
              <a:rPr lang="zh-TW" altLang="en-US" dirty="0"/>
              <a:t>print("6 年後存款為：" + str(deposit))</a:t>
            </a:r>
          </a:p>
        </p:txBody>
      </p:sp>
    </p:spTree>
    <p:extLst>
      <p:ext uri="{BB962C8B-B14F-4D97-AF65-F5344CB8AC3E}">
        <p14:creationId xmlns:p14="http://schemas.microsoft.com/office/powerpoint/2010/main" val="684616990"/>
      </p:ext>
    </p:extLst>
  </p:cSld>
  <p:clrMapOvr>
    <a:masterClrMapping/>
  </p:clrMapOvr>
</p:sld>
</file>

<file path=ppt/slides/slide7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058" name="標題 1">
            <a:extLst>
              <a:ext uri="{FF2B5EF4-FFF2-40B4-BE49-F238E27FC236}">
                <a16:creationId xmlns:a16="http://schemas.microsoft.com/office/drawing/2014/main" id="{E6D4BFE2-A963-3989-BAF3-5DA927FC9CF6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zh-TW" altLang="en-US" dirty="0"/>
              <a:t>更多的指定敘述</a:t>
            </a:r>
          </a:p>
        </p:txBody>
      </p:sp>
      <p:sp>
        <p:nvSpPr>
          <p:cNvPr id="45059" name="內容版面配置區 2">
            <a:extLst>
              <a:ext uri="{FF2B5EF4-FFF2-40B4-BE49-F238E27FC236}">
                <a16:creationId xmlns:a16="http://schemas.microsoft.com/office/drawing/2014/main" id="{7FCC9D45-55DD-5126-21BE-593D2FE25BF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 eaLnBrk="1" hangingPunct="1">
              <a:buNone/>
            </a:pPr>
            <a:r>
              <a:rPr lang="zh-TW" altLang="en-US" u="sng"/>
              <a:t>多重指定敘述：</a:t>
            </a:r>
            <a:r>
              <a:rPr lang="en-US" altLang="zh-TW" u="sng"/>
              <a:t>ch3-6-4.py</a:t>
            </a:r>
          </a:p>
          <a:p>
            <a:pPr marL="0" indent="0" eaLnBrk="1" hangingPunct="1"/>
            <a:r>
              <a:rPr lang="zh-TW" altLang="en-US"/>
              <a:t>多重指定敘述（</a:t>
            </a:r>
            <a:r>
              <a:rPr lang="en-US" altLang="zh-TW"/>
              <a:t>Multiple Assignments</a:t>
            </a:r>
            <a:r>
              <a:rPr lang="zh-TW" altLang="en-US"/>
              <a:t>）可以在一行指定敘述同時指定多個變數值，如下所示：</a:t>
            </a:r>
          </a:p>
          <a:p>
            <a:pPr marL="457200" lvl="1" indent="0" eaLnBrk="1" hangingPunct="1">
              <a:buNone/>
            </a:pPr>
            <a:r>
              <a:rPr lang="en-US" altLang="zh-TW">
                <a:solidFill>
                  <a:srgbClr val="FF3399"/>
                </a:solidFill>
              </a:rPr>
              <a:t>score1 = score2 = score3 = 25</a:t>
            </a:r>
          </a:p>
          <a:p>
            <a:pPr marL="457200" lvl="1" indent="0" eaLnBrk="1" hangingPunct="1">
              <a:buNone/>
            </a:pPr>
            <a:r>
              <a:rPr lang="en-US" altLang="zh-TW">
                <a:solidFill>
                  <a:srgbClr val="FF3399"/>
                </a:solidFill>
              </a:rPr>
              <a:t>print(score1, score2, score3)</a:t>
            </a:r>
          </a:p>
          <a:p>
            <a:pPr marL="0" indent="0" eaLnBrk="1" hangingPunct="1">
              <a:buNone/>
            </a:pPr>
            <a:r>
              <a:rPr lang="zh-TW" altLang="en-US" u="sng"/>
              <a:t>同時指定敘述：</a:t>
            </a:r>
            <a:r>
              <a:rPr lang="en-US" altLang="zh-TW" u="sng"/>
              <a:t>ch3-6-4a.py</a:t>
            </a:r>
          </a:p>
          <a:p>
            <a:pPr marL="0" indent="0" eaLnBrk="1" hangingPunct="1"/>
            <a:r>
              <a:rPr lang="zh-TW" altLang="en-US"/>
              <a:t>同時指定敘述（</a:t>
            </a:r>
            <a:r>
              <a:rPr lang="en-US" altLang="zh-TW"/>
              <a:t>Simultaneous Assignments</a:t>
            </a:r>
            <a:r>
              <a:rPr lang="zh-TW" altLang="en-US"/>
              <a:t>）的「</a:t>
            </a:r>
            <a:r>
              <a:rPr lang="en-US" altLang="zh-TW"/>
              <a:t>=</a:t>
            </a:r>
            <a:r>
              <a:rPr lang="zh-TW" altLang="en-US"/>
              <a:t>」等號左右邊是使用「</a:t>
            </a:r>
            <a:r>
              <a:rPr lang="en-US" altLang="zh-TW"/>
              <a:t>,</a:t>
            </a:r>
            <a:r>
              <a:rPr lang="zh-TW" altLang="en-US"/>
              <a:t>」逗號分隔的多個變數和值，如下所示：</a:t>
            </a:r>
          </a:p>
          <a:p>
            <a:pPr marL="457200" lvl="1" indent="0" eaLnBrk="1" hangingPunct="1">
              <a:buNone/>
            </a:pPr>
            <a:r>
              <a:rPr lang="en-US" altLang="zh-TW">
                <a:solidFill>
                  <a:srgbClr val="FF3399"/>
                </a:solidFill>
              </a:rPr>
              <a:t>x, y = 1, 2</a:t>
            </a:r>
          </a:p>
          <a:p>
            <a:pPr marL="457200" lvl="1" indent="0" eaLnBrk="1" hangingPunct="1">
              <a:buNone/>
            </a:pPr>
            <a:r>
              <a:rPr lang="en-US" altLang="zh-TW">
                <a:solidFill>
                  <a:srgbClr val="FF3399"/>
                </a:solidFill>
              </a:rPr>
              <a:t>print("X =", x, "Y =", y)</a:t>
            </a:r>
          </a:p>
          <a:p>
            <a:pPr marL="0" indent="0" eaLnBrk="1" hangingPunct="1"/>
            <a:endParaRPr lang="zh-TW" altLang="en-US"/>
          </a:p>
        </p:txBody>
      </p:sp>
    </p:spTree>
  </p:cSld>
  <p:clrMapOvr>
    <a:masterClrMapping/>
  </p:clrMapOvr>
</p:sld>
</file>

<file path=ppt/slides/slide7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矩形 9">
            <a:extLst>
              <a:ext uri="{FF2B5EF4-FFF2-40B4-BE49-F238E27FC236}">
                <a16:creationId xmlns:a16="http://schemas.microsoft.com/office/drawing/2014/main" id="{4843313D-8C2D-4120-B6AD-698359BD6098}"/>
              </a:ext>
            </a:extLst>
          </p:cNvPr>
          <p:cNvSpPr>
            <a:spLocks noGrp="1"/>
          </p:cNvSpPr>
          <p:nvPr/>
        </p:nvSpPr>
        <p:spPr>
          <a:xfrm>
            <a:off x="609600" y="304800"/>
            <a:ext cx="10763250" cy="3810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650" b="1">
                <a:solidFill>
                  <a:srgbClr val="456675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650" b="1">
                <a:solidFill>
                  <a:srgbClr val="456675"/>
                </a:solidFill>
                <a:latin typeface="Microsoft JhengHei"/>
                <a:ea typeface="Microsoft JhengHei"/>
                <a:cs typeface="Microsoft JhengHei"/>
              </a:rPr>
              <a:t>W1-04   045–060 分鐘</a:t>
            </a:r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E65A7F01-1592-4E7A-B348-D609C898F840}"/>
              </a:ext>
            </a:extLst>
          </p:cNvPr>
          <p:cNvSpPr>
            <a:spLocks noGrp="1"/>
          </p:cNvSpPr>
          <p:nvPr/>
        </p:nvSpPr>
        <p:spPr>
          <a:xfrm>
            <a:off x="609600" y="942975"/>
            <a:ext cx="10858500" cy="85725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3450" b="1">
                <a:solidFill>
                  <a:srgbClr val="17384C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3450" b="1">
                <a:solidFill>
                  <a:srgbClr val="17384C"/>
                </a:solidFill>
                <a:latin typeface="Microsoft JhengHei"/>
                <a:ea typeface="Microsoft JhengHei"/>
                <a:cs typeface="Microsoft JhengHei"/>
              </a:rPr>
              <a:t>變數與更新</a:t>
            </a: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842FBDF2-4A33-463A-B729-EB54999E3B31}"/>
              </a:ext>
            </a:extLst>
          </p:cNvPr>
          <p:cNvSpPr>
            <a:spLocks noGrp="1"/>
          </p:cNvSpPr>
          <p:nvPr/>
        </p:nvSpPr>
        <p:spPr>
          <a:xfrm>
            <a:off x="647700" y="2190750"/>
            <a:ext cx="619125" cy="5715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2100" b="1">
                <a:solidFill>
                  <a:srgbClr val="078078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100" b="1">
                <a:solidFill>
                  <a:srgbClr val="078078"/>
                </a:solidFill>
                <a:latin typeface="Microsoft JhengHei"/>
                <a:ea typeface="Microsoft JhengHei"/>
                <a:cs typeface="Microsoft JhengHei"/>
              </a:rPr>
              <a:t>01</a:t>
            </a:r>
          </a:p>
        </p:txBody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4C1C63CA-1E57-452B-A8AF-7BD0B9C74212}"/>
              </a:ext>
            </a:extLst>
          </p:cNvPr>
          <p:cNvSpPr>
            <a:spLocks noGrp="1"/>
          </p:cNvSpPr>
          <p:nvPr/>
        </p:nvSpPr>
        <p:spPr>
          <a:xfrm>
            <a:off x="1476375" y="2133600"/>
            <a:ext cx="9620250" cy="9525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2550" b="0">
                <a:solidFill>
                  <a:srgbClr val="17384C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550" b="0">
                <a:solidFill>
                  <a:srgbClr val="17384C"/>
                </a:solidFill>
                <a:latin typeface="Microsoft JhengHei"/>
                <a:ea typeface="Microsoft JhengHei"/>
                <a:cs typeface="Microsoft JhengHei"/>
              </a:rPr>
              <a:t>等號右邊先算，再交給左邊名稱</a:t>
            </a:r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BEA32CE9-2C9F-4A04-919D-EE2AC936433C}"/>
              </a:ext>
            </a:extLst>
          </p:cNvPr>
          <p:cNvSpPr>
            <a:spLocks noGrp="1"/>
          </p:cNvSpPr>
          <p:nvPr/>
        </p:nvSpPr>
        <p:spPr>
          <a:xfrm>
            <a:off x="647700" y="3286125"/>
            <a:ext cx="619125" cy="5715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2100" b="1">
                <a:solidFill>
                  <a:srgbClr val="078078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100" b="1">
                <a:solidFill>
                  <a:srgbClr val="078078"/>
                </a:solidFill>
                <a:latin typeface="Microsoft JhengHei"/>
                <a:ea typeface="Microsoft JhengHei"/>
                <a:cs typeface="Microsoft JhengHei"/>
              </a:rPr>
              <a:t>02</a:t>
            </a:r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D67B0476-5FEE-4CB9-8DF9-0877581F11CD}"/>
              </a:ext>
            </a:extLst>
          </p:cNvPr>
          <p:cNvSpPr>
            <a:spLocks noGrp="1"/>
          </p:cNvSpPr>
          <p:nvPr/>
        </p:nvSpPr>
        <p:spPr>
          <a:xfrm>
            <a:off x="1476375" y="3228975"/>
            <a:ext cx="9620250" cy="9525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2550" b="0">
                <a:solidFill>
                  <a:srgbClr val="17384C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550" b="0">
                <a:solidFill>
                  <a:srgbClr val="17384C"/>
                </a:solidFill>
                <a:latin typeface="Microsoft JhengHei"/>
                <a:ea typeface="Microsoft JhengHei"/>
                <a:cs typeface="Microsoft JhengHei"/>
              </a:rPr>
              <a:t>名稱區分大小寫</a:t>
            </a:r>
          </a:p>
        </p:txBody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09F64B99-A296-444D-BA23-D52A24BC8AF3}"/>
              </a:ext>
            </a:extLst>
          </p:cNvPr>
          <p:cNvSpPr>
            <a:spLocks noGrp="1"/>
          </p:cNvSpPr>
          <p:nvPr/>
        </p:nvSpPr>
        <p:spPr>
          <a:xfrm>
            <a:off x="647700" y="4381500"/>
            <a:ext cx="619125" cy="5715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2100" b="1">
                <a:solidFill>
                  <a:srgbClr val="078078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100" b="1">
                <a:solidFill>
                  <a:srgbClr val="078078"/>
                </a:solidFill>
                <a:latin typeface="Microsoft JhengHei"/>
                <a:ea typeface="Microsoft JhengHei"/>
                <a:cs typeface="Microsoft JhengHei"/>
              </a:rPr>
              <a:t>03</a:t>
            </a: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136F5B0A-95D5-4C8C-8320-93C480ADBA61}"/>
              </a:ext>
            </a:extLst>
          </p:cNvPr>
          <p:cNvSpPr>
            <a:spLocks noGrp="1"/>
          </p:cNvSpPr>
          <p:nvPr/>
        </p:nvSpPr>
        <p:spPr>
          <a:xfrm>
            <a:off x="1476375" y="4324350"/>
            <a:ext cx="9620250" cy="9525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2550" b="0">
                <a:solidFill>
                  <a:srgbClr val="17384C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550" b="0">
                <a:solidFill>
                  <a:srgbClr val="17384C"/>
                </a:solidFill>
                <a:latin typeface="Microsoft JhengHei"/>
                <a:ea typeface="Microsoft JhengHei"/>
                <a:cs typeface="Microsoft JhengHei"/>
              </a:rPr>
              <a:t>更新變數後要重跑依賴它的計算</a:t>
            </a: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24525406-C98E-479B-9E21-6D840F07D55E}"/>
              </a:ext>
            </a:extLst>
          </p:cNvPr>
          <p:cNvSpPr>
            <a:spLocks noGrp="1"/>
          </p:cNvSpPr>
          <p:nvPr/>
        </p:nvSpPr>
        <p:spPr>
          <a:xfrm>
            <a:off x="647700" y="5953125"/>
            <a:ext cx="10810875" cy="55245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575" b="0">
                <a:solidFill>
                  <a:srgbClr val="456675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575" b="0">
                <a:solidFill>
                  <a:srgbClr val="456675"/>
                </a:solidFill>
                <a:latin typeface="Microsoft JhengHei"/>
                <a:ea typeface="Microsoft JhengHei"/>
                <a:cs typeface="Microsoft JhengHei"/>
              </a:rPr>
              <a:t>本週作品：完成飲料訂單計算器，列出品項、杯數、總價與找零</a:t>
            </a:r>
          </a:p>
        </p:txBody>
      </p:sp>
    </p:spTree>
    <p:extLst>
      <p:ext uri="{BB962C8B-B14F-4D97-AF65-F5344CB8AC3E}">
        <p14:creationId xmlns:p14="http://schemas.microsoft.com/office/powerpoint/2010/main" val="1341802842"/>
      </p:ext>
    </p:extLst>
  </p:cSld>
  <p:clrMapOvr>
    <a:masterClrMapping/>
  </p:clrMapOvr>
</p:sld>
</file>

<file path=ppt/slides/slide8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矩形 5">
            <a:extLst>
              <a:ext uri="{FF2B5EF4-FFF2-40B4-BE49-F238E27FC236}">
                <a16:creationId xmlns:a16="http://schemas.microsoft.com/office/drawing/2014/main" id="{B137EC13-E92A-46E8-9E77-3F34886BCBAC}"/>
              </a:ext>
            </a:extLst>
          </p:cNvPr>
          <p:cNvSpPr>
            <a:spLocks noGrp="1"/>
          </p:cNvSpPr>
          <p:nvPr/>
        </p:nvSpPr>
        <p:spPr>
          <a:xfrm>
            <a:off x="609600" y="304800"/>
            <a:ext cx="10858500" cy="3810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650" b="1">
                <a:solidFill>
                  <a:srgbClr val="456675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650" b="1">
                <a:solidFill>
                  <a:srgbClr val="456675"/>
                </a:solidFill>
                <a:latin typeface="Microsoft JhengHei"/>
                <a:ea typeface="Microsoft JhengHei"/>
                <a:cs typeface="Microsoft JhengHei"/>
              </a:rPr>
              <a:t>W1-04   示範與練習  程式節錄</a:t>
            </a:r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569E50F2-6D90-4A79-822E-4E374F18BE84}"/>
              </a:ext>
            </a:extLst>
          </p:cNvPr>
          <p:cNvSpPr>
            <a:spLocks noGrp="1"/>
          </p:cNvSpPr>
          <p:nvPr/>
        </p:nvSpPr>
        <p:spPr>
          <a:xfrm>
            <a:off x="609600" y="895350"/>
            <a:ext cx="10858500" cy="790575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3300" b="1">
                <a:solidFill>
                  <a:srgbClr val="17384C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3300" b="1">
                <a:solidFill>
                  <a:srgbClr val="17384C"/>
                </a:solidFill>
                <a:latin typeface="Microsoft JhengHei"/>
                <a:ea typeface="Microsoft JhengHei"/>
                <a:cs typeface="Microsoft JhengHei"/>
              </a:rPr>
              <a:t>變數與更新</a:t>
            </a: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1313D4DC-6FCE-4985-A68A-D89E9D41649A}"/>
              </a:ext>
            </a:extLst>
          </p:cNvPr>
          <p:cNvSpPr>
            <a:spLocks noGrp="1"/>
          </p:cNvSpPr>
          <p:nvPr/>
        </p:nvSpPr>
        <p:spPr>
          <a:xfrm>
            <a:off x="685800" y="1914525"/>
            <a:ext cx="10477500" cy="295275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875" b="0">
                <a:solidFill>
                  <a:srgbClr val="155B70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875" b="0">
                <a:solidFill>
                  <a:srgbClr val="155B70"/>
                </a:solidFill>
                <a:latin typeface="Microsoft JhengHei"/>
                <a:ea typeface="Microsoft JhengHei"/>
                <a:cs typeface="Microsoft JhengHei"/>
              </a:rPr>
              <a:t>price = 35</a:t>
            </a:r>
          </a:p>
          <a:p>
            <a:pPr>
              <a:defRPr sz="1875" b="0">
                <a:solidFill>
                  <a:srgbClr val="155B70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875" b="0">
                <a:solidFill>
                  <a:srgbClr val="155B70"/>
                </a:solidFill>
                <a:latin typeface="Microsoft JhengHei"/>
                <a:ea typeface="Microsoft JhengHei"/>
                <a:cs typeface="Microsoft JhengHei"/>
              </a:rPr>
              <a:t>quantity = 3</a:t>
            </a:r>
          </a:p>
          <a:p>
            <a:pPr>
              <a:defRPr sz="1875" b="0">
                <a:solidFill>
                  <a:srgbClr val="155B70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875" b="0">
                <a:solidFill>
                  <a:srgbClr val="155B70"/>
                </a:solidFill>
                <a:latin typeface="Microsoft JhengHei"/>
                <a:ea typeface="Microsoft JhengHei"/>
                <a:cs typeface="Microsoft JhengHei"/>
              </a:rPr>
              <a:t>total = price * quantity</a:t>
            </a:r>
          </a:p>
          <a:p>
            <a:pPr>
              <a:defRPr sz="1875" b="0">
                <a:solidFill>
                  <a:srgbClr val="155B70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875" b="0">
                <a:solidFill>
                  <a:srgbClr val="155B70"/>
                </a:solidFill>
                <a:latin typeface="Microsoft JhengHei"/>
                <a:ea typeface="Microsoft JhengHei"/>
                <a:cs typeface="Microsoft JhengHei"/>
              </a:rPr>
              <a:t>print(total)</a:t>
            </a:r>
          </a:p>
        </p:txBody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A32BCF62-95CB-4023-9345-A54138646E55}"/>
              </a:ext>
            </a:extLst>
          </p:cNvPr>
          <p:cNvSpPr>
            <a:spLocks noGrp="1"/>
          </p:cNvSpPr>
          <p:nvPr/>
        </p:nvSpPr>
        <p:spPr>
          <a:xfrm>
            <a:off x="685800" y="5095875"/>
            <a:ext cx="4407310" cy="89535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2100" b="0">
                <a:solidFill>
                  <a:srgbClr val="213547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100" b="0" dirty="0">
                <a:solidFill>
                  <a:srgbClr val="213547"/>
                </a:solidFill>
                <a:latin typeface="Microsoft JhengHei"/>
                <a:ea typeface="Microsoft JhengHei"/>
                <a:cs typeface="Microsoft JhengHei"/>
              </a:rPr>
              <a:t>把price改為40，quantity改為4，重新計算；說明為什麼總價變了。</a:t>
            </a:r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0D62AFAE-F83C-48A0-8B20-5003EBDB56F8}"/>
              </a:ext>
            </a:extLst>
          </p:cNvPr>
          <p:cNvSpPr>
            <a:spLocks noGrp="1"/>
          </p:cNvSpPr>
          <p:nvPr/>
        </p:nvSpPr>
        <p:spPr>
          <a:xfrm>
            <a:off x="685800" y="6286500"/>
            <a:ext cx="10477500" cy="2667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500" b="0">
                <a:solidFill>
                  <a:srgbClr val="5D737F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500" b="0">
                <a:solidFill>
                  <a:srgbClr val="5D737F"/>
                </a:solidFill>
                <a:latin typeface="Microsoft JhengHei"/>
                <a:ea typeface="Microsoft JhengHei"/>
                <a:cs typeface="Microsoft JhengHei"/>
              </a:rPr>
              <a:t>完整程式與練習：Notebook W1-04</a:t>
            </a:r>
          </a:p>
        </p:txBody>
      </p:sp>
      <p:pic>
        <p:nvPicPr>
          <p:cNvPr id="8" name="圖片 7">
            <a:extLst>
              <a:ext uri="{FF2B5EF4-FFF2-40B4-BE49-F238E27FC236}">
                <a16:creationId xmlns:a16="http://schemas.microsoft.com/office/drawing/2014/main" id="{9D0BE734-9475-6B92-B4D7-D872AC72B58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335321" y="685800"/>
            <a:ext cx="6378493" cy="2453853"/>
          </a:xfrm>
          <a:prstGeom prst="rect">
            <a:avLst/>
          </a:prstGeom>
        </p:spPr>
      </p:pic>
      <p:pic>
        <p:nvPicPr>
          <p:cNvPr id="10" name="圖片 9">
            <a:extLst>
              <a:ext uri="{FF2B5EF4-FFF2-40B4-BE49-F238E27FC236}">
                <a16:creationId xmlns:a16="http://schemas.microsoft.com/office/drawing/2014/main" id="{02B45255-09AA-E808-AFB3-EABC1F9A6BA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327701" y="3322306"/>
            <a:ext cx="6386113" cy="278154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52996345"/>
      </p:ext>
    </p:extLst>
  </p:cSld>
  <p:clrMapOvr>
    <a:masterClrMapping/>
  </p:clrMapOvr>
</p:sld>
</file>

<file path=ppt/slides/slide8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矩形 3">
            <a:extLst>
              <a:ext uri="{FF2B5EF4-FFF2-40B4-BE49-F238E27FC236}">
                <a16:creationId xmlns:a16="http://schemas.microsoft.com/office/drawing/2014/main" id="{1809B96A-9061-47EC-8D7C-8439204F2D24}"/>
              </a:ext>
            </a:extLst>
          </p:cNvPr>
          <p:cNvSpPr>
            <a:spLocks noGrp="1"/>
          </p:cNvSpPr>
          <p:nvPr/>
        </p:nvSpPr>
        <p:spPr>
          <a:xfrm>
            <a:off x="285750" y="161925"/>
            <a:ext cx="11572875" cy="3810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725" b="1">
                <a:solidFill>
                  <a:srgbClr val="17384C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725" b="1">
                <a:solidFill>
                  <a:srgbClr val="17384C"/>
                </a:solidFill>
                <a:latin typeface="Microsoft JhengHei"/>
                <a:ea typeface="Microsoft JhengHei"/>
                <a:cs typeface="Microsoft JhengHei"/>
              </a:rPr>
              <a:t>W1-04   原教材圖文對照</a:t>
            </a:r>
          </a:p>
        </p:txBody>
      </p:sp>
      <p:pic>
        <p:nvPicPr>
          <p:cNvPr id="5" name="圖片 4"/>
          <p:cNvPicPr>
            <a:picLocks noChangeAspect="1"/>
          </p:cNvPicPr>
          <p:nvPr/>
        </p:nvPicPr>
        <p:blipFill>
          <a:blip r:embed="rId3"/>
          <a:stretch/>
        </p:blipFill>
        <p:spPr>
          <a:xfrm>
            <a:off x="2420437" y="738187"/>
            <a:ext cx="7874000" cy="5905500"/>
          </a:xfrm>
          <a:prstGeom prst="rect">
            <a:avLst/>
          </a:prstGeom>
        </p:spPr>
      </p:pic>
      <p:sp>
        <p:nvSpPr>
          <p:cNvPr id="3" name="矩形 2">
            <a:extLst>
              <a:ext uri="{FF2B5EF4-FFF2-40B4-BE49-F238E27FC236}">
                <a16:creationId xmlns:a16="http://schemas.microsoft.com/office/drawing/2014/main" id="{A0F00F1C-297E-49DB-B2F0-823FDF502724}"/>
              </a:ext>
            </a:extLst>
          </p:cNvPr>
          <p:cNvSpPr>
            <a:spLocks noGrp="1"/>
          </p:cNvSpPr>
          <p:nvPr/>
        </p:nvSpPr>
        <p:spPr>
          <a:xfrm>
            <a:off x="285750" y="6524625"/>
            <a:ext cx="11430000" cy="238125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275" b="0">
                <a:solidFill>
                  <a:srgbClr val="456675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275" b="0">
                <a:solidFill>
                  <a:srgbClr val="456675"/>
                </a:solidFill>
                <a:latin typeface="Microsoft JhengHei"/>
                <a:ea typeface="Microsoft JhengHei"/>
                <a:cs typeface="Microsoft JhengHei"/>
              </a:rPr>
              <a:t>CH03PPT.ppt 第 5 頁</a:t>
            </a:r>
          </a:p>
        </p:txBody>
      </p:sp>
    </p:spTree>
    <p:extLst>
      <p:ext uri="{BB962C8B-B14F-4D97-AF65-F5344CB8AC3E}">
        <p14:creationId xmlns:p14="http://schemas.microsoft.com/office/powerpoint/2010/main" val="320424548"/>
      </p:ext>
    </p:extLst>
  </p:cSld>
  <p:clrMapOvr>
    <a:masterClrMapping/>
  </p:clrMapOvr>
</p:sld>
</file>

<file path=ppt/slides/slide8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矩形 9">
            <a:extLst>
              <a:ext uri="{FF2B5EF4-FFF2-40B4-BE49-F238E27FC236}">
                <a16:creationId xmlns:a16="http://schemas.microsoft.com/office/drawing/2014/main" id="{0F9A3154-1F74-4934-86BF-473290258AAD}"/>
              </a:ext>
            </a:extLst>
          </p:cNvPr>
          <p:cNvSpPr>
            <a:spLocks noGrp="1"/>
          </p:cNvSpPr>
          <p:nvPr/>
        </p:nvSpPr>
        <p:spPr>
          <a:xfrm>
            <a:off x="609600" y="304800"/>
            <a:ext cx="10763250" cy="3810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650" b="1">
                <a:solidFill>
                  <a:srgbClr val="456675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650" b="1">
                <a:solidFill>
                  <a:srgbClr val="456675"/>
                </a:solidFill>
                <a:latin typeface="Microsoft JhengHei"/>
                <a:ea typeface="Microsoft JhengHei"/>
                <a:cs typeface="Microsoft JhengHei"/>
              </a:rPr>
              <a:t>W1-06   070–090 分鐘</a:t>
            </a:r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C221CFA0-FDF9-4D2E-9F6D-DDE9E078B73A}"/>
              </a:ext>
            </a:extLst>
          </p:cNvPr>
          <p:cNvSpPr>
            <a:spLocks noGrp="1"/>
          </p:cNvSpPr>
          <p:nvPr/>
        </p:nvSpPr>
        <p:spPr>
          <a:xfrm>
            <a:off x="609600" y="942975"/>
            <a:ext cx="10858500" cy="85725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3450" b="1">
                <a:solidFill>
                  <a:srgbClr val="17384C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3450" b="1">
                <a:solidFill>
                  <a:srgbClr val="17384C"/>
                </a:solidFill>
                <a:latin typeface="Microsoft JhengHei"/>
                <a:ea typeface="Microsoft JhengHei"/>
                <a:cs typeface="Microsoft JhengHei"/>
              </a:rPr>
              <a:t>資料型態與輸入</a:t>
            </a: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16A7BCFA-EFD4-4DF1-B23D-4BA5651E57A7}"/>
              </a:ext>
            </a:extLst>
          </p:cNvPr>
          <p:cNvSpPr>
            <a:spLocks noGrp="1"/>
          </p:cNvSpPr>
          <p:nvPr/>
        </p:nvSpPr>
        <p:spPr>
          <a:xfrm>
            <a:off x="647700" y="2190750"/>
            <a:ext cx="619125" cy="5715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2100" b="1">
                <a:solidFill>
                  <a:srgbClr val="078078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100" b="1">
                <a:solidFill>
                  <a:srgbClr val="078078"/>
                </a:solidFill>
                <a:latin typeface="Microsoft JhengHei"/>
                <a:ea typeface="Microsoft JhengHei"/>
                <a:cs typeface="Microsoft JhengHei"/>
              </a:rPr>
              <a:t>01</a:t>
            </a:r>
          </a:p>
        </p:txBody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98590C79-B670-42BE-BC67-8E3C284E14AB}"/>
              </a:ext>
            </a:extLst>
          </p:cNvPr>
          <p:cNvSpPr>
            <a:spLocks noGrp="1"/>
          </p:cNvSpPr>
          <p:nvPr/>
        </p:nvSpPr>
        <p:spPr>
          <a:xfrm>
            <a:off x="1476375" y="2133600"/>
            <a:ext cx="9620250" cy="9525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2550" b="0">
                <a:solidFill>
                  <a:srgbClr val="17384C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550" b="0">
                <a:solidFill>
                  <a:srgbClr val="17384C"/>
                </a:solidFill>
                <a:latin typeface="Microsoft JhengHei"/>
                <a:ea typeface="Microsoft JhengHei"/>
                <a:cs typeface="Microsoft JhengHei"/>
              </a:rPr>
              <a:t>int 整數，float 小數，str 文字</a:t>
            </a:r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FCEEE947-7D12-4FA2-96DD-F8BAF7B45465}"/>
              </a:ext>
            </a:extLst>
          </p:cNvPr>
          <p:cNvSpPr>
            <a:spLocks noGrp="1"/>
          </p:cNvSpPr>
          <p:nvPr/>
        </p:nvSpPr>
        <p:spPr>
          <a:xfrm>
            <a:off x="647700" y="3286125"/>
            <a:ext cx="619125" cy="5715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2100" b="1">
                <a:solidFill>
                  <a:srgbClr val="078078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100" b="1">
                <a:solidFill>
                  <a:srgbClr val="078078"/>
                </a:solidFill>
                <a:latin typeface="Microsoft JhengHei"/>
                <a:ea typeface="Microsoft JhengHei"/>
                <a:cs typeface="Microsoft JhengHei"/>
              </a:rPr>
              <a:t>02</a:t>
            </a:r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616440EA-B936-4329-A0B2-5DF58CD0DA79}"/>
              </a:ext>
            </a:extLst>
          </p:cNvPr>
          <p:cNvSpPr>
            <a:spLocks noGrp="1"/>
          </p:cNvSpPr>
          <p:nvPr/>
        </p:nvSpPr>
        <p:spPr>
          <a:xfrm>
            <a:off x="1476375" y="3228975"/>
            <a:ext cx="9620250" cy="9525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2550" b="0">
                <a:solidFill>
                  <a:srgbClr val="17384C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550" b="0">
                <a:solidFill>
                  <a:srgbClr val="17384C"/>
                </a:solidFill>
                <a:latin typeface="Microsoft JhengHei"/>
                <a:ea typeface="Microsoft JhengHei"/>
                <a:cs typeface="Microsoft JhengHei"/>
              </a:rPr>
              <a:t>input 回傳字串</a:t>
            </a:r>
          </a:p>
        </p:txBody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09A130C0-E668-4531-9AA2-85BD4C88CC46}"/>
              </a:ext>
            </a:extLst>
          </p:cNvPr>
          <p:cNvSpPr>
            <a:spLocks noGrp="1"/>
          </p:cNvSpPr>
          <p:nvPr/>
        </p:nvSpPr>
        <p:spPr>
          <a:xfrm>
            <a:off x="647700" y="4381500"/>
            <a:ext cx="619125" cy="5715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2100" b="1">
                <a:solidFill>
                  <a:srgbClr val="078078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100" b="1">
                <a:solidFill>
                  <a:srgbClr val="078078"/>
                </a:solidFill>
                <a:latin typeface="Microsoft JhengHei"/>
                <a:ea typeface="Microsoft JhengHei"/>
                <a:cs typeface="Microsoft JhengHei"/>
              </a:rPr>
              <a:t>03</a:t>
            </a: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6CBD308E-93C2-4408-B8EB-EDB0CEED1157}"/>
              </a:ext>
            </a:extLst>
          </p:cNvPr>
          <p:cNvSpPr>
            <a:spLocks noGrp="1"/>
          </p:cNvSpPr>
          <p:nvPr/>
        </p:nvSpPr>
        <p:spPr>
          <a:xfrm>
            <a:off x="1476375" y="4324350"/>
            <a:ext cx="9620250" cy="9525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2550" b="0">
                <a:solidFill>
                  <a:srgbClr val="17384C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550" b="0">
                <a:solidFill>
                  <a:srgbClr val="17384C"/>
                </a:solidFill>
                <a:latin typeface="Microsoft JhengHei"/>
                <a:ea typeface="Microsoft JhengHei"/>
                <a:cs typeface="Microsoft JhengHei"/>
              </a:rPr>
              <a:t>先確認輸入格式，再轉換型態</a:t>
            </a: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FAD88C01-927C-4EB9-ABBE-8452537DF2BA}"/>
              </a:ext>
            </a:extLst>
          </p:cNvPr>
          <p:cNvSpPr>
            <a:spLocks noGrp="1"/>
          </p:cNvSpPr>
          <p:nvPr/>
        </p:nvSpPr>
        <p:spPr>
          <a:xfrm>
            <a:off x="647700" y="5953125"/>
            <a:ext cx="10810875" cy="55245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575" b="0">
                <a:solidFill>
                  <a:srgbClr val="456675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575" b="0">
                <a:solidFill>
                  <a:srgbClr val="456675"/>
                </a:solidFill>
                <a:latin typeface="Microsoft JhengHei"/>
                <a:ea typeface="Microsoft JhengHei"/>
                <a:cs typeface="Microsoft JhengHei"/>
              </a:rPr>
              <a:t>本週作品：完成飲料訂單計算器，列出品項、杯數、總價與找零</a:t>
            </a:r>
          </a:p>
        </p:txBody>
      </p:sp>
    </p:spTree>
    <p:extLst>
      <p:ext uri="{BB962C8B-B14F-4D97-AF65-F5344CB8AC3E}">
        <p14:creationId xmlns:p14="http://schemas.microsoft.com/office/powerpoint/2010/main" val="128788118"/>
      </p:ext>
    </p:extLst>
  </p:cSld>
  <p:clrMapOvr>
    <a:masterClrMapping/>
  </p:clrMapOvr>
</p:sld>
</file>

<file path=ppt/slides/slide8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矩形 5">
            <a:extLst>
              <a:ext uri="{FF2B5EF4-FFF2-40B4-BE49-F238E27FC236}">
                <a16:creationId xmlns:a16="http://schemas.microsoft.com/office/drawing/2014/main" id="{FF35D09B-C1DB-4066-9FE7-D9B5F4E0181D}"/>
              </a:ext>
            </a:extLst>
          </p:cNvPr>
          <p:cNvSpPr>
            <a:spLocks noGrp="1"/>
          </p:cNvSpPr>
          <p:nvPr/>
        </p:nvSpPr>
        <p:spPr>
          <a:xfrm>
            <a:off x="609600" y="304800"/>
            <a:ext cx="10858500" cy="3810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650" b="1">
                <a:solidFill>
                  <a:srgbClr val="456675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650" b="1">
                <a:solidFill>
                  <a:srgbClr val="456675"/>
                </a:solidFill>
                <a:latin typeface="Microsoft JhengHei"/>
                <a:ea typeface="Microsoft JhengHei"/>
                <a:cs typeface="Microsoft JhengHei"/>
              </a:rPr>
              <a:t>W1-06   示範與練習  程式節錄</a:t>
            </a:r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CAF73787-557A-496A-ADDA-EEEB06458EAC}"/>
              </a:ext>
            </a:extLst>
          </p:cNvPr>
          <p:cNvSpPr>
            <a:spLocks noGrp="1"/>
          </p:cNvSpPr>
          <p:nvPr/>
        </p:nvSpPr>
        <p:spPr>
          <a:xfrm>
            <a:off x="609600" y="895350"/>
            <a:ext cx="10858500" cy="790575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3300" b="1">
                <a:solidFill>
                  <a:srgbClr val="17384C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3300" b="1">
                <a:solidFill>
                  <a:srgbClr val="17384C"/>
                </a:solidFill>
                <a:latin typeface="Microsoft JhengHei"/>
                <a:ea typeface="Microsoft JhengHei"/>
                <a:cs typeface="Microsoft JhengHei"/>
              </a:rPr>
              <a:t>資料型態與輸入</a:t>
            </a: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B4380F88-7EDA-419E-BBC6-CE89854D16F5}"/>
              </a:ext>
            </a:extLst>
          </p:cNvPr>
          <p:cNvSpPr>
            <a:spLocks noGrp="1"/>
          </p:cNvSpPr>
          <p:nvPr/>
        </p:nvSpPr>
        <p:spPr>
          <a:xfrm>
            <a:off x="685800" y="1914525"/>
            <a:ext cx="10477500" cy="295275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875" b="0">
                <a:solidFill>
                  <a:srgbClr val="155B70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875" b="0">
                <a:solidFill>
                  <a:srgbClr val="155B70"/>
                </a:solidFill>
                <a:latin typeface="Microsoft JhengHei"/>
                <a:ea typeface="Microsoft JhengHei"/>
                <a:cs typeface="Microsoft JhengHei"/>
              </a:rPr>
              <a:t>raw_quantity = "3"</a:t>
            </a:r>
          </a:p>
          <a:p>
            <a:pPr>
              <a:defRPr sz="1875" b="0">
                <a:solidFill>
                  <a:srgbClr val="155B70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875" b="0">
                <a:solidFill>
                  <a:srgbClr val="155B70"/>
                </a:solidFill>
                <a:latin typeface="Microsoft JhengHei"/>
                <a:ea typeface="Microsoft JhengHei"/>
                <a:cs typeface="Microsoft JhengHei"/>
              </a:rPr>
              <a:t>quantity = int(raw_quantity)</a:t>
            </a:r>
          </a:p>
          <a:p>
            <a:pPr>
              <a:defRPr sz="1875" b="0">
                <a:solidFill>
                  <a:srgbClr val="155B70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875" b="0">
                <a:solidFill>
                  <a:srgbClr val="155B70"/>
                </a:solidFill>
                <a:latin typeface="Microsoft JhengHei"/>
                <a:ea typeface="Microsoft JhengHei"/>
                <a:cs typeface="Microsoft JhengHei"/>
              </a:rPr>
              <a:t>print(type(raw_quantity).__name__, type(quantity).__name__)</a:t>
            </a:r>
          </a:p>
          <a:p>
            <a:pPr>
              <a:defRPr sz="1875" b="0">
                <a:solidFill>
                  <a:srgbClr val="155B70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875" b="0">
                <a:solidFill>
                  <a:srgbClr val="155B70"/>
                </a:solidFill>
                <a:latin typeface="Microsoft JhengHei"/>
                <a:ea typeface="Microsoft JhengHei"/>
                <a:cs typeface="Microsoft JhengHei"/>
              </a:rPr>
              <a:t>print("3" * 2, int("3") * 2)</a:t>
            </a:r>
          </a:p>
          <a:p>
            <a:pPr>
              <a:defRPr sz="1875" b="0">
                <a:solidFill>
                  <a:srgbClr val="155B70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875" b="0">
                <a:solidFill>
                  <a:srgbClr val="155B70"/>
                </a:solidFill>
                <a:latin typeface="Microsoft JhengHei"/>
                <a:ea typeface="Microsoft JhengHei"/>
                <a:cs typeface="Microsoft JhengHei"/>
              </a:rPr>
              <a:t>interactive = False</a:t>
            </a:r>
          </a:p>
          <a:p>
            <a:pPr>
              <a:defRPr sz="1875" b="0">
                <a:solidFill>
                  <a:srgbClr val="155B70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875" b="0">
                <a:solidFill>
                  <a:srgbClr val="155B70"/>
                </a:solidFill>
                <a:latin typeface="Microsoft JhengHei"/>
                <a:ea typeface="Microsoft JhengHei"/>
                <a:cs typeface="Microsoft JhengHei"/>
              </a:rPr>
              <a:t>if interactive:</a:t>
            </a:r>
          </a:p>
          <a:p>
            <a:pPr>
              <a:defRPr sz="1875" b="0">
                <a:solidFill>
                  <a:srgbClr val="155B70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875" b="0">
                <a:solidFill>
                  <a:srgbClr val="155B70"/>
                </a:solidFill>
                <a:latin typeface="Microsoft JhengHei"/>
                <a:ea typeface="Microsoft JhengHei"/>
                <a:cs typeface="Microsoft JhengHei"/>
              </a:rPr>
              <a:t>    quantity = int(input("杯數（整數）："))</a:t>
            </a:r>
          </a:p>
          <a:p>
            <a:pPr>
              <a:defRPr sz="1875" b="0">
                <a:solidFill>
                  <a:srgbClr val="155B70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875" b="0">
                <a:solidFill>
                  <a:srgbClr val="155B70"/>
                </a:solidFill>
                <a:latin typeface="Microsoft JhengHei"/>
                <a:ea typeface="Microsoft JhengHei"/>
                <a:cs typeface="Microsoft JhengHei"/>
              </a:rPr>
              <a:t>    print(quantity)</a:t>
            </a:r>
          </a:p>
        </p:txBody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7002D680-70C8-4B76-ADBA-1904DF102E5A}"/>
              </a:ext>
            </a:extLst>
          </p:cNvPr>
          <p:cNvSpPr>
            <a:spLocks noGrp="1"/>
          </p:cNvSpPr>
          <p:nvPr/>
        </p:nvSpPr>
        <p:spPr>
          <a:xfrm>
            <a:off x="685800" y="5095875"/>
            <a:ext cx="10572750" cy="89535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2100" b="0">
                <a:solidFill>
                  <a:srgbClr val="213547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100" b="0">
                <a:solidFill>
                  <a:srgbClr val="213547"/>
                </a:solidFill>
                <a:latin typeface="Microsoft JhengHei"/>
                <a:ea typeface="Microsoft JhengHei"/>
                <a:cs typeface="Microsoft JhengHei"/>
              </a:rPr>
              <a:t>把文字杯數改成"4"並轉型，接著比較"3" * 2與int("3") * 2。</a:t>
            </a:r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AA30318E-41D7-4EAB-99C0-47DE1911C7EF}"/>
              </a:ext>
            </a:extLst>
          </p:cNvPr>
          <p:cNvSpPr>
            <a:spLocks noGrp="1"/>
          </p:cNvSpPr>
          <p:nvPr/>
        </p:nvSpPr>
        <p:spPr>
          <a:xfrm>
            <a:off x="685800" y="6286500"/>
            <a:ext cx="10477500" cy="2667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500" b="0">
                <a:solidFill>
                  <a:srgbClr val="5D737F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500" b="0">
                <a:solidFill>
                  <a:srgbClr val="5D737F"/>
                </a:solidFill>
                <a:latin typeface="Microsoft JhengHei"/>
                <a:ea typeface="Microsoft JhengHei"/>
                <a:cs typeface="Microsoft JhengHei"/>
              </a:rPr>
              <a:t>完整程式與練習：Notebook W1-06</a:t>
            </a:r>
          </a:p>
        </p:txBody>
      </p:sp>
    </p:spTree>
    <p:extLst>
      <p:ext uri="{BB962C8B-B14F-4D97-AF65-F5344CB8AC3E}">
        <p14:creationId xmlns:p14="http://schemas.microsoft.com/office/powerpoint/2010/main" val="1987564635"/>
      </p:ext>
    </p:extLst>
  </p:cSld>
  <p:clrMapOvr>
    <a:masterClrMapping/>
  </p:clrMapOvr>
</p:sld>
</file>

<file path=ppt/slides/slide8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矩形 3">
            <a:extLst>
              <a:ext uri="{FF2B5EF4-FFF2-40B4-BE49-F238E27FC236}">
                <a16:creationId xmlns:a16="http://schemas.microsoft.com/office/drawing/2014/main" id="{8E654698-0327-4874-8DD3-CBA8C3ECFD12}"/>
              </a:ext>
            </a:extLst>
          </p:cNvPr>
          <p:cNvSpPr>
            <a:spLocks noGrp="1"/>
          </p:cNvSpPr>
          <p:nvPr/>
        </p:nvSpPr>
        <p:spPr>
          <a:xfrm>
            <a:off x="285750" y="161925"/>
            <a:ext cx="11572875" cy="3810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725" b="1">
                <a:solidFill>
                  <a:srgbClr val="17384C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725" b="1">
                <a:solidFill>
                  <a:srgbClr val="17384C"/>
                </a:solidFill>
                <a:latin typeface="Microsoft JhengHei"/>
                <a:ea typeface="Microsoft JhengHei"/>
                <a:cs typeface="Microsoft JhengHei"/>
              </a:rPr>
              <a:t>W1-06   原教材圖文對照</a:t>
            </a:r>
          </a:p>
        </p:txBody>
      </p:sp>
      <p:pic>
        <p:nvPicPr>
          <p:cNvPr id="5" name="圖片 4"/>
          <p:cNvPicPr>
            <a:picLocks noChangeAspect="1"/>
          </p:cNvPicPr>
          <p:nvPr/>
        </p:nvPicPr>
        <p:blipFill>
          <a:blip r:embed="rId3"/>
          <a:stretch/>
        </p:blipFill>
        <p:spPr>
          <a:xfrm>
            <a:off x="2163763" y="590550"/>
            <a:ext cx="7874000" cy="5905500"/>
          </a:xfrm>
          <a:prstGeom prst="rect">
            <a:avLst/>
          </a:prstGeom>
        </p:spPr>
      </p:pic>
      <p:sp>
        <p:nvSpPr>
          <p:cNvPr id="3" name="矩形 2">
            <a:extLst>
              <a:ext uri="{FF2B5EF4-FFF2-40B4-BE49-F238E27FC236}">
                <a16:creationId xmlns:a16="http://schemas.microsoft.com/office/drawing/2014/main" id="{DA04D8F7-125E-4EF7-BFC3-DABBD46AFDA4}"/>
              </a:ext>
            </a:extLst>
          </p:cNvPr>
          <p:cNvSpPr>
            <a:spLocks noGrp="1"/>
          </p:cNvSpPr>
          <p:nvPr/>
        </p:nvSpPr>
        <p:spPr>
          <a:xfrm>
            <a:off x="285750" y="6524625"/>
            <a:ext cx="11430000" cy="238125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275" b="0">
                <a:solidFill>
                  <a:srgbClr val="456675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275" b="0">
                <a:solidFill>
                  <a:srgbClr val="456675"/>
                </a:solidFill>
                <a:latin typeface="Microsoft JhengHei"/>
                <a:ea typeface="Microsoft JhengHei"/>
                <a:cs typeface="Microsoft JhengHei"/>
              </a:rPr>
              <a:t>CH03PPT.ppt 第 23 頁</a:t>
            </a:r>
          </a:p>
        </p:txBody>
      </p:sp>
    </p:spTree>
    <p:extLst>
      <p:ext uri="{BB962C8B-B14F-4D97-AF65-F5344CB8AC3E}">
        <p14:creationId xmlns:p14="http://schemas.microsoft.com/office/powerpoint/2010/main" val="1462962765"/>
      </p:ext>
    </p:extLst>
  </p:cSld>
  <p:clrMapOvr>
    <a:masterClrMapping/>
  </p:clrMapOvr>
</p:sld>
</file>

<file path=ppt/slides/slide8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矩形 9">
            <a:extLst>
              <a:ext uri="{FF2B5EF4-FFF2-40B4-BE49-F238E27FC236}">
                <a16:creationId xmlns:a16="http://schemas.microsoft.com/office/drawing/2014/main" id="{342576F3-D998-421A-88FF-7CB5D90AC87E}"/>
              </a:ext>
            </a:extLst>
          </p:cNvPr>
          <p:cNvSpPr>
            <a:spLocks noGrp="1"/>
          </p:cNvSpPr>
          <p:nvPr/>
        </p:nvSpPr>
        <p:spPr>
          <a:xfrm>
            <a:off x="609600" y="304800"/>
            <a:ext cx="10763250" cy="3810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650" b="1">
                <a:solidFill>
                  <a:srgbClr val="456675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650" b="1">
                <a:solidFill>
                  <a:srgbClr val="456675"/>
                </a:solidFill>
                <a:latin typeface="Microsoft JhengHei"/>
                <a:ea typeface="Microsoft JhengHei"/>
                <a:cs typeface="Microsoft JhengHei"/>
              </a:rPr>
              <a:t>W1-07   090–110 分鐘</a:t>
            </a:r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E83B7CB0-785D-4CFC-BDD3-225BB0006633}"/>
              </a:ext>
            </a:extLst>
          </p:cNvPr>
          <p:cNvSpPr>
            <a:spLocks noGrp="1"/>
          </p:cNvSpPr>
          <p:nvPr/>
        </p:nvSpPr>
        <p:spPr>
          <a:xfrm>
            <a:off x="609600" y="942975"/>
            <a:ext cx="10858500" cy="85725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3450" b="1">
                <a:solidFill>
                  <a:srgbClr val="17384C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3450" b="1">
                <a:solidFill>
                  <a:srgbClr val="17384C"/>
                </a:solidFill>
                <a:latin typeface="Microsoft JhengHei"/>
                <a:ea typeface="Microsoft JhengHei"/>
                <a:cs typeface="Microsoft JhengHei"/>
              </a:rPr>
              <a:t>運算與找零</a:t>
            </a: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CA5B494B-1A45-4457-B01C-AD2B197BABE5}"/>
              </a:ext>
            </a:extLst>
          </p:cNvPr>
          <p:cNvSpPr>
            <a:spLocks noGrp="1"/>
          </p:cNvSpPr>
          <p:nvPr/>
        </p:nvSpPr>
        <p:spPr>
          <a:xfrm>
            <a:off x="647700" y="2190750"/>
            <a:ext cx="619125" cy="5715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2100" b="1">
                <a:solidFill>
                  <a:srgbClr val="078078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100" b="1">
                <a:solidFill>
                  <a:srgbClr val="078078"/>
                </a:solidFill>
                <a:latin typeface="Microsoft JhengHei"/>
                <a:ea typeface="Microsoft JhengHei"/>
                <a:cs typeface="Microsoft JhengHei"/>
              </a:rPr>
              <a:t>01</a:t>
            </a:r>
          </a:p>
        </p:txBody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18B10496-FD4C-4F13-9DC1-BC5EFF5ED2C1}"/>
              </a:ext>
            </a:extLst>
          </p:cNvPr>
          <p:cNvSpPr>
            <a:spLocks noGrp="1"/>
          </p:cNvSpPr>
          <p:nvPr/>
        </p:nvSpPr>
        <p:spPr>
          <a:xfrm>
            <a:off x="1476375" y="2133600"/>
            <a:ext cx="9620250" cy="9525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2550" b="0">
                <a:solidFill>
                  <a:srgbClr val="17384C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550" b="0">
                <a:solidFill>
                  <a:srgbClr val="17384C"/>
                </a:solidFill>
                <a:latin typeface="Microsoft JhengHei"/>
                <a:ea typeface="Microsoft JhengHei"/>
                <a:cs typeface="Microsoft JhengHei"/>
              </a:rPr>
              <a:t>乘除先於加減</a:t>
            </a:r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C91EF134-DAFF-4468-96E1-436052B742B0}"/>
              </a:ext>
            </a:extLst>
          </p:cNvPr>
          <p:cNvSpPr>
            <a:spLocks noGrp="1"/>
          </p:cNvSpPr>
          <p:nvPr/>
        </p:nvSpPr>
        <p:spPr>
          <a:xfrm>
            <a:off x="647700" y="3286125"/>
            <a:ext cx="619125" cy="5715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2100" b="1">
                <a:solidFill>
                  <a:srgbClr val="078078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100" b="1">
                <a:solidFill>
                  <a:srgbClr val="078078"/>
                </a:solidFill>
                <a:latin typeface="Microsoft JhengHei"/>
                <a:ea typeface="Microsoft JhengHei"/>
                <a:cs typeface="Microsoft JhengHei"/>
              </a:rPr>
              <a:t>02</a:t>
            </a:r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3FE3CD00-BFAD-4B21-867E-9003534E9AAF}"/>
              </a:ext>
            </a:extLst>
          </p:cNvPr>
          <p:cNvSpPr>
            <a:spLocks noGrp="1"/>
          </p:cNvSpPr>
          <p:nvPr/>
        </p:nvSpPr>
        <p:spPr>
          <a:xfrm>
            <a:off x="1476375" y="3228975"/>
            <a:ext cx="9620250" cy="9525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2550" b="0">
                <a:solidFill>
                  <a:srgbClr val="17384C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550" b="0">
                <a:solidFill>
                  <a:srgbClr val="17384C"/>
                </a:solidFill>
                <a:latin typeface="Microsoft JhengHei"/>
                <a:ea typeface="Microsoft JhengHei"/>
                <a:cs typeface="Microsoft JhengHei"/>
              </a:rPr>
              <a:t>括號明確指定順序</a:t>
            </a:r>
          </a:p>
        </p:txBody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37C0C580-0E8D-486C-A419-8BE507DDCBED}"/>
              </a:ext>
            </a:extLst>
          </p:cNvPr>
          <p:cNvSpPr>
            <a:spLocks noGrp="1"/>
          </p:cNvSpPr>
          <p:nvPr/>
        </p:nvSpPr>
        <p:spPr>
          <a:xfrm>
            <a:off x="647700" y="4381500"/>
            <a:ext cx="619125" cy="5715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2100" b="1">
                <a:solidFill>
                  <a:srgbClr val="078078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100" b="1">
                <a:solidFill>
                  <a:srgbClr val="078078"/>
                </a:solidFill>
                <a:latin typeface="Microsoft JhengHei"/>
                <a:ea typeface="Microsoft JhengHei"/>
                <a:cs typeface="Microsoft JhengHei"/>
              </a:rPr>
              <a:t>03</a:t>
            </a: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273C0C23-8164-4C66-AF24-15447B73E9A3}"/>
              </a:ext>
            </a:extLst>
          </p:cNvPr>
          <p:cNvSpPr>
            <a:spLocks noGrp="1"/>
          </p:cNvSpPr>
          <p:nvPr/>
        </p:nvSpPr>
        <p:spPr>
          <a:xfrm>
            <a:off x="1476375" y="4324350"/>
            <a:ext cx="9620250" cy="9525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2550" b="0">
                <a:solidFill>
                  <a:srgbClr val="17384C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550" b="0">
                <a:solidFill>
                  <a:srgbClr val="17384C"/>
                </a:solidFill>
                <a:latin typeface="Microsoft JhengHei"/>
                <a:ea typeface="Microsoft JhengHei"/>
                <a:cs typeface="Microsoft JhengHei"/>
              </a:rPr>
              <a:t>// 求整數商，% 求餘數</a:t>
            </a: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C4639315-7164-4D12-9DF7-0FB36090AA24}"/>
              </a:ext>
            </a:extLst>
          </p:cNvPr>
          <p:cNvSpPr>
            <a:spLocks noGrp="1"/>
          </p:cNvSpPr>
          <p:nvPr/>
        </p:nvSpPr>
        <p:spPr>
          <a:xfrm>
            <a:off x="647700" y="5953125"/>
            <a:ext cx="10810875" cy="55245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575" b="0">
                <a:solidFill>
                  <a:srgbClr val="456675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575" b="0">
                <a:solidFill>
                  <a:srgbClr val="456675"/>
                </a:solidFill>
                <a:latin typeface="Microsoft JhengHei"/>
                <a:ea typeface="Microsoft JhengHei"/>
                <a:cs typeface="Microsoft JhengHei"/>
              </a:rPr>
              <a:t>本週作品：完成飲料訂單計算器，列出品項、杯數、總價與找零</a:t>
            </a:r>
          </a:p>
        </p:txBody>
      </p:sp>
    </p:spTree>
    <p:extLst>
      <p:ext uri="{BB962C8B-B14F-4D97-AF65-F5344CB8AC3E}">
        <p14:creationId xmlns:p14="http://schemas.microsoft.com/office/powerpoint/2010/main" val="1708621776"/>
      </p:ext>
    </p:extLst>
  </p:cSld>
  <p:clrMapOvr>
    <a:masterClrMapping/>
  </p:clrMapOvr>
</p:sld>
</file>

<file path=ppt/slides/slide8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矩形 5">
            <a:extLst>
              <a:ext uri="{FF2B5EF4-FFF2-40B4-BE49-F238E27FC236}">
                <a16:creationId xmlns:a16="http://schemas.microsoft.com/office/drawing/2014/main" id="{95F9F030-690A-4C5A-ABFA-72C6D24A3387}"/>
              </a:ext>
            </a:extLst>
          </p:cNvPr>
          <p:cNvSpPr>
            <a:spLocks noGrp="1"/>
          </p:cNvSpPr>
          <p:nvPr/>
        </p:nvSpPr>
        <p:spPr>
          <a:xfrm>
            <a:off x="609600" y="304800"/>
            <a:ext cx="10858500" cy="3810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650" b="1">
                <a:solidFill>
                  <a:srgbClr val="456675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650" b="1">
                <a:solidFill>
                  <a:srgbClr val="456675"/>
                </a:solidFill>
                <a:latin typeface="Microsoft JhengHei"/>
                <a:ea typeface="Microsoft JhengHei"/>
                <a:cs typeface="Microsoft JhengHei"/>
              </a:rPr>
              <a:t>W1-07   示範與練習  程式節錄</a:t>
            </a:r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1C9921AE-D0B3-464E-B3F9-58C138EC46AB}"/>
              </a:ext>
            </a:extLst>
          </p:cNvPr>
          <p:cNvSpPr>
            <a:spLocks noGrp="1"/>
          </p:cNvSpPr>
          <p:nvPr/>
        </p:nvSpPr>
        <p:spPr>
          <a:xfrm>
            <a:off x="609600" y="895350"/>
            <a:ext cx="10858500" cy="790575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3300" b="1">
                <a:solidFill>
                  <a:srgbClr val="17384C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3300" b="1">
                <a:solidFill>
                  <a:srgbClr val="17384C"/>
                </a:solidFill>
                <a:latin typeface="Microsoft JhengHei"/>
                <a:ea typeface="Microsoft JhengHei"/>
                <a:cs typeface="Microsoft JhengHei"/>
              </a:rPr>
              <a:t>運算與找零</a:t>
            </a: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D62054FE-CF6B-4EAD-9468-4E57E68E7B0C}"/>
              </a:ext>
            </a:extLst>
          </p:cNvPr>
          <p:cNvSpPr>
            <a:spLocks noGrp="1"/>
          </p:cNvSpPr>
          <p:nvPr/>
        </p:nvSpPr>
        <p:spPr>
          <a:xfrm>
            <a:off x="685800" y="1914525"/>
            <a:ext cx="10477500" cy="295275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875" b="0">
                <a:solidFill>
                  <a:srgbClr val="155B70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875" b="0">
                <a:solidFill>
                  <a:srgbClr val="155B70"/>
                </a:solidFill>
                <a:latin typeface="Microsoft JhengHei"/>
                <a:ea typeface="Microsoft JhengHei"/>
                <a:cs typeface="Microsoft JhengHei"/>
              </a:rPr>
              <a:t>total = 35 * 3</a:t>
            </a:r>
          </a:p>
          <a:p>
            <a:pPr>
              <a:defRPr sz="1875" b="0">
                <a:solidFill>
                  <a:srgbClr val="155B70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875" b="0">
                <a:solidFill>
                  <a:srgbClr val="155B70"/>
                </a:solidFill>
                <a:latin typeface="Microsoft JhengHei"/>
                <a:ea typeface="Microsoft JhengHei"/>
                <a:cs typeface="Microsoft JhengHei"/>
              </a:rPr>
              <a:t>change = 200 - total</a:t>
            </a:r>
          </a:p>
          <a:p>
            <a:pPr>
              <a:defRPr sz="1875" b="0">
                <a:solidFill>
                  <a:srgbClr val="155B70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875" b="0">
                <a:solidFill>
                  <a:srgbClr val="155B70"/>
                </a:solidFill>
                <a:latin typeface="Microsoft JhengHei"/>
                <a:ea typeface="Microsoft JhengHei"/>
                <a:cs typeface="Microsoft JhengHei"/>
              </a:rPr>
              <a:t>print("總價", total, "找零", change)</a:t>
            </a:r>
          </a:p>
          <a:p>
            <a:pPr>
              <a:defRPr sz="1875" b="0">
                <a:solidFill>
                  <a:srgbClr val="155B70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875" b="0">
                <a:solidFill>
                  <a:srgbClr val="155B70"/>
                </a:solidFill>
                <a:latin typeface="Microsoft JhengHei"/>
                <a:ea typeface="Microsoft JhengHei"/>
                <a:cs typeface="Microsoft JhengHei"/>
              </a:rPr>
              <a:t>print("整袋", 10 // 3, "剩餘", 10 % 3)</a:t>
            </a:r>
          </a:p>
        </p:txBody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032DF4B9-7111-4409-853F-910683BC3D0C}"/>
              </a:ext>
            </a:extLst>
          </p:cNvPr>
          <p:cNvSpPr>
            <a:spLocks noGrp="1"/>
          </p:cNvSpPr>
          <p:nvPr/>
        </p:nvSpPr>
        <p:spPr>
          <a:xfrm>
            <a:off x="685800" y="5095875"/>
            <a:ext cx="10572750" cy="89535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2100" b="0">
                <a:solidFill>
                  <a:srgbClr val="213547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100" b="0">
                <a:solidFill>
                  <a:srgbClr val="213547"/>
                </a:solidFill>
                <a:latin typeface="Microsoft JhengHei"/>
                <a:ea typeface="Microsoft JhengHei"/>
                <a:cs typeface="Microsoft JhengHei"/>
              </a:rPr>
              <a:t>計算5杯每杯30元，付200元的找零。再算17顆糖每袋5顆的袋數與剩餘。</a:t>
            </a:r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98079042-CC7D-43D9-A216-6D7632EE3A4E}"/>
              </a:ext>
            </a:extLst>
          </p:cNvPr>
          <p:cNvSpPr>
            <a:spLocks noGrp="1"/>
          </p:cNvSpPr>
          <p:nvPr/>
        </p:nvSpPr>
        <p:spPr>
          <a:xfrm>
            <a:off x="685800" y="6286500"/>
            <a:ext cx="10477500" cy="2667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500" b="0">
                <a:solidFill>
                  <a:srgbClr val="5D737F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500" b="0">
                <a:solidFill>
                  <a:srgbClr val="5D737F"/>
                </a:solidFill>
                <a:latin typeface="Microsoft JhengHei"/>
                <a:ea typeface="Microsoft JhengHei"/>
                <a:cs typeface="Microsoft JhengHei"/>
              </a:rPr>
              <a:t>完整程式與練習：Notebook W1-07</a:t>
            </a:r>
          </a:p>
        </p:txBody>
      </p:sp>
    </p:spTree>
    <p:extLst>
      <p:ext uri="{BB962C8B-B14F-4D97-AF65-F5344CB8AC3E}">
        <p14:creationId xmlns:p14="http://schemas.microsoft.com/office/powerpoint/2010/main" val="1837394236"/>
      </p:ext>
    </p:extLst>
  </p:cSld>
  <p:clrMapOvr>
    <a:masterClrMapping/>
  </p:clrMapOvr>
</p:sld>
</file>

<file path=ppt/slides/slide8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矩形 9">
            <a:extLst>
              <a:ext uri="{FF2B5EF4-FFF2-40B4-BE49-F238E27FC236}">
                <a16:creationId xmlns:a16="http://schemas.microsoft.com/office/drawing/2014/main" id="{6A9920E7-6AF5-4F17-BBA3-1CA51B5D9A79}"/>
              </a:ext>
            </a:extLst>
          </p:cNvPr>
          <p:cNvSpPr>
            <a:spLocks noGrp="1"/>
          </p:cNvSpPr>
          <p:nvPr/>
        </p:nvSpPr>
        <p:spPr>
          <a:xfrm>
            <a:off x="609600" y="304800"/>
            <a:ext cx="10763250" cy="3810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650" b="1">
                <a:solidFill>
                  <a:srgbClr val="456675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650" b="1">
                <a:solidFill>
                  <a:srgbClr val="456675"/>
                </a:solidFill>
                <a:latin typeface="Microsoft JhengHei"/>
                <a:ea typeface="Microsoft JhengHei"/>
                <a:cs typeface="Microsoft JhengHei"/>
              </a:rPr>
              <a:t>W1-08   110–125 分鐘</a:t>
            </a:r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EC1F7E71-87DB-4C3E-B358-48FC969FCF54}"/>
              </a:ext>
            </a:extLst>
          </p:cNvPr>
          <p:cNvSpPr>
            <a:spLocks noGrp="1"/>
          </p:cNvSpPr>
          <p:nvPr/>
        </p:nvSpPr>
        <p:spPr>
          <a:xfrm>
            <a:off x="609600" y="942975"/>
            <a:ext cx="10858500" cy="85725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3450" b="1">
                <a:solidFill>
                  <a:srgbClr val="17384C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3450" b="1">
                <a:solidFill>
                  <a:srgbClr val="17384C"/>
                </a:solidFill>
                <a:latin typeface="Microsoft JhengHei"/>
                <a:ea typeface="Microsoft JhengHei"/>
                <a:cs typeface="Microsoft JhengHei"/>
              </a:rPr>
              <a:t>讀懂錯誤訊息</a:t>
            </a: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BB76E96A-3823-4EC6-9BD5-731CD8F77F7A}"/>
              </a:ext>
            </a:extLst>
          </p:cNvPr>
          <p:cNvSpPr>
            <a:spLocks noGrp="1"/>
          </p:cNvSpPr>
          <p:nvPr/>
        </p:nvSpPr>
        <p:spPr>
          <a:xfrm>
            <a:off x="647700" y="2190750"/>
            <a:ext cx="619125" cy="5715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2100" b="1">
                <a:solidFill>
                  <a:srgbClr val="078078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100" b="1">
                <a:solidFill>
                  <a:srgbClr val="078078"/>
                </a:solidFill>
                <a:latin typeface="Microsoft JhengHei"/>
                <a:ea typeface="Microsoft JhengHei"/>
                <a:cs typeface="Microsoft JhengHei"/>
              </a:rPr>
              <a:t>01</a:t>
            </a:r>
          </a:p>
        </p:txBody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F31F0030-DEE7-4C55-BE58-CB7553A1656B}"/>
              </a:ext>
            </a:extLst>
          </p:cNvPr>
          <p:cNvSpPr>
            <a:spLocks noGrp="1"/>
          </p:cNvSpPr>
          <p:nvPr/>
        </p:nvSpPr>
        <p:spPr>
          <a:xfrm>
            <a:off x="1476375" y="2133600"/>
            <a:ext cx="9620250" cy="9525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2550" b="0">
                <a:solidFill>
                  <a:srgbClr val="17384C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550" b="0">
                <a:solidFill>
                  <a:srgbClr val="17384C"/>
                </a:solidFill>
                <a:latin typeface="Microsoft JhengHei"/>
                <a:ea typeface="Microsoft JhengHei"/>
                <a:cs typeface="Microsoft JhengHei"/>
              </a:rPr>
              <a:t>由錯誤最後一行看種類</a:t>
            </a:r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D1B40CB8-07F0-40A6-949B-98F936560491}"/>
              </a:ext>
            </a:extLst>
          </p:cNvPr>
          <p:cNvSpPr>
            <a:spLocks noGrp="1"/>
          </p:cNvSpPr>
          <p:nvPr/>
        </p:nvSpPr>
        <p:spPr>
          <a:xfrm>
            <a:off x="647700" y="3286125"/>
            <a:ext cx="619125" cy="5715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2100" b="1">
                <a:solidFill>
                  <a:srgbClr val="078078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100" b="1">
                <a:solidFill>
                  <a:srgbClr val="078078"/>
                </a:solidFill>
                <a:latin typeface="Microsoft JhengHei"/>
                <a:ea typeface="Microsoft JhengHei"/>
                <a:cs typeface="Microsoft JhengHei"/>
              </a:rPr>
              <a:t>02</a:t>
            </a:r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23EDE237-DA10-4765-8622-FCC62E9CD3E8}"/>
              </a:ext>
            </a:extLst>
          </p:cNvPr>
          <p:cNvSpPr>
            <a:spLocks noGrp="1"/>
          </p:cNvSpPr>
          <p:nvPr/>
        </p:nvSpPr>
        <p:spPr>
          <a:xfrm>
            <a:off x="1476375" y="3228975"/>
            <a:ext cx="9620250" cy="9525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2550" b="0">
                <a:solidFill>
                  <a:srgbClr val="17384C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550" b="0">
                <a:solidFill>
                  <a:srgbClr val="17384C"/>
                </a:solidFill>
                <a:latin typeface="Microsoft JhengHei"/>
                <a:ea typeface="Microsoft JhengHei"/>
                <a:cs typeface="Microsoft JhengHei"/>
              </a:rPr>
              <a:t>NameError 常是名稱尚未定義</a:t>
            </a:r>
          </a:p>
        </p:txBody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493A32A5-5905-4A31-8C34-8AF92A15F4A0}"/>
              </a:ext>
            </a:extLst>
          </p:cNvPr>
          <p:cNvSpPr>
            <a:spLocks noGrp="1"/>
          </p:cNvSpPr>
          <p:nvPr/>
        </p:nvSpPr>
        <p:spPr>
          <a:xfrm>
            <a:off x="647700" y="4381500"/>
            <a:ext cx="619125" cy="5715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2100" b="1">
                <a:solidFill>
                  <a:srgbClr val="078078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100" b="1">
                <a:solidFill>
                  <a:srgbClr val="078078"/>
                </a:solidFill>
                <a:latin typeface="Microsoft JhengHei"/>
                <a:ea typeface="Microsoft JhengHei"/>
                <a:cs typeface="Microsoft JhengHei"/>
              </a:rPr>
              <a:t>03</a:t>
            </a: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50931AC8-A7C8-4A85-953E-93122E2B224E}"/>
              </a:ext>
            </a:extLst>
          </p:cNvPr>
          <p:cNvSpPr>
            <a:spLocks noGrp="1"/>
          </p:cNvSpPr>
          <p:nvPr/>
        </p:nvSpPr>
        <p:spPr>
          <a:xfrm>
            <a:off x="1476375" y="4324350"/>
            <a:ext cx="9620250" cy="9525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2550" b="0">
                <a:solidFill>
                  <a:srgbClr val="17384C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550" b="0">
                <a:solidFill>
                  <a:srgbClr val="17384C"/>
                </a:solidFill>
                <a:latin typeface="Microsoft JhengHei"/>
                <a:ea typeface="Microsoft JhengHei"/>
                <a:cs typeface="Microsoft JhengHei"/>
              </a:rPr>
              <a:t>每次只修改一個地方</a:t>
            </a: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044E77CC-16F9-47CE-A948-8C68B263416C}"/>
              </a:ext>
            </a:extLst>
          </p:cNvPr>
          <p:cNvSpPr>
            <a:spLocks noGrp="1"/>
          </p:cNvSpPr>
          <p:nvPr/>
        </p:nvSpPr>
        <p:spPr>
          <a:xfrm>
            <a:off x="647700" y="5953125"/>
            <a:ext cx="10810875" cy="55245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575" b="0">
                <a:solidFill>
                  <a:srgbClr val="456675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575" b="0">
                <a:solidFill>
                  <a:srgbClr val="456675"/>
                </a:solidFill>
                <a:latin typeface="Microsoft JhengHei"/>
                <a:ea typeface="Microsoft JhengHei"/>
                <a:cs typeface="Microsoft JhengHei"/>
              </a:rPr>
              <a:t>本週作品：完成飲料訂單計算器，列出品項、杯數、總價與找零</a:t>
            </a:r>
          </a:p>
        </p:txBody>
      </p:sp>
    </p:spTree>
    <p:extLst>
      <p:ext uri="{BB962C8B-B14F-4D97-AF65-F5344CB8AC3E}">
        <p14:creationId xmlns:p14="http://schemas.microsoft.com/office/powerpoint/2010/main" val="932634239"/>
      </p:ext>
    </p:extLst>
  </p:cSld>
  <p:clrMapOvr>
    <a:masterClrMapping/>
  </p:clrMapOvr>
</p:sld>
</file>

<file path=ppt/slides/slide8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矩形 5">
            <a:extLst>
              <a:ext uri="{FF2B5EF4-FFF2-40B4-BE49-F238E27FC236}">
                <a16:creationId xmlns:a16="http://schemas.microsoft.com/office/drawing/2014/main" id="{CDC53C36-9C48-4468-99AD-FC15A20F7E1C}"/>
              </a:ext>
            </a:extLst>
          </p:cNvPr>
          <p:cNvSpPr>
            <a:spLocks noGrp="1"/>
          </p:cNvSpPr>
          <p:nvPr/>
        </p:nvSpPr>
        <p:spPr>
          <a:xfrm>
            <a:off x="609600" y="304800"/>
            <a:ext cx="10858500" cy="3810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650" b="1">
                <a:solidFill>
                  <a:srgbClr val="456675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650" b="1">
                <a:solidFill>
                  <a:srgbClr val="456675"/>
                </a:solidFill>
                <a:latin typeface="Microsoft JhengHei"/>
                <a:ea typeface="Microsoft JhengHei"/>
                <a:cs typeface="Microsoft JhengHei"/>
              </a:rPr>
              <a:t>W1-08   示範與練習  程式節錄</a:t>
            </a:r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BF94C90A-B46C-4D85-987B-DE934E8CF82B}"/>
              </a:ext>
            </a:extLst>
          </p:cNvPr>
          <p:cNvSpPr>
            <a:spLocks noGrp="1"/>
          </p:cNvSpPr>
          <p:nvPr/>
        </p:nvSpPr>
        <p:spPr>
          <a:xfrm>
            <a:off x="609600" y="895350"/>
            <a:ext cx="10858500" cy="790575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3300" b="1">
                <a:solidFill>
                  <a:srgbClr val="17384C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3300" b="1">
                <a:solidFill>
                  <a:srgbClr val="17384C"/>
                </a:solidFill>
                <a:latin typeface="Microsoft JhengHei"/>
                <a:ea typeface="Microsoft JhengHei"/>
                <a:cs typeface="Microsoft JhengHei"/>
              </a:rPr>
              <a:t>讀懂錯誤訊息</a:t>
            </a: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D82A5405-D198-4593-993E-3864EE8170C1}"/>
              </a:ext>
            </a:extLst>
          </p:cNvPr>
          <p:cNvSpPr>
            <a:spLocks noGrp="1"/>
          </p:cNvSpPr>
          <p:nvPr/>
        </p:nvSpPr>
        <p:spPr>
          <a:xfrm>
            <a:off x="685800" y="1914525"/>
            <a:ext cx="10477500" cy="295275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875" b="0">
                <a:solidFill>
                  <a:srgbClr val="155B70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875" b="0">
                <a:solidFill>
                  <a:srgbClr val="155B70"/>
                </a:solidFill>
                <a:latin typeface="Microsoft JhengHei"/>
                <a:ea typeface="Microsoft JhengHei"/>
                <a:cs typeface="Microsoft JhengHei"/>
              </a:rPr>
              <a:t>price = 35</a:t>
            </a:r>
          </a:p>
          <a:p>
            <a:pPr>
              <a:defRPr sz="1875" b="0">
                <a:solidFill>
                  <a:srgbClr val="155B70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875" b="0">
                <a:solidFill>
                  <a:srgbClr val="155B70"/>
                </a:solidFill>
                <a:latin typeface="Microsoft JhengHei"/>
                <a:ea typeface="Microsoft JhengHei"/>
                <a:cs typeface="Microsoft JhengHei"/>
              </a:rPr>
              <a:t>print("總價", price * 3)</a:t>
            </a:r>
          </a:p>
        </p:txBody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711D4F5E-BF58-420E-88D4-A879C424EA61}"/>
              </a:ext>
            </a:extLst>
          </p:cNvPr>
          <p:cNvSpPr>
            <a:spLocks noGrp="1"/>
          </p:cNvSpPr>
          <p:nvPr/>
        </p:nvSpPr>
        <p:spPr>
          <a:xfrm>
            <a:off x="685800" y="5095875"/>
            <a:ext cx="10572750" cy="89535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2100" b="0">
                <a:solidFill>
                  <a:srgbClr val="213547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100" b="0">
                <a:solidFill>
                  <a:srgbClr val="213547"/>
                </a:solidFill>
                <a:latin typeface="Microsoft JhengHei"/>
                <a:ea typeface="Microsoft JhengHei"/>
                <a:cs typeface="Microsoft JhengHei"/>
              </a:rPr>
              <a:t>修正prcie拼字與"總價" + 105的混用。說出錯誤種類與修正理由。</a:t>
            </a:r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D2D777EC-BB45-4F29-BAB6-DDB851042D47}"/>
              </a:ext>
            </a:extLst>
          </p:cNvPr>
          <p:cNvSpPr>
            <a:spLocks noGrp="1"/>
          </p:cNvSpPr>
          <p:nvPr/>
        </p:nvSpPr>
        <p:spPr>
          <a:xfrm>
            <a:off x="685800" y="6286500"/>
            <a:ext cx="10477500" cy="2667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500" b="0">
                <a:solidFill>
                  <a:srgbClr val="5D737F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500" b="0">
                <a:solidFill>
                  <a:srgbClr val="5D737F"/>
                </a:solidFill>
                <a:latin typeface="Microsoft JhengHei"/>
                <a:ea typeface="Microsoft JhengHei"/>
                <a:cs typeface="Microsoft JhengHei"/>
              </a:rPr>
              <a:t>完整程式與練習：Notebook W1-08</a:t>
            </a:r>
          </a:p>
        </p:txBody>
      </p:sp>
    </p:spTree>
    <p:extLst>
      <p:ext uri="{BB962C8B-B14F-4D97-AF65-F5344CB8AC3E}">
        <p14:creationId xmlns:p14="http://schemas.microsoft.com/office/powerpoint/2010/main" val="815989461"/>
      </p:ext>
    </p:extLst>
  </p:cSld>
  <p:clrMapOvr>
    <a:masterClrMapping/>
  </p:clrMapOvr>
</p:sld>
</file>

<file path=ppt/slides/slide8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矩形 9">
            <a:extLst>
              <a:ext uri="{FF2B5EF4-FFF2-40B4-BE49-F238E27FC236}">
                <a16:creationId xmlns:a16="http://schemas.microsoft.com/office/drawing/2014/main" id="{B5A35928-96A7-46E0-9C1F-27211166B8DC}"/>
              </a:ext>
            </a:extLst>
          </p:cNvPr>
          <p:cNvSpPr>
            <a:spLocks noGrp="1"/>
          </p:cNvSpPr>
          <p:nvPr/>
        </p:nvSpPr>
        <p:spPr>
          <a:xfrm>
            <a:off x="609600" y="304800"/>
            <a:ext cx="10763250" cy="3810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650" b="1">
                <a:solidFill>
                  <a:srgbClr val="456675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650" b="1">
                <a:solidFill>
                  <a:srgbClr val="456675"/>
                </a:solidFill>
                <a:latin typeface="Microsoft JhengHei"/>
                <a:ea typeface="Microsoft JhengHei"/>
                <a:cs typeface="Microsoft JhengHei"/>
              </a:rPr>
              <a:t>W1-09   125–140 分鐘</a:t>
            </a:r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C761D620-12A4-40FF-B364-8CC074ECEA84}"/>
              </a:ext>
            </a:extLst>
          </p:cNvPr>
          <p:cNvSpPr>
            <a:spLocks noGrp="1"/>
          </p:cNvSpPr>
          <p:nvPr/>
        </p:nvSpPr>
        <p:spPr>
          <a:xfrm>
            <a:off x="609600" y="942975"/>
            <a:ext cx="10858500" cy="85725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3450" b="1">
                <a:solidFill>
                  <a:srgbClr val="17384C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3450" b="1">
                <a:solidFill>
                  <a:srgbClr val="17384C"/>
                </a:solidFill>
                <a:latin typeface="Microsoft JhengHei"/>
                <a:ea typeface="Microsoft JhengHei"/>
                <a:cs typeface="Microsoft JhengHei"/>
              </a:rPr>
              <a:t>有格式的訂單</a:t>
            </a: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11E0B4B1-BC50-4A2E-8424-109B0EE0CF88}"/>
              </a:ext>
            </a:extLst>
          </p:cNvPr>
          <p:cNvSpPr>
            <a:spLocks noGrp="1"/>
          </p:cNvSpPr>
          <p:nvPr/>
        </p:nvSpPr>
        <p:spPr>
          <a:xfrm>
            <a:off x="647700" y="2190750"/>
            <a:ext cx="619125" cy="5715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2100" b="1">
                <a:solidFill>
                  <a:srgbClr val="078078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100" b="1">
                <a:solidFill>
                  <a:srgbClr val="078078"/>
                </a:solidFill>
                <a:latin typeface="Microsoft JhengHei"/>
                <a:ea typeface="Microsoft JhengHei"/>
                <a:cs typeface="Microsoft JhengHei"/>
              </a:rPr>
              <a:t>01</a:t>
            </a:r>
          </a:p>
        </p:txBody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7C72290A-23D0-4337-B204-A1143BED7016}"/>
              </a:ext>
            </a:extLst>
          </p:cNvPr>
          <p:cNvSpPr>
            <a:spLocks noGrp="1"/>
          </p:cNvSpPr>
          <p:nvPr/>
        </p:nvSpPr>
        <p:spPr>
          <a:xfrm>
            <a:off x="1476375" y="2133600"/>
            <a:ext cx="9620250" cy="9525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2550" b="0">
                <a:solidFill>
                  <a:srgbClr val="17384C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550" b="0">
                <a:solidFill>
                  <a:srgbClr val="17384C"/>
                </a:solidFill>
                <a:latin typeface="Microsoft JhengHei"/>
                <a:ea typeface="Microsoft JhengHei"/>
                <a:cs typeface="Microsoft JhengHei"/>
              </a:rPr>
              <a:t>f 字串把變數放進大括號</a:t>
            </a:r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3788CD21-B0ED-4810-882D-7D45B35719B1}"/>
              </a:ext>
            </a:extLst>
          </p:cNvPr>
          <p:cNvSpPr>
            <a:spLocks noGrp="1"/>
          </p:cNvSpPr>
          <p:nvPr/>
        </p:nvSpPr>
        <p:spPr>
          <a:xfrm>
            <a:off x="647700" y="3286125"/>
            <a:ext cx="619125" cy="5715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2100" b="1">
                <a:solidFill>
                  <a:srgbClr val="078078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100" b="1">
                <a:solidFill>
                  <a:srgbClr val="078078"/>
                </a:solidFill>
                <a:latin typeface="Microsoft JhengHei"/>
                <a:ea typeface="Microsoft JhengHei"/>
                <a:cs typeface="Microsoft JhengHei"/>
              </a:rPr>
              <a:t>02</a:t>
            </a:r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73FD6F51-7131-4410-B896-84097A4E4C92}"/>
              </a:ext>
            </a:extLst>
          </p:cNvPr>
          <p:cNvSpPr>
            <a:spLocks noGrp="1"/>
          </p:cNvSpPr>
          <p:nvPr/>
        </p:nvSpPr>
        <p:spPr>
          <a:xfrm>
            <a:off x="1476375" y="3228975"/>
            <a:ext cx="9620250" cy="9525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2550" b="0">
                <a:solidFill>
                  <a:srgbClr val="17384C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550" b="0">
                <a:solidFill>
                  <a:srgbClr val="17384C"/>
                </a:solidFill>
                <a:latin typeface="Microsoft JhengHei"/>
                <a:ea typeface="Microsoft JhengHei"/>
                <a:cs typeface="Microsoft JhengHei"/>
              </a:rPr>
              <a:t>小數位數可用 :.2f</a:t>
            </a:r>
          </a:p>
        </p:txBody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1B7E849C-009D-4499-9A21-8BEBC0D07140}"/>
              </a:ext>
            </a:extLst>
          </p:cNvPr>
          <p:cNvSpPr>
            <a:spLocks noGrp="1"/>
          </p:cNvSpPr>
          <p:nvPr/>
        </p:nvSpPr>
        <p:spPr>
          <a:xfrm>
            <a:off x="647700" y="4381500"/>
            <a:ext cx="619125" cy="5715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2100" b="1">
                <a:solidFill>
                  <a:srgbClr val="078078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100" b="1">
                <a:solidFill>
                  <a:srgbClr val="078078"/>
                </a:solidFill>
                <a:latin typeface="Microsoft JhengHei"/>
                <a:ea typeface="Microsoft JhengHei"/>
                <a:cs typeface="Microsoft JhengHei"/>
              </a:rPr>
              <a:t>03</a:t>
            </a: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9B2CA953-1520-4CAF-9E66-DB3FD6039604}"/>
              </a:ext>
            </a:extLst>
          </p:cNvPr>
          <p:cNvSpPr>
            <a:spLocks noGrp="1"/>
          </p:cNvSpPr>
          <p:nvPr/>
        </p:nvSpPr>
        <p:spPr>
          <a:xfrm>
            <a:off x="1476375" y="4324350"/>
            <a:ext cx="9620250" cy="9525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2550" b="0">
                <a:solidFill>
                  <a:srgbClr val="17384C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550" b="0">
                <a:solidFill>
                  <a:srgbClr val="17384C"/>
                </a:solidFill>
                <a:latin typeface="Microsoft JhengHei"/>
                <a:ea typeface="Microsoft JhengHei"/>
                <a:cs typeface="Microsoft JhengHei"/>
              </a:rPr>
              <a:t>輸出應包含單位與標籤</a:t>
            </a: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531406D5-316D-45B5-BBFB-C6DC5D3E5809}"/>
              </a:ext>
            </a:extLst>
          </p:cNvPr>
          <p:cNvSpPr>
            <a:spLocks noGrp="1"/>
          </p:cNvSpPr>
          <p:nvPr/>
        </p:nvSpPr>
        <p:spPr>
          <a:xfrm>
            <a:off x="647700" y="5953125"/>
            <a:ext cx="10810875" cy="55245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575" b="0">
                <a:solidFill>
                  <a:srgbClr val="456675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575" b="0">
                <a:solidFill>
                  <a:srgbClr val="456675"/>
                </a:solidFill>
                <a:latin typeface="Microsoft JhengHei"/>
                <a:ea typeface="Microsoft JhengHei"/>
                <a:cs typeface="Microsoft JhengHei"/>
              </a:rPr>
              <a:t>本週作品：完成飲料訂單計算器，列出品項、杯數、總價與找零</a:t>
            </a:r>
          </a:p>
        </p:txBody>
      </p:sp>
    </p:spTree>
    <p:extLst>
      <p:ext uri="{BB962C8B-B14F-4D97-AF65-F5344CB8AC3E}">
        <p14:creationId xmlns:p14="http://schemas.microsoft.com/office/powerpoint/2010/main" val="685450335"/>
      </p:ext>
    </p:extLst>
  </p:cSld>
  <p:clrMapOvr>
    <a:masterClrMapping/>
  </p:clrMapOvr>
</p:sld>
</file>

<file path=ppt/slides/slide9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矩形 5">
            <a:extLst>
              <a:ext uri="{FF2B5EF4-FFF2-40B4-BE49-F238E27FC236}">
                <a16:creationId xmlns:a16="http://schemas.microsoft.com/office/drawing/2014/main" id="{344CF8ED-8B25-48D5-B39E-F1182BE18851}"/>
              </a:ext>
            </a:extLst>
          </p:cNvPr>
          <p:cNvSpPr>
            <a:spLocks noGrp="1"/>
          </p:cNvSpPr>
          <p:nvPr/>
        </p:nvSpPr>
        <p:spPr>
          <a:xfrm>
            <a:off x="609600" y="304800"/>
            <a:ext cx="10858500" cy="3810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650" b="1">
                <a:solidFill>
                  <a:srgbClr val="456675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650" b="1">
                <a:solidFill>
                  <a:srgbClr val="456675"/>
                </a:solidFill>
                <a:latin typeface="Microsoft JhengHei"/>
                <a:ea typeface="Microsoft JhengHei"/>
                <a:cs typeface="Microsoft JhengHei"/>
              </a:rPr>
              <a:t>W1-09   示範與練習  程式節錄</a:t>
            </a:r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C192C308-F251-411A-8ECE-88F2AD477D43}"/>
              </a:ext>
            </a:extLst>
          </p:cNvPr>
          <p:cNvSpPr>
            <a:spLocks noGrp="1"/>
          </p:cNvSpPr>
          <p:nvPr/>
        </p:nvSpPr>
        <p:spPr>
          <a:xfrm>
            <a:off x="609600" y="895350"/>
            <a:ext cx="10858500" cy="790575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3300" b="1">
                <a:solidFill>
                  <a:srgbClr val="17384C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3300" b="1">
                <a:solidFill>
                  <a:srgbClr val="17384C"/>
                </a:solidFill>
                <a:latin typeface="Microsoft JhengHei"/>
                <a:ea typeface="Microsoft JhengHei"/>
                <a:cs typeface="Microsoft JhengHei"/>
              </a:rPr>
              <a:t>有格式的訂單</a:t>
            </a: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A0840D97-7208-4B9D-90C6-A598535DCCDF}"/>
              </a:ext>
            </a:extLst>
          </p:cNvPr>
          <p:cNvSpPr>
            <a:spLocks noGrp="1"/>
          </p:cNvSpPr>
          <p:nvPr/>
        </p:nvSpPr>
        <p:spPr>
          <a:xfrm>
            <a:off x="685800" y="1914525"/>
            <a:ext cx="10477500" cy="295275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875" b="0">
                <a:solidFill>
                  <a:srgbClr val="155B70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875" b="0">
                <a:solidFill>
                  <a:srgbClr val="155B70"/>
                </a:solidFill>
                <a:latin typeface="Microsoft JhengHei"/>
                <a:ea typeface="Microsoft JhengHei"/>
                <a:cs typeface="Microsoft JhengHei"/>
              </a:rPr>
              <a:t>item = "紅茶"</a:t>
            </a:r>
          </a:p>
          <a:p>
            <a:pPr>
              <a:defRPr sz="1875" b="0">
                <a:solidFill>
                  <a:srgbClr val="155B70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875" b="0">
                <a:solidFill>
                  <a:srgbClr val="155B70"/>
                </a:solidFill>
                <a:latin typeface="Microsoft JhengHei"/>
                <a:ea typeface="Microsoft JhengHei"/>
                <a:cs typeface="Microsoft JhengHei"/>
              </a:rPr>
              <a:t>quantity = 3</a:t>
            </a:r>
          </a:p>
          <a:p>
            <a:pPr>
              <a:defRPr sz="1875" b="0">
                <a:solidFill>
                  <a:srgbClr val="155B70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875" b="0">
                <a:solidFill>
                  <a:srgbClr val="155B70"/>
                </a:solidFill>
                <a:latin typeface="Microsoft JhengHei"/>
                <a:ea typeface="Microsoft JhengHei"/>
                <a:cs typeface="Microsoft JhengHei"/>
              </a:rPr>
              <a:t>total = 35 * quantity</a:t>
            </a:r>
          </a:p>
          <a:p>
            <a:pPr>
              <a:defRPr sz="1875" b="0">
                <a:solidFill>
                  <a:srgbClr val="155B70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875" b="0">
                <a:solidFill>
                  <a:srgbClr val="155B70"/>
                </a:solidFill>
                <a:latin typeface="Microsoft JhengHei"/>
                <a:ea typeface="Microsoft JhengHei"/>
                <a:cs typeface="Microsoft JhengHei"/>
              </a:rPr>
              <a:t>print(f"{item} {quantity}杯，總價{total}元")</a:t>
            </a:r>
          </a:p>
          <a:p>
            <a:pPr>
              <a:defRPr sz="1875" b="0">
                <a:solidFill>
                  <a:srgbClr val="155B70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875" b="0">
                <a:solidFill>
                  <a:srgbClr val="155B70"/>
                </a:solidFill>
                <a:latin typeface="Microsoft JhengHei"/>
                <a:ea typeface="Microsoft JhengHei"/>
                <a:cs typeface="Microsoft JhengHei"/>
              </a:rPr>
              <a:t>print(f"平均單價 {total / quantity:.2f} 元")</a:t>
            </a:r>
          </a:p>
        </p:txBody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2CCA33DC-CEB6-4066-B609-0C94D2B71072}"/>
              </a:ext>
            </a:extLst>
          </p:cNvPr>
          <p:cNvSpPr>
            <a:spLocks noGrp="1"/>
          </p:cNvSpPr>
          <p:nvPr/>
        </p:nvSpPr>
        <p:spPr>
          <a:xfrm>
            <a:off x="685800" y="5095875"/>
            <a:ext cx="10572750" cy="89535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2100" b="0">
                <a:solidFill>
                  <a:srgbClr val="213547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100" b="0">
                <a:solidFill>
                  <a:srgbClr val="213547"/>
                </a:solidFill>
                <a:latin typeface="Microsoft JhengHei"/>
                <a:ea typeface="Microsoft JhengHei"/>
                <a:cs typeface="Microsoft JhengHei"/>
              </a:rPr>
              <a:t>使用f字串列印4杯每杯35元，共140元的完整訂單。</a:t>
            </a:r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F2B1EE29-9619-44AB-A012-30125BB14820}"/>
              </a:ext>
            </a:extLst>
          </p:cNvPr>
          <p:cNvSpPr>
            <a:spLocks noGrp="1"/>
          </p:cNvSpPr>
          <p:nvPr/>
        </p:nvSpPr>
        <p:spPr>
          <a:xfrm>
            <a:off x="685800" y="6286500"/>
            <a:ext cx="10477500" cy="2667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500" b="0">
                <a:solidFill>
                  <a:srgbClr val="5D737F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500" b="0">
                <a:solidFill>
                  <a:srgbClr val="5D737F"/>
                </a:solidFill>
                <a:latin typeface="Microsoft JhengHei"/>
                <a:ea typeface="Microsoft JhengHei"/>
                <a:cs typeface="Microsoft JhengHei"/>
              </a:rPr>
              <a:t>完整程式與練習：Notebook W1-09</a:t>
            </a:r>
          </a:p>
        </p:txBody>
      </p:sp>
    </p:spTree>
    <p:extLst>
      <p:ext uri="{BB962C8B-B14F-4D97-AF65-F5344CB8AC3E}">
        <p14:creationId xmlns:p14="http://schemas.microsoft.com/office/powerpoint/2010/main" val="1751384799"/>
      </p:ext>
    </p:extLst>
  </p:cSld>
  <p:clrMapOvr>
    <a:masterClrMapping/>
  </p:clrMapOvr>
</p:sld>
</file>

<file path=ppt/slides/slide9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矩形 9">
            <a:extLst>
              <a:ext uri="{FF2B5EF4-FFF2-40B4-BE49-F238E27FC236}">
                <a16:creationId xmlns:a16="http://schemas.microsoft.com/office/drawing/2014/main" id="{6230DA6C-781B-411D-8105-7E5A0E6FBF9A}"/>
              </a:ext>
            </a:extLst>
          </p:cNvPr>
          <p:cNvSpPr>
            <a:spLocks noGrp="1"/>
          </p:cNvSpPr>
          <p:nvPr/>
        </p:nvSpPr>
        <p:spPr>
          <a:xfrm>
            <a:off x="609600" y="304800"/>
            <a:ext cx="10763250" cy="3810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650" b="1">
                <a:solidFill>
                  <a:srgbClr val="456675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650" b="1">
                <a:solidFill>
                  <a:srgbClr val="456675"/>
                </a:solidFill>
                <a:latin typeface="Microsoft JhengHei"/>
                <a:ea typeface="Microsoft JhengHei"/>
                <a:cs typeface="Microsoft JhengHei"/>
              </a:rPr>
              <a:t>W1-10   140–160 分鐘</a:t>
            </a:r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C15BFA63-2564-4796-8C9D-8587861AA127}"/>
              </a:ext>
            </a:extLst>
          </p:cNvPr>
          <p:cNvSpPr>
            <a:spLocks noGrp="1"/>
          </p:cNvSpPr>
          <p:nvPr/>
        </p:nvSpPr>
        <p:spPr>
          <a:xfrm>
            <a:off x="609600" y="942975"/>
            <a:ext cx="10858500" cy="85725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3450" b="1">
                <a:solidFill>
                  <a:srgbClr val="17384C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3450" b="1">
                <a:solidFill>
                  <a:srgbClr val="17384C"/>
                </a:solidFill>
                <a:latin typeface="Microsoft JhengHei"/>
                <a:ea typeface="Microsoft JhengHei"/>
                <a:cs typeface="Microsoft JhengHei"/>
              </a:rPr>
              <a:t>本週實作 飲料訂單</a:t>
            </a: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5F991894-7043-465F-915E-E3713D7F6D8E}"/>
              </a:ext>
            </a:extLst>
          </p:cNvPr>
          <p:cNvSpPr>
            <a:spLocks noGrp="1"/>
          </p:cNvSpPr>
          <p:nvPr/>
        </p:nvSpPr>
        <p:spPr>
          <a:xfrm>
            <a:off x="647700" y="2190750"/>
            <a:ext cx="619125" cy="5715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2100" b="1">
                <a:solidFill>
                  <a:srgbClr val="078078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100" b="1">
                <a:solidFill>
                  <a:srgbClr val="078078"/>
                </a:solidFill>
                <a:latin typeface="Microsoft JhengHei"/>
                <a:ea typeface="Microsoft JhengHei"/>
                <a:cs typeface="Microsoft JhengHei"/>
              </a:rPr>
              <a:t>01</a:t>
            </a:r>
          </a:p>
        </p:txBody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CFB81D13-FDDF-4B01-AE4C-7A61202F7685}"/>
              </a:ext>
            </a:extLst>
          </p:cNvPr>
          <p:cNvSpPr>
            <a:spLocks noGrp="1"/>
          </p:cNvSpPr>
          <p:nvPr/>
        </p:nvSpPr>
        <p:spPr>
          <a:xfrm>
            <a:off x="1476375" y="2133600"/>
            <a:ext cx="9620250" cy="9525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2550" b="0">
                <a:solidFill>
                  <a:srgbClr val="17384C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550" b="0">
                <a:solidFill>
                  <a:srgbClr val="17384C"/>
                </a:solidFill>
                <a:latin typeface="Microsoft JhengHei"/>
                <a:ea typeface="Microsoft JhengHei"/>
                <a:cs typeface="Microsoft JhengHei"/>
              </a:rPr>
              <a:t>輸入以變數設定即可</a:t>
            </a:r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DEFCDCB8-6A22-4D59-B466-F634EF3A46BF}"/>
              </a:ext>
            </a:extLst>
          </p:cNvPr>
          <p:cNvSpPr>
            <a:spLocks noGrp="1"/>
          </p:cNvSpPr>
          <p:nvPr/>
        </p:nvSpPr>
        <p:spPr>
          <a:xfrm>
            <a:off x="647700" y="3286125"/>
            <a:ext cx="619125" cy="5715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2100" b="1">
                <a:solidFill>
                  <a:srgbClr val="078078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100" b="1">
                <a:solidFill>
                  <a:srgbClr val="078078"/>
                </a:solidFill>
                <a:latin typeface="Microsoft JhengHei"/>
                <a:ea typeface="Microsoft JhengHei"/>
                <a:cs typeface="Microsoft JhengHei"/>
              </a:rPr>
              <a:t>02</a:t>
            </a:r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05E06AD7-5CE5-4816-BB1A-D1923C252207}"/>
              </a:ext>
            </a:extLst>
          </p:cNvPr>
          <p:cNvSpPr>
            <a:spLocks noGrp="1"/>
          </p:cNvSpPr>
          <p:nvPr/>
        </p:nvSpPr>
        <p:spPr>
          <a:xfrm>
            <a:off x="1476375" y="3228975"/>
            <a:ext cx="9620250" cy="9525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2550" b="0">
                <a:solidFill>
                  <a:srgbClr val="17384C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550" b="0">
                <a:solidFill>
                  <a:srgbClr val="17384C"/>
                </a:solidFill>
                <a:latin typeface="Microsoft JhengHei"/>
                <a:ea typeface="Microsoft JhengHei"/>
                <a:cs typeface="Microsoft JhengHei"/>
              </a:rPr>
              <a:t>總價與找零分開計算</a:t>
            </a:r>
          </a:p>
        </p:txBody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87215DF8-7976-4938-9AE1-40ECEF52F2B1}"/>
              </a:ext>
            </a:extLst>
          </p:cNvPr>
          <p:cNvSpPr>
            <a:spLocks noGrp="1"/>
          </p:cNvSpPr>
          <p:nvPr/>
        </p:nvSpPr>
        <p:spPr>
          <a:xfrm>
            <a:off x="647700" y="4381500"/>
            <a:ext cx="619125" cy="5715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2100" b="1">
                <a:solidFill>
                  <a:srgbClr val="078078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100" b="1">
                <a:solidFill>
                  <a:srgbClr val="078078"/>
                </a:solidFill>
                <a:latin typeface="Microsoft JhengHei"/>
                <a:ea typeface="Microsoft JhengHei"/>
                <a:cs typeface="Microsoft JhengHei"/>
              </a:rPr>
              <a:t>03</a:t>
            </a: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57E69B39-ED98-40D1-8381-7709E2CBD912}"/>
              </a:ext>
            </a:extLst>
          </p:cNvPr>
          <p:cNvSpPr>
            <a:spLocks noGrp="1"/>
          </p:cNvSpPr>
          <p:nvPr/>
        </p:nvSpPr>
        <p:spPr>
          <a:xfrm>
            <a:off x="1476375" y="4324350"/>
            <a:ext cx="9620250" cy="9525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2550" b="0">
                <a:solidFill>
                  <a:srgbClr val="17384C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550" b="0">
                <a:solidFill>
                  <a:srgbClr val="17384C"/>
                </a:solidFill>
                <a:latin typeface="Microsoft JhengHei"/>
                <a:ea typeface="Microsoft JhengHei"/>
                <a:cs typeface="Microsoft JhengHei"/>
              </a:rPr>
              <a:t>兩組測試確認可重算</a:t>
            </a: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AC87BE78-81A0-4BAF-BFE3-3B0ED2E63235}"/>
              </a:ext>
            </a:extLst>
          </p:cNvPr>
          <p:cNvSpPr>
            <a:spLocks noGrp="1"/>
          </p:cNvSpPr>
          <p:nvPr/>
        </p:nvSpPr>
        <p:spPr>
          <a:xfrm>
            <a:off x="647700" y="5953125"/>
            <a:ext cx="10810875" cy="55245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575" b="0">
                <a:solidFill>
                  <a:srgbClr val="456675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575" b="0">
                <a:solidFill>
                  <a:srgbClr val="456675"/>
                </a:solidFill>
                <a:latin typeface="Microsoft JhengHei"/>
                <a:ea typeface="Microsoft JhengHei"/>
                <a:cs typeface="Microsoft JhengHei"/>
              </a:rPr>
              <a:t>本週作品：完成飲料訂單計算器，列出品項、杯數、總價與找零</a:t>
            </a:r>
          </a:p>
        </p:txBody>
      </p:sp>
    </p:spTree>
    <p:extLst>
      <p:ext uri="{BB962C8B-B14F-4D97-AF65-F5344CB8AC3E}">
        <p14:creationId xmlns:p14="http://schemas.microsoft.com/office/powerpoint/2010/main" val="1137937158"/>
      </p:ext>
    </p:extLst>
  </p:cSld>
  <p:clrMapOvr>
    <a:masterClrMapping/>
  </p:clrMapOvr>
</p:sld>
</file>

<file path=ppt/slides/slide9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矩形 5">
            <a:extLst>
              <a:ext uri="{FF2B5EF4-FFF2-40B4-BE49-F238E27FC236}">
                <a16:creationId xmlns:a16="http://schemas.microsoft.com/office/drawing/2014/main" id="{4EFF2EA9-C88A-4860-85F7-7CC14B7AFAC8}"/>
              </a:ext>
            </a:extLst>
          </p:cNvPr>
          <p:cNvSpPr>
            <a:spLocks noGrp="1"/>
          </p:cNvSpPr>
          <p:nvPr/>
        </p:nvSpPr>
        <p:spPr>
          <a:xfrm>
            <a:off x="609600" y="304800"/>
            <a:ext cx="10858500" cy="3810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650" b="1">
                <a:solidFill>
                  <a:srgbClr val="456675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650" b="1">
                <a:solidFill>
                  <a:srgbClr val="456675"/>
                </a:solidFill>
                <a:latin typeface="Microsoft JhengHei"/>
                <a:ea typeface="Microsoft JhengHei"/>
                <a:cs typeface="Microsoft JhengHei"/>
              </a:rPr>
              <a:t>W1-10   示範與練習  程式節錄</a:t>
            </a:r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9CC0B0A0-F83A-48D6-8BBF-0C7968105063}"/>
              </a:ext>
            </a:extLst>
          </p:cNvPr>
          <p:cNvSpPr>
            <a:spLocks noGrp="1"/>
          </p:cNvSpPr>
          <p:nvPr/>
        </p:nvSpPr>
        <p:spPr>
          <a:xfrm>
            <a:off x="609600" y="895350"/>
            <a:ext cx="10858500" cy="790575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3300" b="1">
                <a:solidFill>
                  <a:srgbClr val="17384C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3300" b="1">
                <a:solidFill>
                  <a:srgbClr val="17384C"/>
                </a:solidFill>
                <a:latin typeface="Microsoft JhengHei"/>
                <a:ea typeface="Microsoft JhengHei"/>
                <a:cs typeface="Microsoft JhengHei"/>
              </a:rPr>
              <a:t>本週實作 飲料訂單</a:t>
            </a: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8D8F4099-22E7-4535-B018-9B9939469435}"/>
              </a:ext>
            </a:extLst>
          </p:cNvPr>
          <p:cNvSpPr>
            <a:spLocks noGrp="1"/>
          </p:cNvSpPr>
          <p:nvPr/>
        </p:nvSpPr>
        <p:spPr>
          <a:xfrm>
            <a:off x="685800" y="1914525"/>
            <a:ext cx="10477500" cy="295275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875" b="0">
                <a:solidFill>
                  <a:srgbClr val="155B70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875" b="0">
                <a:solidFill>
                  <a:srgbClr val="155B70"/>
                </a:solidFill>
                <a:latin typeface="Microsoft JhengHei"/>
                <a:ea typeface="Microsoft JhengHei"/>
                <a:cs typeface="Microsoft JhengHei"/>
              </a:rPr>
              <a:t>price, quantity, paid = 35, 3, 200</a:t>
            </a:r>
          </a:p>
          <a:p>
            <a:pPr>
              <a:defRPr sz="1875" b="0">
                <a:solidFill>
                  <a:srgbClr val="155B70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875" b="0">
                <a:solidFill>
                  <a:srgbClr val="155B70"/>
                </a:solidFill>
                <a:latin typeface="Microsoft JhengHei"/>
                <a:ea typeface="Microsoft JhengHei"/>
                <a:cs typeface="Microsoft JhengHei"/>
              </a:rPr>
              <a:t>total = price * quantity</a:t>
            </a:r>
          </a:p>
          <a:p>
            <a:pPr>
              <a:defRPr sz="1875" b="0">
                <a:solidFill>
                  <a:srgbClr val="155B70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875" b="0">
                <a:solidFill>
                  <a:srgbClr val="155B70"/>
                </a:solidFill>
                <a:latin typeface="Microsoft JhengHei"/>
                <a:ea typeface="Microsoft JhengHei"/>
                <a:cs typeface="Microsoft JhengHei"/>
              </a:rPr>
              <a:t>change = paid - total</a:t>
            </a:r>
          </a:p>
          <a:p>
            <a:pPr>
              <a:defRPr sz="1875" b="0">
                <a:solidFill>
                  <a:srgbClr val="155B70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875" b="0">
                <a:solidFill>
                  <a:srgbClr val="155B70"/>
                </a:solidFill>
                <a:latin typeface="Microsoft JhengHei"/>
                <a:ea typeface="Microsoft JhengHei"/>
                <a:cs typeface="Microsoft JhengHei"/>
              </a:rPr>
              <a:t>print(f"紅茶 {quantity}杯，總價{total}元，找零{change}元")</a:t>
            </a:r>
          </a:p>
        </p:txBody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589B08EB-5FF4-4295-837D-BEFD93258666}"/>
              </a:ext>
            </a:extLst>
          </p:cNvPr>
          <p:cNvSpPr>
            <a:spLocks noGrp="1"/>
          </p:cNvSpPr>
          <p:nvPr/>
        </p:nvSpPr>
        <p:spPr>
          <a:xfrm>
            <a:off x="685800" y="5095875"/>
            <a:ext cx="10572750" cy="89535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2100" b="0">
                <a:solidFill>
                  <a:srgbClr val="213547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100" b="0">
                <a:solidFill>
                  <a:srgbClr val="213547"/>
                </a:solidFill>
                <a:latin typeface="Microsoft JhengHei"/>
                <a:ea typeface="Microsoft JhengHei"/>
                <a:cs typeface="Microsoft JhengHei"/>
              </a:rPr>
              <a:t>完成專題格；先測試35、3、200，再測試40、2、100。加上自己的品項。</a:t>
            </a:r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36C754BB-A130-4A22-B01D-5B504AB8AAE1}"/>
              </a:ext>
            </a:extLst>
          </p:cNvPr>
          <p:cNvSpPr>
            <a:spLocks noGrp="1"/>
          </p:cNvSpPr>
          <p:nvPr/>
        </p:nvSpPr>
        <p:spPr>
          <a:xfrm>
            <a:off x="685800" y="6286500"/>
            <a:ext cx="10477500" cy="2667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500" b="0">
                <a:solidFill>
                  <a:srgbClr val="5D737F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500" b="0">
                <a:solidFill>
                  <a:srgbClr val="5D737F"/>
                </a:solidFill>
                <a:latin typeface="Microsoft JhengHei"/>
                <a:ea typeface="Microsoft JhengHei"/>
                <a:cs typeface="Microsoft JhengHei"/>
              </a:rPr>
              <a:t>完整程式與練習：Notebook W1-10</a:t>
            </a:r>
          </a:p>
        </p:txBody>
      </p:sp>
    </p:spTree>
    <p:extLst>
      <p:ext uri="{BB962C8B-B14F-4D97-AF65-F5344CB8AC3E}">
        <p14:creationId xmlns:p14="http://schemas.microsoft.com/office/powerpoint/2010/main" val="1715585947"/>
      </p:ext>
    </p:extLst>
  </p:cSld>
  <p:clrMapOvr>
    <a:masterClrMapping/>
  </p:clrMapOvr>
</p:sld>
</file>

<file path=ppt/slides/slide9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矩形 9">
            <a:extLst>
              <a:ext uri="{FF2B5EF4-FFF2-40B4-BE49-F238E27FC236}">
                <a16:creationId xmlns:a16="http://schemas.microsoft.com/office/drawing/2014/main" id="{E754CC03-E963-4DAD-B147-BA686A54B699}"/>
              </a:ext>
            </a:extLst>
          </p:cNvPr>
          <p:cNvSpPr>
            <a:spLocks noGrp="1"/>
          </p:cNvSpPr>
          <p:nvPr/>
        </p:nvSpPr>
        <p:spPr>
          <a:xfrm>
            <a:off x="609600" y="304800"/>
            <a:ext cx="10763250" cy="3810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650" b="1">
                <a:solidFill>
                  <a:srgbClr val="456675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650" b="1">
                <a:solidFill>
                  <a:srgbClr val="456675"/>
                </a:solidFill>
                <a:latin typeface="Microsoft JhengHei"/>
                <a:ea typeface="Microsoft JhengHei"/>
                <a:cs typeface="Microsoft JhengHei"/>
              </a:rPr>
              <a:t>W1-11   160–170 分鐘</a:t>
            </a:r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C18E54E2-A4DA-4F12-9407-9BD610FF7C6D}"/>
              </a:ext>
            </a:extLst>
          </p:cNvPr>
          <p:cNvSpPr>
            <a:spLocks noGrp="1"/>
          </p:cNvSpPr>
          <p:nvPr/>
        </p:nvSpPr>
        <p:spPr>
          <a:xfrm>
            <a:off x="609600" y="942975"/>
            <a:ext cx="10858500" cy="85725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3450" b="1">
                <a:solidFill>
                  <a:srgbClr val="17384C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3450" b="1">
                <a:solidFill>
                  <a:srgbClr val="17384C"/>
                </a:solidFill>
                <a:latin typeface="Microsoft JhengHei"/>
                <a:ea typeface="Microsoft JhengHei"/>
                <a:cs typeface="Microsoft JhengHei"/>
              </a:rPr>
              <a:t>成果檢核與同儕說明</a:t>
            </a: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2F689543-C2FE-4E39-88B6-5FDDAD7434A2}"/>
              </a:ext>
            </a:extLst>
          </p:cNvPr>
          <p:cNvSpPr>
            <a:spLocks noGrp="1"/>
          </p:cNvSpPr>
          <p:nvPr/>
        </p:nvSpPr>
        <p:spPr>
          <a:xfrm>
            <a:off x="647700" y="2190750"/>
            <a:ext cx="619125" cy="5715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2100" b="1">
                <a:solidFill>
                  <a:srgbClr val="078078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100" b="1">
                <a:solidFill>
                  <a:srgbClr val="078078"/>
                </a:solidFill>
                <a:latin typeface="Microsoft JhengHei"/>
                <a:ea typeface="Microsoft JhengHei"/>
                <a:cs typeface="Microsoft JhengHei"/>
              </a:rPr>
              <a:t>01</a:t>
            </a:r>
          </a:p>
        </p:txBody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FD1010DE-04A0-4CC0-B9B6-790DBF54E708}"/>
              </a:ext>
            </a:extLst>
          </p:cNvPr>
          <p:cNvSpPr>
            <a:spLocks noGrp="1"/>
          </p:cNvSpPr>
          <p:nvPr/>
        </p:nvSpPr>
        <p:spPr>
          <a:xfrm>
            <a:off x="1476375" y="2133600"/>
            <a:ext cx="9620250" cy="9525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2550" b="0">
                <a:solidFill>
                  <a:srgbClr val="17384C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550" b="0">
                <a:solidFill>
                  <a:srgbClr val="17384C"/>
                </a:solidFill>
                <a:latin typeface="Microsoft JhengHei"/>
                <a:ea typeface="Microsoft JhengHei"/>
                <a:cs typeface="Microsoft JhengHei"/>
              </a:rPr>
              <a:t>重新啟動核心後全部執行</a:t>
            </a:r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4085E75C-9920-4469-A8EC-CE3E23F46545}"/>
              </a:ext>
            </a:extLst>
          </p:cNvPr>
          <p:cNvSpPr>
            <a:spLocks noGrp="1"/>
          </p:cNvSpPr>
          <p:nvPr/>
        </p:nvSpPr>
        <p:spPr>
          <a:xfrm>
            <a:off x="647700" y="3286125"/>
            <a:ext cx="619125" cy="5715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2100" b="1">
                <a:solidFill>
                  <a:srgbClr val="078078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100" b="1">
                <a:solidFill>
                  <a:srgbClr val="078078"/>
                </a:solidFill>
                <a:latin typeface="Microsoft JhengHei"/>
                <a:ea typeface="Microsoft JhengHei"/>
                <a:cs typeface="Microsoft JhengHei"/>
              </a:rPr>
              <a:t>02</a:t>
            </a:r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2BC61DD4-2C8B-4A00-9B63-C932F41CCC84}"/>
              </a:ext>
            </a:extLst>
          </p:cNvPr>
          <p:cNvSpPr>
            <a:spLocks noGrp="1"/>
          </p:cNvSpPr>
          <p:nvPr/>
        </p:nvSpPr>
        <p:spPr>
          <a:xfrm>
            <a:off x="1476375" y="3228975"/>
            <a:ext cx="9620250" cy="9525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2550" b="0">
                <a:solidFill>
                  <a:srgbClr val="17384C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550" b="0">
                <a:solidFill>
                  <a:srgbClr val="17384C"/>
                </a:solidFill>
                <a:latin typeface="Microsoft JhengHei"/>
                <a:ea typeface="Microsoft JhengHei"/>
                <a:cs typeface="Microsoft JhengHei"/>
              </a:rPr>
              <a:t>能解釋每個變數的用途</a:t>
            </a:r>
          </a:p>
        </p:txBody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B5E78579-3A47-4420-8E7A-3481291E47E1}"/>
              </a:ext>
            </a:extLst>
          </p:cNvPr>
          <p:cNvSpPr>
            <a:spLocks noGrp="1"/>
          </p:cNvSpPr>
          <p:nvPr/>
        </p:nvSpPr>
        <p:spPr>
          <a:xfrm>
            <a:off x="647700" y="4381500"/>
            <a:ext cx="619125" cy="5715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2100" b="1">
                <a:solidFill>
                  <a:srgbClr val="078078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100" b="1">
                <a:solidFill>
                  <a:srgbClr val="078078"/>
                </a:solidFill>
                <a:latin typeface="Microsoft JhengHei"/>
                <a:ea typeface="Microsoft JhengHei"/>
                <a:cs typeface="Microsoft JhengHei"/>
              </a:rPr>
              <a:t>03</a:t>
            </a: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74D82651-8502-43DA-8D26-04B87F2BF4C8}"/>
              </a:ext>
            </a:extLst>
          </p:cNvPr>
          <p:cNvSpPr>
            <a:spLocks noGrp="1"/>
          </p:cNvSpPr>
          <p:nvPr/>
        </p:nvSpPr>
        <p:spPr>
          <a:xfrm>
            <a:off x="1476375" y="4324350"/>
            <a:ext cx="9620250" cy="9525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2550" b="0">
                <a:solidFill>
                  <a:srgbClr val="17384C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550" b="0">
                <a:solidFill>
                  <a:srgbClr val="17384C"/>
                </a:solidFill>
                <a:latin typeface="Microsoft JhengHei"/>
                <a:ea typeface="Microsoft JhengHei"/>
                <a:cs typeface="Microsoft JhengHei"/>
              </a:rPr>
              <a:t>保留兩組測試紀錄</a:t>
            </a: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8012FEF2-3849-49BE-8E1B-769B5C30E71A}"/>
              </a:ext>
            </a:extLst>
          </p:cNvPr>
          <p:cNvSpPr>
            <a:spLocks noGrp="1"/>
          </p:cNvSpPr>
          <p:nvPr/>
        </p:nvSpPr>
        <p:spPr>
          <a:xfrm>
            <a:off x="647700" y="5953125"/>
            <a:ext cx="10810875" cy="55245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575" b="0">
                <a:solidFill>
                  <a:srgbClr val="456675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575" b="0">
                <a:solidFill>
                  <a:srgbClr val="456675"/>
                </a:solidFill>
                <a:latin typeface="Microsoft JhengHei"/>
                <a:ea typeface="Microsoft JhengHei"/>
                <a:cs typeface="Microsoft JhengHei"/>
              </a:rPr>
              <a:t>本週作品：完成飲料訂單計算器，列出品項、杯數、總價與找零</a:t>
            </a:r>
          </a:p>
        </p:txBody>
      </p:sp>
    </p:spTree>
    <p:extLst>
      <p:ext uri="{BB962C8B-B14F-4D97-AF65-F5344CB8AC3E}">
        <p14:creationId xmlns:p14="http://schemas.microsoft.com/office/powerpoint/2010/main" val="784220949"/>
      </p:ext>
    </p:extLst>
  </p:cSld>
  <p:clrMapOvr>
    <a:masterClrMapping/>
  </p:clrMapOvr>
</p:sld>
</file>

<file path=ppt/slides/slide9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矩形 5">
            <a:extLst>
              <a:ext uri="{FF2B5EF4-FFF2-40B4-BE49-F238E27FC236}">
                <a16:creationId xmlns:a16="http://schemas.microsoft.com/office/drawing/2014/main" id="{0C71BC07-A046-4046-8AD4-79F1BC125BED}"/>
              </a:ext>
            </a:extLst>
          </p:cNvPr>
          <p:cNvSpPr>
            <a:spLocks noGrp="1"/>
          </p:cNvSpPr>
          <p:nvPr/>
        </p:nvSpPr>
        <p:spPr>
          <a:xfrm>
            <a:off x="609600" y="304800"/>
            <a:ext cx="10858500" cy="3810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650" b="1">
                <a:solidFill>
                  <a:srgbClr val="456675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650" b="1">
                <a:solidFill>
                  <a:srgbClr val="456675"/>
                </a:solidFill>
                <a:latin typeface="Microsoft JhengHei"/>
                <a:ea typeface="Microsoft JhengHei"/>
                <a:cs typeface="Microsoft JhengHei"/>
              </a:rPr>
              <a:t>W1-11   示範與練習</a:t>
            </a:r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ACDDF08E-3637-46E7-8AD2-4C21644AB6F6}"/>
              </a:ext>
            </a:extLst>
          </p:cNvPr>
          <p:cNvSpPr>
            <a:spLocks noGrp="1"/>
          </p:cNvSpPr>
          <p:nvPr/>
        </p:nvSpPr>
        <p:spPr>
          <a:xfrm>
            <a:off x="609600" y="895350"/>
            <a:ext cx="10858500" cy="790575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3300" b="1">
                <a:solidFill>
                  <a:srgbClr val="17384C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3300" b="1">
                <a:solidFill>
                  <a:srgbClr val="17384C"/>
                </a:solidFill>
                <a:latin typeface="Microsoft JhengHei"/>
                <a:ea typeface="Microsoft JhengHei"/>
                <a:cs typeface="Microsoft JhengHei"/>
              </a:rPr>
              <a:t>成果檢核與同儕說明</a:t>
            </a: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B4A4066D-E3BD-4857-9CA3-2F3986C9B604}"/>
              </a:ext>
            </a:extLst>
          </p:cNvPr>
          <p:cNvSpPr>
            <a:spLocks noGrp="1"/>
          </p:cNvSpPr>
          <p:nvPr/>
        </p:nvSpPr>
        <p:spPr>
          <a:xfrm>
            <a:off x="685800" y="2047875"/>
            <a:ext cx="10477500" cy="161925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2625" b="0">
                <a:solidFill>
                  <a:srgbClr val="17384C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625" b="0">
                <a:solidFill>
                  <a:srgbClr val="17384C"/>
                </a:solidFill>
                <a:latin typeface="Microsoft JhengHei"/>
                <a:ea typeface="Microsoft JhengHei"/>
                <a:cs typeface="Microsoft JhengHei"/>
              </a:rPr>
              <a:t>每人用60秒說明，教師抽查兩組結果。</a:t>
            </a:r>
          </a:p>
        </p:txBody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CADD85E2-5F46-4466-AB45-334CE371A1AA}"/>
              </a:ext>
            </a:extLst>
          </p:cNvPr>
          <p:cNvSpPr>
            <a:spLocks noGrp="1"/>
          </p:cNvSpPr>
          <p:nvPr/>
        </p:nvSpPr>
        <p:spPr>
          <a:xfrm>
            <a:off x="685800" y="4019550"/>
            <a:ext cx="10477500" cy="47625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875" b="1">
                <a:solidFill>
                  <a:srgbClr val="078078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875" b="1">
                <a:solidFill>
                  <a:srgbClr val="078078"/>
                </a:solidFill>
                <a:latin typeface="Microsoft JhengHei"/>
                <a:ea typeface="Microsoft JhengHei"/>
                <a:cs typeface="Microsoft JhengHei"/>
              </a:rPr>
              <a:t>核對重點</a:t>
            </a:r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D8B4C07A-F047-4E8E-AAB2-5236532F4DC4}"/>
              </a:ext>
            </a:extLst>
          </p:cNvPr>
          <p:cNvSpPr>
            <a:spLocks noGrp="1"/>
          </p:cNvSpPr>
          <p:nvPr/>
        </p:nvSpPr>
        <p:spPr>
          <a:xfrm>
            <a:off x="685800" y="4667250"/>
            <a:ext cx="10477500" cy="1381125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2250" b="0">
                <a:solidFill>
                  <a:srgbClr val="213547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250" b="0">
                <a:solidFill>
                  <a:srgbClr val="213547"/>
                </a:solidFill>
                <a:latin typeface="Microsoft JhengHei"/>
                <a:ea typeface="Microsoft JhengHei"/>
                <a:cs typeface="Microsoft JhengHei"/>
              </a:rPr>
              <a:t>能從乾淨核心重跑，且total不是手寫固定答案。</a:t>
            </a:r>
          </a:p>
        </p:txBody>
      </p:sp>
    </p:spTree>
    <p:extLst>
      <p:ext uri="{BB962C8B-B14F-4D97-AF65-F5344CB8AC3E}">
        <p14:creationId xmlns:p14="http://schemas.microsoft.com/office/powerpoint/2010/main" val="1252086788"/>
      </p:ext>
    </p:extLst>
  </p:cSld>
  <p:clrMapOvr>
    <a:masterClrMapping/>
  </p:clrMapOvr>
</p:sld>
</file>

<file path=ppt/slides/slide9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矩形 9">
            <a:extLst>
              <a:ext uri="{FF2B5EF4-FFF2-40B4-BE49-F238E27FC236}">
                <a16:creationId xmlns:a16="http://schemas.microsoft.com/office/drawing/2014/main" id="{FA841AF7-E5C7-4E1D-8DE1-2AD0305137EE}"/>
              </a:ext>
            </a:extLst>
          </p:cNvPr>
          <p:cNvSpPr>
            <a:spLocks noGrp="1"/>
          </p:cNvSpPr>
          <p:nvPr/>
        </p:nvSpPr>
        <p:spPr>
          <a:xfrm>
            <a:off x="609600" y="304800"/>
            <a:ext cx="10763250" cy="3810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650" b="1">
                <a:solidFill>
                  <a:srgbClr val="456675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650" b="1">
                <a:solidFill>
                  <a:srgbClr val="456675"/>
                </a:solidFill>
                <a:latin typeface="Microsoft JhengHei"/>
                <a:ea typeface="Microsoft JhengHei"/>
                <a:cs typeface="Microsoft JhengHei"/>
              </a:rPr>
              <a:t>W1-12   170–180 分鐘</a:t>
            </a:r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E6E4AC4E-C33E-4EA7-8B1E-9798DFD70E18}"/>
              </a:ext>
            </a:extLst>
          </p:cNvPr>
          <p:cNvSpPr>
            <a:spLocks noGrp="1"/>
          </p:cNvSpPr>
          <p:nvPr/>
        </p:nvSpPr>
        <p:spPr>
          <a:xfrm>
            <a:off x="609600" y="942975"/>
            <a:ext cx="10858500" cy="85725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3450" b="1">
                <a:solidFill>
                  <a:srgbClr val="17384C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3450" b="1">
                <a:solidFill>
                  <a:srgbClr val="17384C"/>
                </a:solidFill>
                <a:latin typeface="Microsoft JhengHei"/>
                <a:ea typeface="Microsoft JhengHei"/>
                <a:cs typeface="Microsoft JhengHei"/>
              </a:rPr>
              <a:t>離堂題與課後練習</a:t>
            </a: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DB5DB13B-EFC1-4AAE-B211-724D3D0B1947}"/>
              </a:ext>
            </a:extLst>
          </p:cNvPr>
          <p:cNvSpPr>
            <a:spLocks noGrp="1"/>
          </p:cNvSpPr>
          <p:nvPr/>
        </p:nvSpPr>
        <p:spPr>
          <a:xfrm>
            <a:off x="647700" y="2190750"/>
            <a:ext cx="619125" cy="5715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2100" b="1">
                <a:solidFill>
                  <a:srgbClr val="078078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100" b="1">
                <a:solidFill>
                  <a:srgbClr val="078078"/>
                </a:solidFill>
                <a:latin typeface="Microsoft JhengHei"/>
                <a:ea typeface="Microsoft JhengHei"/>
                <a:cs typeface="Microsoft JhengHei"/>
              </a:rPr>
              <a:t>01</a:t>
            </a:r>
          </a:p>
        </p:txBody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023C3B16-9499-407D-B6F4-ACE7BE948A15}"/>
              </a:ext>
            </a:extLst>
          </p:cNvPr>
          <p:cNvSpPr>
            <a:spLocks noGrp="1"/>
          </p:cNvSpPr>
          <p:nvPr/>
        </p:nvSpPr>
        <p:spPr>
          <a:xfrm>
            <a:off x="1476375" y="2133600"/>
            <a:ext cx="9620250" cy="9525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2550" b="0">
                <a:solidFill>
                  <a:srgbClr val="17384C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550" b="0">
                <a:solidFill>
                  <a:srgbClr val="17384C"/>
                </a:solidFill>
                <a:latin typeface="Microsoft JhengHei"/>
                <a:ea typeface="Microsoft JhengHei"/>
                <a:cs typeface="Microsoft JhengHei"/>
              </a:rPr>
              <a:t>文字"5"與數值5的差別</a:t>
            </a:r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A3A51965-73B7-4BD9-9C29-0F6669E9579B}"/>
              </a:ext>
            </a:extLst>
          </p:cNvPr>
          <p:cNvSpPr>
            <a:spLocks noGrp="1"/>
          </p:cNvSpPr>
          <p:nvPr/>
        </p:nvSpPr>
        <p:spPr>
          <a:xfrm>
            <a:off x="647700" y="3286125"/>
            <a:ext cx="619125" cy="5715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2100" b="1">
                <a:solidFill>
                  <a:srgbClr val="078078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100" b="1">
                <a:solidFill>
                  <a:srgbClr val="078078"/>
                </a:solidFill>
                <a:latin typeface="Microsoft JhengHei"/>
                <a:ea typeface="Microsoft JhengHei"/>
                <a:cs typeface="Microsoft JhengHei"/>
              </a:rPr>
              <a:t>02</a:t>
            </a:r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4696EC82-424E-4232-9A57-854D8362D2C3}"/>
              </a:ext>
            </a:extLst>
          </p:cNvPr>
          <p:cNvSpPr>
            <a:spLocks noGrp="1"/>
          </p:cNvSpPr>
          <p:nvPr/>
        </p:nvSpPr>
        <p:spPr>
          <a:xfrm>
            <a:off x="1476375" y="3228975"/>
            <a:ext cx="9620250" cy="9525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2550" b="0">
                <a:solidFill>
                  <a:srgbClr val="17384C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550" b="0">
                <a:solidFill>
                  <a:srgbClr val="17384C"/>
                </a:solidFill>
                <a:latin typeface="Microsoft JhengHei"/>
                <a:ea typeface="Microsoft JhengHei"/>
                <a:cs typeface="Microsoft JhengHei"/>
              </a:rPr>
              <a:t>改價格後為何要重算</a:t>
            </a:r>
          </a:p>
        </p:txBody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3C7A3B23-30D8-44F3-9655-A388E2169274}"/>
              </a:ext>
            </a:extLst>
          </p:cNvPr>
          <p:cNvSpPr>
            <a:spLocks noGrp="1"/>
          </p:cNvSpPr>
          <p:nvPr/>
        </p:nvSpPr>
        <p:spPr>
          <a:xfrm>
            <a:off x="647700" y="4381500"/>
            <a:ext cx="619125" cy="5715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2100" b="1">
                <a:solidFill>
                  <a:srgbClr val="078078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100" b="1">
                <a:solidFill>
                  <a:srgbClr val="078078"/>
                </a:solidFill>
                <a:latin typeface="Microsoft JhengHei"/>
                <a:ea typeface="Microsoft JhengHei"/>
                <a:cs typeface="Microsoft JhengHei"/>
              </a:rPr>
              <a:t>03</a:t>
            </a: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9C6C380F-D16C-441F-8F81-5741E6323608}"/>
              </a:ext>
            </a:extLst>
          </p:cNvPr>
          <p:cNvSpPr>
            <a:spLocks noGrp="1"/>
          </p:cNvSpPr>
          <p:nvPr/>
        </p:nvSpPr>
        <p:spPr>
          <a:xfrm>
            <a:off x="1476375" y="4324350"/>
            <a:ext cx="9620250" cy="9525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2550" b="0">
                <a:solidFill>
                  <a:srgbClr val="17384C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550" b="0">
                <a:solidFill>
                  <a:srgbClr val="17384C"/>
                </a:solidFill>
                <a:latin typeface="Microsoft JhengHei"/>
                <a:ea typeface="Microsoft JhengHei"/>
                <a:cs typeface="Microsoft JhengHei"/>
              </a:rPr>
              <a:t>下週加入折扣條件</a:t>
            </a: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CC7CB939-AEFF-4990-B819-307969C21D6F}"/>
              </a:ext>
            </a:extLst>
          </p:cNvPr>
          <p:cNvSpPr>
            <a:spLocks noGrp="1"/>
          </p:cNvSpPr>
          <p:nvPr/>
        </p:nvSpPr>
        <p:spPr>
          <a:xfrm>
            <a:off x="647700" y="5953125"/>
            <a:ext cx="10810875" cy="55245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575" b="0">
                <a:solidFill>
                  <a:srgbClr val="456675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575" b="0">
                <a:solidFill>
                  <a:srgbClr val="456675"/>
                </a:solidFill>
                <a:latin typeface="Microsoft JhengHei"/>
                <a:ea typeface="Microsoft JhengHei"/>
                <a:cs typeface="Microsoft JhengHei"/>
              </a:rPr>
              <a:t>本週作品：完成飲料訂單計算器，列出品項、杯數、總價與找零</a:t>
            </a:r>
          </a:p>
        </p:txBody>
      </p:sp>
    </p:spTree>
    <p:extLst>
      <p:ext uri="{BB962C8B-B14F-4D97-AF65-F5344CB8AC3E}">
        <p14:creationId xmlns:p14="http://schemas.microsoft.com/office/powerpoint/2010/main" val="185165278"/>
      </p:ext>
    </p:extLst>
  </p:cSld>
  <p:clrMapOvr>
    <a:masterClrMapping/>
  </p:clrMapOvr>
</p:sld>
</file>

<file path=ppt/slides/slide9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矩形 5">
            <a:extLst>
              <a:ext uri="{FF2B5EF4-FFF2-40B4-BE49-F238E27FC236}">
                <a16:creationId xmlns:a16="http://schemas.microsoft.com/office/drawing/2014/main" id="{FC7989AE-B022-453C-BC6E-8E608FE74C78}"/>
              </a:ext>
            </a:extLst>
          </p:cNvPr>
          <p:cNvSpPr>
            <a:spLocks noGrp="1"/>
          </p:cNvSpPr>
          <p:nvPr/>
        </p:nvSpPr>
        <p:spPr>
          <a:xfrm>
            <a:off x="609600" y="304800"/>
            <a:ext cx="10858500" cy="3810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650" b="1">
                <a:solidFill>
                  <a:srgbClr val="456675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650" b="1">
                <a:solidFill>
                  <a:srgbClr val="456675"/>
                </a:solidFill>
                <a:latin typeface="Microsoft JhengHei"/>
                <a:ea typeface="Microsoft JhengHei"/>
                <a:cs typeface="Microsoft JhengHei"/>
              </a:rPr>
              <a:t>W1-12   示範與練習</a:t>
            </a:r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15DE8944-BACB-4F52-98DB-48ACE2243BE5}"/>
              </a:ext>
            </a:extLst>
          </p:cNvPr>
          <p:cNvSpPr>
            <a:spLocks noGrp="1"/>
          </p:cNvSpPr>
          <p:nvPr/>
        </p:nvSpPr>
        <p:spPr>
          <a:xfrm>
            <a:off x="609600" y="895350"/>
            <a:ext cx="10858500" cy="790575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3300" b="1">
                <a:solidFill>
                  <a:srgbClr val="17384C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3300" b="1">
                <a:solidFill>
                  <a:srgbClr val="17384C"/>
                </a:solidFill>
                <a:latin typeface="Microsoft JhengHei"/>
                <a:ea typeface="Microsoft JhengHei"/>
                <a:cs typeface="Microsoft JhengHei"/>
              </a:rPr>
              <a:t>離堂題與課後練習</a:t>
            </a: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44700616-B420-4B07-A67C-F295CCD9EF7D}"/>
              </a:ext>
            </a:extLst>
          </p:cNvPr>
          <p:cNvSpPr>
            <a:spLocks noGrp="1"/>
          </p:cNvSpPr>
          <p:nvPr/>
        </p:nvSpPr>
        <p:spPr>
          <a:xfrm>
            <a:off x="685800" y="2047875"/>
            <a:ext cx="10477500" cy="161925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2625" b="0">
                <a:solidFill>
                  <a:srgbClr val="17384C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625" b="0">
                <a:solidFill>
                  <a:srgbClr val="17384C"/>
                </a:solidFill>
                <a:latin typeface="Microsoft JhengHei"/>
                <a:ea typeface="Microsoft JhengHei"/>
                <a:cs typeface="Microsoft JhengHei"/>
              </a:rPr>
              <a:t>提交Notebook；課後做20元筆3支與15元本子2本的訂單。</a:t>
            </a:r>
          </a:p>
        </p:txBody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E3B15F79-C727-4F0D-AAB6-1F1CC984049E}"/>
              </a:ext>
            </a:extLst>
          </p:cNvPr>
          <p:cNvSpPr>
            <a:spLocks noGrp="1"/>
          </p:cNvSpPr>
          <p:nvPr/>
        </p:nvSpPr>
        <p:spPr>
          <a:xfrm>
            <a:off x="685800" y="4019550"/>
            <a:ext cx="10477500" cy="47625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875" b="1">
                <a:solidFill>
                  <a:srgbClr val="078078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875" b="1">
                <a:solidFill>
                  <a:srgbClr val="078078"/>
                </a:solidFill>
                <a:latin typeface="Microsoft JhengHei"/>
                <a:ea typeface="Microsoft JhengHei"/>
                <a:cs typeface="Microsoft JhengHei"/>
              </a:rPr>
              <a:t>核對重點</a:t>
            </a:r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11F3CE8C-D977-4674-BAB7-75C573CD3412}"/>
              </a:ext>
            </a:extLst>
          </p:cNvPr>
          <p:cNvSpPr>
            <a:spLocks noGrp="1"/>
          </p:cNvSpPr>
          <p:nvPr/>
        </p:nvSpPr>
        <p:spPr>
          <a:xfrm>
            <a:off x="685800" y="4667250"/>
            <a:ext cx="10477500" cy="1381125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2250" b="0">
                <a:solidFill>
                  <a:srgbClr val="213547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250" b="0">
                <a:solidFill>
                  <a:srgbClr val="213547"/>
                </a:solidFill>
                <a:latin typeface="Microsoft JhengHei"/>
                <a:ea typeface="Microsoft JhengHei"/>
                <a:cs typeface="Microsoft JhengHei"/>
              </a:rPr>
              <a:t>離堂：str、int轉型、不會自動重算、修改quantity再執行。課後總價90元。</a:t>
            </a:r>
          </a:p>
        </p:txBody>
      </p:sp>
    </p:spTree>
    <p:extLst>
      <p:ext uri="{BB962C8B-B14F-4D97-AF65-F5344CB8AC3E}">
        <p14:creationId xmlns:p14="http://schemas.microsoft.com/office/powerpoint/2010/main" val="122908301"/>
      </p:ext>
    </p:extLst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NRSTYLE" val="Indezine_SM2_Title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NRSTYLE" val="Indezine_SM2_Text"/>
</p:tagLst>
</file>

<file path=ppt/theme/_rels/them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image" Target="../media/image2.jpeg"/></Relationships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1_06498007">
  <a:themeElements>
    <a:clrScheme name="3_Default Design 2">
      <a:dk1>
        <a:srgbClr val="000000"/>
      </a:dk1>
      <a:lt1>
        <a:srgbClr val="FFFFFF"/>
      </a:lt1>
      <a:dk2>
        <a:srgbClr val="000000"/>
      </a:dk2>
      <a:lt2>
        <a:srgbClr val="828282"/>
      </a:lt2>
      <a:accent1>
        <a:srgbClr val="A14D1D"/>
      </a:accent1>
      <a:accent2>
        <a:srgbClr val="85416B"/>
      </a:accent2>
      <a:accent3>
        <a:srgbClr val="FFFFFF"/>
      </a:accent3>
      <a:accent4>
        <a:srgbClr val="000000"/>
      </a:accent4>
      <a:accent5>
        <a:srgbClr val="CDB2AB"/>
      </a:accent5>
      <a:accent6>
        <a:srgbClr val="783A60"/>
      </a:accent6>
      <a:hlink>
        <a:srgbClr val="862D2D"/>
      </a:hlink>
      <a:folHlink>
        <a:srgbClr val="735427"/>
      </a:folHlink>
    </a:clrScheme>
    <a:fontScheme name="3_Default Design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bg1"/>
        </a:solidFill>
        <a:ln w="12700" cap="sq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  <a:extLst>
          <a:ext uri="{AF507438-7753-43E0-B8FC-AC1667EBCBE1}">
            <a14:hiddenEffects xmlns:a14="http://schemas.microsoft.com/office/drawing/2010/main">
              <a:effectLst>
                <a:outerShdw dist="35921" dir="2700000" algn="ctr" rotWithShape="0">
                  <a:schemeClr val="bg2"/>
                </a:outerShdw>
              </a:effectLst>
            </a14:hiddenEffects>
          </a:ext>
        </a:extLst>
      </a:spPr>
      <a:bodyPr vert="horz" wrap="none" lIns="91440" tIns="45720" rIns="91440" bIns="45720" numCol="1" anchor="ctr" anchorCtr="0" compatLnSpc="1">
        <a:prstTxWarp prst="textNoShape">
          <a:avLst/>
        </a:prstTxWarp>
      </a:bodyPr>
      <a:lstStyle>
        <a:defPPr marL="0" marR="0" indent="0" algn="ctr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altLang="zh-TW" sz="18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charset="0"/>
            <a:ea typeface="新細明體" charset="-120"/>
            <a:cs typeface="Arial" charset="0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bg1"/>
        </a:solidFill>
        <a:ln w="12700" cap="sq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  <a:extLst>
          <a:ext uri="{AF507438-7753-43E0-B8FC-AC1667EBCBE1}">
            <a14:hiddenEffects xmlns:a14="http://schemas.microsoft.com/office/drawing/2010/main">
              <a:effectLst>
                <a:outerShdw dist="35921" dir="2700000" algn="ctr" rotWithShape="0">
                  <a:schemeClr val="bg2"/>
                </a:outerShdw>
              </a:effectLst>
            </a14:hiddenEffects>
          </a:ext>
        </a:extLst>
      </a:spPr>
      <a:bodyPr vert="horz" wrap="none" lIns="91440" tIns="45720" rIns="91440" bIns="45720" numCol="1" anchor="ctr" anchorCtr="0" compatLnSpc="1">
        <a:prstTxWarp prst="textNoShape">
          <a:avLst/>
        </a:prstTxWarp>
      </a:bodyPr>
      <a:lstStyle>
        <a:defPPr marL="0" marR="0" indent="0" algn="ctr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altLang="zh-TW" sz="18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charset="0"/>
            <a:ea typeface="新細明體" charset="-120"/>
            <a:cs typeface="Arial" charset="0"/>
          </a:defRPr>
        </a:defPPr>
      </a:lstStyle>
    </a:lnDef>
  </a:objectDefaults>
  <a:extraClrSchemeLst>
    <a:extraClrScheme>
      <a:clrScheme name="3_Default Design 1">
        <a:dk1>
          <a:srgbClr val="000000"/>
        </a:dk1>
        <a:lt1>
          <a:srgbClr val="FFFFFF"/>
        </a:lt1>
        <a:dk2>
          <a:srgbClr val="000000"/>
        </a:dk2>
        <a:lt2>
          <a:srgbClr val="828282"/>
        </a:lt2>
        <a:accent1>
          <a:srgbClr val="A62121"/>
        </a:accent1>
        <a:accent2>
          <a:srgbClr val="99001E"/>
        </a:accent2>
        <a:accent3>
          <a:srgbClr val="FFFFFF"/>
        </a:accent3>
        <a:accent4>
          <a:srgbClr val="000000"/>
        </a:accent4>
        <a:accent5>
          <a:srgbClr val="D0ABAB"/>
        </a:accent5>
        <a:accent6>
          <a:srgbClr val="8A001A"/>
        </a:accent6>
        <a:hlink>
          <a:srgbClr val="8C0000"/>
        </a:hlink>
        <a:folHlink>
          <a:srgbClr val="800F28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3_Default Design 2">
        <a:dk1>
          <a:srgbClr val="000000"/>
        </a:dk1>
        <a:lt1>
          <a:srgbClr val="FFFFFF"/>
        </a:lt1>
        <a:dk2>
          <a:srgbClr val="000000"/>
        </a:dk2>
        <a:lt2>
          <a:srgbClr val="828282"/>
        </a:lt2>
        <a:accent1>
          <a:srgbClr val="A14D1D"/>
        </a:accent1>
        <a:accent2>
          <a:srgbClr val="85416B"/>
        </a:accent2>
        <a:accent3>
          <a:srgbClr val="FFFFFF"/>
        </a:accent3>
        <a:accent4>
          <a:srgbClr val="000000"/>
        </a:accent4>
        <a:accent5>
          <a:srgbClr val="CDB2AB"/>
        </a:accent5>
        <a:accent6>
          <a:srgbClr val="783A60"/>
        </a:accent6>
        <a:hlink>
          <a:srgbClr val="862D2D"/>
        </a:hlink>
        <a:folHlink>
          <a:srgbClr val="735427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3_Default Design 3">
        <a:dk1>
          <a:srgbClr val="000000"/>
        </a:dk1>
        <a:lt1>
          <a:srgbClr val="FFFFFF"/>
        </a:lt1>
        <a:dk2>
          <a:srgbClr val="000000"/>
        </a:dk2>
        <a:lt2>
          <a:srgbClr val="828282"/>
        </a:lt2>
        <a:accent1>
          <a:srgbClr val="396C80"/>
        </a:accent1>
        <a:accent2>
          <a:srgbClr val="943E3E"/>
        </a:accent2>
        <a:accent3>
          <a:srgbClr val="FFFFFF"/>
        </a:accent3>
        <a:accent4>
          <a:srgbClr val="000000"/>
        </a:accent4>
        <a:accent5>
          <a:srgbClr val="AEBAC0"/>
        </a:accent5>
        <a:accent6>
          <a:srgbClr val="863737"/>
        </a:accent6>
        <a:hlink>
          <a:srgbClr val="3A3474"/>
        </a:hlink>
        <a:folHlink>
          <a:srgbClr val="48542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3_Default Design 4">
        <a:dk1>
          <a:srgbClr val="000000"/>
        </a:dk1>
        <a:lt1>
          <a:srgbClr val="FFFFFF"/>
        </a:lt1>
        <a:dk2>
          <a:srgbClr val="000000"/>
        </a:dk2>
        <a:lt2>
          <a:srgbClr val="828282"/>
        </a:lt2>
        <a:accent1>
          <a:srgbClr val="806F2B"/>
        </a:accent1>
        <a:accent2>
          <a:srgbClr val="3C7331"/>
        </a:accent2>
        <a:accent3>
          <a:srgbClr val="FFFFFF"/>
        </a:accent3>
        <a:accent4>
          <a:srgbClr val="000000"/>
        </a:accent4>
        <a:accent5>
          <a:srgbClr val="C0BBAC"/>
        </a:accent5>
        <a:accent6>
          <a:srgbClr val="35682B"/>
        </a:accent6>
        <a:hlink>
          <a:srgbClr val="862D2D"/>
        </a:hlink>
        <a:folHlink>
          <a:srgbClr val="40398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3_Default Design 5">
        <a:dk1>
          <a:srgbClr val="000000"/>
        </a:dk1>
        <a:lt1>
          <a:srgbClr val="FFFFFF"/>
        </a:lt1>
        <a:dk2>
          <a:srgbClr val="000000"/>
        </a:dk2>
        <a:lt2>
          <a:srgbClr val="828282"/>
        </a:lt2>
        <a:accent1>
          <a:srgbClr val="CC8500"/>
        </a:accent1>
        <a:accent2>
          <a:srgbClr val="C2940A"/>
        </a:accent2>
        <a:accent3>
          <a:srgbClr val="FFFFFF"/>
        </a:accent3>
        <a:accent4>
          <a:srgbClr val="000000"/>
        </a:accent4>
        <a:accent5>
          <a:srgbClr val="E2C2AA"/>
        </a:accent5>
        <a:accent6>
          <a:srgbClr val="B08608"/>
        </a:accent6>
        <a:hlink>
          <a:srgbClr val="A66C00"/>
        </a:hlink>
        <a:folHlink>
          <a:srgbClr val="9973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3_Default Design 6">
        <a:dk1>
          <a:srgbClr val="000000"/>
        </a:dk1>
        <a:lt1>
          <a:srgbClr val="FFFFFF"/>
        </a:lt1>
        <a:dk2>
          <a:srgbClr val="000000"/>
        </a:dk2>
        <a:lt2>
          <a:srgbClr val="828282"/>
        </a:lt2>
        <a:accent1>
          <a:srgbClr val="B29800"/>
        </a:accent1>
        <a:accent2>
          <a:srgbClr val="C97C3C"/>
        </a:accent2>
        <a:accent3>
          <a:srgbClr val="FFFFFF"/>
        </a:accent3>
        <a:accent4>
          <a:srgbClr val="000000"/>
        </a:accent4>
        <a:accent5>
          <a:srgbClr val="D5CAAA"/>
        </a:accent5>
        <a:accent6>
          <a:srgbClr val="B67035"/>
        </a:accent6>
        <a:hlink>
          <a:srgbClr val="A66C00"/>
        </a:hlink>
        <a:folHlink>
          <a:srgbClr val="BF4F43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3_Default Design 7">
        <a:dk1>
          <a:srgbClr val="000000"/>
        </a:dk1>
        <a:lt1>
          <a:srgbClr val="FFFFFF"/>
        </a:lt1>
        <a:dk2>
          <a:srgbClr val="000000"/>
        </a:dk2>
        <a:lt2>
          <a:srgbClr val="828282"/>
        </a:lt2>
        <a:accent1>
          <a:srgbClr val="2B9FD9"/>
        </a:accent1>
        <a:accent2>
          <a:srgbClr val="CC8500"/>
        </a:accent2>
        <a:accent3>
          <a:srgbClr val="FFFFFF"/>
        </a:accent3>
        <a:accent4>
          <a:srgbClr val="000000"/>
        </a:accent4>
        <a:accent5>
          <a:srgbClr val="ACCDE9"/>
        </a:accent5>
        <a:accent6>
          <a:srgbClr val="B97800"/>
        </a:accent6>
        <a:hlink>
          <a:srgbClr val="8A73BF"/>
        </a:hlink>
        <a:folHlink>
          <a:srgbClr val="2E994E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3_Default Design 8">
        <a:dk1>
          <a:srgbClr val="000000"/>
        </a:dk1>
        <a:lt1>
          <a:srgbClr val="FFFFFF"/>
        </a:lt1>
        <a:dk2>
          <a:srgbClr val="000000"/>
        </a:dk2>
        <a:lt2>
          <a:srgbClr val="828282"/>
        </a:lt2>
        <a:accent1>
          <a:srgbClr val="7AB236"/>
        </a:accent1>
        <a:accent2>
          <a:srgbClr val="CC527E"/>
        </a:accent2>
        <a:accent3>
          <a:srgbClr val="FFFFFF"/>
        </a:accent3>
        <a:accent4>
          <a:srgbClr val="000000"/>
        </a:accent4>
        <a:accent5>
          <a:srgbClr val="BED5AE"/>
        </a:accent5>
        <a:accent6>
          <a:srgbClr val="B94972"/>
        </a:accent6>
        <a:hlink>
          <a:srgbClr val="4D6BBF"/>
        </a:hlink>
        <a:folHlink>
          <a:srgbClr val="A66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3_Default Design 9">
        <a:dk1>
          <a:srgbClr val="000000"/>
        </a:dk1>
        <a:lt1>
          <a:srgbClr val="FFFFFF"/>
        </a:lt1>
        <a:dk2>
          <a:srgbClr val="000000"/>
        </a:dk2>
        <a:lt2>
          <a:srgbClr val="B2B2B2"/>
        </a:lt2>
        <a:accent1>
          <a:srgbClr val="009905"/>
        </a:accent1>
        <a:accent2>
          <a:srgbClr val="4D8C00"/>
        </a:accent2>
        <a:accent3>
          <a:srgbClr val="FFFFFF"/>
        </a:accent3>
        <a:accent4>
          <a:srgbClr val="000000"/>
        </a:accent4>
        <a:accent5>
          <a:srgbClr val="AACAAA"/>
        </a:accent5>
        <a:accent6>
          <a:srgbClr val="457E00"/>
        </a:accent6>
        <a:hlink>
          <a:srgbClr val="008004"/>
        </a:hlink>
        <a:folHlink>
          <a:srgbClr val="3F73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3_Default Design 10">
        <a:dk1>
          <a:srgbClr val="000000"/>
        </a:dk1>
        <a:lt1>
          <a:srgbClr val="FFFFFF"/>
        </a:lt1>
        <a:dk2>
          <a:srgbClr val="000000"/>
        </a:dk2>
        <a:lt2>
          <a:srgbClr val="B2B2B2"/>
        </a:lt2>
        <a:accent1>
          <a:srgbClr val="00678C"/>
        </a:accent1>
        <a:accent2>
          <a:srgbClr val="5E8000"/>
        </a:accent2>
        <a:accent3>
          <a:srgbClr val="FFFFFF"/>
        </a:accent3>
        <a:accent4>
          <a:srgbClr val="000000"/>
        </a:accent4>
        <a:accent5>
          <a:srgbClr val="AAB8C5"/>
        </a:accent5>
        <a:accent6>
          <a:srgbClr val="547300"/>
        </a:accent6>
        <a:hlink>
          <a:srgbClr val="006E04"/>
        </a:hlink>
        <a:folHlink>
          <a:srgbClr val="66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3_Default Design 11">
        <a:dk1>
          <a:srgbClr val="000000"/>
        </a:dk1>
        <a:lt1>
          <a:srgbClr val="FFFFFF"/>
        </a:lt1>
        <a:dk2>
          <a:srgbClr val="000000"/>
        </a:dk2>
        <a:lt2>
          <a:srgbClr val="B2B2B2"/>
        </a:lt2>
        <a:accent1>
          <a:srgbClr val="A65821"/>
        </a:accent1>
        <a:accent2>
          <a:srgbClr val="008004"/>
        </a:accent2>
        <a:accent3>
          <a:srgbClr val="FFFFFF"/>
        </a:accent3>
        <a:accent4>
          <a:srgbClr val="000000"/>
        </a:accent4>
        <a:accent5>
          <a:srgbClr val="D0B4AB"/>
        </a:accent5>
        <a:accent6>
          <a:srgbClr val="007303"/>
        </a:accent6>
        <a:hlink>
          <a:srgbClr val="8C2A60"/>
        </a:hlink>
        <a:folHlink>
          <a:srgbClr val="67338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3_Default Design 12">
        <a:dk1>
          <a:srgbClr val="000000"/>
        </a:dk1>
        <a:lt1>
          <a:srgbClr val="FFFFFF"/>
        </a:lt1>
        <a:dk2>
          <a:srgbClr val="000000"/>
        </a:dk2>
        <a:lt2>
          <a:srgbClr val="B2B2B2"/>
        </a:lt2>
        <a:accent1>
          <a:srgbClr val="B2403E"/>
        </a:accent1>
        <a:accent2>
          <a:srgbClr val="2D8064"/>
        </a:accent2>
        <a:accent3>
          <a:srgbClr val="FFFFFF"/>
        </a:accent3>
        <a:accent4>
          <a:srgbClr val="000000"/>
        </a:accent4>
        <a:accent5>
          <a:srgbClr val="D5AFAF"/>
        </a:accent5>
        <a:accent6>
          <a:srgbClr val="28735A"/>
        </a:accent6>
        <a:hlink>
          <a:srgbClr val="4D3F8C"/>
        </a:hlink>
        <a:folHlink>
          <a:srgbClr val="006E04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3_Default Design 13">
        <a:dk1>
          <a:srgbClr val="000000"/>
        </a:dk1>
        <a:lt1>
          <a:srgbClr val="FFFFFF"/>
        </a:lt1>
        <a:dk2>
          <a:srgbClr val="000000"/>
        </a:dk2>
        <a:lt2>
          <a:srgbClr val="828282"/>
        </a:lt2>
        <a:accent1>
          <a:srgbClr val="0052C0"/>
        </a:accent1>
        <a:accent2>
          <a:srgbClr val="3239BF"/>
        </a:accent2>
        <a:accent3>
          <a:srgbClr val="FFFFFF"/>
        </a:accent3>
        <a:accent4>
          <a:srgbClr val="000000"/>
        </a:accent4>
        <a:accent5>
          <a:srgbClr val="AAB3DC"/>
        </a:accent5>
        <a:accent6>
          <a:srgbClr val="2C33AD"/>
        </a:accent6>
        <a:hlink>
          <a:srgbClr val="004299"/>
        </a:hlink>
        <a:folHlink>
          <a:srgbClr val="282D99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3_Default Design 14">
        <a:dk1>
          <a:srgbClr val="000000"/>
        </a:dk1>
        <a:lt1>
          <a:srgbClr val="FFFFFF"/>
        </a:lt1>
        <a:dk2>
          <a:srgbClr val="000000"/>
        </a:dk2>
        <a:lt2>
          <a:srgbClr val="828282"/>
        </a:lt2>
        <a:accent1>
          <a:srgbClr val="6759B2"/>
        </a:accent1>
        <a:accent2>
          <a:srgbClr val="00708C"/>
        </a:accent2>
        <a:accent3>
          <a:srgbClr val="FFFFFF"/>
        </a:accent3>
        <a:accent4>
          <a:srgbClr val="000000"/>
        </a:accent4>
        <a:accent5>
          <a:srgbClr val="B8B5D5"/>
        </a:accent5>
        <a:accent6>
          <a:srgbClr val="00657E"/>
        </a:accent6>
        <a:hlink>
          <a:srgbClr val="0048A6"/>
        </a:hlink>
        <a:folHlink>
          <a:srgbClr val="742E99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3_Default Design 15">
        <a:dk1>
          <a:srgbClr val="000000"/>
        </a:dk1>
        <a:lt1>
          <a:srgbClr val="FFFFFF"/>
        </a:lt1>
        <a:dk2>
          <a:srgbClr val="000000"/>
        </a:dk2>
        <a:lt2>
          <a:srgbClr val="828282"/>
        </a:lt2>
        <a:accent1>
          <a:srgbClr val="A68500"/>
        </a:accent1>
        <a:accent2>
          <a:srgbClr val="2462B2"/>
        </a:accent2>
        <a:accent3>
          <a:srgbClr val="FFFFFF"/>
        </a:accent3>
        <a:accent4>
          <a:srgbClr val="000000"/>
        </a:accent4>
        <a:accent5>
          <a:srgbClr val="D0C2AA"/>
        </a:accent5>
        <a:accent6>
          <a:srgbClr val="2058A1"/>
        </a:accent6>
        <a:hlink>
          <a:srgbClr val="546E00"/>
        </a:hlink>
        <a:folHlink>
          <a:srgbClr val="8031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3_Default Design 16">
        <a:dk1>
          <a:srgbClr val="000000"/>
        </a:dk1>
        <a:lt1>
          <a:srgbClr val="FFFFFF"/>
        </a:lt1>
        <a:dk2>
          <a:srgbClr val="000000"/>
        </a:dk2>
        <a:lt2>
          <a:srgbClr val="828282"/>
        </a:lt2>
        <a:accent1>
          <a:srgbClr val="628000"/>
        </a:accent1>
        <a:accent2>
          <a:srgbClr val="8C5200"/>
        </a:accent2>
        <a:accent3>
          <a:srgbClr val="FFFFFF"/>
        </a:accent3>
        <a:accent4>
          <a:srgbClr val="000000"/>
        </a:accent4>
        <a:accent5>
          <a:srgbClr val="B7C0AA"/>
        </a:accent5>
        <a:accent6>
          <a:srgbClr val="7E4900"/>
        </a:accent6>
        <a:hlink>
          <a:srgbClr val="911D65"/>
        </a:hlink>
        <a:folHlink>
          <a:srgbClr val="00459E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3.xml><?xml version="1.0" encoding="utf-8"?>
<a:theme xmlns:a="http://schemas.openxmlformats.org/drawingml/2006/main" name="Median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 古典 2">
      <a:majorFont>
        <a:latin typeface="Arial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ajorFont>
      <a:minorFont>
        <a:latin typeface="Arial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blipFill>
          <a:blip xmlns:r="http://schemas.openxmlformats.org/officeDocument/2006/relationships" r:embed="rId1">
            <a:duotone>
              <a:schemeClr val="phClr">
                <a:shade val="90000"/>
                <a:satMod val="140000"/>
              </a:schemeClr>
              <a:schemeClr val="phClr">
                <a:satMod val="120000"/>
              </a:schemeClr>
            </a:duotone>
          </a:blip>
          <a:tile tx="0" ty="0" sx="100000" sy="100000" flip="none" algn="tl"/>
        </a:blipFill>
        <a:blipFill>
          <a:blip xmlns:r="http://schemas.openxmlformats.org/officeDocument/2006/relationships" r:embed="rId2">
            <a:duotone>
              <a:schemeClr val="phClr">
                <a:shade val="90000"/>
                <a:satMod val="140000"/>
              </a:schemeClr>
              <a:schemeClr val="phClr">
                <a:satMod val="120000"/>
              </a:schemeClr>
            </a:duotone>
          </a:blip>
          <a:tile tx="0" ty="0" sx="100000" sy="100000" flip="none" algn="tl"/>
        </a:blipFill>
      </a:bgFillStyleLst>
    </a:fmtScheme>
  </a:themeElements>
  <a:objectDefaults/>
  <a:extraClrSchemeLst/>
</a:theme>
</file>

<file path=ppt/theme/theme4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59</TotalTime>
  <Words>9703</Words>
  <Application>Microsoft Office PowerPoint</Application>
  <DocSecurity>0</DocSecurity>
  <PresentationFormat>寬螢幕</PresentationFormat>
  <Paragraphs>922</Paragraphs>
  <Slides>96</Slides>
  <Notes>29</Notes>
  <HiddenSlides>0</HiddenSlides>
  <MMClips>0</MMClips>
  <ScaleCrop>false</ScaleCrop>
  <HeadingPairs>
    <vt:vector size="6" baseType="variant">
      <vt:variant>
        <vt:lpstr>使用字型</vt:lpstr>
      </vt:variant>
      <vt:variant>
        <vt:i4>12</vt:i4>
      </vt:variant>
      <vt:variant>
        <vt:lpstr>佈景主題</vt:lpstr>
      </vt:variant>
      <vt:variant>
        <vt:i4>3</vt:i4>
      </vt:variant>
      <vt:variant>
        <vt:lpstr>投影片標題</vt:lpstr>
      </vt:variant>
      <vt:variant>
        <vt:i4>96</vt:i4>
      </vt:variant>
    </vt:vector>
  </HeadingPairs>
  <TitlesOfParts>
    <vt:vector size="111" baseType="lpstr">
      <vt:lpstr>inherit</vt:lpstr>
      <vt:lpstr>Radio Canada Big</vt:lpstr>
      <vt:lpstr>source-serif-pro</vt:lpstr>
      <vt:lpstr>system-ui</vt:lpstr>
      <vt:lpstr>微軟正黑體</vt:lpstr>
      <vt:lpstr>微軟正黑體</vt:lpstr>
      <vt:lpstr>新細明體</vt:lpstr>
      <vt:lpstr>Arial</vt:lpstr>
      <vt:lpstr>Arial Black</vt:lpstr>
      <vt:lpstr>Calibri</vt:lpstr>
      <vt:lpstr>Tahoma</vt:lpstr>
      <vt:lpstr>Wingdings</vt:lpstr>
      <vt:lpstr>ChatGPT</vt:lpstr>
      <vt:lpstr>1_06498007</vt:lpstr>
      <vt:lpstr>Median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第3章 變數、運算式與運算子</vt:lpstr>
      <vt:lpstr>3-1 程式語言的變數</vt:lpstr>
      <vt:lpstr>3-1-1 認識變數– 說明</vt:lpstr>
      <vt:lpstr>3-1-1 認識變數– 變數是儲存在哪裡</vt:lpstr>
      <vt:lpstr>3-1-1 認識變數– 變數的基本操作</vt:lpstr>
      <vt:lpstr>3-1-2 使用變數前的準備工作– 說明</vt:lpstr>
      <vt:lpstr>3-1-2 使用變數前的準備工作– 內容</vt:lpstr>
      <vt:lpstr>3-1-3 Python語言的命名規則</vt:lpstr>
      <vt:lpstr>3-1-3 Python語言的命名規則</vt:lpstr>
      <vt:lpstr>3-2 在程式使用變數</vt:lpstr>
      <vt:lpstr>3-2 在程式使用變數</vt:lpstr>
      <vt:lpstr>3-2-1 指定和輸出變數值</vt:lpstr>
      <vt:lpstr>3-2-1 指定和輸出變數值</vt:lpstr>
      <vt:lpstr>3-2-2 指定成其他文字值</vt:lpstr>
      <vt:lpstr>3-2-2 指定成其他文字值</vt:lpstr>
      <vt:lpstr>3-2-3 指定成其他變數值</vt:lpstr>
      <vt:lpstr>3-3 變數的資料型態和型態轉換函數</vt:lpstr>
      <vt:lpstr>3-3 變數的資料型態和型態轉換函數</vt:lpstr>
      <vt:lpstr>3-3-1 取得變數的資料型態</vt:lpstr>
      <vt:lpstr>3-3-2 資料型態轉換函數</vt:lpstr>
      <vt:lpstr>3-4 讓使用者輸入變數值 從鍵盤輸入字串資料</vt:lpstr>
      <vt:lpstr>3-4 讓使用者輸入變數值 從鍵盤輸入字串資料</vt:lpstr>
      <vt:lpstr>3-4 讓使用者輸入變數值 從鍵盤輸入數值資料</vt:lpstr>
      <vt:lpstr>輸出與輸入</vt:lpstr>
      <vt:lpstr>PowerPoint 簡報</vt:lpstr>
      <vt:lpstr>PowerPoint 簡報</vt:lpstr>
      <vt:lpstr>PowerPoint 簡報</vt:lpstr>
      <vt:lpstr>PowerPoint 簡報</vt:lpstr>
      <vt:lpstr>PowerPoint 簡報</vt:lpstr>
      <vt:lpstr>認識運算式和運算子</vt:lpstr>
      <vt:lpstr>關於運算式</vt:lpstr>
      <vt:lpstr>關於運算式</vt:lpstr>
      <vt:lpstr>輸出運算式的運算結果</vt:lpstr>
      <vt:lpstr>執行不同種類運算元的運算 2個運算元都是變數</vt:lpstr>
      <vt:lpstr>執行不同種類運算元的運算 2個運算元都是變數</vt:lpstr>
      <vt:lpstr>執行不同種類運算元的運算 1個運算元是變數；1個運算元是文字值</vt:lpstr>
      <vt:lpstr>執行不同種類運算元的運算 1個運算元是變數；1個運算元是文字值</vt:lpstr>
      <vt:lpstr>讓使用者輸入值來執行運算</vt:lpstr>
      <vt:lpstr>在程式使用運算子</vt:lpstr>
      <vt:lpstr>運算子的優先順序 優先順序（Precedence）</vt:lpstr>
      <vt:lpstr>運算子的優先順序 Python運算子的優先順序</vt:lpstr>
      <vt:lpstr>算術運算子</vt:lpstr>
      <vt:lpstr>PowerPoint 簡報</vt:lpstr>
      <vt:lpstr>指定運算子</vt:lpstr>
      <vt:lpstr>指定運算子</vt:lpstr>
      <vt:lpstr>指定運算子</vt:lpstr>
      <vt:lpstr>PowerPoint 簡報</vt:lpstr>
      <vt:lpstr>更多的指定敘述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Presentation</dc:title>
  <dc:creator>Walnut Exporter</dc:creator>
  <cp:lastModifiedBy>王頌文</cp:lastModifiedBy>
  <cp:revision>20</cp:revision>
  <dcterms:created xsi:type="dcterms:W3CDTF">2026-10-07T23:28:36Z</dcterms:created>
  <dcterms:modified xsi:type="dcterms:W3CDTF">2026-10-20T03:53:19Z</dcterms:modified>
</cp:coreProperties>
</file>