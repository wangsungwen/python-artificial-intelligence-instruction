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86"/>
  </p:notesMasterIdLst>
  <p:sldIdLst>
    <p:sldId id="256" r:id="rId3"/>
    <p:sldId id="257" r:id="rId4"/>
    <p:sldId id="258" r:id="rId5"/>
    <p:sldId id="259" r:id="rId6"/>
    <p:sldId id="283" r:id="rId7"/>
    <p:sldId id="260" r:id="rId8"/>
    <p:sldId id="261" r:id="rId9"/>
    <p:sldId id="262" r:id="rId10"/>
    <p:sldId id="263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67" r:id="rId26"/>
    <p:sldId id="298" r:id="rId27"/>
    <p:sldId id="341" r:id="rId28"/>
    <p:sldId id="342" r:id="rId29"/>
    <p:sldId id="343" r:id="rId30"/>
    <p:sldId id="344" r:id="rId31"/>
    <p:sldId id="345" r:id="rId32"/>
    <p:sldId id="346" r:id="rId33"/>
    <p:sldId id="347" r:id="rId34"/>
    <p:sldId id="348" r:id="rId35"/>
    <p:sldId id="378" r:id="rId36"/>
    <p:sldId id="352" r:id="rId37"/>
    <p:sldId id="353" r:id="rId38"/>
    <p:sldId id="376" r:id="rId39"/>
    <p:sldId id="354" r:id="rId40"/>
    <p:sldId id="356" r:id="rId41"/>
    <p:sldId id="357" r:id="rId42"/>
    <p:sldId id="379" r:id="rId43"/>
    <p:sldId id="358" r:id="rId44"/>
    <p:sldId id="359" r:id="rId45"/>
    <p:sldId id="360" r:id="rId46"/>
    <p:sldId id="361" r:id="rId47"/>
    <p:sldId id="362" r:id="rId48"/>
    <p:sldId id="380" r:id="rId49"/>
    <p:sldId id="377" r:id="rId50"/>
    <p:sldId id="367" r:id="rId51"/>
    <p:sldId id="368" r:id="rId52"/>
    <p:sldId id="381" r:id="rId53"/>
    <p:sldId id="369" r:id="rId54"/>
    <p:sldId id="370" r:id="rId55"/>
    <p:sldId id="382" r:id="rId56"/>
    <p:sldId id="371" r:id="rId57"/>
    <p:sldId id="383" r:id="rId58"/>
    <p:sldId id="384" r:id="rId59"/>
    <p:sldId id="372" r:id="rId60"/>
    <p:sldId id="373" r:id="rId61"/>
    <p:sldId id="374" r:id="rId62"/>
    <p:sldId id="375" r:id="rId63"/>
    <p:sldId id="385" r:id="rId64"/>
    <p:sldId id="386" r:id="rId65"/>
    <p:sldId id="387" r:id="rId66"/>
    <p:sldId id="388" r:id="rId67"/>
    <p:sldId id="264" r:id="rId68"/>
    <p:sldId id="265" r:id="rId69"/>
    <p:sldId id="266" r:id="rId70"/>
    <p:sldId id="268" r:id="rId71"/>
    <p:sldId id="269" r:id="rId72"/>
    <p:sldId id="270" r:id="rId73"/>
    <p:sldId id="271" r:id="rId74"/>
    <p:sldId id="272" r:id="rId75"/>
    <p:sldId id="273" r:id="rId76"/>
    <p:sldId id="274" r:id="rId77"/>
    <p:sldId id="275" r:id="rId78"/>
    <p:sldId id="276" r:id="rId79"/>
    <p:sldId id="277" r:id="rId80"/>
    <p:sldId id="278" r:id="rId81"/>
    <p:sldId id="279" r:id="rId82"/>
    <p:sldId id="280" r:id="rId83"/>
    <p:sldId id="281" r:id="rId84"/>
    <p:sldId id="282" r:id="rId85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764" autoAdjust="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68" Type="http://schemas.openxmlformats.org/officeDocument/2006/relationships/slide" Target="slides/slide66.xml"/><Relationship Id="rId84" Type="http://schemas.openxmlformats.org/officeDocument/2006/relationships/slide" Target="slides/slide82.xml"/><Relationship Id="rId89" Type="http://schemas.openxmlformats.org/officeDocument/2006/relationships/theme" Target="theme/theme1.xml"/><Relationship Id="rId16" Type="http://schemas.openxmlformats.org/officeDocument/2006/relationships/slide" Target="slides/slide14.xml"/><Relationship Id="rId11" Type="http://schemas.openxmlformats.org/officeDocument/2006/relationships/slide" Target="slides/slide9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74" Type="http://schemas.openxmlformats.org/officeDocument/2006/relationships/slide" Target="slides/slide72.xml"/><Relationship Id="rId79" Type="http://schemas.openxmlformats.org/officeDocument/2006/relationships/slide" Target="slides/slide77.xml"/><Relationship Id="rId5" Type="http://schemas.openxmlformats.org/officeDocument/2006/relationships/slide" Target="slides/slide3.xml"/><Relationship Id="rId90" Type="http://schemas.openxmlformats.org/officeDocument/2006/relationships/tableStyles" Target="tableStyles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69" Type="http://schemas.openxmlformats.org/officeDocument/2006/relationships/slide" Target="slides/slide67.xml"/><Relationship Id="rId77" Type="http://schemas.openxmlformats.org/officeDocument/2006/relationships/slide" Target="slides/slide75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72" Type="http://schemas.openxmlformats.org/officeDocument/2006/relationships/slide" Target="slides/slide70.xml"/><Relationship Id="rId80" Type="http://schemas.openxmlformats.org/officeDocument/2006/relationships/slide" Target="slides/slide78.xml"/><Relationship Id="rId85" Type="http://schemas.openxmlformats.org/officeDocument/2006/relationships/slide" Target="slides/slide83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67" Type="http://schemas.openxmlformats.org/officeDocument/2006/relationships/slide" Target="slides/slide65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70" Type="http://schemas.openxmlformats.org/officeDocument/2006/relationships/slide" Target="slides/slide68.xml"/><Relationship Id="rId75" Type="http://schemas.openxmlformats.org/officeDocument/2006/relationships/slide" Target="slides/slide73.xml"/><Relationship Id="rId83" Type="http://schemas.openxmlformats.org/officeDocument/2006/relationships/slide" Target="slides/slide81.xml"/><Relationship Id="rId88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slide" Target="slides/slide63.xml"/><Relationship Id="rId73" Type="http://schemas.openxmlformats.org/officeDocument/2006/relationships/slide" Target="slides/slide71.xml"/><Relationship Id="rId78" Type="http://schemas.openxmlformats.org/officeDocument/2006/relationships/slide" Target="slides/slide76.xml"/><Relationship Id="rId81" Type="http://schemas.openxmlformats.org/officeDocument/2006/relationships/slide" Target="slides/slide79.xml"/><Relationship Id="rId86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Relationship Id="rId76" Type="http://schemas.openxmlformats.org/officeDocument/2006/relationships/slide" Target="slides/slide74.xml"/><Relationship Id="rId7" Type="http://schemas.openxmlformats.org/officeDocument/2006/relationships/slide" Target="slides/slide5.xml"/><Relationship Id="rId71" Type="http://schemas.openxmlformats.org/officeDocument/2006/relationships/slide" Target="slides/slide6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7.xml"/><Relationship Id="rId24" Type="http://schemas.openxmlformats.org/officeDocument/2006/relationships/slide" Target="slides/slide22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66" Type="http://schemas.openxmlformats.org/officeDocument/2006/relationships/slide" Target="slides/slide64.xml"/><Relationship Id="rId87" Type="http://schemas.openxmlformats.org/officeDocument/2006/relationships/presProps" Target="presProps.xml"/><Relationship Id="rId61" Type="http://schemas.openxmlformats.org/officeDocument/2006/relationships/slide" Target="slides/slide59.xml"/><Relationship Id="rId82" Type="http://schemas.openxmlformats.org/officeDocument/2006/relationships/slide" Target="slides/slide80.xml"/><Relationship Id="rId19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本週目標：能開啟 Notebook 並依序執行儲存格；能用變數、數值與字串完成計算；能根據錯誤訊息修正簡單程式</a:t>
            </a:r>
          </a:p>
          <a:p>
            <a:r>
              <a:t>教材對照：CH01PPT 第1章；CH02PPT 第2章；CH03PPT 第3章</a:t>
            </a:r>
          </a:p>
          <a:p>
            <a:r>
              <a:t>完整180分鐘流程見逐字講稿。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294E5-A606-3231-8DDF-246467B60A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F7D479-BF61-86BD-9C03-6779688B70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3EB03B2-B55A-618F-C720-FECE61BE73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大家好，這門課從沒有寫過程式開始。請先想像，你要請一位不懂你的習慣的人幫你買飲料。只說買平常那杯，他很難完成；你必須交代品項、數量和付款金額。寫程式也是把工作交代清楚。今天我們要完成一張會自動重算的訂單。五週後，會把相同的拆解方法用到影像與分類。現在不用背語法，請先練習把輸入、處理和輸出分開說明。輸入是單價與杯數，處理是相乘，輸出是總價。</a:t>
            </a:r>
          </a:p>
          <a:p>
            <a:endParaRPr/>
          </a:p>
          <a:p>
            <a:r>
              <a:t>活動：兩人一組，用三句話說明買飲料的輸入、處理與輸出。每人打開本週實作檔。</a:t>
            </a:r>
          </a:p>
          <a:p>
            <a:r>
              <a:t>參考答案：輸入：單價35、杯數3；處理：35乘3；輸出：105元。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CH01PPT.ppt 第12頁。先辨認開始、處理與判斷符號；分支語法留待第2週。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2FEBD-C28B-3ED0-1656-C271114958B1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107109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>
            <a:endParaRPr/>
          </a:p>
          <a:p>
            <a:r>
              <a:t>活動：執行示範，修改問候語並儲存。請同桌指出程式格與輸出區的差別。</a:t>
            </a:r>
          </a:p>
          <a:p>
            <a:r>
              <a:t>參考答案：會出現兩行文字；修改後只要重跑該格就能看到新的問候語。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畫面中一個一個方框叫儲存格。文字格是給人看的說明，程式格是交給 Python 執行的指令。請點第一個程式格，按 Shift 加 Enter。看到問候文字就代表指令成功執行。左邊的數字代表執行次序，不一定等於畫面的排列順序。核心會暫時記住變數，關閉後可能消失，所以交作業前我們會重新啟動核心，從上到下全部執行一次。請先另存成含自己姓名的檔案，接著把問候語改成自己的名字。</a:t>
            </a:r>
          </a:p>
          <a:p>
            <a:endParaRPr/>
          </a:p>
          <a:p>
            <a:r>
              <a:t>活動：執行示範，修改問候語並儲存。請同桌指出程式格與輸出區的差別。</a:t>
            </a:r>
          </a:p>
          <a:p>
            <a:r>
              <a:t>參考答案：會出現兩行文字；修改後只要重跑該格就能看到新的問候語。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D1C80-B991-71C2-0AEF-1BFB4FA5F9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A23952-E944-AA96-6B72-4F655C2B6D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82C2A5-2C7C-F77E-15EB-F6E063D85B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請先不要執行，看看二加三會得到什麼。接著看引號裡的二加三，你覺得會一樣嗎？引號告訴 Python，這是一段文字，請保留它的樣子。因此第一個會算出五，第二個會顯示二加三。數字五與文字五看起來很像，但用途不同。數字可以拿來計算，文字適合拿來做姓名或商品名稱。print 的括號裡可以放數個項目，用逗號分開。請注意使用英文半形引號和括號，中文標點通常不能取代程式符號。</a:t>
            </a:r>
          </a:p>
          <a:p>
            <a:endParaRPr/>
          </a:p>
          <a:p>
            <a:r>
              <a:t>活動：先寫預測，再執行。新增一行，同時輸出商品名稱與數值35。</a:t>
            </a:r>
          </a:p>
          <a:p>
            <a:r>
              <a:t>參考答案：第一行5，第二行2 + 3，第三行飲料 35。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73F76D-32F7-EFD4-2224-3D17880278CB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214913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我們先休息十分鐘。離開座位前請儲存，不必關閉核心。若剛才有錯誤，請把出錯的格子留著，我會在休息時協助。回來後會把文字形式的數字轉成可以計算的資料。</a:t>
            </a:r>
          </a:p>
          <a:p>
            <a:endParaRPr/>
          </a:p>
          <a:p>
            <a:r>
              <a:t>活動：儲存檔案、伸展與休息。</a:t>
            </a:r>
          </a:p>
          <a:p>
            <a:r>
              <a:t>參考答案：回座後找得到本週檔案。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現在我們替資料取名字。price 等於三十五，表示讓 price 這個名稱指向三十五。這個等號是指定，不是在問兩邊是否相同。執行 total 等於 price 乘 quantity 時，Python 會先算右邊，再把結果交給 total。如果之後只改 price，已經算好的 total 不會自動重算。這就像紙上已經寫下的答案，你改了題目，還必須再算一次。請把單價改成四十，重跑整格，觀察總價。命名可以使用英文字母、數字與底線，但不要以數字開頭。</a:t>
            </a:r>
          </a:p>
          <a:p>
            <a:endParaRPr/>
          </a:p>
          <a:p>
            <a:r>
              <a:t>活動：把price改為40，quantity改為4，重新計算；說明為什麼總價變了。</a:t>
            </a:r>
          </a:p>
          <a:p>
            <a:r>
              <a:t>參考答案：40乘4等於160。變數更新後重新執行乘法，total才得到新值。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第5頁。用原教材盒子圖說明讀取與指定，再提醒變數更新不會自動重算其他變數。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訂單的杯數可能來自使用者輸入。input 收到的內容一律是文字，即使你輸入的是三，也要用 int 轉成整數才能當杯數。今天主流程先用字串三模擬輸入，這樣全部執行時不會停下等待。下方另有互動輸入開關，想實際輸入的人可以打開。請看 type 的結果，它告訴我們目前是哪一種資料。小數例如三十五點五用 float。若把三杯直接交給 int，會出現 ValueError，因為它不是整數格式。現在先約定只輸入純數字，第三週會處理錯誤輸入。</a:t>
            </a:r>
          </a:p>
          <a:p>
            <a:endParaRPr/>
          </a:p>
          <a:p>
            <a:r>
              <a:t>活動：把文字杯數改成"4"並轉型，接著比較"3" * 2與int("3") * 2。</a:t>
            </a:r>
          </a:p>
          <a:p>
            <a:r>
              <a:t>參考答案：前者是文字33，後者是數值6。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直接引用 CH03PPT.ppt 第23頁。對照int與float；本課先用文字模擬輸入，再以互動開關體驗input。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>
            <a:endParaRPr/>
          </a:p>
          <a:p>
            <a:r>
              <a:t>活動：計算5杯每杯30元，付200元的找零。再算17顆糖每袋5顆的袋數與剩餘。</a:t>
            </a:r>
          </a:p>
          <a:p>
            <a:r>
              <a:t>參考答案：總價150、找零50；3袋、剩2顆。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我們把付錢的情境拆成兩步，先求總價，再求找零。付款減去總價就是找零。若要分裝，十個物品每盒三個，十除以三會有小數；整數除法得到三盒，餘數得到剩下一個。請特別注意，Python 裡兩條斜線表示整數除法，一個百分號表示餘數，這個符號在這裡不是百分比。較複雜的式子請加上括號，讓自己和同學都看得出先算哪一部分。接著請你改付款金額，確認答案是否合理。</a:t>
            </a:r>
          </a:p>
          <a:p>
            <a:endParaRPr/>
          </a:p>
          <a:p>
            <a:r>
              <a:t>活動：計算5杯每杯30元，付200元的找零。再算17顆糖每袋5顆的袋數與剩餘。</a:t>
            </a:r>
          </a:p>
          <a:p>
            <a:r>
              <a:t>參考答案：總價150、找零50；3袋、剩2顆。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>
            <a:endParaRPr/>
          </a:p>
          <a:p>
            <a:r>
              <a:t>活動：修正prcie拼字與"總價" + 105的混用。說出錯誤種類與修正理由。</a:t>
            </a:r>
          </a:p>
          <a:p>
            <a:r>
              <a:t>參考答案：prcie改成price；改用print("總價", 105)或先將數值轉成字串。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出現錯誤不代表你不適合寫程式。錯誤訊息是 Python 告訴你它在哪一步無法繼續。今天先看兩種情況：名字拼錯會找不到變數，文字與數字直接相加可能不合規則。請先看最後一行，再回頭找標示的程式行。下面用文字呈現錯誤範例，避免全部執行時中斷。你可以另開一格試錯，修好後再保留正確版本。除錯時一次改一件事，否則即使修好了，也不知道是哪個修改有效。</a:t>
            </a:r>
          </a:p>
          <a:p>
            <a:endParaRPr/>
          </a:p>
          <a:p>
            <a:r>
              <a:t>活動：修正prcie拼字與"總價" + 105的混用。說出錯誤種類與修正理由。</a:t>
            </a:r>
          </a:p>
          <a:p>
            <a:r>
              <a:t>參考答案：prcie改成price；改用print("總價", 105)或先將數值轉成字串。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>
            <a:endParaRPr/>
          </a:p>
          <a:p>
            <a:r>
              <a:t>活動：使用f字串列印4杯每杯35元，共140元的完整訂單。</a:t>
            </a:r>
          </a:p>
          <a:p>
            <a:r>
              <a:t>參考答案：例如：紅茶 4杯，總價140元。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程式算對以後，還要讓使用者看得懂。單獨顯示一百零五，不知道是價格還是杯數。我們使用 f 字串，把變數放進大括號，旁邊寫清楚標籤和單位。小數格式點二 f，表示顯示到小數點後兩位，這主要控制畫面的呈現。請你先指出哪一段是固定文字，哪一段會隨變數改變。今天金額採整數元；往後處理真實帳務，還需要另外定義進位規則。</a:t>
            </a:r>
          </a:p>
          <a:p>
            <a:endParaRPr/>
          </a:p>
          <a:p>
            <a:r>
              <a:t>活動：使用f字串列印4杯每杯35元，共140元的完整訂單。</a:t>
            </a:r>
          </a:p>
          <a:p>
            <a:r>
              <a:t>參考答案：例如：紅茶 4杯，總價140元。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>
            <a:endParaRPr/>
          </a:p>
          <a:p>
            <a:r>
              <a:t>活動：完成專題格；先測試35、3、200，再測試40、2、100。加上自己的品項。</a:t>
            </a:r>
          </a:p>
          <a:p>
            <a:r>
              <a:t>參考答案：測試A：105、95；測試B：80、20。輸出須含品項、杯數、總價、找零。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接下來二十分鐘請完成自己的訂單。先用註解寫出你準備做的步驟，再寫程式。第一組資料是單價三十五、三杯、付款兩百，請算出總價一百零五、找零九十五。第二組改成四十元、兩杯、付款一百，結果應該是八十與二十。做完的人請和同桌交換檢查，請對方只改輸入就能重算。若你卡住，先保留商品名稱和單價，確定可以輸出，再增加杯數與找零。最後請用一句話說明指定運算的方向。</a:t>
            </a:r>
          </a:p>
          <a:p>
            <a:endParaRPr/>
          </a:p>
          <a:p>
            <a:r>
              <a:t>活動：完成專題格；先測試35、3、200，再測試40、2、100。加上自己的品項。</a:t>
            </a:r>
          </a:p>
          <a:p>
            <a:r>
              <a:t>參考答案：測試A：105、95；測試B：80、20。輸出須含品項、杯數、總價、找零。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>
            <a:endParaRPr/>
          </a:p>
          <a:p>
            <a:r>
              <a:t>活動：每人用60秒說明，教師抽查兩組結果。</a:t>
            </a:r>
          </a:p>
          <a:p>
            <a:r>
              <a:t>參考答案：能從乾淨核心重跑，且total不是手寫固定答案。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請先儲存，再使用重新啟動核心並全部執行。這一步是確認你的程式沒有依賴某個早已執行、但後來刪掉的格子。接著請同桌問你三個問題：哪個是輸入，哪一行進行計算，哪一行負責輸出。回答時請指著程式說，不只念答案。若第二組資料出現第一組答案，就要檢查是不是沒有重算。今天的及格標準是兩組都正確，且你能解釋變數的角色。</a:t>
            </a:r>
          </a:p>
          <a:p>
            <a:endParaRPr/>
          </a:p>
          <a:p>
            <a:r>
              <a:t>活動：每人用60秒說明，教師抽查兩組結果。</a:t>
            </a:r>
          </a:p>
          <a:p>
            <a:r>
              <a:t>參考答案：能從乾淨核心重跑，且total不是手寫固定答案。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>
            <a:endParaRPr/>
          </a:p>
          <a:p>
            <a:r>
              <a:t>活動：提交Notebook；課後做20元筆3支與15元本子2本的訂單。</a:t>
            </a:r>
          </a:p>
          <a:p>
            <a:r>
              <a:t>參考答案：離堂：str、int轉型、不會自動重算、修改quantity再執行。課後總價90元。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最後請不看筆記回答：input 收到的五是什麼型態？要拿來算杯數怎麼做？第二題，改了 price 但沒重跑 total，總價會自動改嗎？第三題，把三杯改成四杯，程式哪裡需要調整？課後請做文具訂單，兩項商品各有單價與數量，計算總價。下週會加入滿額折扣，讓程式依情況做不同的事。</a:t>
            </a:r>
          </a:p>
          <a:p>
            <a:endParaRPr/>
          </a:p>
          <a:p>
            <a:r>
              <a:t>活動：提交Notebook；課後做20元筆3支與15元本子2本的訂單。</a:t>
            </a:r>
          </a:p>
          <a:p>
            <a:r>
              <a:t>參考答案：離堂：str、int轉型、不會自動重算、修改quantity再執行。課後總價90元。</a:t>
            </a:r>
          </a:p>
          <a:p>
            <a:endParaRPr/>
          </a:p>
          <a:p>
            <a:r>
              <a:t>教材來源：CH01PPT 第1章；CH02PPT 第2章；CH03PPT 第3章</a:t>
            </a:r>
          </a:p>
          <a:p>
            <a:r>
              <a:t>完整程式與解答見同週Notebook。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5DCEDC2-7442-DE37-B12F-ADA90CC65F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033" y="136526"/>
            <a:ext cx="11821584" cy="6581775"/>
          </a:xfrm>
          <a:prstGeom prst="rect">
            <a:avLst/>
          </a:prstGeom>
          <a:solidFill>
            <a:schemeClr val="bg1">
              <a:alpha val="50195"/>
            </a:schemeClr>
          </a:solidFill>
          <a:ln>
            <a:noFill/>
          </a:ln>
          <a:effectLst/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新細明體" charset="-120"/>
              </a:defRPr>
            </a:lvl9pPr>
          </a:lstStyle>
          <a:p>
            <a:pPr algn="ctr" eaLnBrk="1" hangingPunct="1">
              <a:defRPr/>
            </a:pPr>
            <a:endParaRPr lang="zh-TW" altLang="en-US">
              <a:ea typeface="微軟正黑體" pitchFamily="34" charset="-120"/>
              <a:cs typeface="+mn-cs"/>
            </a:endParaRPr>
          </a:p>
        </p:txBody>
      </p:sp>
      <p:sp>
        <p:nvSpPr>
          <p:cNvPr id="252931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07484" y="2130426"/>
            <a:ext cx="9751483" cy="147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TW" altLang="en-US" noProof="0"/>
              <a:t>按一下以編輯母片標題樣式</a:t>
            </a:r>
          </a:p>
        </p:txBody>
      </p:sp>
      <p:sp>
        <p:nvSpPr>
          <p:cNvPr id="252932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607484" y="3886200"/>
            <a:ext cx="9751483" cy="1752600"/>
          </a:xfrm>
        </p:spPr>
        <p:txBody>
          <a:bodyPr/>
          <a:lstStyle>
            <a:lvl1pPr marL="0" indent="0">
              <a:buClr>
                <a:srgbClr val="FFFFFF"/>
              </a:buClr>
              <a:buFontTx/>
              <a:buNone/>
              <a:defRPr/>
            </a:lvl1pPr>
          </a:lstStyle>
          <a:p>
            <a:pPr lvl="0"/>
            <a:r>
              <a:rPr lang="zh-TW" altLang="en-US" noProof="0"/>
              <a:t>按一下以編輯母片副標題樣式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53373D6A-153A-14C7-1D7B-37DC3BEE3A2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0D81FF66-83C1-965F-E6CC-AFDC165191D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4DDE3681-FF4E-6794-5538-9E4B05BCB0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5E89BBE-EF13-445E-BD27-A1138AC41EA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9322224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DE0F58E6-E7DA-C7B6-CF97-337A4742C845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9A5BFC69-864D-C9BF-1CB4-33B7FFF98D4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A29BDF5-025E-888C-486D-6D4C576CFF1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0B0221-6946-4814-8681-F91DA653F00B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944376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59C968E8-5B29-7D36-1510-897FD1649CD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651C8ED-BF8A-B791-3FB8-1DE444B8E17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5B65DFF1-0059-8A06-0137-E603624D2DF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2CDFB2A-32DE-4551-8A76-A0D98DEC2216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0760193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607484" y="1600201"/>
            <a:ext cx="5382683" cy="4924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93367" y="1600201"/>
            <a:ext cx="5382684" cy="49244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37CE54F-41E8-1A2A-FED3-F3C6F8358F4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33096B0-B96F-624D-0110-C1488FEC7845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553792E-3020-99B4-11E8-A5394B985BE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6F6D06E-4E45-44EB-805B-5F0BEFD2A6A2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514771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3DE96FA1-798E-6D0E-90E2-C4EBDDF176D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C09012AB-1971-62E3-3D7E-A477FBFB2FA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A3DFC07-4C22-33A2-C4CB-542BF097F0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4A9ED24-10B7-4D24-A620-38CF7057EC20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5041806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91588125-5E1E-F947-6AC0-BD4CF3ADDB5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EAF891D-56BC-C648-19D6-44D71CD415F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6D8EC77D-27F2-E13B-3158-24A2D90486E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2196213-0C1B-475C-A78D-3397D875BE9A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580250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>
            <a:extLst>
              <a:ext uri="{FF2B5EF4-FFF2-40B4-BE49-F238E27FC236}">
                <a16:creationId xmlns:a16="http://schemas.microsoft.com/office/drawing/2014/main" id="{CEAAD443-936D-0820-BD63-A9E0C97F1CA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1437791F-339E-F5AD-FCE1-057B6F851AF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FBA0BB5E-8DB5-D114-3788-46761B801CB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4FCF7C0-2044-4088-9992-C1C5CFAEABC7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867691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6293432F-7BD9-E02E-B7DC-FE583C954208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CC97691F-8D0F-F706-C6A0-21946C8DD8A9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C5E105BD-B2DD-D984-5AF3-7A50078518E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61104EB-CB67-4137-ABAE-A07BA7E2414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3807275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zh-TW" altLang="en-US" noProof="0"/>
              <a:t>按一下圖示以新增圖片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A2ADF27A-5858-6F1E-D5BF-7F9DC226DFC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F297FBE4-0DD1-B315-DB12-DAF8F4E5B9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08CC6D54-26D2-F25E-EFCA-4F4B7C4FCF7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9477638-4C3E-4362-9A2A-81B9010760C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3644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6C15F57A-09D9-4B72-5714-000B2BAA790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8028185F-0074-1AA0-5076-4AD19CB0803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E3D49201-A543-2175-A028-2569FF3542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FB3ECDC-9E56-4B71-8E3D-78868F3ED161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7895217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834967" y="274639"/>
            <a:ext cx="2741084" cy="6249987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607484" y="274639"/>
            <a:ext cx="8024283" cy="6249987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Rectangle 5">
            <a:extLst>
              <a:ext uri="{FF2B5EF4-FFF2-40B4-BE49-F238E27FC236}">
                <a16:creationId xmlns:a16="http://schemas.microsoft.com/office/drawing/2014/main" id="{A90A2BCE-A210-72A7-0945-881E41C2269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DE85D5FC-99BA-C1C6-8CEC-63092639F0A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F3029DE0-1A7B-2834-39E9-26FDBAC26070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E61FA68-09FB-4CE7-A8F1-C6CAC3BBA6D3}" type="slidenum">
              <a:rPr lang="zh-TW" altLang="en-US"/>
              <a:pPr/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329226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tags" Target="../tags/tag1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3">
            <a:extLst>
              <a:ext uri="{FF2B5EF4-FFF2-40B4-BE49-F238E27FC236}">
                <a16:creationId xmlns:a16="http://schemas.microsoft.com/office/drawing/2014/main" id="{23DDD26E-FAF2-C23E-A255-470120E9F68F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3"/>
            </p:custDataLst>
          </p:nvPr>
        </p:nvSpPr>
        <p:spPr bwMode="auto">
          <a:xfrm>
            <a:off x="607485" y="274638"/>
            <a:ext cx="10968567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7AA1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按一下以編輯母片標題樣式</a:t>
            </a:r>
          </a:p>
        </p:txBody>
      </p:sp>
      <p:sp>
        <p:nvSpPr>
          <p:cNvPr id="2051" name="Rectangle 4">
            <a:extLst>
              <a:ext uri="{FF2B5EF4-FFF2-40B4-BE49-F238E27FC236}">
                <a16:creationId xmlns:a16="http://schemas.microsoft.com/office/drawing/2014/main" id="{63143ADF-3A28-F803-3C53-A720B70B9A94}"/>
              </a:ext>
            </a:extLst>
          </p:cNvPr>
          <p:cNvSpPr>
            <a:spLocks noGrp="1" noChangeArrowheads="1"/>
          </p:cNvSpPr>
          <p:nvPr>
            <p:ph type="body" idx="1"/>
            <p:custDataLst>
              <p:tags r:id="rId14"/>
            </p:custDataLst>
          </p:nvPr>
        </p:nvSpPr>
        <p:spPr bwMode="auto">
          <a:xfrm>
            <a:off x="607485" y="1600201"/>
            <a:ext cx="10968567" cy="49244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7AA1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/>
              <a:t>按一下以編輯母片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251909" name="Rectangle 5">
            <a:extLst>
              <a:ext uri="{FF2B5EF4-FFF2-40B4-BE49-F238E27FC236}">
                <a16:creationId xmlns:a16="http://schemas.microsoft.com/office/drawing/2014/main" id="{84380CA8-2F1B-1E1F-8150-C4BF4AC39195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l" eaLnBrk="1" hangingPunct="1">
              <a:defRPr sz="1400"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1910" name="Rectangle 6">
            <a:extLst>
              <a:ext uri="{FF2B5EF4-FFF2-40B4-BE49-F238E27FC236}">
                <a16:creationId xmlns:a16="http://schemas.microsoft.com/office/drawing/2014/main" id="{77BA2969-D67C-04B6-C188-9B54FE52D3EA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 eaLnBrk="1" hangingPunct="1">
              <a:defRPr sz="1400">
                <a:latin typeface="Arial" charset="0"/>
                <a:ea typeface="微軟正黑體" panose="020B0604030504040204" pitchFamily="34" charset="-120"/>
                <a:cs typeface="Arial" charset="0"/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251911" name="Rectangle 7">
            <a:extLst>
              <a:ext uri="{FF2B5EF4-FFF2-40B4-BE49-F238E27FC236}">
                <a16:creationId xmlns:a16="http://schemas.microsoft.com/office/drawing/2014/main" id="{3471EB0E-B2FD-AAE6-F276-C390204AE09B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400">
                <a:ea typeface="微軟正黑體" panose="020B0604030504040204" pitchFamily="34" charset="-120"/>
              </a:defRPr>
            </a:lvl1pPr>
          </a:lstStyle>
          <a:p>
            <a:fld id="{58D92CB3-E8EF-4A3B-8BF1-0A3CF45DDC3B}" type="slidenum">
              <a:rPr lang="zh-TW" altLang="en-US"/>
              <a:pPr/>
              <a:t>‹#›</a:t>
            </a:fld>
            <a:endParaRPr lang="en-US" altLang="zh-TW"/>
          </a:p>
        </p:txBody>
      </p:sp>
      <p:pic>
        <p:nvPicPr>
          <p:cNvPr id="2055" name="圖片 10">
            <a:extLst>
              <a:ext uri="{FF2B5EF4-FFF2-40B4-BE49-F238E27FC236}">
                <a16:creationId xmlns:a16="http://schemas.microsoft.com/office/drawing/2014/main" id="{74F3254D-32FA-8DDD-01C2-A5FF90B18E6A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534" y="6607175"/>
            <a:ext cx="751417" cy="165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矩形: 圓角 5">
            <a:extLst>
              <a:ext uri="{FF2B5EF4-FFF2-40B4-BE49-F238E27FC236}">
                <a16:creationId xmlns:a16="http://schemas.microsoft.com/office/drawing/2014/main" id="{15EBB5E9-BC0F-3654-3261-9ECCD786CC59}"/>
              </a:ext>
            </a:extLst>
          </p:cNvPr>
          <p:cNvSpPr/>
          <p:nvPr/>
        </p:nvSpPr>
        <p:spPr>
          <a:xfrm>
            <a:off x="0" y="0"/>
            <a:ext cx="12192000" cy="344488"/>
          </a:xfrm>
          <a:prstGeom prst="roundRect">
            <a:avLst>
              <a:gd name="adj" fmla="val 0"/>
            </a:avLst>
          </a:prstGeom>
          <a:solidFill>
            <a:srgbClr val="FAC49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0" rIns="0" bIns="0" anchor="ctr"/>
          <a:lstStyle/>
          <a:p>
            <a:pPr>
              <a:defRPr/>
            </a:pPr>
            <a:r>
              <a:rPr lang="zh-TW" altLang="en-US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看圖學</a:t>
            </a:r>
            <a:r>
              <a:rPr lang="en-US" altLang="zh-TW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Python</a:t>
            </a:r>
            <a:r>
              <a:rPr lang="zh-TW" altLang="en-US" sz="1600" dirty="0">
                <a:solidFill>
                  <a:schemeClr val="tx1"/>
                </a:solidFill>
                <a:latin typeface="微軟正黑體" pitchFamily="34" charset="-120"/>
                <a:ea typeface="微軟正黑體" pitchFamily="34" charset="-120"/>
              </a:rPr>
              <a:t>人工智慧程式設計</a:t>
            </a:r>
          </a:p>
        </p:txBody>
      </p:sp>
      <p:sp>
        <p:nvSpPr>
          <p:cNvPr id="13" name="手繪多邊形: 圖案 63">
            <a:hlinkClick r:id="" action="ppaction://hlinkshowjump?jump=endshow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2277EF12-C1FE-99A3-FFBA-3EFAC7E24D1A}"/>
              </a:ext>
            </a:extLst>
          </p:cNvPr>
          <p:cNvSpPr>
            <a:spLocks noChangeAspect="1"/>
          </p:cNvSpPr>
          <p:nvPr/>
        </p:nvSpPr>
        <p:spPr>
          <a:xfrm>
            <a:off x="11675533" y="6472239"/>
            <a:ext cx="431800" cy="325437"/>
          </a:xfrm>
          <a:custGeom>
            <a:avLst/>
            <a:gdLst>
              <a:gd name="connsiteX0" fmla="*/ 99522 w 323852"/>
              <a:gd name="connsiteY0" fmla="*/ 50326 h 323852"/>
              <a:gd name="connsiteX1" fmla="*/ 50326 w 323852"/>
              <a:gd name="connsiteY1" fmla="*/ 99522 h 323852"/>
              <a:gd name="connsiteX2" fmla="*/ 112640 w 323852"/>
              <a:gd name="connsiteY2" fmla="*/ 162018 h 323852"/>
              <a:gd name="connsiteX3" fmla="*/ 50326 w 323852"/>
              <a:gd name="connsiteY3" fmla="*/ 224332 h 323852"/>
              <a:gd name="connsiteX4" fmla="*/ 99522 w 323852"/>
              <a:gd name="connsiteY4" fmla="*/ 273528 h 323852"/>
              <a:gd name="connsiteX5" fmla="*/ 161836 w 323852"/>
              <a:gd name="connsiteY5" fmla="*/ 211214 h 323852"/>
              <a:gd name="connsiteX6" fmla="*/ 224332 w 323852"/>
              <a:gd name="connsiteY6" fmla="*/ 273528 h 323852"/>
              <a:gd name="connsiteX7" fmla="*/ 273528 w 323852"/>
              <a:gd name="connsiteY7" fmla="*/ 224332 h 323852"/>
              <a:gd name="connsiteX8" fmla="*/ 211214 w 323852"/>
              <a:gd name="connsiteY8" fmla="*/ 162018 h 323852"/>
              <a:gd name="connsiteX9" fmla="*/ 273528 w 323852"/>
              <a:gd name="connsiteY9" fmla="*/ 99522 h 323852"/>
              <a:gd name="connsiteX10" fmla="*/ 224332 w 323852"/>
              <a:gd name="connsiteY10" fmla="*/ 50326 h 323852"/>
              <a:gd name="connsiteX11" fmla="*/ 161836 w 323852"/>
              <a:gd name="connsiteY11" fmla="*/ 112640 h 323852"/>
              <a:gd name="connsiteX12" fmla="*/ 161926 w 323852"/>
              <a:gd name="connsiteY12" fmla="*/ 0 h 323852"/>
              <a:gd name="connsiteX13" fmla="*/ 323852 w 323852"/>
              <a:gd name="connsiteY13" fmla="*/ 161926 h 323852"/>
              <a:gd name="connsiteX14" fmla="*/ 161926 w 323852"/>
              <a:gd name="connsiteY14" fmla="*/ 323852 h 323852"/>
              <a:gd name="connsiteX15" fmla="*/ 0 w 323852"/>
              <a:gd name="connsiteY15" fmla="*/ 161926 h 323852"/>
              <a:gd name="connsiteX16" fmla="*/ 161926 w 323852"/>
              <a:gd name="connsiteY16" fmla="*/ 0 h 32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3852" h="323852">
                <a:moveTo>
                  <a:pt x="99522" y="50326"/>
                </a:moveTo>
                <a:lnTo>
                  <a:pt x="50326" y="99522"/>
                </a:lnTo>
                <a:lnTo>
                  <a:pt x="112640" y="162018"/>
                </a:lnTo>
                <a:lnTo>
                  <a:pt x="50326" y="224332"/>
                </a:lnTo>
                <a:lnTo>
                  <a:pt x="99522" y="273528"/>
                </a:lnTo>
                <a:lnTo>
                  <a:pt x="161836" y="211214"/>
                </a:lnTo>
                <a:lnTo>
                  <a:pt x="224332" y="273528"/>
                </a:lnTo>
                <a:lnTo>
                  <a:pt x="273528" y="224332"/>
                </a:lnTo>
                <a:lnTo>
                  <a:pt x="211214" y="162018"/>
                </a:lnTo>
                <a:lnTo>
                  <a:pt x="273528" y="99522"/>
                </a:lnTo>
                <a:lnTo>
                  <a:pt x="224332" y="50326"/>
                </a:lnTo>
                <a:lnTo>
                  <a:pt x="161836" y="112640"/>
                </a:lnTo>
                <a:close/>
                <a:moveTo>
                  <a:pt x="161926" y="0"/>
                </a:moveTo>
                <a:cubicBezTo>
                  <a:pt x="251355" y="0"/>
                  <a:pt x="323852" y="72497"/>
                  <a:pt x="323852" y="161926"/>
                </a:cubicBezTo>
                <a:cubicBezTo>
                  <a:pt x="323852" y="251355"/>
                  <a:pt x="251355" y="323852"/>
                  <a:pt x="161926" y="323852"/>
                </a:cubicBezTo>
                <a:cubicBezTo>
                  <a:pt x="72497" y="323852"/>
                  <a:pt x="0" y="251355"/>
                  <a:pt x="0" y="161926"/>
                </a:cubicBezTo>
                <a:cubicBezTo>
                  <a:pt x="0" y="72497"/>
                  <a:pt x="72497" y="0"/>
                  <a:pt x="161926" y="0"/>
                </a:cubicBezTo>
                <a:close/>
              </a:path>
            </a:pathLst>
          </a:custGeom>
          <a:solidFill>
            <a:srgbClr val="F67E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  <p:sp>
        <p:nvSpPr>
          <p:cNvPr id="14" name="手繪多邊形: 圖案 60">
            <a:hlinkClick r:id="" action="ppaction://hlinkshowjump?jump=firstslide"/>
            <a:hlinkHover r:id="" action="ppaction://noaction" highlightClick="1"/>
            <a:extLst>
              <a:ext uri="{FF2B5EF4-FFF2-40B4-BE49-F238E27FC236}">
                <a16:creationId xmlns:a16="http://schemas.microsoft.com/office/drawing/2014/main" id="{7E876445-D92D-7688-4795-DC0553814883}"/>
              </a:ext>
            </a:extLst>
          </p:cNvPr>
          <p:cNvSpPr>
            <a:spLocks noChangeAspect="1"/>
          </p:cNvSpPr>
          <p:nvPr/>
        </p:nvSpPr>
        <p:spPr>
          <a:xfrm>
            <a:off x="11150600" y="6462714"/>
            <a:ext cx="431800" cy="325437"/>
          </a:xfrm>
          <a:custGeom>
            <a:avLst/>
            <a:gdLst>
              <a:gd name="connsiteX0" fmla="*/ 162075 w 323852"/>
              <a:gd name="connsiteY0" fmla="*/ 49606 h 323852"/>
              <a:gd name="connsiteX1" fmla="*/ 44826 w 323852"/>
              <a:gd name="connsiteY1" fmla="*/ 166706 h 323852"/>
              <a:gd name="connsiteX2" fmla="*/ 88440 w 323852"/>
              <a:gd name="connsiteY2" fmla="*/ 166706 h 323852"/>
              <a:gd name="connsiteX3" fmla="*/ 88440 w 323852"/>
              <a:gd name="connsiteY3" fmla="*/ 274247 h 323852"/>
              <a:gd name="connsiteX4" fmla="*/ 140418 w 323852"/>
              <a:gd name="connsiteY4" fmla="*/ 274247 h 323852"/>
              <a:gd name="connsiteX5" fmla="*/ 140418 w 323852"/>
              <a:gd name="connsiteY5" fmla="*/ 207482 h 323852"/>
              <a:gd name="connsiteX6" fmla="*/ 183732 w 323852"/>
              <a:gd name="connsiteY6" fmla="*/ 207482 h 323852"/>
              <a:gd name="connsiteX7" fmla="*/ 183732 w 323852"/>
              <a:gd name="connsiteY7" fmla="*/ 274247 h 323852"/>
              <a:gd name="connsiteX8" fmla="*/ 234069 w 323852"/>
              <a:gd name="connsiteY8" fmla="*/ 274247 h 323852"/>
              <a:gd name="connsiteX9" fmla="*/ 234069 w 323852"/>
              <a:gd name="connsiteY9" fmla="*/ 166706 h 323852"/>
              <a:gd name="connsiteX10" fmla="*/ 279026 w 323852"/>
              <a:gd name="connsiteY10" fmla="*/ 166706 h 323852"/>
              <a:gd name="connsiteX11" fmla="*/ 161926 w 323852"/>
              <a:gd name="connsiteY11" fmla="*/ 0 h 323852"/>
              <a:gd name="connsiteX12" fmla="*/ 323852 w 323852"/>
              <a:gd name="connsiteY12" fmla="*/ 161926 h 323852"/>
              <a:gd name="connsiteX13" fmla="*/ 161926 w 323852"/>
              <a:gd name="connsiteY13" fmla="*/ 323852 h 323852"/>
              <a:gd name="connsiteX14" fmla="*/ 0 w 323852"/>
              <a:gd name="connsiteY14" fmla="*/ 161926 h 323852"/>
              <a:gd name="connsiteX15" fmla="*/ 161926 w 323852"/>
              <a:gd name="connsiteY15" fmla="*/ 0 h 32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323852" h="323852">
                <a:moveTo>
                  <a:pt x="162075" y="49606"/>
                </a:moveTo>
                <a:lnTo>
                  <a:pt x="44826" y="166706"/>
                </a:lnTo>
                <a:lnTo>
                  <a:pt x="88440" y="166706"/>
                </a:lnTo>
                <a:lnTo>
                  <a:pt x="88440" y="274247"/>
                </a:lnTo>
                <a:lnTo>
                  <a:pt x="140418" y="274247"/>
                </a:lnTo>
                <a:lnTo>
                  <a:pt x="140418" y="207482"/>
                </a:lnTo>
                <a:lnTo>
                  <a:pt x="183732" y="207482"/>
                </a:lnTo>
                <a:lnTo>
                  <a:pt x="183732" y="274247"/>
                </a:lnTo>
                <a:lnTo>
                  <a:pt x="234069" y="274247"/>
                </a:lnTo>
                <a:lnTo>
                  <a:pt x="234069" y="166706"/>
                </a:lnTo>
                <a:lnTo>
                  <a:pt x="279026" y="166706"/>
                </a:lnTo>
                <a:close/>
                <a:moveTo>
                  <a:pt x="161926" y="0"/>
                </a:moveTo>
                <a:cubicBezTo>
                  <a:pt x="251355" y="0"/>
                  <a:pt x="323852" y="72497"/>
                  <a:pt x="323852" y="161926"/>
                </a:cubicBezTo>
                <a:cubicBezTo>
                  <a:pt x="323852" y="251355"/>
                  <a:pt x="251355" y="323852"/>
                  <a:pt x="161926" y="323852"/>
                </a:cubicBezTo>
                <a:cubicBezTo>
                  <a:pt x="72497" y="323852"/>
                  <a:pt x="0" y="251355"/>
                  <a:pt x="0" y="161926"/>
                </a:cubicBezTo>
                <a:cubicBezTo>
                  <a:pt x="0" y="72497"/>
                  <a:pt x="72497" y="0"/>
                  <a:pt x="161926" y="0"/>
                </a:cubicBezTo>
                <a:close/>
              </a:path>
            </a:pathLst>
          </a:custGeom>
          <a:solidFill>
            <a:srgbClr val="F67E1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919105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4pPr>
      <a:lvl5pPr algn="l" rtl="0" eaLnBrk="0" fontAlgn="base" hangingPunct="0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buClr>
          <a:schemeClr val="tx1"/>
        </a:buClr>
        <a:defRPr sz="32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微軟正黑體" pitchFamily="34" charset="-120"/>
          <a:ea typeface="微軟正黑體" pitchFamily="34" charset="-120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400">
          <a:solidFill>
            <a:schemeClr val="tx1"/>
          </a:solidFill>
          <a:latin typeface="+mn-lt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gif"/><Relationship Id="rId3" Type="http://schemas.openxmlformats.org/officeDocument/2006/relationships/slide" Target="slide35.xml"/><Relationship Id="rId7" Type="http://schemas.openxmlformats.org/officeDocument/2006/relationships/slide" Target="slide58.xml"/><Relationship Id="rId2" Type="http://schemas.openxmlformats.org/officeDocument/2006/relationships/slide" Target="slide27.xml"/><Relationship Id="rId1" Type="http://schemas.openxmlformats.org/officeDocument/2006/relationships/slideLayout" Target="../slideLayouts/slideLayout3.xml"/><Relationship Id="rId6" Type="http://schemas.openxmlformats.org/officeDocument/2006/relationships/slide" Target="slide49.xml"/><Relationship Id="rId5" Type="http://schemas.openxmlformats.org/officeDocument/2006/relationships/slide" Target="slide46.xml"/><Relationship Id="rId4" Type="http://schemas.openxmlformats.org/officeDocument/2006/relationships/slide" Target="slide4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D440FFFF-59F2-413D-A645-6FA503C98E97}"/>
              </a:ext>
            </a:extLst>
          </p:cNvPr>
          <p:cNvSpPr>
            <a:spLocks noGrp="1"/>
          </p:cNvSpPr>
          <p:nvPr/>
        </p:nvSpPr>
        <p:spPr>
          <a:xfrm>
            <a:off x="685800" y="742950"/>
            <a:ext cx="10668000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98D9D4"/>
                </a:solidFill>
                <a:latin typeface="Microsoft JhengHei"/>
                <a:ea typeface="Microsoft JhengHei"/>
                <a:cs typeface="Microsoft JhengHei"/>
              </a:rPr>
              <a:t>第 1 週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869B30-EE2F-413B-BABF-EE78F54499CD}"/>
              </a:ext>
            </a:extLst>
          </p:cNvPr>
          <p:cNvSpPr>
            <a:spLocks noGrp="1"/>
          </p:cNvSpPr>
          <p:nvPr/>
        </p:nvSpPr>
        <p:spPr>
          <a:xfrm>
            <a:off x="685800" y="1876425"/>
            <a:ext cx="10763250" cy="1428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 起步與生活計算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8DEACC-BC8C-4726-8064-82C4D6441992}"/>
              </a:ext>
            </a:extLst>
          </p:cNvPr>
          <p:cNvSpPr>
            <a:spLocks noGrp="1"/>
          </p:cNvSpPr>
          <p:nvPr/>
        </p:nvSpPr>
        <p:spPr>
          <a:xfrm>
            <a:off x="723900" y="3810000"/>
            <a:ext cx="10382250" cy="1143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完成飲料訂單計算器，列出品項、杯數、總價與找零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D47B03-895D-4A5F-A033-B0ADA83CA5B4}"/>
              </a:ext>
            </a:extLst>
          </p:cNvPr>
          <p:cNvSpPr>
            <a:spLocks noGrp="1"/>
          </p:cNvSpPr>
          <p:nvPr/>
        </p:nvSpPr>
        <p:spPr>
          <a:xfrm>
            <a:off x="723900" y="5962650"/>
            <a:ext cx="10382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180 分鐘  含 10 分鐘休息</a:t>
            </a:r>
          </a:p>
        </p:txBody>
      </p:sp>
    </p:spTree>
    <p:extLst>
      <p:ext uri="{BB962C8B-B14F-4D97-AF65-F5344CB8AC3E}">
        <p14:creationId xmlns:p14="http://schemas.microsoft.com/office/powerpoint/2010/main" val="4570964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99720D9C-B7CF-4FDE-AE1F-F4323EAA777B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000–010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3B1FB4B-B91B-4859-9363-1C28826F5702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EE4B4B7-1E07-4575-AF07-BD4BEEC62B82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4A81C9-83ED-43FB-A0C7-1EEB35D8D8F8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程式是明確且有順序的指令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77C386E-424A-401A-821A-AC79BF7171B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C0A4C9B-8E40-42FD-9173-08577E23AE45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本週成果是一張可重算的訂單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2E3D2F-2C66-439D-A4D8-8D237491467D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6B83D37-0E00-4B31-A39A-A098D2F79D65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先預測，再執行，再解釋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3F9CFE4-F0E1-4C81-B2F1-212C74DDFD0F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245111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B0A7FDA-CEE1-43EA-B202-D21CFFE86BA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W1-01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52C0C4-BC93-4423-8978-18AE3875096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課程起點與操作地圖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F5A1BA-742C-4CC6-937E-5B397F7EDC1B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兩人一組，用三句話說明買飲料的輸入、處理與輸出。每人打開本週實作檔。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0E6EC6-1672-43C3-9950-1C7912D5C6DA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5A5DA5-E00A-45A5-93B5-716ADF28E36B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輸入：單價35、杯數3；處理：35乘3；輸出：105元。</a:t>
            </a:r>
          </a:p>
        </p:txBody>
      </p:sp>
    </p:spTree>
    <p:extLst>
      <p:ext uri="{BB962C8B-B14F-4D97-AF65-F5344CB8AC3E}">
        <p14:creationId xmlns:p14="http://schemas.microsoft.com/office/powerpoint/2010/main" val="279715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3E4B0017-0406-4C1F-8D21-B26838CACFF1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DD8C0A2-A391-4C40-B084-8C9873522898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CH01PPT.ppt 第 12 頁</a:t>
            </a:r>
          </a:p>
        </p:txBody>
      </p:sp>
    </p:spTree>
    <p:extLst>
      <p:ext uri="{BB962C8B-B14F-4D97-AF65-F5344CB8AC3E}">
        <p14:creationId xmlns:p14="http://schemas.microsoft.com/office/powerpoint/2010/main" val="118343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7A1B8C-6F99-D7FC-BFC5-2093C3C33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5B8B733E-6CBB-5C30-1B41-9313EB736303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W1-01   原教材圖文對照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4A93693-D0BB-8788-911F-D0D5D15ED99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</a:t>
            </a:r>
            <a:r>
              <a:rPr lang="en-US"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2</a:t>
            </a:r>
            <a:r>
              <a:rPr sz="1275" b="0" dirty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PPT.ppt 第 2 頁</a:t>
            </a: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3A019582-1532-8458-0136-0920D958D9E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20"/>
          <a:stretch>
            <a:fillRect/>
          </a:stretch>
        </p:blipFill>
        <p:spPr>
          <a:xfrm>
            <a:off x="2298353" y="542925"/>
            <a:ext cx="8195902" cy="6153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7569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7BF7A13-F549-4B29-B98E-52AFB00D74A4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010–025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A6727C0-7F4D-4D4D-93C5-E3F8263E9FD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345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Google </a:t>
            </a:r>
            <a:r>
              <a:rPr lang="en-US" altLang="zh-TW" sz="345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Colab</a:t>
            </a:r>
            <a:r>
              <a:rPr sz="345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345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與第一個程式</a:t>
            </a:r>
            <a:endParaRPr sz="3450" b="1" dirty="0">
              <a:solidFill>
                <a:srgbClr val="17384C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E3B45C2-EC3F-4D69-AB1B-4791BEDE74F9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7A8F9C-3EF4-4A33-A92C-34B1C0747D96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文字格放說明，程式格放 Python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466ED31-D404-4116-9FCD-755D11979F52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1C4F4A6-C3C5-4BAE-84A8-378EB7165196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Shift+Enter 執行並移到下一格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4D63859-BBA3-4BF5-9258-0E2F13BA3428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00B2700B-5EFA-4124-85F3-12C4FDE686F9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儲存檔案與核心記憶是不同的事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FC5FFEB-709E-4E26-A599-96D98B20AC63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D875A8E9-4982-EF99-7CD3-90131B7F5D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484736"/>
            <a:ext cx="5509046" cy="2944264"/>
          </a:xfrm>
          <a:prstGeom prst="rect">
            <a:avLst/>
          </a:prstGeom>
        </p:spPr>
      </p:pic>
      <p:pic>
        <p:nvPicPr>
          <p:cNvPr id="14" name="圖片 13">
            <a:extLst>
              <a:ext uri="{FF2B5EF4-FFF2-40B4-BE49-F238E27FC236}">
                <a16:creationId xmlns:a16="http://schemas.microsoft.com/office/drawing/2014/main" id="{63FB91C7-7123-B947-2693-507D6A2406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128" y="3429000"/>
            <a:ext cx="5509047" cy="3225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82913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8B3647EC-BB34-43F6-B4D6-0FCBCDA2AAF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W1-02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7674657-9788-4D8A-ABDA-B1866EF9B7AF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lang="en-US" altLang="zh-TW" sz="320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Google </a:t>
            </a:r>
            <a:r>
              <a:rPr lang="en-US" altLang="zh-TW" sz="320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Colab</a:t>
            </a:r>
            <a:r>
              <a:rPr lang="en-US" altLang="zh-TW" sz="3200" b="1" dirty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 </a:t>
            </a:r>
            <a:r>
              <a:rPr sz="3300" b="1" dirty="0" err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與第一個程式</a:t>
            </a:r>
            <a:endParaRPr sz="3300" b="1" dirty="0">
              <a:solidFill>
                <a:srgbClr val="17384C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6865639-0ECC-47AB-BD6B-968D44C764A3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print("你好，Python！")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print("今天開始學寫程式")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046B0D-5B4E-4FD1-B48D-3F696FB3A219}"/>
              </a:ext>
            </a:extLst>
          </p:cNvPr>
          <p:cNvSpPr>
            <a:spLocks noGrp="1"/>
          </p:cNvSpPr>
          <p:nvPr/>
        </p:nvSpPr>
        <p:spPr>
          <a:xfrm>
            <a:off x="685801" y="5095875"/>
            <a:ext cx="4200832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 err="1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執行示範，修改問候語並儲存。請同桌指出程式格與輸出區的差別</a:t>
            </a:r>
            <a:r>
              <a:rPr sz="2100" b="0" dirty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2BAD56C5-4C3F-4BF2-A0A6-1FB4CDC6589A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W1-02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8C23B93D-40B4-45EF-DF50-016F57324D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6633" y="1895475"/>
            <a:ext cx="7011008" cy="4054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669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D6CBBCDE-93DD-4F7B-86D1-4021A812BD2F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025–045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006EFB8-736A-4E51-B4E8-7625774334AB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6D77A46-1140-4ED5-BA45-3AA13BDC280E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A93E969-B6F5-4E5B-8692-832DE23B3537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字串要加引號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F284C54-EC35-4F42-8D0E-03F3B12568A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21D8B48-499D-467B-9313-AEBD53BFE6C2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數值可直接運算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423FBB5-8E54-4C01-B20D-0624BF8A7002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F095BB51-9006-4535-AA62-80337660DC7D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print 可以輸出多個值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B678383-8BCF-4C8A-8A73-6DDE86731E34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0532361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D035277-FCBB-4DD2-A19F-064BE71D7056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W1-03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EED86ED-937C-4A26-8D23-3D2043BCD589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文字與數字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CA5488-91DD-41CB-AE8F-DF5F1058E6E2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print(2 + 3)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print("2 + 3")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print("飲料", 35)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DF5A6EEC-D4B2-4E4E-86F9-C432C4ACDF5C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先寫預測，再執行。新增一行，同時輸出商品名稱與數值35。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A44D0F1-C528-44CD-AD7B-67767EB6CBF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W1-03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FA693A47-D81C-D4E1-AA5D-CFE97620D9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0717" y="1290637"/>
            <a:ext cx="6325148" cy="3025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975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7EE905-8D2F-A25C-31C4-E4263F717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>
            <a:extLst>
              <a:ext uri="{FF2B5EF4-FFF2-40B4-BE49-F238E27FC236}">
                <a16:creationId xmlns:a16="http://schemas.microsoft.com/office/drawing/2014/main" id="{5D6C3168-565C-C6BA-4873-CE80762B851A}"/>
              </a:ext>
            </a:extLst>
          </p:cNvPr>
          <p:cNvSpPr txBox="1">
            <a:spLocks noChangeArrowheads="1"/>
          </p:cNvSpPr>
          <p:nvPr/>
        </p:nvSpPr>
        <p:spPr>
          <a:xfrm>
            <a:off x="455613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TW" kern="0" dirty="0">
                <a:solidFill>
                  <a:srgbClr val="0000FF"/>
                </a:solidFill>
              </a:rPr>
              <a:t>Python</a:t>
            </a:r>
            <a:r>
              <a:rPr lang="zh-TW" altLang="en-US" kern="0" dirty="0">
                <a:solidFill>
                  <a:srgbClr val="0000FF"/>
                </a:solidFill>
              </a:rPr>
              <a:t>文字值</a:t>
            </a:r>
            <a:endParaRPr lang="zh-TW" altLang="en-US" kern="0" dirty="0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4A442F6-A66C-351B-6ED8-1AE14D3CB059}"/>
              </a:ext>
            </a:extLst>
          </p:cNvPr>
          <p:cNvSpPr txBox="1">
            <a:spLocks noChangeArrowheads="1"/>
          </p:cNvSpPr>
          <p:nvPr/>
        </p:nvSpPr>
        <p:spPr>
          <a:xfrm>
            <a:off x="455613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>
                <a:solidFill>
                  <a:srgbClr val="0000FF"/>
                </a:solidFill>
              </a:rPr>
              <a:t>字串文字值</a:t>
            </a:r>
            <a:endParaRPr lang="en-US" altLang="zh-TW" kern="0" dirty="0">
              <a:solidFill>
                <a:srgbClr val="0000FF"/>
              </a:solidFill>
            </a:endParaRPr>
          </a:p>
          <a:p>
            <a:r>
              <a:rPr lang="zh-TW" altLang="en-US" kern="0" dirty="0">
                <a:solidFill>
                  <a:srgbClr val="0000FF"/>
                </a:solidFill>
              </a:rPr>
              <a:t>數值文字值</a:t>
            </a:r>
            <a:endParaRPr lang="en-US" altLang="zh-TW" kern="0" dirty="0">
              <a:solidFill>
                <a:srgbClr val="0000FF"/>
              </a:solidFill>
            </a:endParaRPr>
          </a:p>
          <a:p>
            <a:r>
              <a:rPr lang="zh-TW" altLang="en-US" kern="0" dirty="0">
                <a:solidFill>
                  <a:srgbClr val="0000FF"/>
                </a:solidFill>
              </a:rPr>
              <a:t>布林文字值</a:t>
            </a:r>
          </a:p>
        </p:txBody>
      </p:sp>
    </p:spTree>
    <p:extLst>
      <p:ext uri="{BB962C8B-B14F-4D97-AF65-F5344CB8AC3E}">
        <p14:creationId xmlns:p14="http://schemas.microsoft.com/office/powerpoint/2010/main" val="38160166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C8BA6349-37EB-4720-2324-DEF968186561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608013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文字值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7E4947C-4106-D9FF-7D3A-D55B265F1B85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933575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文字值（</a:t>
            </a:r>
            <a:r>
              <a:rPr lang="en-US" altLang="zh-TW" kern="0"/>
              <a:t>Literals</a:t>
            </a:r>
            <a:r>
              <a:rPr lang="zh-TW" altLang="en-US" kern="0"/>
              <a:t>、也稱字面值）或稱常數值（</a:t>
            </a:r>
            <a:r>
              <a:rPr lang="en-US" altLang="zh-TW" kern="0"/>
              <a:t>Constants</a:t>
            </a:r>
            <a:r>
              <a:rPr lang="zh-TW" altLang="en-US" kern="0"/>
              <a:t>），這是一種文字表面顯示的值，即撰寫程式碼時直接使用鍵盤輸入的值。在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ch2-2-2.py</a:t>
            </a:r>
            <a:r>
              <a:rPr lang="zh-TW" altLang="en-US" kern="0"/>
              <a:t>輸出的整數</a:t>
            </a:r>
            <a:r>
              <a:rPr lang="en-US" altLang="zh-TW" kern="0"/>
              <a:t>100</a:t>
            </a:r>
            <a:r>
              <a:rPr lang="zh-TW" altLang="en-US" kern="0"/>
              <a:t>、浮點數</a:t>
            </a:r>
            <a:r>
              <a:rPr lang="en-US" altLang="zh-TW" kern="0"/>
              <a:t>123.5</a:t>
            </a:r>
            <a:r>
              <a:rPr lang="zh-TW" altLang="en-US" kern="0"/>
              <a:t>和字串</a:t>
            </a:r>
            <a:r>
              <a:rPr lang="en-US" altLang="zh-TW" kern="0"/>
              <a:t>"</a:t>
            </a:r>
            <a:r>
              <a:rPr lang="zh-TW" altLang="en-US" kern="0"/>
              <a:t>陳會安</a:t>
            </a:r>
            <a:r>
              <a:rPr lang="en-US" altLang="zh-TW" kern="0"/>
              <a:t>"</a:t>
            </a:r>
            <a:r>
              <a:rPr lang="zh-TW" altLang="en-US" kern="0"/>
              <a:t>等，都是文字值，如下圖所示：</a:t>
            </a:r>
            <a:endParaRPr lang="zh-TW" altLang="en-US" kern="0" dirty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1447DEDE-24DD-0FEE-FACB-F7DE34E20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4612" y="4049713"/>
            <a:ext cx="6969125" cy="21605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896189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AA632CE2-CA9A-12B1-7856-0522FAC85266}"/>
              </a:ext>
            </a:extLst>
          </p:cNvPr>
          <p:cNvSpPr txBox="1">
            <a:spLocks noChangeArrowheads="1"/>
          </p:cNvSpPr>
          <p:nvPr/>
        </p:nvSpPr>
        <p:spPr>
          <a:xfrm>
            <a:off x="2058271" y="571654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r>
              <a:rPr lang="en-US" altLang="zh-TW" kern="0" dirty="0"/>
              <a:t>-</a:t>
            </a:r>
            <a:r>
              <a:rPr lang="zh-TW" altLang="en-US" kern="0" dirty="0"/>
              <a:t>說明</a:t>
            </a:r>
            <a:endParaRPr lang="en-US" altLang="zh-TW" kern="0" dirty="0"/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60E8AD16-3B19-1EC5-31E7-740558230AC9}"/>
              </a:ext>
            </a:extLst>
          </p:cNvPr>
          <p:cNvSpPr txBox="1">
            <a:spLocks noChangeArrowheads="1"/>
          </p:cNvSpPr>
          <p:nvPr/>
        </p:nvSpPr>
        <p:spPr>
          <a:xfrm>
            <a:off x="2058271" y="1757516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字串文字值（</a:t>
            </a:r>
            <a:r>
              <a:rPr lang="en-US" altLang="zh-TW" kern="0"/>
              <a:t>String Literals</a:t>
            </a:r>
            <a:r>
              <a:rPr lang="zh-TW" altLang="en-US" kern="0"/>
              <a:t>）就是字串，字串是</a:t>
            </a:r>
            <a:r>
              <a:rPr lang="en-US" altLang="zh-TW" kern="0"/>
              <a:t>0</a:t>
            </a:r>
            <a:r>
              <a:rPr lang="zh-TW" altLang="en-US" kern="0"/>
              <a:t>或多個使用「</a:t>
            </a:r>
            <a:r>
              <a:rPr lang="en-US" altLang="zh-TW" kern="0"/>
              <a:t>'</a:t>
            </a:r>
            <a:r>
              <a:rPr lang="zh-TW" altLang="en-US" kern="0"/>
              <a:t>」單引號或「</a:t>
            </a:r>
            <a:r>
              <a:rPr lang="en-US" altLang="zh-TW" kern="0"/>
              <a:t>"</a:t>
            </a:r>
            <a:r>
              <a:rPr lang="zh-TW" altLang="en-US" kern="0"/>
              <a:t>」雙引號括起的一序列</a:t>
            </a:r>
            <a:r>
              <a:rPr lang="en-US" altLang="zh-TW" kern="0"/>
              <a:t>Unicode</a:t>
            </a:r>
            <a:r>
              <a:rPr lang="zh-TW" altLang="en-US" kern="0"/>
              <a:t>字元，如下所示：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"</a:t>
            </a:r>
            <a:r>
              <a:rPr lang="zh-TW" altLang="en-US" kern="0">
                <a:solidFill>
                  <a:srgbClr val="FF3399"/>
                </a:solidFill>
              </a:rPr>
              <a:t>學習</a:t>
            </a:r>
            <a:r>
              <a:rPr lang="en-US" altLang="zh-TW" kern="0">
                <a:solidFill>
                  <a:srgbClr val="FF3399"/>
                </a:solidFill>
              </a:rPr>
              <a:t>Python</a:t>
            </a:r>
            <a:r>
              <a:rPr lang="zh-TW" altLang="en-US" kern="0">
                <a:solidFill>
                  <a:srgbClr val="FF3399"/>
                </a:solidFill>
              </a:rPr>
              <a:t>語言程式設計</a:t>
            </a:r>
            <a:r>
              <a:rPr lang="en-US" altLang="zh-TW" kern="0">
                <a:solidFill>
                  <a:srgbClr val="FF3399"/>
                </a:solidFill>
              </a:rPr>
              <a:t>"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'Hello World!'</a:t>
            </a:r>
          </a:p>
          <a:p>
            <a:endParaRPr lang="zh-TW" altLang="en-US" kern="0"/>
          </a:p>
        </p:txBody>
      </p:sp>
      <p:pic>
        <p:nvPicPr>
          <p:cNvPr id="4" name="Picture 5">
            <a:extLst>
              <a:ext uri="{FF2B5EF4-FFF2-40B4-BE49-F238E27FC236}">
                <a16:creationId xmlns:a16="http://schemas.microsoft.com/office/drawing/2014/main" id="{3F22AED8-AABC-31CB-0AAC-880CACE9B4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7096" y="4091141"/>
            <a:ext cx="5651500" cy="2159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895982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4E7F9D54-5E1B-F352-E15B-893D6369442A}"/>
              </a:ext>
            </a:extLst>
          </p:cNvPr>
          <p:cNvSpPr txBox="1">
            <a:spLocks noChangeArrowheads="1"/>
          </p:cNvSpPr>
          <p:nvPr/>
        </p:nvSpPr>
        <p:spPr>
          <a:xfrm>
            <a:off x="1832129" y="345512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br>
              <a:rPr lang="en-US" altLang="zh-TW" kern="0" dirty="0"/>
            </a:br>
            <a:r>
              <a:rPr lang="en-US" altLang="zh-TW" sz="2800" kern="0" dirty="0">
                <a:ea typeface="新細明體" panose="02020500000000000000" pitchFamily="18" charset="-120"/>
              </a:rPr>
              <a:t>Escape</a:t>
            </a:r>
            <a:r>
              <a:rPr lang="zh-TW" altLang="en-US" sz="2800" kern="0" dirty="0">
                <a:ea typeface="新細明體" panose="02020500000000000000" pitchFamily="18" charset="-120"/>
              </a:rPr>
              <a:t>逸出字元（</a:t>
            </a:r>
            <a:r>
              <a:rPr lang="en-US" altLang="zh-TW" sz="2800" kern="0" dirty="0">
                <a:ea typeface="新細明體" panose="02020500000000000000" pitchFamily="18" charset="-120"/>
              </a:rPr>
              <a:t>Escape Characters</a:t>
            </a:r>
            <a:r>
              <a:rPr lang="zh-TW" altLang="en-US" sz="2800" kern="0" dirty="0">
                <a:ea typeface="新細明體" panose="02020500000000000000" pitchFamily="18" charset="-120"/>
              </a:rPr>
              <a:t>）</a:t>
            </a:r>
            <a:endParaRPr lang="zh-TW" altLang="en-US" kern="0" dirty="0"/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32BE3DCE-0B33-1CA4-2B22-E8EEC9038401}"/>
              </a:ext>
            </a:extLst>
          </p:cNvPr>
          <p:cNvSpPr txBox="1">
            <a:spLocks noChangeArrowheads="1"/>
          </p:cNvSpPr>
          <p:nvPr/>
        </p:nvSpPr>
        <p:spPr>
          <a:xfrm>
            <a:off x="1832129" y="1531374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提供</a:t>
            </a:r>
            <a:r>
              <a:rPr lang="en-US" altLang="zh-TW" kern="0"/>
              <a:t>Escape</a:t>
            </a:r>
            <a:r>
              <a:rPr lang="zh-TW" altLang="en-US" kern="0"/>
              <a:t>逸出字元來輸入特殊字元，這是一些使用「</a:t>
            </a:r>
            <a:r>
              <a:rPr lang="en-US" altLang="zh-TW" kern="0"/>
              <a:t>\</a:t>
            </a:r>
            <a:r>
              <a:rPr lang="zh-TW" altLang="en-US" kern="0"/>
              <a:t>」符號開頭的字元，如下表所示：</a:t>
            </a:r>
          </a:p>
          <a:p>
            <a:endParaRPr lang="zh-TW" altLang="en-US" kern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EB10B0A4-AD23-1015-1BA1-C3948A5CB7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5668646"/>
              </p:ext>
            </p:extLst>
          </p:nvPr>
        </p:nvGraphicFramePr>
        <p:xfrm>
          <a:off x="2459831" y="2510396"/>
          <a:ext cx="7272338" cy="40020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654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069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19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Escape</a:t>
                      </a:r>
                      <a:r>
                        <a:rPr lang="zh-TW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逸出字元</a:t>
                      </a: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\b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Backspace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，即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Backspace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\f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FF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Form feed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換頁字元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\n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LF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（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Line Feed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）換行或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NL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（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New Line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）新行字元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\r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Carriage Return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，即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Enter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\t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定位字元，即</a:t>
                      </a:r>
                      <a:r>
                        <a:rPr lang="en-US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Tab</a:t>
                      </a: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鍵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\'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'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」單引號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\"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"</a:t>
                      </a:r>
                      <a:r>
                        <a:rPr lang="zh-TW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」雙引號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8487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18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\\</a:t>
                      </a:r>
                      <a:endParaRPr lang="zh-TW" sz="18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6" marR="68576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「</a:t>
                      </a:r>
                      <a:r>
                        <a:rPr lang="en-US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</a:t>
                      </a:r>
                      <a:r>
                        <a:rPr lang="zh-TW" sz="18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」符號</a:t>
                      </a:r>
                    </a:p>
                  </a:txBody>
                  <a:tcPr marL="68576" marR="68576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42284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BAF6395-2C44-D941-3B09-780533CCBB96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字串文字值</a:t>
            </a:r>
            <a:br>
              <a:rPr lang="en-US" altLang="zh-TW" kern="0" dirty="0"/>
            </a:br>
            <a:r>
              <a:rPr lang="zh-TW" altLang="en-US" sz="2800" kern="0" dirty="0"/>
              <a:t>使用八進位和十六進位值表示</a:t>
            </a:r>
            <a:r>
              <a:rPr lang="en-US" altLang="zh-TW" sz="2800" kern="0" dirty="0"/>
              <a:t>ASCII</a:t>
            </a:r>
            <a:r>
              <a:rPr lang="zh-TW" altLang="en-US" sz="2800" kern="0" dirty="0"/>
              <a:t>字元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326527B-1CDE-1BF4-C2A3-7EF89EFEFB1D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ASCII</a:t>
            </a:r>
            <a:r>
              <a:rPr lang="zh-TW" altLang="en-US" kern="0"/>
              <a:t>字元也可以使用</a:t>
            </a:r>
            <a:r>
              <a:rPr lang="en-US" altLang="zh-TW" kern="0"/>
              <a:t>Escape</a:t>
            </a:r>
            <a:r>
              <a:rPr lang="zh-TW" altLang="en-US" kern="0"/>
              <a:t>逸出字元來表示，即「</a:t>
            </a:r>
            <a:r>
              <a:rPr lang="en-US" altLang="zh-TW" kern="0"/>
              <a:t>\x</a:t>
            </a:r>
            <a:r>
              <a:rPr lang="zh-TW" altLang="en-US" kern="0"/>
              <a:t>」字串開頭的</a:t>
            </a:r>
            <a:r>
              <a:rPr lang="en-US" altLang="zh-TW" kern="0"/>
              <a:t>2</a:t>
            </a:r>
            <a:r>
              <a:rPr lang="zh-TW" altLang="en-US" kern="0"/>
              <a:t>個十六進位數字或「</a:t>
            </a:r>
            <a:r>
              <a:rPr lang="en-US" altLang="zh-TW" kern="0"/>
              <a:t>\</a:t>
            </a:r>
            <a:r>
              <a:rPr lang="zh-TW" altLang="en-US" kern="0"/>
              <a:t>」字串開頭</a:t>
            </a:r>
            <a:r>
              <a:rPr lang="en-US" altLang="zh-TW" kern="0"/>
              <a:t>3</a:t>
            </a:r>
            <a:r>
              <a:rPr lang="zh-TW" altLang="en-US" kern="0"/>
              <a:t>個八進位數字來表示</a:t>
            </a:r>
            <a:r>
              <a:rPr lang="en-US" altLang="zh-TW" kern="0"/>
              <a:t>ASCII</a:t>
            </a:r>
            <a:r>
              <a:rPr lang="zh-TW" altLang="en-US" kern="0"/>
              <a:t>字元碼，如下所示：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'\x61'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'\101'</a:t>
            </a:r>
          </a:p>
          <a:p>
            <a:r>
              <a:rPr lang="zh-TW" altLang="en-US" kern="0"/>
              <a:t>上述表示法，筆者整理如下表所示：</a:t>
            </a:r>
          </a:p>
          <a:p>
            <a:endParaRPr lang="zh-TW" altLang="en-US" kern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18260E8E-5E64-66B7-5D5B-811C60520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84602541"/>
              </p:ext>
            </p:extLst>
          </p:nvPr>
        </p:nvGraphicFramePr>
        <p:xfrm>
          <a:off x="2243930" y="4285456"/>
          <a:ext cx="7704137" cy="194468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761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279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ASCII</a:t>
                      </a: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字元碼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\N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是八進位值的字元常數，例如：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\040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空白字元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822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\xN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</a:t>
                      </a: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是十六進位值的字元常數，例如：</a:t>
                      </a: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\x20</a:t>
                      </a: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空白字元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940050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2905-4E5C-1D11-E13F-AA4707007243}"/>
              </a:ext>
            </a:extLst>
          </p:cNvPr>
          <p:cNvSpPr txBox="1">
            <a:spLocks noChangeArrowheads="1"/>
          </p:cNvSpPr>
          <p:nvPr/>
        </p:nvSpPr>
        <p:spPr>
          <a:xfrm>
            <a:off x="2235252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數值文字值</a:t>
            </a:r>
            <a:br>
              <a:rPr lang="zh-TW" altLang="en-US" kern="0" dirty="0"/>
            </a:br>
            <a:r>
              <a:rPr lang="zh-TW" altLang="en-US" sz="2800" kern="0" dirty="0"/>
              <a:t>整數文字值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0378345-5DDB-4C0F-FA92-EB388B7274B3}"/>
              </a:ext>
            </a:extLst>
          </p:cNvPr>
          <p:cNvSpPr txBox="1">
            <a:spLocks noChangeArrowheads="1"/>
          </p:cNvSpPr>
          <p:nvPr/>
        </p:nvSpPr>
        <p:spPr>
          <a:xfrm>
            <a:off x="2235252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/>
              <a:t>整數文字值是指資料是整數值，沒有小數點，其資料長度可以是任何長度，視記憶體空間而定。例如：一些整數文字值的範例，如下所示：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1    100    122     56789</a:t>
            </a:r>
          </a:p>
          <a:p>
            <a:r>
              <a:rPr lang="zh-TW" altLang="en-US" kern="0"/>
              <a:t>上述整數值是</a:t>
            </a:r>
            <a:r>
              <a:rPr lang="en-US" altLang="zh-TW" kern="0"/>
              <a:t>10</a:t>
            </a:r>
            <a:r>
              <a:rPr lang="zh-TW" altLang="en-US" kern="0"/>
              <a:t>進位值，也是我們習慣使用的數字系統，</a:t>
            </a:r>
            <a:r>
              <a:rPr lang="en-US" altLang="zh-TW" kern="0"/>
              <a:t>Python</a:t>
            </a:r>
            <a:r>
              <a:rPr lang="zh-TW" altLang="en-US" kern="0"/>
              <a:t>語言支援二進位、八進位和十六進位的數字系統，此時的數值需要加上數字系統的字首（十進位並不需要），如下表所示：</a:t>
            </a:r>
          </a:p>
          <a:p>
            <a:endParaRPr lang="zh-TW" altLang="en-US" kern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37B27A2C-34ED-3A79-E137-194618AA3A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764" y="4878228"/>
            <a:ext cx="7370703" cy="18289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62557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376F9E-8761-A1CC-78F0-654C0CCF247F}"/>
              </a:ext>
            </a:extLst>
          </p:cNvPr>
          <p:cNvSpPr txBox="1">
            <a:spLocks noChangeArrowheads="1"/>
          </p:cNvSpPr>
          <p:nvPr/>
        </p:nvSpPr>
        <p:spPr>
          <a:xfrm>
            <a:off x="2471226" y="274638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數值文字值</a:t>
            </a:r>
            <a:br>
              <a:rPr lang="zh-TW" altLang="en-US" kern="0" dirty="0"/>
            </a:br>
            <a:r>
              <a:rPr lang="zh-TW" altLang="en-US" sz="2800" kern="0" dirty="0"/>
              <a:t>浮點數文字值</a:t>
            </a:r>
            <a:endParaRPr lang="zh-TW" altLang="en-US" kern="0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E2EA9CF1-0D75-C9EF-06BE-25E0E944B56E}"/>
              </a:ext>
            </a:extLst>
          </p:cNvPr>
          <p:cNvSpPr txBox="1">
            <a:spLocks noChangeArrowheads="1"/>
          </p:cNvSpPr>
          <p:nvPr/>
        </p:nvSpPr>
        <p:spPr>
          <a:xfrm>
            <a:off x="2471226" y="1600200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/>
              <a:t>浮點數文字值是指數值資料是整數加上小數，其精確度可以到小數點下</a:t>
            </a:r>
            <a:r>
              <a:rPr lang="en-US" altLang="zh-TW" kern="0"/>
              <a:t>15</a:t>
            </a:r>
            <a:r>
              <a:rPr lang="zh-TW" altLang="en-US" kern="0"/>
              <a:t>位，基本上，整數和浮點數的差異就是小數點，</a:t>
            </a:r>
            <a:r>
              <a:rPr lang="en-US" altLang="zh-TW" kern="0"/>
              <a:t>5</a:t>
            </a:r>
            <a:r>
              <a:rPr lang="zh-TW" altLang="en-US" kern="0"/>
              <a:t>是整數；</a:t>
            </a:r>
            <a:r>
              <a:rPr lang="en-US" altLang="zh-TW" kern="0"/>
              <a:t>5.0</a:t>
            </a:r>
            <a:r>
              <a:rPr lang="zh-TW" altLang="en-US" kern="0"/>
              <a:t>是浮點數，例如：一些浮點數文字值的範例（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ch2-5-2a.py</a:t>
            </a:r>
            <a:r>
              <a:rPr lang="zh-TW" altLang="en-US" kern="0"/>
              <a:t>），如下所示：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1.0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55.22</a:t>
            </a:r>
          </a:p>
          <a:p>
            <a:endParaRPr lang="zh-TW" altLang="en-US" kern="0"/>
          </a:p>
        </p:txBody>
      </p:sp>
    </p:spTree>
    <p:extLst>
      <p:ext uri="{BB962C8B-B14F-4D97-AF65-F5344CB8AC3E}">
        <p14:creationId xmlns:p14="http://schemas.microsoft.com/office/powerpoint/2010/main" val="4553309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293237C-F954-ED3E-B919-6438A52468BF}"/>
              </a:ext>
            </a:extLst>
          </p:cNvPr>
          <p:cNvSpPr txBox="1">
            <a:spLocks noChangeArrowheads="1"/>
          </p:cNvSpPr>
          <p:nvPr/>
        </p:nvSpPr>
        <p:spPr>
          <a:xfrm>
            <a:off x="2343407" y="441787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布林文字值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A3CA015-1B9C-0E8E-25FA-B9899F5AC7FD}"/>
              </a:ext>
            </a:extLst>
          </p:cNvPr>
          <p:cNvSpPr txBox="1">
            <a:spLocks noChangeArrowheads="1"/>
          </p:cNvSpPr>
          <p:nvPr/>
        </p:nvSpPr>
        <p:spPr>
          <a:xfrm>
            <a:off x="2343407" y="1767349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語言的布林（</a:t>
            </a:r>
            <a:r>
              <a:rPr lang="en-US" altLang="zh-TW" kern="0"/>
              <a:t>Boolean</a:t>
            </a:r>
            <a:r>
              <a:rPr lang="zh-TW" altLang="en-US" kern="0"/>
              <a:t>）文字值是使用</a:t>
            </a:r>
            <a:r>
              <a:rPr lang="en-US" altLang="zh-TW" kern="0"/>
              <a:t>True</a:t>
            </a:r>
            <a:r>
              <a:rPr lang="zh-TW" altLang="en-US" kern="0"/>
              <a:t>和</a:t>
            </a:r>
            <a:r>
              <a:rPr lang="en-US" altLang="zh-TW" kern="0"/>
              <a:t>False</a:t>
            </a:r>
            <a:r>
              <a:rPr lang="zh-TW" altLang="en-US" kern="0"/>
              <a:t>關鍵字來表示（</a:t>
            </a:r>
            <a:r>
              <a:rPr lang="en-US" altLang="zh-TW" kern="0"/>
              <a:t>Python</a:t>
            </a:r>
            <a:r>
              <a:rPr lang="zh-TW" altLang="en-US" kern="0"/>
              <a:t>程式：</a:t>
            </a:r>
            <a:r>
              <a:rPr lang="en-US" altLang="zh-TW" kern="0"/>
              <a:t>ch2-5-3.py</a:t>
            </a:r>
            <a:r>
              <a:rPr lang="zh-TW" altLang="en-US" kern="0"/>
              <a:t>），如下所示：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True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False</a:t>
            </a:r>
          </a:p>
          <a:p>
            <a:endParaRPr lang="zh-TW" altLang="en-US" kern="0"/>
          </a:p>
        </p:txBody>
      </p:sp>
    </p:spTree>
    <p:extLst>
      <p:ext uri="{BB962C8B-B14F-4D97-AF65-F5344CB8AC3E}">
        <p14:creationId xmlns:p14="http://schemas.microsoft.com/office/powerpoint/2010/main" val="127908995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618FE4DE-F9B6-2C5A-D5F8-DD4507ED2960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45141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程式敘述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B72FA060-5F97-84A6-D35E-81949C9F8B89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570703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>
              <a:defRPr/>
            </a:pPr>
            <a:r>
              <a:rPr lang="en-US" altLang="zh-TW" kern="0"/>
              <a:t>Python</a:t>
            </a:r>
            <a:r>
              <a:rPr lang="zh-TW" altLang="en-US" kern="0"/>
              <a:t>程式是使用程式敘述（</a:t>
            </a:r>
            <a:r>
              <a:rPr lang="en-US" altLang="zh-TW" kern="0"/>
              <a:t>Statements</a:t>
            </a:r>
            <a:r>
              <a:rPr lang="zh-TW" altLang="en-US" kern="0"/>
              <a:t>）所組成，一行程式敘述如同英文的一個句子，內含多個運算式、運算子或關鍵字，這就是</a:t>
            </a:r>
            <a:r>
              <a:rPr lang="en-US" altLang="zh-TW" kern="0"/>
              <a:t>Python</a:t>
            </a:r>
            <a:r>
              <a:rPr lang="zh-TW" altLang="en-US" kern="0"/>
              <a:t>直譯器可以執行的程式碼。</a:t>
            </a:r>
          </a:p>
          <a:p>
            <a:pPr marL="0" indent="0">
              <a:buFontTx/>
              <a:buNone/>
              <a:defRPr/>
            </a:pPr>
            <a:r>
              <a:rPr lang="zh-TW" altLang="en-US" u="sng" kern="0"/>
              <a:t>程式敘述的範例</a:t>
            </a:r>
          </a:p>
          <a:p>
            <a:pPr>
              <a:defRPr/>
            </a:pPr>
            <a:r>
              <a:rPr lang="zh-TW" altLang="en-US" kern="0"/>
              <a:t>一些</a:t>
            </a:r>
            <a:r>
              <a:rPr lang="en-US" altLang="zh-TW" kern="0"/>
              <a:t>Python</a:t>
            </a:r>
            <a:r>
              <a:rPr lang="zh-TW" altLang="en-US" kern="0"/>
              <a:t>程式敘述的範例，如下所示：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b = 10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c = 2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a = b * c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print("</a:t>
            </a:r>
            <a:r>
              <a:rPr lang="zh-TW" altLang="en-US" kern="0">
                <a:solidFill>
                  <a:srgbClr val="FF3399"/>
                </a:solidFill>
              </a:rPr>
              <a:t>第一個</a:t>
            </a:r>
            <a:r>
              <a:rPr lang="en-US" altLang="zh-TW" kern="0">
                <a:solidFill>
                  <a:srgbClr val="FF3399"/>
                </a:solidFill>
              </a:rPr>
              <a:t>Python</a:t>
            </a:r>
            <a:r>
              <a:rPr lang="zh-TW" altLang="en-US" kern="0">
                <a:solidFill>
                  <a:srgbClr val="FF3399"/>
                </a:solidFill>
              </a:rPr>
              <a:t>程式</a:t>
            </a:r>
            <a:r>
              <a:rPr lang="en-US" altLang="zh-TW" kern="0">
                <a:solidFill>
                  <a:srgbClr val="FF3399"/>
                </a:solidFill>
              </a:rPr>
              <a:t>")</a:t>
            </a:r>
          </a:p>
          <a:p>
            <a:pPr>
              <a:defRPr/>
            </a:pPr>
            <a:r>
              <a:rPr lang="zh-TW" altLang="en-US" kern="0"/>
              <a:t>上述第</a:t>
            </a:r>
            <a:r>
              <a:rPr lang="en-US" altLang="zh-TW" kern="0"/>
              <a:t>1</a:t>
            </a:r>
            <a:r>
              <a:rPr lang="zh-TW" altLang="en-US" kern="0"/>
              <a:t>行和第</a:t>
            </a:r>
            <a:r>
              <a:rPr lang="en-US" altLang="zh-TW" kern="0"/>
              <a:t>2</a:t>
            </a:r>
            <a:r>
              <a:rPr lang="zh-TW" altLang="en-US" kern="0"/>
              <a:t>行程式碼是指定變數初值，第</a:t>
            </a:r>
            <a:r>
              <a:rPr lang="en-US" altLang="zh-TW" kern="0"/>
              <a:t>3</a:t>
            </a:r>
            <a:r>
              <a:rPr lang="zh-TW" altLang="en-US" kern="0"/>
              <a:t>行是指定敘述的運算式，第</a:t>
            </a:r>
            <a:r>
              <a:rPr lang="en-US" altLang="zh-TW" kern="0"/>
              <a:t>4</a:t>
            </a:r>
            <a:r>
              <a:rPr lang="zh-TW" altLang="en-US" kern="0"/>
              <a:t>行是呼叫</a:t>
            </a:r>
            <a:r>
              <a:rPr lang="en-US" altLang="zh-TW" kern="0"/>
              <a:t>print()</a:t>
            </a:r>
            <a:r>
              <a:rPr lang="zh-TW" altLang="en-US" kern="0"/>
              <a:t>函數。</a:t>
            </a:r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4126847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3">
            <a:extLst>
              <a:ext uri="{FF2B5EF4-FFF2-40B4-BE49-F238E27FC236}">
                <a16:creationId xmlns:a16="http://schemas.microsoft.com/office/drawing/2014/main" id="{88425B2F-3E8D-2F81-0CCC-3290BE268DDD}"/>
              </a:ext>
            </a:extLst>
          </p:cNvPr>
          <p:cNvSpPr txBox="1">
            <a:spLocks noChangeArrowheads="1"/>
          </p:cNvSpPr>
          <p:nvPr/>
        </p:nvSpPr>
        <p:spPr>
          <a:xfrm>
            <a:off x="2274581" y="123640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0" indent="0">
              <a:buFontTx/>
              <a:buNone/>
              <a:defRPr/>
            </a:pPr>
            <a:r>
              <a:rPr lang="zh-TW" altLang="en-US" u="sng" kern="0"/>
              <a:t>「</a:t>
            </a:r>
            <a:r>
              <a:rPr lang="en-US" altLang="zh-TW" u="sng" kern="0"/>
              <a:t>;</a:t>
            </a:r>
            <a:r>
              <a:rPr lang="zh-TW" altLang="en-US" u="sng" kern="0"/>
              <a:t>」分號</a:t>
            </a:r>
          </a:p>
          <a:p>
            <a:pPr>
              <a:defRPr/>
            </a:pPr>
            <a:r>
              <a:rPr lang="zh-TW" altLang="en-US" kern="0"/>
              <a:t>大部分程式語言：</a:t>
            </a:r>
            <a:r>
              <a:rPr lang="en-US" altLang="zh-TW" kern="0"/>
              <a:t>C/C++</a:t>
            </a:r>
            <a:r>
              <a:rPr lang="zh-TW" altLang="en-US" kern="0"/>
              <a:t>、</a:t>
            </a:r>
            <a:r>
              <a:rPr lang="en-US" altLang="zh-TW" kern="0"/>
              <a:t>Java</a:t>
            </a:r>
            <a:r>
              <a:rPr lang="zh-TW" altLang="en-US" kern="0"/>
              <a:t>和</a:t>
            </a:r>
            <a:r>
              <a:rPr lang="en-US" altLang="zh-TW" kern="0"/>
              <a:t>C#</a:t>
            </a:r>
            <a:r>
              <a:rPr lang="zh-TW" altLang="en-US" kern="0"/>
              <a:t>等語言的「</a:t>
            </a:r>
            <a:r>
              <a:rPr lang="en-US" altLang="zh-TW" kern="0"/>
              <a:t>;</a:t>
            </a:r>
            <a:r>
              <a:rPr lang="zh-TW" altLang="en-US" kern="0"/>
              <a:t>」分號代表程式敘述的結束，告訴直譯器</a:t>
            </a:r>
            <a:r>
              <a:rPr lang="en-US" altLang="zh-TW" kern="0"/>
              <a:t>/</a:t>
            </a:r>
            <a:r>
              <a:rPr lang="zh-TW" altLang="en-US" kern="0"/>
              <a:t>編譯器已經到達程式敘述的最後，請注意！</a:t>
            </a:r>
            <a:r>
              <a:rPr lang="en-US" altLang="zh-TW" kern="0"/>
              <a:t>Python</a:t>
            </a:r>
            <a:r>
              <a:rPr lang="zh-TW" altLang="en-US" kern="0"/>
              <a:t>語言並不需要在程式敘述最後加上「</a:t>
            </a:r>
            <a:r>
              <a:rPr lang="en-US" altLang="zh-TW" kern="0"/>
              <a:t>;</a:t>
            </a:r>
            <a:r>
              <a:rPr lang="zh-TW" altLang="en-US" kern="0"/>
              <a:t>」分號，如果習慣在程式敘述最後加上「</a:t>
            </a:r>
            <a:r>
              <a:rPr lang="en-US" altLang="zh-TW" kern="0"/>
              <a:t>;</a:t>
            </a:r>
            <a:r>
              <a:rPr lang="zh-TW" altLang="en-US" kern="0"/>
              <a:t>」分號，也不會有錯誤，如下所示：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d = 5;</a:t>
            </a:r>
          </a:p>
          <a:p>
            <a:pPr>
              <a:defRPr/>
            </a:pPr>
            <a:r>
              <a:rPr lang="zh-TW" altLang="en-US" kern="0"/>
              <a:t>在</a:t>
            </a:r>
            <a:r>
              <a:rPr lang="en-US" altLang="zh-TW" kern="0"/>
              <a:t>Python</a:t>
            </a:r>
            <a:r>
              <a:rPr lang="zh-TW" altLang="en-US" kern="0"/>
              <a:t>語言使用「</a:t>
            </a:r>
            <a:r>
              <a:rPr lang="en-US" altLang="zh-TW" kern="0"/>
              <a:t>;</a:t>
            </a:r>
            <a:r>
              <a:rPr lang="zh-TW" altLang="en-US" kern="0"/>
              <a:t>」分號的主要目的是在同一行程式碼撰寫多個程式敘述，如下所示：</a:t>
            </a:r>
          </a:p>
          <a:p>
            <a:pPr marL="457200" lvl="1" indent="0">
              <a:buFontTx/>
              <a:buNone/>
              <a:defRPr/>
            </a:pPr>
            <a:r>
              <a:rPr lang="en-US" altLang="zh-TW" kern="0">
                <a:solidFill>
                  <a:srgbClr val="FF3399"/>
                </a:solidFill>
              </a:rPr>
              <a:t>b = 10; c = 4; a = b * c</a:t>
            </a:r>
            <a:endParaRPr lang="en-US" altLang="zh-TW" kern="0" dirty="0">
              <a:solidFill>
                <a:srgbClr val="FF3399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1B6595B-1C2B-0232-0BDC-3E93A2DE5971}"/>
              </a:ext>
            </a:extLst>
          </p:cNvPr>
          <p:cNvSpPr txBox="1">
            <a:spLocks noChangeArrowheads="1"/>
          </p:cNvSpPr>
          <p:nvPr/>
        </p:nvSpPr>
        <p:spPr>
          <a:xfrm>
            <a:off x="2274580" y="264806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程式敘述</a:t>
            </a:r>
          </a:p>
        </p:txBody>
      </p:sp>
    </p:spTree>
    <p:extLst>
      <p:ext uri="{BB962C8B-B14F-4D97-AF65-F5344CB8AC3E}">
        <p14:creationId xmlns:p14="http://schemas.microsoft.com/office/powerpoint/2010/main" val="10311462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BEC0354C-F943-2C18-39FB-3FBF65686D13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96678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/>
              <a:t>程式區塊（</a:t>
            </a:r>
            <a:r>
              <a:rPr lang="en-US" altLang="zh-TW" kern="0" dirty="0"/>
              <a:t>Blocks</a:t>
            </a:r>
            <a:r>
              <a:rPr lang="zh-TW" altLang="en-US" kern="0" dirty="0"/>
              <a:t>）是由多個程式敘述所組成，大部分程式語言是使用</a:t>
            </a:r>
            <a:r>
              <a:rPr lang="en-US" altLang="zh-TW" kern="0" dirty="0"/>
              <a:t>"{"</a:t>
            </a:r>
            <a:r>
              <a:rPr lang="zh-TW" altLang="en-US" kern="0" dirty="0"/>
              <a:t>和</a:t>
            </a:r>
            <a:r>
              <a:rPr lang="en-US" altLang="zh-TW" kern="0" dirty="0"/>
              <a:t>"}"</a:t>
            </a:r>
            <a:r>
              <a:rPr lang="zh-TW" altLang="en-US" kern="0" dirty="0"/>
              <a:t>大括號（</a:t>
            </a:r>
            <a:r>
              <a:rPr lang="en-US" altLang="zh-TW" kern="0" dirty="0"/>
              <a:t>Braces</a:t>
            </a:r>
            <a:r>
              <a:rPr lang="zh-TW" altLang="en-US" kern="0" dirty="0"/>
              <a:t>）包圍來建立程式區塊。</a:t>
            </a:r>
            <a:r>
              <a:rPr lang="en-US" altLang="zh-TW" kern="0" dirty="0"/>
              <a:t>Python</a:t>
            </a:r>
            <a:r>
              <a:rPr lang="zh-TW" altLang="en-US" kern="0" dirty="0"/>
              <a:t>語言的程式區塊是使用縮排，當多行程式敘述擁有相同數量的空白字元縮排時，就屬於同一個程式區塊，通常是使用「</a:t>
            </a:r>
            <a:r>
              <a:rPr lang="en-US" altLang="zh-TW" kern="0" dirty="0"/>
              <a:t>4</a:t>
            </a:r>
            <a:r>
              <a:rPr lang="zh-TW" altLang="en-US" kern="0" dirty="0"/>
              <a:t>」個空白字元或</a:t>
            </a:r>
            <a:r>
              <a:rPr lang="en-US" altLang="zh-TW" kern="0" dirty="0"/>
              <a:t>1</a:t>
            </a:r>
            <a:r>
              <a:rPr lang="zh-TW" altLang="en-US" kern="0" dirty="0"/>
              <a:t>個</a:t>
            </a:r>
            <a:r>
              <a:rPr lang="en-US" altLang="zh-TW" kern="0" dirty="0"/>
              <a:t>Tab</a:t>
            </a:r>
            <a:r>
              <a:rPr lang="zh-TW" altLang="en-US" kern="0" dirty="0"/>
              <a:t>鍵。</a:t>
            </a:r>
          </a:p>
          <a:p>
            <a:r>
              <a:rPr lang="en-US" altLang="zh-TW" kern="0" dirty="0"/>
              <a:t>Python</a:t>
            </a:r>
            <a:r>
              <a:rPr lang="zh-TW" altLang="en-US" kern="0" dirty="0"/>
              <a:t>程式區塊是從第</a:t>
            </a:r>
            <a:r>
              <a:rPr lang="en-US" altLang="zh-TW" kern="0" dirty="0"/>
              <a:t>1</a:t>
            </a:r>
            <a:r>
              <a:rPr lang="zh-TW" altLang="en-US" kern="0" dirty="0"/>
              <a:t>個縮排的程式敘述開始，到第</a:t>
            </a:r>
            <a:r>
              <a:rPr lang="en-US" altLang="zh-TW" kern="0" dirty="0"/>
              <a:t>1</a:t>
            </a:r>
            <a:r>
              <a:rPr lang="zh-TW" altLang="en-US" kern="0" dirty="0"/>
              <a:t>個沒有縮排的程式敘述的前一行為止，如下所示：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for 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 in range(1, 11):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print(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)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if </a:t>
            </a:r>
            <a:r>
              <a:rPr lang="en-US" altLang="zh-TW" kern="0" dirty="0" err="1">
                <a:solidFill>
                  <a:srgbClr val="FF3399"/>
                </a:solidFill>
              </a:rPr>
              <a:t>i</a:t>
            </a:r>
            <a:r>
              <a:rPr lang="en-US" altLang="zh-TW" kern="0" dirty="0">
                <a:solidFill>
                  <a:srgbClr val="FF3399"/>
                </a:solidFill>
              </a:rPr>
              <a:t> == 5 :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      break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print("</a:t>
            </a:r>
            <a:r>
              <a:rPr lang="zh-TW" altLang="en-US" kern="0" dirty="0">
                <a:solidFill>
                  <a:srgbClr val="FF3399"/>
                </a:solidFill>
              </a:rPr>
              <a:t>迴圈結束</a:t>
            </a:r>
            <a:r>
              <a:rPr lang="en-US" altLang="zh-TW" kern="0" dirty="0">
                <a:solidFill>
                  <a:srgbClr val="FF3399"/>
                </a:solidFill>
              </a:rPr>
              <a:t>")</a:t>
            </a:r>
          </a:p>
          <a:p>
            <a:endParaRPr lang="zh-TW" altLang="en-US" kern="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A01A792-5A69-D1BA-F954-3055AB3BA2B2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42120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程式區塊</a:t>
            </a:r>
          </a:p>
        </p:txBody>
      </p:sp>
    </p:spTree>
    <p:extLst>
      <p:ext uri="{BB962C8B-B14F-4D97-AF65-F5344CB8AC3E}">
        <p14:creationId xmlns:p14="http://schemas.microsoft.com/office/powerpoint/2010/main" val="13397396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9F8E6A6C-0A5B-56E9-6260-72C03F46BEFE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254052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程式註解</a:t>
            </a:r>
          </a:p>
        </p:txBody>
      </p:sp>
      <p:sp>
        <p:nvSpPr>
          <p:cNvPr id="3" name="內容版面配置區 1">
            <a:extLst>
              <a:ext uri="{FF2B5EF4-FFF2-40B4-BE49-F238E27FC236}">
                <a16:creationId xmlns:a16="http://schemas.microsoft.com/office/drawing/2014/main" id="{8B62FA87-C3E9-3564-BBB9-B2F1C8C2F3EA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6" y="966787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zh-TW" altLang="en-US" kern="0" dirty="0"/>
              <a:t>程式註解（</a:t>
            </a:r>
            <a:r>
              <a:rPr lang="en-US" altLang="zh-TW" kern="0" dirty="0"/>
              <a:t>Comments</a:t>
            </a:r>
            <a:r>
              <a:rPr lang="zh-TW" altLang="en-US" kern="0" dirty="0"/>
              <a:t>）是程式中十分重要的部分，可以提供程式內容的進一步說明，良好的註解文字不但能夠了解程式目的，並且在程式維護上，也可以提供更多的資訊。</a:t>
            </a:r>
          </a:p>
          <a:p>
            <a:r>
              <a:rPr lang="zh-TW" altLang="en-US" kern="0" dirty="0"/>
              <a:t>基本上，程式註解是給程式設計者閱讀的內容，</a:t>
            </a:r>
            <a:r>
              <a:rPr lang="en-US" altLang="zh-TW" kern="0" dirty="0"/>
              <a:t>Python</a:t>
            </a:r>
            <a:r>
              <a:rPr lang="zh-TW" altLang="en-US" kern="0" dirty="0"/>
              <a:t>直譯器在直譯原始程式碼時會忽略註解文字和多餘的空白字元。</a:t>
            </a:r>
          </a:p>
          <a:p>
            <a:endParaRPr lang="zh-TW" altLang="en-US" kern="0" dirty="0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9353954A-4FF4-0E00-1592-4569B8DCBA62}"/>
              </a:ext>
            </a:extLst>
          </p:cNvPr>
          <p:cNvSpPr txBox="1"/>
          <p:nvPr/>
        </p:nvSpPr>
        <p:spPr>
          <a:xfrm>
            <a:off x="2222091" y="3920666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Python</a:t>
            </a:r>
            <a:r>
              <a:rPr lang="zh-TW" altLang="en-US" sz="2800" dirty="0"/>
              <a:t>語言的單行註解</a:t>
            </a:r>
            <a:endParaRPr lang="zh-TW" altLang="en-US" dirty="0"/>
          </a:p>
        </p:txBody>
      </p:sp>
      <p:sp>
        <p:nvSpPr>
          <p:cNvPr id="6" name="內容版面配置區 1">
            <a:extLst>
              <a:ext uri="{FF2B5EF4-FFF2-40B4-BE49-F238E27FC236}">
                <a16:creationId xmlns:a16="http://schemas.microsoft.com/office/drawing/2014/main" id="{6B2BF7A6-4FF9-EB9B-C676-4C87B633B995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6" y="4538643"/>
            <a:ext cx="8226425" cy="216555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語言的單行註解是在程式中以「</a:t>
            </a:r>
            <a:r>
              <a:rPr lang="en-US" altLang="zh-TW" kern="0" dirty="0"/>
              <a:t>#</a:t>
            </a:r>
            <a:r>
              <a:rPr lang="zh-TW" altLang="en-US" kern="0" dirty="0"/>
              <a:t>」符號開始的行，或程式行位在「</a:t>
            </a:r>
            <a:r>
              <a:rPr lang="en-US" altLang="zh-TW" kern="0" dirty="0"/>
              <a:t>#</a:t>
            </a:r>
            <a:r>
              <a:rPr lang="zh-TW" altLang="en-US" kern="0" dirty="0"/>
              <a:t>」符號後的文字內容都是註解文字，如下所示：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# </a:t>
            </a:r>
            <a:r>
              <a:rPr lang="zh-TW" altLang="en-US" kern="0" dirty="0">
                <a:solidFill>
                  <a:srgbClr val="FF3399"/>
                </a:solidFill>
              </a:rPr>
              <a:t>顯示訊息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print("</a:t>
            </a:r>
            <a:r>
              <a:rPr lang="zh-TW" altLang="en-US" kern="0" dirty="0">
                <a:solidFill>
                  <a:srgbClr val="FF3399"/>
                </a:solidFill>
              </a:rPr>
              <a:t>第一個</a:t>
            </a:r>
            <a:r>
              <a:rPr lang="en-US" altLang="zh-TW" kern="0" dirty="0">
                <a:solidFill>
                  <a:srgbClr val="FF3399"/>
                </a:solidFill>
              </a:rPr>
              <a:t>Python</a:t>
            </a:r>
            <a:r>
              <a:rPr lang="zh-TW" altLang="en-US" kern="0" dirty="0">
                <a:solidFill>
                  <a:srgbClr val="FF3399"/>
                </a:solidFill>
              </a:rPr>
              <a:t>程式</a:t>
            </a:r>
            <a:r>
              <a:rPr lang="en-US" altLang="zh-TW" kern="0" dirty="0">
                <a:solidFill>
                  <a:srgbClr val="FF3399"/>
                </a:solidFill>
              </a:rPr>
              <a:t>")   # </a:t>
            </a:r>
            <a:r>
              <a:rPr lang="zh-TW" altLang="en-US" kern="0" dirty="0">
                <a:solidFill>
                  <a:srgbClr val="FF3399"/>
                </a:solidFill>
              </a:rPr>
              <a:t>顯示訊息</a:t>
            </a:r>
          </a:p>
          <a:p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10815584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02627BB6-E192-5607-C0F4-42105D116300}"/>
              </a:ext>
            </a:extLst>
          </p:cNvPr>
          <p:cNvSpPr txBox="1"/>
          <p:nvPr/>
        </p:nvSpPr>
        <p:spPr>
          <a:xfrm>
            <a:off x="1917291" y="692119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800" dirty="0"/>
              <a:t>Python</a:t>
            </a:r>
            <a:r>
              <a:rPr lang="zh-TW" altLang="en-US" sz="2800" dirty="0"/>
              <a:t>語言的多行註解</a:t>
            </a:r>
            <a:endParaRPr lang="zh-TW" altLang="en-US" dirty="0"/>
          </a:p>
        </p:txBody>
      </p:sp>
      <p:sp>
        <p:nvSpPr>
          <p:cNvPr id="4" name="內容版面配置區 1">
            <a:extLst>
              <a:ext uri="{FF2B5EF4-FFF2-40B4-BE49-F238E27FC236}">
                <a16:creationId xmlns:a16="http://schemas.microsoft.com/office/drawing/2014/main" id="{8F113567-72BF-E2B7-BAE6-ED1B37132EFD}"/>
              </a:ext>
            </a:extLst>
          </p:cNvPr>
          <p:cNvSpPr txBox="1">
            <a:spLocks noChangeArrowheads="1"/>
          </p:cNvSpPr>
          <p:nvPr/>
        </p:nvSpPr>
        <p:spPr>
          <a:xfrm>
            <a:off x="1917291" y="1559468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 dirty="0"/>
              <a:t>Python</a:t>
            </a:r>
            <a:r>
              <a:rPr lang="zh-TW" altLang="en-US" kern="0" dirty="0"/>
              <a:t>語言的程式註解可以跨過很多行，這是使用「</a:t>
            </a:r>
            <a:r>
              <a:rPr lang="en-US" altLang="zh-TW" kern="0" dirty="0"/>
              <a:t>"""</a:t>
            </a:r>
            <a:r>
              <a:rPr lang="zh-TW" altLang="en-US" kern="0" dirty="0"/>
              <a:t>」和「</a:t>
            </a:r>
            <a:r>
              <a:rPr lang="en-US" altLang="zh-TW" kern="0" dirty="0"/>
              <a:t>"""</a:t>
            </a:r>
            <a:r>
              <a:rPr lang="zh-TW" altLang="en-US" kern="0" dirty="0"/>
              <a:t>」符號（</a:t>
            </a:r>
            <a:r>
              <a:rPr lang="en-US" altLang="zh-TW" kern="0" dirty="0"/>
              <a:t>3</a:t>
            </a:r>
            <a:r>
              <a:rPr lang="zh-TW" altLang="en-US" kern="0" dirty="0"/>
              <a:t>個「</a:t>
            </a:r>
            <a:r>
              <a:rPr lang="en-US" altLang="zh-TW" kern="0" dirty="0"/>
              <a:t>"</a:t>
            </a:r>
            <a:r>
              <a:rPr lang="zh-TW" altLang="en-US" kern="0" dirty="0"/>
              <a:t>」符號）或「</a:t>
            </a:r>
            <a:r>
              <a:rPr lang="en-US" altLang="zh-TW" kern="0" dirty="0"/>
              <a:t>'''</a:t>
            </a:r>
            <a:r>
              <a:rPr lang="zh-TW" altLang="en-US" kern="0" dirty="0"/>
              <a:t>」和「</a:t>
            </a:r>
            <a:r>
              <a:rPr lang="en-US" altLang="zh-TW" kern="0" dirty="0"/>
              <a:t>'''</a:t>
            </a:r>
            <a:r>
              <a:rPr lang="zh-TW" altLang="en-US" kern="0" dirty="0"/>
              <a:t>」符號（</a:t>
            </a:r>
            <a:r>
              <a:rPr lang="en-US" altLang="zh-TW" kern="0" dirty="0"/>
              <a:t>3</a:t>
            </a:r>
            <a:r>
              <a:rPr lang="zh-TW" altLang="en-US" kern="0" dirty="0"/>
              <a:t>個「</a:t>
            </a:r>
            <a:r>
              <a:rPr lang="en-US" altLang="zh-TW" kern="0" dirty="0"/>
              <a:t>'</a:t>
            </a:r>
            <a:r>
              <a:rPr lang="zh-TW" altLang="en-US" kern="0" dirty="0"/>
              <a:t>」符號）括起的文字內容，例如：我們可以在</a:t>
            </a:r>
            <a:r>
              <a:rPr lang="en-US" altLang="zh-TW" kern="0" dirty="0"/>
              <a:t>Python</a:t>
            </a:r>
            <a:r>
              <a:rPr lang="zh-TW" altLang="en-US" kern="0" dirty="0"/>
              <a:t>程式開頭加上程式檔名稱的註解文字，如下所示：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''' Python</a:t>
            </a:r>
            <a:r>
              <a:rPr lang="zh-TW" altLang="en-US" kern="0" dirty="0">
                <a:solidFill>
                  <a:srgbClr val="FF3399"/>
                </a:solidFill>
              </a:rPr>
              <a:t>程式</a:t>
            </a:r>
            <a:r>
              <a:rPr lang="en-US" altLang="zh-TW" kern="0" dirty="0">
                <a:solidFill>
                  <a:srgbClr val="FF3399"/>
                </a:solidFill>
              </a:rPr>
              <a:t>: 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</a:t>
            </a:r>
            <a:r>
              <a:rPr lang="zh-TW" altLang="en-US" kern="0" dirty="0">
                <a:solidFill>
                  <a:srgbClr val="FF3399"/>
                </a:solidFill>
              </a:rPr>
              <a:t>榴名</a:t>
            </a:r>
            <a:r>
              <a:rPr lang="en-US" altLang="zh-TW" kern="0" dirty="0">
                <a:solidFill>
                  <a:srgbClr val="FF3399"/>
                </a:solidFill>
              </a:rPr>
              <a:t>: ch2-6.py '''</a:t>
            </a:r>
          </a:p>
          <a:p>
            <a:r>
              <a:rPr lang="zh-TW" altLang="en-US" kern="0" dirty="0"/>
              <a:t>上述註解文字是位在「</a:t>
            </a:r>
            <a:r>
              <a:rPr lang="en-US" altLang="zh-TW" kern="0" dirty="0"/>
              <a:t>'''</a:t>
            </a:r>
            <a:r>
              <a:rPr lang="zh-TW" altLang="en-US" kern="0" dirty="0"/>
              <a:t>」和「</a:t>
            </a:r>
            <a:r>
              <a:rPr lang="en-US" altLang="zh-TW" kern="0" dirty="0"/>
              <a:t>'''</a:t>
            </a:r>
            <a:r>
              <a:rPr lang="zh-TW" altLang="en-US" kern="0" dirty="0"/>
              <a:t>」符號中的文字內容。使用「</a:t>
            </a:r>
            <a:r>
              <a:rPr lang="en-US" altLang="zh-TW" kern="0" dirty="0"/>
              <a:t>"""</a:t>
            </a:r>
            <a:r>
              <a:rPr lang="zh-TW" altLang="en-US" kern="0" dirty="0"/>
              <a:t>」符號的多行註解，如下所示：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""" --------------------------- 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  </a:t>
            </a:r>
            <a:r>
              <a:rPr lang="zh-TW" altLang="en-US" kern="0" dirty="0">
                <a:solidFill>
                  <a:srgbClr val="FF3399"/>
                </a:solidFill>
              </a:rPr>
              <a:t>程式範例</a:t>
            </a:r>
            <a:r>
              <a:rPr lang="en-US" altLang="zh-TW" kern="0" dirty="0">
                <a:solidFill>
                  <a:srgbClr val="FF3399"/>
                </a:solidFill>
              </a:rPr>
              <a:t>: ch2-6.py</a:t>
            </a:r>
          </a:p>
          <a:p>
            <a:pPr marL="457200" lvl="1" indent="0">
              <a:buFontTx/>
              <a:buNone/>
            </a:pPr>
            <a:r>
              <a:rPr lang="en-US" altLang="zh-TW" kern="0" dirty="0">
                <a:solidFill>
                  <a:srgbClr val="FF3399"/>
                </a:solidFill>
              </a:rPr>
              <a:t>------------------------------ """</a:t>
            </a:r>
          </a:p>
          <a:p>
            <a:endParaRPr lang="zh-TW" altLang="en-US" kern="0" dirty="0"/>
          </a:p>
        </p:txBody>
      </p:sp>
    </p:spTree>
    <p:extLst>
      <p:ext uri="{BB962C8B-B14F-4D97-AF65-F5344CB8AC3E}">
        <p14:creationId xmlns:p14="http://schemas.microsoft.com/office/powerpoint/2010/main" val="2080129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>
            <a:extLst>
              <a:ext uri="{FF2B5EF4-FFF2-40B4-BE49-F238E27FC236}">
                <a16:creationId xmlns:a16="http://schemas.microsoft.com/office/drawing/2014/main" id="{BBEF4E8A-08E2-2746-7835-9C04C9D7FC7A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471283"/>
            <a:ext cx="8226425" cy="1143000"/>
          </a:xfrm>
          <a:prstGeom prst="rect">
            <a:avLst/>
          </a:prstGeom>
        </p:spPr>
        <p:txBody>
          <a:bodyPr/>
          <a:lstStyle>
            <a:lvl1pPr algn="l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</a:lstStyle>
          <a:p>
            <a:r>
              <a:rPr lang="zh-TW" altLang="en-US" kern="0" dirty="0"/>
              <a:t>太長的程式碼</a:t>
            </a:r>
            <a:endParaRPr lang="en-US" altLang="zh-TW" sz="2800" kern="0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2A11EE8A-96EE-3A83-0D78-E7A091C5FD13}"/>
              </a:ext>
            </a:extLst>
          </p:cNvPr>
          <p:cNvSpPr txBox="1">
            <a:spLocks noChangeArrowheads="1"/>
          </p:cNvSpPr>
          <p:nvPr/>
        </p:nvSpPr>
        <p:spPr>
          <a:xfrm>
            <a:off x="1982787" y="1796845"/>
            <a:ext cx="8226425" cy="4924425"/>
          </a:xfrm>
          <a:prstGeom prst="rect">
            <a:avLst/>
          </a:prstGeom>
        </p:spPr>
        <p:txBody>
          <a:bodyPr/>
          <a:lstStyle>
            <a:lvl1pPr marL="228600" indent="-228600" algn="l">
              <a:lnSpc>
                <a:spcPct val="90000"/>
              </a:lnSpc>
              <a:spcBef>
                <a:spcPts val="1000"/>
              </a:spcBef>
              <a:buChar char="•"/>
              <a:defRPr sz="2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>
              <a:lnSpc>
                <a:spcPct val="90000"/>
              </a:lnSpc>
              <a:spcBef>
                <a:spcPts val="500"/>
              </a:spcBef>
              <a:buChar char="•"/>
              <a:defRPr sz="24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>
              <a:lnSpc>
                <a:spcPct val="90000"/>
              </a:lnSpc>
              <a:spcBef>
                <a:spcPts val="500"/>
              </a:spcBef>
              <a:buChar char="•"/>
              <a:defRPr sz="20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>
              <a:lnSpc>
                <a:spcPct val="90000"/>
              </a:lnSpc>
              <a:spcBef>
                <a:spcPts val="500"/>
              </a:spcBef>
              <a:buChar char="•"/>
              <a:defRPr sz="18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>
            <a:r>
              <a:rPr lang="en-US" altLang="zh-TW" kern="0"/>
              <a:t>Python</a:t>
            </a:r>
            <a:r>
              <a:rPr lang="zh-TW" altLang="en-US" kern="0"/>
              <a:t>語言的程式碼行如果太長，基於程式編排的需求，太長的程式碼並不容易閱讀，我們可以分割成多行來編排。請在程式碼該行的最後加上「</a:t>
            </a:r>
            <a:r>
              <a:rPr lang="en-US" altLang="zh-TW" kern="0"/>
              <a:t>\</a:t>
            </a:r>
            <a:r>
              <a:rPr lang="zh-TW" altLang="en-US" kern="0"/>
              <a:t>」符號（</a:t>
            </a:r>
            <a:r>
              <a:rPr lang="en-US" altLang="zh-TW" kern="0"/>
              <a:t>Line Splicing</a:t>
            </a:r>
            <a:r>
              <a:rPr lang="zh-TW" altLang="en-US" kern="0"/>
              <a:t>），將程式碼分成數行來編排，如下所示：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sum = 1 + 2 + \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      3 + 4 + \</a:t>
            </a:r>
          </a:p>
          <a:p>
            <a:pPr marL="457200" lvl="1" indent="0">
              <a:buFontTx/>
              <a:buNone/>
            </a:pPr>
            <a:r>
              <a:rPr lang="en-US" altLang="zh-TW" kern="0">
                <a:solidFill>
                  <a:srgbClr val="FF3399"/>
                </a:solidFill>
              </a:rPr>
              <a:t>      5</a:t>
            </a:r>
            <a:endParaRPr lang="en-US" altLang="zh-TW" kern="0" dirty="0">
              <a:solidFill>
                <a:srgbClr val="FF339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3644401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A59A9355-011F-4BCD-B7EC-5CEF608827C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W1-05   060–070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3226A36-2703-4741-B9F9-410711643081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休息與存檔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6CB2C6F-1983-4B67-9055-D9A2D93D441F}"/>
              </a:ext>
            </a:extLst>
          </p:cNvPr>
          <p:cNvSpPr>
            <a:spLocks noGrp="1"/>
          </p:cNvSpPr>
          <p:nvPr/>
        </p:nvSpPr>
        <p:spPr>
          <a:xfrm>
            <a:off x="647700" y="2619375"/>
            <a:ext cx="10477500" cy="1047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休息 10 分鐘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0C60B56-AE55-4658-8FA9-4F6AB4FF9D65}"/>
              </a:ext>
            </a:extLst>
          </p:cNvPr>
          <p:cNvSpPr>
            <a:spLocks noGrp="1"/>
          </p:cNvSpPr>
          <p:nvPr/>
        </p:nvSpPr>
        <p:spPr>
          <a:xfrm>
            <a:off x="685800" y="4286250"/>
            <a:ext cx="10001250" cy="666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BFD5DF"/>
                </a:solidFill>
                <a:latin typeface="Microsoft JhengHei"/>
                <a:ea typeface="Microsoft JhengHei"/>
                <a:cs typeface="Microsoft JhengHei"/>
              </a:rPr>
              <a:t>先儲存，再離開座位</a:t>
            </a:r>
          </a:p>
        </p:txBody>
      </p:sp>
    </p:spTree>
    <p:extLst>
      <p:ext uri="{BB962C8B-B14F-4D97-AF65-F5344CB8AC3E}">
        <p14:creationId xmlns:p14="http://schemas.microsoft.com/office/powerpoint/2010/main" val="16085002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324662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Rectangle 2">
            <a:extLst>
              <a:ext uri="{FF2B5EF4-FFF2-40B4-BE49-F238E27FC236}">
                <a16:creationId xmlns:a16="http://schemas.microsoft.com/office/drawing/2014/main" id="{12204CCA-9B04-9B0A-4827-03D0A4A3A6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TW" altLang="en-US" dirty="0">
                <a:solidFill>
                  <a:schemeClr val="hlink"/>
                </a:solidFill>
              </a:rPr>
              <a:t>第</a:t>
            </a:r>
            <a:r>
              <a:rPr lang="en-US" altLang="zh-TW" dirty="0">
                <a:solidFill>
                  <a:schemeClr val="hlink"/>
                </a:solidFill>
              </a:rPr>
              <a:t>3</a:t>
            </a:r>
            <a:r>
              <a:rPr lang="zh-TW" altLang="en-US" dirty="0">
                <a:solidFill>
                  <a:schemeClr val="hlink"/>
                </a:solidFill>
              </a:rPr>
              <a:t>章 變數、運算式與運算子</a:t>
            </a:r>
          </a:p>
        </p:txBody>
      </p:sp>
      <p:sp>
        <p:nvSpPr>
          <p:cNvPr id="5123" name="Rectangle 4">
            <a:extLst>
              <a:ext uri="{FF2B5EF4-FFF2-40B4-BE49-F238E27FC236}">
                <a16:creationId xmlns:a16="http://schemas.microsoft.com/office/drawing/2014/main" id="{884516E4-2C72-D79F-6E97-5655D15A7BA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hlinkClick r:id="rId2" action="ppaction://hlinksldjump"/>
              </a:rPr>
              <a:t>3-1 </a:t>
            </a:r>
            <a:r>
              <a:rPr lang="zh-TW" altLang="en-US">
                <a:hlinkClick r:id="rId2" action="ppaction://hlinksldjump"/>
              </a:rPr>
              <a:t>程式語言的變數</a:t>
            </a:r>
            <a:endParaRPr lang="zh-TW" altLang="en-US"/>
          </a:p>
          <a:p>
            <a:pPr eaLnBrk="1" hangingPunct="1"/>
            <a:r>
              <a:rPr lang="en-US" altLang="zh-TW">
                <a:hlinkClick r:id="rId3" action="ppaction://hlinksldjump"/>
              </a:rPr>
              <a:t>3-2 </a:t>
            </a:r>
            <a:r>
              <a:rPr lang="zh-TW" altLang="en-US">
                <a:hlinkClick r:id="rId3" action="ppaction://hlinksldjump"/>
              </a:rPr>
              <a:t>在程式使用變數</a:t>
            </a:r>
            <a:endParaRPr lang="zh-TW" altLang="en-US"/>
          </a:p>
          <a:p>
            <a:pPr eaLnBrk="1" hangingPunct="1"/>
            <a:r>
              <a:rPr lang="en-US" altLang="zh-TW">
                <a:hlinkClick r:id="rId4" action="ppaction://hlinksldjump"/>
              </a:rPr>
              <a:t>3-3 </a:t>
            </a:r>
            <a:r>
              <a:rPr lang="zh-TW" altLang="en-US">
                <a:hlinkClick r:id="rId4" action="ppaction://hlinksldjump"/>
              </a:rPr>
              <a:t>變數的資料型態和型態轉換函數</a:t>
            </a:r>
            <a:endParaRPr lang="zh-TW" altLang="en-US"/>
          </a:p>
          <a:p>
            <a:pPr eaLnBrk="1" hangingPunct="1"/>
            <a:r>
              <a:rPr lang="en-US" altLang="zh-TW">
                <a:hlinkClick r:id="rId5" action="ppaction://hlinksldjump"/>
              </a:rPr>
              <a:t>3-4 </a:t>
            </a:r>
            <a:r>
              <a:rPr lang="zh-TW" altLang="en-US">
                <a:hlinkClick r:id="rId5" action="ppaction://hlinksldjump"/>
              </a:rPr>
              <a:t>讓使用者輸入變數值</a:t>
            </a:r>
            <a:endParaRPr lang="zh-TW" altLang="en-US"/>
          </a:p>
          <a:p>
            <a:pPr eaLnBrk="1" hangingPunct="1"/>
            <a:r>
              <a:rPr lang="en-US" altLang="zh-TW">
                <a:hlinkClick r:id="rId6" action="ppaction://hlinksldjump"/>
              </a:rPr>
              <a:t>3-5 </a:t>
            </a:r>
            <a:r>
              <a:rPr lang="zh-TW" altLang="en-US">
                <a:hlinkClick r:id="rId6" action="ppaction://hlinksldjump"/>
              </a:rPr>
              <a:t>認識運算式和運算子</a:t>
            </a:r>
            <a:endParaRPr lang="zh-TW" altLang="en-US"/>
          </a:p>
          <a:p>
            <a:pPr eaLnBrk="1" hangingPunct="1"/>
            <a:r>
              <a:rPr lang="en-US" altLang="zh-TW">
                <a:hlinkClick r:id="rId7" action="ppaction://hlinksldjump"/>
              </a:rPr>
              <a:t>3-6 </a:t>
            </a:r>
            <a:r>
              <a:rPr lang="zh-TW" altLang="en-US">
                <a:hlinkClick r:id="rId7" action="ppaction://hlinksldjump"/>
              </a:rPr>
              <a:t>在程式使用運算子</a:t>
            </a:r>
            <a:endParaRPr lang="zh-TW" altLang="en-US"/>
          </a:p>
          <a:p>
            <a:pPr eaLnBrk="1" hangingPunct="1"/>
            <a:endParaRPr lang="zh-TW" altLang="en-US"/>
          </a:p>
          <a:p>
            <a:pPr eaLnBrk="1" hangingPunct="1"/>
            <a:endParaRPr lang="en-US" altLang="zh-TW"/>
          </a:p>
          <a:p>
            <a:pPr eaLnBrk="1" hangingPunct="1"/>
            <a:endParaRPr lang="zh-TW" altLang="en-US"/>
          </a:p>
        </p:txBody>
      </p:sp>
      <p:pic>
        <p:nvPicPr>
          <p:cNvPr id="5124" name="Picture 3" descr="Gif07">
            <a:extLst>
              <a:ext uri="{FF2B5EF4-FFF2-40B4-BE49-F238E27FC236}">
                <a16:creationId xmlns:a16="http://schemas.microsoft.com/office/drawing/2014/main" id="{88555153-73B9-A853-1ED6-3E3ED100FE43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48526" y="5013325"/>
            <a:ext cx="2735263" cy="1093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>
            <a:extLst>
              <a:ext uri="{FF2B5EF4-FFF2-40B4-BE49-F238E27FC236}">
                <a16:creationId xmlns:a16="http://schemas.microsoft.com/office/drawing/2014/main" id="{95A10452-1988-7B63-8BF2-180E3F040A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 </a:t>
            </a:r>
            <a:r>
              <a:rPr lang="zh-TW" altLang="en-US">
                <a:solidFill>
                  <a:srgbClr val="0000FF"/>
                </a:solidFill>
              </a:rPr>
              <a:t>程式語言的變數</a:t>
            </a:r>
            <a:endParaRPr lang="zh-TW" altLang="en-US"/>
          </a:p>
        </p:txBody>
      </p:sp>
      <p:sp>
        <p:nvSpPr>
          <p:cNvPr id="6147" name="Rectangle 4">
            <a:extLst>
              <a:ext uri="{FF2B5EF4-FFF2-40B4-BE49-F238E27FC236}">
                <a16:creationId xmlns:a16="http://schemas.microsoft.com/office/drawing/2014/main" id="{0EFEF654-55BC-AF1D-0396-69B6EF5E206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3-1-1 </a:t>
            </a:r>
            <a:r>
              <a:rPr lang="zh-TW" altLang="en-US">
                <a:solidFill>
                  <a:srgbClr val="0000FF"/>
                </a:solidFill>
              </a:rPr>
              <a:t>認識變數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3-1-2 </a:t>
            </a:r>
            <a:r>
              <a:rPr lang="zh-TW" altLang="en-US">
                <a:solidFill>
                  <a:srgbClr val="0000FF"/>
                </a:solidFill>
              </a:rPr>
              <a:t>使用變數前的準備工作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3-1-3 Python</a:t>
            </a:r>
            <a:r>
              <a:rPr lang="zh-TW" altLang="en-US">
                <a:solidFill>
                  <a:srgbClr val="0000FF"/>
                </a:solidFill>
              </a:rPr>
              <a:t>語言的命名規則</a:t>
            </a:r>
          </a:p>
        </p:txBody>
      </p:sp>
      <p:pic>
        <p:nvPicPr>
          <p:cNvPr id="6148" name="Picture 3" descr="note">
            <a:extLst>
              <a:ext uri="{FF2B5EF4-FFF2-40B4-BE49-F238E27FC236}">
                <a16:creationId xmlns:a16="http://schemas.microsoft.com/office/drawing/2014/main" id="{B781CD65-593F-F53F-9379-475DF8773B3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>
            <a:extLst>
              <a:ext uri="{FF2B5EF4-FFF2-40B4-BE49-F238E27FC236}">
                <a16:creationId xmlns:a16="http://schemas.microsoft.com/office/drawing/2014/main" id="{0F6BF511-A225-A4B3-F051-1E84A265859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3-1-1 </a:t>
            </a:r>
            <a:r>
              <a:rPr lang="zh-TW" altLang="en-US"/>
              <a:t>認識變數</a:t>
            </a:r>
            <a:r>
              <a:rPr lang="en-US" altLang="en-US"/>
              <a:t>–</a:t>
            </a:r>
            <a:r>
              <a:rPr lang="en-US" altLang="zh-TW"/>
              <a:t> </a:t>
            </a:r>
            <a:r>
              <a:rPr lang="zh-TW" altLang="en-US"/>
              <a:t>說明</a:t>
            </a:r>
          </a:p>
        </p:txBody>
      </p:sp>
      <p:sp>
        <p:nvSpPr>
          <p:cNvPr id="7171" name="Rectangle 6">
            <a:extLst>
              <a:ext uri="{FF2B5EF4-FFF2-40B4-BE49-F238E27FC236}">
                <a16:creationId xmlns:a16="http://schemas.microsoft.com/office/drawing/2014/main" id="{11B1CBE5-643D-22C7-AF90-989B6636242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電腦程式在執行時常常需要記住一些資料，所以在程式語言會提供一個地方，用來記得執行時的一些資料，這個地方就是「變數」（</a:t>
            </a:r>
            <a:r>
              <a:rPr lang="en-US" altLang="zh-TW"/>
              <a:t>variables</a:t>
            </a:r>
            <a:r>
              <a:rPr lang="zh-TW" altLang="en-US"/>
              <a:t>）。</a:t>
            </a:r>
          </a:p>
          <a:p>
            <a:pPr eaLnBrk="1" hangingPunct="1"/>
            <a:r>
              <a:rPr lang="zh-TW" altLang="en-US"/>
              <a:t>例如：去商店買東西時，為了比較價格，我們會記下商品價格，同樣的，程式是使用變數儲存這些執行時需記住的資料，也就是將這些值儲存至變數，當變數擁有儲存值後，就可以在需要的地方取出變數值，例如：執行數學運算和比較等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2">
            <a:extLst>
              <a:ext uri="{FF2B5EF4-FFF2-40B4-BE49-F238E27FC236}">
                <a16:creationId xmlns:a16="http://schemas.microsoft.com/office/drawing/2014/main" id="{EAC2B46D-05BD-377D-DFC4-E12B398E0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3-1-1 </a:t>
            </a:r>
            <a:r>
              <a:rPr lang="zh-TW" altLang="en-US"/>
              <a:t>認識變數</a:t>
            </a:r>
            <a:r>
              <a:rPr lang="en-US" altLang="en-US"/>
              <a:t>–</a:t>
            </a:r>
            <a:r>
              <a:rPr lang="en-US" altLang="zh-TW"/>
              <a:t> </a:t>
            </a:r>
            <a:r>
              <a:rPr lang="zh-TW" altLang="en-US"/>
              <a:t>變數是儲存在哪裡</a:t>
            </a:r>
          </a:p>
        </p:txBody>
      </p:sp>
      <p:sp>
        <p:nvSpPr>
          <p:cNvPr id="8195" name="Rectangle 3">
            <a:extLst>
              <a:ext uri="{FF2B5EF4-FFF2-40B4-BE49-F238E27FC236}">
                <a16:creationId xmlns:a16="http://schemas.microsoft.com/office/drawing/2014/main" id="{C8DFE2E6-D84C-558A-A322-A69C79CD4EB1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問題是，這些需記住的資料是儲存在哪裡，答案就是電腦的「記憶體」（</a:t>
            </a:r>
            <a:r>
              <a:rPr lang="en-US" altLang="zh-TW"/>
              <a:t>memory</a:t>
            </a:r>
            <a:r>
              <a:rPr lang="zh-TW" altLang="en-US"/>
              <a:t>），變數是一個名稱，用來代表電腦記憶體空間的一個位址，如下圖所示：</a:t>
            </a:r>
          </a:p>
        </p:txBody>
      </p:sp>
      <p:pic>
        <p:nvPicPr>
          <p:cNvPr id="8196" name="Picture 4" descr="Ch03-1-01">
            <a:extLst>
              <a:ext uri="{FF2B5EF4-FFF2-40B4-BE49-F238E27FC236}">
                <a16:creationId xmlns:a16="http://schemas.microsoft.com/office/drawing/2014/main" id="{AE1A3005-9CC1-0998-0B9B-18E73121E0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82889" y="3068639"/>
            <a:ext cx="6624637" cy="281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Rectangle 2">
            <a:extLst>
              <a:ext uri="{FF2B5EF4-FFF2-40B4-BE49-F238E27FC236}">
                <a16:creationId xmlns:a16="http://schemas.microsoft.com/office/drawing/2014/main" id="{C4757721-3CA3-265B-3063-A6CF59B5C8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3-1-1 </a:t>
            </a:r>
            <a:r>
              <a:rPr lang="zh-TW" altLang="en-US"/>
              <a:t>認識變數</a:t>
            </a:r>
            <a:r>
              <a:rPr lang="en-US" altLang="en-US"/>
              <a:t>–</a:t>
            </a:r>
            <a:r>
              <a:rPr lang="en-US" altLang="zh-TW"/>
              <a:t> </a:t>
            </a:r>
            <a:r>
              <a:rPr lang="zh-TW" altLang="en-US"/>
              <a:t>變數的基本操作</a:t>
            </a:r>
          </a:p>
        </p:txBody>
      </p:sp>
      <p:sp>
        <p:nvSpPr>
          <p:cNvPr id="9219" name="Rectangle 3">
            <a:extLst>
              <a:ext uri="{FF2B5EF4-FFF2-40B4-BE49-F238E27FC236}">
                <a16:creationId xmlns:a16="http://schemas.microsoft.com/office/drawing/2014/main" id="{FFA95E81-7AAC-6B95-983F-029019E81C0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變數只有兩種操作，如下所示：</a:t>
            </a:r>
          </a:p>
          <a:p>
            <a:pPr lvl="1" eaLnBrk="1" hangingPunct="1"/>
            <a:r>
              <a:rPr lang="zh-TW" altLang="en-US" b="1"/>
              <a:t>在變數存入新值：</a:t>
            </a:r>
            <a:r>
              <a:rPr lang="zh-TW" altLang="en-US"/>
              <a:t>指定變數成為一個全新值，我們並不能如同盒子一般，只取出部分金額。因為變數只能指定成一個新值，如果需要減掉一個值，其操作是先讀取變數值，在減掉後，再將變數指定成最後運算結果的新值。</a:t>
            </a:r>
          </a:p>
          <a:p>
            <a:pPr lvl="1" eaLnBrk="1" hangingPunct="1"/>
            <a:r>
              <a:rPr lang="zh-TW" altLang="en-US" b="1"/>
              <a:t>讀取變數值：</a:t>
            </a:r>
            <a:r>
              <a:rPr lang="zh-TW" altLang="en-US"/>
              <a:t>取得目前變數的值，讀取變數值，並不會更改變數目前儲存的值。</a:t>
            </a:r>
          </a:p>
        </p:txBody>
      </p:sp>
      <p:pic>
        <p:nvPicPr>
          <p:cNvPr id="9220" name="Picture 4" descr="Ch03-1-02">
            <a:extLst>
              <a:ext uri="{FF2B5EF4-FFF2-40B4-BE49-F238E27FC236}">
                <a16:creationId xmlns:a16="http://schemas.microsoft.com/office/drawing/2014/main" id="{4706B561-5C10-137B-8B39-B269D82BD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32626" y="4652964"/>
            <a:ext cx="2447925" cy="19510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>
            <a:extLst>
              <a:ext uri="{FF2B5EF4-FFF2-40B4-BE49-F238E27FC236}">
                <a16:creationId xmlns:a16="http://schemas.microsoft.com/office/drawing/2014/main" id="{5B606B54-57EB-70BA-AE48-FB3579C49B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3-1-2 </a:t>
            </a:r>
            <a:r>
              <a:rPr lang="zh-TW" altLang="en-US"/>
              <a:t>使用變數前的準備工作</a:t>
            </a:r>
            <a:r>
              <a:rPr lang="en-US" altLang="zh-TW"/>
              <a:t>– </a:t>
            </a:r>
            <a:r>
              <a:rPr lang="zh-TW" altLang="en-US"/>
              <a:t>說明</a:t>
            </a:r>
          </a:p>
        </p:txBody>
      </p:sp>
      <p:sp>
        <p:nvSpPr>
          <p:cNvPr id="10243" name="Rectangle 3">
            <a:extLst>
              <a:ext uri="{FF2B5EF4-FFF2-40B4-BE49-F238E27FC236}">
                <a16:creationId xmlns:a16="http://schemas.microsoft.com/office/drawing/2014/main" id="{771BBF29-E83B-CC3F-AF3F-CF672F0A69E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程式語言的變數如同是一個擁有名稱的盒子，能夠暫時儲存程式執行時所需的資料，也就是記住這些資料。方形和圓柱形的兩個盒子，盒子名稱是變數名稱</a:t>
            </a:r>
            <a:r>
              <a:rPr lang="en-US" altLang="zh-TW"/>
              <a:t>height</a:t>
            </a:r>
            <a:r>
              <a:rPr lang="zh-TW" altLang="en-US"/>
              <a:t>和</a:t>
            </a:r>
            <a:r>
              <a:rPr lang="en-US" altLang="zh-TW"/>
              <a:t>name</a:t>
            </a:r>
            <a:r>
              <a:rPr lang="zh-TW" altLang="en-US"/>
              <a:t>，在盒子儲存的資料</a:t>
            </a:r>
            <a:r>
              <a:rPr lang="en-US" altLang="zh-TW"/>
              <a:t>100</a:t>
            </a:r>
            <a:r>
              <a:rPr lang="zh-TW" altLang="en-US"/>
              <a:t>和</a:t>
            </a:r>
            <a:r>
              <a:rPr lang="en-US" altLang="zh-TW"/>
              <a:t>'A'</a:t>
            </a:r>
            <a:r>
              <a:rPr lang="zh-TW" altLang="en-US"/>
              <a:t>是常數值。現在回到盒子本身，盒子形狀和尺寸決定儲存的資料種類，對比程式語言，形狀和尺寸是變數的「資料型態」（</a:t>
            </a:r>
            <a:r>
              <a:rPr lang="en-US" altLang="zh-TW"/>
              <a:t>data types</a:t>
            </a:r>
            <a:r>
              <a:rPr lang="zh-TW" altLang="en-US"/>
              <a:t>），如下圖所示：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10244" name="Picture 4" descr="Ch03-2-1-01">
            <a:extLst>
              <a:ext uri="{FF2B5EF4-FFF2-40B4-BE49-F238E27FC236}">
                <a16:creationId xmlns:a16="http://schemas.microsoft.com/office/drawing/2014/main" id="{AAA5DF63-16C7-BE59-BB04-3C2CBDD1D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8076" y="4437064"/>
            <a:ext cx="5616575" cy="18811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Rectangle 2">
            <a:extLst>
              <a:ext uri="{FF2B5EF4-FFF2-40B4-BE49-F238E27FC236}">
                <a16:creationId xmlns:a16="http://schemas.microsoft.com/office/drawing/2014/main" id="{395A5C5E-5480-47D9-AA74-680007FFC7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3-1-2 </a:t>
            </a:r>
            <a:r>
              <a:rPr lang="zh-TW" altLang="en-US"/>
              <a:t>使用變數前的準備工作</a:t>
            </a:r>
            <a:r>
              <a:rPr lang="en-US" altLang="zh-TW"/>
              <a:t>– </a:t>
            </a:r>
            <a:r>
              <a:rPr lang="zh-TW" altLang="en-US"/>
              <a:t>內容</a:t>
            </a:r>
          </a:p>
        </p:txBody>
      </p:sp>
      <p:sp>
        <p:nvSpPr>
          <p:cNvPr id="11267" name="Rectangle 3">
            <a:extLst>
              <a:ext uri="{FF2B5EF4-FFF2-40B4-BE49-F238E27FC236}">
                <a16:creationId xmlns:a16="http://schemas.microsoft.com/office/drawing/2014/main" id="{A53A3798-037A-B2C6-BBF7-763B15D7D2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如果程式語言是</a:t>
            </a:r>
            <a:r>
              <a:rPr lang="zh-TW" altLang="en-US">
                <a:solidFill>
                  <a:srgbClr val="0000FF"/>
                </a:solidFill>
              </a:rPr>
              <a:t>靜態</a:t>
            </a:r>
            <a:r>
              <a:rPr lang="zh-TW" altLang="en-US"/>
              <a:t>語言，例如：</a:t>
            </a:r>
            <a:r>
              <a:rPr lang="en-US" altLang="zh-TW"/>
              <a:t>C/C++</a:t>
            </a:r>
            <a:r>
              <a:rPr lang="zh-TW" altLang="en-US"/>
              <a:t>和</a:t>
            </a:r>
            <a:r>
              <a:rPr lang="en-US" altLang="zh-TW"/>
              <a:t>Java</a:t>
            </a:r>
            <a:r>
              <a:rPr lang="zh-TW" altLang="en-US"/>
              <a:t>，當變數指定資料型態後，就表示只能儲存這種型態的資料，如同圓形盒子放不進相同直徑的方形物品，我們只能放進方形盒子。</a:t>
            </a:r>
            <a:r>
              <a:rPr lang="en-US" altLang="zh-TW"/>
              <a:t>Python</a:t>
            </a:r>
            <a:r>
              <a:rPr lang="zh-TW" altLang="en-US"/>
              <a:t>是</a:t>
            </a:r>
            <a:r>
              <a:rPr lang="zh-TW" altLang="en-US">
                <a:solidFill>
                  <a:srgbClr val="0000FF"/>
                </a:solidFill>
              </a:rPr>
              <a:t>動態</a:t>
            </a:r>
            <a:r>
              <a:rPr lang="zh-TW" altLang="en-US"/>
              <a:t>語言，變數的資料型態是可以更改的，當變數指定成其他資料型態的文字值時，變數的資料型態也會一併更改成文字值的資料型態。</a:t>
            </a:r>
          </a:p>
          <a:p>
            <a:pPr eaLnBrk="1" hangingPunct="1"/>
            <a:r>
              <a:rPr lang="zh-TW" altLang="en-US"/>
              <a:t>所以，程式語言在使用變數前，需要</a:t>
            </a:r>
            <a:r>
              <a:rPr lang="en-US" altLang="zh-TW"/>
              <a:t>2</a:t>
            </a:r>
            <a:r>
              <a:rPr lang="zh-TW" altLang="en-US"/>
              <a:t>項準備工作，如下所示：</a:t>
            </a:r>
          </a:p>
          <a:p>
            <a:pPr lvl="1" eaLnBrk="1" hangingPunct="1"/>
            <a:r>
              <a:rPr lang="zh-TW" altLang="en-US"/>
              <a:t>替變數命名：即上述</a:t>
            </a:r>
            <a:r>
              <a:rPr lang="en-US" altLang="zh-TW"/>
              <a:t>name</a:t>
            </a:r>
            <a:r>
              <a:rPr lang="zh-TW" altLang="en-US"/>
              <a:t>和</a:t>
            </a:r>
            <a:r>
              <a:rPr lang="en-US" altLang="zh-TW"/>
              <a:t>height</a:t>
            </a:r>
            <a:r>
              <a:rPr lang="zh-TW" altLang="en-US"/>
              <a:t>等變數名稱。</a:t>
            </a:r>
          </a:p>
          <a:p>
            <a:pPr lvl="1" eaLnBrk="1" hangingPunct="1"/>
            <a:r>
              <a:rPr lang="zh-TW" altLang="en-US"/>
              <a:t>決定變數的資料型態：即變數儲存什麼樣的值，即整數或字串等。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id="{3E22676D-F1AD-2695-36C6-5FD4675BB09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3-1-3 Python</a:t>
            </a:r>
            <a:r>
              <a:rPr lang="zh-TW" altLang="en-US"/>
              <a:t>語言的命名規則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id="{DED6654F-F1F7-5581-597D-7D0100BAF21D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程式設計者在程式碼自行命名的元素，稱為識別字（</a:t>
            </a:r>
            <a:r>
              <a:rPr lang="en-US" altLang="zh-TW"/>
              <a:t>Identifier</a:t>
            </a:r>
            <a:r>
              <a:rPr lang="zh-TW" altLang="en-US"/>
              <a:t>），例如：變數名稱，關鍵字（</a:t>
            </a:r>
            <a:r>
              <a:rPr lang="en-US" altLang="zh-TW"/>
              <a:t>Keywords</a:t>
            </a:r>
            <a:r>
              <a:rPr lang="zh-TW" altLang="en-US"/>
              <a:t>）是一些對直譯器</a:t>
            </a:r>
            <a:r>
              <a:rPr lang="en-US" altLang="zh-TW"/>
              <a:t>/</a:t>
            </a:r>
            <a:r>
              <a:rPr lang="zh-TW" altLang="en-US"/>
              <a:t>編譯器來說擁有特殊意義的名稱，在命名時，我們需要避開這些名稱。</a:t>
            </a:r>
          </a:p>
          <a:p>
            <a:pPr eaLnBrk="1" hangingPunct="1"/>
            <a:r>
              <a:rPr lang="zh-TW" altLang="en-US"/>
              <a:t>識別字名稱（</a:t>
            </a:r>
            <a:r>
              <a:rPr lang="en-US" altLang="zh-TW"/>
              <a:t>Identifier Names</a:t>
            </a:r>
            <a:r>
              <a:rPr lang="zh-TW" altLang="en-US"/>
              <a:t>）是指</a:t>
            </a:r>
            <a:r>
              <a:rPr lang="en-US" altLang="zh-TW"/>
              <a:t>Python</a:t>
            </a:r>
            <a:r>
              <a:rPr lang="zh-TW" altLang="en-US"/>
              <a:t>語言的變數、函數、類別或其他識別字的名稱，程式設計者在撰寫程式時，需要替這些識別字命名。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>
            <a:extLst>
              <a:ext uri="{FF2B5EF4-FFF2-40B4-BE49-F238E27FC236}">
                <a16:creationId xmlns:a16="http://schemas.microsoft.com/office/drawing/2014/main" id="{FD6BB90A-3C0F-6461-1D5A-67F08746D33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3-1-3 Python</a:t>
            </a:r>
            <a:r>
              <a:rPr lang="zh-TW" altLang="en-US"/>
              <a:t>語言的命名規則</a:t>
            </a:r>
          </a:p>
        </p:txBody>
      </p:sp>
      <p:sp>
        <p:nvSpPr>
          <p:cNvPr id="13315" name="Rectangle 3">
            <a:extLst>
              <a:ext uri="{FF2B5EF4-FFF2-40B4-BE49-F238E27FC236}">
                <a16:creationId xmlns:a16="http://schemas.microsoft.com/office/drawing/2014/main" id="{F6935515-5902-383C-6225-7C6F0F573A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語言的命名規則，如下所示：</a:t>
            </a:r>
          </a:p>
          <a:p>
            <a:pPr lvl="1" eaLnBrk="1" hangingPunct="1"/>
            <a:r>
              <a:rPr lang="zh-TW" altLang="en-US"/>
              <a:t>名稱是一個合法識別字，識別字是使用英文字母或「</a:t>
            </a:r>
            <a:r>
              <a:rPr lang="en-US" altLang="zh-TW"/>
              <a:t>_</a:t>
            </a:r>
            <a:r>
              <a:rPr lang="zh-TW" altLang="en-US"/>
              <a:t>」底線開頭（不可以使用數字開頭），不限長度，包含字母、數字和底線「</a:t>
            </a:r>
            <a:r>
              <a:rPr lang="en-US" altLang="zh-TW"/>
              <a:t>_</a:t>
            </a:r>
            <a:r>
              <a:rPr lang="zh-TW" altLang="en-US"/>
              <a:t>」字元組成的名稱。</a:t>
            </a:r>
          </a:p>
          <a:p>
            <a:pPr lvl="1" eaLnBrk="1" hangingPunct="1"/>
            <a:r>
              <a:rPr lang="zh-TW" altLang="en-US"/>
              <a:t>名稱區分英文字母大小寫，例如：</a:t>
            </a:r>
            <a:r>
              <a:rPr lang="en-US" altLang="zh-TW"/>
              <a:t>total</a:t>
            </a:r>
            <a:r>
              <a:rPr lang="zh-TW" altLang="en-US"/>
              <a:t>、</a:t>
            </a:r>
            <a:r>
              <a:rPr lang="en-US" altLang="zh-TW"/>
              <a:t>Total</a:t>
            </a:r>
            <a:r>
              <a:rPr lang="zh-TW" altLang="en-US"/>
              <a:t>和</a:t>
            </a:r>
            <a:r>
              <a:rPr lang="en-US" altLang="zh-TW"/>
              <a:t>TOTAL</a:t>
            </a:r>
            <a:r>
              <a:rPr lang="zh-TW" altLang="en-US"/>
              <a:t>屬於不同的識別字。</a:t>
            </a:r>
          </a:p>
          <a:p>
            <a:pPr lvl="1" eaLnBrk="1" hangingPunct="1"/>
            <a:r>
              <a:rPr lang="zh-TW" altLang="en-US"/>
              <a:t>名稱不能使用</a:t>
            </a:r>
            <a:r>
              <a:rPr lang="en-US" altLang="zh-TW"/>
              <a:t>Python</a:t>
            </a:r>
            <a:r>
              <a:rPr lang="zh-TW" altLang="en-US"/>
              <a:t>關鍵字，因為這些字對於直譯器擁有特殊意義。</a:t>
            </a:r>
            <a:r>
              <a:rPr lang="en-US" altLang="zh-TW"/>
              <a:t>Python</a:t>
            </a:r>
            <a:r>
              <a:rPr lang="zh-TW" altLang="en-US"/>
              <a:t>語言的關鍵字可以在互動環境輸入</a:t>
            </a:r>
            <a:r>
              <a:rPr lang="en-US" altLang="zh-TW"/>
              <a:t>help("keywords")</a:t>
            </a:r>
            <a:r>
              <a:rPr lang="zh-TW" altLang="en-US"/>
              <a:t>指令來查詢。</a:t>
            </a:r>
            <a:endParaRPr lang="en-US" altLang="zh-TW"/>
          </a:p>
          <a:p>
            <a:pPr lvl="1" eaLnBrk="1" hangingPunct="1"/>
            <a:r>
              <a:rPr lang="zh-TW" altLang="en-US"/>
              <a:t>有效範圍（</a:t>
            </a:r>
            <a:r>
              <a:rPr lang="en-US" altLang="zh-TW"/>
              <a:t>Scope</a:t>
            </a:r>
            <a:r>
              <a:rPr lang="zh-TW" altLang="en-US"/>
              <a:t>）是指在有效範圍的程式碼中名稱必須是唯一，例如：在程式中可以使用相同的變數名稱，不過變數名稱需要位在不同的範圍，詳細的範圍說明請參閱第</a:t>
            </a:r>
            <a:r>
              <a:rPr lang="en-US" altLang="zh-TW"/>
              <a:t>6-6-1</a:t>
            </a:r>
            <a:r>
              <a:rPr lang="zh-TW" altLang="en-US"/>
              <a:t>節。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>
            <a:extLst>
              <a:ext uri="{FF2B5EF4-FFF2-40B4-BE49-F238E27FC236}">
                <a16:creationId xmlns:a16="http://schemas.microsoft.com/office/drawing/2014/main" id="{6E863377-C10C-222E-BF95-ED38808D2F0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 </a:t>
            </a:r>
            <a:r>
              <a:rPr lang="zh-TW" altLang="en-US">
                <a:solidFill>
                  <a:srgbClr val="0000FF"/>
                </a:solidFill>
              </a:rPr>
              <a:t>在程式使用變數</a:t>
            </a:r>
            <a:endParaRPr lang="zh-TW" altLang="en-US"/>
          </a:p>
        </p:txBody>
      </p:sp>
      <p:sp>
        <p:nvSpPr>
          <p:cNvPr id="14339" name="Rectangle 3">
            <a:extLst>
              <a:ext uri="{FF2B5EF4-FFF2-40B4-BE49-F238E27FC236}">
                <a16:creationId xmlns:a16="http://schemas.microsoft.com/office/drawing/2014/main" id="{4FF275F9-F98D-85B2-EB37-DDC3D0D005F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3-2-1 </a:t>
            </a:r>
            <a:r>
              <a:rPr lang="zh-TW" altLang="en-US">
                <a:solidFill>
                  <a:srgbClr val="0000FF"/>
                </a:solidFill>
              </a:rPr>
              <a:t>指定和輸出變數值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3-2-2 </a:t>
            </a:r>
            <a:r>
              <a:rPr lang="zh-TW" altLang="en-US">
                <a:solidFill>
                  <a:srgbClr val="0000FF"/>
                </a:solidFill>
              </a:rPr>
              <a:t>指定成其他文字值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3-2-3 </a:t>
            </a:r>
            <a:r>
              <a:rPr lang="zh-TW" altLang="en-US">
                <a:solidFill>
                  <a:srgbClr val="0000FF"/>
                </a:solidFill>
              </a:rPr>
              <a:t>指定成其他變數值</a:t>
            </a:r>
          </a:p>
        </p:txBody>
      </p:sp>
      <p:pic>
        <p:nvPicPr>
          <p:cNvPr id="14340" name="Picture 4" descr="note">
            <a:extLst>
              <a:ext uri="{FF2B5EF4-FFF2-40B4-BE49-F238E27FC236}">
                <a16:creationId xmlns:a16="http://schemas.microsoft.com/office/drawing/2014/main" id="{D162AD25-CED2-39AB-BDAE-65B20CA4134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>
            <a:extLst>
              <a:ext uri="{FF2B5EF4-FFF2-40B4-BE49-F238E27FC236}">
                <a16:creationId xmlns:a16="http://schemas.microsoft.com/office/drawing/2014/main" id="{6C2E5CC7-9243-19B2-8288-4E04641B23E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 </a:t>
            </a:r>
            <a:r>
              <a:rPr lang="zh-TW" altLang="en-US"/>
              <a:t>在程式使用變數</a:t>
            </a:r>
          </a:p>
        </p:txBody>
      </p:sp>
      <p:sp>
        <p:nvSpPr>
          <p:cNvPr id="19459" name="Rectangle 3">
            <a:extLst>
              <a:ext uri="{FF2B5EF4-FFF2-40B4-BE49-F238E27FC236}">
                <a16:creationId xmlns:a16="http://schemas.microsoft.com/office/drawing/2014/main" id="{5C804B5D-DAB1-E215-B993-F5EC0D301B0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dirty="0"/>
              <a:t>Python</a:t>
            </a:r>
            <a:r>
              <a:rPr lang="zh-TW" altLang="en-US" dirty="0"/>
              <a:t>變數不用預先宣告，當需要變數時，直接指定變數值即可，如果習慣宣告變數，可以在程式開頭將變數指定成</a:t>
            </a:r>
            <a:r>
              <a:rPr lang="en-US" altLang="zh-TW" dirty="0"/>
              <a:t>None</a:t>
            </a:r>
            <a:r>
              <a:rPr lang="zh-TW" altLang="en-US" dirty="0"/>
              <a:t>，</a:t>
            </a:r>
            <a:r>
              <a:rPr lang="en-US" altLang="zh-TW" dirty="0"/>
              <a:t>None</a:t>
            </a:r>
            <a:r>
              <a:rPr lang="zh-TW" altLang="en-US" dirty="0"/>
              <a:t>關鍵字表示變數並沒有值，如下所示：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 = None</a:t>
            </a:r>
          </a:p>
          <a:p>
            <a:pPr lvl="1" eaLnBrk="1" hangingPunct="1">
              <a:buFontTx/>
              <a:buNone/>
              <a:defRPr/>
            </a:pPr>
            <a:endParaRPr lang="en-US" altLang="zh-TW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標題 1">
            <a:extLst>
              <a:ext uri="{FF2B5EF4-FFF2-40B4-BE49-F238E27FC236}">
                <a16:creationId xmlns:a16="http://schemas.microsoft.com/office/drawing/2014/main" id="{4608E60A-A2F3-66D1-0E82-3A98948F69D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3-2-1 </a:t>
            </a:r>
            <a:r>
              <a:rPr lang="zh-TW" altLang="en-US"/>
              <a:t>指定和輸出變數值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16387" name="內容版面配置區 2">
            <a:extLst>
              <a:ext uri="{FF2B5EF4-FFF2-40B4-BE49-F238E27FC236}">
                <a16:creationId xmlns:a16="http://schemas.microsoft.com/office/drawing/2014/main" id="{2E5A81F2-62E6-D6BB-8D63-F61EC589CA6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在使用指定敘述指定變數值，變數名稱如同是一個盒子，指定的變數值就是將值放入盒子，和決定盒子的資料型態，如下圖所示：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16388" name="Picture 4">
            <a:extLst>
              <a:ext uri="{FF2B5EF4-FFF2-40B4-BE49-F238E27FC236}">
                <a16:creationId xmlns:a16="http://schemas.microsoft.com/office/drawing/2014/main" id="{45785577-898D-8722-25AA-4272CD36D7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48075" y="3141664"/>
            <a:ext cx="5175250" cy="3068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>
            <a:extLst>
              <a:ext uri="{FF2B5EF4-FFF2-40B4-BE49-F238E27FC236}">
                <a16:creationId xmlns:a16="http://schemas.microsoft.com/office/drawing/2014/main" id="{A2058AC2-BDE8-2999-B518-9B25A878DDA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3-2-1 </a:t>
            </a:r>
            <a:r>
              <a:rPr lang="zh-TW" altLang="en-US"/>
              <a:t>指定和輸出變數值</a:t>
            </a:r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CB29F797-B3DE-CDC7-CEC8-20E85DABCCF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zh-TW" altLang="en-US" dirty="0"/>
              <a:t>當使用「</a:t>
            </a:r>
            <a:r>
              <a:rPr lang="en-US" altLang="zh-TW" dirty="0"/>
              <a:t>=</a:t>
            </a:r>
            <a:r>
              <a:rPr lang="zh-TW" altLang="en-US" dirty="0"/>
              <a:t>」等號指定變數</a:t>
            </a:r>
            <a:r>
              <a:rPr lang="en-US" altLang="zh-TW" dirty="0"/>
              <a:t>score</a:t>
            </a:r>
            <a:r>
              <a:rPr lang="zh-TW" altLang="en-US" dirty="0"/>
              <a:t>的值</a:t>
            </a:r>
            <a:r>
              <a:rPr lang="en-US" altLang="zh-TW" dirty="0"/>
              <a:t>20</a:t>
            </a:r>
            <a:r>
              <a:rPr lang="zh-TW" altLang="en-US" dirty="0"/>
              <a:t>，就是將文字值</a:t>
            </a:r>
            <a:r>
              <a:rPr lang="en-US" altLang="zh-TW" dirty="0"/>
              <a:t>20</a:t>
            </a:r>
            <a:r>
              <a:rPr lang="zh-TW" altLang="en-US" dirty="0"/>
              <a:t>放入盒子，同時決定變數的資料型態是整數，如下所示：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 = 20</a:t>
            </a:r>
          </a:p>
          <a:p>
            <a:pPr eaLnBrk="1" hangingPunct="1">
              <a:defRPr/>
            </a:pPr>
            <a:r>
              <a:rPr lang="zh-TW" altLang="en-US" dirty="0"/>
              <a:t>上述程式碼指定變數</a:t>
            </a:r>
            <a:r>
              <a:rPr lang="en-US" altLang="zh-TW" dirty="0"/>
              <a:t>score</a:t>
            </a:r>
            <a:r>
              <a:rPr lang="zh-TW" altLang="en-US" dirty="0"/>
              <a:t>值是</a:t>
            </a:r>
            <a:r>
              <a:rPr lang="en-US" altLang="zh-TW" dirty="0"/>
              <a:t>20</a:t>
            </a:r>
            <a:r>
              <a:rPr lang="zh-TW" altLang="en-US" dirty="0"/>
              <a:t>，變數</a:t>
            </a:r>
            <a:r>
              <a:rPr lang="en-US" altLang="zh-TW" dirty="0"/>
              <a:t>score</a:t>
            </a:r>
            <a:r>
              <a:rPr lang="zh-TW" altLang="en-US" dirty="0"/>
              <a:t>因為指定文字值</a:t>
            </a:r>
            <a:r>
              <a:rPr lang="en-US" altLang="zh-TW" dirty="0"/>
              <a:t>20</a:t>
            </a:r>
            <a:r>
              <a:rPr lang="zh-TW" altLang="en-US" dirty="0"/>
              <a:t>，所以記得文字值</a:t>
            </a:r>
            <a:r>
              <a:rPr lang="en-US" altLang="zh-TW" dirty="0"/>
              <a:t>20</a:t>
            </a:r>
            <a:r>
              <a:rPr lang="zh-TW" altLang="en-US" dirty="0"/>
              <a:t>且決定是整數型態，其基本語法如下所示：</a:t>
            </a:r>
          </a:p>
          <a:p>
            <a:pPr marL="457200" lvl="1" indent="0" eaLnBrk="1" hangingPunct="1">
              <a:buNone/>
              <a:defRPr/>
            </a:pPr>
            <a:r>
              <a:rPr lang="zh-TW" altLang="en-US" dirty="0">
                <a:solidFill>
                  <a:srgbClr val="C00000"/>
                </a:solidFill>
              </a:rPr>
              <a:t>變數 </a:t>
            </a:r>
            <a:r>
              <a:rPr lang="en-US" altLang="zh-TW" dirty="0">
                <a:solidFill>
                  <a:srgbClr val="C00000"/>
                </a:solidFill>
              </a:rPr>
              <a:t>= </a:t>
            </a:r>
            <a:r>
              <a:rPr lang="zh-TW" altLang="en-US" dirty="0">
                <a:solidFill>
                  <a:srgbClr val="C00000"/>
                </a:solidFill>
              </a:rPr>
              <a:t>資料</a:t>
            </a:r>
          </a:p>
          <a:p>
            <a:pPr eaLnBrk="1" hangingPunct="1">
              <a:defRPr/>
            </a:pPr>
            <a:r>
              <a:rPr lang="zh-TW" altLang="en-US" dirty="0"/>
              <a:t>上述「</a:t>
            </a:r>
            <a:r>
              <a:rPr lang="en-US" altLang="zh-TW" dirty="0"/>
              <a:t>=</a:t>
            </a:r>
            <a:r>
              <a:rPr lang="zh-TW" altLang="en-US" dirty="0"/>
              <a:t>」等號就是指定敘述，可以：</a:t>
            </a:r>
          </a:p>
          <a:p>
            <a:pPr marL="0" indent="0" eaLnBrk="1" hangingPunct="1">
              <a:buNone/>
              <a:defRPr/>
            </a:pPr>
            <a:r>
              <a:rPr lang="zh-TW" altLang="en-US" b="1" dirty="0"/>
              <a:t>「將右邊資料的文字值指定給左邊的變數，在左邊變數儲存的值就是右邊資料的文字值。」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348771A9-5E32-21D3-FD71-C05A2E430F4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3-2-2 </a:t>
            </a:r>
            <a:r>
              <a:rPr lang="zh-TW" altLang="en-US"/>
              <a:t>指定成其他文字值</a:t>
            </a:r>
          </a:p>
        </p:txBody>
      </p:sp>
      <p:sp>
        <p:nvSpPr>
          <p:cNvPr id="18435" name="Rectangle 3">
            <a:extLst>
              <a:ext uri="{FF2B5EF4-FFF2-40B4-BE49-F238E27FC236}">
                <a16:creationId xmlns:a16="http://schemas.microsoft.com/office/drawing/2014/main" id="{383D970A-02A8-BAFE-0C36-D77EAAC2C94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變數是執行程式時暫存儲存資料的地方，當建立</a:t>
            </a:r>
            <a:r>
              <a:rPr lang="en-US" altLang="zh-TW"/>
              <a:t>Python</a:t>
            </a:r>
            <a:r>
              <a:rPr lang="zh-TW" altLang="en-US"/>
              <a:t>變數後，例如：變數</a:t>
            </a:r>
            <a:r>
              <a:rPr lang="en-US" altLang="zh-TW"/>
              <a:t>score</a:t>
            </a:r>
            <a:r>
              <a:rPr lang="zh-TW" altLang="en-US"/>
              <a:t>和指定值</a:t>
            </a:r>
            <a:r>
              <a:rPr lang="en-US" altLang="zh-TW"/>
              <a:t>20</a:t>
            </a:r>
            <a:r>
              <a:rPr lang="zh-TW" altLang="en-US"/>
              <a:t>後，我們可以隨時再次使用指定敘述「</a:t>
            </a:r>
            <a:r>
              <a:rPr lang="en-US" altLang="zh-TW"/>
              <a:t>=</a:t>
            </a:r>
            <a:r>
              <a:rPr lang="zh-TW" altLang="en-US"/>
              <a:t>」等號來更改變數值，如下所示：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30</a:t>
            </a:r>
          </a:p>
        </p:txBody>
      </p:sp>
      <p:pic>
        <p:nvPicPr>
          <p:cNvPr id="18436" name="Picture 4">
            <a:extLst>
              <a:ext uri="{FF2B5EF4-FFF2-40B4-BE49-F238E27FC236}">
                <a16:creationId xmlns:a16="http://schemas.microsoft.com/office/drawing/2014/main" id="{BB3240B5-679E-EE2A-7646-856F729403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86289" y="2997200"/>
            <a:ext cx="4389437" cy="3684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Rectangle 2">
            <a:extLst>
              <a:ext uri="{FF2B5EF4-FFF2-40B4-BE49-F238E27FC236}">
                <a16:creationId xmlns:a16="http://schemas.microsoft.com/office/drawing/2014/main" id="{16A1CE00-C303-C4D8-0313-94C435472FB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3-2-2 </a:t>
            </a:r>
            <a:r>
              <a:rPr lang="zh-TW" altLang="en-US"/>
              <a:t>指定成其他文字值</a:t>
            </a:r>
          </a:p>
        </p:txBody>
      </p:sp>
      <p:sp>
        <p:nvSpPr>
          <p:cNvPr id="19459" name="內容版面配置區 1">
            <a:extLst>
              <a:ext uri="{FF2B5EF4-FFF2-40B4-BE49-F238E27FC236}">
                <a16:creationId xmlns:a16="http://schemas.microsoft.com/office/drawing/2014/main" id="{7FF307E6-B141-3D3D-0A9C-139ACFA7A5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變數也可以隨時更改成其他資料型態的文字值，例如：浮點數</a:t>
            </a:r>
            <a:r>
              <a:rPr lang="en-US" altLang="zh-TW"/>
              <a:t>98.5</a:t>
            </a:r>
            <a:r>
              <a:rPr lang="zh-TW" altLang="en-US"/>
              <a:t>，此時不只更改</a:t>
            </a:r>
            <a:r>
              <a:rPr lang="en-US" altLang="zh-TW"/>
              <a:t>score</a:t>
            </a:r>
            <a:r>
              <a:rPr lang="zh-TW" altLang="en-US"/>
              <a:t>變數的值，同時更改資料型態成為浮點數，如下所示：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98.5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標題 1">
            <a:extLst>
              <a:ext uri="{FF2B5EF4-FFF2-40B4-BE49-F238E27FC236}">
                <a16:creationId xmlns:a16="http://schemas.microsoft.com/office/drawing/2014/main" id="{D452F23F-13C4-0C8A-5085-E8FC9C4413B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3-2-3 </a:t>
            </a:r>
            <a:r>
              <a:rPr lang="zh-TW" altLang="en-US">
                <a:ea typeface="新細明體" panose="02020500000000000000" pitchFamily="18" charset="-120"/>
              </a:rPr>
              <a:t>指定成其他變數值</a:t>
            </a:r>
          </a:p>
        </p:txBody>
      </p:sp>
      <p:sp>
        <p:nvSpPr>
          <p:cNvPr id="20483" name="內容版面配置區 2">
            <a:extLst>
              <a:ext uri="{FF2B5EF4-FFF2-40B4-BE49-F238E27FC236}">
                <a16:creationId xmlns:a16="http://schemas.microsoft.com/office/drawing/2014/main" id="{263FD576-09D2-4C40-B02F-64D0B52B38D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變數除了可以使用指定敘述「</a:t>
            </a:r>
            <a:r>
              <a:rPr lang="en-US" altLang="zh-TW"/>
              <a:t>=</a:t>
            </a:r>
            <a:r>
              <a:rPr lang="zh-TW" altLang="en-US"/>
              <a:t>」等號更新成其他文字值，我們還可以將變數指定成其他變數值，就是更改成其他變數儲存的文字值，例如：在建立整數變數</a:t>
            </a:r>
            <a:r>
              <a:rPr lang="en-US" altLang="zh-TW"/>
              <a:t>score</a:t>
            </a:r>
            <a:r>
              <a:rPr lang="zh-TW" altLang="en-US"/>
              <a:t>的值</a:t>
            </a:r>
            <a:r>
              <a:rPr lang="en-US" altLang="zh-TW"/>
              <a:t>20</a:t>
            </a:r>
            <a:r>
              <a:rPr lang="zh-TW" altLang="en-US"/>
              <a:t>後，使用指定敘述來指定變數</a:t>
            </a:r>
            <a:r>
              <a:rPr lang="en-US" altLang="zh-TW"/>
              <a:t>score2</a:t>
            </a:r>
            <a:r>
              <a:rPr lang="zh-TW" altLang="en-US"/>
              <a:t>的值是</a:t>
            </a:r>
            <a:r>
              <a:rPr lang="en-US" altLang="zh-TW"/>
              <a:t>score</a:t>
            </a:r>
            <a:r>
              <a:rPr lang="zh-TW" altLang="en-US"/>
              <a:t>變數儲存的值，如下所示：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  <a:ea typeface="新細明體" panose="02020500000000000000" pitchFamily="18" charset="-120"/>
              </a:rPr>
              <a:t>score = 20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  <a:ea typeface="新細明體" panose="02020500000000000000" pitchFamily="18" charset="-120"/>
              </a:rPr>
              <a:t>score2 = score</a:t>
            </a:r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20484" name="Picture 2">
            <a:extLst>
              <a:ext uri="{FF2B5EF4-FFF2-40B4-BE49-F238E27FC236}">
                <a16:creationId xmlns:a16="http://schemas.microsoft.com/office/drawing/2014/main" id="{C82DDB2F-3C8F-A172-DAB8-C143E2005A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3838" y="3284539"/>
            <a:ext cx="4679950" cy="3482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id="{BAB04BFE-1F81-DF45-C4DA-D983E06107B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3-3 </a:t>
            </a:r>
            <a:r>
              <a:rPr lang="zh-TW" altLang="en-US">
                <a:solidFill>
                  <a:srgbClr val="0000FF"/>
                </a:solidFill>
              </a:rPr>
              <a:t>變數的資料型態和型態轉換函數</a:t>
            </a:r>
            <a:endParaRPr lang="zh-TW" altLang="en-US"/>
          </a:p>
        </p:txBody>
      </p:sp>
      <p:sp>
        <p:nvSpPr>
          <p:cNvPr id="21507" name="Rectangle 3">
            <a:extLst>
              <a:ext uri="{FF2B5EF4-FFF2-40B4-BE49-F238E27FC236}">
                <a16:creationId xmlns:a16="http://schemas.microsoft.com/office/drawing/2014/main" id="{6E710F78-D42F-7780-5E03-11589E2C6BFB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3-3-1 </a:t>
            </a:r>
            <a:r>
              <a:rPr lang="zh-TW" altLang="en-US">
                <a:solidFill>
                  <a:srgbClr val="0000FF"/>
                </a:solidFill>
              </a:rPr>
              <a:t>取得變數的資料型態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3-3-2 </a:t>
            </a:r>
            <a:r>
              <a:rPr lang="zh-TW" altLang="en-US">
                <a:solidFill>
                  <a:srgbClr val="0000FF"/>
                </a:solidFill>
              </a:rPr>
              <a:t>資料型態轉換函數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endParaRPr lang="zh-TW" altLang="en-US">
              <a:solidFill>
                <a:srgbClr val="0000FF"/>
              </a:solidFill>
            </a:endParaRPr>
          </a:p>
        </p:txBody>
      </p:sp>
      <p:pic>
        <p:nvPicPr>
          <p:cNvPr id="21508" name="Picture 4" descr="note">
            <a:extLst>
              <a:ext uri="{FF2B5EF4-FFF2-40B4-BE49-F238E27FC236}">
                <a16:creationId xmlns:a16="http://schemas.microsoft.com/office/drawing/2014/main" id="{4E5611B0-6E2C-B202-4467-6D7C05D3391B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id="{E84D964D-3C6B-BCD5-510D-01D96B05B71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3-3 </a:t>
            </a:r>
            <a:r>
              <a:rPr lang="zh-TW" altLang="en-US"/>
              <a:t>變數的資料型態和型態轉換函數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id="{DBA10D0E-A15F-2677-8E1C-05293E7A299C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變數儲存的值決定變數目前的資料型態，當指定變數的文字值時，就決定變數的資料型態，例如：在第</a:t>
            </a:r>
            <a:r>
              <a:rPr lang="en-US" altLang="zh-TW"/>
              <a:t>2-5</a:t>
            </a:r>
            <a:r>
              <a:rPr lang="zh-TW" altLang="en-US"/>
              <a:t>節的字串、數值和布林文字值，就是對應字串（</a:t>
            </a:r>
            <a:r>
              <a:rPr lang="en-US" altLang="zh-TW"/>
              <a:t>String</a:t>
            </a:r>
            <a:r>
              <a:rPr lang="zh-TW" altLang="en-US"/>
              <a:t>）、數值（</a:t>
            </a:r>
            <a:r>
              <a:rPr lang="en-US" altLang="zh-TW"/>
              <a:t>Number</a:t>
            </a:r>
            <a:r>
              <a:rPr lang="zh-TW" altLang="en-US"/>
              <a:t>）和布林（</a:t>
            </a:r>
            <a:r>
              <a:rPr lang="en-US" altLang="zh-TW"/>
              <a:t>Boolean</a:t>
            </a:r>
            <a:r>
              <a:rPr lang="zh-TW" altLang="en-US"/>
              <a:t>）資料型態。</a:t>
            </a:r>
          </a:p>
          <a:p>
            <a:pPr eaLnBrk="1" hangingPunct="1"/>
            <a:r>
              <a:rPr lang="zh-TW" altLang="en-US"/>
              <a:t>除此之外，</a:t>
            </a:r>
            <a:r>
              <a:rPr lang="en-US" altLang="zh-TW"/>
              <a:t>Python</a:t>
            </a:r>
            <a:r>
              <a:rPr lang="zh-TW" altLang="en-US"/>
              <a:t>還提供多種容器型態（</a:t>
            </a:r>
            <a:r>
              <a:rPr lang="en-US" altLang="zh-TW"/>
              <a:t>Contains Type</a:t>
            </a:r>
            <a:r>
              <a:rPr lang="zh-TW" altLang="en-US"/>
              <a:t>），例如：串列（</a:t>
            </a:r>
            <a:r>
              <a:rPr lang="en-US" altLang="zh-TW"/>
              <a:t>List</a:t>
            </a:r>
            <a:r>
              <a:rPr lang="zh-TW" altLang="en-US"/>
              <a:t>）、元組（</a:t>
            </a:r>
            <a:r>
              <a:rPr lang="en-US" altLang="zh-TW"/>
              <a:t>Tuple</a:t>
            </a:r>
            <a:r>
              <a:rPr lang="zh-TW" altLang="en-US"/>
              <a:t>）合（</a:t>
            </a:r>
            <a:r>
              <a:rPr lang="en-US" altLang="zh-TW"/>
              <a:t>Set</a:t>
            </a:r>
            <a:r>
              <a:rPr lang="zh-TW" altLang="en-US"/>
              <a:t>）和字典（</a:t>
            </a:r>
            <a:r>
              <a:rPr lang="en-US" altLang="zh-TW"/>
              <a:t>Dictionary</a:t>
            </a:r>
            <a:r>
              <a:rPr lang="zh-TW" altLang="en-US"/>
              <a:t>），進一步字串和容器型態的說明請參閱第</a:t>
            </a:r>
            <a:r>
              <a:rPr lang="en-US" altLang="zh-TW"/>
              <a:t>7</a:t>
            </a:r>
            <a:r>
              <a:rPr lang="zh-TW" altLang="en-US"/>
              <a:t>章。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2">
            <a:extLst>
              <a:ext uri="{FF2B5EF4-FFF2-40B4-BE49-F238E27FC236}">
                <a16:creationId xmlns:a16="http://schemas.microsoft.com/office/drawing/2014/main" id="{0AC5871E-22FA-D9E4-7D71-9E55165198E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ea typeface="新細明體" panose="02020500000000000000" pitchFamily="18" charset="-120"/>
              </a:rPr>
              <a:t>3-3-1 </a:t>
            </a:r>
            <a:r>
              <a:rPr lang="zh-TW" altLang="en-US"/>
              <a:t>取得變數的資料型態</a:t>
            </a:r>
          </a:p>
        </p:txBody>
      </p:sp>
      <p:sp>
        <p:nvSpPr>
          <p:cNvPr id="23555" name="內容版面配置區 1">
            <a:extLst>
              <a:ext uri="{FF2B5EF4-FFF2-40B4-BE49-F238E27FC236}">
                <a16:creationId xmlns:a16="http://schemas.microsoft.com/office/drawing/2014/main" id="{C3A02BD0-C22D-243C-D74B-3D9D3394143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可以使用</a:t>
            </a:r>
            <a:r>
              <a:rPr lang="en-US" altLang="zh-TW"/>
              <a:t>type()</a:t>
            </a:r>
            <a:r>
              <a:rPr lang="zh-TW" altLang="en-US"/>
              <a:t>函數取得目前變數的資料型態，如下所示：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20 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print("</a:t>
            </a:r>
            <a:r>
              <a:rPr lang="zh-TW" altLang="en-US">
                <a:solidFill>
                  <a:srgbClr val="FF3399"/>
                </a:solidFill>
              </a:rPr>
              <a:t>變數</a:t>
            </a:r>
            <a:r>
              <a:rPr lang="en-US" altLang="zh-TW">
                <a:solidFill>
                  <a:srgbClr val="FF3399"/>
                </a:solidFill>
              </a:rPr>
              <a:t>score</a:t>
            </a:r>
            <a:r>
              <a:rPr lang="zh-TW" altLang="en-US">
                <a:solidFill>
                  <a:srgbClr val="FF3399"/>
                </a:solidFill>
              </a:rPr>
              <a:t>值是</a:t>
            </a:r>
            <a:r>
              <a:rPr lang="en-US" altLang="zh-TW">
                <a:solidFill>
                  <a:srgbClr val="FF3399"/>
                </a:solidFill>
              </a:rPr>
              <a:t>:", score, type(score))</a:t>
            </a:r>
          </a:p>
          <a:p>
            <a:pPr eaLnBrk="1" hangingPunct="1"/>
            <a:r>
              <a:rPr lang="zh-TW" altLang="en-US"/>
              <a:t>上述變數</a:t>
            </a:r>
            <a:r>
              <a:rPr lang="en-US" altLang="zh-TW"/>
              <a:t>score</a:t>
            </a:r>
            <a:r>
              <a:rPr lang="zh-TW" altLang="en-US"/>
              <a:t>是整數，可以呼叫</a:t>
            </a:r>
            <a:r>
              <a:rPr lang="en-US" altLang="zh-TW"/>
              <a:t>type(a)</a:t>
            </a:r>
            <a:r>
              <a:rPr lang="zh-TW" altLang="en-US"/>
              <a:t>取得變數</a:t>
            </a:r>
            <a:r>
              <a:rPr lang="en-US" altLang="zh-TW"/>
              <a:t>a</a:t>
            </a:r>
            <a:r>
              <a:rPr lang="zh-TW" altLang="en-US"/>
              <a:t>資料型態的物件</a:t>
            </a:r>
            <a:r>
              <a:rPr lang="en-US" altLang="zh-TW"/>
              <a:t>&lt;class 'int'&gt;</a:t>
            </a:r>
            <a:r>
              <a:rPr lang="zh-TW" altLang="en-US"/>
              <a:t>，請注意！</a:t>
            </a:r>
            <a:r>
              <a:rPr lang="en-US" altLang="zh-TW"/>
              <a:t>Python</a:t>
            </a:r>
            <a:r>
              <a:rPr lang="zh-TW" altLang="en-US"/>
              <a:t>所有東西都是</a:t>
            </a:r>
            <a:r>
              <a:rPr lang="en-US" altLang="zh-TW"/>
              <a:t>class</a:t>
            </a:r>
            <a:r>
              <a:rPr lang="zh-TW" altLang="en-US"/>
              <a:t>類別的物件。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8AAAA4AE-88E9-DE63-5D23-32CBC1DEEE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3-3-2 </a:t>
            </a:r>
            <a:r>
              <a:rPr lang="zh-TW" altLang="en-US"/>
              <a:t>資料型態轉換函數</a:t>
            </a:r>
            <a:endParaRPr lang="en-US" altLang="zh-TW"/>
          </a:p>
        </p:txBody>
      </p:sp>
      <p:sp>
        <p:nvSpPr>
          <p:cNvPr id="24579" name="Rectangle 3">
            <a:extLst>
              <a:ext uri="{FF2B5EF4-FFF2-40B4-BE49-F238E27FC236}">
                <a16:creationId xmlns:a16="http://schemas.microsoft.com/office/drawing/2014/main" id="{D871F2F8-898F-27A3-11FD-25E566758F2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不會自動轉換變數</a:t>
            </a:r>
            <a:r>
              <a:rPr lang="en-US" altLang="zh-TW"/>
              <a:t>/</a:t>
            </a:r>
            <a:r>
              <a:rPr lang="zh-TW" altLang="en-US"/>
              <a:t>文字值的資料型態，我們需要自行使用內建型態轉換函數來轉換變數</a:t>
            </a:r>
            <a:r>
              <a:rPr lang="en-US" altLang="zh-TW"/>
              <a:t>/</a:t>
            </a:r>
            <a:r>
              <a:rPr lang="zh-TW" altLang="en-US"/>
              <a:t>文字值成所需的資料型態，如下表所示：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23D4E70A-E173-5B02-1EF6-B37CAD2603C3}"/>
              </a:ext>
            </a:extLst>
          </p:cNvPr>
          <p:cNvGraphicFramePr>
            <a:graphicFrameLocks noGrp="1"/>
          </p:cNvGraphicFramePr>
          <p:nvPr/>
        </p:nvGraphicFramePr>
        <p:xfrm>
          <a:off x="2351088" y="2924176"/>
          <a:ext cx="7561262" cy="3384551"/>
        </p:xfrm>
        <a:graphic>
          <a:graphicData uri="http://schemas.openxmlformats.org/drawingml/2006/table">
            <a:tbl>
              <a:tblPr firstRow="1" firstCol="1" lastRow="1" lastCol="1" bandRow="1" bandCol="1">
                <a:tableStyleId>{22838BEF-8BB2-4498-84A7-C5851F593DF1}</a:tableStyleId>
              </a:tblPr>
              <a:tblGrid>
                <a:gridCol w="213327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279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6019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型態轉換函數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193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str()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>
                    <a:solidFill>
                      <a:srgbClr val="F6F2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將任何資料型態的參數轉換成字串型態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>
                    <a:solidFill>
                      <a:srgbClr val="F6F2F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48937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int()</a:t>
                      </a:r>
                      <a:endParaRPr lang="zh-TW" sz="2000" b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將參數轉換成整數資料型態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參數如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果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是字串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字串內容只能是數字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如果是浮點數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轉換成整數會損失精確度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74786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b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float()</a:t>
                      </a:r>
                      <a:endParaRPr lang="zh-TW" sz="2000" b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將參數轉換成浮點數資料型態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如果是字串</a:t>
                      </a:r>
                      <a:r>
                        <a:rPr lang="zh-TW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，</a:t>
                      </a:r>
                      <a:r>
                        <a:rPr lang="zh-HK" sz="2000" b="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字串內容只可以是數字和小數點</a:t>
                      </a:r>
                      <a:endParaRPr lang="zh-TW" sz="2000" b="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4" marR="68584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>
            <a:extLst>
              <a:ext uri="{FF2B5EF4-FFF2-40B4-BE49-F238E27FC236}">
                <a16:creationId xmlns:a16="http://schemas.microsoft.com/office/drawing/2014/main" id="{03505BFC-B30D-90AF-ED6D-51C82B013D8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3-4 </a:t>
            </a:r>
            <a:r>
              <a:rPr lang="zh-TW" altLang="en-US"/>
              <a:t>讓使用者輸入變數值</a:t>
            </a:r>
            <a:br>
              <a:rPr lang="zh-TW" altLang="en-US"/>
            </a:br>
            <a:r>
              <a:rPr lang="zh-TW" altLang="en-US" sz="2800"/>
              <a:t>從鍵盤輸入字串資料</a:t>
            </a:r>
            <a:endParaRPr lang="zh-TW" altLang="en-US"/>
          </a:p>
        </p:txBody>
      </p:sp>
      <p:sp>
        <p:nvSpPr>
          <p:cNvPr id="25603" name="Rectangle 3">
            <a:extLst>
              <a:ext uri="{FF2B5EF4-FFF2-40B4-BE49-F238E27FC236}">
                <a16:creationId xmlns:a16="http://schemas.microsoft.com/office/drawing/2014/main" id="{1E9E6635-762B-CEDB-6FDB-2F668AC8B9C6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可以讓使用者以鍵盤輸入變數值，這就是第</a:t>
            </a:r>
            <a:r>
              <a:rPr lang="en-US" altLang="zh-TW"/>
              <a:t>2-3-2</a:t>
            </a:r>
            <a:r>
              <a:rPr lang="zh-TW" altLang="en-US"/>
              <a:t>節的主控台輸入，我們是使用</a:t>
            </a:r>
            <a:r>
              <a:rPr lang="en-US" altLang="zh-TW"/>
              <a:t>input()</a:t>
            </a:r>
            <a:r>
              <a:rPr lang="zh-TW" altLang="en-US"/>
              <a:t>函數讓使用者輸入字串文字值。</a:t>
            </a:r>
          </a:p>
          <a:p>
            <a:pPr eaLnBrk="1" hangingPunct="1"/>
            <a:r>
              <a:rPr lang="zh-TW" altLang="en-US"/>
              <a:t>當變數值可以讓使用者自行使用鍵盤來輸入時，我們建立的</a:t>
            </a:r>
            <a:r>
              <a:rPr lang="en-US" altLang="zh-TW"/>
              <a:t>Python</a:t>
            </a:r>
            <a:r>
              <a:rPr lang="zh-TW" altLang="en-US"/>
              <a:t>程式就擁有更多的彈性，因為變數存入的值是在執行</a:t>
            </a:r>
            <a:r>
              <a:rPr lang="en-US" altLang="zh-TW"/>
              <a:t>Python</a:t>
            </a:r>
            <a:r>
              <a:rPr lang="zh-TW" altLang="en-US"/>
              <a:t>程式時，才讓使用者自行從鍵盤輸入，而不是撰寫</a:t>
            </a:r>
            <a:r>
              <a:rPr lang="en-US" altLang="zh-TW"/>
              <a:t>Python</a:t>
            </a:r>
            <a:r>
              <a:rPr lang="zh-TW" altLang="en-US"/>
              <a:t>程式碼來指定其值。</a:t>
            </a:r>
          </a:p>
          <a:p>
            <a:pPr marL="400050" lvl="1" indent="0" eaLnBrk="1" hangingPunct="1">
              <a:buNone/>
            </a:pPr>
            <a:endParaRPr lang="zh-TW" altLang="en-US">
              <a:solidFill>
                <a:srgbClr val="FF3399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>
            <a:extLst>
              <a:ext uri="{FF2B5EF4-FFF2-40B4-BE49-F238E27FC236}">
                <a16:creationId xmlns:a16="http://schemas.microsoft.com/office/drawing/2014/main" id="{2A261C53-7B71-0E90-DE7B-59C1D14ACB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3-4 </a:t>
            </a:r>
            <a:r>
              <a:rPr lang="zh-TW" altLang="en-US"/>
              <a:t>讓使用者輸入變數值</a:t>
            </a:r>
            <a:br>
              <a:rPr lang="zh-TW" altLang="en-US"/>
            </a:br>
            <a:r>
              <a:rPr lang="zh-TW" altLang="en-US" sz="2800"/>
              <a:t>從鍵盤輸入字串資料</a:t>
            </a:r>
            <a:endParaRPr lang="zh-TW" altLang="en-US"/>
          </a:p>
        </p:txBody>
      </p:sp>
      <p:sp>
        <p:nvSpPr>
          <p:cNvPr id="26627" name="Rectangle 3">
            <a:extLst>
              <a:ext uri="{FF2B5EF4-FFF2-40B4-BE49-F238E27FC236}">
                <a16:creationId xmlns:a16="http://schemas.microsoft.com/office/drawing/2014/main" id="{9F8DEB1C-AE47-455E-4B91-3870A7CED672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程式是呼叫</a:t>
            </a:r>
            <a:r>
              <a:rPr lang="en-US" altLang="zh-TW"/>
              <a:t>input()</a:t>
            </a:r>
            <a:r>
              <a:rPr lang="zh-TW" altLang="en-US"/>
              <a:t>函數來輸入字串資料型態的資料，如下所示：</a:t>
            </a:r>
          </a:p>
          <a:p>
            <a:pPr marL="40005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 = input("</a:t>
            </a:r>
            <a:r>
              <a:rPr lang="zh-TW" altLang="en-US">
                <a:solidFill>
                  <a:srgbClr val="FF3399"/>
                </a:solidFill>
              </a:rPr>
              <a:t>請輸入整數值</a:t>
            </a:r>
            <a:r>
              <a:rPr lang="en-US" altLang="zh-TW">
                <a:solidFill>
                  <a:srgbClr val="FF3399"/>
                </a:solidFill>
              </a:rPr>
              <a:t>==&gt; ")  # </a:t>
            </a:r>
            <a:r>
              <a:rPr lang="zh-TW" altLang="en-US">
                <a:solidFill>
                  <a:srgbClr val="FF3399"/>
                </a:solidFill>
              </a:rPr>
              <a:t>輸入字串文字值</a:t>
            </a:r>
          </a:p>
        </p:txBody>
      </p:sp>
      <p:pic>
        <p:nvPicPr>
          <p:cNvPr id="26628" name="Picture 4">
            <a:extLst>
              <a:ext uri="{FF2B5EF4-FFF2-40B4-BE49-F238E27FC236}">
                <a16:creationId xmlns:a16="http://schemas.microsoft.com/office/drawing/2014/main" id="{3F2443C4-3D08-1A58-DC4B-ACC0F07FDC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3613" y="3213100"/>
            <a:ext cx="5783262" cy="29146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標題 1">
            <a:extLst>
              <a:ext uri="{FF2B5EF4-FFF2-40B4-BE49-F238E27FC236}">
                <a16:creationId xmlns:a16="http://schemas.microsoft.com/office/drawing/2014/main" id="{35F0F9A1-64AF-B267-A28A-3C50C56452C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3-4 </a:t>
            </a:r>
            <a:r>
              <a:rPr lang="zh-TW" altLang="en-US"/>
              <a:t>讓使用者輸入變數值</a:t>
            </a:r>
            <a:br>
              <a:rPr lang="zh-TW" altLang="en-US"/>
            </a:br>
            <a:r>
              <a:rPr lang="zh-TW" altLang="en-US" sz="2800"/>
              <a:t>從鍵盤輸入數值資料</a:t>
            </a:r>
            <a:endParaRPr lang="zh-TW" altLang="en-US">
              <a:ea typeface="新細明體" panose="02020500000000000000" pitchFamily="18" charset="-120"/>
            </a:endParaRPr>
          </a:p>
        </p:txBody>
      </p:sp>
      <p:sp>
        <p:nvSpPr>
          <p:cNvPr id="27651" name="內容版面配置區 2">
            <a:extLst>
              <a:ext uri="{FF2B5EF4-FFF2-40B4-BE49-F238E27FC236}">
                <a16:creationId xmlns:a16="http://schemas.microsoft.com/office/drawing/2014/main" id="{982707C1-0D02-7221-263D-FF7129110509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請注意！</a:t>
            </a:r>
            <a:r>
              <a:rPr lang="en-US" altLang="zh-TW"/>
              <a:t>input()</a:t>
            </a:r>
            <a:r>
              <a:rPr lang="zh-TW" altLang="en-US"/>
              <a:t>函數只能輸入字串文字值，我們需要使用第</a:t>
            </a:r>
            <a:r>
              <a:rPr lang="en-US" altLang="zh-TW"/>
              <a:t>3-3-2</a:t>
            </a:r>
            <a:r>
              <a:rPr lang="zh-TW" altLang="en-US"/>
              <a:t>節的</a:t>
            </a:r>
            <a:r>
              <a:rPr lang="en-US" altLang="zh-TW"/>
              <a:t>int()</a:t>
            </a:r>
            <a:r>
              <a:rPr lang="zh-TW" altLang="en-US"/>
              <a:t>和</a:t>
            </a:r>
            <a:r>
              <a:rPr lang="en-US" altLang="zh-TW"/>
              <a:t>float()</a:t>
            </a:r>
            <a:r>
              <a:rPr lang="zh-TW" altLang="en-US"/>
              <a:t>資料型態轉換函數來轉換成整數變數</a:t>
            </a:r>
            <a:r>
              <a:rPr lang="en-US" altLang="zh-TW"/>
              <a:t>score2</a:t>
            </a:r>
            <a:r>
              <a:rPr lang="zh-TW" altLang="en-US"/>
              <a:t>和浮點數變數</a:t>
            </a:r>
            <a:r>
              <a:rPr lang="en-US" altLang="zh-TW"/>
              <a:t>score3</a:t>
            </a:r>
            <a:r>
              <a:rPr lang="zh-TW" altLang="en-US"/>
              <a:t>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score2 = int(score)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score3 = float(score)</a:t>
            </a:r>
          </a:p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>
            <a:extLst>
              <a:ext uri="{FF2B5EF4-FFF2-40B4-BE49-F238E27FC236}">
                <a16:creationId xmlns:a16="http://schemas.microsoft.com/office/drawing/2014/main" id="{846D9378-0C83-35C0-1EA4-D391A89B01F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3-5 </a:t>
            </a:r>
            <a:r>
              <a:rPr lang="zh-TW" altLang="en-US">
                <a:solidFill>
                  <a:srgbClr val="0000FF"/>
                </a:solidFill>
              </a:rPr>
              <a:t>認識運算式和運算子</a:t>
            </a:r>
          </a:p>
        </p:txBody>
      </p:sp>
      <p:sp>
        <p:nvSpPr>
          <p:cNvPr id="28675" name="Rectangle 3">
            <a:extLst>
              <a:ext uri="{FF2B5EF4-FFF2-40B4-BE49-F238E27FC236}">
                <a16:creationId xmlns:a16="http://schemas.microsoft.com/office/drawing/2014/main" id="{3B8F97DE-5059-1E58-41EF-FAE3289E119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3-5-1 </a:t>
            </a:r>
            <a:r>
              <a:rPr lang="zh-TW" altLang="en-US">
                <a:solidFill>
                  <a:srgbClr val="0000FF"/>
                </a:solidFill>
              </a:rPr>
              <a:t>關於運算式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3-5-2 </a:t>
            </a:r>
            <a:r>
              <a:rPr lang="zh-TW" altLang="en-US">
                <a:solidFill>
                  <a:srgbClr val="0000FF"/>
                </a:solidFill>
              </a:rPr>
              <a:t>輸出運算式的運算結果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3-5-3 </a:t>
            </a:r>
            <a:r>
              <a:rPr lang="zh-TW" altLang="en-US">
                <a:solidFill>
                  <a:srgbClr val="0000FF"/>
                </a:solidFill>
              </a:rPr>
              <a:t>執行不同種類運算元的運算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3-5-4 </a:t>
            </a:r>
            <a:r>
              <a:rPr lang="zh-TW" altLang="en-US">
                <a:solidFill>
                  <a:srgbClr val="0000FF"/>
                </a:solidFill>
              </a:rPr>
              <a:t>讓使用者輸入值來執行運算</a:t>
            </a:r>
          </a:p>
        </p:txBody>
      </p:sp>
      <p:pic>
        <p:nvPicPr>
          <p:cNvPr id="28676" name="Picture 4" descr="note">
            <a:extLst>
              <a:ext uri="{FF2B5EF4-FFF2-40B4-BE49-F238E27FC236}">
                <a16:creationId xmlns:a16="http://schemas.microsoft.com/office/drawing/2014/main" id="{BA8F0DC1-A2A8-59F3-2948-DE2921EA605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7659A352-2991-ABF1-2616-8CE3737C7C3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3-5-1 </a:t>
            </a:r>
            <a:r>
              <a:rPr lang="zh-TW" altLang="en-US"/>
              <a:t>關於運算式</a:t>
            </a:r>
          </a:p>
        </p:txBody>
      </p:sp>
      <p:sp>
        <p:nvSpPr>
          <p:cNvPr id="29699" name="內容版面配置區 1">
            <a:extLst>
              <a:ext uri="{FF2B5EF4-FFF2-40B4-BE49-F238E27FC236}">
                <a16:creationId xmlns:a16="http://schemas.microsoft.com/office/drawing/2014/main" id="{F1F9869C-8779-816A-6DF2-BDBAE9F72DA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運算式（</a:t>
            </a:r>
            <a:r>
              <a:rPr lang="en-US" altLang="zh-TW"/>
              <a:t>Expressions</a:t>
            </a:r>
            <a:r>
              <a:rPr lang="zh-TW" altLang="en-US"/>
              <a:t>）是由一序列運算子（</a:t>
            </a:r>
            <a:r>
              <a:rPr lang="en-US" altLang="zh-TW"/>
              <a:t>Operators</a:t>
            </a:r>
            <a:r>
              <a:rPr lang="zh-TW" altLang="en-US"/>
              <a:t>）和運算元（</a:t>
            </a:r>
            <a:r>
              <a:rPr lang="en-US" altLang="zh-TW"/>
              <a:t>Operands</a:t>
            </a:r>
            <a:r>
              <a:rPr lang="zh-TW" altLang="en-US"/>
              <a:t>）所組成，可以在程式中執行所需的運算任務（即執行資料處理），如下圖所示：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29700" name="Picture 5">
            <a:extLst>
              <a:ext uri="{FF2B5EF4-FFF2-40B4-BE49-F238E27FC236}">
                <a16:creationId xmlns:a16="http://schemas.microsoft.com/office/drawing/2014/main" id="{F56E055A-7C93-7583-8AEA-A99CF4516B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3068639"/>
            <a:ext cx="5372100" cy="2333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ACC9A81D-E4C6-651D-F763-A217C392A72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3-5-1 </a:t>
            </a:r>
            <a:r>
              <a:rPr lang="zh-TW" altLang="en-US"/>
              <a:t>關於運算式</a:t>
            </a:r>
          </a:p>
        </p:txBody>
      </p:sp>
      <p:sp>
        <p:nvSpPr>
          <p:cNvPr id="30723" name="內容版面配置區 1">
            <a:extLst>
              <a:ext uri="{FF2B5EF4-FFF2-40B4-BE49-F238E27FC236}">
                <a16:creationId xmlns:a16="http://schemas.microsoft.com/office/drawing/2014/main" id="{1A149973-01AE-ECB4-15CE-5D568329AE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運算子依運算元的個數分成二種，如下所示：</a:t>
            </a:r>
          </a:p>
          <a:p>
            <a:pPr lvl="1" eaLnBrk="1" hangingPunct="1"/>
            <a:r>
              <a:rPr lang="zh-TW" altLang="en-US"/>
              <a:t>單元運算子（</a:t>
            </a:r>
            <a:r>
              <a:rPr lang="en-US" altLang="zh-TW"/>
              <a:t>Unary Operator</a:t>
            </a:r>
            <a:r>
              <a:rPr lang="zh-TW" altLang="en-US"/>
              <a:t>）：只有一個運算元，例如：正號或負號，如下所示：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-15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+10</a:t>
            </a:r>
          </a:p>
          <a:p>
            <a:pPr lvl="1" eaLnBrk="1" hangingPunct="1"/>
            <a:r>
              <a:rPr lang="zh-TW" altLang="en-US"/>
              <a:t>二元運算子（</a:t>
            </a:r>
            <a:r>
              <a:rPr lang="en-US" altLang="zh-TW"/>
              <a:t>Binary Operator</a:t>
            </a:r>
            <a:r>
              <a:rPr lang="zh-TW" altLang="en-US"/>
              <a:t>）：擁有位在左右的兩個運算元，</a:t>
            </a:r>
            <a:r>
              <a:rPr lang="en-US" altLang="zh-TW"/>
              <a:t>Python</a:t>
            </a:r>
            <a:r>
              <a:rPr lang="zh-TW" altLang="en-US"/>
              <a:t>運算子大部分是二元運算子，如下所示：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5 + 10</a:t>
            </a:r>
          </a:p>
          <a:p>
            <a:pPr marL="914400" lvl="2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10 - 2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5FE65CDB-C054-F5A0-47B3-853FD93D7A7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3-5-2 </a:t>
            </a:r>
            <a:r>
              <a:rPr lang="zh-TW" altLang="en-US"/>
              <a:t>輸出運算式的運算結果</a:t>
            </a:r>
          </a:p>
        </p:txBody>
      </p:sp>
      <p:sp>
        <p:nvSpPr>
          <p:cNvPr id="31747" name="內容版面配置區 1">
            <a:extLst>
              <a:ext uri="{FF2B5EF4-FFF2-40B4-BE49-F238E27FC236}">
                <a16:creationId xmlns:a16="http://schemas.microsoft.com/office/drawing/2014/main" id="{2B40AC46-8CAD-9B2E-4CEC-BBF7994A4213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的</a:t>
            </a:r>
            <a:r>
              <a:rPr lang="en-US" altLang="zh-TW"/>
              <a:t>print()</a:t>
            </a:r>
            <a:r>
              <a:rPr lang="zh-TW" altLang="en-US"/>
              <a:t>函數可以在電腦螢幕輸出執行結果，同樣的，我們可以輸出運算式的運算結果，如下圖所示：</a:t>
            </a:r>
          </a:p>
          <a:p>
            <a:pPr eaLnBrk="1" hangingPunct="1"/>
            <a:endParaRPr lang="zh-TW" altLang="en-US"/>
          </a:p>
        </p:txBody>
      </p:sp>
      <p:pic>
        <p:nvPicPr>
          <p:cNvPr id="31748" name="Picture 20">
            <a:extLst>
              <a:ext uri="{FF2B5EF4-FFF2-40B4-BE49-F238E27FC236}">
                <a16:creationId xmlns:a16="http://schemas.microsoft.com/office/drawing/2014/main" id="{4AD65CCA-BE71-2380-3AD3-7C101700C8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0964" y="2767013"/>
            <a:ext cx="6943725" cy="2590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A4F894C7-F492-B539-5E07-5E126CB63F7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3-5-3 </a:t>
            </a:r>
            <a:r>
              <a:rPr lang="zh-TW" altLang="en-US"/>
              <a:t>執行不同種類運算元的運算</a:t>
            </a:r>
            <a:br>
              <a:rPr lang="zh-TW" altLang="en-US"/>
            </a:br>
            <a:r>
              <a:rPr lang="en-US" altLang="zh-TW" sz="2800"/>
              <a:t>2</a:t>
            </a:r>
            <a:r>
              <a:rPr lang="zh-TW" altLang="en-US" sz="2800"/>
              <a:t>個運算元都是變數</a:t>
            </a:r>
            <a:endParaRPr lang="zh-TW" altLang="en-US"/>
          </a:p>
        </p:txBody>
      </p:sp>
      <p:sp>
        <p:nvSpPr>
          <p:cNvPr id="38915" name="Rectangle 3">
            <a:extLst>
              <a:ext uri="{FF2B5EF4-FFF2-40B4-BE49-F238E27FC236}">
                <a16:creationId xmlns:a16="http://schemas.microsoft.com/office/drawing/2014/main" id="{15F052EC-1502-DB2B-8479-41C84C3F317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>
              <a:defRPr/>
            </a:pPr>
            <a:r>
              <a:rPr lang="en-US" altLang="zh-TW" dirty="0"/>
              <a:t>Python</a:t>
            </a:r>
            <a:r>
              <a:rPr lang="zh-TW" altLang="en-US" dirty="0"/>
              <a:t>加法運算式的</a:t>
            </a:r>
            <a:r>
              <a:rPr lang="en-US" altLang="zh-TW" dirty="0"/>
              <a:t>2</a:t>
            </a:r>
            <a:r>
              <a:rPr lang="zh-TW" altLang="en-US" dirty="0"/>
              <a:t>個運算元可以是</a:t>
            </a:r>
            <a:r>
              <a:rPr lang="en-US" altLang="zh-TW" dirty="0"/>
              <a:t>2</a:t>
            </a:r>
            <a:r>
              <a:rPr lang="zh-TW" altLang="en-US" dirty="0"/>
              <a:t>個變數，例如：計算分數的總和，如下所示：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score1 = 56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score2 = 67</a:t>
            </a:r>
          </a:p>
          <a:p>
            <a:pPr marL="457200" lvl="1" indent="0" eaLnBrk="1" hangingPunct="1">
              <a:buNone/>
              <a:defRPr/>
            </a:pPr>
            <a:r>
              <a:rPr lang="en-US" altLang="zh-TW" dirty="0">
                <a:solidFill>
                  <a:srgbClr val="FF3399"/>
                </a:solidFill>
              </a:rPr>
              <a:t>total = score1 + score2   # </a:t>
            </a:r>
            <a:r>
              <a:rPr lang="zh-TW" altLang="en-US" dirty="0">
                <a:solidFill>
                  <a:srgbClr val="FF3399"/>
                </a:solidFill>
              </a:rPr>
              <a:t>加法運算式</a:t>
            </a:r>
          </a:p>
          <a:p>
            <a:pPr eaLnBrk="1" hangingPunct="1">
              <a:defRPr/>
            </a:pPr>
            <a:r>
              <a:rPr lang="zh-TW" altLang="en-US" dirty="0"/>
              <a:t>上述運算式「</a:t>
            </a:r>
            <a:r>
              <a:rPr lang="en-US" altLang="zh-TW" dirty="0"/>
              <a:t>score1+score2</a:t>
            </a:r>
            <a:r>
              <a:rPr lang="zh-TW" altLang="en-US" dirty="0"/>
              <a:t>」的</a:t>
            </a:r>
            <a:r>
              <a:rPr lang="en-US" altLang="zh-TW" dirty="0"/>
              <a:t>2</a:t>
            </a:r>
            <a:r>
              <a:rPr lang="zh-TW" altLang="en-US" dirty="0"/>
              <a:t>個運算元都是變數，「</a:t>
            </a:r>
            <a:r>
              <a:rPr lang="en-US" altLang="zh-TW" dirty="0"/>
              <a:t>total = score1+score2</a:t>
            </a:r>
            <a:r>
              <a:rPr lang="zh-TW" altLang="en-US" dirty="0"/>
              <a:t>」運算式的意義是：</a:t>
            </a:r>
          </a:p>
          <a:p>
            <a:pPr marL="0" indent="0" eaLnBrk="1" hangingPunct="1">
              <a:buNone/>
              <a:defRPr/>
            </a:pPr>
            <a:r>
              <a:rPr lang="zh-TW" altLang="en-US" b="1" dirty="0"/>
              <a:t>「取出變數</a:t>
            </a:r>
            <a:r>
              <a:rPr lang="en-US" altLang="zh-TW" b="1" dirty="0"/>
              <a:t>score1</a:t>
            </a:r>
            <a:r>
              <a:rPr lang="zh-TW" altLang="en-US" b="1" dirty="0"/>
              <a:t>儲存的值</a:t>
            </a:r>
            <a:r>
              <a:rPr lang="en-US" altLang="zh-TW" b="1" dirty="0"/>
              <a:t>56</a:t>
            </a:r>
            <a:r>
              <a:rPr lang="zh-TW" altLang="en-US" b="1" dirty="0"/>
              <a:t>，和取出變數</a:t>
            </a:r>
            <a:r>
              <a:rPr lang="en-US" altLang="zh-TW" b="1" dirty="0"/>
              <a:t>score2</a:t>
            </a:r>
            <a:r>
              <a:rPr lang="zh-TW" altLang="en-US" b="1" dirty="0"/>
              <a:t>儲存的值</a:t>
            </a:r>
            <a:r>
              <a:rPr lang="en-US" altLang="zh-TW" b="1" dirty="0"/>
              <a:t>67</a:t>
            </a:r>
            <a:r>
              <a:rPr lang="zh-TW" altLang="en-US" b="1" dirty="0"/>
              <a:t>後，將</a:t>
            </a:r>
            <a:r>
              <a:rPr lang="en-US" altLang="zh-TW" b="1" dirty="0"/>
              <a:t>2</a:t>
            </a:r>
            <a:r>
              <a:rPr lang="zh-TW" altLang="en-US" b="1" dirty="0"/>
              <a:t>個常數值相加</a:t>
            </a:r>
            <a:r>
              <a:rPr lang="en-US" altLang="zh-TW" b="1" dirty="0"/>
              <a:t>56+67</a:t>
            </a:r>
            <a:r>
              <a:rPr lang="zh-TW" altLang="en-US" b="1" dirty="0"/>
              <a:t>後，再將運算結果</a:t>
            </a:r>
            <a:r>
              <a:rPr lang="en-US" altLang="zh-TW" b="1" dirty="0"/>
              <a:t>123</a:t>
            </a:r>
            <a:r>
              <a:rPr lang="zh-TW" altLang="en-US" b="1" dirty="0"/>
              <a:t>存入變數</a:t>
            </a:r>
            <a:r>
              <a:rPr lang="en-US" altLang="zh-TW" b="1" dirty="0"/>
              <a:t>total</a:t>
            </a:r>
            <a:r>
              <a:rPr lang="zh-TW" altLang="en-US" b="1" dirty="0"/>
              <a:t>。」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13164CBD-462B-9D3B-F790-45CD3DADE3D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3-5-3 </a:t>
            </a:r>
            <a:r>
              <a:rPr lang="zh-TW" altLang="en-US"/>
              <a:t>執行不同種類運算元的運算</a:t>
            </a:r>
            <a:br>
              <a:rPr lang="zh-TW" altLang="en-US"/>
            </a:br>
            <a:r>
              <a:rPr lang="en-US" altLang="zh-TW" sz="2800"/>
              <a:t>2</a:t>
            </a:r>
            <a:r>
              <a:rPr lang="zh-TW" altLang="en-US" sz="2800"/>
              <a:t>個運算元都是變數</a:t>
            </a:r>
            <a:endParaRPr lang="zh-TW" altLang="en-US"/>
          </a:p>
        </p:txBody>
      </p:sp>
      <p:sp>
        <p:nvSpPr>
          <p:cNvPr id="33795" name="內容版面配置區 1">
            <a:extLst>
              <a:ext uri="{FF2B5EF4-FFF2-40B4-BE49-F238E27FC236}">
                <a16:creationId xmlns:a16="http://schemas.microsoft.com/office/drawing/2014/main" id="{D35FECFE-3DC2-FD9F-B6BC-43A03384C9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zh-TW" altLang="en-US">
              <a:ea typeface="新細明體" panose="02020500000000000000" pitchFamily="18" charset="-120"/>
            </a:endParaRPr>
          </a:p>
        </p:txBody>
      </p:sp>
      <p:pic>
        <p:nvPicPr>
          <p:cNvPr id="33796" name="Picture 2">
            <a:extLst>
              <a:ext uri="{FF2B5EF4-FFF2-40B4-BE49-F238E27FC236}">
                <a16:creationId xmlns:a16="http://schemas.microsoft.com/office/drawing/2014/main" id="{FA3BEBED-65F1-BD86-2AEF-51CB9C3A14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87713" y="2060575"/>
            <a:ext cx="5942012" cy="3671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BBB29947-C007-55A9-4F4F-9BF5063636F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3-5-3 </a:t>
            </a:r>
            <a:r>
              <a:rPr lang="zh-TW" altLang="en-US"/>
              <a:t>執行不同種類運算元的運算</a:t>
            </a:r>
            <a:br>
              <a:rPr lang="zh-TW" altLang="en-US"/>
            </a:br>
            <a:r>
              <a:rPr lang="en-US" altLang="zh-TW" sz="2800"/>
              <a:t>1</a:t>
            </a:r>
            <a:r>
              <a:rPr lang="zh-TW" altLang="en-US" sz="2800"/>
              <a:t>個運算元是變數；</a:t>
            </a:r>
            <a:r>
              <a:rPr lang="en-US" altLang="zh-TW" sz="2800"/>
              <a:t>1</a:t>
            </a:r>
            <a:r>
              <a:rPr lang="zh-TW" altLang="en-US" sz="2800"/>
              <a:t>個運算元是文字值</a:t>
            </a:r>
            <a:endParaRPr lang="zh-TW" altLang="en-US"/>
          </a:p>
        </p:txBody>
      </p:sp>
      <p:sp>
        <p:nvSpPr>
          <p:cNvPr id="34819" name="內容版面配置區 1">
            <a:extLst>
              <a:ext uri="{FF2B5EF4-FFF2-40B4-BE49-F238E27FC236}">
                <a16:creationId xmlns:a16="http://schemas.microsoft.com/office/drawing/2014/main" id="{807B3348-A084-A98F-1FC3-46F6A448BA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加法運算式的</a:t>
            </a:r>
            <a:r>
              <a:rPr lang="en-US" altLang="zh-TW"/>
              <a:t>2</a:t>
            </a:r>
            <a:r>
              <a:rPr lang="zh-TW" altLang="en-US"/>
              <a:t>個運算元可以其中一個是變數；另一個是文字值，例如：調整變數</a:t>
            </a:r>
            <a:r>
              <a:rPr lang="en-US" altLang="zh-TW"/>
              <a:t>score1</a:t>
            </a:r>
            <a:r>
              <a:rPr lang="zh-TW" altLang="en-US"/>
              <a:t>的分數，將它加</a:t>
            </a:r>
            <a:r>
              <a:rPr lang="en-US" altLang="zh-TW"/>
              <a:t>10</a:t>
            </a:r>
            <a:r>
              <a:rPr lang="zh-TW" altLang="en-US"/>
              <a:t>分，如下所示：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56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score1 + 10   # </a:t>
            </a:r>
            <a:r>
              <a:rPr lang="zh-TW" altLang="en-US">
                <a:solidFill>
                  <a:srgbClr val="FF3399"/>
                </a:solidFill>
              </a:rPr>
              <a:t>加法運算式</a:t>
            </a:r>
          </a:p>
          <a:p>
            <a:pPr eaLnBrk="1" hangingPunct="1"/>
            <a:r>
              <a:rPr lang="zh-TW" altLang="en-US"/>
              <a:t>上述運算式「</a:t>
            </a:r>
            <a:r>
              <a:rPr lang="en-US" altLang="zh-TW"/>
              <a:t>score1+10</a:t>
            </a:r>
            <a:r>
              <a:rPr lang="zh-TW" altLang="en-US"/>
              <a:t>」的第</a:t>
            </a:r>
            <a:r>
              <a:rPr lang="en-US" altLang="zh-TW"/>
              <a:t>1</a:t>
            </a:r>
            <a:r>
              <a:rPr lang="zh-TW" altLang="en-US"/>
              <a:t>個運算元是變數；第</a:t>
            </a:r>
            <a:r>
              <a:rPr lang="en-US" altLang="zh-TW"/>
              <a:t>2</a:t>
            </a:r>
            <a:r>
              <a:rPr lang="zh-TW" altLang="en-US"/>
              <a:t>個是文字值，「</a:t>
            </a:r>
            <a:r>
              <a:rPr lang="en-US" altLang="zh-TW"/>
              <a:t>score1 = score1+10</a:t>
            </a:r>
            <a:r>
              <a:rPr lang="zh-TW" altLang="en-US"/>
              <a:t>」運算式的意義是：</a:t>
            </a:r>
          </a:p>
          <a:p>
            <a:pPr eaLnBrk="1" hangingPunct="1">
              <a:buFontTx/>
              <a:buNone/>
            </a:pPr>
            <a:r>
              <a:rPr lang="zh-TW" altLang="en-US" b="1"/>
              <a:t>「取出變數</a:t>
            </a:r>
            <a:r>
              <a:rPr lang="en-US" altLang="zh-TW" b="1"/>
              <a:t>score1</a:t>
            </a:r>
            <a:r>
              <a:rPr lang="zh-TW" altLang="en-US" b="1"/>
              <a:t>儲存的值</a:t>
            </a:r>
            <a:r>
              <a:rPr lang="en-US" altLang="zh-TW" b="1"/>
              <a:t>56</a:t>
            </a:r>
            <a:r>
              <a:rPr lang="zh-TW" altLang="en-US" b="1"/>
              <a:t>，加上文字值</a:t>
            </a:r>
            <a:r>
              <a:rPr lang="en-US" altLang="zh-TW" b="1"/>
              <a:t>10</a:t>
            </a:r>
            <a:r>
              <a:rPr lang="zh-TW" altLang="en-US" b="1"/>
              <a:t>後，再將運算結果</a:t>
            </a:r>
            <a:r>
              <a:rPr lang="en-US" altLang="zh-TW" b="1"/>
              <a:t>56+10=66</a:t>
            </a:r>
            <a:r>
              <a:rPr lang="zh-TW" altLang="en-US" b="1"/>
              <a:t>存入變數</a:t>
            </a:r>
            <a:r>
              <a:rPr lang="en-US" altLang="zh-TW" b="1"/>
              <a:t>score1</a:t>
            </a:r>
            <a:r>
              <a:rPr lang="zh-TW" altLang="en-US" b="1"/>
              <a:t>。」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64CE32B1-7050-12B7-E0D6-F3DF8961FC1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3-5-3 </a:t>
            </a:r>
            <a:r>
              <a:rPr lang="zh-TW" altLang="en-US"/>
              <a:t>執行不同種類運算元的運算</a:t>
            </a:r>
            <a:br>
              <a:rPr lang="zh-TW" altLang="en-US"/>
            </a:br>
            <a:r>
              <a:rPr lang="en-US" altLang="zh-TW" sz="2800"/>
              <a:t>1</a:t>
            </a:r>
            <a:r>
              <a:rPr lang="zh-TW" altLang="en-US" sz="2800"/>
              <a:t>個運算元是變數；</a:t>
            </a:r>
            <a:r>
              <a:rPr lang="en-US" altLang="zh-TW" sz="2800"/>
              <a:t>1</a:t>
            </a:r>
            <a:r>
              <a:rPr lang="zh-TW" altLang="en-US" sz="2800"/>
              <a:t>個運算元是文字值</a:t>
            </a:r>
            <a:endParaRPr lang="zh-TW" altLang="en-US"/>
          </a:p>
        </p:txBody>
      </p:sp>
      <p:sp>
        <p:nvSpPr>
          <p:cNvPr id="35843" name="內容版面配置區 2">
            <a:extLst>
              <a:ext uri="{FF2B5EF4-FFF2-40B4-BE49-F238E27FC236}">
                <a16:creationId xmlns:a16="http://schemas.microsoft.com/office/drawing/2014/main" id="{B2607474-8E7C-A48F-2942-628186E99688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endParaRPr lang="zh-TW" altLang="en-US"/>
          </a:p>
        </p:txBody>
      </p:sp>
      <p:pic>
        <p:nvPicPr>
          <p:cNvPr id="35844" name="Picture 2">
            <a:extLst>
              <a:ext uri="{FF2B5EF4-FFF2-40B4-BE49-F238E27FC236}">
                <a16:creationId xmlns:a16="http://schemas.microsoft.com/office/drawing/2014/main" id="{D6BC19B5-2192-87F8-B0A2-71228139E4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19414" y="1844676"/>
            <a:ext cx="6353175" cy="40354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標題 1">
            <a:extLst>
              <a:ext uri="{FF2B5EF4-FFF2-40B4-BE49-F238E27FC236}">
                <a16:creationId xmlns:a16="http://schemas.microsoft.com/office/drawing/2014/main" id="{8E6BA385-46CE-878D-F831-FB72E51C2C8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3-5-4 </a:t>
            </a:r>
            <a:r>
              <a:rPr lang="zh-TW" altLang="en-US"/>
              <a:t>讓使用者輸入值來執行運算</a:t>
            </a:r>
          </a:p>
        </p:txBody>
      </p:sp>
      <p:sp>
        <p:nvSpPr>
          <p:cNvPr id="36867" name="內容版面配置區 2">
            <a:extLst>
              <a:ext uri="{FF2B5EF4-FFF2-40B4-BE49-F238E27FC236}">
                <a16:creationId xmlns:a16="http://schemas.microsoft.com/office/drawing/2014/main" id="{A9E1B9ED-D526-56E4-4595-72D2F5E8DCE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當運算式的運算元是變數，我們只需更改變數值，就可以產生不同的運算結果，如下所示：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total = score1 + score2   # </a:t>
            </a:r>
            <a:r>
              <a:rPr lang="zh-TW" altLang="en-US">
                <a:solidFill>
                  <a:srgbClr val="FF3399"/>
                </a:solidFill>
              </a:rPr>
              <a:t>加法運算式</a:t>
            </a:r>
          </a:p>
          <a:p>
            <a:pPr eaLnBrk="1" hangingPunct="1"/>
            <a:r>
              <a:rPr lang="zh-TW" altLang="en-US"/>
              <a:t>上述運算元變數</a:t>
            </a:r>
            <a:r>
              <a:rPr lang="en-US" altLang="zh-TW"/>
              <a:t>score1</a:t>
            </a:r>
            <a:r>
              <a:rPr lang="zh-TW" altLang="en-US"/>
              <a:t>和</a:t>
            </a:r>
            <a:r>
              <a:rPr lang="en-US" altLang="zh-TW"/>
              <a:t>score2</a:t>
            </a:r>
            <a:r>
              <a:rPr lang="zh-TW" altLang="en-US"/>
              <a:t>的值如果不同，</a:t>
            </a:r>
            <a:r>
              <a:rPr lang="en-US" altLang="zh-TW"/>
              <a:t>total</a:t>
            </a:r>
            <a:r>
              <a:rPr lang="zh-TW" altLang="en-US"/>
              <a:t>變數的運算結果就會不同，</a:t>
            </a:r>
            <a:r>
              <a:rPr lang="en-US" altLang="zh-TW"/>
              <a:t>Python</a:t>
            </a:r>
            <a:r>
              <a:rPr lang="zh-TW" altLang="en-US"/>
              <a:t>程式可以使用</a:t>
            </a:r>
            <a:r>
              <a:rPr lang="en-US" altLang="zh-TW"/>
              <a:t>input()</a:t>
            </a:r>
            <a:r>
              <a:rPr lang="zh-TW" altLang="en-US"/>
              <a:t>函數，讓使用者自行輸入變數值來執行運算，只需輸入不同值，就可以得到不同的加法運算結果。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F3266852-A3B3-DE9A-51D4-C7D5D62E9E7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3-6 </a:t>
            </a:r>
            <a:r>
              <a:rPr lang="zh-TW" altLang="en-US">
                <a:solidFill>
                  <a:srgbClr val="0000FF"/>
                </a:solidFill>
              </a:rPr>
              <a:t>在程式使用運算子</a:t>
            </a:r>
            <a:endParaRPr lang="zh-TW" altLang="en-US"/>
          </a:p>
        </p:txBody>
      </p:sp>
      <p:sp>
        <p:nvSpPr>
          <p:cNvPr id="37891" name="Rectangle 3">
            <a:extLst>
              <a:ext uri="{FF2B5EF4-FFF2-40B4-BE49-F238E27FC236}">
                <a16:creationId xmlns:a16="http://schemas.microsoft.com/office/drawing/2014/main" id="{A98E98DA-F2C9-5334-929C-87B36E9B0ED5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3-6-1 </a:t>
            </a:r>
            <a:r>
              <a:rPr lang="zh-TW" altLang="en-US">
                <a:solidFill>
                  <a:srgbClr val="0000FF"/>
                </a:solidFill>
              </a:rPr>
              <a:t>運算子的優先順序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3-6-2 </a:t>
            </a:r>
            <a:r>
              <a:rPr lang="zh-TW" altLang="en-US">
                <a:solidFill>
                  <a:srgbClr val="0000FF"/>
                </a:solidFill>
              </a:rPr>
              <a:t>算術運算子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3-6-3 </a:t>
            </a:r>
            <a:r>
              <a:rPr lang="zh-TW" altLang="en-US">
                <a:solidFill>
                  <a:srgbClr val="0000FF"/>
                </a:solidFill>
              </a:rPr>
              <a:t>指定運算子</a:t>
            </a:r>
            <a:endParaRPr lang="en-US" altLang="zh-TW">
              <a:solidFill>
                <a:srgbClr val="0000FF"/>
              </a:solidFill>
            </a:endParaRPr>
          </a:p>
          <a:p>
            <a:pPr eaLnBrk="1" hangingPunct="1"/>
            <a:r>
              <a:rPr lang="en-US" altLang="zh-TW">
                <a:solidFill>
                  <a:srgbClr val="0000FF"/>
                </a:solidFill>
              </a:rPr>
              <a:t>3-6-4 </a:t>
            </a:r>
            <a:r>
              <a:rPr lang="zh-TW" altLang="en-US">
                <a:solidFill>
                  <a:srgbClr val="0000FF"/>
                </a:solidFill>
              </a:rPr>
              <a:t>更多的指定敘述</a:t>
            </a:r>
          </a:p>
        </p:txBody>
      </p:sp>
      <p:pic>
        <p:nvPicPr>
          <p:cNvPr id="37892" name="Picture 4" descr="note">
            <a:extLst>
              <a:ext uri="{FF2B5EF4-FFF2-40B4-BE49-F238E27FC236}">
                <a16:creationId xmlns:a16="http://schemas.microsoft.com/office/drawing/2014/main" id="{BB3476D6-B7EA-3A1F-AB42-20AF9D41DFF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1876" y="4221164"/>
            <a:ext cx="1425575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6524D936-68BE-F822-3E42-91A015D3C8E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3-6-1 </a:t>
            </a:r>
            <a:r>
              <a:rPr lang="zh-TW" altLang="en-US"/>
              <a:t>運算子的優先順序</a:t>
            </a:r>
            <a:br>
              <a:rPr lang="zh-TW" altLang="en-US"/>
            </a:br>
            <a:r>
              <a:rPr lang="zh-TW" altLang="en-US" sz="2800"/>
              <a:t>優先順序（</a:t>
            </a:r>
            <a:r>
              <a:rPr lang="en-US" altLang="zh-TW" sz="2800"/>
              <a:t>Precedence</a:t>
            </a:r>
            <a:r>
              <a:rPr lang="zh-TW" altLang="en-US" sz="2800"/>
              <a:t>）</a:t>
            </a:r>
            <a:endParaRPr lang="zh-TW" altLang="en-US"/>
          </a:p>
        </p:txBody>
      </p:sp>
      <p:sp>
        <p:nvSpPr>
          <p:cNvPr id="38915" name="內容版面配置區 1">
            <a:extLst>
              <a:ext uri="{FF2B5EF4-FFF2-40B4-BE49-F238E27FC236}">
                <a16:creationId xmlns:a16="http://schemas.microsoft.com/office/drawing/2014/main" id="{2DAADB07-795F-AD43-D01B-1C3FF4CE4680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運算子的優先順序決定運算式中運算子的執行順序，可以讓擁有多運算子的運算式得到相同的運算結果。</a:t>
            </a:r>
          </a:p>
          <a:p>
            <a:pPr eaLnBrk="1" hangingPunct="1"/>
            <a:r>
              <a:rPr lang="zh-TW" altLang="en-US"/>
              <a:t>當同一</a:t>
            </a:r>
            <a:r>
              <a:rPr lang="en-US" altLang="zh-TW"/>
              <a:t>Python</a:t>
            </a:r>
            <a:r>
              <a:rPr lang="zh-TW" altLang="en-US"/>
              <a:t>運算式使用多個運算子時，為了讓運算式能夠得到相同的運算結果，運算式是以運算子預設的優先順序來進行運算，也就是熟知的「先乘除後加減」口訣，如下所示：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a + b * 2</a:t>
            </a:r>
          </a:p>
          <a:p>
            <a:pPr eaLnBrk="1" hangingPunct="1"/>
            <a:r>
              <a:rPr lang="zh-TW" altLang="en-US"/>
              <a:t>上述運算式因為運算子的優先順序「*」大於「</a:t>
            </a:r>
            <a:r>
              <a:rPr lang="en-US" altLang="zh-TW"/>
              <a:t>+</a:t>
            </a:r>
            <a:r>
              <a:rPr lang="zh-TW" altLang="en-US"/>
              <a:t>」，所以先計算</a:t>
            </a:r>
            <a:r>
              <a:rPr lang="en-US" altLang="zh-TW"/>
              <a:t>b*2</a:t>
            </a:r>
            <a:r>
              <a:rPr lang="zh-TW" altLang="en-US"/>
              <a:t>後才和</a:t>
            </a:r>
            <a:r>
              <a:rPr lang="en-US" altLang="zh-TW"/>
              <a:t>a</a:t>
            </a:r>
            <a:r>
              <a:rPr lang="zh-TW" altLang="en-US"/>
              <a:t>相加。如果需要，在運算式可以使用括號推翻預設的運算子優先順序，例如：改變上述運算式的運算順序，先執行加法運算後，才是乘法，如下所示：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(a + b) * 2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36542CD3-7388-D904-30F6-0E72A77F0D5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3-6-1 </a:t>
            </a:r>
            <a:r>
              <a:rPr lang="zh-TW" altLang="en-US"/>
              <a:t>運算子的優先順序</a:t>
            </a:r>
            <a:br>
              <a:rPr lang="zh-TW" altLang="en-US"/>
            </a:br>
            <a:r>
              <a:rPr lang="en-US" altLang="zh-TW" sz="2800"/>
              <a:t>Python</a:t>
            </a:r>
            <a:r>
              <a:rPr lang="zh-TW" altLang="en-US" sz="2800"/>
              <a:t>運算子的優先順序</a:t>
            </a:r>
            <a:endParaRPr lang="zh-TW" altLang="en-US"/>
          </a:p>
        </p:txBody>
      </p:sp>
      <p:graphicFrame>
        <p:nvGraphicFramePr>
          <p:cNvPr id="3" name="內容版面配置區 2">
            <a:extLst>
              <a:ext uri="{FF2B5EF4-FFF2-40B4-BE49-F238E27FC236}">
                <a16:creationId xmlns:a16="http://schemas.microsoft.com/office/drawing/2014/main" id="{05FACD0D-B45A-8981-9ADC-8C371DED33B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2135188" y="1427163"/>
          <a:ext cx="8070850" cy="53530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697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2338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()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括號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指數運算子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~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正號、負號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算術運算子的乘法、除法、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和餘數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算術運算子加法和減法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&lt;&lt;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&gt;&gt;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位元運算子左移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和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右移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&amp;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^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|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位元運算子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8001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 in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is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is not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&gt;=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&lt;&gt;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!=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==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成員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識別和關係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小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小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於等於、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大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於、</a:t>
                      </a: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大</a:t>
                      </a: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於等於、不等於和等於</a:t>
                      </a: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NOT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AND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5210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邏輯運算子</a:t>
                      </a: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OR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3" marR="68583" marT="0" marB="0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>
            <a:extLst>
              <a:ext uri="{FF2B5EF4-FFF2-40B4-BE49-F238E27FC236}">
                <a16:creationId xmlns:a16="http://schemas.microsoft.com/office/drawing/2014/main" id="{2AAC2D11-21FC-12E1-FC8C-630DE8F8B18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3-6-2 </a:t>
            </a:r>
            <a:r>
              <a:rPr lang="zh-TW" altLang="en-US"/>
              <a:t>算術運算子</a:t>
            </a:r>
          </a:p>
        </p:txBody>
      </p:sp>
      <p:sp>
        <p:nvSpPr>
          <p:cNvPr id="40963" name="內容版面配置區 1">
            <a:extLst>
              <a:ext uri="{FF2B5EF4-FFF2-40B4-BE49-F238E27FC236}">
                <a16:creationId xmlns:a16="http://schemas.microsoft.com/office/drawing/2014/main" id="{DBD7AC3F-DD45-AFFC-97D5-042CD04AA1B4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Python</a:t>
            </a:r>
            <a:r>
              <a:rPr lang="zh-TW" altLang="en-US"/>
              <a:t>算術運算子（</a:t>
            </a:r>
            <a:r>
              <a:rPr lang="en-US" altLang="zh-TW"/>
              <a:t>Arithmetic Operators</a:t>
            </a:r>
            <a:r>
              <a:rPr lang="zh-TW" altLang="en-US"/>
              <a:t>）可以建立數學的算術運算式（</a:t>
            </a:r>
            <a:r>
              <a:rPr lang="en-US" altLang="zh-TW"/>
              <a:t>Arithmetic Expressions</a:t>
            </a:r>
            <a:r>
              <a:rPr lang="zh-TW" altLang="en-US"/>
              <a:t>），其說明如下表所示： </a:t>
            </a:r>
          </a:p>
          <a:p>
            <a:pPr eaLnBrk="1" hangingPunct="1"/>
            <a:endParaRPr lang="zh-TW" altLang="en-US"/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D3ACD06-8210-3039-569E-A773D070A800}"/>
              </a:ext>
            </a:extLst>
          </p:cNvPr>
          <p:cNvGraphicFramePr>
            <a:graphicFrameLocks noGrp="1"/>
          </p:cNvGraphicFramePr>
          <p:nvPr/>
        </p:nvGraphicFramePr>
        <p:xfrm>
          <a:off x="2135188" y="2873375"/>
          <a:ext cx="7993062" cy="3833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1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230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783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運算子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運算式範例</a:t>
                      </a: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負號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-7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正號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+7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乘法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* 2 = 14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除法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/ 2 = 3.5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// 2 = 3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餘數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7 % 2 = 1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加法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+ 2 = 9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減法</a:t>
                      </a: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7 – 2 = 5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83381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2 ** 3 = 8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81" marR="68581" marT="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標題 1">
            <a:extLst>
              <a:ext uri="{FF2B5EF4-FFF2-40B4-BE49-F238E27FC236}">
                <a16:creationId xmlns:a16="http://schemas.microsoft.com/office/drawing/2014/main" id="{7DC2636C-326F-931C-866B-7C6FD61BEAD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3-6-3 </a:t>
            </a:r>
            <a:r>
              <a:rPr lang="zh-TW" altLang="en-US"/>
              <a:t>指定運算子</a:t>
            </a:r>
          </a:p>
        </p:txBody>
      </p:sp>
      <p:sp>
        <p:nvSpPr>
          <p:cNvPr id="41987" name="內容版面配置區 2">
            <a:extLst>
              <a:ext uri="{FF2B5EF4-FFF2-40B4-BE49-F238E27FC236}">
                <a16:creationId xmlns:a16="http://schemas.microsoft.com/office/drawing/2014/main" id="{5B2562A2-5EB3-4B7A-1C2A-87C639F9B7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指定運算式（</a:t>
            </a:r>
            <a:r>
              <a:rPr lang="en-US" altLang="zh-TW"/>
              <a:t>Assignment Expressions</a:t>
            </a:r>
            <a:r>
              <a:rPr lang="zh-TW" altLang="en-US"/>
              <a:t>）就是指定敘述，這是使用「</a:t>
            </a:r>
            <a:r>
              <a:rPr lang="en-US" altLang="zh-TW"/>
              <a:t>=</a:t>
            </a:r>
            <a:r>
              <a:rPr lang="zh-TW" altLang="en-US"/>
              <a:t>」等號指定運算子來建立運算式，請注意！這是指定或稱為指派；並沒有相等或等於的意思，其目的如下所以：</a:t>
            </a:r>
          </a:p>
          <a:p>
            <a:pPr eaLnBrk="1" hangingPunct="1"/>
            <a:r>
              <a:rPr lang="zh-TW" altLang="en-US"/>
              <a:t>「將右邊運算元或運算式運算結果的文字值，存入位在左邊的變數。」</a:t>
            </a:r>
          </a:p>
          <a:p>
            <a:pPr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」等號左邊是用來指定值的變數；右邊可以是變數、文字值或運算式，在本章之前已經說明很多現成的範例。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標題 1">
            <a:extLst>
              <a:ext uri="{FF2B5EF4-FFF2-40B4-BE49-F238E27FC236}">
                <a16:creationId xmlns:a16="http://schemas.microsoft.com/office/drawing/2014/main" id="{57D38D46-C36B-D826-23FE-8C550B88AA3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3-6-3 </a:t>
            </a:r>
            <a:r>
              <a:rPr lang="zh-TW" altLang="en-US"/>
              <a:t>指定運算子</a:t>
            </a:r>
          </a:p>
        </p:txBody>
      </p:sp>
      <p:sp>
        <p:nvSpPr>
          <p:cNvPr id="43011" name="內容版面配置區 2">
            <a:extLst>
              <a:ext uri="{FF2B5EF4-FFF2-40B4-BE49-F238E27FC236}">
                <a16:creationId xmlns:a16="http://schemas.microsoft.com/office/drawing/2014/main" id="{888D6BB6-5BE2-A259-5170-38C417274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在這一節準備說明</a:t>
            </a:r>
            <a:r>
              <a:rPr lang="en-US" altLang="zh-TW"/>
              <a:t>Python</a:t>
            </a:r>
            <a:r>
              <a:rPr lang="zh-TW" altLang="en-US"/>
              <a:t>指定運算式的簡化寫法，其條件如下所示：</a:t>
            </a:r>
          </a:p>
          <a:p>
            <a:pPr lvl="1"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」等號的右邊是二元運算式，擁有</a:t>
            </a:r>
            <a:r>
              <a:rPr lang="en-US" altLang="zh-TW"/>
              <a:t>2</a:t>
            </a:r>
            <a:r>
              <a:rPr lang="zh-TW" altLang="en-US"/>
              <a:t>個運算元。</a:t>
            </a:r>
          </a:p>
          <a:p>
            <a:pPr lvl="1" eaLnBrk="1" hangingPunct="1"/>
            <a:r>
              <a:rPr lang="zh-TW" altLang="en-US"/>
              <a:t>在指定運算子「</a:t>
            </a:r>
            <a:r>
              <a:rPr lang="en-US" altLang="zh-TW"/>
              <a:t>=</a:t>
            </a:r>
            <a:r>
              <a:rPr lang="zh-TW" altLang="en-US"/>
              <a:t>」等號的左邊的變數和第</a:t>
            </a:r>
            <a:r>
              <a:rPr lang="en-US" altLang="zh-TW"/>
              <a:t>1</a:t>
            </a:r>
            <a:r>
              <a:rPr lang="zh-TW" altLang="en-US"/>
              <a:t>個運算元相同。</a:t>
            </a:r>
          </a:p>
          <a:p>
            <a:pPr eaLnBrk="1" hangingPunct="1"/>
            <a:r>
              <a:rPr lang="zh-TW" altLang="en-US"/>
              <a:t>例如：滿足上述條件的指定運算式，如下所示：</a:t>
            </a:r>
          </a:p>
          <a:p>
            <a:pPr lvl="1" eaLnBrk="1" hangingPunct="1">
              <a:buFontTx/>
              <a:buNone/>
            </a:pPr>
            <a:r>
              <a:rPr lang="en-US" altLang="zh-TW">
                <a:solidFill>
                  <a:srgbClr val="FF3399"/>
                </a:solidFill>
              </a:rPr>
              <a:t>x = x + y</a:t>
            </a:r>
          </a:p>
          <a:p>
            <a:pPr eaLnBrk="1" hangingPunct="1"/>
            <a:r>
              <a:rPr lang="zh-TW" altLang="en-US"/>
              <a:t>可以改用「</a:t>
            </a:r>
            <a:r>
              <a:rPr lang="en-US" altLang="zh-TW"/>
              <a:t>+=</a:t>
            </a:r>
            <a:r>
              <a:rPr lang="zh-TW" altLang="en-US"/>
              <a:t>」運算子來改寫此運算式，就是指定運算式的簡化寫法，如下所示：</a:t>
            </a:r>
          </a:p>
          <a:p>
            <a:pPr lvl="1" eaLnBrk="1" hangingPunct="1">
              <a:buFontTx/>
              <a:buNone/>
            </a:pPr>
            <a:r>
              <a:rPr lang="en-US" altLang="zh-TW">
                <a:solidFill>
                  <a:srgbClr val="FF3399"/>
                </a:solidFill>
              </a:rPr>
              <a:t>x += y</a:t>
            </a:r>
          </a:p>
          <a:p>
            <a:pPr eaLnBrk="1" hangingPunct="1"/>
            <a:endParaRPr lang="zh-TW" alt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標題 1">
            <a:extLst>
              <a:ext uri="{FF2B5EF4-FFF2-40B4-BE49-F238E27FC236}">
                <a16:creationId xmlns:a16="http://schemas.microsoft.com/office/drawing/2014/main" id="{1ED0AEF8-5486-8CF0-5283-1E75C6DC850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3-6-3 </a:t>
            </a:r>
            <a:r>
              <a:rPr lang="zh-TW" altLang="en-US"/>
              <a:t>指定運算子</a:t>
            </a:r>
          </a:p>
        </p:txBody>
      </p:sp>
      <p:sp>
        <p:nvSpPr>
          <p:cNvPr id="44035" name="內容版面配置區 2">
            <a:extLst>
              <a:ext uri="{FF2B5EF4-FFF2-40B4-BE49-F238E27FC236}">
                <a16:creationId xmlns:a16="http://schemas.microsoft.com/office/drawing/2014/main" id="{D647BE01-4F89-8C15-407E-B2666E157517}"/>
              </a:ext>
            </a:extLst>
          </p:cNvPr>
          <p:cNvSpPr>
            <a:spLocks noGrp="1" noChangeArrowheads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zh-TW" altLang="en-US"/>
              <a:t>各種簡化或稱縮寫表示的指定運算式和運算子說明，如下表所示：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388F9EFF-3299-7DC2-A61B-67E08728CA60}"/>
              </a:ext>
            </a:extLst>
          </p:cNvPr>
          <p:cNvGraphicFramePr>
            <a:graphicFrameLocks noGrp="1"/>
          </p:cNvGraphicFramePr>
          <p:nvPr/>
        </p:nvGraphicFramePr>
        <p:xfrm>
          <a:off x="2208213" y="2565401"/>
          <a:ext cx="7997826" cy="4141791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583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513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821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指定運算子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範例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相當的運算式</a:t>
                      </a: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 b="1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說明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N/A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指定敘述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+=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x+ 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+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加法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-=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-=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-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減法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*=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*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乘法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/=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/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除法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//=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//=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//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整數除法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%=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%=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%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TW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餘數</a:t>
                      </a: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60199"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**=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**=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en-US" sz="200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x = x ** y</a:t>
                      </a:r>
                      <a:endParaRPr lang="zh-TW" sz="200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00"/>
                        </a:lnSpc>
                        <a:spcAft>
                          <a:spcPts val="1200"/>
                        </a:spcAft>
                      </a:pPr>
                      <a:r>
                        <a:rPr lang="zh-HK" sz="2000" dirty="0">
                          <a:effectLst/>
                          <a:latin typeface="微軟正黑體" pitchFamily="34" charset="-120"/>
                          <a:ea typeface="微軟正黑體" pitchFamily="34" charset="-120"/>
                        </a:rPr>
                        <a:t>指數</a:t>
                      </a:r>
                      <a:endParaRPr lang="zh-TW" sz="2000" dirty="0">
                        <a:effectLst/>
                        <a:latin typeface="微軟正黑體" pitchFamily="34" charset="-120"/>
                        <a:ea typeface="微軟正黑體" pitchFamily="34" charset="-120"/>
                      </a:endParaRPr>
                    </a:p>
                  </a:txBody>
                  <a:tcPr marL="68574" marR="68574" marT="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標題 1">
            <a:extLst>
              <a:ext uri="{FF2B5EF4-FFF2-40B4-BE49-F238E27FC236}">
                <a16:creationId xmlns:a16="http://schemas.microsoft.com/office/drawing/2014/main" id="{E6D4BFE2-A963-3989-BAF3-5DA927FC9CF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TW"/>
              <a:t>3-6-4 </a:t>
            </a:r>
            <a:r>
              <a:rPr lang="zh-TW" altLang="en-US"/>
              <a:t>更多的指定敘述</a:t>
            </a:r>
          </a:p>
        </p:txBody>
      </p:sp>
      <p:sp>
        <p:nvSpPr>
          <p:cNvPr id="45059" name="內容版面配置區 2">
            <a:extLst>
              <a:ext uri="{FF2B5EF4-FFF2-40B4-BE49-F238E27FC236}">
                <a16:creationId xmlns:a16="http://schemas.microsoft.com/office/drawing/2014/main" id="{7FCC9D45-55DD-5126-21BE-593D2FE25B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eaLnBrk="1" hangingPunct="1">
              <a:buNone/>
            </a:pPr>
            <a:r>
              <a:rPr lang="zh-TW" altLang="en-US" u="sng"/>
              <a:t>多重指定敘述：</a:t>
            </a:r>
            <a:r>
              <a:rPr lang="en-US" altLang="zh-TW" u="sng"/>
              <a:t>ch3-6-4.py</a:t>
            </a:r>
          </a:p>
          <a:p>
            <a:pPr marL="0" indent="0" eaLnBrk="1" hangingPunct="1"/>
            <a:r>
              <a:rPr lang="zh-TW" altLang="en-US"/>
              <a:t>多重指定敘述（</a:t>
            </a:r>
            <a:r>
              <a:rPr lang="en-US" altLang="zh-TW"/>
              <a:t>Multiple Assignments</a:t>
            </a:r>
            <a:r>
              <a:rPr lang="zh-TW" altLang="en-US"/>
              <a:t>）可以在一行指定敘述同時指定多個變數值，如下所示：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score1 = score2 = score3 = 25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print(score1, score2, score3)</a:t>
            </a:r>
          </a:p>
          <a:p>
            <a:pPr marL="0" indent="0" eaLnBrk="1" hangingPunct="1">
              <a:buNone/>
            </a:pPr>
            <a:r>
              <a:rPr lang="zh-TW" altLang="en-US" u="sng"/>
              <a:t>同時指定敘述：</a:t>
            </a:r>
            <a:r>
              <a:rPr lang="en-US" altLang="zh-TW" u="sng"/>
              <a:t>ch3-6-4a.py</a:t>
            </a:r>
          </a:p>
          <a:p>
            <a:pPr marL="0" indent="0" eaLnBrk="1" hangingPunct="1"/>
            <a:r>
              <a:rPr lang="zh-TW" altLang="en-US"/>
              <a:t>同時指定敘述（</a:t>
            </a:r>
            <a:r>
              <a:rPr lang="en-US" altLang="zh-TW"/>
              <a:t>Simultaneous Assignments</a:t>
            </a:r>
            <a:r>
              <a:rPr lang="zh-TW" altLang="en-US"/>
              <a:t>）的「</a:t>
            </a:r>
            <a:r>
              <a:rPr lang="en-US" altLang="zh-TW"/>
              <a:t>=</a:t>
            </a:r>
            <a:r>
              <a:rPr lang="zh-TW" altLang="en-US"/>
              <a:t>」等號左右邊是使用「</a:t>
            </a:r>
            <a:r>
              <a:rPr lang="en-US" altLang="zh-TW"/>
              <a:t>,</a:t>
            </a:r>
            <a:r>
              <a:rPr lang="zh-TW" altLang="en-US"/>
              <a:t>」逗號分隔的多個變數和值，如下所示：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x, y = 1, 2</a:t>
            </a:r>
          </a:p>
          <a:p>
            <a:pPr marL="457200" lvl="1" indent="0" eaLnBrk="1" hangingPunct="1">
              <a:buNone/>
            </a:pPr>
            <a:r>
              <a:rPr lang="en-US" altLang="zh-TW">
                <a:solidFill>
                  <a:srgbClr val="FF3399"/>
                </a:solidFill>
              </a:rPr>
              <a:t>print("X =", x, "Y =", y)</a:t>
            </a:r>
          </a:p>
          <a:p>
            <a:pPr marL="0" indent="0" eaLnBrk="1" hangingPunct="1"/>
            <a:endParaRPr lang="zh-TW" alt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4843313D-8C2D-4120-B6AD-698359BD609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045–060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5A7F01-1592-4E7A-B348-D609C898F840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42FBDF2-4A33-463A-B729-EB54999E3B31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C1C63CA-1E57-452B-A8AF-7BD0B9C74212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等號右邊先算，再交給左邊名稱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BEA32CE9-2C9F-4A04-919D-EE2AC936433C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67B0476-5FEE-4CB9-8DF9-0877581F11CD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名稱區分大小寫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F64B99-A296-444D-BA23-D52A24BC8AF3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36F5B0A-95D5-4C8C-8320-93C480ADBA61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更新變數後要重跑依賴它的計算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4525406-C98E-479B-9E21-6D840F07D55E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341802842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B137EC13-E92A-46E8-9E77-3F34886BCBA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W1-04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69E50F2-6D90-4A79-822E-4E374F18BE84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變數與更新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313D4DC-6FCE-4985-A68A-D89E9D41649A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print(total)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32BCF62-95CB-4023-9345-A54138646E55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440731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 dirty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把price改為40，quantity改為4，重新計算；說明為什麼總價變了。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D62AFAE-F83C-48A0-8B20-5003EBDB56F8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W1-04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9D0BE734-9475-6B92-B4D7-D872AC72B5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5321" y="685800"/>
            <a:ext cx="6378493" cy="2453853"/>
          </a:xfrm>
          <a:prstGeom prst="rect">
            <a:avLst/>
          </a:prstGeom>
        </p:spPr>
      </p:pic>
      <p:pic>
        <p:nvPicPr>
          <p:cNvPr id="10" name="圖片 9">
            <a:extLst>
              <a:ext uri="{FF2B5EF4-FFF2-40B4-BE49-F238E27FC236}">
                <a16:creationId xmlns:a16="http://schemas.microsoft.com/office/drawing/2014/main" id="{02B45255-09AA-E808-AFB3-EABC1F9A6B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7701" y="3322306"/>
            <a:ext cx="6386113" cy="2781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99634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1809B96A-9061-47EC-8D7C-8439204F2D24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W1-04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A0F00F1C-297E-49DB-B2F0-823FDF50272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5 頁</a:t>
            </a:r>
          </a:p>
        </p:txBody>
      </p:sp>
    </p:spTree>
    <p:extLst>
      <p:ext uri="{BB962C8B-B14F-4D97-AF65-F5344CB8AC3E}">
        <p14:creationId xmlns:p14="http://schemas.microsoft.com/office/powerpoint/2010/main" val="32042454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0F9A3154-1F74-4934-86BF-473290258AA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070–090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221CFA0-FDF9-4D2E-9F6D-DDE9E078B73A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6A7BCFA-EFD4-4DF1-B23D-4BA5651E57A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8590C79-B670-42BE-BC67-8E3C284E14AB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int 整數，float 小數，str 文字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CEEE947-7D12-4FA2-96DD-F8BAF7B45465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6440EA-B936-4329-A0B2-5DF58CD0DA79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input 回傳字串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9A130C0-E668-4531-9AA2-85BD4C88CC46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BD308E-93C2-4408-B8EB-EDB0CEED1157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先確認輸入格式，再轉換型態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AD88C01-927C-4EB9-ABBE-8452537DF2BA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2878811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F35D09B-C1DB-4066-9FE7-D9B5F4E0181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W1-06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AF73787-557A-496A-ADDA-EEEB06458EAC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資料型態與輸入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380F88-7EDA-419E-BBC6-CE89854D16F5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raw_quantity = "3"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int(raw_quantity)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print(type(raw_quantity).__name__, type(quantity).__name__)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print("3" * 2, int("3") * 2)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interactive = False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if interactive: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quantity = int(input("杯數（整數）："))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    print(quantity)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002D680-70C8-4B76-ADBA-1904DF102E5A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把文字杯數改成"4"並轉型，接著比較"3" * 2與int("3") * 2。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A30318E-41D7-4EAB-99C0-47DE1911C7EF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W1-06</a:t>
            </a:r>
          </a:p>
        </p:txBody>
      </p:sp>
    </p:spTree>
    <p:extLst>
      <p:ext uri="{BB962C8B-B14F-4D97-AF65-F5344CB8AC3E}">
        <p14:creationId xmlns:p14="http://schemas.microsoft.com/office/powerpoint/2010/main" val="1987564635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8E654698-0327-4874-8DD3-CBA8C3ECFD12}"/>
              </a:ext>
            </a:extLst>
          </p:cNvPr>
          <p:cNvSpPr>
            <a:spLocks noGrp="1"/>
          </p:cNvSpPr>
          <p:nvPr/>
        </p:nvSpPr>
        <p:spPr>
          <a:xfrm>
            <a:off x="285750" y="161925"/>
            <a:ext cx="11572875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W1-06   原教材圖文對照</a:t>
            </a:r>
          </a:p>
        </p:txBody>
      </p:sp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2163763" y="590550"/>
            <a:ext cx="7874000" cy="59055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DA04D8F7-125E-4EF7-BFC3-DABBD46AFDA4}"/>
              </a:ext>
            </a:extLst>
          </p:cNvPr>
          <p:cNvSpPr>
            <a:spLocks noGrp="1"/>
          </p:cNvSpPr>
          <p:nvPr/>
        </p:nvSpPr>
        <p:spPr>
          <a:xfrm>
            <a:off x="285750" y="6524625"/>
            <a:ext cx="11430000" cy="238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CH03PPT.ppt 第 23 頁</a:t>
            </a:r>
          </a:p>
        </p:txBody>
      </p:sp>
    </p:spTree>
    <p:extLst>
      <p:ext uri="{BB962C8B-B14F-4D97-AF65-F5344CB8AC3E}">
        <p14:creationId xmlns:p14="http://schemas.microsoft.com/office/powerpoint/2010/main" val="146296276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342576F3-D998-421A-88FF-7CB5D90AC87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090–110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83B7CB0-785D-4CFC-BDD3-225BB0006633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A5B494B-1A45-4457-B01C-AD2B197BABE5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8B10496-FD4C-4F13-9DC1-BC5EFF5ED2C1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乘除先於加減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1EF134-DAFF-4468-96E1-436052B742B0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E3CD00-BFAD-4B21-867E-9003534E9AAF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括號明確指定順序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7C0C580-0E8D-486C-A419-8BE507DDCBED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73C0C23-8164-4C66-AF24-15447B73E9A3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// 求整數商，% 求餘數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4639315-7164-4D12-9DF7-0FB36090AA24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70862177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95F9F030-690A-4C5A-ABFA-72C6D24A3387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W1-07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C9921AE-D0B3-464E-B3F9-58C138EC46A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運算與找零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62054FE-CF6B-4EAD-9468-4E57E68E7B0C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200 - total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total, "找零", change)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print("整袋", 10 // 3, "剩餘", 10 % 3)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32DF4B9-7111-4409-853F-910683BC3D0C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計算5杯每杯30元，付200元的找零。再算17顆糖每袋5顆的袋數與剩餘。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8079042-CC7D-43D9-A216-6D7632EE3A4E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W1-07</a:t>
            </a:r>
          </a:p>
        </p:txBody>
      </p:sp>
    </p:spTree>
    <p:extLst>
      <p:ext uri="{BB962C8B-B14F-4D97-AF65-F5344CB8AC3E}">
        <p14:creationId xmlns:p14="http://schemas.microsoft.com/office/powerpoint/2010/main" val="1837394236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A9920E7-6AF5-4F17-BBA3-1CA51B5D9A7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110–125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C1F7E71-87DB-4C3E-B358-48FC969FCF5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76E96A-3823-4EC6-9BD5-731CD8F77F7A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31F0030-DEE7-4C55-BE58-CB7553A1656B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由錯誤最後一行看種類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1B40CB8-07F0-40A6-949B-98F93656049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3EDE237-DA10-4765-8622-FCC62E9CD3E8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NameError 常是名稱尚未定義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93A32A5-5905-4A31-8C34-8AF92A15F4A0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0931AC8-A7C8-4A85-953E-93122E2B224E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每次只修改一個地方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4E77CC-16F9-47CE-A948-8C68B263416C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93263423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CDC53C36-9C48-4468-99AD-FC15A20F7E1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W1-08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F94C90A-B46C-4D85-987B-DE934E8CF82B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讀懂錯誤訊息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82A5405-D198-4593-993E-3864EE8170C1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 = 35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print("總價", price * 3)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11D4F5E-BF58-420E-88D4-A879C424EA61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修正prcie拼字與"總價" + 105的混用。說出錯誤種類與修正理由。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2D777EC-BB45-4F29-BAB6-DDB851042D47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W1-08</a:t>
            </a:r>
          </a:p>
        </p:txBody>
      </p:sp>
    </p:spTree>
    <p:extLst>
      <p:ext uri="{BB962C8B-B14F-4D97-AF65-F5344CB8AC3E}">
        <p14:creationId xmlns:p14="http://schemas.microsoft.com/office/powerpoint/2010/main" val="81598946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B5A35928-96A7-46E0-9C1F-27211166B8DC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125–140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761D620-12A4-40FF-B364-8CC074ECEA84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1E0B4B1-BC50-4A2E-8424-109B0EE0CF88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C72290A-23D0-4337-B204-A1143BED7016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f 字串把變數放進大括號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788CD21-B0ED-4810-882D-7D45B35719B1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3FD6F51-7131-4410-B896-84097A4E4C92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小數位數可用 :.2f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B7E849C-009D-4499-9A21-8BEBC0D07140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B2CA953-1520-4CAF-9E66-DB3FD6039604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輸出應包含單位與標籤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31406D5-316D-45B5-BBFB-C6DC5D3E5809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685450335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344CF8ED-8B25-48D5-B39E-F1182BE18851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W1-09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92C308-F251-411A-8ECE-88F2AD477D4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有格式的訂單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0840D97-7208-4B9D-90C6-A598535DCCDF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item = "紅茶"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quantity = 3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35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print(f"{item} {quantity}杯，總價{total}元")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print(f"平均單價 {total / quantity:.2f} 元")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CCA33DC-CEB6-4066-B609-0C94D2B71072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使用f字串列印4杯每杯35元，共140元的完整訂單。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2B1EE29-9619-44AB-A012-30125BB14820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W1-09</a:t>
            </a:r>
          </a:p>
        </p:txBody>
      </p:sp>
    </p:spTree>
    <p:extLst>
      <p:ext uri="{BB962C8B-B14F-4D97-AF65-F5344CB8AC3E}">
        <p14:creationId xmlns:p14="http://schemas.microsoft.com/office/powerpoint/2010/main" val="175138479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6230DA6C-781B-411D-8105-7E5A0E6FBF9A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140–160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5BFA63-2564-4796-8C9D-8587861AA127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F991894-7043-465F-915E-E3713D7F6D8E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FB81D13-FDDF-4B01-AE4C-7A61202F7685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輸入以變數設定即可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EFCDCB8-6A22-4D59-B466-F634EF3A46BF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E06AD7-5CE5-4816-BB1A-D1923C252207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總價與找零分開計算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7215DF8-7976-4938-9AE1-40ECEF52F2B1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E69B39-ED98-40D1-8381-7709E2CBD912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兩組測試確認可重算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C87BE78-81A0-4BAF-BFE3-3B0ED2E63235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13793715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EFF2EA9-C88A-4860-85F7-7CC14B7AFAC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W1-10   示範與練習  程式節錄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CC0B0A0-F83A-48D6-8BBF-0C7968105063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本週實作 飲料訂單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8D8F4099-22E7-4535-B018-9B9939469435}"/>
              </a:ext>
            </a:extLst>
          </p:cNvPr>
          <p:cNvSpPr>
            <a:spLocks noGrp="1"/>
          </p:cNvSpPr>
          <p:nvPr/>
        </p:nvSpPr>
        <p:spPr>
          <a:xfrm>
            <a:off x="685800" y="1914525"/>
            <a:ext cx="10477500" cy="29527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price, quantity, paid = 35, 3, 200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total = price * quantity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change = paid - total</a:t>
            </a:r>
          </a:p>
          <a:p>
            <a:pPr>
              <a:def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155B70"/>
                </a:solidFill>
                <a:latin typeface="Microsoft JhengHei"/>
                <a:ea typeface="Microsoft JhengHei"/>
                <a:cs typeface="Microsoft JhengHei"/>
              </a:rPr>
              <a:t>print(f"紅茶 {quantity}杯，總價{total}元，找零{change}元")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589B08EB-5FF4-4295-837D-BEFD93258666}"/>
              </a:ext>
            </a:extLst>
          </p:cNvPr>
          <p:cNvSpPr>
            <a:spLocks noGrp="1"/>
          </p:cNvSpPr>
          <p:nvPr/>
        </p:nvSpPr>
        <p:spPr>
          <a:xfrm>
            <a:off x="685800" y="5095875"/>
            <a:ext cx="10572750" cy="8953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完成專題格；先測試35、3、200，再測試40、2、100。加上自己的品項。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6C754BB-A130-4A22-B01D-5B504AB8AAE1}"/>
              </a:ext>
            </a:extLst>
          </p:cNvPr>
          <p:cNvSpPr>
            <a:spLocks noGrp="1"/>
          </p:cNvSpPr>
          <p:nvPr/>
        </p:nvSpPr>
        <p:spPr>
          <a:xfrm>
            <a:off x="685800" y="6286500"/>
            <a:ext cx="10477500" cy="2667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00" b="0">
                <a:solidFill>
                  <a:srgbClr val="5D737F"/>
                </a:solidFill>
                <a:latin typeface="Microsoft JhengHei"/>
                <a:ea typeface="Microsoft JhengHei"/>
                <a:cs typeface="Microsoft JhengHei"/>
              </a:rPr>
              <a:t>完整程式與練習：Notebook W1-10</a:t>
            </a:r>
          </a:p>
        </p:txBody>
      </p:sp>
    </p:spTree>
    <p:extLst>
      <p:ext uri="{BB962C8B-B14F-4D97-AF65-F5344CB8AC3E}">
        <p14:creationId xmlns:p14="http://schemas.microsoft.com/office/powerpoint/2010/main" val="171558594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E754CC03-E963-4DAD-B147-BA686A54B699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160–170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18E54E2-A4DA-4F12-9407-9BD610FF7C6D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F689543-C2FE-4E39-88B6-5FDDAD7434A2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D1010DE-04A0-4CC0-B9B6-790DBF54E708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重新啟動核心後全部執行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085E75C-9920-4469-A8EC-CE3E23F46545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2BC61DD4-2C8B-4A00-9B63-C932F41CCC84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能解釋每個變數的用途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5E78579-3A47-4420-8E7A-3481291E47E1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4D82651-8502-43DA-8D26-04B87F2BF4C8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保留兩組測試紀錄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012FEF2-3849-49BE-8E1B-769B5C30E71A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7842209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0C71BC07-A046-4046-8AD4-79F1BC125BED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W1-11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CDDF08E-3637-46E7-8AD2-4C21644AB6F6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成果檢核與同儕說明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4A4066D-E3BD-4857-9CA3-2F3986C9B604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每人用60秒說明，教師抽查兩組結果。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DD85E2-5F46-4466-AB45-334CE371A1AA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D8B4C07A-F047-4E8E-AAB2-5236532F4DC4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能從乾淨核心重跑，且total不是手寫固定答案。</a:t>
            </a:r>
          </a:p>
        </p:txBody>
      </p:sp>
    </p:spTree>
    <p:extLst>
      <p:ext uri="{BB962C8B-B14F-4D97-AF65-F5344CB8AC3E}">
        <p14:creationId xmlns:p14="http://schemas.microsoft.com/office/powerpoint/2010/main" val="125208678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>
            <a:extLst>
              <a:ext uri="{FF2B5EF4-FFF2-40B4-BE49-F238E27FC236}">
                <a16:creationId xmlns:a16="http://schemas.microsoft.com/office/drawing/2014/main" id="{FA841AF7-E5C7-4E1D-8DE1-2AD0305137EE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76325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170–180 分鐘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E4AC4E-C33E-4EA7-8B1E-9798DFD70E18}"/>
              </a:ext>
            </a:extLst>
          </p:cNvPr>
          <p:cNvSpPr>
            <a:spLocks noGrp="1"/>
          </p:cNvSpPr>
          <p:nvPr/>
        </p:nvSpPr>
        <p:spPr>
          <a:xfrm>
            <a:off x="609600" y="942975"/>
            <a:ext cx="10858500" cy="857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45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B5DB13B-EFC1-4AAE-B211-724D3D0B1947}"/>
              </a:ext>
            </a:extLst>
          </p:cNvPr>
          <p:cNvSpPr>
            <a:spLocks noGrp="1"/>
          </p:cNvSpPr>
          <p:nvPr/>
        </p:nvSpPr>
        <p:spPr>
          <a:xfrm>
            <a:off x="647700" y="219075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23C3B16-9499-407D-B6F4-ACE7BE948A15}"/>
              </a:ext>
            </a:extLst>
          </p:cNvPr>
          <p:cNvSpPr>
            <a:spLocks noGrp="1"/>
          </p:cNvSpPr>
          <p:nvPr/>
        </p:nvSpPr>
        <p:spPr>
          <a:xfrm>
            <a:off x="1476375" y="213360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文字"5"與數值5的差別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3A51965-73B7-4BD9-9C29-0F6669E9579B}"/>
              </a:ext>
            </a:extLst>
          </p:cNvPr>
          <p:cNvSpPr>
            <a:spLocks noGrp="1"/>
          </p:cNvSpPr>
          <p:nvPr/>
        </p:nvSpPr>
        <p:spPr>
          <a:xfrm>
            <a:off x="647700" y="3286125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696EC82-424E-4232-9A57-854D8362D2C3}"/>
              </a:ext>
            </a:extLst>
          </p:cNvPr>
          <p:cNvSpPr>
            <a:spLocks noGrp="1"/>
          </p:cNvSpPr>
          <p:nvPr/>
        </p:nvSpPr>
        <p:spPr>
          <a:xfrm>
            <a:off x="1476375" y="3228975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改價格後為何要重算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C7A3B23-30D8-44F3-9655-A388E2169274}"/>
              </a:ext>
            </a:extLst>
          </p:cNvPr>
          <p:cNvSpPr>
            <a:spLocks noGrp="1"/>
          </p:cNvSpPr>
          <p:nvPr/>
        </p:nvSpPr>
        <p:spPr>
          <a:xfrm>
            <a:off x="647700" y="4381500"/>
            <a:ext cx="619125" cy="571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C6C380F-D16C-441F-8F81-5741E6323608}"/>
              </a:ext>
            </a:extLst>
          </p:cNvPr>
          <p:cNvSpPr>
            <a:spLocks noGrp="1"/>
          </p:cNvSpPr>
          <p:nvPr/>
        </p:nvSpPr>
        <p:spPr>
          <a:xfrm>
            <a:off x="1476375" y="4324350"/>
            <a:ext cx="9620250" cy="9525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下週加入折扣條件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C7CB939-AEFF-4990-B819-307969C21D6F}"/>
              </a:ext>
            </a:extLst>
          </p:cNvPr>
          <p:cNvSpPr>
            <a:spLocks noGrp="1"/>
          </p:cNvSpPr>
          <p:nvPr/>
        </p:nvSpPr>
        <p:spPr>
          <a:xfrm>
            <a:off x="647700" y="5953125"/>
            <a:ext cx="10810875" cy="5524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本週作品：完成飲料訂單計算器，列出品項、杯數、總價與找零</a:t>
            </a:r>
          </a:p>
        </p:txBody>
      </p:sp>
    </p:spTree>
    <p:extLst>
      <p:ext uri="{BB962C8B-B14F-4D97-AF65-F5344CB8AC3E}">
        <p14:creationId xmlns:p14="http://schemas.microsoft.com/office/powerpoint/2010/main" val="18516527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FC7989AE-B022-453C-BC6E-8E608FE74C78}"/>
              </a:ext>
            </a:extLst>
          </p:cNvPr>
          <p:cNvSpPr>
            <a:spLocks noGrp="1"/>
          </p:cNvSpPr>
          <p:nvPr/>
        </p:nvSpPr>
        <p:spPr>
          <a:xfrm>
            <a:off x="609600" y="304800"/>
            <a:ext cx="10858500" cy="38100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456675"/>
                </a:solidFill>
                <a:latin typeface="Microsoft JhengHei"/>
                <a:ea typeface="Microsoft JhengHei"/>
                <a:cs typeface="Microsoft JhengHei"/>
              </a:rPr>
              <a:t>W1-12   示範與練習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5DE8944-BACB-4F52-98DB-48ACE2243BE5}"/>
              </a:ext>
            </a:extLst>
          </p:cNvPr>
          <p:cNvSpPr>
            <a:spLocks noGrp="1"/>
          </p:cNvSpPr>
          <p:nvPr/>
        </p:nvSpPr>
        <p:spPr>
          <a:xfrm>
            <a:off x="609600" y="895350"/>
            <a:ext cx="10858500" cy="79057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離堂題與課後練習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4700616-B420-4B07-A67C-F295CCD9EF7D}"/>
              </a:ext>
            </a:extLst>
          </p:cNvPr>
          <p:cNvSpPr>
            <a:spLocks noGrp="1"/>
          </p:cNvSpPr>
          <p:nvPr/>
        </p:nvSpPr>
        <p:spPr>
          <a:xfrm>
            <a:off x="685800" y="2047875"/>
            <a:ext cx="10477500" cy="1619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625" b="0">
                <a:solidFill>
                  <a:srgbClr val="17384C"/>
                </a:solidFill>
                <a:latin typeface="Microsoft JhengHei"/>
                <a:ea typeface="Microsoft JhengHei"/>
                <a:cs typeface="Microsoft JhengHei"/>
              </a:rPr>
              <a:t>提交Notebook；課後做20元筆3支與15元本子2本的訂單。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3B15F79-C727-4F0D-AAB6-1F1CC984049E}"/>
              </a:ext>
            </a:extLst>
          </p:cNvPr>
          <p:cNvSpPr>
            <a:spLocks noGrp="1"/>
          </p:cNvSpPr>
          <p:nvPr/>
        </p:nvSpPr>
        <p:spPr>
          <a:xfrm>
            <a:off x="685800" y="4019550"/>
            <a:ext cx="10477500" cy="476250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078078"/>
                </a:solidFill>
                <a:latin typeface="Microsoft JhengHei"/>
                <a:ea typeface="Microsoft JhengHei"/>
                <a:cs typeface="Microsoft JhengHei"/>
              </a:rPr>
              <a:t>核對重點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11F3CE8C-D977-4674-BAB7-75C573CD3412}"/>
              </a:ext>
            </a:extLst>
          </p:cNvPr>
          <p:cNvSpPr>
            <a:spLocks noGrp="1"/>
          </p:cNvSpPr>
          <p:nvPr/>
        </p:nvSpPr>
        <p:spPr>
          <a:xfrm>
            <a:off x="685800" y="4667250"/>
            <a:ext cx="10477500" cy="1381125"/>
          </a:xfrm>
          <a:prstGeom prst="rect">
            <a:avLst/>
          </a:prstGeom>
          <a:noFill/>
          <a:ln w="0">
            <a:noFill/>
          </a:ln>
        </p:spPr>
        <p:txBody>
          <a:bodyPr>
            <a:noAutofit/>
          </a:bodyPr>
          <a:lstStyle/>
          <a:p>
            <a:pPr>
              <a:def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213547"/>
                </a:solidFill>
                <a:latin typeface="Microsoft JhengHei"/>
                <a:ea typeface="Microsoft JhengHei"/>
                <a:cs typeface="Microsoft JhengHei"/>
              </a:rPr>
              <a:t>離堂：str、int轉型、不會自動重算、修改quantity再執行。課後總價90元。</a:t>
            </a:r>
          </a:p>
        </p:txBody>
      </p:sp>
    </p:spTree>
    <p:extLst>
      <p:ext uri="{BB962C8B-B14F-4D97-AF65-F5344CB8AC3E}">
        <p14:creationId xmlns:p14="http://schemas.microsoft.com/office/powerpoint/2010/main" val="122908301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NRSTYLE" val="Indezine_SM2_Titl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NRSTYLE" val="Indezine_SM2_Text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06498007">
  <a:themeElements>
    <a:clrScheme name="3_Default Design 2">
      <a:dk1>
        <a:srgbClr val="000000"/>
      </a:dk1>
      <a:lt1>
        <a:srgbClr val="FFFFFF"/>
      </a:lt1>
      <a:dk2>
        <a:srgbClr val="000000"/>
      </a:dk2>
      <a:lt2>
        <a:srgbClr val="828282"/>
      </a:lt2>
      <a:accent1>
        <a:srgbClr val="A14D1D"/>
      </a:accent1>
      <a:accent2>
        <a:srgbClr val="85416B"/>
      </a:accent2>
      <a:accent3>
        <a:srgbClr val="FFFFFF"/>
      </a:accent3>
      <a:accent4>
        <a:srgbClr val="000000"/>
      </a:accent4>
      <a:accent5>
        <a:srgbClr val="CDB2AB"/>
      </a:accent5>
      <a:accent6>
        <a:srgbClr val="783A60"/>
      </a:accent6>
      <a:hlink>
        <a:srgbClr val="862D2D"/>
      </a:hlink>
      <a:folHlink>
        <a:srgbClr val="735427"/>
      </a:folHlink>
    </a:clrScheme>
    <a:fontScheme name="3_Default Design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sq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bg1"/>
        </a:solidFill>
        <a:ln w="12700" cap="sq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altLang="zh-TW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  <a:ea typeface="新細明體" charset="-120"/>
            <a:cs typeface="Arial" charset="0"/>
          </a:defRPr>
        </a:defPPr>
      </a:lstStyle>
    </a:lnDef>
  </a:objectDefaults>
  <a:extraClrSchemeLst>
    <a:extraClrScheme>
      <a:clrScheme name="3_Default Design 1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62121"/>
        </a:accent1>
        <a:accent2>
          <a:srgbClr val="99001E"/>
        </a:accent2>
        <a:accent3>
          <a:srgbClr val="FFFFFF"/>
        </a:accent3>
        <a:accent4>
          <a:srgbClr val="000000"/>
        </a:accent4>
        <a:accent5>
          <a:srgbClr val="D0ABAB"/>
        </a:accent5>
        <a:accent6>
          <a:srgbClr val="8A001A"/>
        </a:accent6>
        <a:hlink>
          <a:srgbClr val="8C0000"/>
        </a:hlink>
        <a:folHlink>
          <a:srgbClr val="800F2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2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14D1D"/>
        </a:accent1>
        <a:accent2>
          <a:srgbClr val="85416B"/>
        </a:accent2>
        <a:accent3>
          <a:srgbClr val="FFFFFF"/>
        </a:accent3>
        <a:accent4>
          <a:srgbClr val="000000"/>
        </a:accent4>
        <a:accent5>
          <a:srgbClr val="CDB2AB"/>
        </a:accent5>
        <a:accent6>
          <a:srgbClr val="783A60"/>
        </a:accent6>
        <a:hlink>
          <a:srgbClr val="862D2D"/>
        </a:hlink>
        <a:folHlink>
          <a:srgbClr val="73542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3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396C80"/>
        </a:accent1>
        <a:accent2>
          <a:srgbClr val="943E3E"/>
        </a:accent2>
        <a:accent3>
          <a:srgbClr val="FFFFFF"/>
        </a:accent3>
        <a:accent4>
          <a:srgbClr val="000000"/>
        </a:accent4>
        <a:accent5>
          <a:srgbClr val="AEBAC0"/>
        </a:accent5>
        <a:accent6>
          <a:srgbClr val="863737"/>
        </a:accent6>
        <a:hlink>
          <a:srgbClr val="3A3474"/>
        </a:hlink>
        <a:folHlink>
          <a:srgbClr val="48542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4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806F2B"/>
        </a:accent1>
        <a:accent2>
          <a:srgbClr val="3C7331"/>
        </a:accent2>
        <a:accent3>
          <a:srgbClr val="FFFFFF"/>
        </a:accent3>
        <a:accent4>
          <a:srgbClr val="000000"/>
        </a:accent4>
        <a:accent5>
          <a:srgbClr val="C0BBAC"/>
        </a:accent5>
        <a:accent6>
          <a:srgbClr val="35682B"/>
        </a:accent6>
        <a:hlink>
          <a:srgbClr val="862D2D"/>
        </a:hlink>
        <a:folHlink>
          <a:srgbClr val="4039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5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CC8500"/>
        </a:accent1>
        <a:accent2>
          <a:srgbClr val="C2940A"/>
        </a:accent2>
        <a:accent3>
          <a:srgbClr val="FFFFFF"/>
        </a:accent3>
        <a:accent4>
          <a:srgbClr val="000000"/>
        </a:accent4>
        <a:accent5>
          <a:srgbClr val="E2C2AA"/>
        </a:accent5>
        <a:accent6>
          <a:srgbClr val="B08608"/>
        </a:accent6>
        <a:hlink>
          <a:srgbClr val="A66C00"/>
        </a:hlink>
        <a:folHlink>
          <a:srgbClr val="997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6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B29800"/>
        </a:accent1>
        <a:accent2>
          <a:srgbClr val="C97C3C"/>
        </a:accent2>
        <a:accent3>
          <a:srgbClr val="FFFFFF"/>
        </a:accent3>
        <a:accent4>
          <a:srgbClr val="000000"/>
        </a:accent4>
        <a:accent5>
          <a:srgbClr val="D5CAAA"/>
        </a:accent5>
        <a:accent6>
          <a:srgbClr val="B67035"/>
        </a:accent6>
        <a:hlink>
          <a:srgbClr val="A66C00"/>
        </a:hlink>
        <a:folHlink>
          <a:srgbClr val="BF4F43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7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2B9FD9"/>
        </a:accent1>
        <a:accent2>
          <a:srgbClr val="CC8500"/>
        </a:accent2>
        <a:accent3>
          <a:srgbClr val="FFFFFF"/>
        </a:accent3>
        <a:accent4>
          <a:srgbClr val="000000"/>
        </a:accent4>
        <a:accent5>
          <a:srgbClr val="ACCDE9"/>
        </a:accent5>
        <a:accent6>
          <a:srgbClr val="B97800"/>
        </a:accent6>
        <a:hlink>
          <a:srgbClr val="8A73BF"/>
        </a:hlink>
        <a:folHlink>
          <a:srgbClr val="2E994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8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7AB236"/>
        </a:accent1>
        <a:accent2>
          <a:srgbClr val="CC527E"/>
        </a:accent2>
        <a:accent3>
          <a:srgbClr val="FFFFFF"/>
        </a:accent3>
        <a:accent4>
          <a:srgbClr val="000000"/>
        </a:accent4>
        <a:accent5>
          <a:srgbClr val="BED5AE"/>
        </a:accent5>
        <a:accent6>
          <a:srgbClr val="B94972"/>
        </a:accent6>
        <a:hlink>
          <a:srgbClr val="4D6BBF"/>
        </a:hlink>
        <a:folHlink>
          <a:srgbClr val="A66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9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009905"/>
        </a:accent1>
        <a:accent2>
          <a:srgbClr val="4D8C00"/>
        </a:accent2>
        <a:accent3>
          <a:srgbClr val="FFFFFF"/>
        </a:accent3>
        <a:accent4>
          <a:srgbClr val="000000"/>
        </a:accent4>
        <a:accent5>
          <a:srgbClr val="AACAAA"/>
        </a:accent5>
        <a:accent6>
          <a:srgbClr val="457E00"/>
        </a:accent6>
        <a:hlink>
          <a:srgbClr val="008004"/>
        </a:hlink>
        <a:folHlink>
          <a:srgbClr val="3F7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0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00678C"/>
        </a:accent1>
        <a:accent2>
          <a:srgbClr val="5E8000"/>
        </a:accent2>
        <a:accent3>
          <a:srgbClr val="FFFFFF"/>
        </a:accent3>
        <a:accent4>
          <a:srgbClr val="000000"/>
        </a:accent4>
        <a:accent5>
          <a:srgbClr val="AAB8C5"/>
        </a:accent5>
        <a:accent6>
          <a:srgbClr val="547300"/>
        </a:accent6>
        <a:hlink>
          <a:srgbClr val="006E04"/>
        </a:hlink>
        <a:folHlink>
          <a:srgbClr val="66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1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A65821"/>
        </a:accent1>
        <a:accent2>
          <a:srgbClr val="008004"/>
        </a:accent2>
        <a:accent3>
          <a:srgbClr val="FFFFFF"/>
        </a:accent3>
        <a:accent4>
          <a:srgbClr val="000000"/>
        </a:accent4>
        <a:accent5>
          <a:srgbClr val="D0B4AB"/>
        </a:accent5>
        <a:accent6>
          <a:srgbClr val="007303"/>
        </a:accent6>
        <a:hlink>
          <a:srgbClr val="8C2A60"/>
        </a:hlink>
        <a:folHlink>
          <a:srgbClr val="67338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2">
        <a:dk1>
          <a:srgbClr val="000000"/>
        </a:dk1>
        <a:lt1>
          <a:srgbClr val="FFFFFF"/>
        </a:lt1>
        <a:dk2>
          <a:srgbClr val="000000"/>
        </a:dk2>
        <a:lt2>
          <a:srgbClr val="B2B2B2"/>
        </a:lt2>
        <a:accent1>
          <a:srgbClr val="B2403E"/>
        </a:accent1>
        <a:accent2>
          <a:srgbClr val="2D8064"/>
        </a:accent2>
        <a:accent3>
          <a:srgbClr val="FFFFFF"/>
        </a:accent3>
        <a:accent4>
          <a:srgbClr val="000000"/>
        </a:accent4>
        <a:accent5>
          <a:srgbClr val="D5AFAF"/>
        </a:accent5>
        <a:accent6>
          <a:srgbClr val="28735A"/>
        </a:accent6>
        <a:hlink>
          <a:srgbClr val="4D3F8C"/>
        </a:hlink>
        <a:folHlink>
          <a:srgbClr val="006E0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3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0052C0"/>
        </a:accent1>
        <a:accent2>
          <a:srgbClr val="3239BF"/>
        </a:accent2>
        <a:accent3>
          <a:srgbClr val="FFFFFF"/>
        </a:accent3>
        <a:accent4>
          <a:srgbClr val="000000"/>
        </a:accent4>
        <a:accent5>
          <a:srgbClr val="AAB3DC"/>
        </a:accent5>
        <a:accent6>
          <a:srgbClr val="2C33AD"/>
        </a:accent6>
        <a:hlink>
          <a:srgbClr val="004299"/>
        </a:hlink>
        <a:folHlink>
          <a:srgbClr val="282D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4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6759B2"/>
        </a:accent1>
        <a:accent2>
          <a:srgbClr val="00708C"/>
        </a:accent2>
        <a:accent3>
          <a:srgbClr val="FFFFFF"/>
        </a:accent3>
        <a:accent4>
          <a:srgbClr val="000000"/>
        </a:accent4>
        <a:accent5>
          <a:srgbClr val="B8B5D5"/>
        </a:accent5>
        <a:accent6>
          <a:srgbClr val="00657E"/>
        </a:accent6>
        <a:hlink>
          <a:srgbClr val="0048A6"/>
        </a:hlink>
        <a:folHlink>
          <a:srgbClr val="742E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5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A68500"/>
        </a:accent1>
        <a:accent2>
          <a:srgbClr val="2462B2"/>
        </a:accent2>
        <a:accent3>
          <a:srgbClr val="FFFFFF"/>
        </a:accent3>
        <a:accent4>
          <a:srgbClr val="000000"/>
        </a:accent4>
        <a:accent5>
          <a:srgbClr val="D0C2AA"/>
        </a:accent5>
        <a:accent6>
          <a:srgbClr val="2058A1"/>
        </a:accent6>
        <a:hlink>
          <a:srgbClr val="546E00"/>
        </a:hlink>
        <a:folHlink>
          <a:srgbClr val="8031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3_Default Design 16">
        <a:dk1>
          <a:srgbClr val="000000"/>
        </a:dk1>
        <a:lt1>
          <a:srgbClr val="FFFFFF"/>
        </a:lt1>
        <a:dk2>
          <a:srgbClr val="000000"/>
        </a:dk2>
        <a:lt2>
          <a:srgbClr val="828282"/>
        </a:lt2>
        <a:accent1>
          <a:srgbClr val="628000"/>
        </a:accent1>
        <a:accent2>
          <a:srgbClr val="8C5200"/>
        </a:accent2>
        <a:accent3>
          <a:srgbClr val="FFFFFF"/>
        </a:accent3>
        <a:accent4>
          <a:srgbClr val="000000"/>
        </a:accent4>
        <a:accent5>
          <a:srgbClr val="B7C0AA"/>
        </a:accent5>
        <a:accent6>
          <a:srgbClr val="7E4900"/>
        </a:accent6>
        <a:hlink>
          <a:srgbClr val="911D65"/>
        </a:hlink>
        <a:folHlink>
          <a:srgbClr val="00459E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7712</Words>
  <Application>Microsoft Office PowerPoint</Application>
  <DocSecurity>0</DocSecurity>
  <PresentationFormat>寬螢幕</PresentationFormat>
  <Paragraphs>762</Paragraphs>
  <Slides>83</Slides>
  <Notes>29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83</vt:i4>
      </vt:variant>
    </vt:vector>
  </HeadingPairs>
  <TitlesOfParts>
    <vt:vector size="91" baseType="lpstr">
      <vt:lpstr>微軟正黑體</vt:lpstr>
      <vt:lpstr>微軟正黑體</vt:lpstr>
      <vt:lpstr>新細明體</vt:lpstr>
      <vt:lpstr>Arial</vt:lpstr>
      <vt:lpstr>Calibri</vt:lpstr>
      <vt:lpstr>Times New Roman</vt:lpstr>
      <vt:lpstr>ChatGPT</vt:lpstr>
      <vt:lpstr>1_06498007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第3章 變數、運算式與運算子</vt:lpstr>
      <vt:lpstr>3-1 程式語言的變數</vt:lpstr>
      <vt:lpstr>3-1-1 認識變數– 說明</vt:lpstr>
      <vt:lpstr>3-1-1 認識變數– 變數是儲存在哪裡</vt:lpstr>
      <vt:lpstr>3-1-1 認識變數– 變數的基本操作</vt:lpstr>
      <vt:lpstr>3-1-2 使用變數前的準備工作– 說明</vt:lpstr>
      <vt:lpstr>3-1-2 使用變數前的準備工作– 內容</vt:lpstr>
      <vt:lpstr>3-1-3 Python語言的命名規則</vt:lpstr>
      <vt:lpstr>3-1-3 Python語言的命名規則</vt:lpstr>
      <vt:lpstr>3-2 在程式使用變數</vt:lpstr>
      <vt:lpstr>3-2 在程式使用變數</vt:lpstr>
      <vt:lpstr>3-2-1 指定和輸出變數值</vt:lpstr>
      <vt:lpstr>3-2-1 指定和輸出變數值</vt:lpstr>
      <vt:lpstr>3-2-2 指定成其他文字值</vt:lpstr>
      <vt:lpstr>3-2-2 指定成其他文字值</vt:lpstr>
      <vt:lpstr>3-2-3 指定成其他變數值</vt:lpstr>
      <vt:lpstr>3-3 變數的資料型態和型態轉換函數</vt:lpstr>
      <vt:lpstr>3-3 變數的資料型態和型態轉換函數</vt:lpstr>
      <vt:lpstr>3-3-1 取得變數的資料型態</vt:lpstr>
      <vt:lpstr>3-3-2 資料型態轉換函數</vt:lpstr>
      <vt:lpstr>3-4 讓使用者輸入變數值 從鍵盤輸入字串資料</vt:lpstr>
      <vt:lpstr>3-4 讓使用者輸入變數值 從鍵盤輸入字串資料</vt:lpstr>
      <vt:lpstr>3-4 讓使用者輸入變數值 從鍵盤輸入數值資料</vt:lpstr>
      <vt:lpstr>3-5 認識運算式和運算子</vt:lpstr>
      <vt:lpstr>3-5-1 關於運算式</vt:lpstr>
      <vt:lpstr>3-5-1 關於運算式</vt:lpstr>
      <vt:lpstr>3-5-2 輸出運算式的運算結果</vt:lpstr>
      <vt:lpstr>3-5-3 執行不同種類運算元的運算 2個運算元都是變數</vt:lpstr>
      <vt:lpstr>3-5-3 執行不同種類運算元的運算 2個運算元都是變數</vt:lpstr>
      <vt:lpstr>3-5-3 執行不同種類運算元的運算 1個運算元是變數；1個運算元是文字值</vt:lpstr>
      <vt:lpstr>3-5-3 執行不同種類運算元的運算 1個運算元是變數；1個運算元是文字值</vt:lpstr>
      <vt:lpstr>3-5-4 讓使用者輸入值來執行運算</vt:lpstr>
      <vt:lpstr>3-6 在程式使用運算子</vt:lpstr>
      <vt:lpstr>3-6-1 運算子的優先順序 優先順序（Precedence）</vt:lpstr>
      <vt:lpstr>3-6-1 運算子的優先順序 Python運算子的優先順序</vt:lpstr>
      <vt:lpstr>3-6-2 算術運算子</vt:lpstr>
      <vt:lpstr>3-6-3 指定運算子</vt:lpstr>
      <vt:lpstr>3-6-3 指定運算子</vt:lpstr>
      <vt:lpstr>3-6-3 指定運算子</vt:lpstr>
      <vt:lpstr>3-6-4 更多的指定敘述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王頌文</cp:lastModifiedBy>
  <cp:revision>8</cp:revision>
  <dcterms:created xsi:type="dcterms:W3CDTF">2026-10-07T23:28:36Z</dcterms:created>
  <dcterms:modified xsi:type="dcterms:W3CDTF">2026-10-19T10:41:26Z</dcterms:modified>
</cp:coreProperties>
</file>